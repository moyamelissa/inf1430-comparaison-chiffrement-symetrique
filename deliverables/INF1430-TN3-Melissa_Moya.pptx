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heme/themeOverride1.xml" ContentType="application/vnd.openxmlformats-officedocument.themeOverr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9" r:id="rId3"/>
    <p:sldId id="270" r:id="rId4"/>
    <p:sldId id="260" r:id="rId5"/>
    <p:sldId id="261" r:id="rId6"/>
    <p:sldId id="300" r:id="rId7"/>
    <p:sldId id="301" r:id="rId8"/>
    <p:sldId id="272" r:id="rId9"/>
    <p:sldId id="263" r:id="rId10"/>
    <p:sldId id="264" r:id="rId11"/>
    <p:sldId id="265" r:id="rId12"/>
    <p:sldId id="271" r:id="rId13"/>
    <p:sldId id="303" r:id="rId14"/>
    <p:sldId id="309" r:id="rId15"/>
    <p:sldId id="266" r:id="rId16"/>
    <p:sldId id="313" r:id="rId17"/>
    <p:sldId id="306" r:id="rId18"/>
    <p:sldId id="311" r:id="rId19"/>
    <p:sldId id="312" r:id="rId20"/>
    <p:sldId id="324" r:id="rId21"/>
    <p:sldId id="269" r:id="rId22"/>
    <p:sldId id="277" r:id="rId23"/>
    <p:sldId id="323" r:id="rId24"/>
    <p:sldId id="322" r:id="rId25"/>
    <p:sldId id="279" r:id="rId26"/>
    <p:sldId id="327" r:id="rId27"/>
    <p:sldId id="325" r:id="rId28"/>
    <p:sldId id="294" r:id="rId29"/>
    <p:sldId id="326" r:id="rId30"/>
    <p:sldId id="292"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1430_TN3" id="{7CB17DB5-E14D-4A3F-81E3-1430350692BF}">
          <p14:sldIdLst>
            <p14:sldId id="256"/>
            <p14:sldId id="259"/>
            <p14:sldId id="270"/>
            <p14:sldId id="260"/>
            <p14:sldId id="261"/>
            <p14:sldId id="300"/>
            <p14:sldId id="301"/>
            <p14:sldId id="272"/>
            <p14:sldId id="263"/>
            <p14:sldId id="264"/>
            <p14:sldId id="265"/>
            <p14:sldId id="271"/>
            <p14:sldId id="303"/>
            <p14:sldId id="309"/>
            <p14:sldId id="266"/>
            <p14:sldId id="313"/>
            <p14:sldId id="306"/>
            <p14:sldId id="311"/>
            <p14:sldId id="312"/>
            <p14:sldId id="324"/>
            <p14:sldId id="269"/>
            <p14:sldId id="277"/>
            <p14:sldId id="323"/>
            <p14:sldId id="322"/>
            <p14:sldId id="279"/>
            <p14:sldId id="327"/>
            <p14:sldId id="325"/>
            <p14:sldId id="294"/>
            <p14:sldId id="326"/>
            <p14:sldId id="292"/>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88888"/>
    <a:srgbClr val="CFB260"/>
    <a:srgbClr val="0A0A0A"/>
    <a:srgbClr val="CBCBCB"/>
    <a:srgbClr val="555555"/>
    <a:srgbClr val="AEAEAE"/>
    <a:srgbClr val="FFFFFF"/>
    <a:srgbClr val="BFBFBF"/>
    <a:srgbClr val="FAFAFA"/>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56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1452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0E94F-FB4D-7E4A-0C98-BD1DFE2F0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44E6E7-E67F-3AF3-63F1-B803F644D0B5}"/>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83D70DD-C290-716F-47A0-6975A5D295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6A91C6-A13A-F6AC-A4C1-1A3475A28906}"/>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424150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5EE64-1020-5B48-D34B-86FB27604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1230C-B250-3FC6-733C-5626CB6F56B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9A48506-FB59-E518-29FE-29EB69B1E1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742427-EB59-2C5E-F999-10BD49D5BF91}"/>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68684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915F6-C5DF-DFCF-BCCF-83774830A9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8E55A7-7CAC-ECB4-371D-3C5AE586AF7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B4CE1645-40DF-8CE7-3DDC-A66BBAE65E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2691C6-658B-7AF8-CCB8-F536C031047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271026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microsoft.com/office/2007/relationships/hdphoto" Target="../media/hdphoto2.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themeOverride" Target="../theme/themeOverride1.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1.png"/><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hyperlink" Target="https://youtu.be/BT4YfCAjDRY"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7" name="Text 2"/>
          <p:cNvSpPr/>
          <p:nvPr/>
        </p:nvSpPr>
        <p:spPr>
          <a:xfrm>
            <a:off x="475488" y="804672"/>
            <a:ext cx="4389120" cy="256032"/>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UNIVERSITÉ TÉLUQ  ·  INF1430  ·  HIVER 2026</a:t>
            </a:r>
            <a:endParaRPr lang="en-US" sz="800" dirty="0"/>
          </a:p>
        </p:txBody>
      </p:sp>
      <p:sp>
        <p:nvSpPr>
          <p:cNvPr id="8" name="Text 3"/>
          <p:cNvSpPr/>
          <p:nvPr/>
        </p:nvSpPr>
        <p:spPr>
          <a:xfrm>
            <a:off x="475488" y="1170432"/>
            <a:ext cx="3460868" cy="1508760"/>
          </a:xfrm>
          <a:prstGeom prst="rect">
            <a:avLst/>
          </a:prstGeom>
          <a:noFill/>
          <a:ln/>
        </p:spPr>
        <p:txBody>
          <a:bodyPr wrap="square" lIns="0" tIns="0" rIns="0" bIns="0" rtlCol="0" anchor="t"/>
          <a:lstStyle/>
          <a:p>
            <a:pPr marL="0" indent="0">
              <a:buNone/>
            </a:pPr>
            <a:r>
              <a:rPr lang="en-US" sz="2200" b="1" dirty="0">
                <a:solidFill>
                  <a:srgbClr val="0A0A0A"/>
                </a:solidFill>
                <a:latin typeface="Calibri" pitchFamily="34" charset="0"/>
                <a:ea typeface="Calibri" pitchFamily="34" charset="-122"/>
                <a:cs typeface="Calibri" pitchFamily="34" charset="-120"/>
              </a:rPr>
              <a:t>Comparaison expérimentale des algorithmes de </a:t>
            </a:r>
            <a:r>
              <a:rPr lang="en-US" sz="2200" b="1" dirty="0">
                <a:solidFill>
                  <a:srgbClr val="C9A84C"/>
                </a:solidFill>
                <a:latin typeface="Calibri" pitchFamily="34" charset="0"/>
                <a:ea typeface="Calibri" pitchFamily="34" charset="-122"/>
                <a:cs typeface="Calibri" pitchFamily="34" charset="-120"/>
              </a:rPr>
              <a:t>chiffrement symétrique</a:t>
            </a:r>
            <a:endParaRPr lang="en-US" sz="2200" dirty="0"/>
          </a:p>
        </p:txBody>
      </p:sp>
      <p:sp>
        <p:nvSpPr>
          <p:cNvPr id="9" name="Shape 4"/>
          <p:cNvSpPr/>
          <p:nvPr/>
        </p:nvSpPr>
        <p:spPr>
          <a:xfrm>
            <a:off x="475488" y="2834640"/>
            <a:ext cx="1371600" cy="0"/>
          </a:xfrm>
          <a:prstGeom prst="line">
            <a:avLst/>
          </a:prstGeom>
          <a:noFill/>
          <a:ln w="15240">
            <a:solidFill>
              <a:srgbClr val="C9A84C"/>
            </a:solidFill>
            <a:prstDash val="solid"/>
          </a:ln>
        </p:spPr>
        <p:txBody>
          <a:bodyPr/>
          <a:lstStyle/>
          <a:p>
            <a:endParaRPr lang="en-CA"/>
          </a:p>
        </p:txBody>
      </p:sp>
      <p:sp>
        <p:nvSpPr>
          <p:cNvPr id="10" name="Shape 5"/>
          <p:cNvSpPr/>
          <p:nvPr/>
        </p:nvSpPr>
        <p:spPr>
          <a:xfrm>
            <a:off x="1892808" y="2793492"/>
            <a:ext cx="82296" cy="82296"/>
          </a:xfrm>
          <a:prstGeom prst="ellipse">
            <a:avLst/>
          </a:prstGeom>
          <a:solidFill>
            <a:srgbClr val="C9A84C"/>
          </a:solidFill>
          <a:ln w="12700">
            <a:solidFill>
              <a:srgbClr val="C9A84C"/>
            </a:solidFill>
            <a:prstDash val="solid"/>
          </a:ln>
        </p:spPr>
        <p:txBody>
          <a:bodyPr/>
          <a:lstStyle/>
          <a:p>
            <a:endParaRPr lang="en-CA"/>
          </a:p>
        </p:txBody>
      </p:sp>
      <p:sp>
        <p:nvSpPr>
          <p:cNvPr id="11" name="Shape 6"/>
          <p:cNvSpPr/>
          <p:nvPr/>
        </p:nvSpPr>
        <p:spPr>
          <a:xfrm>
            <a:off x="2029968" y="2834640"/>
            <a:ext cx="731520" cy="0"/>
          </a:xfrm>
          <a:prstGeom prst="line">
            <a:avLst/>
          </a:prstGeom>
          <a:noFill/>
          <a:ln w="15240">
            <a:solidFill>
              <a:srgbClr val="C9A84C"/>
            </a:solidFill>
            <a:prstDash val="solid"/>
          </a:ln>
        </p:spPr>
        <p:txBody>
          <a:bodyPr/>
          <a:lstStyle/>
          <a:p>
            <a:endParaRPr lang="en-CA"/>
          </a:p>
        </p:txBody>
      </p:sp>
      <p:sp>
        <p:nvSpPr>
          <p:cNvPr id="12" name="Text 7"/>
          <p:cNvSpPr/>
          <p:nvPr/>
        </p:nvSpPr>
        <p:spPr>
          <a:xfrm>
            <a:off x="475488" y="3035808"/>
            <a:ext cx="4389120" cy="329184"/>
          </a:xfrm>
          <a:prstGeom prst="rect">
            <a:avLst/>
          </a:prstGeom>
          <a:noFill/>
          <a:ln/>
        </p:spPr>
        <p:txBody>
          <a:bodyPr wrap="square" lIns="0" tIns="0" rIns="0" bIns="0"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Melissa Moya</a:t>
            </a:r>
            <a:endParaRPr lang="en-US" sz="1200" dirty="0"/>
          </a:p>
        </p:txBody>
      </p:sp>
      <p:sp>
        <p:nvSpPr>
          <p:cNvPr id="13" name="Text 8"/>
          <p:cNvSpPr/>
          <p:nvPr/>
        </p:nvSpPr>
        <p:spPr>
          <a:xfrm>
            <a:off x="475488" y="3401568"/>
            <a:ext cx="4389120" cy="237744"/>
          </a:xfrm>
          <a:prstGeom prst="rect">
            <a:avLst/>
          </a:prstGeom>
          <a:noFill/>
          <a:ln/>
        </p:spPr>
        <p:txBody>
          <a:bodyPr wrap="square" lIns="0" tIns="0" rIns="0" bIns="0" rtlCol="0" anchor="ctr"/>
          <a:lstStyle/>
          <a:p>
            <a:pPr marL="0" indent="0">
              <a:buNone/>
            </a:pPr>
            <a:r>
              <a:rPr lang="en-US" sz="1000" dirty="0">
                <a:solidFill>
                  <a:srgbClr val="999999"/>
                </a:solidFill>
                <a:latin typeface="Calibri" pitchFamily="34" charset="0"/>
                <a:ea typeface="Calibri" pitchFamily="34" charset="-122"/>
                <a:cs typeface="Calibri" pitchFamily="34" charset="-120"/>
              </a:rPr>
              <a:t>Présenté à Habib Louafi  ·  TN3</a:t>
            </a:r>
            <a:endParaRPr lang="en-US" sz="1000" dirty="0"/>
          </a:p>
        </p:txBody>
      </p:sp>
      <p:sp>
        <p:nvSpPr>
          <p:cNvPr id="64" name="Rectangle: Rounded Corners 63">
            <a:extLst>
              <a:ext uri="{FF2B5EF4-FFF2-40B4-BE49-F238E27FC236}">
                <a16:creationId xmlns:a16="http://schemas.microsoft.com/office/drawing/2014/main" id="{8AA04CA1-CC9D-41B4-8713-DBFB59A27B8C}"/>
              </a:ext>
            </a:extLst>
          </p:cNvPr>
          <p:cNvSpPr/>
          <p:nvPr/>
        </p:nvSpPr>
        <p:spPr>
          <a:xfrm>
            <a:off x="6405862" y="332377"/>
            <a:ext cx="2622811" cy="1062445"/>
          </a:xfrm>
          <a:prstGeom prst="roundRect">
            <a:avLst/>
          </a:prstGeom>
          <a:blipFill>
            <a:blip r:embed="rId3">
              <a:alphaModFix amt="30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2" name="Rectangle: Rounded Corners 71">
            <a:extLst>
              <a:ext uri="{FF2B5EF4-FFF2-40B4-BE49-F238E27FC236}">
                <a16:creationId xmlns:a16="http://schemas.microsoft.com/office/drawing/2014/main" id="{7EF7DB7F-5644-C13A-1771-A6551B59F937}"/>
              </a:ext>
            </a:extLst>
          </p:cNvPr>
          <p:cNvSpPr/>
          <p:nvPr/>
        </p:nvSpPr>
        <p:spPr>
          <a:xfrm>
            <a:off x="4656891" y="3748678"/>
            <a:ext cx="2622811" cy="830217"/>
          </a:xfrm>
          <a:prstGeom prst="roundRect">
            <a:avLst/>
          </a:prstGeom>
          <a:blipFill>
            <a:blip r:embed="rId3">
              <a:alphaModFix amt="15000"/>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2" name="Rectangle: Rounded Corners 61">
            <a:extLst>
              <a:ext uri="{FF2B5EF4-FFF2-40B4-BE49-F238E27FC236}">
                <a16:creationId xmlns:a16="http://schemas.microsoft.com/office/drawing/2014/main" id="{B636C24E-2A30-5824-7C7B-3CC85CAAC328}"/>
              </a:ext>
            </a:extLst>
          </p:cNvPr>
          <p:cNvSpPr/>
          <p:nvPr/>
        </p:nvSpPr>
        <p:spPr>
          <a:xfrm>
            <a:off x="5477610" y="1264629"/>
            <a:ext cx="3296276" cy="2829125"/>
          </a:xfrm>
          <a:prstGeom prst="roundRect">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4" name="Image 5" descr="preencoded.png">
            <a:extLst>
              <a:ext uri="{FF2B5EF4-FFF2-40B4-BE49-F238E27FC236}">
                <a16:creationId xmlns:a16="http://schemas.microsoft.com/office/drawing/2014/main" id="{7A7EFB35-2AFE-786C-7ADE-AECE0C48CC5A}"/>
              </a:ext>
            </a:extLst>
          </p:cNvPr>
          <p:cNvPicPr>
            <a:picLocks noChangeAspect="1"/>
          </p:cNvPicPr>
          <p:nvPr/>
        </p:nvPicPr>
        <p:blipFill>
          <a:blip r:embed="rId4">
            <a:alphaModFix amt="8000"/>
            <a:extLst>
              <a:ext uri="{BEBA8EAE-BF5A-486C-A8C5-ECC9F3942E4B}">
                <a14:imgProps xmlns:a14="http://schemas.microsoft.com/office/drawing/2010/main">
                  <a14:imgLayer r:embed="rId5">
                    <a14:imgEffect>
                      <a14:brightnessContrast contrast="-100000"/>
                    </a14:imgEffect>
                  </a14:imgLayer>
                </a14:imgProps>
              </a:ext>
            </a:extLst>
          </a:blip>
          <a:stretch>
            <a:fillRect/>
          </a:stretch>
        </p:blipFill>
        <p:spPr>
          <a:xfrm>
            <a:off x="4709434" y="249918"/>
            <a:ext cx="996423" cy="996423"/>
          </a:xfrm>
          <a:prstGeom prst="rect">
            <a:avLst/>
          </a:prstGeom>
          <a:noFill/>
        </p:spPr>
      </p:pic>
      <p:pic>
        <p:nvPicPr>
          <p:cNvPr id="76" name="Image 6" descr="preencoded.png">
            <a:extLst>
              <a:ext uri="{FF2B5EF4-FFF2-40B4-BE49-F238E27FC236}">
                <a16:creationId xmlns:a16="http://schemas.microsoft.com/office/drawing/2014/main" id="{D36E3A2C-4486-B599-A9E8-86814A1F06ED}"/>
              </a:ext>
            </a:extLst>
          </p:cNvPr>
          <p:cNvPicPr>
            <a:picLocks noChangeAspect="1"/>
          </p:cNvPicPr>
          <p:nvPr/>
        </p:nvPicPr>
        <p:blipFill>
          <a:blip r:embed="rId6">
            <a:alphaModFix amt="18000"/>
            <a:extLst>
              <a:ext uri="{BEBA8EAE-BF5A-486C-A8C5-ECC9F3942E4B}">
                <a14:imgProps xmlns:a14="http://schemas.microsoft.com/office/drawing/2010/main">
                  <a14:imgLayer r:embed="rId7">
                    <a14:imgEffect>
                      <a14:brightnessContrast contrast="-100000"/>
                    </a14:imgEffect>
                  </a14:imgLayer>
                </a14:imgProps>
              </a:ext>
            </a:extLst>
          </a:blip>
          <a:stretch>
            <a:fillRect/>
          </a:stretch>
        </p:blipFill>
        <p:spPr>
          <a:xfrm>
            <a:off x="7966066" y="4251135"/>
            <a:ext cx="713478" cy="71347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 22">
            <a:extLst>
              <a:ext uri="{FF2B5EF4-FFF2-40B4-BE49-F238E27FC236}">
                <a16:creationId xmlns:a16="http://schemas.microsoft.com/office/drawing/2014/main" id="{8CE865FA-62B9-CAAD-C2E0-7B64054D29A2}"/>
              </a:ext>
            </a:extLst>
          </p:cNvPr>
          <p:cNvSpPr>
            <a:spLocks/>
          </p:cNvSpPr>
          <p:nvPr/>
        </p:nvSpPr>
        <p:spPr>
          <a:xfrm>
            <a:off x="3594505" y="2641453"/>
            <a:ext cx="787703" cy="777240"/>
          </a:xfrm>
          <a:prstGeom prst="rect">
            <a:avLst/>
          </a:prstGeom>
          <a:noFill/>
          <a:ln/>
        </p:spPr>
        <p:txBody>
          <a:bodyPr wrap="square" lIns="0" tIns="0" rIns="0" bIns="0" rtlCol="0" anchor="ctr"/>
          <a:lstStyle/>
          <a:p>
            <a:pPr marL="0" indent="0">
              <a:buNone/>
            </a:pPr>
            <a:r>
              <a:rPr lang="en-US" sz="5200" b="1" dirty="0">
                <a:solidFill>
                  <a:srgbClr val="C9A84C">
                    <a:alpha val="8000"/>
                  </a:srgbClr>
                </a:solidFill>
                <a:latin typeface="Calibri" pitchFamily="34" charset="0"/>
                <a:ea typeface="Calibri" pitchFamily="34" charset="-122"/>
                <a:cs typeface="Calibri" pitchFamily="34" charset="-120"/>
              </a:rPr>
              <a:t>05</a:t>
            </a:r>
            <a:endParaRPr lang="en-US" sz="5200" dirty="0"/>
          </a:p>
        </p:txBody>
      </p:sp>
      <p:sp>
        <p:nvSpPr>
          <p:cNvPr id="3" name="Text 1"/>
          <p:cNvSpPr/>
          <p:nvPr/>
        </p:nvSpPr>
        <p:spPr>
          <a:xfrm>
            <a:off x="244669" y="305837"/>
            <a:ext cx="5486400" cy="420624"/>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Plan de </a:t>
            </a:r>
            <a:r>
              <a:rPr lang="en-US" sz="1600" b="1" dirty="0">
                <a:solidFill>
                  <a:srgbClr val="C9A84C"/>
                </a:solidFill>
                <a:latin typeface="Calibri" pitchFamily="34" charset="0"/>
                <a:ea typeface="Calibri" pitchFamily="34" charset="-122"/>
                <a:cs typeface="Calibri" pitchFamily="34" charset="-120"/>
              </a:rPr>
              <a:t>présentation</a:t>
            </a:r>
            <a:endParaRPr lang="en-US" sz="1600" dirty="0"/>
          </a:p>
        </p:txBody>
      </p:sp>
      <p:sp>
        <p:nvSpPr>
          <p:cNvPr id="4" name="Text 2"/>
          <p:cNvSpPr/>
          <p:nvPr/>
        </p:nvSpPr>
        <p:spPr>
          <a:xfrm>
            <a:off x="244669" y="1197516"/>
            <a:ext cx="1097280" cy="777240"/>
          </a:xfrm>
          <a:prstGeom prst="rect">
            <a:avLst/>
          </a:prstGeom>
          <a:noFill/>
          <a:ln/>
        </p:spPr>
        <p:txBody>
          <a:bodyPr wrap="square" lIns="0" tIns="0" rIns="0" bIns="0" rtlCol="0" anchor="ctr"/>
          <a:lstStyle/>
          <a:p>
            <a:pPr marL="0" indent="0">
              <a:buNone/>
            </a:pPr>
            <a:r>
              <a:rPr lang="en-US" sz="5200" b="1" dirty="0">
                <a:solidFill>
                  <a:srgbClr val="C9A84C">
                    <a:alpha val="8000"/>
                  </a:srgbClr>
                </a:solidFill>
                <a:latin typeface="Calibri" pitchFamily="34" charset="0"/>
                <a:ea typeface="Calibri" pitchFamily="34" charset="-122"/>
                <a:cs typeface="Calibri" pitchFamily="34" charset="-120"/>
              </a:rPr>
              <a:t>01</a:t>
            </a:r>
            <a:endParaRPr lang="en-US" sz="5200" dirty="0"/>
          </a:p>
        </p:txBody>
      </p:sp>
      <p:sp>
        <p:nvSpPr>
          <p:cNvPr id="5" name="Shape 3"/>
          <p:cNvSpPr/>
          <p:nvPr/>
        </p:nvSpPr>
        <p:spPr>
          <a:xfrm>
            <a:off x="281245" y="1380396"/>
            <a:ext cx="0" cy="1123811"/>
          </a:xfrm>
          <a:prstGeom prst="line">
            <a:avLst/>
          </a:prstGeom>
          <a:noFill/>
          <a:ln w="31750">
            <a:solidFill>
              <a:srgbClr val="C9A84C"/>
            </a:solidFill>
            <a:prstDash val="solid"/>
          </a:ln>
        </p:spPr>
        <p:txBody>
          <a:bodyPr/>
          <a:lstStyle/>
          <a:p>
            <a:endParaRPr lang="en-CA"/>
          </a:p>
        </p:txBody>
      </p:sp>
      <p:sp>
        <p:nvSpPr>
          <p:cNvPr id="6" name="Text 4"/>
          <p:cNvSpPr/>
          <p:nvPr/>
        </p:nvSpPr>
        <p:spPr>
          <a:xfrm>
            <a:off x="409261" y="1380396"/>
            <a:ext cx="365760"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01</a:t>
            </a:r>
            <a:endParaRPr lang="en-US" sz="900" dirty="0"/>
          </a:p>
        </p:txBody>
      </p:sp>
      <p:sp>
        <p:nvSpPr>
          <p:cNvPr id="7" name="Text 5"/>
          <p:cNvSpPr/>
          <p:nvPr/>
        </p:nvSpPr>
        <p:spPr>
          <a:xfrm>
            <a:off x="409261" y="1599852"/>
            <a:ext cx="2487168" cy="347472"/>
          </a:xfrm>
          <a:prstGeom prst="rect">
            <a:avLst/>
          </a:prstGeom>
          <a:noFill/>
          <a:ln/>
        </p:spPr>
        <p:txBody>
          <a:bodyPr wrap="square" lIns="0" tIns="0" rIns="0" bIns="0" rtlCol="0" anchor="t"/>
          <a:lstStyle/>
          <a:p>
            <a:pPr marL="0" indent="0">
              <a:buNone/>
            </a:pPr>
            <a:r>
              <a:rPr lang="en-US" sz="1100" b="1" dirty="0">
                <a:solidFill>
                  <a:srgbClr val="0A0A0A"/>
                </a:solidFill>
                <a:latin typeface="Calibri" pitchFamily="34" charset="0"/>
                <a:ea typeface="Calibri" pitchFamily="34" charset="-122"/>
                <a:cs typeface="Calibri" pitchFamily="34" charset="-120"/>
              </a:rPr>
              <a:t>Nature du système et objectifs</a:t>
            </a:r>
            <a:endParaRPr lang="en-US" sz="1100" dirty="0"/>
          </a:p>
        </p:txBody>
      </p:sp>
      <p:sp>
        <p:nvSpPr>
          <p:cNvPr id="8" name="Text 6"/>
          <p:cNvSpPr/>
          <p:nvPr/>
        </p:nvSpPr>
        <p:spPr>
          <a:xfrm>
            <a:off x="381552" y="1881585"/>
            <a:ext cx="2487168" cy="658368"/>
          </a:xfrm>
          <a:prstGeom prst="rect">
            <a:avLst/>
          </a:prstGeom>
          <a:noFill/>
          <a:ln/>
        </p:spPr>
        <p:txBody>
          <a:bodyPr wrap="square" lIns="0" tIns="0" rIns="0" bIns="0" rtlCol="0" anchor="t"/>
          <a:lstStyle/>
          <a:p>
            <a:pPr marL="0" indent="0">
              <a:buNone/>
            </a:pPr>
            <a:r>
              <a:rPr lang="fr-FR" sz="900" dirty="0">
                <a:solidFill>
                  <a:srgbClr val="888888"/>
                </a:solidFill>
                <a:latin typeface="Calibri" pitchFamily="34" charset="0"/>
                <a:ea typeface="Calibri" pitchFamily="34" charset="-122"/>
                <a:cs typeface="Calibri" pitchFamily="34" charset="-120"/>
              </a:rPr>
              <a:t>Système de comparaison de chiffrement symétrique: périmètre, architecture et critères d’évaluation.</a:t>
            </a:r>
            <a:endParaRPr lang="en-US" sz="900" dirty="0"/>
          </a:p>
        </p:txBody>
      </p:sp>
      <p:sp>
        <p:nvSpPr>
          <p:cNvPr id="9" name="Text 7"/>
          <p:cNvSpPr/>
          <p:nvPr/>
        </p:nvSpPr>
        <p:spPr>
          <a:xfrm>
            <a:off x="3429913" y="1192944"/>
            <a:ext cx="1097280" cy="777240"/>
          </a:xfrm>
          <a:prstGeom prst="rect">
            <a:avLst/>
          </a:prstGeom>
          <a:noFill/>
          <a:ln/>
        </p:spPr>
        <p:txBody>
          <a:bodyPr wrap="square" lIns="0" tIns="0" rIns="0" bIns="0" rtlCol="0" anchor="ctr"/>
          <a:lstStyle/>
          <a:p>
            <a:pPr marL="0" indent="0">
              <a:buNone/>
            </a:pPr>
            <a:r>
              <a:rPr lang="en-US" sz="5200" b="1" dirty="0">
                <a:solidFill>
                  <a:srgbClr val="C9A84C">
                    <a:alpha val="8000"/>
                  </a:srgbClr>
                </a:solidFill>
                <a:latin typeface="Calibri" pitchFamily="34" charset="0"/>
                <a:ea typeface="Calibri" pitchFamily="34" charset="-122"/>
                <a:cs typeface="Calibri" pitchFamily="34" charset="-120"/>
              </a:rPr>
              <a:t>02</a:t>
            </a:r>
            <a:endParaRPr lang="en-US" sz="5200" dirty="0"/>
          </a:p>
        </p:txBody>
      </p:sp>
      <p:sp>
        <p:nvSpPr>
          <p:cNvPr id="11" name="Text 9"/>
          <p:cNvSpPr/>
          <p:nvPr/>
        </p:nvSpPr>
        <p:spPr>
          <a:xfrm>
            <a:off x="3594505" y="1375824"/>
            <a:ext cx="365760"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02</a:t>
            </a:r>
            <a:endParaRPr lang="en-US" sz="900" dirty="0"/>
          </a:p>
        </p:txBody>
      </p:sp>
      <p:sp>
        <p:nvSpPr>
          <p:cNvPr id="12" name="Text 10"/>
          <p:cNvSpPr/>
          <p:nvPr/>
        </p:nvSpPr>
        <p:spPr>
          <a:xfrm>
            <a:off x="3594505" y="1595280"/>
            <a:ext cx="2487168" cy="347472"/>
          </a:xfrm>
          <a:prstGeom prst="rect">
            <a:avLst/>
          </a:prstGeom>
          <a:noFill/>
          <a:ln/>
        </p:spPr>
        <p:txBody>
          <a:bodyPr wrap="square" lIns="0" tIns="0" rIns="0" bIns="0" rtlCol="0" anchor="t"/>
          <a:lstStyle/>
          <a:p>
            <a:pPr marL="0" indent="0">
              <a:buNone/>
            </a:pPr>
            <a:r>
              <a:rPr lang="en-US" sz="1100" b="1" dirty="0">
                <a:solidFill>
                  <a:srgbClr val="0A0A0A"/>
                </a:solidFill>
                <a:latin typeface="Calibri" pitchFamily="34" charset="0"/>
                <a:ea typeface="Calibri" pitchFamily="34" charset="-122"/>
                <a:cs typeface="Calibri" pitchFamily="34" charset="-120"/>
              </a:rPr>
              <a:t>Protocole expérimental et environnement</a:t>
            </a:r>
            <a:endParaRPr lang="en-US" sz="1100" dirty="0"/>
          </a:p>
        </p:txBody>
      </p:sp>
      <p:sp>
        <p:nvSpPr>
          <p:cNvPr id="13" name="Text 11"/>
          <p:cNvSpPr/>
          <p:nvPr/>
        </p:nvSpPr>
        <p:spPr>
          <a:xfrm>
            <a:off x="3580648" y="1902356"/>
            <a:ext cx="2487168" cy="488961"/>
          </a:xfrm>
          <a:prstGeom prst="rect">
            <a:avLst/>
          </a:prstGeom>
          <a:noFill/>
          <a:ln/>
        </p:spPr>
        <p:txBody>
          <a:bodyPr wrap="square" lIns="0" tIns="0" rIns="0" bIns="0" rtlCol="0" anchor="t"/>
          <a:lstStyle/>
          <a:p>
            <a:pPr marL="0" indent="0">
              <a:buNone/>
            </a:pPr>
            <a:r>
              <a:rPr lang="fr-FR" sz="900" dirty="0">
                <a:solidFill>
                  <a:srgbClr val="888888"/>
                </a:solidFill>
                <a:latin typeface="Calibri" pitchFamily="34" charset="0"/>
                <a:ea typeface="Calibri" pitchFamily="34" charset="-122"/>
                <a:cs typeface="Calibri" pitchFamily="34" charset="-120"/>
              </a:rPr>
              <a:t>Protocole unique, paramètres contrôlés et exécution identique sur x86 et ARM pour garantir l’équité.</a:t>
            </a:r>
            <a:endParaRPr lang="en-US" sz="900" dirty="0"/>
          </a:p>
        </p:txBody>
      </p:sp>
      <p:sp>
        <p:nvSpPr>
          <p:cNvPr id="14" name="Text 12"/>
          <p:cNvSpPr/>
          <p:nvPr/>
        </p:nvSpPr>
        <p:spPr>
          <a:xfrm>
            <a:off x="6432276" y="1185691"/>
            <a:ext cx="1097280" cy="777240"/>
          </a:xfrm>
          <a:prstGeom prst="rect">
            <a:avLst/>
          </a:prstGeom>
          <a:noFill/>
          <a:ln/>
        </p:spPr>
        <p:txBody>
          <a:bodyPr wrap="square" lIns="0" tIns="0" rIns="0" bIns="0" rtlCol="0" anchor="ctr"/>
          <a:lstStyle/>
          <a:p>
            <a:pPr marL="0" indent="0">
              <a:buNone/>
            </a:pPr>
            <a:r>
              <a:rPr lang="en-US" sz="5200" b="1" dirty="0">
                <a:solidFill>
                  <a:srgbClr val="C9A84C">
                    <a:alpha val="8000"/>
                  </a:srgbClr>
                </a:solidFill>
                <a:latin typeface="Calibri" pitchFamily="34" charset="0"/>
                <a:ea typeface="Calibri" pitchFamily="34" charset="-122"/>
                <a:cs typeface="Calibri" pitchFamily="34" charset="-120"/>
              </a:rPr>
              <a:t>03</a:t>
            </a:r>
            <a:endParaRPr lang="en-US" sz="5200" dirty="0"/>
          </a:p>
        </p:txBody>
      </p:sp>
      <p:sp>
        <p:nvSpPr>
          <p:cNvPr id="16" name="Text 14"/>
          <p:cNvSpPr/>
          <p:nvPr/>
        </p:nvSpPr>
        <p:spPr>
          <a:xfrm>
            <a:off x="6596868" y="1368571"/>
            <a:ext cx="365760"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03</a:t>
            </a:r>
            <a:endParaRPr lang="en-US" sz="900" dirty="0"/>
          </a:p>
        </p:txBody>
      </p:sp>
      <p:sp>
        <p:nvSpPr>
          <p:cNvPr id="17" name="Text 15"/>
          <p:cNvSpPr/>
          <p:nvPr/>
        </p:nvSpPr>
        <p:spPr>
          <a:xfrm>
            <a:off x="6596868" y="1588027"/>
            <a:ext cx="2487168" cy="347472"/>
          </a:xfrm>
          <a:prstGeom prst="rect">
            <a:avLst/>
          </a:prstGeom>
          <a:noFill/>
          <a:ln/>
        </p:spPr>
        <p:txBody>
          <a:bodyPr wrap="square" lIns="0" tIns="0" rIns="0" bIns="0" rtlCol="0" anchor="t"/>
          <a:lstStyle/>
          <a:p>
            <a:pPr marL="0" indent="0">
              <a:buNone/>
            </a:pPr>
            <a:r>
              <a:rPr lang="en-US" sz="1100" b="1" dirty="0">
                <a:solidFill>
                  <a:srgbClr val="0A0A0A"/>
                </a:solidFill>
                <a:latin typeface="Calibri" pitchFamily="34" charset="0"/>
                <a:ea typeface="Calibri" pitchFamily="34" charset="-122"/>
                <a:cs typeface="Calibri" pitchFamily="34" charset="-120"/>
              </a:rPr>
              <a:t>Validation cryptographique — KAT</a:t>
            </a:r>
            <a:endParaRPr lang="en-US" sz="1100" dirty="0"/>
          </a:p>
        </p:txBody>
      </p:sp>
      <p:sp>
        <p:nvSpPr>
          <p:cNvPr id="18" name="Text 16"/>
          <p:cNvSpPr/>
          <p:nvPr/>
        </p:nvSpPr>
        <p:spPr>
          <a:xfrm>
            <a:off x="6569159" y="1908968"/>
            <a:ext cx="2487168" cy="658368"/>
          </a:xfrm>
          <a:prstGeom prst="rect">
            <a:avLst/>
          </a:prstGeom>
          <a:noFill/>
          <a:ln/>
        </p:spPr>
        <p:txBody>
          <a:bodyPr wrap="square" lIns="0" tIns="0" rIns="0" bIns="0" rtlCol="0" anchor="t"/>
          <a:lstStyle/>
          <a:p>
            <a:pPr marL="0" indent="0">
              <a:buNone/>
            </a:pPr>
            <a:r>
              <a:rPr lang="fr-FR" sz="900" dirty="0">
                <a:solidFill>
                  <a:srgbClr val="888888"/>
                </a:solidFill>
                <a:latin typeface="Calibri" pitchFamily="34" charset="0"/>
                <a:ea typeface="Calibri" pitchFamily="34" charset="-122"/>
                <a:cs typeface="Calibri" pitchFamily="34" charset="-120"/>
              </a:rPr>
              <a:t>Conformité des implémentations vérifiée par vecteurs NIST/RFC avant toute analyse de performance.</a:t>
            </a:r>
            <a:endParaRPr lang="en-US" sz="900" dirty="0"/>
          </a:p>
        </p:txBody>
      </p:sp>
      <p:sp>
        <p:nvSpPr>
          <p:cNvPr id="19" name="Text 17"/>
          <p:cNvSpPr/>
          <p:nvPr/>
        </p:nvSpPr>
        <p:spPr>
          <a:xfrm>
            <a:off x="244669" y="2667969"/>
            <a:ext cx="1097280" cy="777240"/>
          </a:xfrm>
          <a:prstGeom prst="rect">
            <a:avLst/>
          </a:prstGeom>
          <a:noFill/>
          <a:ln/>
        </p:spPr>
        <p:txBody>
          <a:bodyPr wrap="square" lIns="0" tIns="0" rIns="0" bIns="0" rtlCol="0" anchor="ctr"/>
          <a:lstStyle/>
          <a:p>
            <a:pPr marL="0" indent="0">
              <a:buNone/>
            </a:pPr>
            <a:r>
              <a:rPr lang="en-US" sz="5200" b="1" dirty="0">
                <a:solidFill>
                  <a:srgbClr val="C9A84C">
                    <a:alpha val="8000"/>
                  </a:srgbClr>
                </a:solidFill>
                <a:latin typeface="Calibri" pitchFamily="34" charset="0"/>
                <a:ea typeface="Calibri" pitchFamily="34" charset="-122"/>
                <a:cs typeface="Calibri" pitchFamily="34" charset="-120"/>
              </a:rPr>
              <a:t>04</a:t>
            </a:r>
            <a:endParaRPr lang="en-US" sz="5200" dirty="0"/>
          </a:p>
        </p:txBody>
      </p:sp>
      <p:sp>
        <p:nvSpPr>
          <p:cNvPr id="21" name="Text 19"/>
          <p:cNvSpPr/>
          <p:nvPr/>
        </p:nvSpPr>
        <p:spPr>
          <a:xfrm>
            <a:off x="409261" y="2850849"/>
            <a:ext cx="365760"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04</a:t>
            </a:r>
            <a:endParaRPr lang="en-US" sz="900" dirty="0"/>
          </a:p>
        </p:txBody>
      </p:sp>
      <p:sp>
        <p:nvSpPr>
          <p:cNvPr id="22" name="Text 20"/>
          <p:cNvSpPr/>
          <p:nvPr/>
        </p:nvSpPr>
        <p:spPr>
          <a:xfrm>
            <a:off x="409260" y="3070305"/>
            <a:ext cx="2890801" cy="347472"/>
          </a:xfrm>
          <a:prstGeom prst="rect">
            <a:avLst/>
          </a:prstGeom>
          <a:noFill/>
          <a:ln/>
        </p:spPr>
        <p:txBody>
          <a:bodyPr wrap="square" lIns="0" tIns="0" rIns="0" bIns="0" rtlCol="0" anchor="t"/>
          <a:lstStyle/>
          <a:p>
            <a:r>
              <a:rPr lang="fr-FR" sz="1100" b="1" dirty="0">
                <a:solidFill>
                  <a:srgbClr val="0A0A0A"/>
                </a:solidFill>
                <a:latin typeface="Calibri" pitchFamily="34" charset="0"/>
                <a:ea typeface="Calibri" pitchFamily="34" charset="-122"/>
                <a:cs typeface="Calibri" pitchFamily="34" charset="-120"/>
              </a:rPr>
              <a:t>Génération et analyse des sorties expérimentales</a:t>
            </a:r>
            <a:endParaRPr lang="en-US" sz="1100" dirty="0"/>
          </a:p>
        </p:txBody>
      </p:sp>
      <p:sp>
        <p:nvSpPr>
          <p:cNvPr id="23" name="Text 21"/>
          <p:cNvSpPr/>
          <p:nvPr/>
        </p:nvSpPr>
        <p:spPr>
          <a:xfrm>
            <a:off x="409261" y="3343797"/>
            <a:ext cx="2487168" cy="658368"/>
          </a:xfrm>
          <a:prstGeom prst="rect">
            <a:avLst/>
          </a:prstGeom>
          <a:noFill/>
          <a:ln/>
        </p:spPr>
        <p:txBody>
          <a:bodyPr wrap="square" lIns="0" tIns="0" rIns="0" bIns="0" rtlCol="0" anchor="t"/>
          <a:lstStyle/>
          <a:p>
            <a:pPr marL="0" indent="0">
              <a:buNone/>
            </a:pPr>
            <a:r>
              <a:rPr lang="fr-FR" sz="900" dirty="0">
                <a:solidFill>
                  <a:srgbClr val="888888"/>
                </a:solidFill>
                <a:latin typeface="Calibri" pitchFamily="34" charset="0"/>
                <a:ea typeface="Calibri" pitchFamily="34" charset="-122"/>
                <a:cs typeface="Calibri" pitchFamily="34" charset="-120"/>
              </a:rPr>
              <a:t>Campagnes rejouables, CSV horodatés et pipeline de figures pour produire des artefacts traçables.</a:t>
            </a:r>
            <a:endParaRPr lang="en-US" sz="900" dirty="0"/>
          </a:p>
        </p:txBody>
      </p:sp>
      <p:sp>
        <p:nvSpPr>
          <p:cNvPr id="39" name="Text 37"/>
          <p:cNvSpPr/>
          <p:nvPr/>
        </p:nvSpPr>
        <p:spPr>
          <a:xfrm>
            <a:off x="457200" y="4870984"/>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41" name="Shape 3">
            <a:extLst>
              <a:ext uri="{FF2B5EF4-FFF2-40B4-BE49-F238E27FC236}">
                <a16:creationId xmlns:a16="http://schemas.microsoft.com/office/drawing/2014/main" id="{2572D8F3-F898-5635-FE24-16DDC64C4D95}"/>
              </a:ext>
            </a:extLst>
          </p:cNvPr>
          <p:cNvSpPr/>
          <p:nvPr/>
        </p:nvSpPr>
        <p:spPr>
          <a:xfrm>
            <a:off x="3429913" y="1375824"/>
            <a:ext cx="0" cy="1117871"/>
          </a:xfrm>
          <a:prstGeom prst="line">
            <a:avLst/>
          </a:prstGeom>
          <a:noFill/>
          <a:ln w="31750">
            <a:solidFill>
              <a:srgbClr val="C9A84C"/>
            </a:solidFill>
            <a:prstDash val="solid"/>
          </a:ln>
        </p:spPr>
        <p:txBody>
          <a:bodyPr/>
          <a:lstStyle/>
          <a:p>
            <a:endParaRPr lang="en-CA"/>
          </a:p>
        </p:txBody>
      </p:sp>
      <p:sp>
        <p:nvSpPr>
          <p:cNvPr id="43" name="Shape 3">
            <a:extLst>
              <a:ext uri="{FF2B5EF4-FFF2-40B4-BE49-F238E27FC236}">
                <a16:creationId xmlns:a16="http://schemas.microsoft.com/office/drawing/2014/main" id="{6DB36A79-EDE0-D885-43C2-23A51EE42CAE}"/>
              </a:ext>
            </a:extLst>
          </p:cNvPr>
          <p:cNvSpPr/>
          <p:nvPr/>
        </p:nvSpPr>
        <p:spPr>
          <a:xfrm>
            <a:off x="6418420" y="1368571"/>
            <a:ext cx="1" cy="1123811"/>
          </a:xfrm>
          <a:prstGeom prst="line">
            <a:avLst/>
          </a:prstGeom>
          <a:noFill/>
          <a:ln w="31750">
            <a:solidFill>
              <a:srgbClr val="C9A84C"/>
            </a:solidFill>
            <a:prstDash val="solid"/>
          </a:ln>
        </p:spPr>
        <p:txBody>
          <a:bodyPr/>
          <a:lstStyle/>
          <a:p>
            <a:endParaRPr lang="en-CA"/>
          </a:p>
        </p:txBody>
      </p:sp>
      <p:sp>
        <p:nvSpPr>
          <p:cNvPr id="45" name="Shape 3">
            <a:extLst>
              <a:ext uri="{FF2B5EF4-FFF2-40B4-BE49-F238E27FC236}">
                <a16:creationId xmlns:a16="http://schemas.microsoft.com/office/drawing/2014/main" id="{9D246F74-98B4-499E-4C6E-B1D2BEF1BCA7}"/>
              </a:ext>
            </a:extLst>
          </p:cNvPr>
          <p:cNvSpPr/>
          <p:nvPr/>
        </p:nvSpPr>
        <p:spPr>
          <a:xfrm>
            <a:off x="281245" y="2850849"/>
            <a:ext cx="0" cy="1079495"/>
          </a:xfrm>
          <a:prstGeom prst="line">
            <a:avLst/>
          </a:prstGeom>
          <a:noFill/>
          <a:ln w="31750">
            <a:solidFill>
              <a:srgbClr val="C9A84C"/>
            </a:solidFill>
            <a:prstDash val="solid"/>
          </a:ln>
        </p:spPr>
        <p:txBody>
          <a:bodyPr/>
          <a:lstStyle/>
          <a:p>
            <a:endParaRPr lang="en-CA"/>
          </a:p>
        </p:txBody>
      </p:sp>
      <p:sp>
        <p:nvSpPr>
          <p:cNvPr id="36" name="Text 24">
            <a:extLst>
              <a:ext uri="{FF2B5EF4-FFF2-40B4-BE49-F238E27FC236}">
                <a16:creationId xmlns:a16="http://schemas.microsoft.com/office/drawing/2014/main" id="{080C0594-D77E-1035-A9A6-A1E68107E925}"/>
              </a:ext>
            </a:extLst>
          </p:cNvPr>
          <p:cNvSpPr/>
          <p:nvPr/>
        </p:nvSpPr>
        <p:spPr>
          <a:xfrm>
            <a:off x="3603669" y="2767188"/>
            <a:ext cx="262568" cy="201168"/>
          </a:xfrm>
          <a:prstGeom prst="rect">
            <a:avLst/>
          </a:prstGeom>
          <a:noFill/>
          <a:ln/>
        </p:spPr>
        <p:txBody>
          <a:bodyPr wrap="square" lIns="0" tIns="0" rIns="0" bIns="0" rtlCol="0" anchor="ctr"/>
          <a:lstStyle/>
          <a:p>
            <a:pPr marL="0" indent="0">
              <a:buNone/>
            </a:pPr>
            <a:r>
              <a:rPr lang="en-US" sz="900" b="1" dirty="0">
                <a:solidFill>
                  <a:srgbClr val="C9A84C"/>
                </a:solidFill>
                <a:latin typeface="Calibri" pitchFamily="34" charset="0"/>
                <a:ea typeface="Calibri" pitchFamily="34" charset="-122"/>
                <a:cs typeface="Calibri" pitchFamily="34" charset="-120"/>
              </a:rPr>
              <a:t>05</a:t>
            </a:r>
            <a:endParaRPr lang="en-US" sz="900" dirty="0"/>
          </a:p>
        </p:txBody>
      </p:sp>
      <p:sp>
        <p:nvSpPr>
          <p:cNvPr id="38" name="Text 30">
            <a:extLst>
              <a:ext uri="{FF2B5EF4-FFF2-40B4-BE49-F238E27FC236}">
                <a16:creationId xmlns:a16="http://schemas.microsoft.com/office/drawing/2014/main" id="{1E8F514A-6B99-A070-9687-287EAC1AA4E6}"/>
              </a:ext>
            </a:extLst>
          </p:cNvPr>
          <p:cNvSpPr/>
          <p:nvPr/>
        </p:nvSpPr>
        <p:spPr>
          <a:xfrm>
            <a:off x="3621958" y="3007774"/>
            <a:ext cx="1785459" cy="347472"/>
          </a:xfrm>
          <a:prstGeom prst="rect">
            <a:avLst/>
          </a:prstGeom>
          <a:noFill/>
          <a:ln/>
        </p:spPr>
        <p:txBody>
          <a:bodyPr wrap="square" lIns="0" tIns="0" rIns="0" bIns="0" rtlCol="0" anchor="t"/>
          <a:lstStyle/>
          <a:p>
            <a:pPr marL="0" indent="0">
              <a:buNone/>
            </a:pPr>
            <a:r>
              <a:rPr lang="en-US" sz="1100" b="1" dirty="0">
                <a:solidFill>
                  <a:srgbClr val="0A0A0A"/>
                </a:solidFill>
                <a:latin typeface="Calibri" pitchFamily="34" charset="0"/>
                <a:cs typeface="Calibri" pitchFamily="34" charset="-120"/>
              </a:rPr>
              <a:t>Synthèse et démonstration </a:t>
            </a:r>
            <a:endParaRPr lang="en-US" sz="1100" dirty="0"/>
          </a:p>
        </p:txBody>
      </p:sp>
      <p:sp>
        <p:nvSpPr>
          <p:cNvPr id="42" name="Text 31">
            <a:extLst>
              <a:ext uri="{FF2B5EF4-FFF2-40B4-BE49-F238E27FC236}">
                <a16:creationId xmlns:a16="http://schemas.microsoft.com/office/drawing/2014/main" id="{C5E8CC98-B062-6D91-9CEA-2BDACA10F327}"/>
              </a:ext>
            </a:extLst>
          </p:cNvPr>
          <p:cNvSpPr/>
          <p:nvPr/>
        </p:nvSpPr>
        <p:spPr>
          <a:xfrm>
            <a:off x="3603669" y="3260136"/>
            <a:ext cx="2452097" cy="658368"/>
          </a:xfrm>
          <a:prstGeom prst="rect">
            <a:avLst/>
          </a:prstGeom>
          <a:noFill/>
          <a:ln/>
        </p:spPr>
        <p:txBody>
          <a:bodyPr wrap="square" lIns="0" tIns="0" rIns="0" bIns="0" rtlCol="0" anchor="t"/>
          <a:lstStyle/>
          <a:p>
            <a:pPr marL="0" indent="0">
              <a:buNone/>
            </a:pPr>
            <a:r>
              <a:rPr lang="fr-FR" sz="900" dirty="0">
                <a:solidFill>
                  <a:srgbClr val="888888"/>
                </a:solidFill>
                <a:latin typeface="Calibri" pitchFamily="34" charset="0"/>
                <a:ea typeface="Calibri" pitchFamily="34" charset="-122"/>
                <a:cs typeface="Calibri" pitchFamily="34" charset="-120"/>
              </a:rPr>
              <a:t>Conclusion sur la robustesse du système, reproductibilité inter-plateforme et exécution finale.</a:t>
            </a:r>
            <a:endParaRPr lang="en-US" sz="900" dirty="0"/>
          </a:p>
        </p:txBody>
      </p:sp>
      <p:sp>
        <p:nvSpPr>
          <p:cNvPr id="46" name="Shape 3">
            <a:extLst>
              <a:ext uri="{FF2B5EF4-FFF2-40B4-BE49-F238E27FC236}">
                <a16:creationId xmlns:a16="http://schemas.microsoft.com/office/drawing/2014/main" id="{C9F03157-E9AF-DACE-E4B3-0744C28C4F00}"/>
              </a:ext>
            </a:extLst>
          </p:cNvPr>
          <p:cNvSpPr/>
          <p:nvPr/>
        </p:nvSpPr>
        <p:spPr>
          <a:xfrm>
            <a:off x="3446003" y="2770445"/>
            <a:ext cx="0" cy="1079495"/>
          </a:xfrm>
          <a:prstGeom prst="line">
            <a:avLst/>
          </a:prstGeom>
          <a:noFill/>
          <a:ln w="31750">
            <a:solidFill>
              <a:srgbClr val="C9A84C"/>
            </a:solidFill>
            <a:prstDash val="solid"/>
          </a:ln>
        </p:spPr>
        <p:txBody>
          <a:bodyPr/>
          <a:lstStyle/>
          <a:p>
            <a:endParaRPr lang="en-C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45720" y="2267324"/>
            <a:ext cx="2871216" cy="2321579"/>
          </a:xfrm>
          <a:prstGeom prst="rect">
            <a:avLst/>
          </a:prstGeom>
          <a:noFill/>
          <a:ln/>
        </p:spPr>
        <p:txBody>
          <a:bodyPr wrap="square" lIns="0" tIns="0" rIns="0" bIns="0" rtlCol="0" anchor="ctr"/>
          <a:lstStyle/>
          <a:p>
            <a:pPr marL="0" indent="0">
              <a:buNone/>
            </a:pPr>
            <a:r>
              <a:rPr lang="en-US" sz="16000" b="1" dirty="0">
                <a:solidFill>
                  <a:srgbClr val="0A0A0A">
                    <a:alpha val="3000"/>
                  </a:srgbClr>
                </a:solidFill>
                <a:latin typeface="Calibri" pitchFamily="34" charset="0"/>
                <a:ea typeface="Calibri" pitchFamily="34" charset="-122"/>
                <a:cs typeface="Calibri" pitchFamily="34" charset="-120"/>
              </a:rPr>
              <a:t>01</a:t>
            </a:r>
            <a:endParaRPr lang="en-US" sz="16000" dirty="0"/>
          </a:p>
        </p:txBody>
      </p:sp>
      <p:sp>
        <p:nvSpPr>
          <p:cNvPr id="4" name="Text 2"/>
          <p:cNvSpPr/>
          <p:nvPr/>
        </p:nvSpPr>
        <p:spPr>
          <a:xfrm>
            <a:off x="475488" y="164592"/>
            <a:ext cx="6400800" cy="182880"/>
          </a:xfrm>
          <a:prstGeom prst="rect">
            <a:avLst/>
          </a:prstGeom>
          <a:noFill/>
          <a:ln/>
        </p:spPr>
        <p:txBody>
          <a:bodyPr wrap="square" lIns="0" tIns="0" rIns="0" bIns="0" rtlCol="0" anchor="ctr"/>
          <a:lstStyle/>
          <a:p>
            <a:r>
              <a:rPr lang="en-US" sz="800" b="1" kern="0" spc="200" dirty="0">
                <a:solidFill>
                  <a:srgbClr val="C0C0C0"/>
                </a:solidFill>
                <a:latin typeface="Calibri" pitchFamily="34" charset="0"/>
                <a:ea typeface="Calibri" pitchFamily="34" charset="-122"/>
                <a:cs typeface="Calibri" pitchFamily="34" charset="-120"/>
              </a:rPr>
              <a:t>01  ·  NATURE DU SYSTÈME ET OBJECTIFS</a:t>
            </a:r>
            <a:endParaRPr lang="en-US" sz="800" dirty="0"/>
          </a:p>
        </p:txBody>
      </p:sp>
      <p:sp>
        <p:nvSpPr>
          <p:cNvPr id="5" name="Text 3"/>
          <p:cNvSpPr/>
          <p:nvPr/>
        </p:nvSpPr>
        <p:spPr>
          <a:xfrm>
            <a:off x="475488" y="402336"/>
            <a:ext cx="2834640" cy="1280160"/>
          </a:xfrm>
          <a:prstGeom prst="rect">
            <a:avLst/>
          </a:prstGeom>
          <a:noFill/>
          <a:ln/>
        </p:spPr>
        <p:txBody>
          <a:bodyPr wrap="square" lIns="0" tIns="0" rIns="0" bIns="0" rtlCol="0" anchor="ctr"/>
          <a:lstStyle/>
          <a:p>
            <a:pPr marL="0" indent="0">
              <a:lnSpc>
                <a:spcPct val="115000"/>
              </a:lnSpc>
              <a:buNone/>
            </a:pPr>
            <a:r>
              <a:rPr lang="fr-FR" sz="2100" b="1" dirty="0">
                <a:solidFill>
                  <a:srgbClr val="0A0A0A"/>
                </a:solidFill>
                <a:latin typeface="Calibri" pitchFamily="34" charset="0"/>
                <a:ea typeface="Calibri" pitchFamily="34" charset="-122"/>
                <a:cs typeface="Calibri" pitchFamily="34" charset="-120"/>
              </a:rPr>
              <a:t>Vue d'ensemble du </a:t>
            </a:r>
            <a:r>
              <a:rPr lang="fr-FR" sz="2100" b="1" dirty="0">
                <a:solidFill>
                  <a:srgbClr val="C9A84C"/>
                </a:solidFill>
                <a:latin typeface="Calibri" pitchFamily="34" charset="0"/>
                <a:cs typeface="Calibri" pitchFamily="34" charset="-120"/>
              </a:rPr>
              <a:t>système expérimental</a:t>
            </a:r>
            <a:endParaRPr lang="en-US" sz="2100" b="1" dirty="0">
              <a:solidFill>
                <a:srgbClr val="C9A84C"/>
              </a:solidFill>
              <a:latin typeface="Calibri" pitchFamily="34" charset="0"/>
              <a:cs typeface="Calibri" pitchFamily="34" charset="-120"/>
            </a:endParaRPr>
          </a:p>
        </p:txBody>
      </p:sp>
      <p:sp>
        <p:nvSpPr>
          <p:cNvPr id="6" name="Shape 4"/>
          <p:cNvSpPr/>
          <p:nvPr/>
        </p:nvSpPr>
        <p:spPr>
          <a:xfrm>
            <a:off x="475488" y="1755648"/>
            <a:ext cx="329184" cy="0"/>
          </a:xfrm>
          <a:prstGeom prst="line">
            <a:avLst/>
          </a:prstGeom>
          <a:noFill/>
          <a:ln w="31750">
            <a:solidFill>
              <a:srgbClr val="C9A84C"/>
            </a:solidFill>
            <a:prstDash val="solid"/>
          </a:ln>
        </p:spPr>
        <p:txBody>
          <a:bodyPr/>
          <a:lstStyle/>
          <a:p>
            <a:endParaRPr lang="en-CA"/>
          </a:p>
        </p:txBody>
      </p:sp>
      <p:sp>
        <p:nvSpPr>
          <p:cNvPr id="7" name="Text 5"/>
          <p:cNvSpPr/>
          <p:nvPr/>
        </p:nvSpPr>
        <p:spPr>
          <a:xfrm>
            <a:off x="493776" y="1837446"/>
            <a:ext cx="2834640" cy="2048256"/>
          </a:xfrm>
          <a:prstGeom prst="rect">
            <a:avLst/>
          </a:prstGeom>
          <a:noFill/>
          <a:ln/>
        </p:spPr>
        <p:txBody>
          <a:bodyPr wrap="square" lIns="0" tIns="0" rIns="0" bIns="0" rtlCol="0" anchor="t"/>
          <a:lstStyle/>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Le système est conçu comme un moteur expérimental dédié à la comparaison cryptographique dans un cadre contrôlé.</a:t>
            </a:r>
          </a:p>
          <a:p>
            <a:pPr marL="0" indent="0">
              <a:lnSpc>
                <a:spcPct val="150000"/>
              </a:lnSpc>
              <a:buNone/>
            </a:pPr>
            <a:endParaRPr lang="fr-FR" sz="950" dirty="0">
              <a:solidFill>
                <a:srgbClr val="555555"/>
              </a:solidFill>
              <a:latin typeface="Calibri" pitchFamily="34" charset="0"/>
              <a:ea typeface="Calibri" pitchFamily="34" charset="-122"/>
              <a:cs typeface="Calibri" pitchFamily="34" charset="-120"/>
            </a:endParaRPr>
          </a:p>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Il automatise les campagnes de mesure, applique un protocole identique sur x86 et Raspberry Pi, puis produit des résultats fiables et traçables.</a:t>
            </a:r>
          </a:p>
          <a:p>
            <a:pPr marL="0" indent="0">
              <a:lnSpc>
                <a:spcPct val="150000"/>
              </a:lnSpc>
              <a:buNone/>
            </a:pPr>
            <a:endParaRPr lang="fr-FR" sz="950" dirty="0">
              <a:solidFill>
                <a:srgbClr val="555555"/>
              </a:solidFill>
              <a:latin typeface="Calibri" pitchFamily="34" charset="0"/>
              <a:ea typeface="Calibri" pitchFamily="34" charset="-122"/>
              <a:cs typeface="Calibri" pitchFamily="34" charset="-120"/>
            </a:endParaRPr>
          </a:p>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L’objectif est d’obtenir une analyse technique défendable de la performance et de la robustesse, plutôt qu’une application orientée utilisateur.</a:t>
            </a:r>
            <a:endParaRPr lang="en-US" sz="950" dirty="0"/>
          </a:p>
        </p:txBody>
      </p:sp>
      <p:sp>
        <p:nvSpPr>
          <p:cNvPr id="9" name="Shape 7"/>
          <p:cNvSpPr/>
          <p:nvPr/>
        </p:nvSpPr>
        <p:spPr>
          <a:xfrm>
            <a:off x="3438144" y="402336"/>
            <a:ext cx="0" cy="4315968"/>
          </a:xfrm>
          <a:prstGeom prst="line">
            <a:avLst/>
          </a:prstGeom>
          <a:noFill/>
          <a:ln w="10160">
            <a:solidFill>
              <a:srgbClr val="E8E8E8"/>
            </a:solidFill>
            <a:prstDash val="solid"/>
          </a:ln>
        </p:spPr>
        <p:txBody>
          <a:bodyPr/>
          <a:lstStyle/>
          <a:p>
            <a:endParaRPr lang="en-CA"/>
          </a:p>
        </p:txBody>
      </p:sp>
      <p:sp>
        <p:nvSpPr>
          <p:cNvPr id="10" name="Shape 8"/>
          <p:cNvSpPr/>
          <p:nvPr/>
        </p:nvSpPr>
        <p:spPr>
          <a:xfrm>
            <a:off x="3675888" y="804672"/>
            <a:ext cx="256032" cy="256032"/>
          </a:xfrm>
          <a:prstGeom prst="ellipse">
            <a:avLst/>
          </a:prstGeom>
          <a:solidFill>
            <a:srgbClr val="0A0A0A"/>
          </a:solidFill>
          <a:ln w="12700">
            <a:solidFill>
              <a:srgbClr val="0A0A0A"/>
            </a:solidFill>
            <a:prstDash val="solid"/>
          </a:ln>
        </p:spPr>
        <p:txBody>
          <a:bodyPr/>
          <a:lstStyle/>
          <a:p>
            <a:endParaRPr lang="en-CA"/>
          </a:p>
        </p:txBody>
      </p:sp>
      <p:sp>
        <p:nvSpPr>
          <p:cNvPr id="11" name="Text 9"/>
          <p:cNvSpPr/>
          <p:nvPr/>
        </p:nvSpPr>
        <p:spPr>
          <a:xfrm>
            <a:off x="3675888" y="804672"/>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1</a:t>
            </a:r>
            <a:endParaRPr lang="en-US" sz="900" dirty="0"/>
          </a:p>
        </p:txBody>
      </p:sp>
      <p:sp>
        <p:nvSpPr>
          <p:cNvPr id="12" name="Text 10"/>
          <p:cNvSpPr/>
          <p:nvPr/>
        </p:nvSpPr>
        <p:spPr>
          <a:xfrm>
            <a:off x="4005072" y="768096"/>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Nature et objectifs du système</a:t>
            </a:r>
            <a:endParaRPr lang="en-US" sz="1000" dirty="0"/>
          </a:p>
        </p:txBody>
      </p:sp>
      <p:sp>
        <p:nvSpPr>
          <p:cNvPr id="13" name="Text 11"/>
          <p:cNvSpPr/>
          <p:nvPr/>
        </p:nvSpPr>
        <p:spPr>
          <a:xfrm>
            <a:off x="4005072" y="1042416"/>
            <a:ext cx="4206240" cy="36576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Comparer les algorithmes symétriques dans un cadre contrôlé, avec des critères mesurables et reproductibles.</a:t>
            </a:r>
            <a:endParaRPr lang="en-US" sz="750" dirty="0"/>
          </a:p>
        </p:txBody>
      </p:sp>
      <p:sp>
        <p:nvSpPr>
          <p:cNvPr id="14" name="Shape 12"/>
          <p:cNvSpPr/>
          <p:nvPr/>
        </p:nvSpPr>
        <p:spPr>
          <a:xfrm>
            <a:off x="8321040" y="859536"/>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5" name="Text 13"/>
          <p:cNvSpPr/>
          <p:nvPr/>
        </p:nvSpPr>
        <p:spPr>
          <a:xfrm>
            <a:off x="8321040" y="859536"/>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01a</a:t>
            </a:r>
            <a:endParaRPr lang="en-US" sz="700" dirty="0"/>
          </a:p>
        </p:txBody>
      </p:sp>
      <p:sp>
        <p:nvSpPr>
          <p:cNvPr id="16" name="Shape 14"/>
          <p:cNvSpPr/>
          <p:nvPr/>
        </p:nvSpPr>
        <p:spPr>
          <a:xfrm>
            <a:off x="4005072" y="1659967"/>
            <a:ext cx="4773168" cy="0"/>
          </a:xfrm>
          <a:prstGeom prst="line">
            <a:avLst/>
          </a:prstGeom>
          <a:noFill/>
          <a:ln w="7620">
            <a:solidFill>
              <a:srgbClr val="F5F5F5"/>
            </a:solidFill>
            <a:prstDash val="solid"/>
          </a:ln>
        </p:spPr>
        <p:txBody>
          <a:bodyPr/>
          <a:lstStyle/>
          <a:p>
            <a:endParaRPr lang="en-CA"/>
          </a:p>
        </p:txBody>
      </p:sp>
      <p:sp>
        <p:nvSpPr>
          <p:cNvPr id="17" name="Shape 15"/>
          <p:cNvSpPr/>
          <p:nvPr/>
        </p:nvSpPr>
        <p:spPr>
          <a:xfrm>
            <a:off x="3675888" y="1769695"/>
            <a:ext cx="256032" cy="256032"/>
          </a:xfrm>
          <a:prstGeom prst="ellipse">
            <a:avLst/>
          </a:prstGeom>
          <a:solidFill>
            <a:srgbClr val="0A0A0A"/>
          </a:solidFill>
          <a:ln w="12700">
            <a:solidFill>
              <a:srgbClr val="0A0A0A"/>
            </a:solidFill>
            <a:prstDash val="solid"/>
          </a:ln>
        </p:spPr>
        <p:txBody>
          <a:bodyPr/>
          <a:lstStyle/>
          <a:p>
            <a:endParaRPr lang="en-CA"/>
          </a:p>
        </p:txBody>
      </p:sp>
      <p:sp>
        <p:nvSpPr>
          <p:cNvPr id="18" name="Text 16"/>
          <p:cNvSpPr/>
          <p:nvPr/>
        </p:nvSpPr>
        <p:spPr>
          <a:xfrm>
            <a:off x="3675888" y="1769695"/>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2</a:t>
            </a:r>
            <a:endParaRPr lang="en-US" sz="900" dirty="0"/>
          </a:p>
        </p:txBody>
      </p:sp>
      <p:sp>
        <p:nvSpPr>
          <p:cNvPr id="19" name="Text 17"/>
          <p:cNvSpPr/>
          <p:nvPr/>
        </p:nvSpPr>
        <p:spPr>
          <a:xfrm>
            <a:off x="4005072" y="1733119"/>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Architecture logicielle en couches</a:t>
            </a:r>
            <a:endParaRPr lang="en-US" sz="1000" dirty="0"/>
          </a:p>
        </p:txBody>
      </p:sp>
      <p:sp>
        <p:nvSpPr>
          <p:cNvPr id="20" name="Text 18"/>
          <p:cNvSpPr/>
          <p:nvPr/>
        </p:nvSpPr>
        <p:spPr>
          <a:xfrm>
            <a:off x="4005072" y="2007439"/>
            <a:ext cx="4206240" cy="36576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Séparation claire des responsabilités entre orchestration, moteur de chiffrement, modes opératoires et primitives cryptographiques.</a:t>
            </a:r>
            <a:endParaRPr lang="en-US" sz="750" dirty="0"/>
          </a:p>
        </p:txBody>
      </p:sp>
      <p:sp>
        <p:nvSpPr>
          <p:cNvPr id="21" name="Shape 19"/>
          <p:cNvSpPr/>
          <p:nvPr/>
        </p:nvSpPr>
        <p:spPr>
          <a:xfrm>
            <a:off x="8321040" y="1824559"/>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22" name="Text 20"/>
          <p:cNvSpPr/>
          <p:nvPr/>
        </p:nvSpPr>
        <p:spPr>
          <a:xfrm>
            <a:off x="8321040" y="1824559"/>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01b</a:t>
            </a:r>
            <a:endParaRPr lang="en-US" sz="700" dirty="0"/>
          </a:p>
        </p:txBody>
      </p:sp>
      <p:sp>
        <p:nvSpPr>
          <p:cNvPr id="23" name="Shape 21"/>
          <p:cNvSpPr/>
          <p:nvPr/>
        </p:nvSpPr>
        <p:spPr>
          <a:xfrm>
            <a:off x="4005072" y="2583644"/>
            <a:ext cx="4773168" cy="0"/>
          </a:xfrm>
          <a:prstGeom prst="line">
            <a:avLst/>
          </a:prstGeom>
          <a:noFill/>
          <a:ln w="7620">
            <a:solidFill>
              <a:srgbClr val="F5F5F5"/>
            </a:solidFill>
            <a:prstDash val="solid"/>
          </a:ln>
        </p:spPr>
        <p:txBody>
          <a:bodyPr/>
          <a:lstStyle/>
          <a:p>
            <a:endParaRPr lang="en-CA"/>
          </a:p>
        </p:txBody>
      </p:sp>
      <p:sp>
        <p:nvSpPr>
          <p:cNvPr id="24" name="Shape 22"/>
          <p:cNvSpPr/>
          <p:nvPr/>
        </p:nvSpPr>
        <p:spPr>
          <a:xfrm>
            <a:off x="3675888" y="2693372"/>
            <a:ext cx="256032" cy="256032"/>
          </a:xfrm>
          <a:prstGeom prst="ellipse">
            <a:avLst/>
          </a:prstGeom>
          <a:solidFill>
            <a:srgbClr val="0A0A0A"/>
          </a:solidFill>
          <a:ln w="12700">
            <a:solidFill>
              <a:srgbClr val="0A0A0A"/>
            </a:solidFill>
            <a:prstDash val="solid"/>
          </a:ln>
        </p:spPr>
        <p:txBody>
          <a:bodyPr/>
          <a:lstStyle/>
          <a:p>
            <a:endParaRPr lang="en-CA"/>
          </a:p>
        </p:txBody>
      </p:sp>
      <p:sp>
        <p:nvSpPr>
          <p:cNvPr id="25" name="Text 23"/>
          <p:cNvSpPr/>
          <p:nvPr/>
        </p:nvSpPr>
        <p:spPr>
          <a:xfrm>
            <a:off x="3675888" y="2693372"/>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3</a:t>
            </a:r>
            <a:endParaRPr lang="en-US" sz="900" dirty="0"/>
          </a:p>
        </p:txBody>
      </p:sp>
      <p:sp>
        <p:nvSpPr>
          <p:cNvPr id="26" name="Text 24"/>
          <p:cNvSpPr/>
          <p:nvPr/>
        </p:nvSpPr>
        <p:spPr>
          <a:xfrm>
            <a:off x="4005072" y="2656796"/>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Périmètre expérimental mesuré</a:t>
            </a:r>
            <a:endParaRPr lang="en-US" sz="1000" dirty="0"/>
          </a:p>
        </p:txBody>
      </p:sp>
      <p:sp>
        <p:nvSpPr>
          <p:cNvPr id="27" name="Text 25"/>
          <p:cNvSpPr/>
          <p:nvPr/>
        </p:nvSpPr>
        <p:spPr>
          <a:xfrm>
            <a:off x="4005072" y="2931116"/>
            <a:ext cx="4206240" cy="36576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Comparaison menée sur x86 et Raspberry Pi, selon des métriques communes: débit, avalanche et stabilité (IC95).</a:t>
            </a:r>
            <a:endParaRPr lang="en-US" sz="750" dirty="0"/>
          </a:p>
        </p:txBody>
      </p:sp>
      <p:sp>
        <p:nvSpPr>
          <p:cNvPr id="28" name="Shape 26"/>
          <p:cNvSpPr/>
          <p:nvPr/>
        </p:nvSpPr>
        <p:spPr>
          <a:xfrm>
            <a:off x="8321040" y="2748236"/>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29" name="Text 27"/>
          <p:cNvSpPr/>
          <p:nvPr/>
        </p:nvSpPr>
        <p:spPr>
          <a:xfrm>
            <a:off x="8321040" y="2748236"/>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01c</a:t>
            </a:r>
            <a:endParaRPr lang="en-US" sz="700" dirty="0"/>
          </a:p>
        </p:txBody>
      </p:sp>
      <p:sp>
        <p:nvSpPr>
          <p:cNvPr id="30" name="Text 28"/>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2" name="Shape 21">
            <a:extLst>
              <a:ext uri="{FF2B5EF4-FFF2-40B4-BE49-F238E27FC236}">
                <a16:creationId xmlns:a16="http://schemas.microsoft.com/office/drawing/2014/main" id="{5DE91E6E-1018-FCF1-9469-A32DFCBDFE60}"/>
              </a:ext>
            </a:extLst>
          </p:cNvPr>
          <p:cNvSpPr/>
          <p:nvPr/>
        </p:nvSpPr>
        <p:spPr>
          <a:xfrm>
            <a:off x="4005072" y="3478961"/>
            <a:ext cx="4773168" cy="0"/>
          </a:xfrm>
          <a:prstGeom prst="line">
            <a:avLst/>
          </a:prstGeom>
          <a:noFill/>
          <a:ln w="7620">
            <a:solidFill>
              <a:srgbClr val="F5F5F5"/>
            </a:solidFill>
            <a:prstDash val="solid"/>
          </a:ln>
        </p:spPr>
        <p:txBody>
          <a:bodyPr/>
          <a:lstStyle/>
          <a:p>
            <a:endParaRPr lang="en-CA"/>
          </a:p>
        </p:txBody>
      </p:sp>
      <p:sp>
        <p:nvSpPr>
          <p:cNvPr id="34" name="Shape 22">
            <a:extLst>
              <a:ext uri="{FF2B5EF4-FFF2-40B4-BE49-F238E27FC236}">
                <a16:creationId xmlns:a16="http://schemas.microsoft.com/office/drawing/2014/main" id="{7AAEF9C8-096B-30C4-8DE1-35B26E1AEF0E}"/>
              </a:ext>
            </a:extLst>
          </p:cNvPr>
          <p:cNvSpPr/>
          <p:nvPr/>
        </p:nvSpPr>
        <p:spPr>
          <a:xfrm>
            <a:off x="3675888" y="3588689"/>
            <a:ext cx="256032" cy="256032"/>
          </a:xfrm>
          <a:prstGeom prst="ellipse">
            <a:avLst/>
          </a:prstGeom>
          <a:solidFill>
            <a:srgbClr val="0A0A0A"/>
          </a:solidFill>
          <a:ln w="12700">
            <a:solidFill>
              <a:srgbClr val="0A0A0A"/>
            </a:solidFill>
            <a:prstDash val="solid"/>
          </a:ln>
        </p:spPr>
        <p:txBody>
          <a:bodyPr/>
          <a:lstStyle/>
          <a:p>
            <a:endParaRPr lang="en-CA"/>
          </a:p>
        </p:txBody>
      </p:sp>
      <p:sp>
        <p:nvSpPr>
          <p:cNvPr id="36" name="Text 23">
            <a:extLst>
              <a:ext uri="{FF2B5EF4-FFF2-40B4-BE49-F238E27FC236}">
                <a16:creationId xmlns:a16="http://schemas.microsoft.com/office/drawing/2014/main" id="{84F2A265-E049-F1EB-E217-B5302E85172E}"/>
              </a:ext>
            </a:extLst>
          </p:cNvPr>
          <p:cNvSpPr/>
          <p:nvPr/>
        </p:nvSpPr>
        <p:spPr>
          <a:xfrm>
            <a:off x="3675888" y="3588689"/>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cs typeface="Calibri" pitchFamily="34" charset="-120"/>
              </a:rPr>
              <a:t>4</a:t>
            </a:r>
            <a:endParaRPr lang="en-US" sz="900" dirty="0"/>
          </a:p>
        </p:txBody>
      </p:sp>
      <p:sp>
        <p:nvSpPr>
          <p:cNvPr id="38" name="Text 24">
            <a:extLst>
              <a:ext uri="{FF2B5EF4-FFF2-40B4-BE49-F238E27FC236}">
                <a16:creationId xmlns:a16="http://schemas.microsoft.com/office/drawing/2014/main" id="{F2320D71-3074-AC9E-4A2F-1AAAB725A916}"/>
              </a:ext>
            </a:extLst>
          </p:cNvPr>
          <p:cNvSpPr/>
          <p:nvPr/>
        </p:nvSpPr>
        <p:spPr>
          <a:xfrm>
            <a:off x="4005072" y="3552113"/>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Hypothèses et limites</a:t>
            </a:r>
          </a:p>
        </p:txBody>
      </p:sp>
      <p:sp>
        <p:nvSpPr>
          <p:cNvPr id="40" name="Text 25">
            <a:extLst>
              <a:ext uri="{FF2B5EF4-FFF2-40B4-BE49-F238E27FC236}">
                <a16:creationId xmlns:a16="http://schemas.microsoft.com/office/drawing/2014/main" id="{BE2FE5F0-17B1-BCF2-BA01-836733564DCA}"/>
              </a:ext>
            </a:extLst>
          </p:cNvPr>
          <p:cNvSpPr/>
          <p:nvPr/>
        </p:nvSpPr>
        <p:spPr>
          <a:xfrm>
            <a:off x="4005072" y="3826433"/>
            <a:ext cx="4206240" cy="36576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Analyse centrée sur la validité cryptographique et la performance mesurée; hors périmètre: UX, sécurité réseau et déploiement production.</a:t>
            </a:r>
            <a:endParaRPr lang="en-US" sz="750" dirty="0"/>
          </a:p>
        </p:txBody>
      </p:sp>
      <p:sp>
        <p:nvSpPr>
          <p:cNvPr id="42" name="Shape 26">
            <a:extLst>
              <a:ext uri="{FF2B5EF4-FFF2-40B4-BE49-F238E27FC236}">
                <a16:creationId xmlns:a16="http://schemas.microsoft.com/office/drawing/2014/main" id="{97A70A1C-C48E-B675-9E2C-E623FE1F1F16}"/>
              </a:ext>
            </a:extLst>
          </p:cNvPr>
          <p:cNvSpPr/>
          <p:nvPr/>
        </p:nvSpPr>
        <p:spPr>
          <a:xfrm>
            <a:off x="8321040" y="3643553"/>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44" name="Text 27">
            <a:extLst>
              <a:ext uri="{FF2B5EF4-FFF2-40B4-BE49-F238E27FC236}">
                <a16:creationId xmlns:a16="http://schemas.microsoft.com/office/drawing/2014/main" id="{0A0695D8-FEFD-4287-897F-E03AA80523F3}"/>
              </a:ext>
            </a:extLst>
          </p:cNvPr>
          <p:cNvSpPr/>
          <p:nvPr/>
        </p:nvSpPr>
        <p:spPr>
          <a:xfrm>
            <a:off x="8321040" y="3643553"/>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01d</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247907" y="1888721"/>
            <a:ext cx="2113777" cy="201168"/>
          </a:xfrm>
          <a:prstGeom prst="rect">
            <a:avLst/>
          </a:prstGeom>
          <a:noFill/>
          <a:ln/>
        </p:spPr>
        <p:txBody>
          <a:bodyPr wrap="square" lIns="0" tIns="0" rIns="0" bIns="0" rtlCol="0" anchor="ctr"/>
          <a:lstStyle/>
          <a:p>
            <a:endParaRPr lang="en-US" sz="2800" i="1" kern="0" spc="100" dirty="0">
              <a:solidFill>
                <a:srgbClr val="888888">
                  <a:alpha val="11000"/>
                </a:srgbClr>
              </a:solidFill>
              <a:latin typeface="Calibri" pitchFamily="34" charset="0"/>
              <a:ea typeface="Calibri" pitchFamily="34" charset="-122"/>
              <a:cs typeface="Calibri" pitchFamily="34" charset="-120"/>
            </a:endParaRPr>
          </a:p>
          <a:p>
            <a:r>
              <a:rPr lang="en-US" sz="2400" i="1" kern="0" spc="100" dirty="0">
                <a:solidFill>
                  <a:srgbClr val="888888">
                    <a:alpha val="11000"/>
                  </a:srgbClr>
                </a:solidFill>
                <a:latin typeface="Calibri" pitchFamily="34" charset="0"/>
                <a:ea typeface="Calibri" pitchFamily="34" charset="-122"/>
                <a:cs typeface="Calibri" pitchFamily="34" charset="-120"/>
              </a:rPr>
              <a:t>5 algorithmes</a:t>
            </a:r>
          </a:p>
          <a:p>
            <a:endParaRPr lang="en-US" sz="2800" i="1" kern="0" spc="100" dirty="0">
              <a:solidFill>
                <a:srgbClr val="888888">
                  <a:alpha val="11000"/>
                </a:srgbClr>
              </a:solidFill>
              <a:latin typeface="Calibri" pitchFamily="34" charset="0"/>
              <a:ea typeface="Calibri" pitchFamily="34" charset="-122"/>
              <a:cs typeface="Calibri" pitchFamily="34" charset="-120"/>
            </a:endParaRPr>
          </a:p>
          <a:p>
            <a:r>
              <a:rPr lang="en-US" sz="2800" i="1" kern="0" spc="100" dirty="0">
                <a:solidFill>
                  <a:srgbClr val="888888">
                    <a:alpha val="11000"/>
                  </a:srgbClr>
                </a:solidFill>
                <a:latin typeface="Calibri" pitchFamily="34" charset="0"/>
                <a:ea typeface="Calibri" pitchFamily="34" charset="-122"/>
                <a:cs typeface="Calibri" pitchFamily="34" charset="-120"/>
              </a:rPr>
              <a:t>  </a:t>
            </a:r>
            <a:endParaRPr lang="en-US" sz="2800" i="1" kern="0" spc="100" dirty="0">
              <a:solidFill>
                <a:srgbClr val="888888">
                  <a:alpha val="11000"/>
                </a:srgbClr>
              </a:solidFill>
              <a:latin typeface="Calibri" pitchFamily="34" charset="0"/>
              <a:cs typeface="Calibri" pitchFamily="34" charset="-120"/>
            </a:endParaRPr>
          </a:p>
        </p:txBody>
      </p:sp>
      <p:sp>
        <p:nvSpPr>
          <p:cNvPr id="3" name="Text 1"/>
          <p:cNvSpPr/>
          <p:nvPr/>
        </p:nvSpPr>
        <p:spPr>
          <a:xfrm>
            <a:off x="475488" y="201168"/>
            <a:ext cx="3657600" cy="201168"/>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01a  ·  </a:t>
            </a:r>
            <a:r>
              <a:rPr lang="fr-FR" sz="800" b="1" kern="0" spc="200" dirty="0">
                <a:solidFill>
                  <a:srgbClr val="C0C0C0"/>
                </a:solidFill>
                <a:latin typeface="Calibri" pitchFamily="34" charset="0"/>
                <a:ea typeface="Calibri" pitchFamily="34" charset="-122"/>
                <a:cs typeface="Calibri" pitchFamily="34" charset="-120"/>
              </a:rPr>
              <a:t>NATURE DU SYSTÈME ET OBJECTIFS</a:t>
            </a:r>
            <a:endParaRPr lang="en-US" sz="800" dirty="0"/>
          </a:p>
        </p:txBody>
      </p:sp>
      <p:sp>
        <p:nvSpPr>
          <p:cNvPr id="5" name="Text 3"/>
          <p:cNvSpPr/>
          <p:nvPr/>
        </p:nvSpPr>
        <p:spPr>
          <a:xfrm>
            <a:off x="641088" y="1154671"/>
            <a:ext cx="1986910" cy="3028028"/>
          </a:xfrm>
          <a:prstGeom prst="rect">
            <a:avLst/>
          </a:prstGeom>
          <a:noFill/>
          <a:ln/>
        </p:spPr>
        <p:txBody>
          <a:bodyPr wrap="square" lIns="0" tIns="0" rIns="0" bIns="0" rtlCol="0" anchor="t"/>
          <a:lstStyle/>
          <a:p>
            <a:pPr marL="0" indent="0">
              <a:lnSpc>
                <a:spcPct val="110000"/>
              </a:lnSpc>
              <a:buNone/>
            </a:pPr>
            <a:r>
              <a:rPr lang="en-US" sz="3200" b="1" dirty="0">
                <a:solidFill>
                  <a:srgbClr val="0A0A0A"/>
                </a:solidFill>
                <a:latin typeface="Calibri" pitchFamily="34" charset="0"/>
                <a:ea typeface="Calibri" pitchFamily="34" charset="-122"/>
                <a:cs typeface="Calibri" pitchFamily="34" charset="-120"/>
              </a:rPr>
              <a:t>Comparer</a:t>
            </a:r>
          </a:p>
          <a:p>
            <a:pPr marL="0" indent="0">
              <a:lnSpc>
                <a:spcPct val="110000"/>
              </a:lnSpc>
              <a:buNone/>
            </a:pPr>
            <a:endParaRPr lang="en-US" sz="3200" dirty="0"/>
          </a:p>
          <a:p>
            <a:pPr marL="0" indent="0">
              <a:lnSpc>
                <a:spcPct val="110000"/>
              </a:lnSpc>
              <a:buNone/>
            </a:pPr>
            <a:r>
              <a:rPr lang="en-US" sz="3200" b="1" dirty="0">
                <a:solidFill>
                  <a:srgbClr val="0A0A0A"/>
                </a:solidFill>
                <a:latin typeface="Calibri" pitchFamily="34" charset="0"/>
                <a:ea typeface="Calibri" pitchFamily="34" charset="-122"/>
                <a:cs typeface="Calibri" pitchFamily="34" charset="-120"/>
              </a:rPr>
              <a:t>Mesurer</a:t>
            </a:r>
          </a:p>
          <a:p>
            <a:pPr marL="0" indent="0">
              <a:lnSpc>
                <a:spcPct val="110000"/>
              </a:lnSpc>
              <a:buNone/>
            </a:pPr>
            <a:endParaRPr lang="en-US" sz="3200" dirty="0"/>
          </a:p>
          <a:p>
            <a:pPr marL="0" indent="0">
              <a:lnSpc>
                <a:spcPct val="110000"/>
              </a:lnSpc>
              <a:buNone/>
            </a:pPr>
            <a:r>
              <a:rPr lang="en-US" sz="3200" b="1" dirty="0">
                <a:solidFill>
                  <a:srgbClr val="0A0A0A"/>
                </a:solidFill>
                <a:latin typeface="Calibri" pitchFamily="34" charset="0"/>
                <a:ea typeface="Calibri" pitchFamily="34" charset="-122"/>
                <a:cs typeface="Calibri" pitchFamily="34" charset="-120"/>
              </a:rPr>
              <a:t>Valider</a:t>
            </a:r>
            <a:endParaRPr lang="en-US" sz="3200" dirty="0"/>
          </a:p>
        </p:txBody>
      </p:sp>
      <p:sp>
        <p:nvSpPr>
          <p:cNvPr id="7" name="Shape 5"/>
          <p:cNvSpPr/>
          <p:nvPr/>
        </p:nvSpPr>
        <p:spPr>
          <a:xfrm>
            <a:off x="3672728" y="859422"/>
            <a:ext cx="0" cy="3680326"/>
          </a:xfrm>
          <a:prstGeom prst="line">
            <a:avLst/>
          </a:prstGeom>
          <a:noFill/>
          <a:ln w="15240">
            <a:solidFill>
              <a:srgbClr val="C9A84C"/>
            </a:solidFill>
            <a:prstDash val="solid"/>
          </a:ln>
        </p:spPr>
        <p:txBody>
          <a:bodyPr/>
          <a:lstStyle/>
          <a:p>
            <a:endParaRPr lang="en-CA"/>
          </a:p>
        </p:txBody>
      </p:sp>
      <p:sp>
        <p:nvSpPr>
          <p:cNvPr id="9" name="Text 7"/>
          <p:cNvSpPr/>
          <p:nvPr/>
        </p:nvSpPr>
        <p:spPr>
          <a:xfrm>
            <a:off x="3968503" y="843775"/>
            <a:ext cx="4206240" cy="310896"/>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Performance comparée</a:t>
            </a:r>
            <a:endParaRPr lang="en-US" sz="1300" dirty="0"/>
          </a:p>
        </p:txBody>
      </p:sp>
      <p:sp>
        <p:nvSpPr>
          <p:cNvPr id="10" name="Text 8"/>
          <p:cNvSpPr/>
          <p:nvPr/>
        </p:nvSpPr>
        <p:spPr>
          <a:xfrm>
            <a:off x="3968502" y="1191246"/>
            <a:ext cx="4309039" cy="640077"/>
          </a:xfrm>
          <a:prstGeom prst="rect">
            <a:avLst/>
          </a:prstGeom>
          <a:noFill/>
          <a:ln/>
        </p:spPr>
        <p:txBody>
          <a:bodyPr wrap="square" lIns="0" tIns="0" rIns="0" bIns="0" rtlCol="0" anchor="t"/>
          <a:lstStyle/>
          <a:p>
            <a:pPr marL="0" indent="0" algn="just">
              <a:buNone/>
            </a:pPr>
            <a:r>
              <a:rPr lang="fr-FR" sz="950" dirty="0">
                <a:solidFill>
                  <a:srgbClr val="555555"/>
                </a:solidFill>
                <a:latin typeface="Calibri" pitchFamily="34" charset="0"/>
                <a:cs typeface="Calibri" pitchFamily="34" charset="-120"/>
              </a:rPr>
              <a:t>Mesurer le débit de chiffrement et de déchiffrement sur deux architectures réelles x86 sous Windows et ARM sur Raspberry Pi. Conserver les mêmes jeux d’essai et les mêmes paramètres pour garantir une comparaison stable lisible et équitable.</a:t>
            </a:r>
            <a:endParaRPr lang="en-US" sz="950" dirty="0">
              <a:solidFill>
                <a:srgbClr val="555555"/>
              </a:solidFill>
              <a:latin typeface="Calibri" pitchFamily="34" charset="0"/>
              <a:cs typeface="Calibri" pitchFamily="34" charset="-120"/>
            </a:endParaRPr>
          </a:p>
        </p:txBody>
      </p:sp>
      <p:sp>
        <p:nvSpPr>
          <p:cNvPr id="11" name="Shape 9"/>
          <p:cNvSpPr/>
          <p:nvPr/>
        </p:nvSpPr>
        <p:spPr>
          <a:xfrm>
            <a:off x="3968503" y="1886191"/>
            <a:ext cx="4206240" cy="0"/>
          </a:xfrm>
          <a:prstGeom prst="line">
            <a:avLst/>
          </a:prstGeom>
          <a:noFill/>
          <a:ln w="6350">
            <a:solidFill>
              <a:srgbClr val="F0F0F0"/>
            </a:solidFill>
            <a:prstDash val="solid"/>
          </a:ln>
        </p:spPr>
        <p:txBody>
          <a:bodyPr/>
          <a:lstStyle/>
          <a:p>
            <a:endParaRPr lang="en-CA"/>
          </a:p>
        </p:txBody>
      </p:sp>
      <p:sp>
        <p:nvSpPr>
          <p:cNvPr id="13" name="Text 11"/>
          <p:cNvSpPr/>
          <p:nvPr/>
        </p:nvSpPr>
        <p:spPr>
          <a:xfrm>
            <a:off x="3968503" y="2197087"/>
            <a:ext cx="4206240" cy="310896"/>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Robustesse cryptographique</a:t>
            </a:r>
            <a:endParaRPr lang="en-US" sz="1300" dirty="0"/>
          </a:p>
        </p:txBody>
      </p:sp>
      <p:sp>
        <p:nvSpPr>
          <p:cNvPr id="14" name="Text 12"/>
          <p:cNvSpPr/>
          <p:nvPr/>
        </p:nvSpPr>
        <p:spPr>
          <a:xfrm>
            <a:off x="3968502" y="2544559"/>
            <a:ext cx="4309037" cy="566928"/>
          </a:xfrm>
          <a:prstGeom prst="rect">
            <a:avLst/>
          </a:prstGeom>
          <a:noFill/>
          <a:ln/>
        </p:spPr>
        <p:txBody>
          <a:bodyPr wrap="square" lIns="0" tIns="0" rIns="0" bIns="0" rtlCol="0" anchor="t"/>
          <a:lstStyle/>
          <a:p>
            <a:pPr marL="0" indent="0" algn="just">
              <a:buNone/>
            </a:pPr>
            <a:r>
              <a:rPr lang="fr-FR" sz="950" dirty="0">
                <a:solidFill>
                  <a:srgbClr val="555555"/>
                </a:solidFill>
                <a:latin typeface="Calibri" pitchFamily="34" charset="0"/>
                <a:cs typeface="Calibri" pitchFamily="34" charset="-120"/>
              </a:rPr>
              <a:t>Évaluer la diffusion cryptographique avec l’effet avalanche en observant le basculement d’un bit dans le message et dans la clé. Vérifier la stabilité statistique avec un intervalle de confiance à 95 pour soutenir des conclusions solides.</a:t>
            </a:r>
            <a:endParaRPr lang="en-US" sz="1000" dirty="0"/>
          </a:p>
        </p:txBody>
      </p:sp>
      <p:sp>
        <p:nvSpPr>
          <p:cNvPr id="15" name="Shape 13"/>
          <p:cNvSpPr/>
          <p:nvPr/>
        </p:nvSpPr>
        <p:spPr>
          <a:xfrm>
            <a:off x="4071304" y="3258306"/>
            <a:ext cx="4206240" cy="0"/>
          </a:xfrm>
          <a:prstGeom prst="line">
            <a:avLst/>
          </a:prstGeom>
          <a:noFill/>
          <a:ln w="6350">
            <a:solidFill>
              <a:srgbClr val="F0F0F0"/>
            </a:solidFill>
            <a:prstDash val="solid"/>
          </a:ln>
        </p:spPr>
        <p:txBody>
          <a:bodyPr/>
          <a:lstStyle/>
          <a:p>
            <a:endParaRPr lang="en-CA"/>
          </a:p>
        </p:txBody>
      </p:sp>
      <p:sp>
        <p:nvSpPr>
          <p:cNvPr id="17" name="Text 15"/>
          <p:cNvSpPr/>
          <p:nvPr/>
        </p:nvSpPr>
        <p:spPr>
          <a:xfrm>
            <a:off x="3968503" y="3550399"/>
            <a:ext cx="4206240" cy="310896"/>
          </a:xfrm>
          <a:prstGeom prst="rect">
            <a:avLst/>
          </a:prstGeom>
          <a:noFill/>
          <a:ln/>
        </p:spPr>
        <p:txBody>
          <a:bodyPr wrap="square" lIns="0" tIns="0" rIns="0" bIns="0" rtlCol="0" anchor="ctr"/>
          <a:lstStyle/>
          <a:p>
            <a:pPr marL="0" indent="0">
              <a:buNone/>
            </a:pPr>
            <a:r>
              <a:rPr lang="en-US" sz="1300" b="1" dirty="0">
                <a:solidFill>
                  <a:srgbClr val="0A0A0A"/>
                </a:solidFill>
                <a:latin typeface="Calibri" pitchFamily="34" charset="0"/>
                <a:ea typeface="Calibri" pitchFamily="34" charset="-122"/>
                <a:cs typeface="Calibri" pitchFamily="34" charset="-120"/>
              </a:rPr>
              <a:t>Reproductibilité expérimentale</a:t>
            </a:r>
            <a:endParaRPr lang="en-US" sz="1300" dirty="0"/>
          </a:p>
        </p:txBody>
      </p:sp>
      <p:sp>
        <p:nvSpPr>
          <p:cNvPr id="18" name="Text 16"/>
          <p:cNvSpPr/>
          <p:nvPr/>
        </p:nvSpPr>
        <p:spPr>
          <a:xfrm>
            <a:off x="3986790" y="3897871"/>
            <a:ext cx="4290747" cy="566928"/>
          </a:xfrm>
          <a:prstGeom prst="rect">
            <a:avLst/>
          </a:prstGeom>
          <a:noFill/>
          <a:ln/>
        </p:spPr>
        <p:txBody>
          <a:bodyPr wrap="square" lIns="0" tIns="0" rIns="0" bIns="0" rtlCol="0" anchor="t"/>
          <a:lstStyle/>
          <a:p>
            <a:pPr marL="0" indent="0" algn="just">
              <a:buNone/>
            </a:pPr>
            <a:r>
              <a:rPr lang="fr-FR" sz="950" dirty="0">
                <a:solidFill>
                  <a:srgbClr val="555555"/>
                </a:solidFill>
                <a:latin typeface="Calibri" pitchFamily="34" charset="0"/>
                <a:cs typeface="Calibri" pitchFamily="34" charset="-120"/>
              </a:rPr>
              <a:t>Rejouer une chaîne complète et traçable qui couvre la campagne de mesures la production des résultats CSV la validation KAT et IC95 puis la génération des graphiques de synthèse. Obtenir des artefacts vérifiables qui facilitent la revue la comparaison entre plateformes et la défense des résultats.</a:t>
            </a:r>
            <a:endParaRPr lang="en-US" sz="950" dirty="0">
              <a:solidFill>
                <a:srgbClr val="555555"/>
              </a:solidFill>
              <a:latin typeface="Calibri" pitchFamily="34" charset="0"/>
              <a:cs typeface="Calibri" pitchFamily="34" charset="-120"/>
            </a:endParaRPr>
          </a:p>
        </p:txBody>
      </p:sp>
      <p:sp>
        <p:nvSpPr>
          <p:cNvPr id="19" name="Text 17"/>
          <p:cNvSpPr/>
          <p:nvPr/>
        </p:nvSpPr>
        <p:spPr>
          <a:xfrm>
            <a:off x="475488" y="481888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29" name="Text 1">
            <a:extLst>
              <a:ext uri="{FF2B5EF4-FFF2-40B4-BE49-F238E27FC236}">
                <a16:creationId xmlns:a16="http://schemas.microsoft.com/office/drawing/2014/main" id="{1D4AA2D6-0641-1A36-F7CA-9A62585379BF}"/>
              </a:ext>
            </a:extLst>
          </p:cNvPr>
          <p:cNvSpPr/>
          <p:nvPr/>
        </p:nvSpPr>
        <p:spPr>
          <a:xfrm>
            <a:off x="457200" y="386299"/>
            <a:ext cx="5029200" cy="365760"/>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Objectifs </a:t>
            </a:r>
            <a:r>
              <a:rPr lang="en-US" sz="1600" b="1" dirty="0">
                <a:solidFill>
                  <a:srgbClr val="C9A84C"/>
                </a:solidFill>
                <a:latin typeface="Calibri" pitchFamily="34" charset="0"/>
                <a:ea typeface="Calibri" pitchFamily="34" charset="-122"/>
                <a:cs typeface="Calibri" pitchFamily="34" charset="-120"/>
              </a:rPr>
              <a:t>du projet</a:t>
            </a:r>
            <a:endParaRPr lang="en-US" sz="1600" dirty="0"/>
          </a:p>
        </p:txBody>
      </p:sp>
      <p:sp>
        <p:nvSpPr>
          <p:cNvPr id="6" name="Text 0">
            <a:extLst>
              <a:ext uri="{FF2B5EF4-FFF2-40B4-BE49-F238E27FC236}">
                <a16:creationId xmlns:a16="http://schemas.microsoft.com/office/drawing/2014/main" id="{5FD6CF8B-5492-9C5E-D70C-61DF603A9942}"/>
              </a:ext>
            </a:extLst>
          </p:cNvPr>
          <p:cNvSpPr/>
          <p:nvPr/>
        </p:nvSpPr>
        <p:spPr>
          <a:xfrm>
            <a:off x="895788" y="3731881"/>
            <a:ext cx="1986911" cy="365760"/>
          </a:xfrm>
          <a:prstGeom prst="rect">
            <a:avLst/>
          </a:prstGeom>
          <a:noFill/>
          <a:ln/>
        </p:spPr>
        <p:txBody>
          <a:bodyPr wrap="square" lIns="0" tIns="0" rIns="0" bIns="0" rtlCol="0" anchor="ctr"/>
          <a:lstStyle/>
          <a:p>
            <a:pPr algn="ctr"/>
            <a:r>
              <a:rPr lang="en-US" sz="2400" i="1" kern="0" spc="100" dirty="0">
                <a:solidFill>
                  <a:srgbClr val="888888">
                    <a:alpha val="11000"/>
                  </a:srgbClr>
                </a:solidFill>
                <a:latin typeface="Calibri" pitchFamily="34" charset="0"/>
                <a:cs typeface="Calibri" pitchFamily="34" charset="-120"/>
              </a:rPr>
              <a:t>KAT + IC95</a:t>
            </a:r>
          </a:p>
        </p:txBody>
      </p:sp>
      <p:sp>
        <p:nvSpPr>
          <p:cNvPr id="24" name="Text 0">
            <a:extLst>
              <a:ext uri="{FF2B5EF4-FFF2-40B4-BE49-F238E27FC236}">
                <a16:creationId xmlns:a16="http://schemas.microsoft.com/office/drawing/2014/main" id="{0B0943F1-35A0-4BD0-2F42-17AB923E31B0}"/>
              </a:ext>
            </a:extLst>
          </p:cNvPr>
          <p:cNvSpPr/>
          <p:nvPr/>
        </p:nvSpPr>
        <p:spPr>
          <a:xfrm>
            <a:off x="1023621" y="2802737"/>
            <a:ext cx="2113779" cy="435170"/>
          </a:xfrm>
          <a:prstGeom prst="rect">
            <a:avLst/>
          </a:prstGeom>
          <a:noFill/>
          <a:ln/>
        </p:spPr>
        <p:txBody>
          <a:bodyPr wrap="square" lIns="0" tIns="0" rIns="0" bIns="0" rtlCol="0" anchor="ctr"/>
          <a:lstStyle/>
          <a:p>
            <a:pPr algn="ctr"/>
            <a:r>
              <a:rPr lang="en-US" sz="2400" i="1" kern="0" spc="100" dirty="0">
                <a:solidFill>
                  <a:srgbClr val="888888">
                    <a:alpha val="11000"/>
                  </a:srgbClr>
                </a:solidFill>
                <a:latin typeface="Calibri" pitchFamily="34" charset="0"/>
                <a:ea typeface="Calibri" pitchFamily="34" charset="-122"/>
                <a:cs typeface="Calibri" pitchFamily="34" charset="-120"/>
              </a:rPr>
              <a:t>2 plateformes</a:t>
            </a:r>
          </a:p>
          <a:p>
            <a:pPr algn="ctr"/>
            <a:endParaRPr lang="en-US" sz="2800" i="1" kern="0" spc="100" dirty="0">
              <a:solidFill>
                <a:srgbClr val="888888">
                  <a:alpha val="11000"/>
                </a:srgbClr>
              </a:solidFill>
              <a:latin typeface="Calibri" pitchFamily="34" charset="0"/>
              <a:cs typeface="Calibri"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7472" y="164592"/>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01b  ·  </a:t>
            </a:r>
            <a:r>
              <a:rPr lang="fr-FR" sz="800" b="1" kern="0" spc="200" dirty="0">
                <a:solidFill>
                  <a:srgbClr val="C0C0C0"/>
                </a:solidFill>
                <a:latin typeface="Calibri" pitchFamily="34" charset="0"/>
                <a:ea typeface="Calibri" pitchFamily="34" charset="-122"/>
                <a:cs typeface="Calibri" pitchFamily="34" charset="-120"/>
              </a:rPr>
              <a:t>NATURE DU SYSTÈME ET OBJECTIFS</a:t>
            </a:r>
            <a:endParaRPr lang="en-US" sz="800" dirty="0"/>
          </a:p>
        </p:txBody>
      </p:sp>
      <p:sp>
        <p:nvSpPr>
          <p:cNvPr id="3" name="Text 1"/>
          <p:cNvSpPr/>
          <p:nvPr/>
        </p:nvSpPr>
        <p:spPr>
          <a:xfrm>
            <a:off x="347472" y="347472"/>
            <a:ext cx="5029200" cy="365760"/>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Architecture logicielle </a:t>
            </a:r>
            <a:r>
              <a:rPr lang="en-US" sz="1600" b="1" dirty="0">
                <a:solidFill>
                  <a:srgbClr val="C9A84C"/>
                </a:solidFill>
                <a:latin typeface="Calibri" pitchFamily="34" charset="0"/>
                <a:ea typeface="Calibri" pitchFamily="34" charset="-122"/>
                <a:cs typeface="Calibri" pitchFamily="34" charset="-120"/>
              </a:rPr>
              <a:t>en couches</a:t>
            </a:r>
            <a:endParaRPr lang="en-US" sz="1600" dirty="0"/>
          </a:p>
        </p:txBody>
      </p:sp>
      <p:sp>
        <p:nvSpPr>
          <p:cNvPr id="5" name="Text 3"/>
          <p:cNvSpPr/>
          <p:nvPr/>
        </p:nvSpPr>
        <p:spPr>
          <a:xfrm>
            <a:off x="347472" y="1188720"/>
            <a:ext cx="1353312" cy="182880"/>
          </a:xfrm>
          <a:prstGeom prst="rect">
            <a:avLst/>
          </a:prstGeom>
          <a:noFill/>
          <a:ln/>
        </p:spPr>
        <p:txBody>
          <a:bodyPr wrap="square" lIns="0" tIns="0" rIns="0" bIns="0" rtlCol="0" anchor="ctr"/>
          <a:lstStyle/>
          <a:p>
            <a:pPr marL="0" indent="0" algn="ctr">
              <a:buNone/>
            </a:pPr>
            <a:r>
              <a:rPr lang="en-US" sz="650" b="1" kern="0" spc="150" dirty="0">
                <a:solidFill>
                  <a:srgbClr val="C0C0C0"/>
                </a:solidFill>
                <a:latin typeface="Calibri" pitchFamily="34" charset="0"/>
                <a:ea typeface="Calibri" pitchFamily="34" charset="-122"/>
                <a:cs typeface="Calibri" pitchFamily="34" charset="-120"/>
              </a:rPr>
              <a:t>APPLICATION</a:t>
            </a:r>
            <a:endParaRPr lang="en-US" sz="650" dirty="0"/>
          </a:p>
        </p:txBody>
      </p:sp>
      <p:sp>
        <p:nvSpPr>
          <p:cNvPr id="6" name="Shape 4"/>
          <p:cNvSpPr/>
          <p:nvPr/>
        </p:nvSpPr>
        <p:spPr>
          <a:xfrm>
            <a:off x="347472" y="1426463"/>
            <a:ext cx="1333119" cy="2688337"/>
          </a:xfrm>
          <a:prstGeom prst="roundRect">
            <a:avLst>
              <a:gd name="adj" fmla="val 6757"/>
            </a:avLst>
          </a:prstGeom>
          <a:solidFill>
            <a:srgbClr val="0A0A0A"/>
          </a:solidFill>
          <a:ln w="12700">
            <a:solidFill>
              <a:srgbClr val="0A0A0A"/>
            </a:solidFill>
            <a:prstDash val="solid"/>
          </a:ln>
        </p:spPr>
        <p:txBody>
          <a:bodyPr/>
          <a:lstStyle/>
          <a:p>
            <a:endParaRPr lang="en-CA"/>
          </a:p>
        </p:txBody>
      </p:sp>
      <p:pic>
        <p:nvPicPr>
          <p:cNvPr id="7" name="Image 0" descr="preencoded.png"/>
          <p:cNvPicPr>
            <a:picLocks noChangeAspect="1"/>
          </p:cNvPicPr>
          <p:nvPr/>
        </p:nvPicPr>
        <p:blipFill>
          <a:blip r:embed="rId3"/>
          <a:stretch>
            <a:fillRect/>
          </a:stretch>
        </p:blipFill>
        <p:spPr>
          <a:xfrm>
            <a:off x="859536" y="1627632"/>
            <a:ext cx="329184" cy="329184"/>
          </a:xfrm>
          <a:prstGeom prst="rect">
            <a:avLst/>
          </a:prstGeom>
        </p:spPr>
      </p:pic>
      <p:sp>
        <p:nvSpPr>
          <p:cNvPr id="8" name="Text 5"/>
          <p:cNvSpPr/>
          <p:nvPr/>
        </p:nvSpPr>
        <p:spPr>
          <a:xfrm>
            <a:off x="355661" y="2148840"/>
            <a:ext cx="1333119" cy="475488"/>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experiment.py</a:t>
            </a:r>
            <a:endParaRPr lang="en-US" sz="950" dirty="0"/>
          </a:p>
        </p:txBody>
      </p:sp>
      <p:sp>
        <p:nvSpPr>
          <p:cNvPr id="9" name="Text 6"/>
          <p:cNvSpPr/>
          <p:nvPr/>
        </p:nvSpPr>
        <p:spPr>
          <a:xfrm>
            <a:off x="355661" y="3191925"/>
            <a:ext cx="1324929" cy="577223"/>
          </a:xfrm>
          <a:prstGeom prst="rect">
            <a:avLst/>
          </a:prstGeom>
          <a:noFill/>
          <a:ln/>
        </p:spPr>
        <p:txBody>
          <a:bodyPr wrap="square" lIns="0" tIns="0" rIns="0" bIns="0" rtlCol="0" anchor="t"/>
          <a:lstStyle/>
          <a:p>
            <a:pPr marL="0" indent="0" algn="ctr">
              <a:buNone/>
            </a:pPr>
            <a:r>
              <a:rPr lang="fr-FR" sz="800" dirty="0">
                <a:solidFill>
                  <a:schemeClr val="bg1"/>
                </a:solidFill>
                <a:latin typeface="Calibri" pitchFamily="34" charset="0"/>
                <a:ea typeface="Calibri" pitchFamily="34" charset="-122"/>
                <a:cs typeface="Calibri" pitchFamily="34" charset="-120"/>
              </a:rPr>
              <a:t>n égal à 100 répétitions par scénario</a:t>
            </a:r>
            <a:endParaRPr lang="en-US" sz="800" dirty="0">
              <a:solidFill>
                <a:schemeClr val="bg1"/>
              </a:solidFill>
            </a:endParaRPr>
          </a:p>
        </p:txBody>
      </p:sp>
      <p:sp>
        <p:nvSpPr>
          <p:cNvPr id="10" name="Text 7"/>
          <p:cNvSpPr/>
          <p:nvPr/>
        </p:nvSpPr>
        <p:spPr>
          <a:xfrm>
            <a:off x="1719072" y="2176272"/>
            <a:ext cx="384048" cy="164592"/>
          </a:xfrm>
          <a:prstGeom prst="rect">
            <a:avLst/>
          </a:prstGeom>
          <a:noFill/>
          <a:ln/>
        </p:spPr>
        <p:txBody>
          <a:bodyPr wrap="square" lIns="0" tIns="0" rIns="0" bIns="0" rtlCol="0" anchor="ctr"/>
          <a:lstStyle/>
          <a:p>
            <a:pPr marL="0" indent="0" algn="ctr">
              <a:buNone/>
            </a:pPr>
            <a:r>
              <a:rPr lang="en-US" sz="650" b="1" dirty="0">
                <a:solidFill>
                  <a:srgbClr val="C9A84C"/>
                </a:solidFill>
                <a:latin typeface="Calibri" pitchFamily="34" charset="0"/>
                <a:ea typeface="Calibri" pitchFamily="34" charset="-122"/>
                <a:cs typeface="Calibri" pitchFamily="34" charset="-120"/>
              </a:rPr>
              <a:t>instancie</a:t>
            </a:r>
            <a:endParaRPr lang="en-US" sz="650" dirty="0"/>
          </a:p>
        </p:txBody>
      </p:sp>
      <p:sp>
        <p:nvSpPr>
          <p:cNvPr id="11" name="Shape 8"/>
          <p:cNvSpPr/>
          <p:nvPr/>
        </p:nvSpPr>
        <p:spPr>
          <a:xfrm>
            <a:off x="1719071" y="2432304"/>
            <a:ext cx="402335" cy="0"/>
          </a:xfrm>
          <a:prstGeom prst="line">
            <a:avLst/>
          </a:prstGeom>
          <a:noFill/>
          <a:ln w="19050">
            <a:solidFill>
              <a:srgbClr val="C9A84C"/>
            </a:solidFill>
            <a:prstDash val="solid"/>
            <a:tailEnd type="triangle"/>
          </a:ln>
        </p:spPr>
        <p:txBody>
          <a:bodyPr/>
          <a:lstStyle/>
          <a:p>
            <a:endParaRPr lang="en-CA"/>
          </a:p>
        </p:txBody>
      </p:sp>
      <p:sp>
        <p:nvSpPr>
          <p:cNvPr id="13" name="Text 10"/>
          <p:cNvSpPr/>
          <p:nvPr/>
        </p:nvSpPr>
        <p:spPr>
          <a:xfrm>
            <a:off x="1728214" y="2523744"/>
            <a:ext cx="384048" cy="146304"/>
          </a:xfrm>
          <a:prstGeom prst="rect">
            <a:avLst/>
          </a:prstGeom>
          <a:noFill/>
          <a:ln/>
        </p:spPr>
        <p:txBody>
          <a:bodyPr wrap="square" lIns="0" tIns="0" rIns="0" bIns="0" rtlCol="0" anchor="ctr"/>
          <a:lstStyle/>
          <a:p>
            <a:pPr marL="0" indent="0" algn="ctr">
              <a:buNone/>
            </a:pPr>
            <a:r>
              <a:rPr lang="en-US" sz="600" dirty="0">
                <a:solidFill>
                  <a:srgbClr val="BBBBBB"/>
                </a:solidFill>
                <a:latin typeface="Calibri" pitchFamily="34" charset="0"/>
                <a:ea typeface="Calibri" pitchFamily="34" charset="-122"/>
                <a:cs typeface="Calibri" pitchFamily="34" charset="-120"/>
              </a:rPr>
              <a:t>← </a:t>
            </a:r>
          </a:p>
          <a:p>
            <a:pPr marL="0" indent="0" algn="ctr">
              <a:buNone/>
            </a:pPr>
            <a:r>
              <a:rPr lang="en-US" sz="600" dirty="0">
                <a:solidFill>
                  <a:srgbClr val="BBBBBB"/>
                </a:solidFill>
                <a:latin typeface="Calibri" pitchFamily="34" charset="0"/>
                <a:ea typeface="Calibri" pitchFamily="34" charset="-122"/>
                <a:cs typeface="Calibri" pitchFamily="34" charset="-120"/>
              </a:rPr>
              <a:t>résultats</a:t>
            </a:r>
            <a:endParaRPr lang="en-US" sz="600" dirty="0"/>
          </a:p>
        </p:txBody>
      </p:sp>
      <p:sp>
        <p:nvSpPr>
          <p:cNvPr id="14" name="Text 11"/>
          <p:cNvSpPr/>
          <p:nvPr/>
        </p:nvSpPr>
        <p:spPr>
          <a:xfrm>
            <a:off x="2148840" y="1175290"/>
            <a:ext cx="1298448" cy="219456"/>
          </a:xfrm>
          <a:prstGeom prst="rect">
            <a:avLst/>
          </a:prstGeom>
          <a:noFill/>
          <a:ln/>
        </p:spPr>
        <p:txBody>
          <a:bodyPr wrap="square" lIns="0" tIns="0" rIns="0" bIns="0" rtlCol="0" anchor="ctr"/>
          <a:lstStyle/>
          <a:p>
            <a:pPr marL="0" indent="0" algn="ctr">
              <a:buNone/>
            </a:pPr>
            <a:r>
              <a:rPr lang="en-US" sz="650" b="1" kern="0" spc="150" dirty="0">
                <a:solidFill>
                  <a:srgbClr val="C0C0C0"/>
                </a:solidFill>
                <a:latin typeface="Calibri" pitchFamily="34" charset="0"/>
                <a:ea typeface="Calibri" pitchFamily="34" charset="-122"/>
                <a:cs typeface="Calibri" pitchFamily="34" charset="-120"/>
              </a:rPr>
              <a:t>MOTEUR DE CHIFFREMENT</a:t>
            </a:r>
            <a:endParaRPr lang="en-US" sz="650" dirty="0"/>
          </a:p>
        </p:txBody>
      </p:sp>
      <p:sp>
        <p:nvSpPr>
          <p:cNvPr id="15" name="Shape 12"/>
          <p:cNvSpPr/>
          <p:nvPr/>
        </p:nvSpPr>
        <p:spPr>
          <a:xfrm>
            <a:off x="2139696" y="1426463"/>
            <a:ext cx="1237678" cy="2688335"/>
          </a:xfrm>
          <a:prstGeom prst="roundRect">
            <a:avLst>
              <a:gd name="adj" fmla="val 6757"/>
            </a:avLst>
          </a:prstGeom>
          <a:solidFill>
            <a:srgbClr val="FFFFFF"/>
          </a:solidFill>
          <a:ln w="12700">
            <a:solidFill>
              <a:srgbClr val="E4E4E4"/>
            </a:solidFill>
            <a:prstDash val="solid"/>
          </a:ln>
        </p:spPr>
        <p:txBody>
          <a:bodyPr/>
          <a:lstStyle/>
          <a:p>
            <a:endParaRPr lang="en-CA"/>
          </a:p>
        </p:txBody>
      </p:sp>
      <p:pic>
        <p:nvPicPr>
          <p:cNvPr id="16" name="Image 1" descr="preencoded.png"/>
          <p:cNvPicPr>
            <a:picLocks noChangeAspect="1"/>
          </p:cNvPicPr>
          <p:nvPr/>
        </p:nvPicPr>
        <p:blipFill>
          <a:blip r:embed="rId4"/>
          <a:stretch>
            <a:fillRect/>
          </a:stretch>
        </p:blipFill>
        <p:spPr>
          <a:xfrm>
            <a:off x="2633472" y="1627632"/>
            <a:ext cx="329184" cy="329184"/>
          </a:xfrm>
          <a:prstGeom prst="rect">
            <a:avLst/>
          </a:prstGeom>
        </p:spPr>
      </p:pic>
      <p:sp>
        <p:nvSpPr>
          <p:cNvPr id="17" name="Text 13"/>
          <p:cNvSpPr/>
          <p:nvPr/>
        </p:nvSpPr>
        <p:spPr>
          <a:xfrm>
            <a:off x="2156078" y="2169128"/>
            <a:ext cx="1221296" cy="475488"/>
          </a:xfrm>
          <a:prstGeom prst="rect">
            <a:avLst/>
          </a:prstGeom>
          <a:noFill/>
          <a:ln/>
        </p:spPr>
        <p:txBody>
          <a:bodyPr wrap="square" lIns="0" tIns="0" rIns="0" bIns="0" rtlCol="0" anchor="ctr"/>
          <a:lstStyle/>
          <a:p>
            <a:pPr marL="0" indent="0" algn="ctr">
              <a:buNone/>
            </a:pPr>
            <a:r>
              <a:rPr lang="en-US" sz="950" b="1" dirty="0">
                <a:solidFill>
                  <a:srgbClr val="0A0A0A"/>
                </a:solidFill>
                <a:latin typeface="Calibri" pitchFamily="34" charset="0"/>
                <a:ea typeface="Calibri" pitchFamily="34" charset="-122"/>
                <a:cs typeface="Calibri" pitchFamily="34" charset="-120"/>
              </a:rPr>
              <a:t>EncryptionEngine.py</a:t>
            </a:r>
          </a:p>
        </p:txBody>
      </p:sp>
      <p:sp>
        <p:nvSpPr>
          <p:cNvPr id="18" name="Text 14"/>
          <p:cNvSpPr/>
          <p:nvPr/>
        </p:nvSpPr>
        <p:spPr>
          <a:xfrm>
            <a:off x="2139696" y="3191925"/>
            <a:ext cx="1237678" cy="556830"/>
          </a:xfrm>
          <a:prstGeom prst="rect">
            <a:avLst/>
          </a:prstGeom>
          <a:noFill/>
          <a:ln/>
        </p:spPr>
        <p:txBody>
          <a:bodyPr wrap="square" lIns="0" tIns="0" rIns="0" bIns="0" rtlCol="0" anchor="t"/>
          <a:lstStyle/>
          <a:p>
            <a:pPr marL="0" indent="0" algn="ctr">
              <a:buNone/>
            </a:pPr>
            <a:r>
              <a:rPr lang="fr-FR" sz="800" dirty="0">
                <a:solidFill>
                  <a:srgbClr val="999999"/>
                </a:solidFill>
                <a:latin typeface="Calibri" pitchFamily="34" charset="0"/>
                <a:ea typeface="Calibri" pitchFamily="34" charset="-122"/>
                <a:cs typeface="Calibri" pitchFamily="34" charset="-120"/>
              </a:rPr>
              <a:t>Composition primitive mode et délégation des appels chiffrer déchiffrer</a:t>
            </a:r>
            <a:endParaRPr lang="en-US" sz="800" dirty="0"/>
          </a:p>
        </p:txBody>
      </p:sp>
      <p:sp>
        <p:nvSpPr>
          <p:cNvPr id="19" name="Text 15"/>
          <p:cNvSpPr/>
          <p:nvPr/>
        </p:nvSpPr>
        <p:spPr>
          <a:xfrm>
            <a:off x="3493008" y="2176272"/>
            <a:ext cx="384048" cy="164592"/>
          </a:xfrm>
          <a:prstGeom prst="rect">
            <a:avLst/>
          </a:prstGeom>
          <a:noFill/>
          <a:ln/>
        </p:spPr>
        <p:txBody>
          <a:bodyPr wrap="square" lIns="0" tIns="0" rIns="0" bIns="0" rtlCol="0" anchor="ctr"/>
          <a:lstStyle/>
          <a:p>
            <a:pPr marL="0" indent="0" algn="ctr">
              <a:buNone/>
            </a:pPr>
            <a:r>
              <a:rPr lang="en-US" sz="650" b="1" dirty="0">
                <a:solidFill>
                  <a:srgbClr val="C9A84C"/>
                </a:solidFill>
                <a:latin typeface="Calibri" pitchFamily="34" charset="0"/>
                <a:ea typeface="Calibri" pitchFamily="34" charset="-122"/>
                <a:cs typeface="Calibri" pitchFamily="34" charset="-120"/>
              </a:rPr>
              <a:t>délègue</a:t>
            </a:r>
            <a:endParaRPr lang="en-US" sz="650" dirty="0"/>
          </a:p>
        </p:txBody>
      </p:sp>
      <p:sp>
        <p:nvSpPr>
          <p:cNvPr id="22" name="Text 18"/>
          <p:cNvSpPr/>
          <p:nvPr/>
        </p:nvSpPr>
        <p:spPr>
          <a:xfrm>
            <a:off x="3407664" y="2523744"/>
            <a:ext cx="554736" cy="120872"/>
          </a:xfrm>
          <a:prstGeom prst="rect">
            <a:avLst/>
          </a:prstGeom>
          <a:noFill/>
          <a:ln/>
        </p:spPr>
        <p:txBody>
          <a:bodyPr wrap="square" lIns="0" tIns="0" rIns="0" bIns="0" rtlCol="0" anchor="ctr"/>
          <a:lstStyle/>
          <a:p>
            <a:pPr marL="0" indent="0" algn="ctr">
              <a:buNone/>
            </a:pPr>
            <a:r>
              <a:rPr lang="en-US" sz="600" dirty="0">
                <a:solidFill>
                  <a:srgbClr val="BBBBBB"/>
                </a:solidFill>
                <a:latin typeface="Calibri" pitchFamily="34" charset="0"/>
                <a:ea typeface="Calibri" pitchFamily="34" charset="-122"/>
                <a:cs typeface="Calibri" pitchFamily="34" charset="-120"/>
              </a:rPr>
              <a:t>← </a:t>
            </a:r>
          </a:p>
          <a:p>
            <a:pPr marL="0" indent="0" algn="ctr">
              <a:buNone/>
            </a:pPr>
            <a:r>
              <a:rPr lang="en-US" sz="600" dirty="0">
                <a:solidFill>
                  <a:srgbClr val="BBBBBB"/>
                </a:solidFill>
                <a:latin typeface="Calibri" pitchFamily="34" charset="0"/>
                <a:ea typeface="Calibri" pitchFamily="34" charset="-122"/>
                <a:cs typeface="Calibri" pitchFamily="34" charset="-120"/>
              </a:rPr>
              <a:t>ccryptogramme</a:t>
            </a:r>
            <a:endParaRPr lang="en-US" sz="600" dirty="0"/>
          </a:p>
        </p:txBody>
      </p:sp>
      <p:sp>
        <p:nvSpPr>
          <p:cNvPr id="23" name="Text 19"/>
          <p:cNvSpPr/>
          <p:nvPr/>
        </p:nvSpPr>
        <p:spPr>
          <a:xfrm>
            <a:off x="3895344" y="1188720"/>
            <a:ext cx="1353312" cy="182880"/>
          </a:xfrm>
          <a:prstGeom prst="rect">
            <a:avLst/>
          </a:prstGeom>
          <a:noFill/>
          <a:ln/>
        </p:spPr>
        <p:txBody>
          <a:bodyPr wrap="square" lIns="0" tIns="0" rIns="0" bIns="0" rtlCol="0" anchor="ctr"/>
          <a:lstStyle/>
          <a:p>
            <a:pPr marL="0" indent="0" algn="ctr">
              <a:buNone/>
            </a:pPr>
            <a:r>
              <a:rPr lang="en-US" sz="650" b="1" kern="0" spc="150" dirty="0">
                <a:solidFill>
                  <a:srgbClr val="C0C0C0"/>
                </a:solidFill>
                <a:latin typeface="Calibri" pitchFamily="34" charset="0"/>
                <a:ea typeface="Calibri" pitchFamily="34" charset="-122"/>
                <a:cs typeface="Calibri" pitchFamily="34" charset="-120"/>
              </a:rPr>
              <a:t>MODE OPÉRATOIRE</a:t>
            </a:r>
            <a:endParaRPr lang="en-US" sz="650" dirty="0"/>
          </a:p>
        </p:txBody>
      </p:sp>
      <p:sp>
        <p:nvSpPr>
          <p:cNvPr id="24" name="Shape 20"/>
          <p:cNvSpPr/>
          <p:nvPr/>
        </p:nvSpPr>
        <p:spPr>
          <a:xfrm>
            <a:off x="3968495" y="1426464"/>
            <a:ext cx="1243584" cy="2688334"/>
          </a:xfrm>
          <a:prstGeom prst="roundRect">
            <a:avLst>
              <a:gd name="adj" fmla="val 6757"/>
            </a:avLst>
          </a:prstGeom>
          <a:solidFill>
            <a:srgbClr val="FFFFFF"/>
          </a:solidFill>
          <a:ln w="12700">
            <a:solidFill>
              <a:srgbClr val="E4E4E4"/>
            </a:solidFill>
            <a:prstDash val="solid"/>
          </a:ln>
        </p:spPr>
        <p:txBody>
          <a:bodyPr/>
          <a:lstStyle/>
          <a:p>
            <a:endParaRPr lang="en-CA"/>
          </a:p>
        </p:txBody>
      </p:sp>
      <p:pic>
        <p:nvPicPr>
          <p:cNvPr id="25" name="Image 2" descr="preencoded.png"/>
          <p:cNvPicPr>
            <a:picLocks noChangeAspect="1"/>
          </p:cNvPicPr>
          <p:nvPr/>
        </p:nvPicPr>
        <p:blipFill>
          <a:blip r:embed="rId5"/>
          <a:stretch>
            <a:fillRect/>
          </a:stretch>
        </p:blipFill>
        <p:spPr>
          <a:xfrm>
            <a:off x="4407408" y="1627632"/>
            <a:ext cx="329184" cy="329184"/>
          </a:xfrm>
          <a:prstGeom prst="rect">
            <a:avLst/>
          </a:prstGeom>
        </p:spPr>
      </p:pic>
      <p:sp>
        <p:nvSpPr>
          <p:cNvPr id="26" name="Text 21"/>
          <p:cNvSpPr/>
          <p:nvPr/>
        </p:nvSpPr>
        <p:spPr>
          <a:xfrm>
            <a:off x="3974781" y="2216895"/>
            <a:ext cx="1243584" cy="672607"/>
          </a:xfrm>
          <a:prstGeom prst="rect">
            <a:avLst/>
          </a:prstGeom>
          <a:noFill/>
          <a:ln/>
        </p:spPr>
        <p:txBody>
          <a:bodyPr wrap="square" lIns="0" tIns="0" rIns="0" bIns="0" rtlCol="0" anchor="ctr"/>
          <a:lstStyle/>
          <a:p>
            <a:pPr marL="0" indent="0" algn="ctr">
              <a:buNone/>
            </a:pPr>
            <a:r>
              <a:rPr lang="en-US" sz="950" b="1" dirty="0">
                <a:solidFill>
                  <a:srgbClr val="0A0A0A"/>
                </a:solidFill>
                <a:latin typeface="Calibri" pitchFamily="34" charset="0"/>
                <a:ea typeface="Calibri" pitchFamily="34" charset="-122"/>
                <a:cs typeface="Calibri" pitchFamily="34" charset="-120"/>
              </a:rPr>
              <a:t>ECB.py </a:t>
            </a:r>
          </a:p>
          <a:p>
            <a:pPr marL="0" indent="0" algn="ctr">
              <a:buNone/>
            </a:pPr>
            <a:r>
              <a:rPr lang="en-US" sz="950" b="1" dirty="0">
                <a:solidFill>
                  <a:srgbClr val="0A0A0A"/>
                </a:solidFill>
                <a:latin typeface="Calibri" pitchFamily="34" charset="0"/>
                <a:ea typeface="Calibri" pitchFamily="34" charset="-122"/>
                <a:cs typeface="Calibri" pitchFamily="34" charset="-120"/>
              </a:rPr>
              <a:t>CBC.py </a:t>
            </a:r>
          </a:p>
          <a:p>
            <a:pPr marL="0" indent="0" algn="ctr">
              <a:buNone/>
            </a:pPr>
            <a:r>
              <a:rPr lang="en-US" sz="950" b="1" dirty="0">
                <a:solidFill>
                  <a:srgbClr val="0A0A0A"/>
                </a:solidFill>
                <a:latin typeface="Calibri" pitchFamily="34" charset="0"/>
                <a:ea typeface="Calibri" pitchFamily="34" charset="-122"/>
                <a:cs typeface="Calibri" pitchFamily="34" charset="-120"/>
              </a:rPr>
              <a:t>CTR.py </a:t>
            </a:r>
          </a:p>
          <a:p>
            <a:pPr marL="0" indent="0" algn="ctr">
              <a:buNone/>
            </a:pPr>
            <a:r>
              <a:rPr lang="en-US" sz="950" b="1" dirty="0">
                <a:solidFill>
                  <a:srgbClr val="0A0A0A"/>
                </a:solidFill>
                <a:latin typeface="Calibri" pitchFamily="34" charset="0"/>
                <a:ea typeface="Calibri" pitchFamily="34" charset="-122"/>
                <a:cs typeface="Calibri" pitchFamily="34" charset="-120"/>
              </a:rPr>
              <a:t>GCM.py</a:t>
            </a:r>
          </a:p>
          <a:p>
            <a:pPr marL="0" indent="0" algn="ctr">
              <a:buNone/>
            </a:pPr>
            <a:r>
              <a:rPr lang="en-US" sz="950" b="1" dirty="0">
                <a:solidFill>
                  <a:srgbClr val="0A0A0A"/>
                </a:solidFill>
                <a:latin typeface="Calibri" pitchFamily="34" charset="0"/>
                <a:ea typeface="Calibri" pitchFamily="34" charset="-122"/>
                <a:cs typeface="Calibri" pitchFamily="34" charset="-120"/>
              </a:rPr>
              <a:t> StreamMode.py</a:t>
            </a:r>
            <a:endParaRPr lang="en-US" sz="950" dirty="0"/>
          </a:p>
        </p:txBody>
      </p:sp>
      <p:sp>
        <p:nvSpPr>
          <p:cNvPr id="28" name="Text 23"/>
          <p:cNvSpPr/>
          <p:nvPr/>
        </p:nvSpPr>
        <p:spPr>
          <a:xfrm>
            <a:off x="5266944" y="2176272"/>
            <a:ext cx="384048" cy="164592"/>
          </a:xfrm>
          <a:prstGeom prst="rect">
            <a:avLst/>
          </a:prstGeom>
          <a:noFill/>
          <a:ln/>
        </p:spPr>
        <p:txBody>
          <a:bodyPr wrap="square" lIns="0" tIns="0" rIns="0" bIns="0" rtlCol="0" anchor="ctr"/>
          <a:lstStyle/>
          <a:p>
            <a:pPr marL="0" indent="0" algn="ctr">
              <a:buNone/>
            </a:pPr>
            <a:r>
              <a:rPr lang="en-US" sz="650" b="1" dirty="0">
                <a:solidFill>
                  <a:srgbClr val="C9A84C"/>
                </a:solidFill>
                <a:latin typeface="Calibri" pitchFamily="34" charset="0"/>
                <a:ea typeface="Calibri" pitchFamily="34" charset="-122"/>
                <a:cs typeface="Calibri" pitchFamily="34" charset="-120"/>
              </a:rPr>
              <a:t>invoque</a:t>
            </a:r>
            <a:endParaRPr lang="en-US" sz="650" dirty="0"/>
          </a:p>
        </p:txBody>
      </p:sp>
      <p:sp>
        <p:nvSpPr>
          <p:cNvPr id="31" name="Text 26"/>
          <p:cNvSpPr/>
          <p:nvPr/>
        </p:nvSpPr>
        <p:spPr>
          <a:xfrm>
            <a:off x="5266943" y="2577465"/>
            <a:ext cx="384049" cy="146304"/>
          </a:xfrm>
          <a:prstGeom prst="rect">
            <a:avLst/>
          </a:prstGeom>
          <a:noFill/>
          <a:ln/>
        </p:spPr>
        <p:txBody>
          <a:bodyPr wrap="square" lIns="0" tIns="0" rIns="0" bIns="0" rtlCol="0" anchor="ctr"/>
          <a:lstStyle/>
          <a:p>
            <a:pPr marL="0" indent="0" algn="ctr">
              <a:buNone/>
            </a:pPr>
            <a:r>
              <a:rPr lang="en-US" sz="600" dirty="0">
                <a:solidFill>
                  <a:srgbClr val="BBBBBB"/>
                </a:solidFill>
                <a:latin typeface="Calibri" pitchFamily="34" charset="0"/>
                <a:ea typeface="Calibri" pitchFamily="34" charset="-122"/>
                <a:cs typeface="Calibri" pitchFamily="34" charset="-120"/>
              </a:rPr>
              <a:t>← </a:t>
            </a:r>
          </a:p>
          <a:p>
            <a:pPr marL="0" indent="0" algn="ctr">
              <a:buNone/>
            </a:pPr>
            <a:r>
              <a:rPr lang="en-US" sz="600" dirty="0">
                <a:solidFill>
                  <a:srgbClr val="BBBBBB"/>
                </a:solidFill>
                <a:latin typeface="Calibri" pitchFamily="34" charset="0"/>
                <a:ea typeface="Calibri" pitchFamily="34" charset="-122"/>
                <a:cs typeface="Calibri" pitchFamily="34" charset="-120"/>
              </a:rPr>
              <a:t>blocs</a:t>
            </a:r>
            <a:endParaRPr lang="en-US" sz="600" dirty="0"/>
          </a:p>
        </p:txBody>
      </p:sp>
      <p:sp>
        <p:nvSpPr>
          <p:cNvPr id="32" name="Text 27"/>
          <p:cNvSpPr/>
          <p:nvPr/>
        </p:nvSpPr>
        <p:spPr>
          <a:xfrm>
            <a:off x="5669280" y="1188720"/>
            <a:ext cx="1353312" cy="182880"/>
          </a:xfrm>
          <a:prstGeom prst="rect">
            <a:avLst/>
          </a:prstGeom>
          <a:noFill/>
          <a:ln/>
        </p:spPr>
        <p:txBody>
          <a:bodyPr wrap="square" lIns="0" tIns="0" rIns="0" bIns="0" rtlCol="0" anchor="ctr"/>
          <a:lstStyle/>
          <a:p>
            <a:pPr marL="0" indent="0" algn="ctr">
              <a:buNone/>
            </a:pPr>
            <a:r>
              <a:rPr lang="en-US" sz="650" b="1" kern="0" spc="150" dirty="0">
                <a:solidFill>
                  <a:srgbClr val="C0C0C0"/>
                </a:solidFill>
                <a:latin typeface="Calibri" pitchFamily="34" charset="0"/>
                <a:ea typeface="Calibri" pitchFamily="34" charset="-122"/>
                <a:cs typeface="Calibri" pitchFamily="34" charset="-120"/>
              </a:rPr>
              <a:t>PRIMITIVE CRYPTOGRAPHIQUE</a:t>
            </a:r>
            <a:endParaRPr lang="en-US" sz="650" dirty="0"/>
          </a:p>
        </p:txBody>
      </p:sp>
      <p:sp>
        <p:nvSpPr>
          <p:cNvPr id="33" name="Shape 28"/>
          <p:cNvSpPr/>
          <p:nvPr/>
        </p:nvSpPr>
        <p:spPr>
          <a:xfrm>
            <a:off x="5705855" y="1426463"/>
            <a:ext cx="1261874" cy="2688333"/>
          </a:xfrm>
          <a:prstGeom prst="roundRect">
            <a:avLst>
              <a:gd name="adj" fmla="val 6757"/>
            </a:avLst>
          </a:prstGeom>
          <a:solidFill>
            <a:srgbClr val="FFFFFF"/>
          </a:solidFill>
          <a:ln w="12700">
            <a:solidFill>
              <a:srgbClr val="E4E4E4"/>
            </a:solidFill>
            <a:prstDash val="solid"/>
          </a:ln>
        </p:spPr>
        <p:txBody>
          <a:bodyPr/>
          <a:lstStyle/>
          <a:p>
            <a:endParaRPr lang="en-CA"/>
          </a:p>
        </p:txBody>
      </p:sp>
      <p:pic>
        <p:nvPicPr>
          <p:cNvPr id="34" name="Image 3" descr="preencoded.png"/>
          <p:cNvPicPr>
            <a:picLocks noChangeAspect="1"/>
          </p:cNvPicPr>
          <p:nvPr/>
        </p:nvPicPr>
        <p:blipFill>
          <a:blip r:embed="rId6"/>
          <a:stretch>
            <a:fillRect/>
          </a:stretch>
        </p:blipFill>
        <p:spPr>
          <a:xfrm>
            <a:off x="6181344" y="1627632"/>
            <a:ext cx="329184" cy="329184"/>
          </a:xfrm>
          <a:prstGeom prst="rect">
            <a:avLst/>
          </a:prstGeom>
        </p:spPr>
      </p:pic>
      <p:sp>
        <p:nvSpPr>
          <p:cNvPr id="35" name="Text 29"/>
          <p:cNvSpPr/>
          <p:nvPr/>
        </p:nvSpPr>
        <p:spPr>
          <a:xfrm>
            <a:off x="5724144" y="2204370"/>
            <a:ext cx="1243584" cy="475488"/>
          </a:xfrm>
          <a:prstGeom prst="rect">
            <a:avLst/>
          </a:prstGeom>
          <a:noFill/>
          <a:ln/>
        </p:spPr>
        <p:txBody>
          <a:bodyPr wrap="square" lIns="0" tIns="0" rIns="0" bIns="0" rtlCol="0" anchor="ctr"/>
          <a:lstStyle/>
          <a:p>
            <a:pPr marL="0" indent="0" algn="ctr">
              <a:buNone/>
            </a:pPr>
            <a:r>
              <a:rPr lang="en-US" sz="950" b="1" dirty="0">
                <a:solidFill>
                  <a:srgbClr val="0A0A0A"/>
                </a:solidFill>
                <a:latin typeface="Calibri" pitchFamily="34" charset="0"/>
                <a:ea typeface="Calibri" pitchFamily="34" charset="-122"/>
                <a:cs typeface="Calibri" pitchFamily="34" charset="-120"/>
              </a:rPr>
              <a:t>AES.py</a:t>
            </a:r>
          </a:p>
          <a:p>
            <a:pPr marL="0" indent="0" algn="ctr">
              <a:buNone/>
            </a:pPr>
            <a:r>
              <a:rPr lang="en-US" sz="950" b="1" dirty="0">
                <a:solidFill>
                  <a:srgbClr val="0A0A0A"/>
                </a:solidFill>
                <a:latin typeface="Calibri" pitchFamily="34" charset="0"/>
                <a:ea typeface="Calibri" pitchFamily="34" charset="-122"/>
                <a:cs typeface="Calibri" pitchFamily="34" charset="-120"/>
              </a:rPr>
              <a:t>DES.py</a:t>
            </a:r>
          </a:p>
          <a:p>
            <a:pPr marL="0" indent="0" algn="ctr">
              <a:buNone/>
            </a:pPr>
            <a:r>
              <a:rPr lang="en-US" sz="950" b="1" dirty="0">
                <a:solidFill>
                  <a:srgbClr val="0A0A0A"/>
                </a:solidFill>
                <a:latin typeface="Calibri" pitchFamily="34" charset="0"/>
                <a:ea typeface="Calibri" pitchFamily="34" charset="-122"/>
                <a:cs typeface="Calibri" pitchFamily="34" charset="-120"/>
              </a:rPr>
              <a:t>TripleDES.py</a:t>
            </a:r>
          </a:p>
          <a:p>
            <a:pPr marL="0" indent="0" algn="ctr">
              <a:buNone/>
            </a:pPr>
            <a:r>
              <a:rPr lang="en-US" sz="950" b="1" dirty="0">
                <a:solidFill>
                  <a:srgbClr val="0A0A0A"/>
                </a:solidFill>
                <a:latin typeface="Calibri" pitchFamily="34" charset="0"/>
                <a:ea typeface="Calibri" pitchFamily="34" charset="-122"/>
                <a:cs typeface="Calibri" pitchFamily="34" charset="-120"/>
              </a:rPr>
              <a:t>Twofish.py</a:t>
            </a:r>
          </a:p>
          <a:p>
            <a:pPr marL="0" indent="0" algn="ctr">
              <a:buNone/>
            </a:pPr>
            <a:r>
              <a:rPr lang="en-US" sz="950" b="1" dirty="0">
                <a:solidFill>
                  <a:srgbClr val="0A0A0A"/>
                </a:solidFill>
                <a:latin typeface="Calibri" pitchFamily="34" charset="0"/>
                <a:ea typeface="Calibri" pitchFamily="34" charset="-122"/>
                <a:cs typeface="Calibri" pitchFamily="34" charset="-120"/>
              </a:rPr>
              <a:t>ChaCha20.py</a:t>
            </a:r>
            <a:endParaRPr lang="en-US" sz="950" dirty="0"/>
          </a:p>
        </p:txBody>
      </p:sp>
      <p:sp>
        <p:nvSpPr>
          <p:cNvPr id="37" name="Text 31"/>
          <p:cNvSpPr/>
          <p:nvPr/>
        </p:nvSpPr>
        <p:spPr>
          <a:xfrm>
            <a:off x="7040880" y="2176272"/>
            <a:ext cx="384048" cy="164592"/>
          </a:xfrm>
          <a:prstGeom prst="rect">
            <a:avLst/>
          </a:prstGeom>
          <a:noFill/>
          <a:ln/>
        </p:spPr>
        <p:txBody>
          <a:bodyPr wrap="square" lIns="0" tIns="0" rIns="0" bIns="0" rtlCol="0" anchor="ctr"/>
          <a:lstStyle/>
          <a:p>
            <a:pPr marL="0" indent="0" algn="ctr">
              <a:buNone/>
            </a:pPr>
            <a:r>
              <a:rPr lang="en-US" sz="650" b="1" dirty="0">
                <a:solidFill>
                  <a:srgbClr val="C9A84C"/>
                </a:solidFill>
                <a:latin typeface="Calibri" pitchFamily="34" charset="0"/>
                <a:ea typeface="Calibri" pitchFamily="34" charset="-122"/>
                <a:cs typeface="Calibri" pitchFamily="34" charset="-120"/>
              </a:rPr>
              <a:t>utilise</a:t>
            </a:r>
            <a:endParaRPr lang="en-US" sz="650" dirty="0"/>
          </a:p>
        </p:txBody>
      </p:sp>
      <p:sp>
        <p:nvSpPr>
          <p:cNvPr id="40" name="Text 34"/>
          <p:cNvSpPr/>
          <p:nvPr/>
        </p:nvSpPr>
        <p:spPr>
          <a:xfrm>
            <a:off x="7040880" y="2523744"/>
            <a:ext cx="384048" cy="146304"/>
          </a:xfrm>
          <a:prstGeom prst="rect">
            <a:avLst/>
          </a:prstGeom>
          <a:noFill/>
          <a:ln/>
        </p:spPr>
        <p:txBody>
          <a:bodyPr wrap="square" lIns="0" tIns="0" rIns="0" bIns="0" rtlCol="0" anchor="ctr"/>
          <a:lstStyle/>
          <a:p>
            <a:pPr marL="0" indent="0" algn="ctr">
              <a:buNone/>
            </a:pPr>
            <a:r>
              <a:rPr lang="en-US" sz="600" dirty="0">
                <a:solidFill>
                  <a:srgbClr val="BBBBBB"/>
                </a:solidFill>
                <a:latin typeface="Calibri" pitchFamily="34" charset="0"/>
                <a:ea typeface="Calibri" pitchFamily="34" charset="-122"/>
                <a:cs typeface="Calibri" pitchFamily="34" charset="-120"/>
              </a:rPr>
              <a:t>← </a:t>
            </a:r>
          </a:p>
          <a:p>
            <a:pPr marL="0" indent="0" algn="ctr">
              <a:buNone/>
            </a:pPr>
            <a:r>
              <a:rPr lang="en-US" sz="600" dirty="0">
                <a:solidFill>
                  <a:srgbClr val="BBBBBB"/>
                </a:solidFill>
                <a:latin typeface="Calibri" pitchFamily="34" charset="0"/>
                <a:ea typeface="Calibri" pitchFamily="34" charset="-122"/>
                <a:cs typeface="Calibri" pitchFamily="34" charset="-120"/>
              </a:rPr>
              <a:t>octects</a:t>
            </a:r>
            <a:endParaRPr lang="en-US" sz="600" dirty="0"/>
          </a:p>
        </p:txBody>
      </p:sp>
      <p:sp>
        <p:nvSpPr>
          <p:cNvPr id="41" name="Text 35"/>
          <p:cNvSpPr/>
          <p:nvPr/>
        </p:nvSpPr>
        <p:spPr>
          <a:xfrm>
            <a:off x="7443216" y="1188720"/>
            <a:ext cx="1353312" cy="182880"/>
          </a:xfrm>
          <a:prstGeom prst="rect">
            <a:avLst/>
          </a:prstGeom>
          <a:noFill/>
          <a:ln/>
        </p:spPr>
        <p:txBody>
          <a:bodyPr wrap="square" lIns="0" tIns="0" rIns="0" bIns="0" rtlCol="0" anchor="ctr"/>
          <a:lstStyle/>
          <a:p>
            <a:pPr marL="0" indent="0" algn="ctr">
              <a:buNone/>
            </a:pPr>
            <a:r>
              <a:rPr lang="en-US" sz="650" b="1" kern="0" spc="150" dirty="0">
                <a:solidFill>
                  <a:srgbClr val="C9A84C"/>
                </a:solidFill>
                <a:latin typeface="Calibri" pitchFamily="34" charset="0"/>
                <a:cs typeface="Calibri" pitchFamily="34" charset="-120"/>
              </a:rPr>
              <a:t>BIBLIOTH</a:t>
            </a:r>
            <a:r>
              <a:rPr lang="fr-CA" sz="650" b="1" kern="0" spc="150" dirty="0">
                <a:solidFill>
                  <a:srgbClr val="C9A84C"/>
                </a:solidFill>
                <a:latin typeface="Calibri" pitchFamily="34" charset="0"/>
                <a:cs typeface="Calibri" pitchFamily="34" charset="-120"/>
              </a:rPr>
              <a:t>ÈQUES</a:t>
            </a:r>
            <a:endParaRPr lang="en-US" sz="650" dirty="0"/>
          </a:p>
        </p:txBody>
      </p:sp>
      <p:sp>
        <p:nvSpPr>
          <p:cNvPr id="42" name="Shape 36"/>
          <p:cNvSpPr/>
          <p:nvPr/>
        </p:nvSpPr>
        <p:spPr>
          <a:xfrm>
            <a:off x="7443216" y="1426463"/>
            <a:ext cx="1353312" cy="2688329"/>
          </a:xfrm>
          <a:prstGeom prst="roundRect">
            <a:avLst>
              <a:gd name="adj" fmla="val 6757"/>
            </a:avLst>
          </a:prstGeom>
          <a:solidFill>
            <a:srgbClr val="FFFBF0"/>
          </a:solidFill>
          <a:ln w="19050">
            <a:solidFill>
              <a:srgbClr val="C9A84C"/>
            </a:solidFill>
            <a:prstDash val="solid"/>
          </a:ln>
        </p:spPr>
        <p:txBody>
          <a:bodyPr/>
          <a:lstStyle/>
          <a:p>
            <a:endParaRPr lang="en-CA"/>
          </a:p>
        </p:txBody>
      </p:sp>
      <p:pic>
        <p:nvPicPr>
          <p:cNvPr id="43" name="Image 4" descr="preencoded.png"/>
          <p:cNvPicPr>
            <a:picLocks noChangeAspect="1"/>
          </p:cNvPicPr>
          <p:nvPr/>
        </p:nvPicPr>
        <p:blipFill>
          <a:blip r:embed="rId7"/>
          <a:stretch>
            <a:fillRect/>
          </a:stretch>
        </p:blipFill>
        <p:spPr>
          <a:xfrm>
            <a:off x="7955280" y="1627632"/>
            <a:ext cx="329184" cy="329184"/>
          </a:xfrm>
          <a:prstGeom prst="rect">
            <a:avLst/>
          </a:prstGeom>
        </p:spPr>
      </p:pic>
      <p:sp>
        <p:nvSpPr>
          <p:cNvPr id="44" name="Text 37"/>
          <p:cNvSpPr/>
          <p:nvPr/>
        </p:nvSpPr>
        <p:spPr>
          <a:xfrm>
            <a:off x="7498080" y="2289619"/>
            <a:ext cx="1243584" cy="366426"/>
          </a:xfrm>
          <a:prstGeom prst="rect">
            <a:avLst/>
          </a:prstGeom>
          <a:noFill/>
          <a:ln/>
        </p:spPr>
        <p:txBody>
          <a:bodyPr wrap="square" lIns="0" tIns="0" rIns="0" bIns="0" rtlCol="0" anchor="ctr"/>
          <a:lstStyle/>
          <a:p>
            <a:pPr marL="0" indent="0" algn="ctr">
              <a:buNone/>
            </a:pPr>
            <a:r>
              <a:rPr lang="fr-FR" sz="950" b="1" dirty="0">
                <a:solidFill>
                  <a:srgbClr val="C9A84C"/>
                </a:solidFill>
                <a:latin typeface="Calibri" pitchFamily="34" charset="0"/>
                <a:ea typeface="Calibri" pitchFamily="34" charset="-122"/>
                <a:cs typeface="Calibri" pitchFamily="34" charset="-120"/>
              </a:rPr>
              <a:t>PyCryptodome + </a:t>
            </a:r>
            <a:r>
              <a:rPr lang="fr-FR" sz="950" b="1" dirty="0" err="1">
                <a:solidFill>
                  <a:srgbClr val="C9A84C"/>
                </a:solidFill>
                <a:latin typeface="Calibri" pitchFamily="34" charset="0"/>
                <a:ea typeface="Calibri" pitchFamily="34" charset="-122"/>
                <a:cs typeface="Calibri" pitchFamily="34" charset="-120"/>
              </a:rPr>
              <a:t>twofish</a:t>
            </a:r>
            <a:endParaRPr lang="en-US" sz="950" dirty="0"/>
          </a:p>
        </p:txBody>
      </p:sp>
      <p:sp>
        <p:nvSpPr>
          <p:cNvPr id="45" name="Text 38"/>
          <p:cNvSpPr/>
          <p:nvPr/>
        </p:nvSpPr>
        <p:spPr>
          <a:xfrm>
            <a:off x="7498080" y="3067970"/>
            <a:ext cx="1243584" cy="946911"/>
          </a:xfrm>
          <a:prstGeom prst="rect">
            <a:avLst/>
          </a:prstGeom>
          <a:noFill/>
          <a:ln/>
        </p:spPr>
        <p:txBody>
          <a:bodyPr wrap="square" lIns="0" tIns="0" rIns="0" bIns="0" rtlCol="0" anchor="t"/>
          <a:lstStyle/>
          <a:p>
            <a:pPr marL="0" indent="0" algn="ctr">
              <a:buNone/>
            </a:pPr>
            <a:r>
              <a:rPr lang="fr-FR" sz="800" dirty="0">
                <a:solidFill>
                  <a:srgbClr val="B8942A"/>
                </a:solidFill>
                <a:latin typeface="Calibri" pitchFamily="34" charset="0"/>
                <a:ea typeface="Calibri" pitchFamily="34" charset="-122"/>
                <a:cs typeface="Calibri" pitchFamily="34" charset="-120"/>
              </a:rPr>
              <a:t>PyCryptodome pour AES DES 3DES et ChaCha20</a:t>
            </a:r>
          </a:p>
          <a:p>
            <a:pPr marL="0" indent="0" algn="ctr">
              <a:buNone/>
            </a:pPr>
            <a:endParaRPr lang="fr-FR" sz="800" dirty="0">
              <a:solidFill>
                <a:srgbClr val="B8942A"/>
              </a:solidFill>
              <a:latin typeface="Calibri" pitchFamily="34" charset="0"/>
              <a:ea typeface="Calibri" pitchFamily="34" charset="-122"/>
              <a:cs typeface="Calibri" pitchFamily="34" charset="-120"/>
            </a:endParaRPr>
          </a:p>
          <a:p>
            <a:pPr marL="0" indent="0" algn="ctr">
              <a:buNone/>
            </a:pPr>
            <a:r>
              <a:rPr lang="fr-FR" sz="800" dirty="0" err="1">
                <a:solidFill>
                  <a:srgbClr val="B8942A"/>
                </a:solidFill>
                <a:latin typeface="Calibri" pitchFamily="34" charset="0"/>
                <a:ea typeface="Calibri" pitchFamily="34" charset="-122"/>
                <a:cs typeface="Calibri" pitchFamily="34" charset="-120"/>
              </a:rPr>
              <a:t>twofish</a:t>
            </a:r>
            <a:r>
              <a:rPr lang="fr-FR" sz="800" dirty="0">
                <a:solidFill>
                  <a:srgbClr val="B8942A"/>
                </a:solidFill>
                <a:latin typeface="Calibri" pitchFamily="34" charset="0"/>
                <a:ea typeface="Calibri" pitchFamily="34" charset="-122"/>
                <a:cs typeface="Calibri" pitchFamily="34" charset="-120"/>
              </a:rPr>
              <a:t> pour Twofish</a:t>
            </a:r>
          </a:p>
          <a:p>
            <a:pPr marL="0" indent="0" algn="ctr">
              <a:buNone/>
            </a:pPr>
            <a:endParaRPr lang="fr-FR" sz="800" dirty="0">
              <a:solidFill>
                <a:srgbClr val="B8942A"/>
              </a:solidFill>
              <a:latin typeface="Calibri" pitchFamily="34" charset="0"/>
              <a:ea typeface="Calibri" pitchFamily="34" charset="-122"/>
              <a:cs typeface="Calibri" pitchFamily="34" charset="-120"/>
            </a:endParaRPr>
          </a:p>
          <a:p>
            <a:pPr marL="0" indent="0" algn="ctr">
              <a:buNone/>
            </a:pPr>
            <a:r>
              <a:rPr lang="fr-FR" sz="800" dirty="0">
                <a:solidFill>
                  <a:srgbClr val="B8942A"/>
                </a:solidFill>
                <a:latin typeface="Calibri" pitchFamily="34" charset="0"/>
                <a:ea typeface="Calibri" pitchFamily="34" charset="-122"/>
                <a:cs typeface="Calibri" pitchFamily="34" charset="-120"/>
              </a:rPr>
              <a:t>Compatibles sur Windows x86 et Raspberry Pi ARM</a:t>
            </a:r>
          </a:p>
          <a:p>
            <a:pPr marL="0" indent="0" algn="ctr">
              <a:buNone/>
            </a:pPr>
            <a:endParaRPr lang="fr-FR" sz="800" dirty="0">
              <a:solidFill>
                <a:srgbClr val="B8942A"/>
              </a:solidFill>
              <a:latin typeface="Calibri" pitchFamily="34" charset="0"/>
              <a:ea typeface="Calibri" pitchFamily="34" charset="-122"/>
              <a:cs typeface="Calibri" pitchFamily="34" charset="-120"/>
            </a:endParaRPr>
          </a:p>
        </p:txBody>
      </p:sp>
      <p:sp>
        <p:nvSpPr>
          <p:cNvPr id="46" name="Text 39"/>
          <p:cNvSpPr/>
          <p:nvPr/>
        </p:nvSpPr>
        <p:spPr>
          <a:xfrm>
            <a:off x="347472" y="4773168"/>
            <a:ext cx="8449056"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48" name="Shape 8">
            <a:extLst>
              <a:ext uri="{FF2B5EF4-FFF2-40B4-BE49-F238E27FC236}">
                <a16:creationId xmlns:a16="http://schemas.microsoft.com/office/drawing/2014/main" id="{0DFEF41C-4E18-90B8-5A08-AE8E2297995A}"/>
              </a:ext>
            </a:extLst>
          </p:cNvPr>
          <p:cNvSpPr/>
          <p:nvPr/>
        </p:nvSpPr>
        <p:spPr>
          <a:xfrm>
            <a:off x="3474721" y="2432304"/>
            <a:ext cx="402335" cy="0"/>
          </a:xfrm>
          <a:prstGeom prst="line">
            <a:avLst/>
          </a:prstGeom>
          <a:noFill/>
          <a:ln w="19050">
            <a:solidFill>
              <a:srgbClr val="C9A84C"/>
            </a:solidFill>
            <a:prstDash val="solid"/>
            <a:tailEnd type="triangle"/>
          </a:ln>
        </p:spPr>
        <p:txBody>
          <a:bodyPr/>
          <a:lstStyle/>
          <a:p>
            <a:endParaRPr lang="en-CA"/>
          </a:p>
        </p:txBody>
      </p:sp>
      <p:sp>
        <p:nvSpPr>
          <p:cNvPr id="50" name="Shape 8">
            <a:extLst>
              <a:ext uri="{FF2B5EF4-FFF2-40B4-BE49-F238E27FC236}">
                <a16:creationId xmlns:a16="http://schemas.microsoft.com/office/drawing/2014/main" id="{46196757-C294-E533-06EC-0DC6466FDDB8}"/>
              </a:ext>
            </a:extLst>
          </p:cNvPr>
          <p:cNvSpPr/>
          <p:nvPr/>
        </p:nvSpPr>
        <p:spPr>
          <a:xfrm>
            <a:off x="5248656" y="2446528"/>
            <a:ext cx="402335" cy="0"/>
          </a:xfrm>
          <a:prstGeom prst="line">
            <a:avLst/>
          </a:prstGeom>
          <a:noFill/>
          <a:ln w="19050">
            <a:solidFill>
              <a:srgbClr val="C9A84C"/>
            </a:solidFill>
            <a:prstDash val="solid"/>
            <a:tailEnd type="triangle"/>
          </a:ln>
        </p:spPr>
        <p:txBody>
          <a:bodyPr/>
          <a:lstStyle/>
          <a:p>
            <a:endParaRPr lang="en-CA"/>
          </a:p>
        </p:txBody>
      </p:sp>
      <p:sp>
        <p:nvSpPr>
          <p:cNvPr id="52" name="Shape 8">
            <a:extLst>
              <a:ext uri="{FF2B5EF4-FFF2-40B4-BE49-F238E27FC236}">
                <a16:creationId xmlns:a16="http://schemas.microsoft.com/office/drawing/2014/main" id="{78C4A55D-12C3-564B-0FB1-6EF88D940D97}"/>
              </a:ext>
            </a:extLst>
          </p:cNvPr>
          <p:cNvSpPr/>
          <p:nvPr/>
        </p:nvSpPr>
        <p:spPr>
          <a:xfrm>
            <a:off x="7022593" y="2446528"/>
            <a:ext cx="402335" cy="0"/>
          </a:xfrm>
          <a:prstGeom prst="line">
            <a:avLst/>
          </a:prstGeom>
          <a:noFill/>
          <a:ln w="19050">
            <a:solidFill>
              <a:srgbClr val="C9A84C"/>
            </a:solidFill>
            <a:prstDash val="solid"/>
            <a:tailEnd type="triangle"/>
          </a:ln>
        </p:spPr>
        <p:txBody>
          <a:bodyPr/>
          <a:lstStyle/>
          <a:p>
            <a:endParaRPr lang="en-CA"/>
          </a:p>
        </p:txBody>
      </p:sp>
      <p:sp>
        <p:nvSpPr>
          <p:cNvPr id="54" name="TextBox 53">
            <a:extLst>
              <a:ext uri="{FF2B5EF4-FFF2-40B4-BE49-F238E27FC236}">
                <a16:creationId xmlns:a16="http://schemas.microsoft.com/office/drawing/2014/main" id="{DF9B7075-C898-7B6A-5EF6-F1EFFC8FA478}"/>
              </a:ext>
            </a:extLst>
          </p:cNvPr>
          <p:cNvSpPr txBox="1"/>
          <p:nvPr/>
        </p:nvSpPr>
        <p:spPr>
          <a:xfrm>
            <a:off x="347472" y="4398930"/>
            <a:ext cx="8449056" cy="246221"/>
          </a:xfrm>
          <a:prstGeom prst="rect">
            <a:avLst/>
          </a:prstGeom>
          <a:noFill/>
        </p:spPr>
        <p:txBody>
          <a:bodyPr wrap="square">
            <a:spAutoFit/>
          </a:bodyPr>
          <a:lstStyle/>
          <a:p>
            <a:pPr algn="ctr"/>
            <a:r>
              <a:rPr lang="fr-FR" sz="1000" i="1" dirty="0">
                <a:solidFill>
                  <a:schemeClr val="bg2">
                    <a:lumMod val="75000"/>
                  </a:schemeClr>
                </a:solidFill>
                <a:latin typeface="Calibri" pitchFamily="34" charset="0"/>
                <a:cs typeface="Calibri" pitchFamily="34" charset="-120"/>
              </a:rPr>
              <a:t>Un protocole identique sur les deux plateformes permet d attribuer les écarts observés au matériel avec une méthode de mesure constante et reproductible</a:t>
            </a:r>
            <a:endParaRPr lang="en-CA" sz="1000" i="1" dirty="0">
              <a:solidFill>
                <a:schemeClr val="bg2">
                  <a:lumMod val="75000"/>
                </a:schemeClr>
              </a:solidFill>
              <a:latin typeface="Calibri" pitchFamily="34" charset="0"/>
              <a:cs typeface="Calibri" pitchFamily="34" charset="-120"/>
            </a:endParaRPr>
          </a:p>
        </p:txBody>
      </p:sp>
      <p:sp>
        <p:nvSpPr>
          <p:cNvPr id="21" name="Text 14">
            <a:extLst>
              <a:ext uri="{FF2B5EF4-FFF2-40B4-BE49-F238E27FC236}">
                <a16:creationId xmlns:a16="http://schemas.microsoft.com/office/drawing/2014/main" id="{A6AE1174-632E-B4C1-79C5-389A608931B9}"/>
              </a:ext>
            </a:extLst>
          </p:cNvPr>
          <p:cNvSpPr/>
          <p:nvPr/>
        </p:nvSpPr>
        <p:spPr>
          <a:xfrm>
            <a:off x="4006367" y="3191925"/>
            <a:ext cx="1180419" cy="519209"/>
          </a:xfrm>
          <a:prstGeom prst="rect">
            <a:avLst/>
          </a:prstGeom>
          <a:noFill/>
          <a:ln/>
        </p:spPr>
        <p:txBody>
          <a:bodyPr wrap="square" lIns="0" tIns="0" rIns="0" bIns="0" rtlCol="0" anchor="t"/>
          <a:lstStyle/>
          <a:p>
            <a:pPr marL="0" indent="0" algn="ctr">
              <a:buNone/>
            </a:pPr>
            <a:r>
              <a:rPr lang="fr-FR" sz="800" dirty="0">
                <a:solidFill>
                  <a:srgbClr val="999999"/>
                </a:solidFill>
                <a:latin typeface="Calibri" pitchFamily="34" charset="0"/>
                <a:cs typeface="Calibri" pitchFamily="34" charset="-120"/>
              </a:rPr>
              <a:t>Application du mode choisi selon la primitive</a:t>
            </a:r>
            <a:endParaRPr lang="en-US" sz="800" dirty="0">
              <a:solidFill>
                <a:srgbClr val="999999"/>
              </a:solidFill>
              <a:latin typeface="Calibri" pitchFamily="34" charset="0"/>
              <a:cs typeface="Calibri" pitchFamily="34" charset="-120"/>
            </a:endParaRPr>
          </a:p>
        </p:txBody>
      </p:sp>
      <p:sp>
        <p:nvSpPr>
          <p:cNvPr id="30" name="Text 14">
            <a:extLst>
              <a:ext uri="{FF2B5EF4-FFF2-40B4-BE49-F238E27FC236}">
                <a16:creationId xmlns:a16="http://schemas.microsoft.com/office/drawing/2014/main" id="{E147530D-4654-7EB8-1280-8B2954ED4A25}"/>
              </a:ext>
            </a:extLst>
          </p:cNvPr>
          <p:cNvSpPr/>
          <p:nvPr/>
        </p:nvSpPr>
        <p:spPr>
          <a:xfrm>
            <a:off x="5724144" y="3191925"/>
            <a:ext cx="1243586" cy="454735"/>
          </a:xfrm>
          <a:prstGeom prst="rect">
            <a:avLst/>
          </a:prstGeom>
          <a:noFill/>
          <a:ln/>
        </p:spPr>
        <p:txBody>
          <a:bodyPr wrap="square" lIns="0" tIns="0" rIns="0" bIns="0" rtlCol="0" anchor="t"/>
          <a:lstStyle/>
          <a:p>
            <a:pPr algn="ctr"/>
            <a:r>
              <a:rPr lang="fr-FR" sz="800" dirty="0">
                <a:solidFill>
                  <a:srgbClr val="999999"/>
                </a:solidFill>
                <a:latin typeface="Calibri" pitchFamily="34" charset="0"/>
                <a:cs typeface="Calibri" pitchFamily="34" charset="-120"/>
              </a:rPr>
              <a:t>Implémentations validées par KAT et exposées via une interface uniforme</a:t>
            </a:r>
            <a:endParaRPr lang="en-US" sz="800" dirty="0">
              <a:solidFill>
                <a:srgbClr val="999999"/>
              </a:solidFill>
              <a:latin typeface="Calibri" pitchFamily="34" charset="0"/>
              <a:cs typeface="Calibri" pitchFamily="34" charset="-120"/>
            </a:endParaRPr>
          </a:p>
        </p:txBody>
      </p:sp>
      <p:sp>
        <p:nvSpPr>
          <p:cNvPr id="12" name="Text 6">
            <a:extLst>
              <a:ext uri="{FF2B5EF4-FFF2-40B4-BE49-F238E27FC236}">
                <a16:creationId xmlns:a16="http://schemas.microsoft.com/office/drawing/2014/main" id="{0583A130-257B-2AC6-3DD5-8D397A0BDCC3}"/>
              </a:ext>
            </a:extLst>
          </p:cNvPr>
          <p:cNvSpPr/>
          <p:nvPr/>
        </p:nvSpPr>
        <p:spPr>
          <a:xfrm>
            <a:off x="355661" y="2715115"/>
            <a:ext cx="1324929" cy="475488"/>
          </a:xfrm>
          <a:prstGeom prst="rect">
            <a:avLst/>
          </a:prstGeom>
          <a:noFill/>
          <a:ln/>
        </p:spPr>
        <p:txBody>
          <a:bodyPr wrap="square" lIns="0" tIns="0" rIns="0" bIns="0" rtlCol="0" anchor="t"/>
          <a:lstStyle/>
          <a:p>
            <a:pPr marL="0" indent="0" algn="ctr">
              <a:buNone/>
            </a:pPr>
            <a:r>
              <a:rPr lang="fr-FR" sz="800" dirty="0">
                <a:solidFill>
                  <a:schemeClr val="bg1"/>
                </a:solidFill>
                <a:latin typeface="Calibri" pitchFamily="34" charset="0"/>
                <a:ea typeface="Calibri" pitchFamily="34" charset="-122"/>
                <a:cs typeface="Calibri" pitchFamily="34" charset="-120"/>
              </a:rPr>
              <a:t>pilote la campagne et exporte les résultats</a:t>
            </a:r>
            <a:endParaRPr lang="en-US" sz="8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6BA8F-DB26-716D-FB7A-5F948E5B7BF6}"/>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B8A2E809-8C25-E6C5-2C3C-C51DED50D57A}"/>
              </a:ext>
            </a:extLst>
          </p:cNvPr>
          <p:cNvSpPr/>
          <p:nvPr/>
        </p:nvSpPr>
        <p:spPr>
          <a:xfrm>
            <a:off x="375059" y="1084722"/>
            <a:ext cx="8449056" cy="62074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2" name="Text 0">
            <a:extLst>
              <a:ext uri="{FF2B5EF4-FFF2-40B4-BE49-F238E27FC236}">
                <a16:creationId xmlns:a16="http://schemas.microsoft.com/office/drawing/2014/main" id="{E3098E61-BA8A-9C34-D194-4993285BCC51}"/>
              </a:ext>
            </a:extLst>
          </p:cNvPr>
          <p:cNvSpPr/>
          <p:nvPr/>
        </p:nvSpPr>
        <p:spPr>
          <a:xfrm>
            <a:off x="347472" y="164592"/>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01c  ·  </a:t>
            </a:r>
            <a:r>
              <a:rPr lang="fr-FR" sz="800" b="1" kern="0" spc="200" dirty="0">
                <a:solidFill>
                  <a:srgbClr val="C0C0C0"/>
                </a:solidFill>
                <a:latin typeface="Calibri" pitchFamily="34" charset="0"/>
                <a:ea typeface="Calibri" pitchFamily="34" charset="-122"/>
                <a:cs typeface="Calibri" pitchFamily="34" charset="-120"/>
              </a:rPr>
              <a:t>NATURE DU SYSTÈME ET OBJECTIFS</a:t>
            </a:r>
            <a:endParaRPr lang="en-US" sz="800" dirty="0"/>
          </a:p>
        </p:txBody>
      </p:sp>
      <p:sp>
        <p:nvSpPr>
          <p:cNvPr id="3" name="Text 1">
            <a:extLst>
              <a:ext uri="{FF2B5EF4-FFF2-40B4-BE49-F238E27FC236}">
                <a16:creationId xmlns:a16="http://schemas.microsoft.com/office/drawing/2014/main" id="{A86EE3F2-2B4D-F5DB-4BD3-310FBFF2F038}"/>
              </a:ext>
            </a:extLst>
          </p:cNvPr>
          <p:cNvSpPr/>
          <p:nvPr/>
        </p:nvSpPr>
        <p:spPr>
          <a:xfrm>
            <a:off x="347472" y="347472"/>
            <a:ext cx="5029200" cy="365760"/>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Périmètre expérimental </a:t>
            </a:r>
            <a:r>
              <a:rPr lang="en-US" sz="1600" b="1" dirty="0">
                <a:solidFill>
                  <a:srgbClr val="C9A84C"/>
                </a:solidFill>
                <a:latin typeface="Calibri" pitchFamily="34" charset="0"/>
                <a:cs typeface="Calibri" pitchFamily="34" charset="-120"/>
              </a:rPr>
              <a:t>mesuré</a:t>
            </a:r>
            <a:endParaRPr lang="en-US" sz="1600" dirty="0"/>
          </a:p>
        </p:txBody>
      </p:sp>
      <p:sp>
        <p:nvSpPr>
          <p:cNvPr id="14" name="Text 11">
            <a:extLst>
              <a:ext uri="{FF2B5EF4-FFF2-40B4-BE49-F238E27FC236}">
                <a16:creationId xmlns:a16="http://schemas.microsoft.com/office/drawing/2014/main" id="{94BD3CE6-074E-5CA1-5661-4F2A4B0E8648}"/>
              </a:ext>
            </a:extLst>
          </p:cNvPr>
          <p:cNvSpPr/>
          <p:nvPr/>
        </p:nvSpPr>
        <p:spPr>
          <a:xfrm>
            <a:off x="1515128" y="1268083"/>
            <a:ext cx="1298448" cy="219456"/>
          </a:xfrm>
          <a:prstGeom prst="rect">
            <a:avLst/>
          </a:prstGeom>
          <a:noFill/>
          <a:ln/>
        </p:spPr>
        <p:txBody>
          <a:bodyPr wrap="square" lIns="0" tIns="0" rIns="0" bIns="0" rtlCol="0" anchor="ctr"/>
          <a:lstStyle/>
          <a:p>
            <a:pPr marL="0" indent="0">
              <a:buNone/>
            </a:pPr>
            <a:r>
              <a:rPr lang="en-US" sz="950" b="1" kern="0" spc="150" dirty="0">
                <a:solidFill>
                  <a:srgbClr val="CFB260"/>
                </a:solidFill>
                <a:latin typeface="Calibri" pitchFamily="34" charset="0"/>
                <a:ea typeface="Calibri" pitchFamily="34" charset="-122"/>
                <a:cs typeface="Calibri" pitchFamily="34" charset="-120"/>
              </a:rPr>
              <a:t>ALGORITHMES</a:t>
            </a:r>
            <a:endParaRPr lang="en-US" sz="950" dirty="0">
              <a:solidFill>
                <a:srgbClr val="CFB260"/>
              </a:solidFill>
            </a:endParaRPr>
          </a:p>
        </p:txBody>
      </p:sp>
      <p:sp>
        <p:nvSpPr>
          <p:cNvPr id="17" name="Text 13">
            <a:extLst>
              <a:ext uri="{FF2B5EF4-FFF2-40B4-BE49-F238E27FC236}">
                <a16:creationId xmlns:a16="http://schemas.microsoft.com/office/drawing/2014/main" id="{7382835B-E60D-A659-F7D5-49AED0F86985}"/>
              </a:ext>
            </a:extLst>
          </p:cNvPr>
          <p:cNvSpPr/>
          <p:nvPr/>
        </p:nvSpPr>
        <p:spPr>
          <a:xfrm>
            <a:off x="3248770" y="1178053"/>
            <a:ext cx="2426300" cy="475488"/>
          </a:xfrm>
          <a:prstGeom prst="rect">
            <a:avLst/>
          </a:prstGeom>
          <a:noFill/>
          <a:ln/>
        </p:spPr>
        <p:txBody>
          <a:bodyPr wrap="square" lIns="0" tIns="0" rIns="0" bIns="0" rtlCol="0" anchor="ctr"/>
          <a:lstStyle/>
          <a:p>
            <a:r>
              <a:rPr lang="fr-FR" sz="950" b="1" dirty="0">
                <a:solidFill>
                  <a:srgbClr val="0A0A0A"/>
                </a:solidFill>
                <a:latin typeface="Calibri" pitchFamily="34" charset="0"/>
                <a:ea typeface="Calibri" pitchFamily="34" charset="-122"/>
                <a:cs typeface="Calibri" pitchFamily="34" charset="-120"/>
              </a:rPr>
              <a:t>AES · DES · 3DES · Twofish · ChaCha20</a:t>
            </a:r>
            <a:endParaRPr lang="en-US" sz="950" b="1" dirty="0">
              <a:solidFill>
                <a:srgbClr val="0A0A0A"/>
              </a:solidFill>
              <a:latin typeface="Calibri" pitchFamily="34" charset="0"/>
              <a:ea typeface="Calibri" pitchFamily="34" charset="-122"/>
              <a:cs typeface="Calibri" pitchFamily="34" charset="-120"/>
            </a:endParaRPr>
          </a:p>
        </p:txBody>
      </p:sp>
      <p:sp>
        <p:nvSpPr>
          <p:cNvPr id="18" name="Text 14">
            <a:extLst>
              <a:ext uri="{FF2B5EF4-FFF2-40B4-BE49-F238E27FC236}">
                <a16:creationId xmlns:a16="http://schemas.microsoft.com/office/drawing/2014/main" id="{A085EB40-F6A0-F434-550D-2A38FB11F65E}"/>
              </a:ext>
            </a:extLst>
          </p:cNvPr>
          <p:cNvSpPr/>
          <p:nvPr/>
        </p:nvSpPr>
        <p:spPr>
          <a:xfrm>
            <a:off x="6093623" y="1264362"/>
            <a:ext cx="2471732" cy="186928"/>
          </a:xfrm>
          <a:prstGeom prst="rect">
            <a:avLst/>
          </a:prstGeom>
          <a:noFill/>
          <a:ln/>
        </p:spPr>
        <p:txBody>
          <a:bodyPr wrap="square" lIns="0" tIns="0" rIns="0" bIns="0" rtlCol="0" anchor="t"/>
          <a:lstStyle/>
          <a:p>
            <a:pPr marL="0" indent="0">
              <a:buNone/>
            </a:pPr>
            <a:r>
              <a:rPr lang="fr-FR" sz="950" dirty="0">
                <a:solidFill>
                  <a:srgbClr val="999999"/>
                </a:solidFill>
                <a:latin typeface="Calibri" pitchFamily="34" charset="0"/>
                <a:ea typeface="Calibri" pitchFamily="34" charset="-122"/>
                <a:cs typeface="Calibri" pitchFamily="34" charset="-120"/>
              </a:rPr>
              <a:t>5 implémentations symétriques comparées dans le même cadre expérimental.</a:t>
            </a:r>
            <a:endParaRPr lang="en-US" sz="950" dirty="0"/>
          </a:p>
        </p:txBody>
      </p:sp>
      <p:sp>
        <p:nvSpPr>
          <p:cNvPr id="46" name="Text 39">
            <a:extLst>
              <a:ext uri="{FF2B5EF4-FFF2-40B4-BE49-F238E27FC236}">
                <a16:creationId xmlns:a16="http://schemas.microsoft.com/office/drawing/2014/main" id="{C197B18E-FCE0-CA23-9640-F8E41B29905D}"/>
              </a:ext>
            </a:extLst>
          </p:cNvPr>
          <p:cNvSpPr/>
          <p:nvPr/>
        </p:nvSpPr>
        <p:spPr>
          <a:xfrm>
            <a:off x="347472" y="4773168"/>
            <a:ext cx="8449056"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54" name="TextBox 53">
            <a:extLst>
              <a:ext uri="{FF2B5EF4-FFF2-40B4-BE49-F238E27FC236}">
                <a16:creationId xmlns:a16="http://schemas.microsoft.com/office/drawing/2014/main" id="{2D636E79-9073-FB20-F081-B8370E962E92}"/>
              </a:ext>
            </a:extLst>
          </p:cNvPr>
          <p:cNvSpPr txBox="1"/>
          <p:nvPr/>
        </p:nvSpPr>
        <p:spPr>
          <a:xfrm>
            <a:off x="550069" y="4122466"/>
            <a:ext cx="8065294" cy="246221"/>
          </a:xfrm>
          <a:prstGeom prst="rect">
            <a:avLst/>
          </a:prstGeom>
          <a:noFill/>
        </p:spPr>
        <p:txBody>
          <a:bodyPr wrap="square">
            <a:spAutoFit/>
          </a:bodyPr>
          <a:lstStyle/>
          <a:p>
            <a:pPr algn="ctr"/>
            <a:r>
              <a:rPr lang="fr-FR" sz="1000" i="1" dirty="0">
                <a:solidFill>
                  <a:schemeClr val="bg2">
                    <a:lumMod val="75000"/>
                  </a:schemeClr>
                </a:solidFill>
                <a:latin typeface="Calibri" pitchFamily="34" charset="0"/>
                <a:cs typeface="Calibri" pitchFamily="34" charset="-120"/>
              </a:rPr>
              <a:t>Le périmètre retenu couvre les objets comparés, les plateformes testées, les métriques observées et les sorties nécessaires à une analyse rigoureuse</a:t>
            </a:r>
            <a:r>
              <a:rPr lang="en-CA" sz="1000" i="1" dirty="0">
                <a:solidFill>
                  <a:schemeClr val="bg2">
                    <a:lumMod val="75000"/>
                  </a:schemeClr>
                </a:solidFill>
                <a:latin typeface="Calibri" pitchFamily="34" charset="0"/>
                <a:cs typeface="Calibri" pitchFamily="34" charset="-120"/>
              </a:rPr>
              <a:t>.</a:t>
            </a:r>
          </a:p>
        </p:txBody>
      </p:sp>
      <p:sp>
        <p:nvSpPr>
          <p:cNvPr id="60" name="Shape 7">
            <a:extLst>
              <a:ext uri="{FF2B5EF4-FFF2-40B4-BE49-F238E27FC236}">
                <a16:creationId xmlns:a16="http://schemas.microsoft.com/office/drawing/2014/main" id="{825ABFE9-18A2-F635-0B17-32B70ADFFC31}"/>
              </a:ext>
            </a:extLst>
          </p:cNvPr>
          <p:cNvSpPr/>
          <p:nvPr/>
        </p:nvSpPr>
        <p:spPr>
          <a:xfrm>
            <a:off x="3011519" y="1178053"/>
            <a:ext cx="0" cy="476394"/>
          </a:xfrm>
          <a:prstGeom prst="line">
            <a:avLst/>
          </a:prstGeom>
          <a:noFill/>
          <a:ln w="10160">
            <a:solidFill>
              <a:srgbClr val="E8E8E8"/>
            </a:solidFill>
            <a:prstDash val="solid"/>
          </a:ln>
        </p:spPr>
        <p:txBody>
          <a:bodyPr/>
          <a:lstStyle/>
          <a:p>
            <a:endParaRPr lang="en-CA"/>
          </a:p>
        </p:txBody>
      </p:sp>
      <p:sp>
        <p:nvSpPr>
          <p:cNvPr id="62" name="Shape 7">
            <a:extLst>
              <a:ext uri="{FF2B5EF4-FFF2-40B4-BE49-F238E27FC236}">
                <a16:creationId xmlns:a16="http://schemas.microsoft.com/office/drawing/2014/main" id="{6E1A1F8E-ECC4-9D3E-D359-66B9687D5BBB}"/>
              </a:ext>
            </a:extLst>
          </p:cNvPr>
          <p:cNvSpPr/>
          <p:nvPr/>
        </p:nvSpPr>
        <p:spPr>
          <a:xfrm>
            <a:off x="5789009" y="1178053"/>
            <a:ext cx="0" cy="476394"/>
          </a:xfrm>
          <a:prstGeom prst="line">
            <a:avLst/>
          </a:prstGeom>
          <a:noFill/>
          <a:ln w="10160">
            <a:solidFill>
              <a:srgbClr val="E8E8E8"/>
            </a:solidFill>
            <a:prstDash val="solid"/>
          </a:ln>
        </p:spPr>
        <p:txBody>
          <a:bodyPr/>
          <a:lstStyle/>
          <a:p>
            <a:endParaRPr lang="en-CA"/>
          </a:p>
        </p:txBody>
      </p:sp>
      <p:sp>
        <p:nvSpPr>
          <p:cNvPr id="64" name="Shape 12">
            <a:extLst>
              <a:ext uri="{FF2B5EF4-FFF2-40B4-BE49-F238E27FC236}">
                <a16:creationId xmlns:a16="http://schemas.microsoft.com/office/drawing/2014/main" id="{C87A71DE-CFB8-0EEB-DED9-0832EB17FF89}"/>
              </a:ext>
            </a:extLst>
          </p:cNvPr>
          <p:cNvSpPr/>
          <p:nvPr/>
        </p:nvSpPr>
        <p:spPr>
          <a:xfrm>
            <a:off x="375059" y="1825371"/>
            <a:ext cx="8449056" cy="62074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66" name="Text 11">
            <a:extLst>
              <a:ext uri="{FF2B5EF4-FFF2-40B4-BE49-F238E27FC236}">
                <a16:creationId xmlns:a16="http://schemas.microsoft.com/office/drawing/2014/main" id="{5C9D6C19-E3FC-E77C-4B92-6E7D80846DB0}"/>
              </a:ext>
            </a:extLst>
          </p:cNvPr>
          <p:cNvSpPr/>
          <p:nvPr/>
        </p:nvSpPr>
        <p:spPr>
          <a:xfrm>
            <a:off x="1515128" y="2046718"/>
            <a:ext cx="1429240" cy="219456"/>
          </a:xfrm>
          <a:prstGeom prst="rect">
            <a:avLst/>
          </a:prstGeom>
          <a:noFill/>
          <a:ln/>
        </p:spPr>
        <p:txBody>
          <a:bodyPr wrap="square" lIns="0" tIns="0" rIns="0" bIns="0" rtlCol="0" anchor="ctr"/>
          <a:lstStyle/>
          <a:p>
            <a:pPr marL="0" indent="0">
              <a:buNone/>
            </a:pPr>
            <a:r>
              <a:rPr lang="en-US" sz="950" b="1" kern="0" spc="150" dirty="0">
                <a:solidFill>
                  <a:srgbClr val="CFB260"/>
                </a:solidFill>
                <a:latin typeface="Calibri" pitchFamily="34" charset="0"/>
                <a:ea typeface="Calibri" pitchFamily="34" charset="-122"/>
                <a:cs typeface="Calibri" pitchFamily="34" charset="-120"/>
              </a:rPr>
              <a:t>PLATEFORMES</a:t>
            </a:r>
            <a:endParaRPr lang="en-US" sz="950" dirty="0">
              <a:solidFill>
                <a:srgbClr val="CFB260"/>
              </a:solidFill>
            </a:endParaRPr>
          </a:p>
        </p:txBody>
      </p:sp>
      <p:sp>
        <p:nvSpPr>
          <p:cNvPr id="68" name="Text 13">
            <a:extLst>
              <a:ext uri="{FF2B5EF4-FFF2-40B4-BE49-F238E27FC236}">
                <a16:creationId xmlns:a16="http://schemas.microsoft.com/office/drawing/2014/main" id="{E7F75D4E-DE4D-5B96-858A-A529E6071B73}"/>
              </a:ext>
            </a:extLst>
          </p:cNvPr>
          <p:cNvSpPr/>
          <p:nvPr/>
        </p:nvSpPr>
        <p:spPr>
          <a:xfrm>
            <a:off x="3248770" y="1918702"/>
            <a:ext cx="2332058" cy="475488"/>
          </a:xfrm>
          <a:prstGeom prst="rect">
            <a:avLst/>
          </a:prstGeom>
          <a:noFill/>
          <a:ln/>
        </p:spPr>
        <p:txBody>
          <a:bodyPr wrap="square" lIns="0" tIns="0" rIns="0" bIns="0" rtlCol="0" anchor="ctr"/>
          <a:lstStyle/>
          <a:p>
            <a:r>
              <a:rPr lang="en-CA" sz="950" b="1" dirty="0">
                <a:solidFill>
                  <a:srgbClr val="0A0A0A"/>
                </a:solidFill>
                <a:latin typeface="Calibri" pitchFamily="34" charset="0"/>
                <a:ea typeface="Calibri" pitchFamily="34" charset="-122"/>
                <a:cs typeface="Calibri" pitchFamily="34" charset="-120"/>
              </a:rPr>
              <a:t>x86 Windows · ARM Raspberry Pi</a:t>
            </a:r>
            <a:endParaRPr lang="en-US" sz="950" b="1" dirty="0">
              <a:solidFill>
                <a:srgbClr val="0A0A0A"/>
              </a:solidFill>
              <a:latin typeface="Calibri" pitchFamily="34" charset="0"/>
              <a:ea typeface="Calibri" pitchFamily="34" charset="-122"/>
              <a:cs typeface="Calibri" pitchFamily="34" charset="-120"/>
            </a:endParaRPr>
          </a:p>
        </p:txBody>
      </p:sp>
      <p:sp>
        <p:nvSpPr>
          <p:cNvPr id="70" name="Text 14">
            <a:extLst>
              <a:ext uri="{FF2B5EF4-FFF2-40B4-BE49-F238E27FC236}">
                <a16:creationId xmlns:a16="http://schemas.microsoft.com/office/drawing/2014/main" id="{C8D2849A-B3A4-CB77-C00D-83D79F6C0D4F}"/>
              </a:ext>
            </a:extLst>
          </p:cNvPr>
          <p:cNvSpPr/>
          <p:nvPr/>
        </p:nvSpPr>
        <p:spPr>
          <a:xfrm>
            <a:off x="6093622" y="2005011"/>
            <a:ext cx="2471733" cy="332184"/>
          </a:xfrm>
          <a:prstGeom prst="rect">
            <a:avLst/>
          </a:prstGeom>
          <a:noFill/>
          <a:ln/>
        </p:spPr>
        <p:txBody>
          <a:bodyPr wrap="square" lIns="0" tIns="0" rIns="0" bIns="0" rtlCol="0" anchor="t"/>
          <a:lstStyle/>
          <a:p>
            <a:pPr marL="0" indent="0">
              <a:buNone/>
            </a:pPr>
            <a:r>
              <a:rPr lang="fr-FR" sz="950" dirty="0">
                <a:solidFill>
                  <a:srgbClr val="999999"/>
                </a:solidFill>
                <a:latin typeface="Calibri" pitchFamily="34" charset="0"/>
                <a:ea typeface="Calibri" pitchFamily="34" charset="-122"/>
                <a:cs typeface="Calibri" pitchFamily="34" charset="-120"/>
              </a:rPr>
              <a:t>Même protocole rejoué sur deux environnements matériels réels.</a:t>
            </a:r>
            <a:endParaRPr lang="en-US" sz="950" dirty="0"/>
          </a:p>
        </p:txBody>
      </p:sp>
      <p:sp>
        <p:nvSpPr>
          <p:cNvPr id="72" name="Shape 7">
            <a:extLst>
              <a:ext uri="{FF2B5EF4-FFF2-40B4-BE49-F238E27FC236}">
                <a16:creationId xmlns:a16="http://schemas.microsoft.com/office/drawing/2014/main" id="{6C41611C-938A-7D67-F0F3-B2C5701B7A1B}"/>
              </a:ext>
            </a:extLst>
          </p:cNvPr>
          <p:cNvSpPr/>
          <p:nvPr/>
        </p:nvSpPr>
        <p:spPr>
          <a:xfrm>
            <a:off x="3011519" y="1918702"/>
            <a:ext cx="0" cy="476394"/>
          </a:xfrm>
          <a:prstGeom prst="line">
            <a:avLst/>
          </a:prstGeom>
          <a:noFill/>
          <a:ln w="10160">
            <a:solidFill>
              <a:srgbClr val="E8E8E8"/>
            </a:solidFill>
            <a:prstDash val="solid"/>
          </a:ln>
        </p:spPr>
        <p:txBody>
          <a:bodyPr/>
          <a:lstStyle/>
          <a:p>
            <a:endParaRPr lang="en-CA"/>
          </a:p>
        </p:txBody>
      </p:sp>
      <p:sp>
        <p:nvSpPr>
          <p:cNvPr id="74" name="Shape 7">
            <a:extLst>
              <a:ext uri="{FF2B5EF4-FFF2-40B4-BE49-F238E27FC236}">
                <a16:creationId xmlns:a16="http://schemas.microsoft.com/office/drawing/2014/main" id="{E1A013F6-156F-6C64-6557-7E25B4219C7E}"/>
              </a:ext>
            </a:extLst>
          </p:cNvPr>
          <p:cNvSpPr/>
          <p:nvPr/>
        </p:nvSpPr>
        <p:spPr>
          <a:xfrm>
            <a:off x="5789009" y="1918702"/>
            <a:ext cx="0" cy="476394"/>
          </a:xfrm>
          <a:prstGeom prst="line">
            <a:avLst/>
          </a:prstGeom>
          <a:noFill/>
          <a:ln w="10160">
            <a:solidFill>
              <a:srgbClr val="E8E8E8"/>
            </a:solidFill>
            <a:prstDash val="solid"/>
          </a:ln>
        </p:spPr>
        <p:txBody>
          <a:bodyPr/>
          <a:lstStyle/>
          <a:p>
            <a:endParaRPr lang="en-CA"/>
          </a:p>
        </p:txBody>
      </p:sp>
      <p:sp>
        <p:nvSpPr>
          <p:cNvPr id="76" name="Shape 12">
            <a:extLst>
              <a:ext uri="{FF2B5EF4-FFF2-40B4-BE49-F238E27FC236}">
                <a16:creationId xmlns:a16="http://schemas.microsoft.com/office/drawing/2014/main" id="{B6E083B8-5E48-7E0B-E043-F5CB4038E328}"/>
              </a:ext>
            </a:extLst>
          </p:cNvPr>
          <p:cNvSpPr/>
          <p:nvPr/>
        </p:nvSpPr>
        <p:spPr>
          <a:xfrm>
            <a:off x="375059" y="2539446"/>
            <a:ext cx="8449056" cy="62074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78" name="Text 11">
            <a:extLst>
              <a:ext uri="{FF2B5EF4-FFF2-40B4-BE49-F238E27FC236}">
                <a16:creationId xmlns:a16="http://schemas.microsoft.com/office/drawing/2014/main" id="{F2868603-BB14-EE1A-C3B8-B805FC5DA4A3}"/>
              </a:ext>
            </a:extLst>
          </p:cNvPr>
          <p:cNvSpPr/>
          <p:nvPr/>
        </p:nvSpPr>
        <p:spPr>
          <a:xfrm>
            <a:off x="1515128" y="2760793"/>
            <a:ext cx="1429240" cy="219456"/>
          </a:xfrm>
          <a:prstGeom prst="rect">
            <a:avLst/>
          </a:prstGeom>
          <a:noFill/>
          <a:ln/>
        </p:spPr>
        <p:txBody>
          <a:bodyPr wrap="square" lIns="0" tIns="0" rIns="0" bIns="0" rtlCol="0" anchor="ctr"/>
          <a:lstStyle/>
          <a:p>
            <a:pPr marL="0" indent="0">
              <a:buNone/>
            </a:pPr>
            <a:r>
              <a:rPr lang="en-US" sz="950" b="1" kern="0" spc="150" dirty="0">
                <a:solidFill>
                  <a:srgbClr val="CFB260"/>
                </a:solidFill>
                <a:latin typeface="Calibri" pitchFamily="34" charset="0"/>
                <a:ea typeface="Calibri" pitchFamily="34" charset="-122"/>
                <a:cs typeface="Calibri" pitchFamily="34" charset="-120"/>
              </a:rPr>
              <a:t>MÉTRIQUES</a:t>
            </a:r>
            <a:endParaRPr lang="en-US" sz="950" dirty="0">
              <a:solidFill>
                <a:srgbClr val="CFB260"/>
              </a:solidFill>
            </a:endParaRPr>
          </a:p>
        </p:txBody>
      </p:sp>
      <p:sp>
        <p:nvSpPr>
          <p:cNvPr id="80" name="Text 13">
            <a:extLst>
              <a:ext uri="{FF2B5EF4-FFF2-40B4-BE49-F238E27FC236}">
                <a16:creationId xmlns:a16="http://schemas.microsoft.com/office/drawing/2014/main" id="{F4D2D97A-6CA3-40C5-5DE2-6D6A5BAA3255}"/>
              </a:ext>
            </a:extLst>
          </p:cNvPr>
          <p:cNvSpPr/>
          <p:nvPr/>
        </p:nvSpPr>
        <p:spPr>
          <a:xfrm>
            <a:off x="3248770" y="2633769"/>
            <a:ext cx="2332058" cy="475488"/>
          </a:xfrm>
          <a:prstGeom prst="rect">
            <a:avLst/>
          </a:prstGeom>
          <a:noFill/>
          <a:ln/>
        </p:spPr>
        <p:txBody>
          <a:bodyPr wrap="square" lIns="0" tIns="0" rIns="0" bIns="0" rtlCol="0" anchor="ctr"/>
          <a:lstStyle/>
          <a:p>
            <a:r>
              <a:rPr lang="fr-FR" sz="950" b="1" dirty="0">
                <a:solidFill>
                  <a:srgbClr val="0A0A0A"/>
                </a:solidFill>
                <a:latin typeface="Calibri" pitchFamily="34" charset="0"/>
                <a:ea typeface="Calibri" pitchFamily="34" charset="-122"/>
                <a:cs typeface="Calibri" pitchFamily="34" charset="-120"/>
              </a:rPr>
              <a:t>Débit </a:t>
            </a:r>
            <a:r>
              <a:rPr lang="en-CA" sz="950" b="1" dirty="0">
                <a:solidFill>
                  <a:srgbClr val="0A0A0A"/>
                </a:solidFill>
                <a:latin typeface="Calibri" pitchFamily="34" charset="0"/>
                <a:ea typeface="Calibri" pitchFamily="34" charset="-122"/>
                <a:cs typeface="Calibri" pitchFamily="34" charset="-120"/>
              </a:rPr>
              <a:t> </a:t>
            </a:r>
            <a:r>
              <a:rPr lang="fr-FR" sz="950" b="1" dirty="0">
                <a:solidFill>
                  <a:srgbClr val="0A0A0A"/>
                </a:solidFill>
                <a:latin typeface="Calibri" pitchFamily="34" charset="0"/>
                <a:ea typeface="Calibri" pitchFamily="34" charset="-122"/>
                <a:cs typeface="Calibri" pitchFamily="34" charset="-120"/>
              </a:rPr>
              <a:t>·  Avalanche</a:t>
            </a:r>
            <a:r>
              <a:rPr lang="en-CA" sz="950" b="1" dirty="0">
                <a:solidFill>
                  <a:srgbClr val="0A0A0A"/>
                </a:solidFill>
                <a:latin typeface="Calibri" pitchFamily="34" charset="0"/>
                <a:ea typeface="Calibri" pitchFamily="34" charset="-122"/>
                <a:cs typeface="Calibri" pitchFamily="34" charset="-120"/>
              </a:rPr>
              <a:t> </a:t>
            </a:r>
            <a:r>
              <a:rPr lang="fr-FR" sz="950" b="1" dirty="0">
                <a:solidFill>
                  <a:srgbClr val="0A0A0A"/>
                </a:solidFill>
                <a:latin typeface="Calibri" pitchFamily="34" charset="0"/>
                <a:ea typeface="Calibri" pitchFamily="34" charset="-122"/>
                <a:cs typeface="Calibri" pitchFamily="34" charset="-120"/>
              </a:rPr>
              <a:t>·  IC95</a:t>
            </a:r>
            <a:endParaRPr lang="en-US" sz="950" b="1" dirty="0">
              <a:solidFill>
                <a:srgbClr val="0A0A0A"/>
              </a:solidFill>
              <a:latin typeface="Calibri" pitchFamily="34" charset="0"/>
              <a:ea typeface="Calibri" pitchFamily="34" charset="-122"/>
              <a:cs typeface="Calibri" pitchFamily="34" charset="-120"/>
            </a:endParaRPr>
          </a:p>
        </p:txBody>
      </p:sp>
      <p:sp>
        <p:nvSpPr>
          <p:cNvPr id="82" name="Text 14">
            <a:extLst>
              <a:ext uri="{FF2B5EF4-FFF2-40B4-BE49-F238E27FC236}">
                <a16:creationId xmlns:a16="http://schemas.microsoft.com/office/drawing/2014/main" id="{652C0FCD-EDC1-8070-308F-D162EC435D24}"/>
              </a:ext>
            </a:extLst>
          </p:cNvPr>
          <p:cNvSpPr/>
          <p:nvPr/>
        </p:nvSpPr>
        <p:spPr>
          <a:xfrm>
            <a:off x="6093623" y="2719085"/>
            <a:ext cx="2471732" cy="312229"/>
          </a:xfrm>
          <a:prstGeom prst="rect">
            <a:avLst/>
          </a:prstGeom>
          <a:noFill/>
          <a:ln/>
        </p:spPr>
        <p:txBody>
          <a:bodyPr wrap="square" lIns="0" tIns="0" rIns="0" bIns="0" rtlCol="0" anchor="t"/>
          <a:lstStyle/>
          <a:p>
            <a:pPr marL="0" indent="0">
              <a:buNone/>
            </a:pPr>
            <a:r>
              <a:rPr lang="fr-FR" sz="950" dirty="0">
                <a:solidFill>
                  <a:srgbClr val="999999"/>
                </a:solidFill>
                <a:latin typeface="Calibri" pitchFamily="34" charset="0"/>
                <a:ea typeface="Calibri" pitchFamily="34" charset="-122"/>
                <a:cs typeface="Calibri" pitchFamily="34" charset="-120"/>
              </a:rPr>
              <a:t>Performance, diffusion cryptographique et stabilité statistique.</a:t>
            </a:r>
            <a:endParaRPr lang="en-US" sz="950" dirty="0"/>
          </a:p>
        </p:txBody>
      </p:sp>
      <p:sp>
        <p:nvSpPr>
          <p:cNvPr id="84" name="Shape 7">
            <a:extLst>
              <a:ext uri="{FF2B5EF4-FFF2-40B4-BE49-F238E27FC236}">
                <a16:creationId xmlns:a16="http://schemas.microsoft.com/office/drawing/2014/main" id="{A8F67592-252E-1A4D-6189-F541EB74D2B3}"/>
              </a:ext>
            </a:extLst>
          </p:cNvPr>
          <p:cNvSpPr/>
          <p:nvPr/>
        </p:nvSpPr>
        <p:spPr>
          <a:xfrm>
            <a:off x="3011519" y="2632777"/>
            <a:ext cx="0" cy="476394"/>
          </a:xfrm>
          <a:prstGeom prst="line">
            <a:avLst/>
          </a:prstGeom>
          <a:noFill/>
          <a:ln w="10160">
            <a:solidFill>
              <a:srgbClr val="E8E8E8"/>
            </a:solidFill>
            <a:prstDash val="solid"/>
          </a:ln>
        </p:spPr>
        <p:txBody>
          <a:bodyPr/>
          <a:lstStyle/>
          <a:p>
            <a:endParaRPr lang="en-CA"/>
          </a:p>
        </p:txBody>
      </p:sp>
      <p:sp>
        <p:nvSpPr>
          <p:cNvPr id="86" name="Shape 7">
            <a:extLst>
              <a:ext uri="{FF2B5EF4-FFF2-40B4-BE49-F238E27FC236}">
                <a16:creationId xmlns:a16="http://schemas.microsoft.com/office/drawing/2014/main" id="{9E3CE052-8207-3703-93B7-ECDF95B1982C}"/>
              </a:ext>
            </a:extLst>
          </p:cNvPr>
          <p:cNvSpPr/>
          <p:nvPr/>
        </p:nvSpPr>
        <p:spPr>
          <a:xfrm>
            <a:off x="5789009" y="2632777"/>
            <a:ext cx="0" cy="476394"/>
          </a:xfrm>
          <a:prstGeom prst="line">
            <a:avLst/>
          </a:prstGeom>
          <a:noFill/>
          <a:ln w="10160">
            <a:solidFill>
              <a:srgbClr val="E8E8E8"/>
            </a:solidFill>
            <a:prstDash val="solid"/>
          </a:ln>
        </p:spPr>
        <p:txBody>
          <a:bodyPr/>
          <a:lstStyle/>
          <a:p>
            <a:endParaRPr lang="en-CA"/>
          </a:p>
        </p:txBody>
      </p:sp>
      <p:sp>
        <p:nvSpPr>
          <p:cNvPr id="88" name="Shape 12">
            <a:extLst>
              <a:ext uri="{FF2B5EF4-FFF2-40B4-BE49-F238E27FC236}">
                <a16:creationId xmlns:a16="http://schemas.microsoft.com/office/drawing/2014/main" id="{CDDC1DEC-C2AC-E51B-FDC7-002601B26AAB}"/>
              </a:ext>
            </a:extLst>
          </p:cNvPr>
          <p:cNvSpPr/>
          <p:nvPr/>
        </p:nvSpPr>
        <p:spPr>
          <a:xfrm>
            <a:off x="375059" y="3266519"/>
            <a:ext cx="8449056" cy="62074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90" name="Text 11">
            <a:extLst>
              <a:ext uri="{FF2B5EF4-FFF2-40B4-BE49-F238E27FC236}">
                <a16:creationId xmlns:a16="http://schemas.microsoft.com/office/drawing/2014/main" id="{81E59E78-0934-6FF5-9B0D-0F32EA25CB42}"/>
              </a:ext>
            </a:extLst>
          </p:cNvPr>
          <p:cNvSpPr/>
          <p:nvPr/>
        </p:nvSpPr>
        <p:spPr>
          <a:xfrm>
            <a:off x="1515128" y="3487866"/>
            <a:ext cx="1429240" cy="219456"/>
          </a:xfrm>
          <a:prstGeom prst="rect">
            <a:avLst/>
          </a:prstGeom>
          <a:noFill/>
          <a:ln/>
        </p:spPr>
        <p:txBody>
          <a:bodyPr wrap="square" lIns="0" tIns="0" rIns="0" bIns="0" rtlCol="0" anchor="ctr"/>
          <a:lstStyle/>
          <a:p>
            <a:pPr marL="0" indent="0">
              <a:buNone/>
            </a:pPr>
            <a:r>
              <a:rPr lang="en-US" sz="950" b="1" kern="0" spc="150" dirty="0">
                <a:solidFill>
                  <a:srgbClr val="CFB260"/>
                </a:solidFill>
                <a:latin typeface="Calibri" pitchFamily="34" charset="0"/>
                <a:ea typeface="Calibri" pitchFamily="34" charset="-122"/>
                <a:cs typeface="Calibri" pitchFamily="34" charset="-120"/>
              </a:rPr>
              <a:t>SORTIES</a:t>
            </a:r>
            <a:endParaRPr lang="en-US" sz="950" dirty="0">
              <a:solidFill>
                <a:srgbClr val="CFB260"/>
              </a:solidFill>
            </a:endParaRPr>
          </a:p>
        </p:txBody>
      </p:sp>
      <p:sp>
        <p:nvSpPr>
          <p:cNvPr id="92" name="Text 13">
            <a:extLst>
              <a:ext uri="{FF2B5EF4-FFF2-40B4-BE49-F238E27FC236}">
                <a16:creationId xmlns:a16="http://schemas.microsoft.com/office/drawing/2014/main" id="{64C61CF5-3315-87BC-76D8-0B5DC02A22CD}"/>
              </a:ext>
            </a:extLst>
          </p:cNvPr>
          <p:cNvSpPr/>
          <p:nvPr/>
        </p:nvSpPr>
        <p:spPr>
          <a:xfrm>
            <a:off x="3248770" y="3359850"/>
            <a:ext cx="2332058" cy="475488"/>
          </a:xfrm>
          <a:prstGeom prst="rect">
            <a:avLst/>
          </a:prstGeom>
          <a:noFill/>
          <a:ln/>
        </p:spPr>
        <p:txBody>
          <a:bodyPr wrap="square" lIns="0" tIns="0" rIns="0" bIns="0" rtlCol="0" anchor="ctr"/>
          <a:lstStyle/>
          <a:p>
            <a:r>
              <a:rPr lang="fr-FR" sz="950" b="1" dirty="0">
                <a:solidFill>
                  <a:srgbClr val="0A0A0A"/>
                </a:solidFill>
                <a:latin typeface="Calibri" pitchFamily="34" charset="0"/>
                <a:ea typeface="Calibri" pitchFamily="34" charset="-122"/>
                <a:cs typeface="Calibri" pitchFamily="34" charset="-120"/>
              </a:rPr>
              <a:t>CSV de résultats · Graphiques d’analyse</a:t>
            </a:r>
            <a:endParaRPr lang="en-US" sz="950" b="1" dirty="0">
              <a:solidFill>
                <a:srgbClr val="0A0A0A"/>
              </a:solidFill>
              <a:latin typeface="Calibri" pitchFamily="34" charset="0"/>
              <a:ea typeface="Calibri" pitchFamily="34" charset="-122"/>
              <a:cs typeface="Calibri" pitchFamily="34" charset="-120"/>
            </a:endParaRPr>
          </a:p>
        </p:txBody>
      </p:sp>
      <p:sp>
        <p:nvSpPr>
          <p:cNvPr id="94" name="Text 14">
            <a:extLst>
              <a:ext uri="{FF2B5EF4-FFF2-40B4-BE49-F238E27FC236}">
                <a16:creationId xmlns:a16="http://schemas.microsoft.com/office/drawing/2014/main" id="{C396D53F-C250-F265-C592-1FE657BFFF51}"/>
              </a:ext>
            </a:extLst>
          </p:cNvPr>
          <p:cNvSpPr/>
          <p:nvPr/>
        </p:nvSpPr>
        <p:spPr>
          <a:xfrm>
            <a:off x="6093622" y="3446159"/>
            <a:ext cx="2471733" cy="186928"/>
          </a:xfrm>
          <a:prstGeom prst="rect">
            <a:avLst/>
          </a:prstGeom>
          <a:noFill/>
          <a:ln/>
        </p:spPr>
        <p:txBody>
          <a:bodyPr wrap="square" lIns="0" tIns="0" rIns="0" bIns="0" rtlCol="0" anchor="t"/>
          <a:lstStyle/>
          <a:p>
            <a:pPr marL="0" indent="0">
              <a:buNone/>
            </a:pPr>
            <a:r>
              <a:rPr lang="fr-FR" sz="950" dirty="0">
                <a:solidFill>
                  <a:srgbClr val="999999"/>
                </a:solidFill>
                <a:latin typeface="Calibri" pitchFamily="34" charset="0"/>
                <a:ea typeface="Calibri" pitchFamily="34" charset="-122"/>
                <a:cs typeface="Calibri" pitchFamily="34" charset="-120"/>
              </a:rPr>
              <a:t>Résultats exportés dans un format traçable et comparable.</a:t>
            </a:r>
            <a:endParaRPr lang="en-US" sz="950" dirty="0"/>
          </a:p>
        </p:txBody>
      </p:sp>
      <p:sp>
        <p:nvSpPr>
          <p:cNvPr id="96" name="Shape 7">
            <a:extLst>
              <a:ext uri="{FF2B5EF4-FFF2-40B4-BE49-F238E27FC236}">
                <a16:creationId xmlns:a16="http://schemas.microsoft.com/office/drawing/2014/main" id="{F072B214-74BD-98B9-921A-E1D4B0A8E096}"/>
              </a:ext>
            </a:extLst>
          </p:cNvPr>
          <p:cNvSpPr/>
          <p:nvPr/>
        </p:nvSpPr>
        <p:spPr>
          <a:xfrm>
            <a:off x="3011519" y="3359850"/>
            <a:ext cx="0" cy="476394"/>
          </a:xfrm>
          <a:prstGeom prst="line">
            <a:avLst/>
          </a:prstGeom>
          <a:noFill/>
          <a:ln w="10160">
            <a:solidFill>
              <a:srgbClr val="E8E8E8"/>
            </a:solidFill>
            <a:prstDash val="solid"/>
          </a:ln>
        </p:spPr>
        <p:txBody>
          <a:bodyPr/>
          <a:lstStyle/>
          <a:p>
            <a:endParaRPr lang="en-CA"/>
          </a:p>
        </p:txBody>
      </p:sp>
      <p:sp>
        <p:nvSpPr>
          <p:cNvPr id="98" name="Shape 7">
            <a:extLst>
              <a:ext uri="{FF2B5EF4-FFF2-40B4-BE49-F238E27FC236}">
                <a16:creationId xmlns:a16="http://schemas.microsoft.com/office/drawing/2014/main" id="{3048BADF-E3ED-49EB-6824-E4078DE60FF7}"/>
              </a:ext>
            </a:extLst>
          </p:cNvPr>
          <p:cNvSpPr/>
          <p:nvPr/>
        </p:nvSpPr>
        <p:spPr>
          <a:xfrm>
            <a:off x="5789009" y="3359850"/>
            <a:ext cx="0" cy="476394"/>
          </a:xfrm>
          <a:prstGeom prst="line">
            <a:avLst/>
          </a:prstGeom>
          <a:noFill/>
          <a:ln w="10160">
            <a:solidFill>
              <a:srgbClr val="E8E8E8"/>
            </a:solidFill>
            <a:prstDash val="solid"/>
          </a:ln>
        </p:spPr>
        <p:txBody>
          <a:bodyPr/>
          <a:lstStyle/>
          <a:p>
            <a:endParaRPr lang="en-CA"/>
          </a:p>
        </p:txBody>
      </p:sp>
      <p:pic>
        <p:nvPicPr>
          <p:cNvPr id="100" name="Picture 99">
            <a:extLst>
              <a:ext uri="{FF2B5EF4-FFF2-40B4-BE49-F238E27FC236}">
                <a16:creationId xmlns:a16="http://schemas.microsoft.com/office/drawing/2014/main" id="{2523A1ED-1BEA-6417-63CC-16B85E41AF44}"/>
              </a:ext>
            </a:extLst>
          </p:cNvPr>
          <p:cNvPicPr>
            <a:picLocks noChangeAspect="1"/>
          </p:cNvPicPr>
          <p:nvPr/>
        </p:nvPicPr>
        <p:blipFill>
          <a:blip r:embed="rId3">
            <a:alphaModFix amt="55000"/>
          </a:blip>
          <a:stretch>
            <a:fillRect/>
          </a:stretch>
        </p:blipFill>
        <p:spPr>
          <a:xfrm>
            <a:off x="810465" y="1215772"/>
            <a:ext cx="388273" cy="400050"/>
          </a:xfrm>
          <a:prstGeom prst="rect">
            <a:avLst/>
          </a:prstGeom>
        </p:spPr>
      </p:pic>
      <p:pic>
        <p:nvPicPr>
          <p:cNvPr id="102" name="Picture 101">
            <a:extLst>
              <a:ext uri="{FF2B5EF4-FFF2-40B4-BE49-F238E27FC236}">
                <a16:creationId xmlns:a16="http://schemas.microsoft.com/office/drawing/2014/main" id="{DFE1E96B-4582-8AED-99EB-A52A533844DA}"/>
              </a:ext>
            </a:extLst>
          </p:cNvPr>
          <p:cNvPicPr>
            <a:picLocks noChangeAspect="1"/>
          </p:cNvPicPr>
          <p:nvPr/>
        </p:nvPicPr>
        <p:blipFill>
          <a:blip r:embed="rId4">
            <a:alphaModFix amt="55000"/>
          </a:blip>
          <a:stretch>
            <a:fillRect/>
          </a:stretch>
        </p:blipFill>
        <p:spPr>
          <a:xfrm>
            <a:off x="810465" y="1922738"/>
            <a:ext cx="403472" cy="403472"/>
          </a:xfrm>
          <a:prstGeom prst="rect">
            <a:avLst/>
          </a:prstGeom>
        </p:spPr>
      </p:pic>
      <p:pic>
        <p:nvPicPr>
          <p:cNvPr id="104" name="Picture 103">
            <a:extLst>
              <a:ext uri="{FF2B5EF4-FFF2-40B4-BE49-F238E27FC236}">
                <a16:creationId xmlns:a16="http://schemas.microsoft.com/office/drawing/2014/main" id="{E6C65318-6F61-689F-E296-09D2AA2E31A0}"/>
              </a:ext>
            </a:extLst>
          </p:cNvPr>
          <p:cNvPicPr>
            <a:picLocks noChangeAspect="1"/>
          </p:cNvPicPr>
          <p:nvPr/>
        </p:nvPicPr>
        <p:blipFill>
          <a:blip r:embed="rId5">
            <a:alphaModFix amt="55000"/>
          </a:blip>
          <a:stretch>
            <a:fillRect/>
          </a:stretch>
        </p:blipFill>
        <p:spPr>
          <a:xfrm>
            <a:off x="810466" y="2656459"/>
            <a:ext cx="388272" cy="388273"/>
          </a:xfrm>
          <a:prstGeom prst="rect">
            <a:avLst/>
          </a:prstGeom>
        </p:spPr>
      </p:pic>
      <p:pic>
        <p:nvPicPr>
          <p:cNvPr id="106" name="Picture 105">
            <a:extLst>
              <a:ext uri="{FF2B5EF4-FFF2-40B4-BE49-F238E27FC236}">
                <a16:creationId xmlns:a16="http://schemas.microsoft.com/office/drawing/2014/main" id="{FAC88408-0507-0ACE-7C8C-DD265FB14EBB}"/>
              </a:ext>
            </a:extLst>
          </p:cNvPr>
          <p:cNvPicPr>
            <a:picLocks noChangeAspect="1"/>
          </p:cNvPicPr>
          <p:nvPr/>
        </p:nvPicPr>
        <p:blipFill>
          <a:blip r:embed="rId6">
            <a:alphaModFix amt="55000"/>
          </a:blip>
          <a:stretch>
            <a:fillRect/>
          </a:stretch>
        </p:blipFill>
        <p:spPr>
          <a:xfrm>
            <a:off x="810466" y="3392661"/>
            <a:ext cx="388272" cy="388273"/>
          </a:xfrm>
          <a:prstGeom prst="rect">
            <a:avLst/>
          </a:prstGeom>
        </p:spPr>
      </p:pic>
    </p:spTree>
    <p:extLst>
      <p:ext uri="{BB962C8B-B14F-4D97-AF65-F5344CB8AC3E}">
        <p14:creationId xmlns:p14="http://schemas.microsoft.com/office/powerpoint/2010/main" val="3820553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4F986-9CF7-A6AE-D1A0-1AAA173486D2}"/>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3B380E1E-0CCB-96DD-5994-87EDBCBA33B2}"/>
              </a:ext>
            </a:extLst>
          </p:cNvPr>
          <p:cNvSpPr/>
          <p:nvPr/>
        </p:nvSpPr>
        <p:spPr>
          <a:xfrm>
            <a:off x="710668" y="1076841"/>
            <a:ext cx="3543716" cy="2793932"/>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2" name="Text 0">
            <a:extLst>
              <a:ext uri="{FF2B5EF4-FFF2-40B4-BE49-F238E27FC236}">
                <a16:creationId xmlns:a16="http://schemas.microsoft.com/office/drawing/2014/main" id="{204EA106-7E5E-8A1B-B173-7C1496710DC8}"/>
              </a:ext>
            </a:extLst>
          </p:cNvPr>
          <p:cNvSpPr/>
          <p:nvPr/>
        </p:nvSpPr>
        <p:spPr>
          <a:xfrm>
            <a:off x="347472" y="164592"/>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01d  ·  </a:t>
            </a:r>
            <a:r>
              <a:rPr lang="fr-FR" sz="800" b="1" kern="0" spc="200" dirty="0">
                <a:solidFill>
                  <a:srgbClr val="C0C0C0"/>
                </a:solidFill>
                <a:latin typeface="Calibri" pitchFamily="34" charset="0"/>
                <a:ea typeface="Calibri" pitchFamily="34" charset="-122"/>
                <a:cs typeface="Calibri" pitchFamily="34" charset="-120"/>
              </a:rPr>
              <a:t>NATURE DU SYSTÈME ET OBJECTIFS</a:t>
            </a:r>
            <a:endParaRPr lang="en-US" sz="800" dirty="0"/>
          </a:p>
        </p:txBody>
      </p:sp>
      <p:sp>
        <p:nvSpPr>
          <p:cNvPr id="3" name="Text 1">
            <a:extLst>
              <a:ext uri="{FF2B5EF4-FFF2-40B4-BE49-F238E27FC236}">
                <a16:creationId xmlns:a16="http://schemas.microsoft.com/office/drawing/2014/main" id="{774A722E-A669-A614-30A3-97706FB529E2}"/>
              </a:ext>
            </a:extLst>
          </p:cNvPr>
          <p:cNvSpPr/>
          <p:nvPr/>
        </p:nvSpPr>
        <p:spPr>
          <a:xfrm>
            <a:off x="347472" y="347472"/>
            <a:ext cx="5029200" cy="365760"/>
          </a:xfrm>
          <a:prstGeom prst="rect">
            <a:avLst/>
          </a:prstGeom>
          <a:noFill/>
          <a:ln/>
        </p:spPr>
        <p:txBody>
          <a:bodyPr wrap="square" lIns="0" tIns="0" rIns="0" bIns="0" rtlCol="0" anchor="ctr"/>
          <a:lstStyle/>
          <a:p>
            <a:pPr marL="0" indent="0">
              <a:buNone/>
            </a:pPr>
            <a:r>
              <a:rPr lang="en-US" sz="1600" b="1" dirty="0">
                <a:solidFill>
                  <a:srgbClr val="0A0A0A"/>
                </a:solidFill>
                <a:latin typeface="Calibri" pitchFamily="34" charset="0"/>
                <a:ea typeface="Calibri" pitchFamily="34" charset="-122"/>
                <a:cs typeface="Calibri" pitchFamily="34" charset="-120"/>
              </a:rPr>
              <a:t>Hypothèses et </a:t>
            </a:r>
            <a:r>
              <a:rPr lang="en-US" sz="1600" b="1" dirty="0">
                <a:solidFill>
                  <a:srgbClr val="C9A84C"/>
                </a:solidFill>
                <a:latin typeface="Calibri" pitchFamily="34" charset="0"/>
                <a:cs typeface="Calibri" pitchFamily="34" charset="-120"/>
              </a:rPr>
              <a:t>limites</a:t>
            </a:r>
            <a:endParaRPr lang="en-US" sz="1600" dirty="0"/>
          </a:p>
        </p:txBody>
      </p:sp>
      <p:sp>
        <p:nvSpPr>
          <p:cNvPr id="14" name="Text 11">
            <a:extLst>
              <a:ext uri="{FF2B5EF4-FFF2-40B4-BE49-F238E27FC236}">
                <a16:creationId xmlns:a16="http://schemas.microsoft.com/office/drawing/2014/main" id="{8CB8A0FD-1590-A1FC-5CF4-4700D0C27652}"/>
              </a:ext>
            </a:extLst>
          </p:cNvPr>
          <p:cNvSpPr/>
          <p:nvPr/>
        </p:nvSpPr>
        <p:spPr>
          <a:xfrm>
            <a:off x="935831" y="1126289"/>
            <a:ext cx="3164682" cy="219456"/>
          </a:xfrm>
          <a:prstGeom prst="rect">
            <a:avLst/>
          </a:prstGeom>
          <a:noFill/>
          <a:ln/>
        </p:spPr>
        <p:txBody>
          <a:bodyPr wrap="square" lIns="0" tIns="0" rIns="0" bIns="0" rtlCol="0" anchor="ctr"/>
          <a:lstStyle/>
          <a:p>
            <a:pPr marL="0" indent="0" algn="ctr">
              <a:buNone/>
            </a:pPr>
            <a:r>
              <a:rPr lang="en-US" sz="950" b="1" kern="0" spc="150" dirty="0">
                <a:solidFill>
                  <a:srgbClr val="CFB260"/>
                </a:solidFill>
                <a:latin typeface="Calibri" pitchFamily="34" charset="0"/>
                <a:ea typeface="Calibri" pitchFamily="34" charset="-122"/>
                <a:cs typeface="Calibri" pitchFamily="34" charset="-120"/>
              </a:rPr>
              <a:t>HYPOTHÈSES</a:t>
            </a:r>
            <a:endParaRPr lang="en-US" sz="950" dirty="0">
              <a:solidFill>
                <a:srgbClr val="CFB260"/>
              </a:solidFill>
            </a:endParaRPr>
          </a:p>
        </p:txBody>
      </p:sp>
      <p:sp>
        <p:nvSpPr>
          <p:cNvPr id="17" name="Text 13">
            <a:extLst>
              <a:ext uri="{FF2B5EF4-FFF2-40B4-BE49-F238E27FC236}">
                <a16:creationId xmlns:a16="http://schemas.microsoft.com/office/drawing/2014/main" id="{1B203D8D-D76F-6B04-7929-970B3A4546DA}"/>
              </a:ext>
            </a:extLst>
          </p:cNvPr>
          <p:cNvSpPr/>
          <p:nvPr/>
        </p:nvSpPr>
        <p:spPr>
          <a:xfrm>
            <a:off x="1135855" y="1395194"/>
            <a:ext cx="2886075" cy="2475580"/>
          </a:xfrm>
          <a:prstGeom prst="rect">
            <a:avLst/>
          </a:prstGeom>
          <a:noFill/>
          <a:ln/>
        </p:spPr>
        <p:txBody>
          <a:bodyPr wrap="square" lIns="0" tIns="0" rIns="0" bIns="0" rtlCol="0" anchor="ctr"/>
          <a:lstStyle/>
          <a:p>
            <a:r>
              <a:rPr lang="fr-FR" sz="950" b="1" dirty="0">
                <a:solidFill>
                  <a:srgbClr val="0A0A0A"/>
                </a:solidFill>
                <a:latin typeface="Calibri" pitchFamily="34" charset="0"/>
                <a:ea typeface="Calibri" pitchFamily="34" charset="-122"/>
                <a:cs typeface="Calibri" pitchFamily="34" charset="-120"/>
              </a:rPr>
              <a:t>Protocole identique</a:t>
            </a:r>
          </a:p>
          <a:p>
            <a:r>
              <a:rPr lang="fr-FR" sz="950" i="1" dirty="0">
                <a:solidFill>
                  <a:srgbClr val="888888"/>
                </a:solidFill>
                <a:latin typeface="Calibri" pitchFamily="34" charset="0"/>
                <a:cs typeface="Calibri" pitchFamily="34" charset="-120"/>
              </a:rPr>
              <a:t>Même logique d’exécution sur x86 et Raspberry Pi.</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Jeux de tests harmonisés</a:t>
            </a:r>
          </a:p>
          <a:p>
            <a:r>
              <a:rPr lang="fr-FR" sz="950" i="1" dirty="0">
                <a:solidFill>
                  <a:srgbClr val="888888"/>
                </a:solidFill>
                <a:latin typeface="Calibri" pitchFamily="34" charset="0"/>
                <a:cs typeface="Calibri" pitchFamily="34" charset="-120"/>
              </a:rPr>
              <a:t>Paramètres et scénarios alignés pour préserver l’équité de comparaison dans le périmètre disponible.</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Mesures répétées</a:t>
            </a:r>
          </a:p>
          <a:p>
            <a:r>
              <a:rPr lang="fr-FR" sz="950" i="1" dirty="0">
                <a:solidFill>
                  <a:srgbClr val="888888"/>
                </a:solidFill>
                <a:latin typeface="Calibri" pitchFamily="34" charset="0"/>
                <a:cs typeface="Calibri" pitchFamily="34" charset="-120"/>
              </a:rPr>
              <a:t>Campagnes répétées avec n égal à 100 puis export des résultats de façon traçable.</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Validation de conformité</a:t>
            </a:r>
          </a:p>
          <a:p>
            <a:r>
              <a:rPr lang="fr-FR" sz="950" i="1" dirty="0">
                <a:solidFill>
                  <a:srgbClr val="888888"/>
                </a:solidFill>
                <a:latin typeface="Calibri" pitchFamily="34" charset="0"/>
                <a:ea typeface="Calibri" pitchFamily="34" charset="-122"/>
                <a:cs typeface="Calibri" pitchFamily="34" charset="-120"/>
              </a:rPr>
              <a:t>Implémentations vérifiées par vecteurs de référence dans le protocole de validation.</a:t>
            </a:r>
            <a:endParaRPr lang="en-US" sz="950" b="1" dirty="0">
              <a:solidFill>
                <a:srgbClr val="0A0A0A"/>
              </a:solidFill>
              <a:latin typeface="Calibri" pitchFamily="34" charset="0"/>
              <a:ea typeface="Calibri" pitchFamily="34" charset="-122"/>
              <a:cs typeface="Calibri" pitchFamily="34" charset="-120"/>
            </a:endParaRPr>
          </a:p>
        </p:txBody>
      </p:sp>
      <p:sp>
        <p:nvSpPr>
          <p:cNvPr id="46" name="Text 39">
            <a:extLst>
              <a:ext uri="{FF2B5EF4-FFF2-40B4-BE49-F238E27FC236}">
                <a16:creationId xmlns:a16="http://schemas.microsoft.com/office/drawing/2014/main" id="{8F71FECB-CDD8-6983-C1DF-F2047D348E50}"/>
              </a:ext>
            </a:extLst>
          </p:cNvPr>
          <p:cNvSpPr/>
          <p:nvPr/>
        </p:nvSpPr>
        <p:spPr>
          <a:xfrm>
            <a:off x="347472" y="4773168"/>
            <a:ext cx="8449056"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54" name="TextBox 53">
            <a:extLst>
              <a:ext uri="{FF2B5EF4-FFF2-40B4-BE49-F238E27FC236}">
                <a16:creationId xmlns:a16="http://schemas.microsoft.com/office/drawing/2014/main" id="{135E6C1C-BF6C-D554-A09A-7C68BF1E73CB}"/>
              </a:ext>
            </a:extLst>
          </p:cNvPr>
          <p:cNvSpPr txBox="1"/>
          <p:nvPr/>
        </p:nvSpPr>
        <p:spPr>
          <a:xfrm>
            <a:off x="710668" y="4122466"/>
            <a:ext cx="7651012" cy="400110"/>
          </a:xfrm>
          <a:prstGeom prst="rect">
            <a:avLst/>
          </a:prstGeom>
          <a:noFill/>
        </p:spPr>
        <p:txBody>
          <a:bodyPr wrap="square">
            <a:spAutoFit/>
          </a:bodyPr>
          <a:lstStyle/>
          <a:p>
            <a:pPr algn="ctr"/>
            <a:r>
              <a:rPr lang="fr-FR" sz="1000" i="1" dirty="0">
                <a:solidFill>
                  <a:schemeClr val="bg2">
                    <a:lumMod val="75000"/>
                  </a:schemeClr>
                </a:solidFill>
                <a:latin typeface="Calibri" pitchFamily="34" charset="0"/>
                <a:cs typeface="Calibri" pitchFamily="34" charset="-120"/>
              </a:rPr>
              <a:t>Les résultats doivent être lus comme une comparaison expérimentale contrôlée, valide dans son périmètre, et non comme une mesure universelle de tous les contextes d’usage.</a:t>
            </a:r>
          </a:p>
        </p:txBody>
      </p:sp>
      <p:sp>
        <p:nvSpPr>
          <p:cNvPr id="60" name="Shape 7">
            <a:extLst>
              <a:ext uri="{FF2B5EF4-FFF2-40B4-BE49-F238E27FC236}">
                <a16:creationId xmlns:a16="http://schemas.microsoft.com/office/drawing/2014/main" id="{B1E75FDF-0F25-D9F7-5294-C4F63B210CAE}"/>
              </a:ext>
            </a:extLst>
          </p:cNvPr>
          <p:cNvSpPr/>
          <p:nvPr/>
        </p:nvSpPr>
        <p:spPr>
          <a:xfrm>
            <a:off x="1135856" y="1384562"/>
            <a:ext cx="2782919" cy="0"/>
          </a:xfrm>
          <a:prstGeom prst="line">
            <a:avLst/>
          </a:prstGeom>
          <a:noFill/>
          <a:ln w="10160">
            <a:solidFill>
              <a:srgbClr val="E8E8E8"/>
            </a:solidFill>
            <a:prstDash val="solid"/>
          </a:ln>
        </p:spPr>
        <p:txBody>
          <a:bodyPr/>
          <a:lstStyle/>
          <a:p>
            <a:endParaRPr lang="en-CA"/>
          </a:p>
        </p:txBody>
      </p:sp>
      <p:sp>
        <p:nvSpPr>
          <p:cNvPr id="64" name="Shape 12">
            <a:extLst>
              <a:ext uri="{FF2B5EF4-FFF2-40B4-BE49-F238E27FC236}">
                <a16:creationId xmlns:a16="http://schemas.microsoft.com/office/drawing/2014/main" id="{17D4991F-5526-6CCC-2D49-7DF3FF499A9D}"/>
              </a:ext>
            </a:extLst>
          </p:cNvPr>
          <p:cNvSpPr/>
          <p:nvPr/>
        </p:nvSpPr>
        <p:spPr>
          <a:xfrm>
            <a:off x="4817964" y="1086571"/>
            <a:ext cx="3543716" cy="2793932"/>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5" name="Text 11">
            <a:extLst>
              <a:ext uri="{FF2B5EF4-FFF2-40B4-BE49-F238E27FC236}">
                <a16:creationId xmlns:a16="http://schemas.microsoft.com/office/drawing/2014/main" id="{42B85D00-E4C3-3AE8-9DBD-A3F62842B66B}"/>
              </a:ext>
            </a:extLst>
          </p:cNvPr>
          <p:cNvSpPr/>
          <p:nvPr/>
        </p:nvSpPr>
        <p:spPr>
          <a:xfrm>
            <a:off x="4979194" y="1126289"/>
            <a:ext cx="3228975" cy="219456"/>
          </a:xfrm>
          <a:prstGeom prst="rect">
            <a:avLst/>
          </a:prstGeom>
          <a:noFill/>
          <a:ln/>
        </p:spPr>
        <p:txBody>
          <a:bodyPr wrap="square" lIns="0" tIns="0" rIns="0" bIns="0" rtlCol="0" anchor="ctr"/>
          <a:lstStyle/>
          <a:p>
            <a:pPr marL="0" indent="0" algn="ctr">
              <a:buNone/>
            </a:pPr>
            <a:r>
              <a:rPr lang="en-US" sz="950" b="1" kern="0" spc="150" dirty="0">
                <a:solidFill>
                  <a:srgbClr val="CFB260"/>
                </a:solidFill>
                <a:latin typeface="Calibri" pitchFamily="34" charset="0"/>
                <a:cs typeface="Calibri" pitchFamily="34" charset="-120"/>
              </a:rPr>
              <a:t>LIMITES</a:t>
            </a:r>
            <a:endParaRPr lang="en-US" sz="950" dirty="0">
              <a:solidFill>
                <a:srgbClr val="CFB260"/>
              </a:solidFill>
            </a:endParaRPr>
          </a:p>
        </p:txBody>
      </p:sp>
      <p:sp>
        <p:nvSpPr>
          <p:cNvPr id="7" name="Shape 7">
            <a:extLst>
              <a:ext uri="{FF2B5EF4-FFF2-40B4-BE49-F238E27FC236}">
                <a16:creationId xmlns:a16="http://schemas.microsoft.com/office/drawing/2014/main" id="{2BA8A84C-504F-4855-C2F2-5EDCEFFA0034}"/>
              </a:ext>
            </a:extLst>
          </p:cNvPr>
          <p:cNvSpPr/>
          <p:nvPr/>
        </p:nvSpPr>
        <p:spPr>
          <a:xfrm>
            <a:off x="5256322" y="1362870"/>
            <a:ext cx="2782919" cy="0"/>
          </a:xfrm>
          <a:prstGeom prst="line">
            <a:avLst/>
          </a:prstGeom>
          <a:noFill/>
          <a:ln w="10160">
            <a:solidFill>
              <a:srgbClr val="E8E8E8"/>
            </a:solidFill>
            <a:prstDash val="solid"/>
          </a:ln>
        </p:spPr>
        <p:txBody>
          <a:bodyPr/>
          <a:lstStyle/>
          <a:p>
            <a:endParaRPr lang="en-CA"/>
          </a:p>
        </p:txBody>
      </p:sp>
      <p:sp>
        <p:nvSpPr>
          <p:cNvPr id="9" name="Text 13">
            <a:extLst>
              <a:ext uri="{FF2B5EF4-FFF2-40B4-BE49-F238E27FC236}">
                <a16:creationId xmlns:a16="http://schemas.microsoft.com/office/drawing/2014/main" id="{D3043367-C281-2F55-4BC5-45800D95ADC9}"/>
              </a:ext>
            </a:extLst>
          </p:cNvPr>
          <p:cNvSpPr/>
          <p:nvPr/>
        </p:nvSpPr>
        <p:spPr>
          <a:xfrm>
            <a:off x="5310186" y="1388803"/>
            <a:ext cx="2782919" cy="2475580"/>
          </a:xfrm>
          <a:prstGeom prst="rect">
            <a:avLst/>
          </a:prstGeom>
          <a:noFill/>
          <a:ln/>
        </p:spPr>
        <p:txBody>
          <a:bodyPr wrap="square" lIns="0" tIns="0" rIns="0" bIns="0" rtlCol="0" anchor="ctr"/>
          <a:lstStyle/>
          <a:p>
            <a:r>
              <a:rPr lang="fr-FR" sz="950" b="1" dirty="0">
                <a:solidFill>
                  <a:srgbClr val="0A0A0A"/>
                </a:solidFill>
                <a:latin typeface="Calibri" pitchFamily="34" charset="0"/>
                <a:ea typeface="Calibri" pitchFamily="34" charset="-122"/>
                <a:cs typeface="Calibri" pitchFamily="34" charset="-120"/>
              </a:rPr>
              <a:t>Cadre expérimental ciblé</a:t>
            </a:r>
          </a:p>
          <a:p>
            <a:r>
              <a:rPr lang="fr-FR" sz="950" i="1" dirty="0">
                <a:solidFill>
                  <a:srgbClr val="888888"/>
                </a:solidFill>
                <a:latin typeface="Calibri" pitchFamily="34" charset="0"/>
                <a:cs typeface="Calibri" pitchFamily="34" charset="-120"/>
              </a:rPr>
              <a:t>Résultats valides dans le périmètre défini, sans généralisation absolue à tous les usages.</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Dépendance au matériel</a:t>
            </a:r>
          </a:p>
          <a:p>
            <a:r>
              <a:rPr lang="fr-FR" sz="950" i="1" dirty="0">
                <a:solidFill>
                  <a:srgbClr val="888888"/>
                </a:solidFill>
                <a:latin typeface="Calibri" pitchFamily="34" charset="0"/>
                <a:cs typeface="Calibri" pitchFamily="34" charset="-120"/>
              </a:rPr>
              <a:t>Les performances observées dépendent des plateformes retenues et de leur contexte d’exécution.</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Périmètre hors application</a:t>
            </a:r>
          </a:p>
          <a:p>
            <a:r>
              <a:rPr lang="fr-FR" sz="950" i="1" dirty="0">
                <a:solidFill>
                  <a:srgbClr val="888888"/>
                </a:solidFill>
                <a:latin typeface="Calibri" pitchFamily="34" charset="0"/>
                <a:cs typeface="Calibri" pitchFamily="34" charset="-120"/>
              </a:rPr>
              <a:t>L’étude n’évalue ni l’expérience utilisateur, ni le déploiement, ni la sécurité réseau.</a:t>
            </a:r>
          </a:p>
          <a:p>
            <a:endParaRPr lang="fr-FR" sz="950" b="1" dirty="0">
              <a:solidFill>
                <a:srgbClr val="0A0A0A"/>
              </a:solidFill>
              <a:latin typeface="Calibri" pitchFamily="34" charset="0"/>
              <a:ea typeface="Calibri" pitchFamily="34" charset="-122"/>
              <a:cs typeface="Calibri" pitchFamily="34" charset="-120"/>
            </a:endParaRPr>
          </a:p>
          <a:p>
            <a:r>
              <a:rPr lang="fr-FR" sz="950" b="1" dirty="0">
                <a:solidFill>
                  <a:srgbClr val="0A0A0A"/>
                </a:solidFill>
                <a:latin typeface="Calibri" pitchFamily="34" charset="0"/>
                <a:ea typeface="Calibri" pitchFamily="34" charset="-122"/>
                <a:cs typeface="Calibri" pitchFamily="34" charset="-120"/>
              </a:rPr>
              <a:t>Comparaison non universelle</a:t>
            </a:r>
          </a:p>
          <a:p>
            <a:r>
              <a:rPr lang="fr-FR" sz="950" i="1" dirty="0">
                <a:solidFill>
                  <a:srgbClr val="888888"/>
                </a:solidFill>
                <a:latin typeface="Calibri" pitchFamily="34" charset="0"/>
                <a:cs typeface="Calibri" pitchFamily="34" charset="-120"/>
              </a:rPr>
              <a:t>Tous les algorithmes ne partagent pas exactement les mêmes modes ou accélérations matérielles.</a:t>
            </a:r>
            <a:endParaRPr lang="en-US" sz="950" i="1" dirty="0">
              <a:solidFill>
                <a:srgbClr val="888888"/>
              </a:solidFill>
              <a:latin typeface="Calibri" pitchFamily="34" charset="0"/>
              <a:cs typeface="Calibri" pitchFamily="34" charset="-120"/>
            </a:endParaRPr>
          </a:p>
        </p:txBody>
      </p:sp>
      <p:pic>
        <p:nvPicPr>
          <p:cNvPr id="11" name="Picture 10">
            <a:extLst>
              <a:ext uri="{FF2B5EF4-FFF2-40B4-BE49-F238E27FC236}">
                <a16:creationId xmlns:a16="http://schemas.microsoft.com/office/drawing/2014/main" id="{664BB192-26D0-01A7-7D17-D2D1C1D04475}"/>
              </a:ext>
            </a:extLst>
          </p:cNvPr>
          <p:cNvPicPr>
            <a:picLocks noChangeAspect="1"/>
          </p:cNvPicPr>
          <p:nvPr/>
        </p:nvPicPr>
        <p:blipFill>
          <a:blip r:embed="rId3"/>
          <a:stretch>
            <a:fillRect/>
          </a:stretch>
        </p:blipFill>
        <p:spPr>
          <a:xfrm>
            <a:off x="853670" y="1618726"/>
            <a:ext cx="164322" cy="164322"/>
          </a:xfrm>
          <a:prstGeom prst="rect">
            <a:avLst/>
          </a:prstGeom>
        </p:spPr>
      </p:pic>
      <p:pic>
        <p:nvPicPr>
          <p:cNvPr id="13" name="Picture 12">
            <a:extLst>
              <a:ext uri="{FF2B5EF4-FFF2-40B4-BE49-F238E27FC236}">
                <a16:creationId xmlns:a16="http://schemas.microsoft.com/office/drawing/2014/main" id="{7A57107F-F89D-4A55-B1DF-5EF73AB5CBA9}"/>
              </a:ext>
            </a:extLst>
          </p:cNvPr>
          <p:cNvPicPr>
            <a:picLocks noChangeAspect="1"/>
          </p:cNvPicPr>
          <p:nvPr/>
        </p:nvPicPr>
        <p:blipFill>
          <a:blip r:embed="rId3"/>
          <a:stretch>
            <a:fillRect/>
          </a:stretch>
        </p:blipFill>
        <p:spPr>
          <a:xfrm>
            <a:off x="841748" y="2074882"/>
            <a:ext cx="164322" cy="164322"/>
          </a:xfrm>
          <a:prstGeom prst="rect">
            <a:avLst/>
          </a:prstGeom>
        </p:spPr>
      </p:pic>
      <p:pic>
        <p:nvPicPr>
          <p:cNvPr id="19" name="Picture 18">
            <a:extLst>
              <a:ext uri="{FF2B5EF4-FFF2-40B4-BE49-F238E27FC236}">
                <a16:creationId xmlns:a16="http://schemas.microsoft.com/office/drawing/2014/main" id="{66DDFF31-430F-DE83-33A6-35080FE7121F}"/>
              </a:ext>
            </a:extLst>
          </p:cNvPr>
          <p:cNvPicPr>
            <a:picLocks noChangeAspect="1"/>
          </p:cNvPicPr>
          <p:nvPr/>
        </p:nvPicPr>
        <p:blipFill>
          <a:blip r:embed="rId3"/>
          <a:stretch>
            <a:fillRect/>
          </a:stretch>
        </p:blipFill>
        <p:spPr>
          <a:xfrm>
            <a:off x="857998" y="2623622"/>
            <a:ext cx="164322" cy="164322"/>
          </a:xfrm>
          <a:prstGeom prst="rect">
            <a:avLst/>
          </a:prstGeom>
        </p:spPr>
      </p:pic>
      <p:pic>
        <p:nvPicPr>
          <p:cNvPr id="21" name="Picture 20">
            <a:extLst>
              <a:ext uri="{FF2B5EF4-FFF2-40B4-BE49-F238E27FC236}">
                <a16:creationId xmlns:a16="http://schemas.microsoft.com/office/drawing/2014/main" id="{C256B51E-43C9-AD09-6DA8-D4E89FECEA5C}"/>
              </a:ext>
            </a:extLst>
          </p:cNvPr>
          <p:cNvPicPr>
            <a:picLocks noChangeAspect="1"/>
          </p:cNvPicPr>
          <p:nvPr/>
        </p:nvPicPr>
        <p:blipFill>
          <a:blip r:embed="rId3"/>
          <a:stretch>
            <a:fillRect/>
          </a:stretch>
        </p:blipFill>
        <p:spPr>
          <a:xfrm>
            <a:off x="853670" y="3225247"/>
            <a:ext cx="164322" cy="164322"/>
          </a:xfrm>
          <a:prstGeom prst="rect">
            <a:avLst/>
          </a:prstGeom>
        </p:spPr>
      </p:pic>
      <p:pic>
        <p:nvPicPr>
          <p:cNvPr id="23" name="Picture 22">
            <a:extLst>
              <a:ext uri="{FF2B5EF4-FFF2-40B4-BE49-F238E27FC236}">
                <a16:creationId xmlns:a16="http://schemas.microsoft.com/office/drawing/2014/main" id="{80DA800E-9715-B961-6463-391D6614BF70}"/>
              </a:ext>
            </a:extLst>
          </p:cNvPr>
          <p:cNvPicPr>
            <a:picLocks noChangeAspect="1"/>
          </p:cNvPicPr>
          <p:nvPr/>
        </p:nvPicPr>
        <p:blipFill>
          <a:blip r:embed="rId3"/>
          <a:stretch>
            <a:fillRect/>
          </a:stretch>
        </p:blipFill>
        <p:spPr>
          <a:xfrm>
            <a:off x="5041611" y="1537040"/>
            <a:ext cx="164322" cy="164322"/>
          </a:xfrm>
          <a:prstGeom prst="rect">
            <a:avLst/>
          </a:prstGeom>
        </p:spPr>
      </p:pic>
      <p:pic>
        <p:nvPicPr>
          <p:cNvPr id="25" name="Picture 24">
            <a:extLst>
              <a:ext uri="{FF2B5EF4-FFF2-40B4-BE49-F238E27FC236}">
                <a16:creationId xmlns:a16="http://schemas.microsoft.com/office/drawing/2014/main" id="{08145594-8393-B419-A9AE-8350DDB78865}"/>
              </a:ext>
            </a:extLst>
          </p:cNvPr>
          <p:cNvPicPr>
            <a:picLocks noChangeAspect="1"/>
          </p:cNvPicPr>
          <p:nvPr/>
        </p:nvPicPr>
        <p:blipFill>
          <a:blip r:embed="rId3"/>
          <a:stretch>
            <a:fillRect/>
          </a:stretch>
        </p:blipFill>
        <p:spPr>
          <a:xfrm>
            <a:off x="5050418" y="2126805"/>
            <a:ext cx="164322" cy="164322"/>
          </a:xfrm>
          <a:prstGeom prst="rect">
            <a:avLst/>
          </a:prstGeom>
        </p:spPr>
      </p:pic>
      <p:pic>
        <p:nvPicPr>
          <p:cNvPr id="27" name="Picture 26">
            <a:extLst>
              <a:ext uri="{FF2B5EF4-FFF2-40B4-BE49-F238E27FC236}">
                <a16:creationId xmlns:a16="http://schemas.microsoft.com/office/drawing/2014/main" id="{5E8F7A96-77FF-7525-2E02-DFD047A9A975}"/>
              </a:ext>
            </a:extLst>
          </p:cNvPr>
          <p:cNvPicPr>
            <a:picLocks noChangeAspect="1"/>
          </p:cNvPicPr>
          <p:nvPr/>
        </p:nvPicPr>
        <p:blipFill>
          <a:blip r:embed="rId3"/>
          <a:stretch>
            <a:fillRect/>
          </a:stretch>
        </p:blipFill>
        <p:spPr>
          <a:xfrm>
            <a:off x="5041611" y="2695608"/>
            <a:ext cx="164322" cy="164322"/>
          </a:xfrm>
          <a:prstGeom prst="rect">
            <a:avLst/>
          </a:prstGeom>
        </p:spPr>
      </p:pic>
      <p:pic>
        <p:nvPicPr>
          <p:cNvPr id="29" name="Picture 28">
            <a:extLst>
              <a:ext uri="{FF2B5EF4-FFF2-40B4-BE49-F238E27FC236}">
                <a16:creationId xmlns:a16="http://schemas.microsoft.com/office/drawing/2014/main" id="{B51806B3-9B64-AC3F-BB2A-4E1427861C7A}"/>
              </a:ext>
            </a:extLst>
          </p:cNvPr>
          <p:cNvPicPr>
            <a:picLocks noChangeAspect="1"/>
          </p:cNvPicPr>
          <p:nvPr/>
        </p:nvPicPr>
        <p:blipFill>
          <a:blip r:embed="rId3"/>
          <a:stretch>
            <a:fillRect/>
          </a:stretch>
        </p:blipFill>
        <p:spPr>
          <a:xfrm>
            <a:off x="5041611" y="3279174"/>
            <a:ext cx="164322" cy="164322"/>
          </a:xfrm>
          <a:prstGeom prst="rect">
            <a:avLst/>
          </a:prstGeom>
        </p:spPr>
      </p:pic>
      <p:pic>
        <p:nvPicPr>
          <p:cNvPr id="31" name="Picture 30">
            <a:extLst>
              <a:ext uri="{FF2B5EF4-FFF2-40B4-BE49-F238E27FC236}">
                <a16:creationId xmlns:a16="http://schemas.microsoft.com/office/drawing/2014/main" id="{9DC3F9EF-709D-CD06-497D-AA8056713E98}"/>
              </a:ext>
            </a:extLst>
          </p:cNvPr>
          <p:cNvPicPr>
            <a:picLocks noChangeAspect="1"/>
          </p:cNvPicPr>
          <p:nvPr/>
        </p:nvPicPr>
        <p:blipFill>
          <a:blip r:embed="rId4">
            <a:alphaModFix amt="10000"/>
          </a:blip>
          <a:stretch>
            <a:fillRect/>
          </a:stretch>
        </p:blipFill>
        <p:spPr>
          <a:xfrm>
            <a:off x="3227566" y="908395"/>
            <a:ext cx="924149" cy="924149"/>
          </a:xfrm>
          <a:prstGeom prst="rect">
            <a:avLst/>
          </a:prstGeom>
        </p:spPr>
      </p:pic>
      <p:pic>
        <p:nvPicPr>
          <p:cNvPr id="33" name="Picture 32">
            <a:extLst>
              <a:ext uri="{FF2B5EF4-FFF2-40B4-BE49-F238E27FC236}">
                <a16:creationId xmlns:a16="http://schemas.microsoft.com/office/drawing/2014/main" id="{3D78FFF9-379F-CCF8-B6C4-FA3A6BD64A5D}"/>
              </a:ext>
            </a:extLst>
          </p:cNvPr>
          <p:cNvPicPr>
            <a:picLocks noChangeAspect="1"/>
          </p:cNvPicPr>
          <p:nvPr/>
        </p:nvPicPr>
        <p:blipFill>
          <a:blip r:embed="rId5">
            <a:alphaModFix amt="10000"/>
          </a:blip>
          <a:stretch>
            <a:fillRect/>
          </a:stretch>
        </p:blipFill>
        <p:spPr>
          <a:xfrm>
            <a:off x="7680073" y="1116560"/>
            <a:ext cx="502166" cy="502166"/>
          </a:xfrm>
          <a:prstGeom prst="rect">
            <a:avLst/>
          </a:prstGeom>
        </p:spPr>
      </p:pic>
    </p:spTree>
    <p:extLst>
      <p:ext uri="{BB962C8B-B14F-4D97-AF65-F5344CB8AC3E}">
        <p14:creationId xmlns:p14="http://schemas.microsoft.com/office/powerpoint/2010/main" val="2289373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0" y="2139696"/>
            <a:ext cx="2807209" cy="2286001"/>
          </a:xfrm>
          <a:prstGeom prst="rect">
            <a:avLst/>
          </a:prstGeom>
          <a:noFill/>
          <a:ln/>
        </p:spPr>
        <p:txBody>
          <a:bodyPr wrap="square" lIns="0" tIns="0" rIns="0" bIns="0" rtlCol="0" anchor="ctr"/>
          <a:lstStyle/>
          <a:p>
            <a:pPr marL="0" indent="0">
              <a:buNone/>
            </a:pPr>
            <a:r>
              <a:rPr lang="en-US" sz="16000" b="1" dirty="0">
                <a:solidFill>
                  <a:srgbClr val="0A0A0A">
                    <a:alpha val="3000"/>
                  </a:srgbClr>
                </a:solidFill>
                <a:latin typeface="Calibri" pitchFamily="34" charset="0"/>
                <a:ea typeface="Calibri" pitchFamily="34" charset="-122"/>
                <a:cs typeface="Calibri" pitchFamily="34" charset="-120"/>
              </a:rPr>
              <a:t>02</a:t>
            </a:r>
            <a:endParaRPr lang="en-US" sz="16000" dirty="0"/>
          </a:p>
        </p:txBody>
      </p:sp>
      <p:sp>
        <p:nvSpPr>
          <p:cNvPr id="4" name="Text 2"/>
          <p:cNvSpPr/>
          <p:nvPr/>
        </p:nvSpPr>
        <p:spPr>
          <a:xfrm>
            <a:off x="475488" y="164592"/>
            <a:ext cx="73152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  ·  PROTOCOLE EXPÉRIMENTAL ET ENVIRONNEMENT</a:t>
            </a:r>
            <a:endParaRPr lang="en-US" sz="800" dirty="0"/>
          </a:p>
        </p:txBody>
      </p:sp>
      <p:sp>
        <p:nvSpPr>
          <p:cNvPr id="5" name="Text 3"/>
          <p:cNvSpPr/>
          <p:nvPr/>
        </p:nvSpPr>
        <p:spPr>
          <a:xfrm>
            <a:off x="475488" y="402336"/>
            <a:ext cx="2834640" cy="1280160"/>
          </a:xfrm>
          <a:prstGeom prst="rect">
            <a:avLst/>
          </a:prstGeom>
          <a:noFill/>
          <a:ln/>
        </p:spPr>
        <p:txBody>
          <a:bodyPr wrap="square" lIns="0" tIns="0" rIns="0" bIns="0" rtlCol="0" anchor="ctr"/>
          <a:lstStyle/>
          <a:p>
            <a:pPr marL="0" indent="0">
              <a:lnSpc>
                <a:spcPct val="115000"/>
              </a:lnSpc>
              <a:buNone/>
            </a:pPr>
            <a:r>
              <a:rPr lang="en-US" sz="2100" b="1" dirty="0">
                <a:solidFill>
                  <a:srgbClr val="0A0A0A"/>
                </a:solidFill>
                <a:latin typeface="Calibri" pitchFamily="34" charset="0"/>
                <a:ea typeface="Calibri" pitchFamily="34" charset="-122"/>
                <a:cs typeface="Calibri" pitchFamily="34" charset="-120"/>
              </a:rPr>
              <a:t>Deux plateformes,
</a:t>
            </a:r>
            <a:r>
              <a:rPr lang="en-US" sz="2100" b="1" dirty="0">
                <a:solidFill>
                  <a:srgbClr val="C9A84C"/>
                </a:solidFill>
                <a:latin typeface="Calibri" pitchFamily="34" charset="0"/>
                <a:ea typeface="Calibri" pitchFamily="34" charset="-122"/>
                <a:cs typeface="Calibri" pitchFamily="34" charset="-120"/>
              </a:rPr>
              <a:t>un protocole
</a:t>
            </a:r>
            <a:r>
              <a:rPr lang="en-US" sz="2100" b="1" dirty="0">
                <a:solidFill>
                  <a:srgbClr val="0A0A0A"/>
                </a:solidFill>
                <a:latin typeface="Calibri" pitchFamily="34" charset="0"/>
                <a:ea typeface="Calibri" pitchFamily="34" charset="-122"/>
                <a:cs typeface="Calibri" pitchFamily="34" charset="-120"/>
              </a:rPr>
              <a:t>rigoureux.</a:t>
            </a:r>
            <a:endParaRPr lang="en-US" sz="2100" dirty="0"/>
          </a:p>
        </p:txBody>
      </p:sp>
      <p:sp>
        <p:nvSpPr>
          <p:cNvPr id="6" name="Shape 4"/>
          <p:cNvSpPr/>
          <p:nvPr/>
        </p:nvSpPr>
        <p:spPr>
          <a:xfrm>
            <a:off x="475488" y="1755648"/>
            <a:ext cx="329184" cy="0"/>
          </a:xfrm>
          <a:prstGeom prst="line">
            <a:avLst/>
          </a:prstGeom>
          <a:noFill/>
          <a:ln w="31750">
            <a:solidFill>
              <a:srgbClr val="C9A84C"/>
            </a:solidFill>
            <a:prstDash val="solid"/>
          </a:ln>
        </p:spPr>
        <p:txBody>
          <a:bodyPr/>
          <a:lstStyle/>
          <a:p>
            <a:endParaRPr lang="en-CA"/>
          </a:p>
        </p:txBody>
      </p:sp>
      <p:sp>
        <p:nvSpPr>
          <p:cNvPr id="7" name="Text 5"/>
          <p:cNvSpPr/>
          <p:nvPr/>
        </p:nvSpPr>
        <p:spPr>
          <a:xfrm>
            <a:off x="475488" y="1883663"/>
            <a:ext cx="2834639" cy="2468877"/>
          </a:xfrm>
          <a:prstGeom prst="rect">
            <a:avLst/>
          </a:prstGeom>
          <a:noFill/>
          <a:ln/>
        </p:spPr>
        <p:txBody>
          <a:bodyPr wrap="square" lIns="0" tIns="0" rIns="0" bIns="0" rtlCol="0" anchor="t"/>
          <a:lstStyle/>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Le même protocole expérimental est appliqué sur x86 et Raspberry Pi afin d’établir une base de comparaison commune.</a:t>
            </a:r>
          </a:p>
          <a:p>
            <a:pPr marL="0" indent="0">
              <a:lnSpc>
                <a:spcPct val="150000"/>
              </a:lnSpc>
              <a:buNone/>
            </a:pPr>
            <a:endParaRPr lang="fr-FR" sz="950" dirty="0">
              <a:solidFill>
                <a:srgbClr val="555555"/>
              </a:solidFill>
              <a:latin typeface="Calibri" pitchFamily="34" charset="0"/>
              <a:ea typeface="Calibri" pitchFamily="34" charset="-122"/>
              <a:cs typeface="Calibri" pitchFamily="34" charset="-120"/>
            </a:endParaRPr>
          </a:p>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Matrice, paramètres statistiques et format de sortie sont harmonisés pour garantir la comparabilité des mesures.</a:t>
            </a:r>
          </a:p>
          <a:p>
            <a:pPr marL="0" indent="0">
              <a:lnSpc>
                <a:spcPct val="150000"/>
              </a:lnSpc>
              <a:buNone/>
            </a:pPr>
            <a:endParaRPr lang="fr-FR" sz="950" dirty="0">
              <a:solidFill>
                <a:srgbClr val="555555"/>
              </a:solidFill>
              <a:latin typeface="Calibri" pitchFamily="34" charset="0"/>
              <a:ea typeface="Calibri" pitchFamily="34" charset="-122"/>
              <a:cs typeface="Calibri" pitchFamily="34" charset="-120"/>
            </a:endParaRPr>
          </a:p>
          <a:p>
            <a:pPr marL="0" indent="0">
              <a:lnSpc>
                <a:spcPct val="150000"/>
              </a:lnSpc>
              <a:buNone/>
            </a:pPr>
            <a:r>
              <a:rPr lang="fr-FR" sz="950" dirty="0">
                <a:solidFill>
                  <a:srgbClr val="555555"/>
                </a:solidFill>
                <a:latin typeface="Calibri" pitchFamily="34" charset="0"/>
                <a:ea typeface="Calibri" pitchFamily="34" charset="-122"/>
                <a:cs typeface="Calibri" pitchFamily="34" charset="-120"/>
              </a:rPr>
              <a:t>Les écarts observés sont ensuite interprétés à protocole constant, en tenant compte du contexte matériel et système propre à chaque plateforme.</a:t>
            </a:r>
          </a:p>
        </p:txBody>
      </p:sp>
      <p:sp>
        <p:nvSpPr>
          <p:cNvPr id="9" name="Shape 7"/>
          <p:cNvSpPr/>
          <p:nvPr/>
        </p:nvSpPr>
        <p:spPr>
          <a:xfrm>
            <a:off x="3438144" y="464126"/>
            <a:ext cx="0" cy="4100035"/>
          </a:xfrm>
          <a:prstGeom prst="line">
            <a:avLst/>
          </a:prstGeom>
          <a:noFill/>
          <a:ln w="10160">
            <a:solidFill>
              <a:srgbClr val="E8E8E8"/>
            </a:solidFill>
            <a:prstDash val="solid"/>
          </a:ln>
        </p:spPr>
        <p:txBody>
          <a:bodyPr/>
          <a:lstStyle/>
          <a:p>
            <a:endParaRPr lang="en-CA"/>
          </a:p>
        </p:txBody>
      </p:sp>
      <p:sp>
        <p:nvSpPr>
          <p:cNvPr id="10" name="Shape 8"/>
          <p:cNvSpPr/>
          <p:nvPr/>
        </p:nvSpPr>
        <p:spPr>
          <a:xfrm>
            <a:off x="3675888" y="654734"/>
            <a:ext cx="256032" cy="256032"/>
          </a:xfrm>
          <a:prstGeom prst="ellipse">
            <a:avLst/>
          </a:prstGeom>
          <a:solidFill>
            <a:srgbClr val="0A0A0A"/>
          </a:solidFill>
          <a:ln w="12700">
            <a:solidFill>
              <a:srgbClr val="0A0A0A"/>
            </a:solidFill>
            <a:prstDash val="solid"/>
          </a:ln>
        </p:spPr>
        <p:txBody>
          <a:bodyPr/>
          <a:lstStyle/>
          <a:p>
            <a:endParaRPr lang="en-CA"/>
          </a:p>
        </p:txBody>
      </p:sp>
      <p:sp>
        <p:nvSpPr>
          <p:cNvPr id="11" name="Text 9"/>
          <p:cNvSpPr/>
          <p:nvPr/>
        </p:nvSpPr>
        <p:spPr>
          <a:xfrm>
            <a:off x="3675888" y="654734"/>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1</a:t>
            </a:r>
            <a:endParaRPr lang="en-US" sz="900" dirty="0"/>
          </a:p>
        </p:txBody>
      </p:sp>
      <p:sp>
        <p:nvSpPr>
          <p:cNvPr id="12" name="Text 10"/>
          <p:cNvSpPr/>
          <p:nvPr/>
        </p:nvSpPr>
        <p:spPr>
          <a:xfrm>
            <a:off x="4005072" y="618158"/>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Deux plateformes, un protocole commun</a:t>
            </a:r>
            <a:endParaRPr lang="en-US" sz="1000" dirty="0"/>
          </a:p>
        </p:txBody>
      </p:sp>
      <p:sp>
        <p:nvSpPr>
          <p:cNvPr id="13" name="Text 11"/>
          <p:cNvSpPr/>
          <p:nvPr/>
        </p:nvSpPr>
        <p:spPr>
          <a:xfrm>
            <a:off x="4005072" y="892478"/>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Protocole et base logicielle alignés entre x86 Windows et ARM Raspberry Pi 4; les écarts sont interprétés à protocole constant.</a:t>
            </a:r>
            <a:endParaRPr lang="en-US" sz="750" dirty="0"/>
          </a:p>
        </p:txBody>
      </p:sp>
      <p:sp>
        <p:nvSpPr>
          <p:cNvPr id="14" name="Shape 12"/>
          <p:cNvSpPr/>
          <p:nvPr/>
        </p:nvSpPr>
        <p:spPr>
          <a:xfrm>
            <a:off x="8321040" y="709598"/>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5" name="Text 13"/>
          <p:cNvSpPr/>
          <p:nvPr/>
        </p:nvSpPr>
        <p:spPr>
          <a:xfrm>
            <a:off x="8321040" y="709598"/>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02a</a:t>
            </a:r>
            <a:endParaRPr lang="en-US" sz="700" dirty="0"/>
          </a:p>
        </p:txBody>
      </p:sp>
      <p:sp>
        <p:nvSpPr>
          <p:cNvPr id="16" name="Shape 14"/>
          <p:cNvSpPr/>
          <p:nvPr/>
        </p:nvSpPr>
        <p:spPr>
          <a:xfrm>
            <a:off x="4005072" y="1346781"/>
            <a:ext cx="4773168" cy="0"/>
          </a:xfrm>
          <a:prstGeom prst="line">
            <a:avLst/>
          </a:prstGeom>
          <a:noFill/>
          <a:ln w="7620">
            <a:solidFill>
              <a:srgbClr val="F5F5F5"/>
            </a:solidFill>
            <a:prstDash val="solid"/>
          </a:ln>
        </p:spPr>
        <p:txBody>
          <a:bodyPr/>
          <a:lstStyle/>
          <a:p>
            <a:endParaRPr lang="en-CA"/>
          </a:p>
        </p:txBody>
      </p:sp>
      <p:sp>
        <p:nvSpPr>
          <p:cNvPr id="17" name="Shape 15"/>
          <p:cNvSpPr/>
          <p:nvPr/>
        </p:nvSpPr>
        <p:spPr>
          <a:xfrm>
            <a:off x="3675888" y="1456509"/>
            <a:ext cx="256032" cy="256032"/>
          </a:xfrm>
          <a:prstGeom prst="ellipse">
            <a:avLst/>
          </a:prstGeom>
          <a:solidFill>
            <a:srgbClr val="0A0A0A"/>
          </a:solidFill>
          <a:ln w="12700">
            <a:solidFill>
              <a:srgbClr val="0A0A0A"/>
            </a:solidFill>
            <a:prstDash val="solid"/>
          </a:ln>
        </p:spPr>
        <p:txBody>
          <a:bodyPr/>
          <a:lstStyle/>
          <a:p>
            <a:endParaRPr lang="en-CA"/>
          </a:p>
        </p:txBody>
      </p:sp>
      <p:sp>
        <p:nvSpPr>
          <p:cNvPr id="18" name="Text 16"/>
          <p:cNvSpPr/>
          <p:nvPr/>
        </p:nvSpPr>
        <p:spPr>
          <a:xfrm>
            <a:off x="3675888" y="1456509"/>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2</a:t>
            </a:r>
            <a:endParaRPr lang="en-US" sz="900" dirty="0"/>
          </a:p>
        </p:txBody>
      </p:sp>
      <p:sp>
        <p:nvSpPr>
          <p:cNvPr id="19" name="Text 17"/>
          <p:cNvSpPr/>
          <p:nvPr/>
        </p:nvSpPr>
        <p:spPr>
          <a:xfrm>
            <a:off x="4005072" y="1419933"/>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Matrice expérimentale structurée</a:t>
            </a:r>
            <a:endParaRPr lang="en-US" sz="1000" dirty="0"/>
          </a:p>
        </p:txBody>
      </p:sp>
      <p:sp>
        <p:nvSpPr>
          <p:cNvPr id="20" name="Text 18"/>
          <p:cNvSpPr/>
          <p:nvPr/>
        </p:nvSpPr>
        <p:spPr>
          <a:xfrm>
            <a:off x="4005072" y="1700505"/>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31 combinaisons algorithme-mode-clé, 5 tailles de message et 100 répétitions par configuration pour une base statistique homogène.</a:t>
            </a:r>
            <a:endParaRPr lang="en-US" sz="750" dirty="0"/>
          </a:p>
        </p:txBody>
      </p:sp>
      <p:sp>
        <p:nvSpPr>
          <p:cNvPr id="21" name="Shape 19"/>
          <p:cNvSpPr/>
          <p:nvPr/>
        </p:nvSpPr>
        <p:spPr>
          <a:xfrm>
            <a:off x="8321040" y="1511373"/>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22" name="Text 20"/>
          <p:cNvSpPr/>
          <p:nvPr/>
        </p:nvSpPr>
        <p:spPr>
          <a:xfrm>
            <a:off x="8321040" y="1511373"/>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02b</a:t>
            </a:r>
            <a:endParaRPr lang="en-US" sz="700" dirty="0"/>
          </a:p>
        </p:txBody>
      </p:sp>
      <p:sp>
        <p:nvSpPr>
          <p:cNvPr id="23" name="Shape 21"/>
          <p:cNvSpPr/>
          <p:nvPr/>
        </p:nvSpPr>
        <p:spPr>
          <a:xfrm>
            <a:off x="4005072" y="2159292"/>
            <a:ext cx="4773168" cy="0"/>
          </a:xfrm>
          <a:prstGeom prst="line">
            <a:avLst/>
          </a:prstGeom>
          <a:noFill/>
          <a:ln w="7620">
            <a:solidFill>
              <a:srgbClr val="F5F5F5"/>
            </a:solidFill>
            <a:prstDash val="solid"/>
          </a:ln>
        </p:spPr>
        <p:txBody>
          <a:bodyPr/>
          <a:lstStyle/>
          <a:p>
            <a:endParaRPr lang="en-CA"/>
          </a:p>
        </p:txBody>
      </p:sp>
      <p:sp>
        <p:nvSpPr>
          <p:cNvPr id="24" name="Shape 22"/>
          <p:cNvSpPr/>
          <p:nvPr/>
        </p:nvSpPr>
        <p:spPr>
          <a:xfrm>
            <a:off x="3675888" y="2269020"/>
            <a:ext cx="256032" cy="256032"/>
          </a:xfrm>
          <a:prstGeom prst="ellipse">
            <a:avLst/>
          </a:prstGeom>
          <a:solidFill>
            <a:srgbClr val="0A0A0A"/>
          </a:solidFill>
          <a:ln w="12700">
            <a:solidFill>
              <a:srgbClr val="0A0A0A"/>
            </a:solidFill>
            <a:prstDash val="solid"/>
          </a:ln>
        </p:spPr>
        <p:txBody>
          <a:bodyPr/>
          <a:lstStyle/>
          <a:p>
            <a:endParaRPr lang="en-CA"/>
          </a:p>
        </p:txBody>
      </p:sp>
      <p:sp>
        <p:nvSpPr>
          <p:cNvPr id="25" name="Text 23"/>
          <p:cNvSpPr/>
          <p:nvPr/>
        </p:nvSpPr>
        <p:spPr>
          <a:xfrm>
            <a:off x="3675888" y="2269020"/>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3</a:t>
            </a:r>
            <a:endParaRPr lang="en-US" sz="900" dirty="0"/>
          </a:p>
        </p:txBody>
      </p:sp>
      <p:sp>
        <p:nvSpPr>
          <p:cNvPr id="26" name="Text 24"/>
          <p:cNvSpPr/>
          <p:nvPr/>
        </p:nvSpPr>
        <p:spPr>
          <a:xfrm>
            <a:off x="4005072" y="2232444"/>
            <a:ext cx="4206240" cy="256032"/>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Environnements documentés et paramètres contrôlés</a:t>
            </a:r>
            <a:endParaRPr lang="en-US" sz="1000" dirty="0"/>
          </a:p>
        </p:txBody>
      </p:sp>
      <p:sp>
        <p:nvSpPr>
          <p:cNvPr id="27" name="Text 25"/>
          <p:cNvSpPr/>
          <p:nvPr/>
        </p:nvSpPr>
        <p:spPr>
          <a:xfrm>
            <a:off x="4005072" y="2523465"/>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Versions logicielles, paramètres d’exécution et conditions de mesure explicitement documentés sur les deux plateformes.</a:t>
            </a:r>
            <a:endParaRPr lang="en-US" sz="750" dirty="0"/>
          </a:p>
        </p:txBody>
      </p:sp>
      <p:sp>
        <p:nvSpPr>
          <p:cNvPr id="28" name="Shape 26"/>
          <p:cNvSpPr/>
          <p:nvPr/>
        </p:nvSpPr>
        <p:spPr>
          <a:xfrm>
            <a:off x="8321040" y="2323884"/>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29" name="Text 27"/>
          <p:cNvSpPr/>
          <p:nvPr/>
        </p:nvSpPr>
        <p:spPr>
          <a:xfrm>
            <a:off x="8321040" y="2323884"/>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02c</a:t>
            </a:r>
            <a:endParaRPr lang="en-US" sz="700" dirty="0"/>
          </a:p>
        </p:txBody>
      </p:sp>
      <p:sp>
        <p:nvSpPr>
          <p:cNvPr id="30" name="Text 28"/>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6" name="Shape 21">
            <a:extLst>
              <a:ext uri="{FF2B5EF4-FFF2-40B4-BE49-F238E27FC236}">
                <a16:creationId xmlns:a16="http://schemas.microsoft.com/office/drawing/2014/main" id="{3252A76F-A5E3-BC36-D08D-B14B4168A127}"/>
              </a:ext>
            </a:extLst>
          </p:cNvPr>
          <p:cNvSpPr/>
          <p:nvPr/>
        </p:nvSpPr>
        <p:spPr>
          <a:xfrm>
            <a:off x="4005072" y="2982515"/>
            <a:ext cx="4773168" cy="0"/>
          </a:xfrm>
          <a:prstGeom prst="line">
            <a:avLst/>
          </a:prstGeom>
          <a:noFill/>
          <a:ln w="7620">
            <a:solidFill>
              <a:srgbClr val="F5F5F5"/>
            </a:solidFill>
            <a:prstDash val="solid"/>
          </a:ln>
        </p:spPr>
        <p:txBody>
          <a:bodyPr/>
          <a:lstStyle/>
          <a:p>
            <a:endParaRPr lang="en-CA"/>
          </a:p>
        </p:txBody>
      </p:sp>
      <p:sp>
        <p:nvSpPr>
          <p:cNvPr id="38" name="Shape 22">
            <a:extLst>
              <a:ext uri="{FF2B5EF4-FFF2-40B4-BE49-F238E27FC236}">
                <a16:creationId xmlns:a16="http://schemas.microsoft.com/office/drawing/2014/main" id="{6EB160AC-BC9F-1DFB-7C5F-480FF4F4EF9A}"/>
              </a:ext>
            </a:extLst>
          </p:cNvPr>
          <p:cNvSpPr/>
          <p:nvPr/>
        </p:nvSpPr>
        <p:spPr>
          <a:xfrm>
            <a:off x="3675888" y="3092243"/>
            <a:ext cx="256032" cy="256032"/>
          </a:xfrm>
          <a:prstGeom prst="ellipse">
            <a:avLst/>
          </a:prstGeom>
          <a:solidFill>
            <a:srgbClr val="0A0A0A"/>
          </a:solidFill>
          <a:ln w="12700">
            <a:solidFill>
              <a:srgbClr val="0A0A0A"/>
            </a:solidFill>
            <a:prstDash val="solid"/>
          </a:ln>
        </p:spPr>
        <p:txBody>
          <a:bodyPr/>
          <a:lstStyle/>
          <a:p>
            <a:endParaRPr lang="en-CA"/>
          </a:p>
        </p:txBody>
      </p:sp>
      <p:sp>
        <p:nvSpPr>
          <p:cNvPr id="40" name="Text 23">
            <a:extLst>
              <a:ext uri="{FF2B5EF4-FFF2-40B4-BE49-F238E27FC236}">
                <a16:creationId xmlns:a16="http://schemas.microsoft.com/office/drawing/2014/main" id="{629DF086-F2BE-83DF-C99F-127E1EC6D285}"/>
              </a:ext>
            </a:extLst>
          </p:cNvPr>
          <p:cNvSpPr/>
          <p:nvPr/>
        </p:nvSpPr>
        <p:spPr>
          <a:xfrm>
            <a:off x="3675888" y="3092243"/>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cs typeface="Calibri" pitchFamily="34" charset="-120"/>
              </a:rPr>
              <a:t>4</a:t>
            </a:r>
            <a:endParaRPr lang="en-US" sz="900" dirty="0"/>
          </a:p>
        </p:txBody>
      </p:sp>
      <p:sp>
        <p:nvSpPr>
          <p:cNvPr id="42" name="Text 24">
            <a:extLst>
              <a:ext uri="{FF2B5EF4-FFF2-40B4-BE49-F238E27FC236}">
                <a16:creationId xmlns:a16="http://schemas.microsoft.com/office/drawing/2014/main" id="{4D30956B-5493-C786-9C41-1E5591F70F1A}"/>
              </a:ext>
            </a:extLst>
          </p:cNvPr>
          <p:cNvSpPr/>
          <p:nvPr/>
        </p:nvSpPr>
        <p:spPr>
          <a:xfrm>
            <a:off x="4005072" y="3055667"/>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Conditions de reproductibilité</a:t>
            </a:r>
          </a:p>
          <a:p>
            <a:pPr marL="0" indent="0">
              <a:buNone/>
            </a:pPr>
            <a:endParaRPr lang="en-US" sz="1000" dirty="0"/>
          </a:p>
        </p:txBody>
      </p:sp>
      <p:sp>
        <p:nvSpPr>
          <p:cNvPr id="44" name="Text 25">
            <a:extLst>
              <a:ext uri="{FF2B5EF4-FFF2-40B4-BE49-F238E27FC236}">
                <a16:creationId xmlns:a16="http://schemas.microsoft.com/office/drawing/2014/main" id="{0C13D30B-3F69-3562-5C1B-9B90D38DA374}"/>
              </a:ext>
            </a:extLst>
          </p:cNvPr>
          <p:cNvSpPr/>
          <p:nvPr/>
        </p:nvSpPr>
        <p:spPr>
          <a:xfrm>
            <a:off x="4005072" y="3292106"/>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Même matrice expérimentale, mêmes répétitions, même format de sortie et base logicielle alignée pour garantir des comparaisons x86/ARM cohérentes et interprétables.</a:t>
            </a:r>
            <a:endParaRPr lang="en-US" sz="750" dirty="0"/>
          </a:p>
        </p:txBody>
      </p:sp>
      <p:sp>
        <p:nvSpPr>
          <p:cNvPr id="46" name="Shape 26">
            <a:extLst>
              <a:ext uri="{FF2B5EF4-FFF2-40B4-BE49-F238E27FC236}">
                <a16:creationId xmlns:a16="http://schemas.microsoft.com/office/drawing/2014/main" id="{C48F634E-ADC9-6F81-2971-47B577EEB422}"/>
              </a:ext>
            </a:extLst>
          </p:cNvPr>
          <p:cNvSpPr/>
          <p:nvPr/>
        </p:nvSpPr>
        <p:spPr>
          <a:xfrm>
            <a:off x="8321040" y="3147107"/>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48" name="Text 27">
            <a:extLst>
              <a:ext uri="{FF2B5EF4-FFF2-40B4-BE49-F238E27FC236}">
                <a16:creationId xmlns:a16="http://schemas.microsoft.com/office/drawing/2014/main" id="{872D2826-6895-76E7-1EDE-F1E035A5C95E}"/>
              </a:ext>
            </a:extLst>
          </p:cNvPr>
          <p:cNvSpPr/>
          <p:nvPr/>
        </p:nvSpPr>
        <p:spPr>
          <a:xfrm>
            <a:off x="8321040" y="3147107"/>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02d</a:t>
            </a:r>
            <a:endParaRPr lang="en-US" sz="700" dirty="0"/>
          </a:p>
        </p:txBody>
      </p:sp>
      <p:sp>
        <p:nvSpPr>
          <p:cNvPr id="50" name="Shape 21">
            <a:extLst>
              <a:ext uri="{FF2B5EF4-FFF2-40B4-BE49-F238E27FC236}">
                <a16:creationId xmlns:a16="http://schemas.microsoft.com/office/drawing/2014/main" id="{D162FAC8-EC72-6710-20C1-2DB64C9E0B78}"/>
              </a:ext>
            </a:extLst>
          </p:cNvPr>
          <p:cNvSpPr/>
          <p:nvPr/>
        </p:nvSpPr>
        <p:spPr>
          <a:xfrm>
            <a:off x="4005072" y="3759489"/>
            <a:ext cx="4773168" cy="0"/>
          </a:xfrm>
          <a:prstGeom prst="line">
            <a:avLst/>
          </a:prstGeom>
          <a:noFill/>
          <a:ln w="7620">
            <a:solidFill>
              <a:srgbClr val="F5F5F5"/>
            </a:solidFill>
            <a:prstDash val="solid"/>
          </a:ln>
        </p:spPr>
        <p:txBody>
          <a:bodyPr/>
          <a:lstStyle/>
          <a:p>
            <a:endParaRPr lang="en-CA"/>
          </a:p>
        </p:txBody>
      </p:sp>
      <p:sp>
        <p:nvSpPr>
          <p:cNvPr id="52" name="Shape 22">
            <a:extLst>
              <a:ext uri="{FF2B5EF4-FFF2-40B4-BE49-F238E27FC236}">
                <a16:creationId xmlns:a16="http://schemas.microsoft.com/office/drawing/2014/main" id="{1483F9B6-CEBC-16CB-16E4-AA93810FF18B}"/>
              </a:ext>
            </a:extLst>
          </p:cNvPr>
          <p:cNvSpPr/>
          <p:nvPr/>
        </p:nvSpPr>
        <p:spPr>
          <a:xfrm>
            <a:off x="3675888" y="3869217"/>
            <a:ext cx="256032" cy="256032"/>
          </a:xfrm>
          <a:prstGeom prst="ellipse">
            <a:avLst/>
          </a:prstGeom>
          <a:solidFill>
            <a:srgbClr val="0A0A0A"/>
          </a:solidFill>
          <a:ln w="12700">
            <a:solidFill>
              <a:srgbClr val="0A0A0A"/>
            </a:solidFill>
            <a:prstDash val="solid"/>
          </a:ln>
        </p:spPr>
        <p:txBody>
          <a:bodyPr/>
          <a:lstStyle/>
          <a:p>
            <a:endParaRPr lang="en-CA" dirty="0"/>
          </a:p>
        </p:txBody>
      </p:sp>
      <p:sp>
        <p:nvSpPr>
          <p:cNvPr id="54" name="Text 23">
            <a:extLst>
              <a:ext uri="{FF2B5EF4-FFF2-40B4-BE49-F238E27FC236}">
                <a16:creationId xmlns:a16="http://schemas.microsoft.com/office/drawing/2014/main" id="{BC816209-C990-AC6F-AD2D-51355532E656}"/>
              </a:ext>
            </a:extLst>
          </p:cNvPr>
          <p:cNvSpPr/>
          <p:nvPr/>
        </p:nvSpPr>
        <p:spPr>
          <a:xfrm>
            <a:off x="3675888" y="3869217"/>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cs typeface="Calibri" pitchFamily="34" charset="-120"/>
              </a:rPr>
              <a:t>5</a:t>
            </a:r>
            <a:endParaRPr lang="en-US" sz="900" dirty="0"/>
          </a:p>
        </p:txBody>
      </p:sp>
      <p:sp>
        <p:nvSpPr>
          <p:cNvPr id="56" name="Text 24">
            <a:extLst>
              <a:ext uri="{FF2B5EF4-FFF2-40B4-BE49-F238E27FC236}">
                <a16:creationId xmlns:a16="http://schemas.microsoft.com/office/drawing/2014/main" id="{3C867BD9-61CF-4923-47EC-5596DEC2FC92}"/>
              </a:ext>
            </a:extLst>
          </p:cNvPr>
          <p:cNvSpPr/>
          <p:nvPr/>
        </p:nvSpPr>
        <p:spPr>
          <a:xfrm>
            <a:off x="4005072" y="3832641"/>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Contrôle des biais et limites du protocole</a:t>
            </a:r>
            <a:endParaRPr lang="en-US" sz="1000" dirty="0"/>
          </a:p>
        </p:txBody>
      </p:sp>
      <p:sp>
        <p:nvSpPr>
          <p:cNvPr id="58" name="Text 25">
            <a:extLst>
              <a:ext uri="{FF2B5EF4-FFF2-40B4-BE49-F238E27FC236}">
                <a16:creationId xmlns:a16="http://schemas.microsoft.com/office/drawing/2014/main" id="{79A70EB6-D9E9-CFC1-3176-29C3AFE2C8A7}"/>
              </a:ext>
            </a:extLst>
          </p:cNvPr>
          <p:cNvSpPr/>
          <p:nvPr/>
        </p:nvSpPr>
        <p:spPr>
          <a:xfrm>
            <a:off x="4005072" y="4106961"/>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Biais réduits par répétitions et agrégation statistique (IC95); limites explicitées pour une interprétation rigoureuse des résultats.</a:t>
            </a:r>
            <a:endParaRPr lang="en-US" sz="750" dirty="0"/>
          </a:p>
        </p:txBody>
      </p:sp>
      <p:sp>
        <p:nvSpPr>
          <p:cNvPr id="60" name="Shape 26">
            <a:extLst>
              <a:ext uri="{FF2B5EF4-FFF2-40B4-BE49-F238E27FC236}">
                <a16:creationId xmlns:a16="http://schemas.microsoft.com/office/drawing/2014/main" id="{4AEE6223-13DF-0469-66E3-D7546C53E7AE}"/>
              </a:ext>
            </a:extLst>
          </p:cNvPr>
          <p:cNvSpPr/>
          <p:nvPr/>
        </p:nvSpPr>
        <p:spPr>
          <a:xfrm>
            <a:off x="8321040" y="3924081"/>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62" name="Text 27">
            <a:extLst>
              <a:ext uri="{FF2B5EF4-FFF2-40B4-BE49-F238E27FC236}">
                <a16:creationId xmlns:a16="http://schemas.microsoft.com/office/drawing/2014/main" id="{B120B870-8491-8EFC-C26B-017D08A7485E}"/>
              </a:ext>
            </a:extLst>
          </p:cNvPr>
          <p:cNvSpPr/>
          <p:nvPr/>
        </p:nvSpPr>
        <p:spPr>
          <a:xfrm>
            <a:off x="8321040" y="3924081"/>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5488" y="182880"/>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02a  ·  PROTOCOLE EXPÉRIMENTAL ET ENVIRONNEMENT</a:t>
            </a:r>
            <a:endParaRPr lang="en-US" sz="800" dirty="0"/>
          </a:p>
        </p:txBody>
      </p:sp>
      <p:sp>
        <p:nvSpPr>
          <p:cNvPr id="3" name="Text 1"/>
          <p:cNvSpPr/>
          <p:nvPr/>
        </p:nvSpPr>
        <p:spPr>
          <a:xfrm>
            <a:off x="475488" y="384048"/>
            <a:ext cx="8229600" cy="365760"/>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x86 vs ARM </a:t>
            </a:r>
            <a:r>
              <a:rPr lang="en-US" sz="1500" b="1" dirty="0">
                <a:solidFill>
                  <a:srgbClr val="0A0A0A"/>
                </a:solidFill>
                <a:latin typeface="Calibri" pitchFamily="34" charset="0"/>
                <a:cs typeface="Calibri" pitchFamily="34" charset="-120"/>
              </a:rPr>
              <a:t>—</a:t>
            </a:r>
            <a:r>
              <a:rPr lang="en-US" sz="1500" b="1" dirty="0">
                <a:solidFill>
                  <a:srgbClr val="C9A84C"/>
                </a:solidFill>
                <a:latin typeface="Calibri" pitchFamily="34" charset="0"/>
                <a:ea typeface="Calibri" pitchFamily="34" charset="-122"/>
                <a:cs typeface="Calibri" pitchFamily="34" charset="-120"/>
              </a:rPr>
              <a:t> </a:t>
            </a:r>
            <a:r>
              <a:rPr lang="fr-FR" sz="1500" b="1" dirty="0">
                <a:solidFill>
                  <a:srgbClr val="C9A84C"/>
                </a:solidFill>
                <a:latin typeface="Calibri" pitchFamily="34" charset="0"/>
                <a:ea typeface="Calibri" pitchFamily="34" charset="-122"/>
                <a:cs typeface="Calibri" pitchFamily="34" charset="-120"/>
              </a:rPr>
              <a:t>protocole commun, contexte matériel distinct</a:t>
            </a:r>
            <a:endParaRPr lang="en-US" sz="1500" dirty="0"/>
          </a:p>
        </p:txBody>
      </p:sp>
      <p:sp>
        <p:nvSpPr>
          <p:cNvPr id="4" name="Shape 2"/>
          <p:cNvSpPr/>
          <p:nvPr/>
        </p:nvSpPr>
        <p:spPr>
          <a:xfrm>
            <a:off x="4572000" y="1005840"/>
            <a:ext cx="0" cy="2889504"/>
          </a:xfrm>
          <a:prstGeom prst="line">
            <a:avLst/>
          </a:prstGeom>
          <a:noFill/>
          <a:ln w="10160">
            <a:solidFill>
              <a:srgbClr val="E8E8E8"/>
            </a:solidFill>
            <a:prstDash val="solid"/>
          </a:ln>
        </p:spPr>
        <p:txBody>
          <a:bodyPr/>
          <a:lstStyle/>
          <a:p>
            <a:endParaRPr lang="en-CA"/>
          </a:p>
        </p:txBody>
      </p:sp>
      <p:sp>
        <p:nvSpPr>
          <p:cNvPr id="5" name="Shape 3"/>
          <p:cNvSpPr/>
          <p:nvPr/>
        </p:nvSpPr>
        <p:spPr>
          <a:xfrm>
            <a:off x="4334256" y="2212848"/>
            <a:ext cx="475488" cy="475488"/>
          </a:xfrm>
          <a:prstGeom prst="ellipse">
            <a:avLst/>
          </a:prstGeom>
          <a:solidFill>
            <a:srgbClr val="FFFFFF"/>
          </a:solidFill>
          <a:ln w="19050">
            <a:solidFill>
              <a:srgbClr val="C9A84C"/>
            </a:solidFill>
            <a:prstDash val="solid"/>
          </a:ln>
        </p:spPr>
        <p:txBody>
          <a:bodyPr/>
          <a:lstStyle/>
          <a:p>
            <a:endParaRPr lang="en-CA"/>
          </a:p>
        </p:txBody>
      </p:sp>
      <p:sp>
        <p:nvSpPr>
          <p:cNvPr id="6" name="Text 4"/>
          <p:cNvSpPr/>
          <p:nvPr/>
        </p:nvSpPr>
        <p:spPr>
          <a:xfrm>
            <a:off x="4334256" y="2212848"/>
            <a:ext cx="475488" cy="475488"/>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VS</a:t>
            </a:r>
            <a:endParaRPr lang="en-US" sz="1100" dirty="0"/>
          </a:p>
        </p:txBody>
      </p:sp>
      <p:sp>
        <p:nvSpPr>
          <p:cNvPr id="7" name="Text 5"/>
          <p:cNvSpPr/>
          <p:nvPr/>
        </p:nvSpPr>
        <p:spPr>
          <a:xfrm>
            <a:off x="475488" y="822960"/>
            <a:ext cx="3474720" cy="182880"/>
          </a:xfrm>
          <a:prstGeom prst="rect">
            <a:avLst/>
          </a:prstGeom>
          <a:noFill/>
          <a:ln/>
        </p:spPr>
        <p:txBody>
          <a:bodyPr wrap="square" lIns="0" tIns="0" rIns="0" bIns="0" rtlCol="0" anchor="ctr"/>
          <a:lstStyle/>
          <a:p>
            <a:pPr marL="0" indent="0">
              <a:buNone/>
            </a:pPr>
            <a:r>
              <a:rPr lang="en-US" sz="700" b="1" kern="0" spc="200" dirty="0">
                <a:solidFill>
                  <a:srgbClr val="C9A84C"/>
                </a:solidFill>
                <a:latin typeface="Calibri" pitchFamily="34" charset="0"/>
                <a:ea typeface="Calibri" pitchFamily="34" charset="-122"/>
                <a:cs typeface="Calibri" pitchFamily="34" charset="-120"/>
              </a:rPr>
              <a:t>LAPTOP  ·  WINDOWS 11</a:t>
            </a:r>
            <a:endParaRPr lang="en-US" sz="700" dirty="0"/>
          </a:p>
        </p:txBody>
      </p:sp>
      <p:sp>
        <p:nvSpPr>
          <p:cNvPr id="8" name="Text 6"/>
          <p:cNvSpPr/>
          <p:nvPr/>
        </p:nvSpPr>
        <p:spPr>
          <a:xfrm>
            <a:off x="475488" y="1078992"/>
            <a:ext cx="3474720" cy="438912"/>
          </a:xfrm>
          <a:prstGeom prst="rect">
            <a:avLst/>
          </a:prstGeom>
          <a:noFill/>
          <a:ln/>
        </p:spPr>
        <p:txBody>
          <a:bodyPr wrap="square" lIns="0" tIns="0" rIns="0" bIns="0" rtlCol="0" anchor="ctr"/>
          <a:lstStyle/>
          <a:p>
            <a:pPr marL="0" indent="0">
              <a:buNone/>
            </a:pPr>
            <a:r>
              <a:rPr lang="en-US" sz="2800" b="1" dirty="0">
                <a:solidFill>
                  <a:srgbClr val="0A0A0A"/>
                </a:solidFill>
                <a:latin typeface="Calibri" pitchFamily="34" charset="0"/>
                <a:ea typeface="Calibri" pitchFamily="34" charset="-122"/>
                <a:cs typeface="Calibri" pitchFamily="34" charset="-120"/>
              </a:rPr>
              <a:t>Intel Core</a:t>
            </a:r>
            <a:endParaRPr lang="en-US" sz="2800" dirty="0"/>
          </a:p>
        </p:txBody>
      </p:sp>
      <p:sp>
        <p:nvSpPr>
          <p:cNvPr id="9" name="Text 7"/>
          <p:cNvSpPr/>
          <p:nvPr/>
        </p:nvSpPr>
        <p:spPr>
          <a:xfrm>
            <a:off x="475488" y="1517904"/>
            <a:ext cx="3474720" cy="438912"/>
          </a:xfrm>
          <a:prstGeom prst="rect">
            <a:avLst/>
          </a:prstGeom>
          <a:noFill/>
          <a:ln/>
        </p:spPr>
        <p:txBody>
          <a:bodyPr wrap="square" lIns="0" tIns="0" rIns="0" bIns="0" rtlCol="0" anchor="ctr"/>
          <a:lstStyle/>
          <a:p>
            <a:pPr marL="0" indent="0">
              <a:buNone/>
            </a:pPr>
            <a:r>
              <a:rPr lang="en-US" sz="2800" b="1" dirty="0">
                <a:solidFill>
                  <a:srgbClr val="C9A84C"/>
                </a:solidFill>
                <a:latin typeface="Calibri" pitchFamily="34" charset="0"/>
                <a:ea typeface="Calibri" pitchFamily="34" charset="-122"/>
                <a:cs typeface="Calibri" pitchFamily="34" charset="-120"/>
              </a:rPr>
              <a:t>i5-10300H</a:t>
            </a:r>
            <a:endParaRPr lang="en-US" sz="2800" dirty="0"/>
          </a:p>
        </p:txBody>
      </p:sp>
      <p:sp>
        <p:nvSpPr>
          <p:cNvPr id="11" name="Text 9"/>
          <p:cNvSpPr/>
          <p:nvPr/>
        </p:nvSpPr>
        <p:spPr>
          <a:xfrm>
            <a:off x="621792" y="2041779"/>
            <a:ext cx="3328416" cy="292608"/>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OS : Windows 11</a:t>
            </a:r>
            <a:endParaRPr lang="en-US" sz="950" dirty="0"/>
          </a:p>
        </p:txBody>
      </p:sp>
      <p:sp>
        <p:nvSpPr>
          <p:cNvPr id="13" name="Text 11"/>
          <p:cNvSpPr/>
          <p:nvPr/>
        </p:nvSpPr>
        <p:spPr>
          <a:xfrm>
            <a:off x="621792" y="2468880"/>
            <a:ext cx="3328416" cy="292608"/>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RAM : 32 Go</a:t>
            </a:r>
            <a:endParaRPr lang="en-US" sz="950" dirty="0"/>
          </a:p>
        </p:txBody>
      </p:sp>
      <p:sp>
        <p:nvSpPr>
          <p:cNvPr id="15" name="Text 13"/>
          <p:cNvSpPr/>
          <p:nvPr/>
        </p:nvSpPr>
        <p:spPr>
          <a:xfrm>
            <a:off x="621792" y="2868168"/>
            <a:ext cx="3328416" cy="292608"/>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Architecture : x86-64</a:t>
            </a:r>
            <a:endParaRPr lang="en-US" sz="950" dirty="0"/>
          </a:p>
        </p:txBody>
      </p:sp>
      <p:sp>
        <p:nvSpPr>
          <p:cNvPr id="16" name="Shape 14"/>
          <p:cNvSpPr/>
          <p:nvPr/>
        </p:nvSpPr>
        <p:spPr>
          <a:xfrm>
            <a:off x="436619" y="3492246"/>
            <a:ext cx="3513589" cy="597408"/>
          </a:xfrm>
          <a:prstGeom prst="roundRect">
            <a:avLst>
              <a:gd name="adj" fmla="val 50000"/>
            </a:avLst>
          </a:prstGeom>
          <a:solidFill>
            <a:srgbClr val="FFFBF0"/>
          </a:solidFill>
          <a:ln w="15240">
            <a:solidFill>
              <a:srgbClr val="C9A84C"/>
            </a:solidFill>
            <a:prstDash val="solid"/>
          </a:ln>
        </p:spPr>
        <p:txBody>
          <a:bodyPr/>
          <a:lstStyle/>
          <a:p>
            <a:endParaRPr lang="en-CA"/>
          </a:p>
        </p:txBody>
      </p:sp>
      <p:sp>
        <p:nvSpPr>
          <p:cNvPr id="17" name="Text 15"/>
          <p:cNvSpPr/>
          <p:nvPr/>
        </p:nvSpPr>
        <p:spPr>
          <a:xfrm>
            <a:off x="299466" y="3557923"/>
            <a:ext cx="3753612" cy="417195"/>
          </a:xfrm>
          <a:prstGeom prst="rect">
            <a:avLst/>
          </a:prstGeom>
          <a:noFill/>
          <a:ln/>
        </p:spPr>
        <p:txBody>
          <a:bodyPr wrap="square" lIns="0" tIns="0" rIns="0" bIns="0" rtlCol="0" anchor="ctr"/>
          <a:lstStyle/>
          <a:p>
            <a:pPr marL="0" indent="0" algn="ctr">
              <a:buNone/>
            </a:pPr>
            <a:r>
              <a:rPr lang="en-US" sz="1050" b="1" dirty="0">
                <a:solidFill>
                  <a:srgbClr val="C9A84C"/>
                </a:solidFill>
                <a:latin typeface="Calibri" pitchFamily="34" charset="0"/>
                <a:ea typeface="Calibri" pitchFamily="34" charset="-122"/>
                <a:cs typeface="Calibri" pitchFamily="34" charset="-120"/>
              </a:rPr>
              <a:t>✓  AES-NI disponible (Intel)</a:t>
            </a:r>
          </a:p>
          <a:p>
            <a:pPr marL="0" indent="0" algn="ctr">
              <a:buNone/>
            </a:pPr>
            <a:r>
              <a:rPr lang="fr-FR" sz="1050" dirty="0">
                <a:solidFill>
                  <a:schemeClr val="bg2">
                    <a:lumMod val="50000"/>
                  </a:schemeClr>
                </a:solidFill>
              </a:rPr>
              <a:t>Accélération matérielle du chiffrement AES</a:t>
            </a:r>
            <a:endParaRPr lang="en-US" sz="1050" dirty="0">
              <a:solidFill>
                <a:schemeClr val="bg2">
                  <a:lumMod val="50000"/>
                </a:schemeClr>
              </a:solidFill>
            </a:endParaRPr>
          </a:p>
        </p:txBody>
      </p:sp>
      <p:sp>
        <p:nvSpPr>
          <p:cNvPr id="18" name="Text 16"/>
          <p:cNvSpPr/>
          <p:nvPr/>
        </p:nvSpPr>
        <p:spPr>
          <a:xfrm>
            <a:off x="5614416" y="861145"/>
            <a:ext cx="3017520" cy="182880"/>
          </a:xfrm>
          <a:prstGeom prst="rect">
            <a:avLst/>
          </a:prstGeom>
          <a:noFill/>
          <a:ln/>
        </p:spPr>
        <p:txBody>
          <a:bodyPr wrap="square" lIns="0" tIns="0" rIns="0" bIns="0" rtlCol="0" anchor="ctr"/>
          <a:lstStyle/>
          <a:p>
            <a:pPr marL="0" indent="0" algn="r">
              <a:buNone/>
            </a:pPr>
            <a:r>
              <a:rPr lang="en-US" sz="700" b="1" kern="0" spc="200" dirty="0">
                <a:solidFill>
                  <a:srgbClr val="C9A84C"/>
                </a:solidFill>
                <a:latin typeface="Calibri" pitchFamily="34" charset="0"/>
                <a:ea typeface="Calibri" pitchFamily="34" charset="-122"/>
                <a:cs typeface="Calibri" pitchFamily="34" charset="-120"/>
              </a:rPr>
              <a:t>RASPBERRY PI 4  ·  LINUX</a:t>
            </a:r>
            <a:endParaRPr lang="en-US" sz="700" dirty="0"/>
          </a:p>
        </p:txBody>
      </p:sp>
      <p:sp>
        <p:nvSpPr>
          <p:cNvPr id="20" name="Text 18"/>
          <p:cNvSpPr/>
          <p:nvPr/>
        </p:nvSpPr>
        <p:spPr>
          <a:xfrm>
            <a:off x="5328666" y="1136227"/>
            <a:ext cx="3303269" cy="438912"/>
          </a:xfrm>
          <a:prstGeom prst="rect">
            <a:avLst/>
          </a:prstGeom>
          <a:noFill/>
          <a:ln/>
        </p:spPr>
        <p:txBody>
          <a:bodyPr wrap="square" lIns="0" tIns="0" rIns="0" bIns="0" rtlCol="0" anchor="ctr"/>
          <a:lstStyle/>
          <a:p>
            <a:pPr marL="0" indent="0" algn="r">
              <a:buNone/>
            </a:pPr>
            <a:r>
              <a:rPr lang="en-US" sz="2800" b="1" dirty="0">
                <a:solidFill>
                  <a:srgbClr val="0A0A0A"/>
                </a:solidFill>
                <a:latin typeface="Calibri" pitchFamily="34" charset="0"/>
                <a:ea typeface="Calibri" pitchFamily="34" charset="-122"/>
                <a:cs typeface="Calibri" pitchFamily="34" charset="-120"/>
              </a:rPr>
              <a:t>ARM</a:t>
            </a:r>
            <a:endParaRPr lang="en-US" sz="2800" dirty="0"/>
          </a:p>
        </p:txBody>
      </p:sp>
      <p:sp>
        <p:nvSpPr>
          <p:cNvPr id="21" name="Text 19"/>
          <p:cNvSpPr/>
          <p:nvPr/>
        </p:nvSpPr>
        <p:spPr>
          <a:xfrm>
            <a:off x="5369814" y="1562185"/>
            <a:ext cx="3262121" cy="438912"/>
          </a:xfrm>
          <a:prstGeom prst="rect">
            <a:avLst/>
          </a:prstGeom>
          <a:noFill/>
          <a:ln/>
        </p:spPr>
        <p:txBody>
          <a:bodyPr wrap="square" lIns="0" tIns="0" rIns="0" bIns="0" rtlCol="0" anchor="ctr"/>
          <a:lstStyle/>
          <a:p>
            <a:pPr marL="0" indent="0" algn="r">
              <a:buNone/>
            </a:pPr>
            <a:r>
              <a:rPr lang="en-US" sz="2800" b="1" dirty="0">
                <a:solidFill>
                  <a:srgbClr val="C9A84C"/>
                </a:solidFill>
                <a:latin typeface="Calibri" pitchFamily="34" charset="0"/>
                <a:ea typeface="Calibri" pitchFamily="34" charset="-122"/>
                <a:cs typeface="Calibri" pitchFamily="34" charset="-120"/>
              </a:rPr>
              <a:t>Cortex-A72</a:t>
            </a:r>
            <a:endParaRPr lang="en-US" sz="2800" dirty="0"/>
          </a:p>
        </p:txBody>
      </p:sp>
      <p:sp>
        <p:nvSpPr>
          <p:cNvPr id="22" name="Shape 20"/>
          <p:cNvSpPr/>
          <p:nvPr/>
        </p:nvSpPr>
        <p:spPr>
          <a:xfrm>
            <a:off x="8467342" y="2207599"/>
            <a:ext cx="45719" cy="49530"/>
          </a:xfrm>
          <a:prstGeom prst="ellipse">
            <a:avLst/>
          </a:prstGeom>
          <a:solidFill>
            <a:srgbClr val="C9A84C"/>
          </a:solidFill>
          <a:ln w="12700">
            <a:solidFill>
              <a:srgbClr val="C9A84C"/>
            </a:solidFill>
            <a:prstDash val="solid"/>
          </a:ln>
        </p:spPr>
        <p:txBody>
          <a:bodyPr/>
          <a:lstStyle/>
          <a:p>
            <a:endParaRPr lang="en-CA"/>
          </a:p>
        </p:txBody>
      </p:sp>
      <p:sp>
        <p:nvSpPr>
          <p:cNvPr id="23" name="Text 21"/>
          <p:cNvSpPr/>
          <p:nvPr/>
        </p:nvSpPr>
        <p:spPr>
          <a:xfrm>
            <a:off x="5431536" y="2098633"/>
            <a:ext cx="2926079" cy="292608"/>
          </a:xfrm>
          <a:prstGeom prst="rect">
            <a:avLst/>
          </a:prstGeom>
          <a:noFill/>
          <a:ln/>
        </p:spPr>
        <p:txBody>
          <a:bodyPr wrap="square" lIns="0" tIns="0" rIns="0" bIns="0" rtlCol="0" anchor="ctr"/>
          <a:lstStyle/>
          <a:p>
            <a:pPr marL="0" indent="0" algn="r">
              <a:buNone/>
            </a:pPr>
            <a:r>
              <a:rPr lang="en-US" sz="950" dirty="0">
                <a:solidFill>
                  <a:srgbClr val="555555"/>
                </a:solidFill>
                <a:latin typeface="Calibri" pitchFamily="34" charset="0"/>
                <a:ea typeface="Calibri" pitchFamily="34" charset="-122"/>
                <a:cs typeface="Calibri" pitchFamily="34" charset="-120"/>
              </a:rPr>
              <a:t>OS : Linux (Raspberry Pi OS)</a:t>
            </a:r>
            <a:endParaRPr lang="en-US" sz="950" dirty="0"/>
          </a:p>
        </p:txBody>
      </p:sp>
      <p:sp>
        <p:nvSpPr>
          <p:cNvPr id="25" name="Text 23"/>
          <p:cNvSpPr/>
          <p:nvPr/>
        </p:nvSpPr>
        <p:spPr>
          <a:xfrm>
            <a:off x="5431536" y="2500969"/>
            <a:ext cx="2926079" cy="292608"/>
          </a:xfrm>
          <a:prstGeom prst="rect">
            <a:avLst/>
          </a:prstGeom>
          <a:noFill/>
          <a:ln/>
        </p:spPr>
        <p:txBody>
          <a:bodyPr wrap="square" lIns="0" tIns="0" rIns="0" bIns="0" rtlCol="0" anchor="ctr"/>
          <a:lstStyle/>
          <a:p>
            <a:pPr marL="0" indent="0" algn="r">
              <a:buNone/>
            </a:pPr>
            <a:r>
              <a:rPr lang="en-US" sz="950" dirty="0">
                <a:solidFill>
                  <a:srgbClr val="555555"/>
                </a:solidFill>
                <a:latin typeface="Calibri" pitchFamily="34" charset="0"/>
                <a:ea typeface="Calibri" pitchFamily="34" charset="-122"/>
                <a:cs typeface="Calibri" pitchFamily="34" charset="-120"/>
              </a:rPr>
              <a:t>RAM : 4 Go</a:t>
            </a:r>
            <a:endParaRPr lang="en-US" sz="950" dirty="0"/>
          </a:p>
        </p:txBody>
      </p:sp>
      <p:sp>
        <p:nvSpPr>
          <p:cNvPr id="27" name="Text 25"/>
          <p:cNvSpPr/>
          <p:nvPr/>
        </p:nvSpPr>
        <p:spPr>
          <a:xfrm>
            <a:off x="5513394" y="2912449"/>
            <a:ext cx="2844222" cy="292608"/>
          </a:xfrm>
          <a:prstGeom prst="rect">
            <a:avLst/>
          </a:prstGeom>
          <a:noFill/>
          <a:ln/>
        </p:spPr>
        <p:txBody>
          <a:bodyPr wrap="square" lIns="0" tIns="0" rIns="0" bIns="0" rtlCol="0" anchor="ctr"/>
          <a:lstStyle/>
          <a:p>
            <a:pPr marL="0" indent="0" algn="r">
              <a:buNone/>
            </a:pPr>
            <a:r>
              <a:rPr lang="en-US" sz="950" dirty="0">
                <a:solidFill>
                  <a:srgbClr val="555555"/>
                </a:solidFill>
                <a:latin typeface="Calibri" pitchFamily="34" charset="0"/>
                <a:ea typeface="Calibri" pitchFamily="34" charset="-122"/>
                <a:cs typeface="Calibri" pitchFamily="34" charset="-120"/>
              </a:rPr>
              <a:t>Architecture : ARM64</a:t>
            </a:r>
            <a:endParaRPr lang="en-US" sz="950" dirty="0"/>
          </a:p>
        </p:txBody>
      </p:sp>
      <p:sp>
        <p:nvSpPr>
          <p:cNvPr id="28" name="Shape 26"/>
          <p:cNvSpPr/>
          <p:nvPr/>
        </p:nvSpPr>
        <p:spPr>
          <a:xfrm>
            <a:off x="5020496" y="3486235"/>
            <a:ext cx="3541014" cy="597408"/>
          </a:xfrm>
          <a:prstGeom prst="roundRect">
            <a:avLst>
              <a:gd name="adj" fmla="val 50000"/>
            </a:avLst>
          </a:prstGeom>
          <a:solidFill>
            <a:srgbClr val="FFF0F0"/>
          </a:solidFill>
          <a:ln w="15240">
            <a:solidFill>
              <a:srgbClr val="CC4444"/>
            </a:solidFill>
            <a:prstDash val="solid"/>
          </a:ln>
        </p:spPr>
        <p:txBody>
          <a:bodyPr/>
          <a:lstStyle/>
          <a:p>
            <a:endParaRPr lang="en-CA"/>
          </a:p>
        </p:txBody>
      </p:sp>
      <p:sp>
        <p:nvSpPr>
          <p:cNvPr id="29" name="Text 27"/>
          <p:cNvSpPr/>
          <p:nvPr/>
        </p:nvSpPr>
        <p:spPr>
          <a:xfrm>
            <a:off x="5132071" y="3609358"/>
            <a:ext cx="3335271" cy="365760"/>
          </a:xfrm>
          <a:prstGeom prst="rect">
            <a:avLst/>
          </a:prstGeom>
          <a:noFill/>
          <a:ln/>
        </p:spPr>
        <p:txBody>
          <a:bodyPr wrap="square" lIns="0" tIns="0" rIns="0" bIns="0" rtlCol="0" anchor="ctr"/>
          <a:lstStyle/>
          <a:p>
            <a:pPr marL="0" indent="0" algn="ctr">
              <a:buNone/>
            </a:pPr>
            <a:r>
              <a:rPr lang="en-US" sz="1050" b="1" dirty="0">
                <a:solidFill>
                  <a:srgbClr val="CC4444"/>
                </a:solidFill>
                <a:latin typeface="Calibri" pitchFamily="34" charset="0"/>
                <a:ea typeface="Calibri" pitchFamily="34" charset="-122"/>
                <a:cs typeface="Calibri" pitchFamily="34" charset="-120"/>
              </a:rPr>
              <a:t>✗  AES-NI absent (Cortex-A72)</a:t>
            </a:r>
          </a:p>
          <a:p>
            <a:pPr marL="0" indent="0" algn="ctr">
              <a:buNone/>
            </a:pPr>
            <a:r>
              <a:rPr lang="fr-FR" sz="1050" dirty="0">
                <a:solidFill>
                  <a:schemeClr val="bg2">
                    <a:lumMod val="50000"/>
                  </a:schemeClr>
                </a:solidFill>
              </a:rPr>
              <a:t>Performance AES dépendante des extensions disponibles et des backends logiciels</a:t>
            </a:r>
            <a:endParaRPr lang="en-US" sz="1050" dirty="0">
              <a:solidFill>
                <a:schemeClr val="bg2">
                  <a:lumMod val="50000"/>
                </a:schemeClr>
              </a:solidFill>
            </a:endParaRPr>
          </a:p>
        </p:txBody>
      </p:sp>
      <p:sp>
        <p:nvSpPr>
          <p:cNvPr id="30" name="Text 28"/>
          <p:cNvSpPr/>
          <p:nvPr/>
        </p:nvSpPr>
        <p:spPr>
          <a:xfrm>
            <a:off x="475488" y="4370832"/>
            <a:ext cx="8229600" cy="219456"/>
          </a:xfrm>
          <a:prstGeom prst="rect">
            <a:avLst/>
          </a:prstGeom>
          <a:noFill/>
          <a:ln/>
        </p:spPr>
        <p:txBody>
          <a:bodyPr wrap="square" lIns="0" tIns="0" rIns="0" bIns="0" rtlCol="0" anchor="ctr"/>
          <a:lstStyle/>
          <a:p>
            <a:pPr marL="0" indent="0" algn="ctr">
              <a:buNone/>
            </a:pPr>
            <a:r>
              <a:rPr lang="fr-FR" sz="900" i="1" dirty="0">
                <a:solidFill>
                  <a:schemeClr val="bg2">
                    <a:lumMod val="50000"/>
                  </a:schemeClr>
                </a:solidFill>
                <a:latin typeface="Calibri" pitchFamily="34" charset="0"/>
                <a:ea typeface="Calibri" pitchFamily="34" charset="-122"/>
                <a:cs typeface="Calibri" pitchFamily="34" charset="-120"/>
              </a:rPr>
              <a:t>Même code, même protocole, matériel distinct: la performance brute doit être interprétée dans son contexte d’architecture</a:t>
            </a:r>
            <a:r>
              <a:rPr lang="en-US" sz="900" i="1" dirty="0">
                <a:solidFill>
                  <a:schemeClr val="bg2">
                    <a:lumMod val="50000"/>
                  </a:schemeClr>
                </a:solidFill>
                <a:latin typeface="Calibri" pitchFamily="34" charset="0"/>
                <a:ea typeface="Calibri" pitchFamily="34" charset="-122"/>
                <a:cs typeface="Calibri" pitchFamily="34" charset="-120"/>
              </a:rPr>
              <a:t>.</a:t>
            </a:r>
            <a:endParaRPr lang="en-US" sz="900" dirty="0">
              <a:solidFill>
                <a:schemeClr val="bg2">
                  <a:lumMod val="50000"/>
                </a:schemeClr>
              </a:solidFill>
            </a:endParaRPr>
          </a:p>
        </p:txBody>
      </p:sp>
      <p:sp>
        <p:nvSpPr>
          <p:cNvPr id="31" name="Text 29"/>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3" name="Shape 20">
            <a:extLst>
              <a:ext uri="{FF2B5EF4-FFF2-40B4-BE49-F238E27FC236}">
                <a16:creationId xmlns:a16="http://schemas.microsoft.com/office/drawing/2014/main" id="{99EDE612-1EB3-BBD4-B026-F1E0F719C263}"/>
              </a:ext>
            </a:extLst>
          </p:cNvPr>
          <p:cNvSpPr/>
          <p:nvPr/>
        </p:nvSpPr>
        <p:spPr>
          <a:xfrm>
            <a:off x="8470391" y="2622127"/>
            <a:ext cx="45719" cy="49530"/>
          </a:xfrm>
          <a:prstGeom prst="ellipse">
            <a:avLst/>
          </a:prstGeom>
          <a:solidFill>
            <a:srgbClr val="C9A84C"/>
          </a:solidFill>
          <a:ln w="12700">
            <a:solidFill>
              <a:srgbClr val="C9A84C"/>
            </a:solidFill>
            <a:prstDash val="solid"/>
          </a:ln>
        </p:spPr>
        <p:txBody>
          <a:bodyPr/>
          <a:lstStyle/>
          <a:p>
            <a:endParaRPr lang="en-CA"/>
          </a:p>
        </p:txBody>
      </p:sp>
      <p:sp>
        <p:nvSpPr>
          <p:cNvPr id="35" name="Shape 20">
            <a:extLst>
              <a:ext uri="{FF2B5EF4-FFF2-40B4-BE49-F238E27FC236}">
                <a16:creationId xmlns:a16="http://schemas.microsoft.com/office/drawing/2014/main" id="{800B0469-6DF0-8F78-3715-71DDC21FD201}"/>
              </a:ext>
            </a:extLst>
          </p:cNvPr>
          <p:cNvSpPr/>
          <p:nvPr/>
        </p:nvSpPr>
        <p:spPr>
          <a:xfrm>
            <a:off x="8470391" y="3029797"/>
            <a:ext cx="45719" cy="49530"/>
          </a:xfrm>
          <a:prstGeom prst="ellipse">
            <a:avLst/>
          </a:prstGeom>
          <a:solidFill>
            <a:srgbClr val="C9A84C"/>
          </a:solidFill>
          <a:ln w="12700">
            <a:solidFill>
              <a:srgbClr val="C9A84C"/>
            </a:solidFill>
            <a:prstDash val="solid"/>
          </a:ln>
        </p:spPr>
        <p:txBody>
          <a:bodyPr/>
          <a:lstStyle/>
          <a:p>
            <a:endParaRPr lang="en-CA"/>
          </a:p>
        </p:txBody>
      </p:sp>
      <p:sp>
        <p:nvSpPr>
          <p:cNvPr id="37" name="Shape 20">
            <a:extLst>
              <a:ext uri="{FF2B5EF4-FFF2-40B4-BE49-F238E27FC236}">
                <a16:creationId xmlns:a16="http://schemas.microsoft.com/office/drawing/2014/main" id="{C8D356E4-2669-CA7C-02CF-3806988FFC3A}"/>
              </a:ext>
            </a:extLst>
          </p:cNvPr>
          <p:cNvSpPr/>
          <p:nvPr/>
        </p:nvSpPr>
        <p:spPr>
          <a:xfrm>
            <a:off x="452628" y="2172462"/>
            <a:ext cx="45719" cy="49530"/>
          </a:xfrm>
          <a:prstGeom prst="ellipse">
            <a:avLst/>
          </a:prstGeom>
          <a:solidFill>
            <a:srgbClr val="C9A84C"/>
          </a:solidFill>
          <a:ln w="12700">
            <a:solidFill>
              <a:srgbClr val="C9A84C"/>
            </a:solidFill>
            <a:prstDash val="solid"/>
          </a:ln>
        </p:spPr>
        <p:txBody>
          <a:bodyPr/>
          <a:lstStyle/>
          <a:p>
            <a:endParaRPr lang="en-CA"/>
          </a:p>
        </p:txBody>
      </p:sp>
      <p:sp>
        <p:nvSpPr>
          <p:cNvPr id="39" name="Shape 20">
            <a:extLst>
              <a:ext uri="{FF2B5EF4-FFF2-40B4-BE49-F238E27FC236}">
                <a16:creationId xmlns:a16="http://schemas.microsoft.com/office/drawing/2014/main" id="{0C5E47BB-E41E-788F-4177-20662C9B4A88}"/>
              </a:ext>
            </a:extLst>
          </p:cNvPr>
          <p:cNvSpPr/>
          <p:nvPr/>
        </p:nvSpPr>
        <p:spPr>
          <a:xfrm>
            <a:off x="452627" y="2577846"/>
            <a:ext cx="45719" cy="49530"/>
          </a:xfrm>
          <a:prstGeom prst="ellipse">
            <a:avLst/>
          </a:prstGeom>
          <a:solidFill>
            <a:srgbClr val="C9A84C"/>
          </a:solidFill>
          <a:ln w="12700">
            <a:solidFill>
              <a:srgbClr val="C9A84C"/>
            </a:solidFill>
            <a:prstDash val="solid"/>
          </a:ln>
        </p:spPr>
        <p:txBody>
          <a:bodyPr/>
          <a:lstStyle/>
          <a:p>
            <a:endParaRPr lang="en-CA"/>
          </a:p>
        </p:txBody>
      </p:sp>
      <p:sp>
        <p:nvSpPr>
          <p:cNvPr id="41" name="Shape 20">
            <a:extLst>
              <a:ext uri="{FF2B5EF4-FFF2-40B4-BE49-F238E27FC236}">
                <a16:creationId xmlns:a16="http://schemas.microsoft.com/office/drawing/2014/main" id="{E5A22DEC-05E2-C0AD-822C-64DCF0843AF2}"/>
              </a:ext>
            </a:extLst>
          </p:cNvPr>
          <p:cNvSpPr/>
          <p:nvPr/>
        </p:nvSpPr>
        <p:spPr>
          <a:xfrm>
            <a:off x="443486" y="2981706"/>
            <a:ext cx="45719" cy="49530"/>
          </a:xfrm>
          <a:prstGeom prst="ellipse">
            <a:avLst/>
          </a:prstGeom>
          <a:solidFill>
            <a:srgbClr val="C9A84C"/>
          </a:solidFill>
          <a:ln w="12700">
            <a:solidFill>
              <a:srgbClr val="C9A84C"/>
            </a:solidFill>
            <a:prstDash val="solid"/>
          </a:ln>
        </p:spPr>
        <p:txBody>
          <a:bodyPr/>
          <a:lstStyle/>
          <a:p>
            <a:endParaRPr lang="en-CA"/>
          </a:p>
        </p:txBody>
      </p:sp>
      <p:pic>
        <p:nvPicPr>
          <p:cNvPr id="43" name="Graphic 42" descr="Laptop outline">
            <a:extLst>
              <a:ext uri="{FF2B5EF4-FFF2-40B4-BE49-F238E27FC236}">
                <a16:creationId xmlns:a16="http://schemas.microsoft.com/office/drawing/2014/main" id="{79FA56F5-7FCA-E442-98C4-39BFDA9FC8D9}"/>
              </a:ext>
            </a:extLst>
          </p:cNvPr>
          <p:cNvPicPr>
            <a:picLocks noChangeAspect="1"/>
          </p:cNvPicPr>
          <p:nvPr/>
        </p:nvPicPr>
        <p:blipFill>
          <a:blip>
            <a:alphaModFix amt="23000"/>
            <a:extLst>
              <a:ext uri="{96DAC541-7B7A-43D3-8B79-37D633B846F1}">
                <asvg:svgBlip xmlns:asvg="http://schemas.microsoft.com/office/drawing/2016/SVG/main" r:embed="rId3"/>
              </a:ext>
            </a:extLst>
          </a:blip>
          <a:stretch>
            <a:fillRect/>
          </a:stretch>
        </p:blipFill>
        <p:spPr>
          <a:xfrm>
            <a:off x="2953951" y="1999488"/>
            <a:ext cx="914400" cy="914400"/>
          </a:xfrm>
          <a:prstGeom prst="rect">
            <a:avLst/>
          </a:prstGeom>
        </p:spPr>
      </p:pic>
      <p:pic>
        <p:nvPicPr>
          <p:cNvPr id="45" name="Picture 44">
            <a:extLst>
              <a:ext uri="{FF2B5EF4-FFF2-40B4-BE49-F238E27FC236}">
                <a16:creationId xmlns:a16="http://schemas.microsoft.com/office/drawing/2014/main" id="{69AD3E95-A872-D019-BD5E-AF7126EDCE35}"/>
              </a:ext>
            </a:extLst>
          </p:cNvPr>
          <p:cNvPicPr>
            <a:picLocks noChangeAspect="1"/>
          </p:cNvPicPr>
          <p:nvPr/>
        </p:nvPicPr>
        <p:blipFill>
          <a:blip r:embed="rId4">
            <a:alphaModFix amt="22000"/>
          </a:blip>
          <a:stretch>
            <a:fillRect/>
          </a:stretch>
        </p:blipFill>
        <p:spPr>
          <a:xfrm>
            <a:off x="5344581" y="2122761"/>
            <a:ext cx="649395" cy="6493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5488" y="182880"/>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02b  ·  PROTOCOLE EXPÉRIMENTAL ET ENVIRONNEMENT</a:t>
            </a:r>
            <a:endParaRPr lang="en-US" sz="800" dirty="0"/>
          </a:p>
        </p:txBody>
      </p:sp>
      <p:sp>
        <p:nvSpPr>
          <p:cNvPr id="3" name="Text 1"/>
          <p:cNvSpPr/>
          <p:nvPr/>
        </p:nvSpPr>
        <p:spPr>
          <a:xfrm>
            <a:off x="475488" y="384048"/>
            <a:ext cx="8229600" cy="365760"/>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Matrice </a:t>
            </a:r>
            <a:r>
              <a:rPr lang="en-US" sz="1500" b="1" dirty="0">
                <a:solidFill>
                  <a:srgbClr val="0A0A0A"/>
                </a:solidFill>
                <a:latin typeface="Calibri" pitchFamily="34" charset="0"/>
                <a:cs typeface="Calibri" pitchFamily="34" charset="-120"/>
              </a:rPr>
              <a:t>expérimentale —</a:t>
            </a:r>
            <a:r>
              <a:rPr lang="en-US" sz="1500" b="1" dirty="0">
                <a:solidFill>
                  <a:srgbClr val="C9A84C"/>
                </a:solidFill>
                <a:latin typeface="Calibri" pitchFamily="34" charset="0"/>
                <a:ea typeface="Calibri" pitchFamily="34" charset="-122"/>
                <a:cs typeface="Calibri" pitchFamily="34" charset="-120"/>
              </a:rPr>
              <a:t> structurée et comparable</a:t>
            </a:r>
            <a:endParaRPr lang="en-US" sz="1500" dirty="0"/>
          </a:p>
        </p:txBody>
      </p:sp>
      <p:sp>
        <p:nvSpPr>
          <p:cNvPr id="4" name="Text 2"/>
          <p:cNvSpPr/>
          <p:nvPr/>
        </p:nvSpPr>
        <p:spPr>
          <a:xfrm>
            <a:off x="475488" y="969264"/>
            <a:ext cx="1280160" cy="731520"/>
          </a:xfrm>
          <a:prstGeom prst="rect">
            <a:avLst/>
          </a:prstGeom>
          <a:noFill/>
          <a:ln/>
        </p:spPr>
        <p:txBody>
          <a:bodyPr wrap="square" lIns="0" tIns="0" rIns="0" bIns="0" rtlCol="0" anchor="ctr"/>
          <a:lstStyle/>
          <a:p>
            <a:pPr marL="0" indent="0">
              <a:buNone/>
            </a:pPr>
            <a:r>
              <a:rPr lang="en-US" sz="5200" b="1" dirty="0">
                <a:solidFill>
                  <a:srgbClr val="C9A84C"/>
                </a:solidFill>
                <a:latin typeface="Calibri" pitchFamily="34" charset="0"/>
                <a:ea typeface="Calibri" pitchFamily="34" charset="-122"/>
                <a:cs typeface="Calibri" pitchFamily="34" charset="-120"/>
              </a:rPr>
              <a:t>100</a:t>
            </a:r>
            <a:endParaRPr lang="en-US" sz="5200" dirty="0"/>
          </a:p>
        </p:txBody>
      </p:sp>
      <p:sp>
        <p:nvSpPr>
          <p:cNvPr id="5" name="Text 3"/>
          <p:cNvSpPr/>
          <p:nvPr/>
        </p:nvSpPr>
        <p:spPr>
          <a:xfrm>
            <a:off x="1792224" y="1042416"/>
            <a:ext cx="2157984" cy="274320"/>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répétitions</a:t>
            </a:r>
            <a:endParaRPr lang="en-US" sz="1100" dirty="0"/>
          </a:p>
        </p:txBody>
      </p:sp>
      <p:sp>
        <p:nvSpPr>
          <p:cNvPr id="6" name="Text 4"/>
          <p:cNvSpPr/>
          <p:nvPr/>
        </p:nvSpPr>
        <p:spPr>
          <a:xfrm>
            <a:off x="1792224" y="1335024"/>
            <a:ext cx="2157984" cy="237744"/>
          </a:xfrm>
          <a:prstGeom prst="rect">
            <a:avLst/>
          </a:prstGeom>
          <a:noFill/>
          <a:ln/>
        </p:spPr>
        <p:txBody>
          <a:bodyPr wrap="square" lIns="0" tIns="0" rIns="0" bIns="0" rtlCol="0" anchor="t"/>
          <a:lstStyle/>
          <a:p>
            <a:pPr marL="0" indent="0">
              <a:buNone/>
            </a:pPr>
            <a:r>
              <a:rPr lang="en-US" sz="850" dirty="0">
                <a:solidFill>
                  <a:srgbClr val="C0C0C0"/>
                </a:solidFill>
                <a:latin typeface="Calibri" pitchFamily="34" charset="0"/>
                <a:ea typeface="Calibri" pitchFamily="34" charset="-122"/>
                <a:cs typeface="Calibri" pitchFamily="34" charset="-120"/>
              </a:rPr>
              <a:t>par configuration</a:t>
            </a:r>
            <a:endParaRPr lang="en-US" sz="850" dirty="0"/>
          </a:p>
        </p:txBody>
      </p:sp>
      <p:sp>
        <p:nvSpPr>
          <p:cNvPr id="7" name="Shape 5"/>
          <p:cNvSpPr/>
          <p:nvPr/>
        </p:nvSpPr>
        <p:spPr>
          <a:xfrm>
            <a:off x="475488" y="1956816"/>
            <a:ext cx="3474720" cy="0"/>
          </a:xfrm>
          <a:prstGeom prst="line">
            <a:avLst/>
          </a:prstGeom>
          <a:noFill/>
          <a:ln w="7620">
            <a:solidFill>
              <a:srgbClr val="F5F5F5"/>
            </a:solidFill>
            <a:prstDash val="solid"/>
          </a:ln>
        </p:spPr>
        <p:txBody>
          <a:bodyPr/>
          <a:lstStyle/>
          <a:p>
            <a:endParaRPr lang="en-CA"/>
          </a:p>
        </p:txBody>
      </p:sp>
      <p:sp>
        <p:nvSpPr>
          <p:cNvPr id="8" name="Text 6"/>
          <p:cNvSpPr/>
          <p:nvPr/>
        </p:nvSpPr>
        <p:spPr>
          <a:xfrm>
            <a:off x="475488" y="2084832"/>
            <a:ext cx="1280160" cy="731520"/>
          </a:xfrm>
          <a:prstGeom prst="rect">
            <a:avLst/>
          </a:prstGeom>
          <a:noFill/>
          <a:ln/>
        </p:spPr>
        <p:txBody>
          <a:bodyPr wrap="square" lIns="0" tIns="0" rIns="0" bIns="0" rtlCol="0" anchor="ctr"/>
          <a:lstStyle/>
          <a:p>
            <a:pPr marL="0" indent="0">
              <a:buNone/>
            </a:pPr>
            <a:r>
              <a:rPr lang="en-US" sz="5200" b="1" dirty="0">
                <a:solidFill>
                  <a:srgbClr val="0A0A0A"/>
                </a:solidFill>
                <a:latin typeface="Calibri" pitchFamily="34" charset="0"/>
                <a:ea typeface="Calibri" pitchFamily="34" charset="-122"/>
                <a:cs typeface="Calibri" pitchFamily="34" charset="-120"/>
              </a:rPr>
              <a:t>31</a:t>
            </a:r>
            <a:endParaRPr lang="en-US" sz="5200" dirty="0"/>
          </a:p>
        </p:txBody>
      </p:sp>
      <p:sp>
        <p:nvSpPr>
          <p:cNvPr id="9" name="Text 7"/>
          <p:cNvSpPr/>
          <p:nvPr/>
        </p:nvSpPr>
        <p:spPr>
          <a:xfrm>
            <a:off x="1792224" y="2157984"/>
            <a:ext cx="2157984" cy="274320"/>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combinaisons</a:t>
            </a:r>
            <a:endParaRPr lang="en-US" sz="1100" dirty="0"/>
          </a:p>
        </p:txBody>
      </p:sp>
      <p:sp>
        <p:nvSpPr>
          <p:cNvPr id="10" name="Text 8"/>
          <p:cNvSpPr/>
          <p:nvPr/>
        </p:nvSpPr>
        <p:spPr>
          <a:xfrm>
            <a:off x="1792224" y="2450592"/>
            <a:ext cx="2157984" cy="237744"/>
          </a:xfrm>
          <a:prstGeom prst="rect">
            <a:avLst/>
          </a:prstGeom>
          <a:noFill/>
          <a:ln/>
        </p:spPr>
        <p:txBody>
          <a:bodyPr wrap="square" lIns="0" tIns="0" rIns="0" bIns="0" rtlCol="0" anchor="t"/>
          <a:lstStyle/>
          <a:p>
            <a:pPr marL="0" indent="0">
              <a:buNone/>
            </a:pPr>
            <a:r>
              <a:rPr lang="en-US" sz="850" dirty="0">
                <a:solidFill>
                  <a:srgbClr val="C0C0C0"/>
                </a:solidFill>
                <a:latin typeface="Calibri" pitchFamily="34" charset="0"/>
                <a:ea typeface="Calibri" pitchFamily="34" charset="-122"/>
                <a:cs typeface="Calibri" pitchFamily="34" charset="-120"/>
              </a:rPr>
              <a:t>algorithme · mode · clé</a:t>
            </a:r>
            <a:endParaRPr lang="en-US" sz="850" dirty="0"/>
          </a:p>
        </p:txBody>
      </p:sp>
      <p:sp>
        <p:nvSpPr>
          <p:cNvPr id="11" name="Shape 9"/>
          <p:cNvSpPr/>
          <p:nvPr/>
        </p:nvSpPr>
        <p:spPr>
          <a:xfrm>
            <a:off x="475488" y="3072384"/>
            <a:ext cx="3474720" cy="0"/>
          </a:xfrm>
          <a:prstGeom prst="line">
            <a:avLst/>
          </a:prstGeom>
          <a:noFill/>
          <a:ln w="7620">
            <a:solidFill>
              <a:srgbClr val="F5F5F5"/>
            </a:solidFill>
            <a:prstDash val="solid"/>
          </a:ln>
        </p:spPr>
        <p:txBody>
          <a:bodyPr/>
          <a:lstStyle/>
          <a:p>
            <a:endParaRPr lang="en-CA"/>
          </a:p>
        </p:txBody>
      </p:sp>
      <p:sp>
        <p:nvSpPr>
          <p:cNvPr id="12" name="Text 10"/>
          <p:cNvSpPr/>
          <p:nvPr/>
        </p:nvSpPr>
        <p:spPr>
          <a:xfrm>
            <a:off x="475488" y="3200400"/>
            <a:ext cx="1280160" cy="731520"/>
          </a:xfrm>
          <a:prstGeom prst="rect">
            <a:avLst/>
          </a:prstGeom>
          <a:noFill/>
          <a:ln/>
        </p:spPr>
        <p:txBody>
          <a:bodyPr wrap="square" lIns="0" tIns="0" rIns="0" bIns="0" rtlCol="0" anchor="ctr"/>
          <a:lstStyle/>
          <a:p>
            <a:pPr marL="0" indent="0">
              <a:buNone/>
            </a:pPr>
            <a:r>
              <a:rPr lang="en-US" sz="5200" b="1" dirty="0">
                <a:solidFill>
                  <a:srgbClr val="C9A84C"/>
                </a:solidFill>
                <a:latin typeface="Calibri" pitchFamily="34" charset="0"/>
                <a:ea typeface="Calibri" pitchFamily="34" charset="-122"/>
                <a:cs typeface="Calibri" pitchFamily="34" charset="-120"/>
              </a:rPr>
              <a:t>155</a:t>
            </a:r>
            <a:endParaRPr lang="en-US" sz="5200" dirty="0"/>
          </a:p>
        </p:txBody>
      </p:sp>
      <p:sp>
        <p:nvSpPr>
          <p:cNvPr id="13" name="Text 11"/>
          <p:cNvSpPr/>
          <p:nvPr/>
        </p:nvSpPr>
        <p:spPr>
          <a:xfrm>
            <a:off x="1792224" y="3273552"/>
            <a:ext cx="2157984" cy="274320"/>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configurations mesurées</a:t>
            </a:r>
            <a:endParaRPr lang="en-US" sz="1100" dirty="0"/>
          </a:p>
        </p:txBody>
      </p:sp>
      <p:sp>
        <p:nvSpPr>
          <p:cNvPr id="14" name="Text 12"/>
          <p:cNvSpPr/>
          <p:nvPr/>
        </p:nvSpPr>
        <p:spPr>
          <a:xfrm>
            <a:off x="1792224" y="3566160"/>
            <a:ext cx="2157984" cy="237744"/>
          </a:xfrm>
          <a:prstGeom prst="rect">
            <a:avLst/>
          </a:prstGeom>
          <a:noFill/>
          <a:ln/>
        </p:spPr>
        <p:txBody>
          <a:bodyPr wrap="square" lIns="0" tIns="0" rIns="0" bIns="0" rtlCol="0" anchor="t"/>
          <a:lstStyle/>
          <a:p>
            <a:pPr marL="0" indent="0">
              <a:buNone/>
            </a:pPr>
            <a:r>
              <a:rPr lang="en-US" sz="850" dirty="0">
                <a:solidFill>
                  <a:srgbClr val="C0C0C0"/>
                </a:solidFill>
                <a:latin typeface="Calibri" pitchFamily="34" charset="0"/>
                <a:ea typeface="Calibri" pitchFamily="34" charset="-122"/>
                <a:cs typeface="Calibri" pitchFamily="34" charset="-120"/>
              </a:rPr>
              <a:t>par plateforme</a:t>
            </a:r>
            <a:endParaRPr lang="en-US" sz="850" dirty="0"/>
          </a:p>
        </p:txBody>
      </p:sp>
      <p:sp>
        <p:nvSpPr>
          <p:cNvPr id="15" name="Shape 13"/>
          <p:cNvSpPr/>
          <p:nvPr/>
        </p:nvSpPr>
        <p:spPr>
          <a:xfrm>
            <a:off x="4096512" y="987551"/>
            <a:ext cx="64008" cy="3243959"/>
          </a:xfrm>
          <a:prstGeom prst="line">
            <a:avLst/>
          </a:prstGeom>
          <a:noFill/>
          <a:ln w="10160">
            <a:solidFill>
              <a:srgbClr val="EEEEEE"/>
            </a:solidFill>
            <a:prstDash val="solid"/>
          </a:ln>
        </p:spPr>
        <p:txBody>
          <a:bodyPr/>
          <a:lstStyle/>
          <a:p>
            <a:endParaRPr lang="en-CA"/>
          </a:p>
        </p:txBody>
      </p:sp>
      <p:sp>
        <p:nvSpPr>
          <p:cNvPr id="16" name="Text 14"/>
          <p:cNvSpPr/>
          <p:nvPr/>
        </p:nvSpPr>
        <p:spPr>
          <a:xfrm>
            <a:off x="4389120" y="896112"/>
            <a:ext cx="4389120" cy="182880"/>
          </a:xfrm>
          <a:prstGeom prst="rect">
            <a:avLst/>
          </a:prstGeom>
          <a:noFill/>
          <a:ln/>
        </p:spPr>
        <p:txBody>
          <a:bodyPr wrap="square" lIns="0" tIns="0" rIns="0" bIns="0" rtlCol="0" anchor="ctr"/>
          <a:lstStyle/>
          <a:p>
            <a:pPr marL="0" indent="0">
              <a:buNone/>
            </a:pPr>
            <a:r>
              <a:rPr lang="en-US" sz="750" b="1" kern="0" spc="150" dirty="0">
                <a:solidFill>
                  <a:srgbClr val="C9A84C"/>
                </a:solidFill>
                <a:latin typeface="Calibri" pitchFamily="34" charset="0"/>
                <a:ea typeface="Calibri" pitchFamily="34" charset="-122"/>
                <a:cs typeface="Calibri" pitchFamily="34" charset="-120"/>
              </a:rPr>
              <a:t>TAILLES DE MESSAGE</a:t>
            </a:r>
            <a:endParaRPr lang="en-US" sz="750" dirty="0"/>
          </a:p>
        </p:txBody>
      </p:sp>
      <p:sp>
        <p:nvSpPr>
          <p:cNvPr id="17" name="Shape 15"/>
          <p:cNvSpPr/>
          <p:nvPr/>
        </p:nvSpPr>
        <p:spPr>
          <a:xfrm>
            <a:off x="4389120" y="1133856"/>
            <a:ext cx="621792" cy="256032"/>
          </a:xfrm>
          <a:prstGeom prst="roundRect">
            <a:avLst>
              <a:gd name="adj" fmla="val 50000"/>
            </a:avLst>
          </a:prstGeom>
          <a:solidFill>
            <a:srgbClr val="F2F2F2"/>
          </a:solidFill>
          <a:ln w="12700">
            <a:solidFill>
              <a:srgbClr val="F2F2F2"/>
            </a:solidFill>
            <a:prstDash val="solid"/>
          </a:ln>
        </p:spPr>
        <p:txBody>
          <a:bodyPr/>
          <a:lstStyle/>
          <a:p>
            <a:endParaRPr lang="en-CA"/>
          </a:p>
        </p:txBody>
      </p:sp>
      <p:sp>
        <p:nvSpPr>
          <p:cNvPr id="18" name="Text 16"/>
          <p:cNvSpPr/>
          <p:nvPr/>
        </p:nvSpPr>
        <p:spPr>
          <a:xfrm>
            <a:off x="4389120" y="1133856"/>
            <a:ext cx="621792" cy="256032"/>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64 o</a:t>
            </a:r>
            <a:endParaRPr lang="en-US" sz="800" dirty="0"/>
          </a:p>
        </p:txBody>
      </p:sp>
      <p:sp>
        <p:nvSpPr>
          <p:cNvPr id="19" name="Shape 17"/>
          <p:cNvSpPr/>
          <p:nvPr/>
        </p:nvSpPr>
        <p:spPr>
          <a:xfrm>
            <a:off x="5084064" y="1133856"/>
            <a:ext cx="822960" cy="256032"/>
          </a:xfrm>
          <a:prstGeom prst="roundRect">
            <a:avLst>
              <a:gd name="adj" fmla="val 50000"/>
            </a:avLst>
          </a:prstGeom>
          <a:solidFill>
            <a:srgbClr val="F2F2F2"/>
          </a:solidFill>
          <a:ln w="12700">
            <a:solidFill>
              <a:srgbClr val="F2F2F2"/>
            </a:solidFill>
            <a:prstDash val="solid"/>
          </a:ln>
        </p:spPr>
        <p:txBody>
          <a:bodyPr/>
          <a:lstStyle/>
          <a:p>
            <a:endParaRPr lang="en-CA"/>
          </a:p>
        </p:txBody>
      </p:sp>
      <p:sp>
        <p:nvSpPr>
          <p:cNvPr id="20" name="Text 18"/>
          <p:cNvSpPr/>
          <p:nvPr/>
        </p:nvSpPr>
        <p:spPr>
          <a:xfrm>
            <a:off x="5084064" y="1133856"/>
            <a:ext cx="822960" cy="256032"/>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256 o</a:t>
            </a:r>
            <a:endParaRPr lang="en-US" sz="800" dirty="0"/>
          </a:p>
        </p:txBody>
      </p:sp>
      <p:sp>
        <p:nvSpPr>
          <p:cNvPr id="21" name="Shape 19"/>
          <p:cNvSpPr/>
          <p:nvPr/>
        </p:nvSpPr>
        <p:spPr>
          <a:xfrm>
            <a:off x="5980176" y="1133856"/>
            <a:ext cx="822960" cy="256032"/>
          </a:xfrm>
          <a:prstGeom prst="roundRect">
            <a:avLst>
              <a:gd name="adj" fmla="val 50000"/>
            </a:avLst>
          </a:prstGeom>
          <a:solidFill>
            <a:srgbClr val="F2F2F2"/>
          </a:solidFill>
          <a:ln w="12700">
            <a:solidFill>
              <a:srgbClr val="F2F2F2"/>
            </a:solidFill>
            <a:prstDash val="solid"/>
          </a:ln>
        </p:spPr>
        <p:txBody>
          <a:bodyPr/>
          <a:lstStyle/>
          <a:p>
            <a:endParaRPr lang="en-CA"/>
          </a:p>
        </p:txBody>
      </p:sp>
      <p:sp>
        <p:nvSpPr>
          <p:cNvPr id="22" name="Text 20"/>
          <p:cNvSpPr/>
          <p:nvPr/>
        </p:nvSpPr>
        <p:spPr>
          <a:xfrm>
            <a:off x="5980176" y="1133856"/>
            <a:ext cx="822960" cy="256032"/>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1 024 o</a:t>
            </a:r>
            <a:endParaRPr lang="en-US" sz="800" dirty="0"/>
          </a:p>
        </p:txBody>
      </p:sp>
      <p:sp>
        <p:nvSpPr>
          <p:cNvPr id="23" name="Shape 21"/>
          <p:cNvSpPr/>
          <p:nvPr/>
        </p:nvSpPr>
        <p:spPr>
          <a:xfrm>
            <a:off x="6876288" y="1133856"/>
            <a:ext cx="822960" cy="256032"/>
          </a:xfrm>
          <a:prstGeom prst="roundRect">
            <a:avLst>
              <a:gd name="adj" fmla="val 50000"/>
            </a:avLst>
          </a:prstGeom>
          <a:solidFill>
            <a:srgbClr val="F2F2F2"/>
          </a:solidFill>
          <a:ln w="12700">
            <a:solidFill>
              <a:srgbClr val="F2F2F2"/>
            </a:solidFill>
            <a:prstDash val="solid"/>
          </a:ln>
        </p:spPr>
        <p:txBody>
          <a:bodyPr/>
          <a:lstStyle/>
          <a:p>
            <a:endParaRPr lang="en-CA"/>
          </a:p>
        </p:txBody>
      </p:sp>
      <p:sp>
        <p:nvSpPr>
          <p:cNvPr id="24" name="Text 22"/>
          <p:cNvSpPr/>
          <p:nvPr/>
        </p:nvSpPr>
        <p:spPr>
          <a:xfrm>
            <a:off x="6876288" y="1133856"/>
            <a:ext cx="822960" cy="256032"/>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4 096 o</a:t>
            </a:r>
            <a:endParaRPr lang="en-US" sz="800" dirty="0"/>
          </a:p>
        </p:txBody>
      </p:sp>
      <p:sp>
        <p:nvSpPr>
          <p:cNvPr id="25" name="Shape 23"/>
          <p:cNvSpPr/>
          <p:nvPr/>
        </p:nvSpPr>
        <p:spPr>
          <a:xfrm>
            <a:off x="7772400" y="1133856"/>
            <a:ext cx="822960" cy="256032"/>
          </a:xfrm>
          <a:prstGeom prst="roundRect">
            <a:avLst>
              <a:gd name="adj" fmla="val 50000"/>
            </a:avLst>
          </a:prstGeom>
          <a:solidFill>
            <a:srgbClr val="F2F2F2"/>
          </a:solidFill>
          <a:ln w="12700">
            <a:solidFill>
              <a:srgbClr val="F2F2F2"/>
            </a:solidFill>
            <a:prstDash val="solid"/>
          </a:ln>
        </p:spPr>
        <p:txBody>
          <a:bodyPr/>
          <a:lstStyle/>
          <a:p>
            <a:endParaRPr lang="en-CA"/>
          </a:p>
        </p:txBody>
      </p:sp>
      <p:sp>
        <p:nvSpPr>
          <p:cNvPr id="26" name="Text 24"/>
          <p:cNvSpPr/>
          <p:nvPr/>
        </p:nvSpPr>
        <p:spPr>
          <a:xfrm>
            <a:off x="7772400" y="1133856"/>
            <a:ext cx="822960" cy="256032"/>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16 384 o</a:t>
            </a:r>
            <a:endParaRPr lang="en-US" sz="800" dirty="0"/>
          </a:p>
        </p:txBody>
      </p:sp>
      <p:sp>
        <p:nvSpPr>
          <p:cNvPr id="27" name="Shape 25"/>
          <p:cNvSpPr/>
          <p:nvPr/>
        </p:nvSpPr>
        <p:spPr>
          <a:xfrm>
            <a:off x="4389120" y="1517904"/>
            <a:ext cx="4389120" cy="0"/>
          </a:xfrm>
          <a:prstGeom prst="line">
            <a:avLst/>
          </a:prstGeom>
          <a:noFill/>
          <a:ln w="7620">
            <a:solidFill>
              <a:srgbClr val="F5F5F5"/>
            </a:solidFill>
            <a:prstDash val="solid"/>
          </a:ln>
        </p:spPr>
        <p:txBody>
          <a:bodyPr/>
          <a:lstStyle/>
          <a:p>
            <a:endParaRPr lang="en-CA"/>
          </a:p>
        </p:txBody>
      </p:sp>
      <p:sp>
        <p:nvSpPr>
          <p:cNvPr id="28" name="Text 26"/>
          <p:cNvSpPr/>
          <p:nvPr/>
        </p:nvSpPr>
        <p:spPr>
          <a:xfrm>
            <a:off x="4389120" y="1645920"/>
            <a:ext cx="4389120" cy="182880"/>
          </a:xfrm>
          <a:prstGeom prst="rect">
            <a:avLst/>
          </a:prstGeom>
          <a:noFill/>
          <a:ln/>
        </p:spPr>
        <p:txBody>
          <a:bodyPr wrap="square" lIns="0" tIns="0" rIns="0" bIns="0" rtlCol="0" anchor="ctr"/>
          <a:lstStyle/>
          <a:p>
            <a:pPr marL="0" indent="0">
              <a:buNone/>
            </a:pPr>
            <a:r>
              <a:rPr lang="en-US" sz="750" b="1" kern="0" spc="150" dirty="0">
                <a:solidFill>
                  <a:srgbClr val="C9A84C"/>
                </a:solidFill>
                <a:latin typeface="Calibri" pitchFamily="34" charset="0"/>
                <a:ea typeface="Calibri" pitchFamily="34" charset="-122"/>
                <a:cs typeface="Calibri" pitchFamily="34" charset="-120"/>
              </a:rPr>
              <a:t>CALCUL</a:t>
            </a:r>
            <a:endParaRPr lang="en-US" sz="750" dirty="0"/>
          </a:p>
        </p:txBody>
      </p:sp>
      <p:sp>
        <p:nvSpPr>
          <p:cNvPr id="29" name="Text 27"/>
          <p:cNvSpPr/>
          <p:nvPr/>
        </p:nvSpPr>
        <p:spPr>
          <a:xfrm>
            <a:off x="4334257" y="1975539"/>
            <a:ext cx="658368" cy="438912"/>
          </a:xfrm>
          <a:prstGeom prst="rect">
            <a:avLst/>
          </a:prstGeom>
          <a:noFill/>
          <a:ln/>
        </p:spPr>
        <p:txBody>
          <a:bodyPr wrap="square" lIns="0" tIns="0" rIns="0" bIns="0" rtlCol="0" anchor="ctr"/>
          <a:lstStyle/>
          <a:p>
            <a:pPr marL="0" indent="0" algn="ctr">
              <a:buNone/>
            </a:pPr>
            <a:r>
              <a:rPr lang="en-US" sz="2200" b="1" dirty="0">
                <a:solidFill>
                  <a:srgbClr val="0A0A0A"/>
                </a:solidFill>
                <a:latin typeface="Calibri" pitchFamily="34" charset="0"/>
                <a:ea typeface="Calibri" pitchFamily="34" charset="-122"/>
                <a:cs typeface="Calibri" pitchFamily="34" charset="-120"/>
              </a:rPr>
              <a:t>31</a:t>
            </a:r>
            <a:endParaRPr lang="en-US" sz="2200" dirty="0"/>
          </a:p>
        </p:txBody>
      </p:sp>
      <p:sp>
        <p:nvSpPr>
          <p:cNvPr id="30" name="Text 28"/>
          <p:cNvSpPr/>
          <p:nvPr/>
        </p:nvSpPr>
        <p:spPr>
          <a:xfrm>
            <a:off x="5577841" y="1975539"/>
            <a:ext cx="274320" cy="438912"/>
          </a:xfrm>
          <a:prstGeom prst="rect">
            <a:avLst/>
          </a:prstGeom>
          <a:noFill/>
          <a:ln/>
        </p:spPr>
        <p:txBody>
          <a:bodyPr wrap="square" lIns="0" tIns="0" rIns="0" bIns="0" rtlCol="0" anchor="ctr"/>
          <a:lstStyle/>
          <a:p>
            <a:pPr marL="0" indent="0" algn="ctr">
              <a:buNone/>
            </a:pPr>
            <a:r>
              <a:rPr lang="en-US" sz="1600" dirty="0">
                <a:solidFill>
                  <a:srgbClr val="DDDDDD"/>
                </a:solidFill>
                <a:latin typeface="Calibri" pitchFamily="34" charset="0"/>
                <a:ea typeface="Calibri" pitchFamily="34" charset="-122"/>
                <a:cs typeface="Calibri" pitchFamily="34" charset="-120"/>
              </a:rPr>
              <a:t>×</a:t>
            </a:r>
            <a:endParaRPr lang="en-US" sz="1600" dirty="0"/>
          </a:p>
        </p:txBody>
      </p:sp>
      <p:sp>
        <p:nvSpPr>
          <p:cNvPr id="31" name="Text 29"/>
          <p:cNvSpPr/>
          <p:nvPr/>
        </p:nvSpPr>
        <p:spPr>
          <a:xfrm>
            <a:off x="5689092" y="1973798"/>
            <a:ext cx="658368" cy="438912"/>
          </a:xfrm>
          <a:prstGeom prst="rect">
            <a:avLst/>
          </a:prstGeom>
          <a:noFill/>
          <a:ln/>
        </p:spPr>
        <p:txBody>
          <a:bodyPr wrap="square" lIns="0" tIns="0" rIns="0" bIns="0" rtlCol="0" anchor="ctr"/>
          <a:lstStyle/>
          <a:p>
            <a:pPr marL="0" indent="0" algn="ctr">
              <a:buNone/>
            </a:pPr>
            <a:r>
              <a:rPr lang="en-US" sz="2200" b="1" dirty="0">
                <a:solidFill>
                  <a:srgbClr val="0A0A0A"/>
                </a:solidFill>
                <a:latin typeface="Calibri" pitchFamily="34" charset="0"/>
                <a:ea typeface="Calibri" pitchFamily="34" charset="-122"/>
                <a:cs typeface="Calibri" pitchFamily="34" charset="-120"/>
              </a:rPr>
              <a:t>5</a:t>
            </a:r>
            <a:endParaRPr lang="en-US" sz="2200" dirty="0"/>
          </a:p>
        </p:txBody>
      </p:sp>
      <p:sp>
        <p:nvSpPr>
          <p:cNvPr id="32" name="Text 30"/>
          <p:cNvSpPr/>
          <p:nvPr/>
        </p:nvSpPr>
        <p:spPr>
          <a:xfrm>
            <a:off x="6576060" y="1973798"/>
            <a:ext cx="274320" cy="438912"/>
          </a:xfrm>
          <a:prstGeom prst="rect">
            <a:avLst/>
          </a:prstGeom>
          <a:noFill/>
          <a:ln/>
        </p:spPr>
        <p:txBody>
          <a:bodyPr wrap="square" lIns="0" tIns="0" rIns="0" bIns="0" rtlCol="0" anchor="ctr"/>
          <a:lstStyle/>
          <a:p>
            <a:pPr marL="0" indent="0" algn="ctr">
              <a:buNone/>
            </a:pPr>
            <a:r>
              <a:rPr lang="en-US" sz="1600" dirty="0">
                <a:solidFill>
                  <a:srgbClr val="DDDDDD"/>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6768592" y="1966395"/>
            <a:ext cx="658368" cy="438912"/>
          </a:xfrm>
          <a:prstGeom prst="rect">
            <a:avLst/>
          </a:prstGeom>
          <a:noFill/>
          <a:ln/>
        </p:spPr>
        <p:txBody>
          <a:bodyPr wrap="square" lIns="0" tIns="0" rIns="0" bIns="0" rtlCol="0" anchor="ctr"/>
          <a:lstStyle/>
          <a:p>
            <a:pPr marL="0" indent="0" algn="ctr">
              <a:buNone/>
            </a:pPr>
            <a:r>
              <a:rPr lang="en-US" sz="2200" b="1" dirty="0">
                <a:solidFill>
                  <a:srgbClr val="C9A84C"/>
                </a:solidFill>
                <a:latin typeface="Calibri" pitchFamily="34" charset="0"/>
                <a:ea typeface="Calibri" pitchFamily="34" charset="-122"/>
                <a:cs typeface="Calibri" pitchFamily="34" charset="-120"/>
              </a:rPr>
              <a:t>155</a:t>
            </a:r>
            <a:endParaRPr lang="en-US" sz="2200" dirty="0"/>
          </a:p>
        </p:txBody>
      </p:sp>
      <p:sp>
        <p:nvSpPr>
          <p:cNvPr id="34" name="Text 32"/>
          <p:cNvSpPr/>
          <p:nvPr/>
        </p:nvSpPr>
        <p:spPr>
          <a:xfrm>
            <a:off x="6171548" y="2107329"/>
            <a:ext cx="1280160" cy="256032"/>
          </a:xfrm>
          <a:prstGeom prst="rect">
            <a:avLst/>
          </a:prstGeom>
          <a:noFill/>
          <a:ln/>
        </p:spPr>
        <p:txBody>
          <a:bodyPr wrap="square" lIns="0" tIns="0" rIns="0" bIns="0" rtlCol="0" anchor="ctr"/>
          <a:lstStyle/>
          <a:p>
            <a:pPr marL="0" indent="0">
              <a:buNone/>
            </a:pPr>
            <a:r>
              <a:rPr lang="en-US" sz="850" dirty="0">
                <a:solidFill>
                  <a:srgbClr val="C0C0C0"/>
                </a:solidFill>
                <a:latin typeface="Calibri" pitchFamily="34" charset="0"/>
                <a:ea typeface="Calibri" pitchFamily="34" charset="-122"/>
                <a:cs typeface="Calibri" pitchFamily="34" charset="-120"/>
              </a:rPr>
              <a:t>tailles</a:t>
            </a:r>
            <a:endParaRPr lang="en-US" sz="850" dirty="0"/>
          </a:p>
        </p:txBody>
      </p:sp>
      <p:sp>
        <p:nvSpPr>
          <p:cNvPr id="35" name="Shape 33"/>
          <p:cNvSpPr/>
          <p:nvPr/>
        </p:nvSpPr>
        <p:spPr>
          <a:xfrm>
            <a:off x="4315968" y="3108960"/>
            <a:ext cx="4389120" cy="0"/>
          </a:xfrm>
          <a:prstGeom prst="line">
            <a:avLst/>
          </a:prstGeom>
          <a:noFill/>
          <a:ln w="7620">
            <a:solidFill>
              <a:srgbClr val="F5F5F5"/>
            </a:solidFill>
            <a:prstDash val="solid"/>
          </a:ln>
        </p:spPr>
        <p:txBody>
          <a:bodyPr/>
          <a:lstStyle/>
          <a:p>
            <a:endParaRPr lang="en-CA"/>
          </a:p>
        </p:txBody>
      </p:sp>
      <p:sp>
        <p:nvSpPr>
          <p:cNvPr id="36" name="Text 34"/>
          <p:cNvSpPr/>
          <p:nvPr/>
        </p:nvSpPr>
        <p:spPr>
          <a:xfrm>
            <a:off x="4315968" y="3236976"/>
            <a:ext cx="4389120" cy="182880"/>
          </a:xfrm>
          <a:prstGeom prst="rect">
            <a:avLst/>
          </a:prstGeom>
          <a:noFill/>
          <a:ln/>
        </p:spPr>
        <p:txBody>
          <a:bodyPr wrap="square" lIns="0" tIns="0" rIns="0" bIns="0" rtlCol="0" anchor="ctr"/>
          <a:lstStyle/>
          <a:p>
            <a:pPr marL="0" indent="0">
              <a:buNone/>
            </a:pPr>
            <a:r>
              <a:rPr lang="en-US" sz="750" b="1" kern="0" spc="150" dirty="0">
                <a:solidFill>
                  <a:srgbClr val="C9A84C"/>
                </a:solidFill>
                <a:latin typeface="Calibri" pitchFamily="34" charset="0"/>
                <a:ea typeface="Calibri" pitchFamily="34" charset="-122"/>
                <a:cs typeface="Calibri" pitchFamily="34" charset="-120"/>
              </a:rPr>
              <a:t>REPRODUCTIBILITÉ</a:t>
            </a:r>
            <a:endParaRPr lang="en-US" sz="750" dirty="0"/>
          </a:p>
        </p:txBody>
      </p:sp>
      <p:sp>
        <p:nvSpPr>
          <p:cNvPr id="38" name="Text 36"/>
          <p:cNvSpPr/>
          <p:nvPr/>
        </p:nvSpPr>
        <p:spPr>
          <a:xfrm>
            <a:off x="4462272" y="3441746"/>
            <a:ext cx="4242816" cy="27432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Protocole identique sur x86 et ARM</a:t>
            </a:r>
            <a:endParaRPr lang="en-US" sz="950" dirty="0"/>
          </a:p>
        </p:txBody>
      </p:sp>
      <p:sp>
        <p:nvSpPr>
          <p:cNvPr id="40" name="Text 38"/>
          <p:cNvSpPr/>
          <p:nvPr/>
        </p:nvSpPr>
        <p:spPr>
          <a:xfrm>
            <a:off x="4464304" y="3718228"/>
            <a:ext cx="4242816" cy="274320"/>
          </a:xfrm>
          <a:prstGeom prst="rect">
            <a:avLst/>
          </a:prstGeom>
          <a:noFill/>
          <a:ln/>
        </p:spPr>
        <p:txBody>
          <a:bodyPr wrap="square" lIns="0" tIns="0" rIns="0" bIns="0" rtlCol="0" anchor="ctr"/>
          <a:lstStyle/>
          <a:p>
            <a:pPr marL="0" indent="0">
              <a:buNone/>
            </a:pPr>
            <a:r>
              <a:rPr lang="en-US" sz="950" dirty="0">
                <a:solidFill>
                  <a:srgbClr val="555555"/>
                </a:solidFill>
                <a:latin typeface="Calibri" pitchFamily="34" charset="0"/>
                <a:ea typeface="Calibri" pitchFamily="34" charset="-122"/>
                <a:cs typeface="Calibri" pitchFamily="34" charset="-120"/>
              </a:rPr>
              <a:t>Export CSV horodaté</a:t>
            </a:r>
            <a:endParaRPr lang="en-US" sz="950" dirty="0"/>
          </a:p>
        </p:txBody>
      </p:sp>
      <p:sp>
        <p:nvSpPr>
          <p:cNvPr id="41" name="Text 39"/>
          <p:cNvSpPr/>
          <p:nvPr/>
        </p:nvSpPr>
        <p:spPr>
          <a:xfrm>
            <a:off x="475488" y="4370832"/>
            <a:ext cx="8229600" cy="219456"/>
          </a:xfrm>
          <a:prstGeom prst="rect">
            <a:avLst/>
          </a:prstGeom>
          <a:noFill/>
          <a:ln/>
        </p:spPr>
        <p:txBody>
          <a:bodyPr wrap="square" lIns="0" tIns="0" rIns="0" bIns="0" rtlCol="0" anchor="ctr"/>
          <a:lstStyle/>
          <a:p>
            <a:pPr marL="0" indent="0" algn="ctr">
              <a:buNone/>
            </a:pPr>
            <a:r>
              <a:rPr lang="fr-FR" sz="850" i="1" dirty="0">
                <a:solidFill>
                  <a:srgbClr val="C0C0C0"/>
                </a:solidFill>
                <a:latin typeface="Calibri" pitchFamily="34" charset="0"/>
                <a:ea typeface="Calibri" pitchFamily="34" charset="-122"/>
                <a:cs typeface="Calibri" pitchFamily="34" charset="-120"/>
              </a:rPr>
              <a:t>À protocole constant, les écarts observés sont interprétés en fonction de la plateforme plutôt que de la méthode.</a:t>
            </a:r>
            <a:endParaRPr lang="en-US" sz="850" dirty="0"/>
          </a:p>
        </p:txBody>
      </p:sp>
      <p:sp>
        <p:nvSpPr>
          <p:cNvPr id="42" name="Text 40"/>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44" name="Text 32">
            <a:extLst>
              <a:ext uri="{FF2B5EF4-FFF2-40B4-BE49-F238E27FC236}">
                <a16:creationId xmlns:a16="http://schemas.microsoft.com/office/drawing/2014/main" id="{0782AF05-AF6C-B52C-C3C9-085F8667AA21}"/>
              </a:ext>
            </a:extLst>
          </p:cNvPr>
          <p:cNvSpPr/>
          <p:nvPr/>
        </p:nvSpPr>
        <p:spPr>
          <a:xfrm>
            <a:off x="7426960" y="2106168"/>
            <a:ext cx="1280160" cy="256032"/>
          </a:xfrm>
          <a:prstGeom prst="rect">
            <a:avLst/>
          </a:prstGeom>
          <a:noFill/>
          <a:ln/>
        </p:spPr>
        <p:txBody>
          <a:bodyPr wrap="square" lIns="0" tIns="0" rIns="0" bIns="0" rtlCol="0" anchor="ctr"/>
          <a:lstStyle/>
          <a:p>
            <a:pPr marL="0" indent="0">
              <a:buNone/>
            </a:pPr>
            <a:r>
              <a:rPr lang="en-US" sz="850" dirty="0">
                <a:solidFill>
                  <a:srgbClr val="C0C0C0"/>
                </a:solidFill>
                <a:latin typeface="Calibri" pitchFamily="34" charset="0"/>
                <a:ea typeface="Calibri" pitchFamily="34" charset="-122"/>
                <a:cs typeface="Calibri" pitchFamily="34" charset="-120"/>
              </a:rPr>
              <a:t>cas / plateforme</a:t>
            </a:r>
            <a:endParaRPr lang="en-US" sz="850" dirty="0"/>
          </a:p>
        </p:txBody>
      </p:sp>
      <p:sp>
        <p:nvSpPr>
          <p:cNvPr id="46" name="Text 32">
            <a:extLst>
              <a:ext uri="{FF2B5EF4-FFF2-40B4-BE49-F238E27FC236}">
                <a16:creationId xmlns:a16="http://schemas.microsoft.com/office/drawing/2014/main" id="{5A36000A-3AE0-0AF2-811E-0DF461BEBEB5}"/>
              </a:ext>
            </a:extLst>
          </p:cNvPr>
          <p:cNvSpPr/>
          <p:nvPr/>
        </p:nvSpPr>
        <p:spPr>
          <a:xfrm>
            <a:off x="4859166" y="2106168"/>
            <a:ext cx="1280160" cy="256032"/>
          </a:xfrm>
          <a:prstGeom prst="rect">
            <a:avLst/>
          </a:prstGeom>
          <a:noFill/>
          <a:ln/>
        </p:spPr>
        <p:txBody>
          <a:bodyPr wrap="square" lIns="0" tIns="0" rIns="0" bIns="0" rtlCol="0" anchor="ctr"/>
          <a:lstStyle/>
          <a:p>
            <a:pPr marL="0" indent="0">
              <a:buNone/>
            </a:pPr>
            <a:r>
              <a:rPr lang="en-US" sz="850" dirty="0">
                <a:solidFill>
                  <a:srgbClr val="C0C0C0"/>
                </a:solidFill>
                <a:latin typeface="Calibri" pitchFamily="34" charset="0"/>
                <a:ea typeface="Calibri" pitchFamily="34" charset="-122"/>
                <a:cs typeface="Calibri" pitchFamily="34" charset="-120"/>
              </a:rPr>
              <a:t>combinaisons</a:t>
            </a:r>
            <a:endParaRPr lang="en-US" sz="850" dirty="0"/>
          </a:p>
        </p:txBody>
      </p:sp>
      <p:sp>
        <p:nvSpPr>
          <p:cNvPr id="48" name="TextBox 47">
            <a:extLst>
              <a:ext uri="{FF2B5EF4-FFF2-40B4-BE49-F238E27FC236}">
                <a16:creationId xmlns:a16="http://schemas.microsoft.com/office/drawing/2014/main" id="{D9434E3E-0750-B2B0-59AD-1EA661319032}"/>
              </a:ext>
            </a:extLst>
          </p:cNvPr>
          <p:cNvSpPr txBox="1"/>
          <p:nvPr/>
        </p:nvSpPr>
        <p:spPr>
          <a:xfrm>
            <a:off x="4242817" y="2535847"/>
            <a:ext cx="4572000" cy="369332"/>
          </a:xfrm>
          <a:prstGeom prst="rect">
            <a:avLst/>
          </a:prstGeom>
          <a:noFill/>
        </p:spPr>
        <p:txBody>
          <a:bodyPr wrap="square">
            <a:spAutoFit/>
          </a:bodyPr>
          <a:lstStyle/>
          <a:p>
            <a:pPr algn="ctr">
              <a:buNone/>
            </a:pPr>
            <a:r>
              <a:rPr lang="en-CA" sz="900" i="1" dirty="0">
                <a:solidFill>
                  <a:schemeClr val="bg2">
                    <a:lumMod val="75000"/>
                  </a:schemeClr>
                </a:solidFill>
                <a:latin typeface="Calibri" pitchFamily="34" charset="0"/>
                <a:cs typeface="Calibri" pitchFamily="34" charset="-120"/>
              </a:rPr>
              <a:t>155 cas × 1</a:t>
            </a:r>
            <a:r>
              <a:rPr lang="fr-FR" sz="900" i="1" dirty="0">
                <a:solidFill>
                  <a:schemeClr val="bg2">
                    <a:lumMod val="75000"/>
                  </a:schemeClr>
                </a:solidFill>
                <a:latin typeface="Calibri" pitchFamily="34" charset="0"/>
                <a:cs typeface="Calibri" pitchFamily="34" charset="-120"/>
              </a:rPr>
              <a:t>00 répétitions assurent une base statistique stable et comparable entre plateformes.</a:t>
            </a:r>
            <a:endParaRPr lang="en-CA" sz="900" i="1" dirty="0">
              <a:solidFill>
                <a:schemeClr val="bg2">
                  <a:lumMod val="75000"/>
                </a:schemeClr>
              </a:solidFill>
              <a:latin typeface="Calibri" pitchFamily="34" charset="0"/>
              <a:cs typeface="Calibri" pitchFamily="34" charset="-120"/>
            </a:endParaRPr>
          </a:p>
        </p:txBody>
      </p:sp>
      <p:sp>
        <p:nvSpPr>
          <p:cNvPr id="50" name="Shape 20">
            <a:extLst>
              <a:ext uri="{FF2B5EF4-FFF2-40B4-BE49-F238E27FC236}">
                <a16:creationId xmlns:a16="http://schemas.microsoft.com/office/drawing/2014/main" id="{0C72CA31-D038-B3A4-DBD2-3C8432EA5427}"/>
              </a:ext>
            </a:extLst>
          </p:cNvPr>
          <p:cNvSpPr/>
          <p:nvPr/>
        </p:nvSpPr>
        <p:spPr>
          <a:xfrm>
            <a:off x="4315968" y="3555356"/>
            <a:ext cx="45719" cy="49530"/>
          </a:xfrm>
          <a:prstGeom prst="ellipse">
            <a:avLst/>
          </a:prstGeom>
          <a:solidFill>
            <a:srgbClr val="C9A84C"/>
          </a:solidFill>
          <a:ln w="12700">
            <a:solidFill>
              <a:srgbClr val="C9A84C"/>
            </a:solidFill>
            <a:prstDash val="solid"/>
          </a:ln>
        </p:spPr>
        <p:txBody>
          <a:bodyPr/>
          <a:lstStyle/>
          <a:p>
            <a:endParaRPr lang="en-CA"/>
          </a:p>
        </p:txBody>
      </p:sp>
      <p:sp>
        <p:nvSpPr>
          <p:cNvPr id="52" name="Shape 20">
            <a:extLst>
              <a:ext uri="{FF2B5EF4-FFF2-40B4-BE49-F238E27FC236}">
                <a16:creationId xmlns:a16="http://schemas.microsoft.com/office/drawing/2014/main" id="{5ED29A6D-0B93-B1CC-10D8-38726437C1EC}"/>
              </a:ext>
            </a:extLst>
          </p:cNvPr>
          <p:cNvSpPr/>
          <p:nvPr/>
        </p:nvSpPr>
        <p:spPr>
          <a:xfrm>
            <a:off x="4315968" y="3831128"/>
            <a:ext cx="45719" cy="49530"/>
          </a:xfrm>
          <a:prstGeom prst="ellipse">
            <a:avLst/>
          </a:prstGeom>
          <a:solidFill>
            <a:srgbClr val="C9A84C"/>
          </a:solidFill>
          <a:ln w="12700">
            <a:solidFill>
              <a:srgbClr val="C9A84C"/>
            </a:solidFill>
            <a:prstDash val="solid"/>
          </a:ln>
        </p:spPr>
        <p:txBody>
          <a:bodyPr/>
          <a:lstStyle/>
          <a:p>
            <a:endParaRPr lang="en-CA"/>
          </a:p>
        </p:txBody>
      </p:sp>
      <p:sp>
        <p:nvSpPr>
          <p:cNvPr id="39" name="Shape 20">
            <a:extLst>
              <a:ext uri="{FF2B5EF4-FFF2-40B4-BE49-F238E27FC236}">
                <a16:creationId xmlns:a16="http://schemas.microsoft.com/office/drawing/2014/main" id="{34FBD6C2-39C9-DAD5-53F0-B74C6472BE05}"/>
              </a:ext>
            </a:extLst>
          </p:cNvPr>
          <p:cNvSpPr/>
          <p:nvPr/>
        </p:nvSpPr>
        <p:spPr>
          <a:xfrm>
            <a:off x="4315968" y="4106900"/>
            <a:ext cx="45719" cy="49530"/>
          </a:xfrm>
          <a:prstGeom prst="ellipse">
            <a:avLst/>
          </a:prstGeom>
          <a:solidFill>
            <a:srgbClr val="C9A84C"/>
          </a:solidFill>
          <a:ln w="12700">
            <a:solidFill>
              <a:srgbClr val="C9A84C"/>
            </a:solidFill>
            <a:prstDash val="solid"/>
          </a:ln>
        </p:spPr>
        <p:txBody>
          <a:bodyPr/>
          <a:lstStyle/>
          <a:p>
            <a:endParaRPr lang="en-CA"/>
          </a:p>
        </p:txBody>
      </p:sp>
      <p:sp>
        <p:nvSpPr>
          <p:cNvPr id="45" name="Text 38">
            <a:extLst>
              <a:ext uri="{FF2B5EF4-FFF2-40B4-BE49-F238E27FC236}">
                <a16:creationId xmlns:a16="http://schemas.microsoft.com/office/drawing/2014/main" id="{7407E0B9-048A-D59F-0968-AB590461FCCB}"/>
              </a:ext>
            </a:extLst>
          </p:cNvPr>
          <p:cNvSpPr/>
          <p:nvPr/>
        </p:nvSpPr>
        <p:spPr>
          <a:xfrm>
            <a:off x="4454652" y="4002924"/>
            <a:ext cx="4242816" cy="274320"/>
          </a:xfrm>
          <a:prstGeom prst="rect">
            <a:avLst/>
          </a:prstGeom>
          <a:noFill/>
          <a:ln/>
        </p:spPr>
        <p:txBody>
          <a:bodyPr wrap="square" lIns="0" tIns="0" rIns="0" bIns="0" rtlCol="0" anchor="ctr"/>
          <a:lstStyle/>
          <a:p>
            <a:pPr marL="0" indent="0">
              <a:buNone/>
            </a:pPr>
            <a:r>
              <a:rPr lang="fr-FR" sz="950" dirty="0">
                <a:solidFill>
                  <a:srgbClr val="555555"/>
                </a:solidFill>
                <a:latin typeface="Calibri" pitchFamily="34" charset="0"/>
                <a:ea typeface="Calibri" pitchFamily="34" charset="-122"/>
                <a:cs typeface="Calibri" pitchFamily="34" charset="-120"/>
              </a:rPr>
              <a:t>Validation KAT réalisée avant interprétation des mesures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5488" y="182880"/>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02c  ·  PROTOCOLE EXPÉRIMENTAL ET ENVIRONNEMENT</a:t>
            </a:r>
            <a:endParaRPr lang="en-US" sz="800" dirty="0"/>
          </a:p>
        </p:txBody>
      </p:sp>
      <p:sp>
        <p:nvSpPr>
          <p:cNvPr id="3" name="Text 1"/>
          <p:cNvSpPr/>
          <p:nvPr/>
        </p:nvSpPr>
        <p:spPr>
          <a:xfrm>
            <a:off x="475488" y="365760"/>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Matrice </a:t>
            </a:r>
            <a:r>
              <a:rPr lang="en-US" sz="1500" b="1" dirty="0">
                <a:solidFill>
                  <a:srgbClr val="C9A84C"/>
                </a:solidFill>
                <a:latin typeface="Calibri" pitchFamily="34" charset="0"/>
                <a:ea typeface="Calibri" pitchFamily="34" charset="-122"/>
                <a:cs typeface="Calibri" pitchFamily="34" charset="-120"/>
              </a:rPr>
              <a:t>algorithme × mode × clé</a:t>
            </a:r>
            <a:endParaRPr lang="en-US" sz="1500" dirty="0"/>
          </a:p>
        </p:txBody>
      </p:sp>
      <p:sp>
        <p:nvSpPr>
          <p:cNvPr id="4" name="Text 2"/>
          <p:cNvSpPr/>
          <p:nvPr/>
        </p:nvSpPr>
        <p:spPr>
          <a:xfrm>
            <a:off x="1810512" y="694944"/>
            <a:ext cx="1060704" cy="219456"/>
          </a:xfrm>
          <a:prstGeom prst="rect">
            <a:avLst/>
          </a:prstGeom>
          <a:noFill/>
          <a:ln/>
        </p:spPr>
        <p:txBody>
          <a:bodyPr wrap="square" lIns="0" tIns="0" rIns="0" bIns="0" rtlCol="0" anchor="ctr"/>
          <a:lstStyle/>
          <a:p>
            <a:pPr marL="0" indent="0" algn="ctr">
              <a:buNone/>
            </a:pPr>
            <a:r>
              <a:rPr lang="en-US" sz="750" b="1" kern="0" spc="100" dirty="0">
                <a:solidFill>
                  <a:srgbClr val="888888"/>
                </a:solidFill>
                <a:latin typeface="Calibri" pitchFamily="34" charset="0"/>
                <a:ea typeface="Calibri" pitchFamily="34" charset="-122"/>
                <a:cs typeface="Calibri" pitchFamily="34" charset="-120"/>
              </a:rPr>
              <a:t>ECB</a:t>
            </a:r>
            <a:endParaRPr lang="en-US" sz="750" dirty="0"/>
          </a:p>
        </p:txBody>
      </p:sp>
      <p:sp>
        <p:nvSpPr>
          <p:cNvPr id="5" name="Text 3"/>
          <p:cNvSpPr/>
          <p:nvPr/>
        </p:nvSpPr>
        <p:spPr>
          <a:xfrm>
            <a:off x="2926080" y="694944"/>
            <a:ext cx="1060704" cy="219456"/>
          </a:xfrm>
          <a:prstGeom prst="rect">
            <a:avLst/>
          </a:prstGeom>
          <a:noFill/>
          <a:ln/>
        </p:spPr>
        <p:txBody>
          <a:bodyPr wrap="square" lIns="0" tIns="0" rIns="0" bIns="0" rtlCol="0" anchor="ctr"/>
          <a:lstStyle/>
          <a:p>
            <a:pPr marL="0" indent="0" algn="ctr">
              <a:buNone/>
            </a:pPr>
            <a:r>
              <a:rPr lang="en-US" sz="750" b="1" kern="0" spc="100" dirty="0">
                <a:solidFill>
                  <a:srgbClr val="888888"/>
                </a:solidFill>
                <a:latin typeface="Calibri" pitchFamily="34" charset="0"/>
                <a:ea typeface="Calibri" pitchFamily="34" charset="-122"/>
                <a:cs typeface="Calibri" pitchFamily="34" charset="-120"/>
              </a:rPr>
              <a:t>CBC</a:t>
            </a:r>
            <a:endParaRPr lang="en-US" sz="750" dirty="0"/>
          </a:p>
        </p:txBody>
      </p:sp>
      <p:sp>
        <p:nvSpPr>
          <p:cNvPr id="6" name="Text 4"/>
          <p:cNvSpPr/>
          <p:nvPr/>
        </p:nvSpPr>
        <p:spPr>
          <a:xfrm>
            <a:off x="4041648" y="694944"/>
            <a:ext cx="1060704" cy="219456"/>
          </a:xfrm>
          <a:prstGeom prst="rect">
            <a:avLst/>
          </a:prstGeom>
          <a:noFill/>
          <a:ln/>
        </p:spPr>
        <p:txBody>
          <a:bodyPr wrap="square" lIns="0" tIns="0" rIns="0" bIns="0" rtlCol="0" anchor="ctr"/>
          <a:lstStyle/>
          <a:p>
            <a:pPr marL="0" indent="0" algn="ctr">
              <a:buNone/>
            </a:pPr>
            <a:r>
              <a:rPr lang="en-US" sz="750" b="1" kern="0" spc="100" dirty="0">
                <a:solidFill>
                  <a:srgbClr val="888888"/>
                </a:solidFill>
                <a:latin typeface="Calibri" pitchFamily="34" charset="0"/>
                <a:ea typeface="Calibri" pitchFamily="34" charset="-122"/>
                <a:cs typeface="Calibri" pitchFamily="34" charset="-120"/>
              </a:rPr>
              <a:t>CTR</a:t>
            </a:r>
            <a:endParaRPr lang="en-US" sz="750" dirty="0"/>
          </a:p>
        </p:txBody>
      </p:sp>
      <p:sp>
        <p:nvSpPr>
          <p:cNvPr id="7" name="Text 5"/>
          <p:cNvSpPr/>
          <p:nvPr/>
        </p:nvSpPr>
        <p:spPr>
          <a:xfrm>
            <a:off x="5157216" y="694944"/>
            <a:ext cx="1060704" cy="219456"/>
          </a:xfrm>
          <a:prstGeom prst="rect">
            <a:avLst/>
          </a:prstGeom>
          <a:noFill/>
          <a:ln/>
        </p:spPr>
        <p:txBody>
          <a:bodyPr wrap="square" lIns="0" tIns="0" rIns="0" bIns="0" rtlCol="0" anchor="ctr"/>
          <a:lstStyle/>
          <a:p>
            <a:pPr marL="0" indent="0" algn="ctr">
              <a:buNone/>
            </a:pPr>
            <a:r>
              <a:rPr lang="en-US" sz="750" b="1" kern="0" spc="100" dirty="0">
                <a:solidFill>
                  <a:srgbClr val="C9A84C"/>
                </a:solidFill>
                <a:latin typeface="Calibri" pitchFamily="34" charset="0"/>
                <a:ea typeface="Calibri" pitchFamily="34" charset="-122"/>
                <a:cs typeface="Calibri" pitchFamily="34" charset="-120"/>
              </a:rPr>
              <a:t>GCM</a:t>
            </a:r>
            <a:endParaRPr lang="en-US" sz="750" dirty="0"/>
          </a:p>
        </p:txBody>
      </p:sp>
      <p:sp>
        <p:nvSpPr>
          <p:cNvPr id="8" name="Text 6"/>
          <p:cNvSpPr/>
          <p:nvPr/>
        </p:nvSpPr>
        <p:spPr>
          <a:xfrm>
            <a:off x="6272784" y="694944"/>
            <a:ext cx="1060704" cy="219456"/>
          </a:xfrm>
          <a:prstGeom prst="rect">
            <a:avLst/>
          </a:prstGeom>
          <a:noFill/>
          <a:ln/>
        </p:spPr>
        <p:txBody>
          <a:bodyPr wrap="square" lIns="0" tIns="0" rIns="0" bIns="0" rtlCol="0" anchor="ctr"/>
          <a:lstStyle/>
          <a:p>
            <a:pPr marL="0" indent="0" algn="ctr">
              <a:buNone/>
            </a:pPr>
            <a:r>
              <a:rPr lang="en-US" sz="750" b="1" kern="0" spc="100" dirty="0">
                <a:solidFill>
                  <a:srgbClr val="C9A84C"/>
                </a:solidFill>
                <a:latin typeface="Calibri" pitchFamily="34" charset="0"/>
                <a:ea typeface="Calibri" pitchFamily="34" charset="-122"/>
                <a:cs typeface="Calibri" pitchFamily="34" charset="-120"/>
              </a:rPr>
              <a:t>Stream</a:t>
            </a:r>
            <a:endParaRPr lang="en-US" sz="750" dirty="0"/>
          </a:p>
        </p:txBody>
      </p:sp>
      <p:sp>
        <p:nvSpPr>
          <p:cNvPr id="9" name="Text 7"/>
          <p:cNvSpPr/>
          <p:nvPr/>
        </p:nvSpPr>
        <p:spPr>
          <a:xfrm>
            <a:off x="7388352" y="694944"/>
            <a:ext cx="1097280" cy="219456"/>
          </a:xfrm>
          <a:prstGeom prst="rect">
            <a:avLst/>
          </a:prstGeom>
          <a:noFill/>
          <a:ln/>
        </p:spPr>
        <p:txBody>
          <a:bodyPr wrap="square" lIns="0" tIns="0" rIns="0" bIns="0" rtlCol="0" anchor="ctr"/>
          <a:lstStyle/>
          <a:p>
            <a:pPr marL="0" indent="0" algn="ctr">
              <a:buNone/>
            </a:pPr>
            <a:r>
              <a:rPr lang="en-US" sz="750" b="1" kern="0" spc="100" dirty="0">
                <a:solidFill>
                  <a:srgbClr val="888888"/>
                </a:solidFill>
                <a:latin typeface="Calibri" pitchFamily="34" charset="0"/>
                <a:ea typeface="Calibri" pitchFamily="34" charset="-122"/>
                <a:cs typeface="Calibri" pitchFamily="34" charset="-120"/>
              </a:rPr>
              <a:t>Tailles de Clé</a:t>
            </a:r>
            <a:endParaRPr lang="en-US" sz="750" dirty="0"/>
          </a:p>
        </p:txBody>
      </p:sp>
      <p:sp>
        <p:nvSpPr>
          <p:cNvPr id="10" name="Shape 8"/>
          <p:cNvSpPr/>
          <p:nvPr/>
        </p:nvSpPr>
        <p:spPr>
          <a:xfrm>
            <a:off x="475488" y="969264"/>
            <a:ext cx="1280160" cy="658368"/>
          </a:xfrm>
          <a:prstGeom prst="roundRect">
            <a:avLst>
              <a:gd name="adj" fmla="val 11111"/>
            </a:avLst>
          </a:prstGeom>
          <a:solidFill>
            <a:srgbClr val="FFFFFF"/>
          </a:solidFill>
          <a:ln w="10160">
            <a:solidFill>
              <a:srgbClr val="CCCCCC"/>
            </a:solidFill>
            <a:prstDash val="solid"/>
          </a:ln>
        </p:spPr>
        <p:txBody>
          <a:bodyPr/>
          <a:lstStyle/>
          <a:p>
            <a:endParaRPr lang="en-CA"/>
          </a:p>
        </p:txBody>
      </p:sp>
      <p:sp>
        <p:nvSpPr>
          <p:cNvPr id="11" name="Text 9"/>
          <p:cNvSpPr/>
          <p:nvPr/>
        </p:nvSpPr>
        <p:spPr>
          <a:xfrm>
            <a:off x="566928" y="1005840"/>
            <a:ext cx="1097280" cy="362102"/>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AES</a:t>
            </a:r>
            <a:endParaRPr lang="en-US" sz="1100" dirty="0"/>
          </a:p>
        </p:txBody>
      </p:sp>
      <p:sp>
        <p:nvSpPr>
          <p:cNvPr id="12" name="Text 10"/>
          <p:cNvSpPr/>
          <p:nvPr/>
        </p:nvSpPr>
        <p:spPr>
          <a:xfrm>
            <a:off x="566928" y="1351093"/>
            <a:ext cx="1097280" cy="263347"/>
          </a:xfrm>
          <a:prstGeom prst="rect">
            <a:avLst/>
          </a:prstGeom>
          <a:noFill/>
          <a:ln/>
        </p:spPr>
        <p:txBody>
          <a:bodyPr wrap="square" lIns="0" tIns="0" rIns="0" bIns="0" rtlCol="0" anchor="t"/>
          <a:lstStyle/>
          <a:p>
            <a:pPr marL="0" indent="0">
              <a:buNone/>
            </a:pPr>
            <a:r>
              <a:rPr lang="en-US" sz="700" dirty="0">
                <a:solidFill>
                  <a:srgbClr val="C0C0C0"/>
                </a:solidFill>
                <a:latin typeface="Calibri" pitchFamily="34" charset="0"/>
                <a:ea typeface="Calibri" pitchFamily="34" charset="-122"/>
                <a:cs typeface="Calibri" pitchFamily="34" charset="-120"/>
              </a:rPr>
              <a:t>Standard de référence</a:t>
            </a:r>
            <a:endParaRPr lang="en-US" sz="700" dirty="0"/>
          </a:p>
        </p:txBody>
      </p:sp>
      <p:sp>
        <p:nvSpPr>
          <p:cNvPr id="13" name="Shape 11"/>
          <p:cNvSpPr/>
          <p:nvPr/>
        </p:nvSpPr>
        <p:spPr>
          <a:xfrm>
            <a:off x="1810512" y="969264"/>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14" name="Text 12"/>
          <p:cNvSpPr/>
          <p:nvPr/>
        </p:nvSpPr>
        <p:spPr>
          <a:xfrm>
            <a:off x="1810512" y="969264"/>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15" name="Shape 13"/>
          <p:cNvSpPr/>
          <p:nvPr/>
        </p:nvSpPr>
        <p:spPr>
          <a:xfrm>
            <a:off x="2926080" y="969264"/>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16" name="Text 14"/>
          <p:cNvSpPr/>
          <p:nvPr/>
        </p:nvSpPr>
        <p:spPr>
          <a:xfrm>
            <a:off x="2926080" y="969264"/>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17" name="Shape 15"/>
          <p:cNvSpPr/>
          <p:nvPr/>
        </p:nvSpPr>
        <p:spPr>
          <a:xfrm>
            <a:off x="4041648" y="969264"/>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18" name="Text 16"/>
          <p:cNvSpPr/>
          <p:nvPr/>
        </p:nvSpPr>
        <p:spPr>
          <a:xfrm>
            <a:off x="4041648" y="969264"/>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19" name="Shape 17"/>
          <p:cNvSpPr/>
          <p:nvPr/>
        </p:nvSpPr>
        <p:spPr>
          <a:xfrm>
            <a:off x="5157216" y="969264"/>
            <a:ext cx="1060704" cy="658368"/>
          </a:xfrm>
          <a:prstGeom prst="roundRect">
            <a:avLst>
              <a:gd name="adj" fmla="val 8333"/>
            </a:avLst>
          </a:prstGeom>
          <a:solidFill>
            <a:srgbClr val="FFFBF0"/>
          </a:solidFill>
          <a:ln w="15240">
            <a:solidFill>
              <a:srgbClr val="C9A84C"/>
            </a:solidFill>
            <a:prstDash val="solid"/>
          </a:ln>
        </p:spPr>
        <p:txBody>
          <a:bodyPr/>
          <a:lstStyle/>
          <a:p>
            <a:endParaRPr lang="en-CA"/>
          </a:p>
        </p:txBody>
      </p:sp>
      <p:sp>
        <p:nvSpPr>
          <p:cNvPr id="20" name="Text 18"/>
          <p:cNvSpPr/>
          <p:nvPr/>
        </p:nvSpPr>
        <p:spPr>
          <a:xfrm>
            <a:off x="5157216" y="969264"/>
            <a:ext cx="1060704" cy="658368"/>
          </a:xfrm>
          <a:prstGeom prst="rect">
            <a:avLst/>
          </a:prstGeom>
          <a:noFill/>
          <a:ln/>
        </p:spPr>
        <p:txBody>
          <a:bodyPr wrap="square" lIns="0" tIns="0" rIns="0" bIns="0" rtlCol="0" anchor="ctr"/>
          <a:lstStyle/>
          <a:p>
            <a:pPr marL="0" indent="0" algn="ctr">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21" name="Shape 19"/>
          <p:cNvSpPr/>
          <p:nvPr/>
        </p:nvSpPr>
        <p:spPr>
          <a:xfrm>
            <a:off x="6272784" y="969264"/>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22" name="Text 20"/>
          <p:cNvSpPr/>
          <p:nvPr/>
        </p:nvSpPr>
        <p:spPr>
          <a:xfrm>
            <a:off x="6272784" y="969264"/>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23" name="Shape 21"/>
          <p:cNvSpPr/>
          <p:nvPr/>
        </p:nvSpPr>
        <p:spPr>
          <a:xfrm>
            <a:off x="7388352" y="969264"/>
            <a:ext cx="1097280" cy="658368"/>
          </a:xfrm>
          <a:prstGeom prst="roundRect">
            <a:avLst>
              <a:gd name="adj" fmla="val 8333"/>
            </a:avLst>
          </a:prstGeom>
          <a:solidFill>
            <a:srgbClr val="FFFFFF"/>
          </a:solidFill>
          <a:ln w="7620">
            <a:solidFill>
              <a:srgbClr val="E0E0E0"/>
            </a:solidFill>
            <a:prstDash val="solid"/>
          </a:ln>
        </p:spPr>
        <p:txBody>
          <a:bodyPr/>
          <a:lstStyle/>
          <a:p>
            <a:endParaRPr lang="en-CA"/>
          </a:p>
        </p:txBody>
      </p:sp>
      <p:sp>
        <p:nvSpPr>
          <p:cNvPr id="24" name="Text 22"/>
          <p:cNvSpPr/>
          <p:nvPr/>
        </p:nvSpPr>
        <p:spPr>
          <a:xfrm>
            <a:off x="7388352" y="969264"/>
            <a:ext cx="1097280" cy="6583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128/192/256</a:t>
            </a:r>
            <a:endParaRPr lang="en-US" sz="800" dirty="0"/>
          </a:p>
        </p:txBody>
      </p:sp>
      <p:sp>
        <p:nvSpPr>
          <p:cNvPr id="25" name="Shape 23"/>
          <p:cNvSpPr/>
          <p:nvPr/>
        </p:nvSpPr>
        <p:spPr>
          <a:xfrm>
            <a:off x="475488" y="1682496"/>
            <a:ext cx="1280160" cy="658368"/>
          </a:xfrm>
          <a:prstGeom prst="roundRect">
            <a:avLst>
              <a:gd name="adj" fmla="val 11111"/>
            </a:avLst>
          </a:prstGeom>
          <a:solidFill>
            <a:srgbClr val="FFFFFF"/>
          </a:solidFill>
          <a:ln w="10160">
            <a:solidFill>
              <a:srgbClr val="CCCCCC"/>
            </a:solidFill>
            <a:prstDash val="solid"/>
          </a:ln>
        </p:spPr>
        <p:txBody>
          <a:bodyPr/>
          <a:lstStyle/>
          <a:p>
            <a:endParaRPr lang="en-CA"/>
          </a:p>
        </p:txBody>
      </p:sp>
      <p:sp>
        <p:nvSpPr>
          <p:cNvPr id="26" name="Text 24"/>
          <p:cNvSpPr/>
          <p:nvPr/>
        </p:nvSpPr>
        <p:spPr>
          <a:xfrm>
            <a:off x="566928" y="1719072"/>
            <a:ext cx="1097280" cy="362102"/>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DES</a:t>
            </a:r>
            <a:endParaRPr lang="en-US" sz="1100" dirty="0"/>
          </a:p>
        </p:txBody>
      </p:sp>
      <p:sp>
        <p:nvSpPr>
          <p:cNvPr id="27" name="Text 25"/>
          <p:cNvSpPr/>
          <p:nvPr/>
        </p:nvSpPr>
        <p:spPr>
          <a:xfrm>
            <a:off x="566928" y="2073859"/>
            <a:ext cx="1097280" cy="263347"/>
          </a:xfrm>
          <a:prstGeom prst="rect">
            <a:avLst/>
          </a:prstGeom>
          <a:noFill/>
          <a:ln/>
        </p:spPr>
        <p:txBody>
          <a:bodyPr wrap="square" lIns="0" tIns="0" rIns="0" bIns="0" rtlCol="0" anchor="t"/>
          <a:lstStyle/>
          <a:p>
            <a:pPr marL="0" indent="0">
              <a:buNone/>
            </a:pPr>
            <a:r>
              <a:rPr lang="en-US" sz="700" dirty="0">
                <a:solidFill>
                  <a:srgbClr val="C0C0C0"/>
                </a:solidFill>
                <a:latin typeface="Calibri" pitchFamily="34" charset="0"/>
                <a:ea typeface="Calibri" pitchFamily="34" charset="-122"/>
                <a:cs typeface="Calibri" pitchFamily="34" charset="-120"/>
              </a:rPr>
              <a:t>Algorithme historique</a:t>
            </a:r>
            <a:endParaRPr lang="en-US" sz="700" dirty="0"/>
          </a:p>
        </p:txBody>
      </p:sp>
      <p:sp>
        <p:nvSpPr>
          <p:cNvPr id="28" name="Shape 26"/>
          <p:cNvSpPr/>
          <p:nvPr/>
        </p:nvSpPr>
        <p:spPr>
          <a:xfrm>
            <a:off x="1810512" y="1682496"/>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29" name="Text 27"/>
          <p:cNvSpPr/>
          <p:nvPr/>
        </p:nvSpPr>
        <p:spPr>
          <a:xfrm>
            <a:off x="1810512" y="1682496"/>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30" name="Shape 28"/>
          <p:cNvSpPr/>
          <p:nvPr/>
        </p:nvSpPr>
        <p:spPr>
          <a:xfrm>
            <a:off x="2926080" y="1682496"/>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31" name="Text 29"/>
          <p:cNvSpPr/>
          <p:nvPr/>
        </p:nvSpPr>
        <p:spPr>
          <a:xfrm>
            <a:off x="2926080" y="1682496"/>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32" name="Shape 30"/>
          <p:cNvSpPr/>
          <p:nvPr/>
        </p:nvSpPr>
        <p:spPr>
          <a:xfrm>
            <a:off x="4041648" y="1682496"/>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33" name="Text 31"/>
          <p:cNvSpPr/>
          <p:nvPr/>
        </p:nvSpPr>
        <p:spPr>
          <a:xfrm>
            <a:off x="4041648" y="1682496"/>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5157216" y="1682496"/>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35" name="Text 33"/>
          <p:cNvSpPr/>
          <p:nvPr/>
        </p:nvSpPr>
        <p:spPr>
          <a:xfrm>
            <a:off x="5157216" y="1682496"/>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36" name="Shape 34"/>
          <p:cNvSpPr/>
          <p:nvPr/>
        </p:nvSpPr>
        <p:spPr>
          <a:xfrm>
            <a:off x="6272784" y="1682496"/>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37" name="Text 35"/>
          <p:cNvSpPr/>
          <p:nvPr/>
        </p:nvSpPr>
        <p:spPr>
          <a:xfrm>
            <a:off x="6272784" y="1682496"/>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38" name="Shape 36"/>
          <p:cNvSpPr/>
          <p:nvPr/>
        </p:nvSpPr>
        <p:spPr>
          <a:xfrm>
            <a:off x="7388352" y="1682496"/>
            <a:ext cx="1097280" cy="658368"/>
          </a:xfrm>
          <a:prstGeom prst="roundRect">
            <a:avLst>
              <a:gd name="adj" fmla="val 8333"/>
            </a:avLst>
          </a:prstGeom>
          <a:solidFill>
            <a:srgbClr val="FFFFFF"/>
          </a:solidFill>
          <a:ln w="7620">
            <a:solidFill>
              <a:srgbClr val="E0E0E0"/>
            </a:solidFill>
            <a:prstDash val="solid"/>
          </a:ln>
        </p:spPr>
        <p:txBody>
          <a:bodyPr/>
          <a:lstStyle/>
          <a:p>
            <a:endParaRPr lang="en-CA"/>
          </a:p>
        </p:txBody>
      </p:sp>
      <p:sp>
        <p:nvSpPr>
          <p:cNvPr id="39" name="Text 37"/>
          <p:cNvSpPr/>
          <p:nvPr/>
        </p:nvSpPr>
        <p:spPr>
          <a:xfrm>
            <a:off x="7388352" y="1682496"/>
            <a:ext cx="1097280" cy="6583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64</a:t>
            </a:r>
            <a:endParaRPr lang="en-US" sz="800" dirty="0"/>
          </a:p>
        </p:txBody>
      </p:sp>
      <p:sp>
        <p:nvSpPr>
          <p:cNvPr id="40" name="Shape 38"/>
          <p:cNvSpPr/>
          <p:nvPr/>
        </p:nvSpPr>
        <p:spPr>
          <a:xfrm>
            <a:off x="475488" y="2395728"/>
            <a:ext cx="1280160" cy="658368"/>
          </a:xfrm>
          <a:prstGeom prst="roundRect">
            <a:avLst>
              <a:gd name="adj" fmla="val 11111"/>
            </a:avLst>
          </a:prstGeom>
          <a:solidFill>
            <a:srgbClr val="FFFFFF"/>
          </a:solidFill>
          <a:ln w="10160">
            <a:solidFill>
              <a:srgbClr val="CCCCCC"/>
            </a:solidFill>
            <a:prstDash val="solid"/>
          </a:ln>
        </p:spPr>
        <p:txBody>
          <a:bodyPr/>
          <a:lstStyle/>
          <a:p>
            <a:endParaRPr lang="en-CA"/>
          </a:p>
        </p:txBody>
      </p:sp>
      <p:sp>
        <p:nvSpPr>
          <p:cNvPr id="41" name="Text 39"/>
          <p:cNvSpPr/>
          <p:nvPr/>
        </p:nvSpPr>
        <p:spPr>
          <a:xfrm>
            <a:off x="566928" y="2432304"/>
            <a:ext cx="1097280" cy="362102"/>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3DES</a:t>
            </a:r>
            <a:endParaRPr lang="en-US" sz="1100" dirty="0"/>
          </a:p>
        </p:txBody>
      </p:sp>
      <p:sp>
        <p:nvSpPr>
          <p:cNvPr id="42" name="Text 40"/>
          <p:cNvSpPr/>
          <p:nvPr/>
        </p:nvSpPr>
        <p:spPr>
          <a:xfrm>
            <a:off x="566928" y="2772101"/>
            <a:ext cx="1097280" cy="263347"/>
          </a:xfrm>
          <a:prstGeom prst="rect">
            <a:avLst/>
          </a:prstGeom>
          <a:noFill/>
          <a:ln/>
        </p:spPr>
        <p:txBody>
          <a:bodyPr wrap="square" lIns="0" tIns="0" rIns="0" bIns="0" rtlCol="0" anchor="t"/>
          <a:lstStyle/>
          <a:p>
            <a:pPr marL="0" indent="0">
              <a:buNone/>
            </a:pPr>
            <a:r>
              <a:rPr lang="fr-FR" sz="700" dirty="0">
                <a:solidFill>
                  <a:srgbClr val="C0C0C0"/>
                </a:solidFill>
                <a:latin typeface="Calibri" pitchFamily="34" charset="0"/>
                <a:ea typeface="Calibri" pitchFamily="34" charset="-122"/>
                <a:cs typeface="Calibri" pitchFamily="34" charset="-120"/>
              </a:rPr>
              <a:t>Usage retiré des recommandations récentes</a:t>
            </a:r>
            <a:endParaRPr lang="en-US" sz="700" dirty="0"/>
          </a:p>
        </p:txBody>
      </p:sp>
      <p:sp>
        <p:nvSpPr>
          <p:cNvPr id="43" name="Shape 41"/>
          <p:cNvSpPr/>
          <p:nvPr/>
        </p:nvSpPr>
        <p:spPr>
          <a:xfrm>
            <a:off x="1810512" y="2395728"/>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44" name="Text 42"/>
          <p:cNvSpPr/>
          <p:nvPr/>
        </p:nvSpPr>
        <p:spPr>
          <a:xfrm>
            <a:off x="1810512" y="2395728"/>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45" name="Shape 43"/>
          <p:cNvSpPr/>
          <p:nvPr/>
        </p:nvSpPr>
        <p:spPr>
          <a:xfrm>
            <a:off x="2926080" y="2395728"/>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46" name="Text 44"/>
          <p:cNvSpPr/>
          <p:nvPr/>
        </p:nvSpPr>
        <p:spPr>
          <a:xfrm>
            <a:off x="2926080" y="2395728"/>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47" name="Shape 45"/>
          <p:cNvSpPr/>
          <p:nvPr/>
        </p:nvSpPr>
        <p:spPr>
          <a:xfrm>
            <a:off x="4041648" y="2395728"/>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48" name="Text 46"/>
          <p:cNvSpPr/>
          <p:nvPr/>
        </p:nvSpPr>
        <p:spPr>
          <a:xfrm>
            <a:off x="4041648" y="2395728"/>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49" name="Shape 47"/>
          <p:cNvSpPr/>
          <p:nvPr/>
        </p:nvSpPr>
        <p:spPr>
          <a:xfrm>
            <a:off x="5157216" y="2395728"/>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50" name="Text 48"/>
          <p:cNvSpPr/>
          <p:nvPr/>
        </p:nvSpPr>
        <p:spPr>
          <a:xfrm>
            <a:off x="5157216" y="2395728"/>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51" name="Shape 49"/>
          <p:cNvSpPr/>
          <p:nvPr/>
        </p:nvSpPr>
        <p:spPr>
          <a:xfrm>
            <a:off x="6272784" y="2395728"/>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52" name="Text 50"/>
          <p:cNvSpPr/>
          <p:nvPr/>
        </p:nvSpPr>
        <p:spPr>
          <a:xfrm>
            <a:off x="6272784" y="2395728"/>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53" name="Shape 51"/>
          <p:cNvSpPr/>
          <p:nvPr/>
        </p:nvSpPr>
        <p:spPr>
          <a:xfrm>
            <a:off x="7388352" y="2395728"/>
            <a:ext cx="1097280" cy="658368"/>
          </a:xfrm>
          <a:prstGeom prst="roundRect">
            <a:avLst>
              <a:gd name="adj" fmla="val 8333"/>
            </a:avLst>
          </a:prstGeom>
          <a:solidFill>
            <a:srgbClr val="FFFFFF"/>
          </a:solidFill>
          <a:ln w="7620">
            <a:solidFill>
              <a:srgbClr val="E0E0E0"/>
            </a:solidFill>
            <a:prstDash val="solid"/>
          </a:ln>
        </p:spPr>
        <p:txBody>
          <a:bodyPr/>
          <a:lstStyle/>
          <a:p>
            <a:endParaRPr lang="en-CA"/>
          </a:p>
        </p:txBody>
      </p:sp>
      <p:sp>
        <p:nvSpPr>
          <p:cNvPr id="54" name="Text 52"/>
          <p:cNvSpPr/>
          <p:nvPr/>
        </p:nvSpPr>
        <p:spPr>
          <a:xfrm>
            <a:off x="7388352" y="2395728"/>
            <a:ext cx="1097280" cy="6583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128/192</a:t>
            </a:r>
            <a:endParaRPr lang="en-US" sz="800" dirty="0"/>
          </a:p>
        </p:txBody>
      </p:sp>
      <p:sp>
        <p:nvSpPr>
          <p:cNvPr id="55" name="Shape 53"/>
          <p:cNvSpPr/>
          <p:nvPr/>
        </p:nvSpPr>
        <p:spPr>
          <a:xfrm>
            <a:off x="475488" y="3108960"/>
            <a:ext cx="1280160" cy="658368"/>
          </a:xfrm>
          <a:prstGeom prst="roundRect">
            <a:avLst>
              <a:gd name="adj" fmla="val 11111"/>
            </a:avLst>
          </a:prstGeom>
          <a:solidFill>
            <a:srgbClr val="FFFFFF"/>
          </a:solidFill>
          <a:ln w="10160">
            <a:solidFill>
              <a:srgbClr val="CCCCCC"/>
            </a:solidFill>
            <a:prstDash val="solid"/>
          </a:ln>
        </p:spPr>
        <p:txBody>
          <a:bodyPr/>
          <a:lstStyle/>
          <a:p>
            <a:endParaRPr lang="en-CA"/>
          </a:p>
        </p:txBody>
      </p:sp>
      <p:sp>
        <p:nvSpPr>
          <p:cNvPr id="56" name="Text 54"/>
          <p:cNvSpPr/>
          <p:nvPr/>
        </p:nvSpPr>
        <p:spPr>
          <a:xfrm>
            <a:off x="566928" y="3145536"/>
            <a:ext cx="1097280" cy="362102"/>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Twofish</a:t>
            </a:r>
            <a:endParaRPr lang="en-US" sz="1100" dirty="0"/>
          </a:p>
        </p:txBody>
      </p:sp>
      <p:sp>
        <p:nvSpPr>
          <p:cNvPr id="57" name="Text 55"/>
          <p:cNvSpPr/>
          <p:nvPr/>
        </p:nvSpPr>
        <p:spPr>
          <a:xfrm>
            <a:off x="566928" y="3490189"/>
            <a:ext cx="1097280" cy="263347"/>
          </a:xfrm>
          <a:prstGeom prst="rect">
            <a:avLst/>
          </a:prstGeom>
          <a:noFill/>
          <a:ln/>
        </p:spPr>
        <p:txBody>
          <a:bodyPr wrap="square" lIns="0" tIns="0" rIns="0" bIns="0" rtlCol="0" anchor="t"/>
          <a:lstStyle/>
          <a:p>
            <a:pPr marL="0" indent="0">
              <a:buNone/>
            </a:pPr>
            <a:r>
              <a:rPr lang="en-US" sz="700" dirty="0">
                <a:solidFill>
                  <a:srgbClr val="C0C0C0"/>
                </a:solidFill>
                <a:latin typeface="Calibri" pitchFamily="34" charset="0"/>
                <a:ea typeface="Calibri" pitchFamily="34" charset="-122"/>
                <a:cs typeface="Calibri" pitchFamily="34" charset="-120"/>
              </a:rPr>
              <a:t>Finaliste AES</a:t>
            </a:r>
            <a:endParaRPr lang="en-US" sz="700" dirty="0"/>
          </a:p>
        </p:txBody>
      </p:sp>
      <p:sp>
        <p:nvSpPr>
          <p:cNvPr id="58" name="Shape 56"/>
          <p:cNvSpPr/>
          <p:nvPr/>
        </p:nvSpPr>
        <p:spPr>
          <a:xfrm>
            <a:off x="1810512" y="3108960"/>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59" name="Text 57"/>
          <p:cNvSpPr/>
          <p:nvPr/>
        </p:nvSpPr>
        <p:spPr>
          <a:xfrm>
            <a:off x="1810512" y="3108960"/>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60" name="Shape 58"/>
          <p:cNvSpPr/>
          <p:nvPr/>
        </p:nvSpPr>
        <p:spPr>
          <a:xfrm>
            <a:off x="2926080" y="3108960"/>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61" name="Text 59"/>
          <p:cNvSpPr/>
          <p:nvPr/>
        </p:nvSpPr>
        <p:spPr>
          <a:xfrm>
            <a:off x="2926080" y="3108960"/>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62" name="Shape 60"/>
          <p:cNvSpPr/>
          <p:nvPr/>
        </p:nvSpPr>
        <p:spPr>
          <a:xfrm>
            <a:off x="4041648" y="3108960"/>
            <a:ext cx="1060704" cy="658368"/>
          </a:xfrm>
          <a:prstGeom prst="roundRect">
            <a:avLst>
              <a:gd name="adj" fmla="val 8333"/>
            </a:avLst>
          </a:prstGeom>
          <a:solidFill>
            <a:srgbClr val="E8F4E8"/>
          </a:solidFill>
          <a:ln w="10160">
            <a:solidFill>
              <a:srgbClr val="90C090"/>
            </a:solidFill>
            <a:prstDash val="solid"/>
          </a:ln>
        </p:spPr>
        <p:txBody>
          <a:bodyPr/>
          <a:lstStyle/>
          <a:p>
            <a:endParaRPr lang="en-CA"/>
          </a:p>
        </p:txBody>
      </p:sp>
      <p:sp>
        <p:nvSpPr>
          <p:cNvPr id="63" name="Text 61"/>
          <p:cNvSpPr/>
          <p:nvPr/>
        </p:nvSpPr>
        <p:spPr>
          <a:xfrm>
            <a:off x="4041648" y="3108960"/>
            <a:ext cx="1060704" cy="658368"/>
          </a:xfrm>
          <a:prstGeom prst="rect">
            <a:avLst/>
          </a:prstGeom>
          <a:noFill/>
          <a:ln/>
        </p:spPr>
        <p:txBody>
          <a:bodyPr wrap="square" lIns="0" tIns="0" rIns="0" bIns="0" rtlCol="0" anchor="ctr"/>
          <a:lstStyle/>
          <a:p>
            <a:pPr marL="0" indent="0" algn="ctr">
              <a:buNone/>
            </a:pPr>
            <a:r>
              <a:rPr lang="en-US" sz="1300" b="1" dirty="0">
                <a:solidFill>
                  <a:srgbClr val="3A7A3A"/>
                </a:solidFill>
                <a:latin typeface="Calibri" pitchFamily="34" charset="0"/>
                <a:ea typeface="Calibri" pitchFamily="34" charset="-122"/>
                <a:cs typeface="Calibri" pitchFamily="34" charset="-120"/>
              </a:rPr>
              <a:t>✓</a:t>
            </a:r>
            <a:endParaRPr lang="en-US" sz="1300" dirty="0"/>
          </a:p>
        </p:txBody>
      </p:sp>
      <p:sp>
        <p:nvSpPr>
          <p:cNvPr id="64" name="Shape 62"/>
          <p:cNvSpPr/>
          <p:nvPr/>
        </p:nvSpPr>
        <p:spPr>
          <a:xfrm>
            <a:off x="5157216" y="3108960"/>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65" name="Text 63"/>
          <p:cNvSpPr/>
          <p:nvPr/>
        </p:nvSpPr>
        <p:spPr>
          <a:xfrm>
            <a:off x="5157216" y="3108960"/>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66" name="Shape 64"/>
          <p:cNvSpPr/>
          <p:nvPr/>
        </p:nvSpPr>
        <p:spPr>
          <a:xfrm>
            <a:off x="6272784" y="3108960"/>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67" name="Text 65"/>
          <p:cNvSpPr/>
          <p:nvPr/>
        </p:nvSpPr>
        <p:spPr>
          <a:xfrm>
            <a:off x="6272784" y="3108960"/>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68" name="Shape 66"/>
          <p:cNvSpPr/>
          <p:nvPr/>
        </p:nvSpPr>
        <p:spPr>
          <a:xfrm>
            <a:off x="7388352" y="3108960"/>
            <a:ext cx="1097280" cy="658368"/>
          </a:xfrm>
          <a:prstGeom prst="roundRect">
            <a:avLst>
              <a:gd name="adj" fmla="val 8333"/>
            </a:avLst>
          </a:prstGeom>
          <a:solidFill>
            <a:srgbClr val="FFFFFF"/>
          </a:solidFill>
          <a:ln w="7620">
            <a:solidFill>
              <a:srgbClr val="E0E0E0"/>
            </a:solidFill>
            <a:prstDash val="solid"/>
          </a:ln>
        </p:spPr>
        <p:txBody>
          <a:bodyPr/>
          <a:lstStyle/>
          <a:p>
            <a:endParaRPr lang="en-CA"/>
          </a:p>
        </p:txBody>
      </p:sp>
      <p:sp>
        <p:nvSpPr>
          <p:cNvPr id="69" name="Text 67"/>
          <p:cNvSpPr/>
          <p:nvPr/>
        </p:nvSpPr>
        <p:spPr>
          <a:xfrm>
            <a:off x="7388352" y="3108960"/>
            <a:ext cx="1097280" cy="6583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128/192/256</a:t>
            </a:r>
            <a:endParaRPr lang="en-US" sz="800" dirty="0"/>
          </a:p>
        </p:txBody>
      </p:sp>
      <p:sp>
        <p:nvSpPr>
          <p:cNvPr id="70" name="Shape 68"/>
          <p:cNvSpPr/>
          <p:nvPr/>
        </p:nvSpPr>
        <p:spPr>
          <a:xfrm>
            <a:off x="475488" y="3822192"/>
            <a:ext cx="1280160" cy="658368"/>
          </a:xfrm>
          <a:prstGeom prst="roundRect">
            <a:avLst>
              <a:gd name="adj" fmla="val 11111"/>
            </a:avLst>
          </a:prstGeom>
          <a:solidFill>
            <a:srgbClr val="FFFFFF"/>
          </a:solidFill>
          <a:ln w="10160">
            <a:solidFill>
              <a:srgbClr val="CCCCCC"/>
            </a:solidFill>
            <a:prstDash val="solid"/>
          </a:ln>
        </p:spPr>
        <p:txBody>
          <a:bodyPr/>
          <a:lstStyle/>
          <a:p>
            <a:endParaRPr lang="en-CA"/>
          </a:p>
        </p:txBody>
      </p:sp>
      <p:sp>
        <p:nvSpPr>
          <p:cNvPr id="71" name="Text 69"/>
          <p:cNvSpPr/>
          <p:nvPr/>
        </p:nvSpPr>
        <p:spPr>
          <a:xfrm>
            <a:off x="566928" y="3858768"/>
            <a:ext cx="1097280" cy="362102"/>
          </a:xfrm>
          <a:prstGeom prst="rect">
            <a:avLst/>
          </a:prstGeom>
          <a:noFill/>
          <a:ln/>
        </p:spPr>
        <p:txBody>
          <a:bodyPr wrap="square" lIns="0" tIns="0" rIns="0" bIns="0" rtlCol="0" anchor="b"/>
          <a:lstStyle/>
          <a:p>
            <a:pPr marL="0" indent="0">
              <a:buNone/>
            </a:pPr>
            <a:r>
              <a:rPr lang="en-US" sz="1100" b="1" dirty="0">
                <a:solidFill>
                  <a:srgbClr val="0A0A0A"/>
                </a:solidFill>
                <a:latin typeface="Calibri" pitchFamily="34" charset="0"/>
                <a:ea typeface="Calibri" pitchFamily="34" charset="-122"/>
                <a:cs typeface="Calibri" pitchFamily="34" charset="-120"/>
              </a:rPr>
              <a:t>ChaCha20</a:t>
            </a:r>
            <a:endParaRPr lang="en-US" sz="1100" dirty="0"/>
          </a:p>
        </p:txBody>
      </p:sp>
      <p:sp>
        <p:nvSpPr>
          <p:cNvPr id="72" name="Text 70"/>
          <p:cNvSpPr/>
          <p:nvPr/>
        </p:nvSpPr>
        <p:spPr>
          <a:xfrm>
            <a:off x="566928" y="4204980"/>
            <a:ext cx="1097280" cy="263347"/>
          </a:xfrm>
          <a:prstGeom prst="rect">
            <a:avLst/>
          </a:prstGeom>
          <a:noFill/>
          <a:ln/>
        </p:spPr>
        <p:txBody>
          <a:bodyPr wrap="square" lIns="0" tIns="0" rIns="0" bIns="0" rtlCol="0" anchor="t"/>
          <a:lstStyle/>
          <a:p>
            <a:pPr marL="0" indent="0">
              <a:buNone/>
            </a:pPr>
            <a:r>
              <a:rPr lang="en-US" sz="700" dirty="0">
                <a:solidFill>
                  <a:srgbClr val="C0C0C0"/>
                </a:solidFill>
                <a:latin typeface="Calibri" pitchFamily="34" charset="0"/>
                <a:ea typeface="Calibri" pitchFamily="34" charset="-122"/>
                <a:cs typeface="Calibri" pitchFamily="34" charset="-120"/>
              </a:rPr>
              <a:t>Chiffrement de flux</a:t>
            </a:r>
            <a:endParaRPr lang="en-US" sz="700" dirty="0"/>
          </a:p>
        </p:txBody>
      </p:sp>
      <p:sp>
        <p:nvSpPr>
          <p:cNvPr id="73" name="Shape 71"/>
          <p:cNvSpPr/>
          <p:nvPr/>
        </p:nvSpPr>
        <p:spPr>
          <a:xfrm>
            <a:off x="1810512" y="3822192"/>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74" name="Text 72"/>
          <p:cNvSpPr/>
          <p:nvPr/>
        </p:nvSpPr>
        <p:spPr>
          <a:xfrm>
            <a:off x="1810512" y="3822192"/>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75" name="Shape 73"/>
          <p:cNvSpPr/>
          <p:nvPr/>
        </p:nvSpPr>
        <p:spPr>
          <a:xfrm>
            <a:off x="2926080" y="3822192"/>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76" name="Text 74"/>
          <p:cNvSpPr/>
          <p:nvPr/>
        </p:nvSpPr>
        <p:spPr>
          <a:xfrm>
            <a:off x="2926080" y="3822192"/>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77" name="Shape 75"/>
          <p:cNvSpPr/>
          <p:nvPr/>
        </p:nvSpPr>
        <p:spPr>
          <a:xfrm>
            <a:off x="4041648" y="3822192"/>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78" name="Text 76"/>
          <p:cNvSpPr/>
          <p:nvPr/>
        </p:nvSpPr>
        <p:spPr>
          <a:xfrm>
            <a:off x="4041648" y="3822192"/>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79" name="Shape 77"/>
          <p:cNvSpPr/>
          <p:nvPr/>
        </p:nvSpPr>
        <p:spPr>
          <a:xfrm>
            <a:off x="5157216" y="3822192"/>
            <a:ext cx="1060704" cy="658368"/>
          </a:xfrm>
          <a:prstGeom prst="roundRect">
            <a:avLst>
              <a:gd name="adj" fmla="val 8333"/>
            </a:avLst>
          </a:prstGeom>
          <a:solidFill>
            <a:srgbClr val="F2F2F2"/>
          </a:solidFill>
          <a:ln w="7620">
            <a:solidFill>
              <a:srgbClr val="E0E0E0"/>
            </a:solidFill>
            <a:prstDash val="solid"/>
          </a:ln>
        </p:spPr>
        <p:txBody>
          <a:bodyPr/>
          <a:lstStyle/>
          <a:p>
            <a:endParaRPr lang="en-CA"/>
          </a:p>
        </p:txBody>
      </p:sp>
      <p:sp>
        <p:nvSpPr>
          <p:cNvPr id="80" name="Text 78"/>
          <p:cNvSpPr/>
          <p:nvPr/>
        </p:nvSpPr>
        <p:spPr>
          <a:xfrm>
            <a:off x="5157216" y="3822192"/>
            <a:ext cx="1060704" cy="658368"/>
          </a:xfrm>
          <a:prstGeom prst="rect">
            <a:avLst/>
          </a:prstGeom>
          <a:noFill/>
          <a:ln/>
        </p:spPr>
        <p:txBody>
          <a:bodyPr wrap="square" lIns="0" tIns="0" rIns="0" bIns="0" rtlCol="0" anchor="ctr"/>
          <a:lstStyle/>
          <a:p>
            <a:pPr marL="0" indent="0" algn="ctr">
              <a:buNone/>
            </a:pPr>
            <a:r>
              <a:rPr lang="en-US" sz="850" i="1" dirty="0">
                <a:solidFill>
                  <a:srgbClr val="BBBBBB"/>
                </a:solidFill>
                <a:latin typeface="Calibri" pitchFamily="34" charset="0"/>
                <a:ea typeface="Calibri" pitchFamily="34" charset="-122"/>
                <a:cs typeface="Calibri" pitchFamily="34" charset="-120"/>
              </a:rPr>
              <a:t>N/A</a:t>
            </a:r>
            <a:endParaRPr lang="en-US" sz="850" dirty="0"/>
          </a:p>
        </p:txBody>
      </p:sp>
      <p:sp>
        <p:nvSpPr>
          <p:cNvPr id="81" name="Shape 79"/>
          <p:cNvSpPr/>
          <p:nvPr/>
        </p:nvSpPr>
        <p:spPr>
          <a:xfrm>
            <a:off x="6272784" y="3822192"/>
            <a:ext cx="1060704" cy="658368"/>
          </a:xfrm>
          <a:prstGeom prst="roundRect">
            <a:avLst>
              <a:gd name="adj" fmla="val 8333"/>
            </a:avLst>
          </a:prstGeom>
          <a:solidFill>
            <a:srgbClr val="FFFBF0"/>
          </a:solidFill>
          <a:ln w="15240">
            <a:solidFill>
              <a:srgbClr val="C9A84C"/>
            </a:solidFill>
            <a:prstDash val="solid"/>
          </a:ln>
        </p:spPr>
        <p:txBody>
          <a:bodyPr/>
          <a:lstStyle/>
          <a:p>
            <a:endParaRPr lang="en-CA"/>
          </a:p>
        </p:txBody>
      </p:sp>
      <p:sp>
        <p:nvSpPr>
          <p:cNvPr id="82" name="Text 80"/>
          <p:cNvSpPr/>
          <p:nvPr/>
        </p:nvSpPr>
        <p:spPr>
          <a:xfrm>
            <a:off x="6272784" y="3822192"/>
            <a:ext cx="1060704" cy="658368"/>
          </a:xfrm>
          <a:prstGeom prst="rect">
            <a:avLst/>
          </a:prstGeom>
          <a:noFill/>
          <a:ln/>
        </p:spPr>
        <p:txBody>
          <a:bodyPr wrap="square" lIns="0" tIns="0" rIns="0" bIns="0" rtlCol="0" anchor="ctr"/>
          <a:lstStyle/>
          <a:p>
            <a:pPr marL="0" indent="0" algn="ctr">
              <a:buNone/>
            </a:pPr>
            <a:r>
              <a:rPr lang="en-US" sz="1300" b="1" dirty="0">
                <a:solidFill>
                  <a:srgbClr val="C9A84C"/>
                </a:solidFill>
                <a:latin typeface="Calibri" pitchFamily="34" charset="0"/>
                <a:ea typeface="Calibri" pitchFamily="34" charset="-122"/>
                <a:cs typeface="Calibri" pitchFamily="34" charset="-120"/>
              </a:rPr>
              <a:t>✓</a:t>
            </a:r>
            <a:endParaRPr lang="en-US" sz="1300" dirty="0"/>
          </a:p>
        </p:txBody>
      </p:sp>
      <p:sp>
        <p:nvSpPr>
          <p:cNvPr id="83" name="Shape 81"/>
          <p:cNvSpPr/>
          <p:nvPr/>
        </p:nvSpPr>
        <p:spPr>
          <a:xfrm>
            <a:off x="7388352" y="3822192"/>
            <a:ext cx="1097280" cy="658368"/>
          </a:xfrm>
          <a:prstGeom prst="roundRect">
            <a:avLst>
              <a:gd name="adj" fmla="val 8333"/>
            </a:avLst>
          </a:prstGeom>
          <a:solidFill>
            <a:srgbClr val="FFFFFF"/>
          </a:solidFill>
          <a:ln w="7620">
            <a:solidFill>
              <a:srgbClr val="E0E0E0"/>
            </a:solidFill>
            <a:prstDash val="solid"/>
          </a:ln>
        </p:spPr>
        <p:txBody>
          <a:bodyPr/>
          <a:lstStyle/>
          <a:p>
            <a:endParaRPr lang="en-CA"/>
          </a:p>
        </p:txBody>
      </p:sp>
      <p:sp>
        <p:nvSpPr>
          <p:cNvPr id="84" name="Text 82"/>
          <p:cNvSpPr/>
          <p:nvPr/>
        </p:nvSpPr>
        <p:spPr>
          <a:xfrm>
            <a:off x="7388352" y="3822192"/>
            <a:ext cx="1097280" cy="658368"/>
          </a:xfrm>
          <a:prstGeom prst="rect">
            <a:avLst/>
          </a:prstGeom>
          <a:noFill/>
          <a:ln/>
        </p:spPr>
        <p:txBody>
          <a:bodyPr wrap="square" lIns="0" tIns="0" rIns="0" bIns="0" rtlCol="0" anchor="ctr"/>
          <a:lstStyle/>
          <a:p>
            <a:pPr marL="0" indent="0" algn="ctr">
              <a:buNone/>
            </a:pPr>
            <a:r>
              <a:rPr lang="en-US" sz="800" dirty="0">
                <a:solidFill>
                  <a:srgbClr val="555555"/>
                </a:solidFill>
                <a:latin typeface="Calibri" pitchFamily="34" charset="0"/>
                <a:ea typeface="Calibri" pitchFamily="34" charset="-122"/>
                <a:cs typeface="Calibri" pitchFamily="34" charset="-120"/>
              </a:rPr>
              <a:t>256</a:t>
            </a:r>
            <a:endParaRPr lang="en-US" sz="800" dirty="0"/>
          </a:p>
        </p:txBody>
      </p:sp>
      <p:sp>
        <p:nvSpPr>
          <p:cNvPr id="85" name="Shape 83"/>
          <p:cNvSpPr/>
          <p:nvPr/>
        </p:nvSpPr>
        <p:spPr>
          <a:xfrm>
            <a:off x="467452" y="4602757"/>
            <a:ext cx="128016" cy="128016"/>
          </a:xfrm>
          <a:prstGeom prst="roundRect">
            <a:avLst>
              <a:gd name="adj" fmla="val 21429"/>
            </a:avLst>
          </a:prstGeom>
          <a:solidFill>
            <a:srgbClr val="E8F4E8"/>
          </a:solidFill>
          <a:ln w="10160">
            <a:solidFill>
              <a:srgbClr val="90C090"/>
            </a:solidFill>
            <a:prstDash val="solid"/>
          </a:ln>
        </p:spPr>
        <p:txBody>
          <a:bodyPr/>
          <a:lstStyle/>
          <a:p>
            <a:endParaRPr lang="en-CA"/>
          </a:p>
        </p:txBody>
      </p:sp>
      <p:sp>
        <p:nvSpPr>
          <p:cNvPr id="86" name="Text 84"/>
          <p:cNvSpPr/>
          <p:nvPr/>
        </p:nvSpPr>
        <p:spPr>
          <a:xfrm>
            <a:off x="658368" y="4611347"/>
            <a:ext cx="1572214" cy="21945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Testé — chiffrement par blocs standard (ECB, CBC, CTR)</a:t>
            </a:r>
            <a:endParaRPr lang="en-US" sz="750" dirty="0"/>
          </a:p>
        </p:txBody>
      </p:sp>
      <p:sp>
        <p:nvSpPr>
          <p:cNvPr id="87" name="Shape 85"/>
          <p:cNvSpPr/>
          <p:nvPr/>
        </p:nvSpPr>
        <p:spPr>
          <a:xfrm>
            <a:off x="2466940" y="4578651"/>
            <a:ext cx="128016" cy="128016"/>
          </a:xfrm>
          <a:prstGeom prst="roundRect">
            <a:avLst>
              <a:gd name="adj" fmla="val 21429"/>
            </a:avLst>
          </a:prstGeom>
          <a:solidFill>
            <a:srgbClr val="FFFBF0"/>
          </a:solidFill>
          <a:ln w="10160">
            <a:solidFill>
              <a:srgbClr val="C9A84C"/>
            </a:solidFill>
            <a:prstDash val="solid"/>
          </a:ln>
        </p:spPr>
        <p:txBody>
          <a:bodyPr/>
          <a:lstStyle/>
          <a:p>
            <a:endParaRPr lang="en-CA"/>
          </a:p>
        </p:txBody>
      </p:sp>
      <p:sp>
        <p:nvSpPr>
          <p:cNvPr id="88" name="Text 86"/>
          <p:cNvSpPr/>
          <p:nvPr/>
        </p:nvSpPr>
        <p:spPr>
          <a:xfrm>
            <a:off x="2671432" y="4573663"/>
            <a:ext cx="4048021" cy="146858"/>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GCM / Stream — paradigme distinct : authentification intégrée (GCM) ou chiffrement de flux (Stream)</a:t>
            </a:r>
            <a:endParaRPr lang="en-US" sz="750" dirty="0"/>
          </a:p>
        </p:txBody>
      </p:sp>
      <p:sp>
        <p:nvSpPr>
          <p:cNvPr id="89" name="Shape 87"/>
          <p:cNvSpPr/>
          <p:nvPr/>
        </p:nvSpPr>
        <p:spPr>
          <a:xfrm>
            <a:off x="6819207" y="4573663"/>
            <a:ext cx="128016" cy="128016"/>
          </a:xfrm>
          <a:prstGeom prst="roundRect">
            <a:avLst>
              <a:gd name="adj" fmla="val 21429"/>
            </a:avLst>
          </a:prstGeom>
          <a:solidFill>
            <a:srgbClr val="F2F2F2"/>
          </a:solidFill>
          <a:ln w="10160">
            <a:solidFill>
              <a:srgbClr val="E0E0E0"/>
            </a:solidFill>
            <a:prstDash val="solid"/>
          </a:ln>
        </p:spPr>
        <p:txBody>
          <a:bodyPr/>
          <a:lstStyle/>
          <a:p>
            <a:endParaRPr lang="en-CA"/>
          </a:p>
        </p:txBody>
      </p:sp>
      <p:sp>
        <p:nvSpPr>
          <p:cNvPr id="90" name="Text 88"/>
          <p:cNvSpPr/>
          <p:nvPr/>
        </p:nvSpPr>
        <p:spPr>
          <a:xfrm>
            <a:off x="7028134" y="4591951"/>
            <a:ext cx="1457498" cy="21945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N/A — mode structurellement incompatible avec cet algorithme</a:t>
            </a:r>
            <a:endParaRPr lang="en-US" sz="750" dirty="0"/>
          </a:p>
        </p:txBody>
      </p:sp>
      <p:sp>
        <p:nvSpPr>
          <p:cNvPr id="91" name="Text 89"/>
          <p:cNvSpPr/>
          <p:nvPr/>
        </p:nvSpPr>
        <p:spPr>
          <a:xfrm>
            <a:off x="475488" y="4860036"/>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Conditions </a:t>
            </a:r>
            <a:r>
              <a:rPr lang="en-US" sz="1500" b="1" dirty="0">
                <a:solidFill>
                  <a:srgbClr val="C9A84C"/>
                </a:solidFill>
                <a:latin typeface="Calibri" pitchFamily="34" charset="0"/>
                <a:ea typeface="Calibri" pitchFamily="34" charset="-122"/>
                <a:cs typeface="Calibri" pitchFamily="34" charset="-120"/>
              </a:rPr>
              <a:t>de reproductibilité</a:t>
            </a:r>
            <a:endParaRPr lang="en-US" sz="1500" dirty="0"/>
          </a:p>
        </p:txBody>
      </p:sp>
      <p:sp>
        <p:nvSpPr>
          <p:cNvPr id="5" name="Text 3"/>
          <p:cNvSpPr/>
          <p:nvPr/>
        </p:nvSpPr>
        <p:spPr>
          <a:xfrm>
            <a:off x="475488" y="694944"/>
            <a:ext cx="8321040" cy="201168"/>
          </a:xfrm>
          <a:prstGeom prst="rect">
            <a:avLst/>
          </a:prstGeom>
          <a:noFill/>
          <a:ln/>
        </p:spPr>
        <p:txBody>
          <a:bodyPr wrap="square" lIns="0" tIns="0" rIns="0" bIns="0" rtlCol="0" anchor="ctr"/>
          <a:lstStyle/>
          <a:p>
            <a:pPr marL="0" indent="0">
              <a:buNone/>
            </a:pPr>
            <a:r>
              <a:rPr lang="fr-FR" sz="850" i="1" dirty="0">
                <a:solidFill>
                  <a:srgbClr val="888888"/>
                </a:solidFill>
                <a:latin typeface="Calibri" pitchFamily="34" charset="0"/>
                <a:ea typeface="Calibri" pitchFamily="34" charset="-122"/>
                <a:cs typeface="Calibri" pitchFamily="34" charset="-120"/>
              </a:rPr>
              <a:t>Ces quatre conditions rendent les comparaisons x86/ARM méthodologiquement cohérentes et interprétables.</a:t>
            </a:r>
            <a:endParaRPr lang="en-US" sz="850" dirty="0"/>
          </a:p>
        </p:txBody>
      </p:sp>
      <p:sp>
        <p:nvSpPr>
          <p:cNvPr id="6" name="Shape 4"/>
          <p:cNvSpPr/>
          <p:nvPr/>
        </p:nvSpPr>
        <p:spPr>
          <a:xfrm>
            <a:off x="457200" y="1041770"/>
            <a:ext cx="8321040" cy="0"/>
          </a:xfrm>
          <a:prstGeom prst="line">
            <a:avLst/>
          </a:prstGeom>
          <a:noFill/>
          <a:ln w="10160">
            <a:solidFill>
              <a:srgbClr val="F0F0F0"/>
            </a:solidFill>
            <a:prstDash val="solid"/>
          </a:ln>
        </p:spPr>
        <p:txBody>
          <a:bodyPr/>
          <a:lstStyle/>
          <a:p>
            <a:endParaRPr lang="en-CA"/>
          </a:p>
        </p:txBody>
      </p:sp>
      <p:sp>
        <p:nvSpPr>
          <p:cNvPr id="7" name="Shape 5"/>
          <p:cNvSpPr/>
          <p:nvPr/>
        </p:nvSpPr>
        <p:spPr>
          <a:xfrm>
            <a:off x="457200" y="1224649"/>
            <a:ext cx="3977640" cy="1261873"/>
          </a:xfrm>
          <a:prstGeom prst="roundRect">
            <a:avLst>
              <a:gd name="adj" fmla="val 5618"/>
            </a:avLst>
          </a:prstGeom>
          <a:solidFill>
            <a:srgbClr val="FAFAFA"/>
          </a:solidFill>
          <a:ln w="7620">
            <a:solidFill>
              <a:srgbClr val="EEEEEE"/>
            </a:solidFill>
            <a:prstDash val="solid"/>
          </a:ln>
        </p:spPr>
        <p:txBody>
          <a:bodyPr/>
          <a:lstStyle/>
          <a:p>
            <a:endParaRPr lang="en-CA"/>
          </a:p>
        </p:txBody>
      </p:sp>
      <p:sp>
        <p:nvSpPr>
          <p:cNvPr id="8" name="Shape 6"/>
          <p:cNvSpPr/>
          <p:nvPr/>
        </p:nvSpPr>
        <p:spPr>
          <a:xfrm>
            <a:off x="457200" y="1224649"/>
            <a:ext cx="3977640" cy="54864"/>
          </a:xfrm>
          <a:prstGeom prst="rect">
            <a:avLst/>
          </a:prstGeom>
          <a:solidFill>
            <a:srgbClr val="C9A84C"/>
          </a:solidFill>
          <a:ln w="12700">
            <a:solidFill>
              <a:srgbClr val="C9A84C"/>
            </a:solidFill>
            <a:prstDash val="solid"/>
          </a:ln>
        </p:spPr>
        <p:txBody>
          <a:bodyPr/>
          <a:lstStyle/>
          <a:p>
            <a:endParaRPr lang="en-CA"/>
          </a:p>
        </p:txBody>
      </p:sp>
      <p:sp>
        <p:nvSpPr>
          <p:cNvPr id="9" name="Text 7"/>
          <p:cNvSpPr/>
          <p:nvPr/>
        </p:nvSpPr>
        <p:spPr>
          <a:xfrm>
            <a:off x="3611880" y="1316089"/>
            <a:ext cx="731520" cy="640080"/>
          </a:xfrm>
          <a:prstGeom prst="rect">
            <a:avLst/>
          </a:prstGeom>
          <a:noFill/>
          <a:ln/>
        </p:spPr>
        <p:txBody>
          <a:bodyPr wrap="square" lIns="0" tIns="0" rIns="0" bIns="0" rtlCol="0" anchor="ctr"/>
          <a:lstStyle/>
          <a:p>
            <a:pPr marL="0" indent="0" algn="r">
              <a:buNone/>
            </a:pPr>
            <a:r>
              <a:rPr lang="en-US" sz="4000" b="1" dirty="0">
                <a:solidFill>
                  <a:srgbClr val="0A0A0A">
                    <a:alpha val="7000"/>
                  </a:srgbClr>
                </a:solidFill>
                <a:latin typeface="Calibri" pitchFamily="34" charset="0"/>
                <a:ea typeface="Calibri" pitchFamily="34" charset="-122"/>
                <a:cs typeface="Calibri" pitchFamily="34" charset="-120"/>
              </a:rPr>
              <a:t>C1</a:t>
            </a:r>
            <a:endParaRPr lang="en-US" sz="4000" dirty="0"/>
          </a:p>
        </p:txBody>
      </p:sp>
      <p:sp>
        <p:nvSpPr>
          <p:cNvPr id="10" name="Text 8"/>
          <p:cNvSpPr/>
          <p:nvPr/>
        </p:nvSpPr>
        <p:spPr>
          <a:xfrm>
            <a:off x="621792" y="1389241"/>
            <a:ext cx="3648456" cy="292608"/>
          </a:xfrm>
          <a:prstGeom prst="rect">
            <a:avLst/>
          </a:prstGeom>
          <a:noFill/>
          <a:ln/>
        </p:spPr>
        <p:txBody>
          <a:bodyPr wrap="square" lIns="0" tIns="0" rIns="0" bIns="0" rtlCol="0" anchor="ctr"/>
          <a:lstStyle/>
          <a:p>
            <a:pPr marL="0" indent="0">
              <a:buNone/>
            </a:pPr>
            <a:r>
              <a:rPr lang="en-US" sz="1100" b="1" dirty="0">
                <a:solidFill>
                  <a:srgbClr val="0A0A0A"/>
                </a:solidFill>
                <a:latin typeface="Calibri" pitchFamily="34" charset="0"/>
                <a:ea typeface="Calibri" pitchFamily="34" charset="-122"/>
                <a:cs typeface="Calibri" pitchFamily="34" charset="-120"/>
              </a:rPr>
              <a:t>Même matrice expérimentale</a:t>
            </a:r>
            <a:endParaRPr lang="en-US" sz="1100" dirty="0"/>
          </a:p>
        </p:txBody>
      </p:sp>
      <p:sp>
        <p:nvSpPr>
          <p:cNvPr id="11" name="Shape 9"/>
          <p:cNvSpPr/>
          <p:nvPr/>
        </p:nvSpPr>
        <p:spPr>
          <a:xfrm>
            <a:off x="621792" y="1755001"/>
            <a:ext cx="256032" cy="0"/>
          </a:xfrm>
          <a:prstGeom prst="line">
            <a:avLst/>
          </a:prstGeom>
          <a:noFill/>
          <a:ln w="19050">
            <a:solidFill>
              <a:srgbClr val="C9A84C"/>
            </a:solidFill>
            <a:prstDash val="solid"/>
          </a:ln>
        </p:spPr>
        <p:txBody>
          <a:bodyPr/>
          <a:lstStyle/>
          <a:p>
            <a:endParaRPr lang="en-CA"/>
          </a:p>
        </p:txBody>
      </p:sp>
      <p:sp>
        <p:nvSpPr>
          <p:cNvPr id="12" name="Text 10"/>
          <p:cNvSpPr/>
          <p:nvPr/>
        </p:nvSpPr>
        <p:spPr>
          <a:xfrm>
            <a:off x="621792" y="1864729"/>
            <a:ext cx="3648456" cy="822960"/>
          </a:xfrm>
          <a:prstGeom prst="rect">
            <a:avLst/>
          </a:prstGeom>
          <a:noFill/>
          <a:ln/>
        </p:spPr>
        <p:txBody>
          <a:bodyPr wrap="square" lIns="0" tIns="0" rIns="0" bIns="0" rtlCol="0" anchor="t"/>
          <a:lstStyle/>
          <a:p>
            <a:pPr marL="0" indent="0">
              <a:lnSpc>
                <a:spcPct val="140000"/>
              </a:lnSpc>
              <a:buNone/>
            </a:pPr>
            <a:r>
              <a:rPr lang="fr-FR" sz="900" dirty="0">
                <a:solidFill>
                  <a:srgbClr val="555555"/>
                </a:solidFill>
                <a:latin typeface="Calibri" pitchFamily="34" charset="0"/>
                <a:ea typeface="Calibri" pitchFamily="34" charset="-122"/>
                <a:cs typeface="Calibri" pitchFamily="34" charset="-120"/>
              </a:rPr>
              <a:t>La même EXPERIMENT_MATRIX est exécutée sur les deux plateformes: mêmes algorithmes, mêmes modes, mêmes tailles de clé et de message.</a:t>
            </a:r>
            <a:endParaRPr lang="en-US" sz="900" dirty="0"/>
          </a:p>
        </p:txBody>
      </p:sp>
      <p:sp>
        <p:nvSpPr>
          <p:cNvPr id="13" name="Shape 11"/>
          <p:cNvSpPr/>
          <p:nvPr/>
        </p:nvSpPr>
        <p:spPr>
          <a:xfrm>
            <a:off x="4617720" y="1224649"/>
            <a:ext cx="3977640" cy="1261873"/>
          </a:xfrm>
          <a:prstGeom prst="roundRect">
            <a:avLst>
              <a:gd name="adj" fmla="val 5618"/>
            </a:avLst>
          </a:prstGeom>
          <a:solidFill>
            <a:srgbClr val="FAFAFA"/>
          </a:solidFill>
          <a:ln w="7620">
            <a:solidFill>
              <a:srgbClr val="EEEEEE"/>
            </a:solidFill>
            <a:prstDash val="solid"/>
          </a:ln>
        </p:spPr>
        <p:txBody>
          <a:bodyPr/>
          <a:lstStyle/>
          <a:p>
            <a:endParaRPr lang="en-CA"/>
          </a:p>
        </p:txBody>
      </p:sp>
      <p:sp>
        <p:nvSpPr>
          <p:cNvPr id="14" name="Shape 12"/>
          <p:cNvSpPr/>
          <p:nvPr/>
        </p:nvSpPr>
        <p:spPr>
          <a:xfrm>
            <a:off x="4617720" y="1224649"/>
            <a:ext cx="3977640" cy="54864"/>
          </a:xfrm>
          <a:prstGeom prst="rect">
            <a:avLst/>
          </a:prstGeom>
          <a:solidFill>
            <a:srgbClr val="C9A84C"/>
          </a:solidFill>
          <a:ln w="12700">
            <a:solidFill>
              <a:srgbClr val="C9A84C"/>
            </a:solidFill>
            <a:prstDash val="solid"/>
          </a:ln>
        </p:spPr>
        <p:txBody>
          <a:bodyPr/>
          <a:lstStyle/>
          <a:p>
            <a:endParaRPr lang="en-CA"/>
          </a:p>
        </p:txBody>
      </p:sp>
      <p:sp>
        <p:nvSpPr>
          <p:cNvPr id="15" name="Text 13"/>
          <p:cNvSpPr/>
          <p:nvPr/>
        </p:nvSpPr>
        <p:spPr>
          <a:xfrm>
            <a:off x="7772400" y="1316089"/>
            <a:ext cx="731520" cy="640080"/>
          </a:xfrm>
          <a:prstGeom prst="rect">
            <a:avLst/>
          </a:prstGeom>
          <a:noFill/>
          <a:ln/>
        </p:spPr>
        <p:txBody>
          <a:bodyPr wrap="square" lIns="0" tIns="0" rIns="0" bIns="0" rtlCol="0" anchor="ctr"/>
          <a:lstStyle/>
          <a:p>
            <a:pPr marL="0" indent="0" algn="r">
              <a:buNone/>
            </a:pPr>
            <a:r>
              <a:rPr lang="en-US" sz="4000" b="1" dirty="0">
                <a:solidFill>
                  <a:srgbClr val="0A0A0A">
                    <a:alpha val="7000"/>
                  </a:srgbClr>
                </a:solidFill>
                <a:latin typeface="Calibri" pitchFamily="34" charset="0"/>
                <a:ea typeface="Calibri" pitchFamily="34" charset="-122"/>
                <a:cs typeface="Calibri" pitchFamily="34" charset="-120"/>
              </a:rPr>
              <a:t>C2</a:t>
            </a:r>
            <a:endParaRPr lang="en-US" sz="4000" dirty="0"/>
          </a:p>
        </p:txBody>
      </p:sp>
      <p:sp>
        <p:nvSpPr>
          <p:cNvPr id="16" name="Text 14"/>
          <p:cNvSpPr/>
          <p:nvPr/>
        </p:nvSpPr>
        <p:spPr>
          <a:xfrm>
            <a:off x="4782312" y="1389241"/>
            <a:ext cx="3648456" cy="292608"/>
          </a:xfrm>
          <a:prstGeom prst="rect">
            <a:avLst/>
          </a:prstGeom>
          <a:noFill/>
          <a:ln/>
        </p:spPr>
        <p:txBody>
          <a:bodyPr wrap="square" lIns="0" tIns="0" rIns="0" bIns="0" rtlCol="0" anchor="ctr"/>
          <a:lstStyle/>
          <a:p>
            <a:pPr marL="0" indent="0">
              <a:buNone/>
            </a:pPr>
            <a:r>
              <a:rPr lang="en-US" sz="1100" b="1" dirty="0">
                <a:solidFill>
                  <a:srgbClr val="0A0A0A"/>
                </a:solidFill>
                <a:latin typeface="Calibri" pitchFamily="34" charset="0"/>
                <a:ea typeface="Calibri" pitchFamily="34" charset="-122"/>
                <a:cs typeface="Calibri" pitchFamily="34" charset="-120"/>
              </a:rPr>
              <a:t>Même nombre de répétitions</a:t>
            </a:r>
            <a:endParaRPr lang="en-US" sz="1100" dirty="0"/>
          </a:p>
        </p:txBody>
      </p:sp>
      <p:sp>
        <p:nvSpPr>
          <p:cNvPr id="17" name="Shape 15"/>
          <p:cNvSpPr/>
          <p:nvPr/>
        </p:nvSpPr>
        <p:spPr>
          <a:xfrm>
            <a:off x="4782312" y="1755001"/>
            <a:ext cx="256032" cy="0"/>
          </a:xfrm>
          <a:prstGeom prst="line">
            <a:avLst/>
          </a:prstGeom>
          <a:noFill/>
          <a:ln w="19050">
            <a:solidFill>
              <a:srgbClr val="C9A84C"/>
            </a:solidFill>
            <a:prstDash val="solid"/>
          </a:ln>
        </p:spPr>
        <p:txBody>
          <a:bodyPr/>
          <a:lstStyle/>
          <a:p>
            <a:endParaRPr lang="en-CA"/>
          </a:p>
        </p:txBody>
      </p:sp>
      <p:sp>
        <p:nvSpPr>
          <p:cNvPr id="18" name="Text 16"/>
          <p:cNvSpPr/>
          <p:nvPr/>
        </p:nvSpPr>
        <p:spPr>
          <a:xfrm>
            <a:off x="4782312" y="1864729"/>
            <a:ext cx="3648456" cy="822960"/>
          </a:xfrm>
          <a:prstGeom prst="rect">
            <a:avLst/>
          </a:prstGeom>
          <a:noFill/>
          <a:ln/>
        </p:spPr>
        <p:txBody>
          <a:bodyPr wrap="square" lIns="0" tIns="0" rIns="0" bIns="0" rtlCol="0" anchor="t"/>
          <a:lstStyle/>
          <a:p>
            <a:pPr marL="0" indent="0">
              <a:lnSpc>
                <a:spcPct val="140000"/>
              </a:lnSpc>
              <a:buNone/>
            </a:pPr>
            <a:r>
              <a:rPr lang="fr-FR" sz="900" dirty="0">
                <a:solidFill>
                  <a:srgbClr val="555555"/>
                </a:solidFill>
                <a:latin typeface="Calibri" pitchFamily="34" charset="0"/>
                <a:ea typeface="Calibri" pitchFamily="34" charset="-122"/>
                <a:cs typeface="Calibri" pitchFamily="34" charset="-120"/>
              </a:rPr>
              <a:t>100 répétitions par configuration réduisent la variance et produisent un intervalle de confiance à 95% statistiquement stable sur les deux plateformes.</a:t>
            </a:r>
            <a:endParaRPr lang="en-US" sz="900" dirty="0"/>
          </a:p>
        </p:txBody>
      </p:sp>
      <p:sp>
        <p:nvSpPr>
          <p:cNvPr id="19" name="Shape 17"/>
          <p:cNvSpPr/>
          <p:nvPr/>
        </p:nvSpPr>
        <p:spPr>
          <a:xfrm>
            <a:off x="457200" y="2687689"/>
            <a:ext cx="3977640" cy="1261873"/>
          </a:xfrm>
          <a:prstGeom prst="roundRect">
            <a:avLst>
              <a:gd name="adj" fmla="val 5618"/>
            </a:avLst>
          </a:prstGeom>
          <a:solidFill>
            <a:srgbClr val="FAFAFA"/>
          </a:solidFill>
          <a:ln w="7620">
            <a:solidFill>
              <a:srgbClr val="EEEEEE"/>
            </a:solidFill>
            <a:prstDash val="solid"/>
          </a:ln>
        </p:spPr>
        <p:txBody>
          <a:bodyPr/>
          <a:lstStyle/>
          <a:p>
            <a:endParaRPr lang="en-CA"/>
          </a:p>
        </p:txBody>
      </p:sp>
      <p:sp>
        <p:nvSpPr>
          <p:cNvPr id="20" name="Shape 18"/>
          <p:cNvSpPr/>
          <p:nvPr/>
        </p:nvSpPr>
        <p:spPr>
          <a:xfrm>
            <a:off x="457200" y="2687689"/>
            <a:ext cx="3977640" cy="54864"/>
          </a:xfrm>
          <a:prstGeom prst="rect">
            <a:avLst/>
          </a:prstGeom>
          <a:solidFill>
            <a:srgbClr val="C9A84C"/>
          </a:solidFill>
          <a:ln w="12700">
            <a:solidFill>
              <a:srgbClr val="C9A84C"/>
            </a:solidFill>
            <a:prstDash val="solid"/>
          </a:ln>
        </p:spPr>
        <p:txBody>
          <a:bodyPr/>
          <a:lstStyle/>
          <a:p>
            <a:endParaRPr lang="en-CA"/>
          </a:p>
        </p:txBody>
      </p:sp>
      <p:sp>
        <p:nvSpPr>
          <p:cNvPr id="21" name="Text 19"/>
          <p:cNvSpPr/>
          <p:nvPr/>
        </p:nvSpPr>
        <p:spPr>
          <a:xfrm>
            <a:off x="3611880" y="2779129"/>
            <a:ext cx="731520" cy="640080"/>
          </a:xfrm>
          <a:prstGeom prst="rect">
            <a:avLst/>
          </a:prstGeom>
          <a:noFill/>
          <a:ln/>
        </p:spPr>
        <p:txBody>
          <a:bodyPr wrap="square" lIns="0" tIns="0" rIns="0" bIns="0" rtlCol="0" anchor="ctr"/>
          <a:lstStyle/>
          <a:p>
            <a:pPr marL="0" indent="0" algn="r">
              <a:buNone/>
            </a:pPr>
            <a:r>
              <a:rPr lang="en-US" sz="4000" b="1" dirty="0">
                <a:solidFill>
                  <a:srgbClr val="0A0A0A">
                    <a:alpha val="7000"/>
                  </a:srgbClr>
                </a:solidFill>
                <a:latin typeface="Calibri" pitchFamily="34" charset="0"/>
                <a:ea typeface="Calibri" pitchFamily="34" charset="-122"/>
                <a:cs typeface="Calibri" pitchFamily="34" charset="-120"/>
              </a:rPr>
              <a:t>C3</a:t>
            </a:r>
            <a:endParaRPr lang="en-US" sz="4000" dirty="0"/>
          </a:p>
        </p:txBody>
      </p:sp>
      <p:sp>
        <p:nvSpPr>
          <p:cNvPr id="22" name="Text 20"/>
          <p:cNvSpPr/>
          <p:nvPr/>
        </p:nvSpPr>
        <p:spPr>
          <a:xfrm>
            <a:off x="621792" y="2852281"/>
            <a:ext cx="3648456" cy="292608"/>
          </a:xfrm>
          <a:prstGeom prst="rect">
            <a:avLst/>
          </a:prstGeom>
          <a:noFill/>
          <a:ln/>
        </p:spPr>
        <p:txBody>
          <a:bodyPr wrap="square" lIns="0" tIns="0" rIns="0" bIns="0" rtlCol="0" anchor="ctr"/>
          <a:lstStyle/>
          <a:p>
            <a:pPr marL="0" indent="0">
              <a:buNone/>
            </a:pPr>
            <a:r>
              <a:rPr lang="en-US" sz="1100" b="1" dirty="0">
                <a:solidFill>
                  <a:srgbClr val="0A0A0A"/>
                </a:solidFill>
                <a:latin typeface="Calibri" pitchFamily="34" charset="0"/>
                <a:ea typeface="Calibri" pitchFamily="34" charset="-122"/>
                <a:cs typeface="Calibri" pitchFamily="34" charset="-120"/>
              </a:rPr>
              <a:t>Même format de sortie CSV</a:t>
            </a:r>
            <a:endParaRPr lang="en-US" sz="1100" dirty="0"/>
          </a:p>
        </p:txBody>
      </p:sp>
      <p:sp>
        <p:nvSpPr>
          <p:cNvPr id="23" name="Shape 21"/>
          <p:cNvSpPr/>
          <p:nvPr/>
        </p:nvSpPr>
        <p:spPr>
          <a:xfrm>
            <a:off x="621792" y="3218041"/>
            <a:ext cx="256032" cy="0"/>
          </a:xfrm>
          <a:prstGeom prst="line">
            <a:avLst/>
          </a:prstGeom>
          <a:noFill/>
          <a:ln w="19050">
            <a:solidFill>
              <a:srgbClr val="C9A84C"/>
            </a:solidFill>
            <a:prstDash val="solid"/>
          </a:ln>
        </p:spPr>
        <p:txBody>
          <a:bodyPr/>
          <a:lstStyle/>
          <a:p>
            <a:endParaRPr lang="en-CA"/>
          </a:p>
        </p:txBody>
      </p:sp>
      <p:sp>
        <p:nvSpPr>
          <p:cNvPr id="24" name="Text 22"/>
          <p:cNvSpPr/>
          <p:nvPr/>
        </p:nvSpPr>
        <p:spPr>
          <a:xfrm>
            <a:off x="621792" y="3327769"/>
            <a:ext cx="3648456" cy="822960"/>
          </a:xfrm>
          <a:prstGeom prst="rect">
            <a:avLst/>
          </a:prstGeom>
          <a:noFill/>
          <a:ln/>
        </p:spPr>
        <p:txBody>
          <a:bodyPr wrap="square" lIns="0" tIns="0" rIns="0" bIns="0" rtlCol="0" anchor="t"/>
          <a:lstStyle/>
          <a:p>
            <a:pPr marL="0" indent="0">
              <a:lnSpc>
                <a:spcPct val="140000"/>
              </a:lnSpc>
              <a:buNone/>
            </a:pPr>
            <a:r>
              <a:rPr lang="fr-FR" sz="900" dirty="0">
                <a:solidFill>
                  <a:srgbClr val="555555"/>
                </a:solidFill>
                <a:latin typeface="Calibri" pitchFamily="34" charset="0"/>
                <a:ea typeface="Calibri" pitchFamily="34" charset="-122"/>
                <a:cs typeface="Calibri" pitchFamily="34" charset="-120"/>
              </a:rPr>
              <a:t>Les résultats sont exportés avec la même structure (colonnes, types, convention de nommage). Les fichiers produits restent directement comparables entre x86 et ARM.</a:t>
            </a:r>
            <a:endParaRPr lang="en-US" sz="900" dirty="0"/>
          </a:p>
        </p:txBody>
      </p:sp>
      <p:sp>
        <p:nvSpPr>
          <p:cNvPr id="25" name="Shape 23"/>
          <p:cNvSpPr/>
          <p:nvPr/>
        </p:nvSpPr>
        <p:spPr>
          <a:xfrm>
            <a:off x="4617720" y="2687689"/>
            <a:ext cx="3977640" cy="1280161"/>
          </a:xfrm>
          <a:prstGeom prst="roundRect">
            <a:avLst>
              <a:gd name="adj" fmla="val 5618"/>
            </a:avLst>
          </a:prstGeom>
          <a:solidFill>
            <a:srgbClr val="FAFAFA"/>
          </a:solidFill>
          <a:ln w="7620">
            <a:solidFill>
              <a:srgbClr val="EEEEEE"/>
            </a:solidFill>
            <a:prstDash val="solid"/>
          </a:ln>
        </p:spPr>
        <p:txBody>
          <a:bodyPr/>
          <a:lstStyle/>
          <a:p>
            <a:endParaRPr lang="en-CA"/>
          </a:p>
        </p:txBody>
      </p:sp>
      <p:sp>
        <p:nvSpPr>
          <p:cNvPr id="26" name="Shape 24"/>
          <p:cNvSpPr/>
          <p:nvPr/>
        </p:nvSpPr>
        <p:spPr>
          <a:xfrm>
            <a:off x="4617720" y="2687689"/>
            <a:ext cx="3977640" cy="54864"/>
          </a:xfrm>
          <a:prstGeom prst="rect">
            <a:avLst/>
          </a:prstGeom>
          <a:solidFill>
            <a:srgbClr val="C9A84C"/>
          </a:solidFill>
          <a:ln w="12700">
            <a:solidFill>
              <a:srgbClr val="C9A84C"/>
            </a:solidFill>
            <a:prstDash val="solid"/>
          </a:ln>
        </p:spPr>
        <p:txBody>
          <a:bodyPr/>
          <a:lstStyle/>
          <a:p>
            <a:endParaRPr lang="en-CA"/>
          </a:p>
        </p:txBody>
      </p:sp>
      <p:sp>
        <p:nvSpPr>
          <p:cNvPr id="27" name="Text 25"/>
          <p:cNvSpPr/>
          <p:nvPr/>
        </p:nvSpPr>
        <p:spPr>
          <a:xfrm>
            <a:off x="7772400" y="2779129"/>
            <a:ext cx="731520" cy="640080"/>
          </a:xfrm>
          <a:prstGeom prst="rect">
            <a:avLst/>
          </a:prstGeom>
          <a:noFill/>
          <a:ln/>
        </p:spPr>
        <p:txBody>
          <a:bodyPr wrap="square" lIns="0" tIns="0" rIns="0" bIns="0" rtlCol="0" anchor="ctr"/>
          <a:lstStyle/>
          <a:p>
            <a:pPr marL="0" indent="0" algn="r">
              <a:buNone/>
            </a:pPr>
            <a:r>
              <a:rPr lang="en-US" sz="4000" b="1" dirty="0">
                <a:solidFill>
                  <a:srgbClr val="0A0A0A">
                    <a:alpha val="7000"/>
                  </a:srgbClr>
                </a:solidFill>
                <a:latin typeface="Calibri" pitchFamily="34" charset="0"/>
                <a:ea typeface="Calibri" pitchFamily="34" charset="-122"/>
                <a:cs typeface="Calibri" pitchFamily="34" charset="-120"/>
              </a:rPr>
              <a:t>C4</a:t>
            </a:r>
            <a:endParaRPr lang="en-US" sz="4000" dirty="0"/>
          </a:p>
        </p:txBody>
      </p:sp>
      <p:sp>
        <p:nvSpPr>
          <p:cNvPr id="28" name="Text 26"/>
          <p:cNvSpPr/>
          <p:nvPr/>
        </p:nvSpPr>
        <p:spPr>
          <a:xfrm>
            <a:off x="4782312" y="2852281"/>
            <a:ext cx="3648456" cy="292608"/>
          </a:xfrm>
          <a:prstGeom prst="rect">
            <a:avLst/>
          </a:prstGeom>
          <a:noFill/>
          <a:ln/>
        </p:spPr>
        <p:txBody>
          <a:bodyPr wrap="square" lIns="0" tIns="0" rIns="0" bIns="0" rtlCol="0" anchor="ctr"/>
          <a:lstStyle/>
          <a:p>
            <a:pPr marL="0" indent="0">
              <a:buNone/>
            </a:pPr>
            <a:r>
              <a:rPr lang="en-US" sz="1100" b="1" dirty="0">
                <a:solidFill>
                  <a:srgbClr val="0A0A0A"/>
                </a:solidFill>
                <a:latin typeface="Calibri" pitchFamily="34" charset="0"/>
                <a:ea typeface="Calibri" pitchFamily="34" charset="-122"/>
                <a:cs typeface="Calibri" pitchFamily="34" charset="-120"/>
              </a:rPr>
              <a:t>Même base logicielle</a:t>
            </a:r>
            <a:endParaRPr lang="en-US" sz="1100" dirty="0"/>
          </a:p>
        </p:txBody>
      </p:sp>
      <p:sp>
        <p:nvSpPr>
          <p:cNvPr id="29" name="Shape 27"/>
          <p:cNvSpPr/>
          <p:nvPr/>
        </p:nvSpPr>
        <p:spPr>
          <a:xfrm>
            <a:off x="4782312" y="3218041"/>
            <a:ext cx="256032" cy="0"/>
          </a:xfrm>
          <a:prstGeom prst="line">
            <a:avLst/>
          </a:prstGeom>
          <a:noFill/>
          <a:ln w="19050">
            <a:solidFill>
              <a:srgbClr val="C9A84C"/>
            </a:solidFill>
            <a:prstDash val="solid"/>
          </a:ln>
        </p:spPr>
        <p:txBody>
          <a:bodyPr/>
          <a:lstStyle/>
          <a:p>
            <a:endParaRPr lang="en-CA"/>
          </a:p>
        </p:txBody>
      </p:sp>
      <p:sp>
        <p:nvSpPr>
          <p:cNvPr id="30" name="Text 28"/>
          <p:cNvSpPr/>
          <p:nvPr/>
        </p:nvSpPr>
        <p:spPr>
          <a:xfrm>
            <a:off x="4782312" y="3327769"/>
            <a:ext cx="3648456" cy="822960"/>
          </a:xfrm>
          <a:prstGeom prst="rect">
            <a:avLst/>
          </a:prstGeom>
          <a:noFill/>
          <a:ln/>
        </p:spPr>
        <p:txBody>
          <a:bodyPr wrap="square" lIns="0" tIns="0" rIns="0" bIns="0" rtlCol="0" anchor="t"/>
          <a:lstStyle/>
          <a:p>
            <a:pPr marL="0" indent="0">
              <a:lnSpc>
                <a:spcPct val="140000"/>
              </a:lnSpc>
              <a:buNone/>
            </a:pPr>
            <a:r>
              <a:rPr lang="fr-FR" sz="900" dirty="0">
                <a:solidFill>
                  <a:srgbClr val="555555"/>
                </a:solidFill>
                <a:latin typeface="Calibri" pitchFamily="34" charset="0"/>
                <a:ea typeface="Calibri" pitchFamily="34" charset="-122"/>
                <a:cs typeface="Calibri" pitchFamily="34" charset="-120"/>
              </a:rPr>
              <a:t> Base logicielle identique sur x86 et ARM, avec dépendances alignées. L'encodage des données (UTF-8) et le format CSV sont explicitement contrôlés pour garantir la cohérence entre Windows et Raspberry Pi OS.</a:t>
            </a:r>
            <a:endParaRPr lang="en-US" sz="900" dirty="0"/>
          </a:p>
        </p:txBody>
      </p:sp>
      <p:sp>
        <p:nvSpPr>
          <p:cNvPr id="31" name="Text 29"/>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3" name="Text 0">
            <a:extLst>
              <a:ext uri="{FF2B5EF4-FFF2-40B4-BE49-F238E27FC236}">
                <a16:creationId xmlns:a16="http://schemas.microsoft.com/office/drawing/2014/main" id="{05D0C1AE-CFAC-6149-9011-3342AF328829}"/>
              </a:ext>
            </a:extLst>
          </p:cNvPr>
          <p:cNvSpPr/>
          <p:nvPr/>
        </p:nvSpPr>
        <p:spPr>
          <a:xfrm>
            <a:off x="457200" y="106865"/>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02d  ·  PROTOCOLE EXPÉRIMENTAL ET ENVIRONNEMENT</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8F5A1-27B5-5AA5-740D-97E9ED02F780}"/>
            </a:ext>
          </a:extLst>
        </p:cNvPr>
        <p:cNvGrpSpPr/>
        <p:nvPr/>
      </p:nvGrpSpPr>
      <p:grpSpPr>
        <a:xfrm>
          <a:off x="0" y="0"/>
          <a:ext cx="0" cy="0"/>
          <a:chOff x="0" y="0"/>
          <a:chExt cx="0" cy="0"/>
        </a:xfrm>
      </p:grpSpPr>
      <p:sp>
        <p:nvSpPr>
          <p:cNvPr id="15" name="Shape 12">
            <a:extLst>
              <a:ext uri="{FF2B5EF4-FFF2-40B4-BE49-F238E27FC236}">
                <a16:creationId xmlns:a16="http://schemas.microsoft.com/office/drawing/2014/main" id="{AC32D5B0-D277-E7D7-A8E5-BCD41776FEEC}"/>
              </a:ext>
            </a:extLst>
          </p:cNvPr>
          <p:cNvSpPr/>
          <p:nvPr/>
        </p:nvSpPr>
        <p:spPr>
          <a:xfrm>
            <a:off x="380610" y="1080919"/>
            <a:ext cx="3730834" cy="211606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3" name="Text 1">
            <a:extLst>
              <a:ext uri="{FF2B5EF4-FFF2-40B4-BE49-F238E27FC236}">
                <a16:creationId xmlns:a16="http://schemas.microsoft.com/office/drawing/2014/main" id="{AE91146B-1EDC-2A53-A87C-E7E5234E6CC9}"/>
              </a:ext>
            </a:extLst>
          </p:cNvPr>
          <p:cNvSpPr/>
          <p:nvPr/>
        </p:nvSpPr>
        <p:spPr>
          <a:xfrm>
            <a:off x="347472" y="347472"/>
            <a:ext cx="5029200" cy="365760"/>
          </a:xfrm>
          <a:prstGeom prst="rect">
            <a:avLst/>
          </a:prstGeom>
          <a:noFill/>
          <a:ln/>
        </p:spPr>
        <p:txBody>
          <a:bodyPr wrap="square" lIns="0" tIns="0" rIns="0" bIns="0" rtlCol="0" anchor="ctr"/>
          <a:lstStyle/>
          <a:p>
            <a:pPr marL="0" indent="0">
              <a:buNone/>
            </a:pPr>
            <a:r>
              <a:rPr lang="fr-FR" sz="1600" b="1" dirty="0">
                <a:solidFill>
                  <a:srgbClr val="0A0A0A"/>
                </a:solidFill>
                <a:latin typeface="Calibri" pitchFamily="34" charset="0"/>
                <a:ea typeface="Calibri" pitchFamily="34" charset="-122"/>
                <a:cs typeface="Calibri" pitchFamily="34" charset="-120"/>
              </a:rPr>
              <a:t>Contrôle des biais et </a:t>
            </a:r>
            <a:r>
              <a:rPr lang="fr-FR" sz="1500" b="1" dirty="0">
                <a:solidFill>
                  <a:srgbClr val="C9A84C"/>
                </a:solidFill>
                <a:latin typeface="Calibri" pitchFamily="34" charset="0"/>
                <a:cs typeface="Calibri" pitchFamily="34" charset="-120"/>
              </a:rPr>
              <a:t>limites du protocole</a:t>
            </a:r>
          </a:p>
        </p:txBody>
      </p:sp>
      <p:sp>
        <p:nvSpPr>
          <p:cNvPr id="14" name="Text 11">
            <a:extLst>
              <a:ext uri="{FF2B5EF4-FFF2-40B4-BE49-F238E27FC236}">
                <a16:creationId xmlns:a16="http://schemas.microsoft.com/office/drawing/2014/main" id="{F2054262-FA1C-078C-F6DF-D41F09CF075D}"/>
              </a:ext>
            </a:extLst>
          </p:cNvPr>
          <p:cNvSpPr/>
          <p:nvPr/>
        </p:nvSpPr>
        <p:spPr>
          <a:xfrm>
            <a:off x="569344" y="1163236"/>
            <a:ext cx="3164682" cy="219456"/>
          </a:xfrm>
          <a:prstGeom prst="rect">
            <a:avLst/>
          </a:prstGeom>
          <a:noFill/>
          <a:ln/>
        </p:spPr>
        <p:txBody>
          <a:bodyPr wrap="square" lIns="0" tIns="0" rIns="0" bIns="0" rtlCol="0" anchor="ctr"/>
          <a:lstStyle/>
          <a:p>
            <a:pPr marL="0" indent="0" algn="ctr">
              <a:buNone/>
            </a:pPr>
            <a:r>
              <a:rPr lang="en-US" sz="950" b="1" kern="0" spc="150" dirty="0">
                <a:solidFill>
                  <a:srgbClr val="CFB260"/>
                </a:solidFill>
                <a:latin typeface="Calibri" pitchFamily="34" charset="0"/>
                <a:ea typeface="Calibri" pitchFamily="34" charset="-122"/>
                <a:cs typeface="Calibri" pitchFamily="34" charset="-120"/>
              </a:rPr>
              <a:t>BIAIS CONTRÔLÉS</a:t>
            </a:r>
            <a:endParaRPr lang="en-US" sz="950" dirty="0">
              <a:solidFill>
                <a:srgbClr val="CFB260"/>
              </a:solidFill>
            </a:endParaRPr>
          </a:p>
        </p:txBody>
      </p:sp>
      <p:sp>
        <p:nvSpPr>
          <p:cNvPr id="17" name="Text 13">
            <a:extLst>
              <a:ext uri="{FF2B5EF4-FFF2-40B4-BE49-F238E27FC236}">
                <a16:creationId xmlns:a16="http://schemas.microsoft.com/office/drawing/2014/main" id="{6FBE3936-BD89-DF60-3FA0-56C11DDB50A0}"/>
              </a:ext>
            </a:extLst>
          </p:cNvPr>
          <p:cNvSpPr/>
          <p:nvPr/>
        </p:nvSpPr>
        <p:spPr>
          <a:xfrm>
            <a:off x="688101" y="1853967"/>
            <a:ext cx="2967343" cy="842780"/>
          </a:xfrm>
          <a:prstGeom prst="rect">
            <a:avLst/>
          </a:prstGeom>
          <a:noFill/>
          <a:ln/>
        </p:spPr>
        <p:txBody>
          <a:bodyPr wrap="square" lIns="0" tIns="0" rIns="0" bIns="0" rtlCol="0" anchor="ctr"/>
          <a:lstStyle/>
          <a:p>
            <a:pPr marL="285750" indent="-285750">
              <a:lnSpc>
                <a:spcPct val="200000"/>
              </a:lnSpc>
              <a:buFont typeface="Arial" panose="020B0604020202020204" pitchFamily="34" charset="0"/>
              <a:buChar char="•"/>
            </a:pPr>
            <a:r>
              <a:rPr lang="en-CA" sz="1000" dirty="0">
                <a:solidFill>
                  <a:srgbClr val="0A0A0A"/>
                </a:solidFill>
                <a:latin typeface="Calibri" pitchFamily="34" charset="0"/>
                <a:cs typeface="Calibri" pitchFamily="34" charset="-120"/>
              </a:rPr>
              <a:t>100 répétitions par configuration</a:t>
            </a:r>
          </a:p>
          <a:p>
            <a:pPr marL="285750" indent="-285750">
              <a:lnSpc>
                <a:spcPct val="200000"/>
              </a:lnSpc>
              <a:buFont typeface="Arial" panose="020B0604020202020204" pitchFamily="34" charset="0"/>
              <a:buChar char="•"/>
            </a:pPr>
            <a:r>
              <a:rPr lang="en-CA" sz="1000" dirty="0">
                <a:solidFill>
                  <a:srgbClr val="0A0A0A"/>
                </a:solidFill>
                <a:latin typeface="Calibri" pitchFamily="34" charset="0"/>
                <a:cs typeface="Calibri" pitchFamily="34" charset="-120"/>
              </a:rPr>
              <a:t>Moyennes et IC95</a:t>
            </a:r>
          </a:p>
          <a:p>
            <a:pPr marL="285750" indent="-285750">
              <a:lnSpc>
                <a:spcPct val="200000"/>
              </a:lnSpc>
              <a:buFont typeface="Arial" panose="020B0604020202020204" pitchFamily="34" charset="0"/>
              <a:buChar char="•"/>
            </a:pPr>
            <a:r>
              <a:rPr lang="en-CA" sz="1000" dirty="0">
                <a:solidFill>
                  <a:srgbClr val="0A0A0A"/>
                </a:solidFill>
                <a:latin typeface="Calibri" pitchFamily="34" charset="0"/>
                <a:cs typeface="Calibri" pitchFamily="34" charset="-120"/>
              </a:rPr>
              <a:t>Protocole identique sur les deux plateformes</a:t>
            </a:r>
          </a:p>
          <a:p>
            <a:pPr marL="285750" indent="-285750">
              <a:lnSpc>
                <a:spcPct val="200000"/>
              </a:lnSpc>
              <a:buFont typeface="Arial" panose="020B0604020202020204" pitchFamily="34" charset="0"/>
              <a:buChar char="•"/>
            </a:pPr>
            <a:r>
              <a:rPr lang="fr-FR" sz="1000" dirty="0">
                <a:solidFill>
                  <a:srgbClr val="0A0A0A"/>
                </a:solidFill>
                <a:latin typeface="Calibri" pitchFamily="34" charset="0"/>
                <a:cs typeface="Calibri" pitchFamily="34" charset="-120"/>
              </a:rPr>
              <a:t>Validation par vecteurs de référence préalable</a:t>
            </a:r>
            <a:endParaRPr lang="en-CA" sz="1000" dirty="0">
              <a:solidFill>
                <a:srgbClr val="0A0A0A"/>
              </a:solidFill>
              <a:latin typeface="Calibri" pitchFamily="34" charset="0"/>
              <a:cs typeface="Calibri" pitchFamily="34" charset="-120"/>
            </a:endParaRPr>
          </a:p>
        </p:txBody>
      </p:sp>
      <p:sp>
        <p:nvSpPr>
          <p:cNvPr id="46" name="Text 39">
            <a:extLst>
              <a:ext uri="{FF2B5EF4-FFF2-40B4-BE49-F238E27FC236}">
                <a16:creationId xmlns:a16="http://schemas.microsoft.com/office/drawing/2014/main" id="{229E3981-EFCE-3DE3-A904-39CBBBBD02D5}"/>
              </a:ext>
            </a:extLst>
          </p:cNvPr>
          <p:cNvSpPr/>
          <p:nvPr/>
        </p:nvSpPr>
        <p:spPr>
          <a:xfrm>
            <a:off x="347472" y="4773168"/>
            <a:ext cx="8449056"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54" name="TextBox 53">
            <a:extLst>
              <a:ext uri="{FF2B5EF4-FFF2-40B4-BE49-F238E27FC236}">
                <a16:creationId xmlns:a16="http://schemas.microsoft.com/office/drawing/2014/main" id="{3283E53A-4421-CF15-5332-4E34525C72C6}"/>
              </a:ext>
            </a:extLst>
          </p:cNvPr>
          <p:cNvSpPr txBox="1"/>
          <p:nvPr/>
        </p:nvSpPr>
        <p:spPr>
          <a:xfrm>
            <a:off x="710668" y="4122466"/>
            <a:ext cx="7651012" cy="246221"/>
          </a:xfrm>
          <a:prstGeom prst="rect">
            <a:avLst/>
          </a:prstGeom>
          <a:noFill/>
        </p:spPr>
        <p:txBody>
          <a:bodyPr wrap="square">
            <a:spAutoFit/>
          </a:bodyPr>
          <a:lstStyle/>
          <a:p>
            <a:pPr algn="ctr"/>
            <a:r>
              <a:rPr lang="fr-FR" sz="1000" i="1" dirty="0">
                <a:solidFill>
                  <a:schemeClr val="bg2">
                    <a:lumMod val="75000"/>
                  </a:schemeClr>
                </a:solidFill>
                <a:latin typeface="Calibri" pitchFamily="34" charset="0"/>
                <a:cs typeface="Calibri" pitchFamily="34" charset="-120"/>
              </a:rPr>
              <a:t>La validité des constats repose sur un protocole contrôlé et un périmètre explicitement limité.</a:t>
            </a:r>
          </a:p>
        </p:txBody>
      </p:sp>
      <p:sp>
        <p:nvSpPr>
          <p:cNvPr id="60" name="Shape 7">
            <a:extLst>
              <a:ext uri="{FF2B5EF4-FFF2-40B4-BE49-F238E27FC236}">
                <a16:creationId xmlns:a16="http://schemas.microsoft.com/office/drawing/2014/main" id="{D9FA6457-DA5F-B826-D0C8-2F61C9FD3611}"/>
              </a:ext>
            </a:extLst>
          </p:cNvPr>
          <p:cNvSpPr/>
          <p:nvPr/>
        </p:nvSpPr>
        <p:spPr>
          <a:xfrm>
            <a:off x="769369" y="1421509"/>
            <a:ext cx="2782919" cy="0"/>
          </a:xfrm>
          <a:prstGeom prst="line">
            <a:avLst/>
          </a:prstGeom>
          <a:noFill/>
          <a:ln w="10160">
            <a:solidFill>
              <a:srgbClr val="E8E8E8"/>
            </a:solidFill>
            <a:prstDash val="solid"/>
          </a:ln>
        </p:spPr>
        <p:txBody>
          <a:bodyPr/>
          <a:lstStyle/>
          <a:p>
            <a:endParaRPr lang="en-CA"/>
          </a:p>
        </p:txBody>
      </p:sp>
      <p:sp>
        <p:nvSpPr>
          <p:cNvPr id="64" name="Shape 12">
            <a:extLst>
              <a:ext uri="{FF2B5EF4-FFF2-40B4-BE49-F238E27FC236}">
                <a16:creationId xmlns:a16="http://schemas.microsoft.com/office/drawing/2014/main" id="{BC53F051-9255-076C-8CB8-4D72956910B0}"/>
              </a:ext>
            </a:extLst>
          </p:cNvPr>
          <p:cNvSpPr/>
          <p:nvPr/>
        </p:nvSpPr>
        <p:spPr>
          <a:xfrm>
            <a:off x="5065694" y="1817020"/>
            <a:ext cx="3730834" cy="2106334"/>
          </a:xfrm>
          <a:prstGeom prst="roundRect">
            <a:avLst>
              <a:gd name="adj" fmla="val 6757"/>
            </a:avLst>
          </a:prstGeom>
          <a:solidFill>
            <a:srgbClr val="FFFFFF"/>
          </a:solidFill>
          <a:ln w="12700">
            <a:solidFill>
              <a:srgbClr val="E4E4E4"/>
            </a:solidFill>
            <a:prstDash val="solid"/>
          </a:ln>
        </p:spPr>
        <p:txBody>
          <a:bodyPr/>
          <a:lstStyle/>
          <a:p>
            <a:endParaRPr lang="en-CA"/>
          </a:p>
        </p:txBody>
      </p:sp>
      <p:sp>
        <p:nvSpPr>
          <p:cNvPr id="5" name="Text 11">
            <a:extLst>
              <a:ext uri="{FF2B5EF4-FFF2-40B4-BE49-F238E27FC236}">
                <a16:creationId xmlns:a16="http://schemas.microsoft.com/office/drawing/2014/main" id="{66B6ACE3-E865-204E-5ADB-745B5AB077F9}"/>
              </a:ext>
            </a:extLst>
          </p:cNvPr>
          <p:cNvSpPr/>
          <p:nvPr/>
        </p:nvSpPr>
        <p:spPr>
          <a:xfrm>
            <a:off x="5226924" y="1856738"/>
            <a:ext cx="3228975" cy="219456"/>
          </a:xfrm>
          <a:prstGeom prst="rect">
            <a:avLst/>
          </a:prstGeom>
          <a:noFill/>
          <a:ln/>
        </p:spPr>
        <p:txBody>
          <a:bodyPr wrap="square" lIns="0" tIns="0" rIns="0" bIns="0" rtlCol="0" anchor="ctr"/>
          <a:lstStyle/>
          <a:p>
            <a:pPr marL="0" indent="0" algn="ctr">
              <a:buNone/>
            </a:pPr>
            <a:r>
              <a:rPr lang="en-US" sz="950" b="1" kern="0" spc="150" dirty="0">
                <a:solidFill>
                  <a:srgbClr val="CFB260"/>
                </a:solidFill>
                <a:latin typeface="Calibri" pitchFamily="34" charset="0"/>
                <a:cs typeface="Calibri" pitchFamily="34" charset="-120"/>
              </a:rPr>
              <a:t>LIMITES ASSUMÉES</a:t>
            </a:r>
            <a:endParaRPr lang="en-US" sz="950" dirty="0">
              <a:solidFill>
                <a:srgbClr val="CFB260"/>
              </a:solidFill>
            </a:endParaRPr>
          </a:p>
        </p:txBody>
      </p:sp>
      <p:sp>
        <p:nvSpPr>
          <p:cNvPr id="7" name="Shape 7">
            <a:extLst>
              <a:ext uri="{FF2B5EF4-FFF2-40B4-BE49-F238E27FC236}">
                <a16:creationId xmlns:a16="http://schemas.microsoft.com/office/drawing/2014/main" id="{93E6045C-38C3-4730-C177-C1B6E7CA324B}"/>
              </a:ext>
            </a:extLst>
          </p:cNvPr>
          <p:cNvSpPr/>
          <p:nvPr/>
        </p:nvSpPr>
        <p:spPr>
          <a:xfrm>
            <a:off x="5504052" y="2093319"/>
            <a:ext cx="2782919" cy="0"/>
          </a:xfrm>
          <a:prstGeom prst="line">
            <a:avLst/>
          </a:prstGeom>
          <a:noFill/>
          <a:ln w="10160">
            <a:solidFill>
              <a:srgbClr val="E8E8E8"/>
            </a:solidFill>
            <a:prstDash val="solid"/>
          </a:ln>
        </p:spPr>
        <p:txBody>
          <a:bodyPr/>
          <a:lstStyle/>
          <a:p>
            <a:endParaRPr lang="en-CA"/>
          </a:p>
        </p:txBody>
      </p:sp>
      <p:sp>
        <p:nvSpPr>
          <p:cNvPr id="6" name="Text 0">
            <a:extLst>
              <a:ext uri="{FF2B5EF4-FFF2-40B4-BE49-F238E27FC236}">
                <a16:creationId xmlns:a16="http://schemas.microsoft.com/office/drawing/2014/main" id="{0D08A829-08EF-BAF9-60F0-5914BC761E9D}"/>
              </a:ext>
            </a:extLst>
          </p:cNvPr>
          <p:cNvSpPr/>
          <p:nvPr/>
        </p:nvSpPr>
        <p:spPr>
          <a:xfrm>
            <a:off x="347472" y="145548"/>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02e  ·  PROTOCOLE EXPÉRIMENTAL ET ENVIRONNEMENT</a:t>
            </a:r>
            <a:endParaRPr lang="en-US" sz="800" dirty="0"/>
          </a:p>
        </p:txBody>
      </p:sp>
      <p:sp>
        <p:nvSpPr>
          <p:cNvPr id="10" name="Text 13">
            <a:extLst>
              <a:ext uri="{FF2B5EF4-FFF2-40B4-BE49-F238E27FC236}">
                <a16:creationId xmlns:a16="http://schemas.microsoft.com/office/drawing/2014/main" id="{DB675BA1-9E5C-721D-AF38-437C61A925AF}"/>
              </a:ext>
            </a:extLst>
          </p:cNvPr>
          <p:cNvSpPr/>
          <p:nvPr/>
        </p:nvSpPr>
        <p:spPr>
          <a:xfrm>
            <a:off x="5400896" y="2536401"/>
            <a:ext cx="3228975" cy="842780"/>
          </a:xfrm>
          <a:prstGeom prst="rect">
            <a:avLst/>
          </a:prstGeom>
          <a:noFill/>
          <a:ln/>
        </p:spPr>
        <p:txBody>
          <a:bodyPr wrap="square" lIns="0" tIns="0" rIns="0" bIns="0" rtlCol="0" anchor="ctr"/>
          <a:lstStyle/>
          <a:p>
            <a:pPr marL="285750" indent="-285750">
              <a:lnSpc>
                <a:spcPct val="200000"/>
              </a:lnSpc>
              <a:buFont typeface="Arial" panose="020B0604020202020204" pitchFamily="34" charset="0"/>
              <a:buChar char="•"/>
            </a:pPr>
            <a:r>
              <a:rPr lang="fr-FR" sz="1000" dirty="0">
                <a:solidFill>
                  <a:srgbClr val="0A0A0A"/>
                </a:solidFill>
                <a:latin typeface="Calibri" pitchFamily="34" charset="0"/>
                <a:cs typeface="Calibri" pitchFamily="34" charset="-120"/>
              </a:rPr>
              <a:t>Dépendance au matériel</a:t>
            </a:r>
          </a:p>
          <a:p>
            <a:pPr marL="285750" indent="-285750">
              <a:lnSpc>
                <a:spcPct val="200000"/>
              </a:lnSpc>
              <a:buFont typeface="Arial" panose="020B0604020202020204" pitchFamily="34" charset="0"/>
              <a:buChar char="•"/>
            </a:pPr>
            <a:r>
              <a:rPr lang="fr-FR" sz="1000" dirty="0">
                <a:solidFill>
                  <a:srgbClr val="0A0A0A"/>
                </a:solidFill>
                <a:latin typeface="Calibri" pitchFamily="34" charset="0"/>
                <a:cs typeface="Calibri" pitchFamily="34" charset="-120"/>
              </a:rPr>
              <a:t>Modes non parfaitement symétriques entre algorithmes</a:t>
            </a:r>
          </a:p>
          <a:p>
            <a:pPr marL="285750" indent="-285750">
              <a:lnSpc>
                <a:spcPct val="200000"/>
              </a:lnSpc>
              <a:buFont typeface="Arial" panose="020B0604020202020204" pitchFamily="34" charset="0"/>
              <a:buChar char="•"/>
            </a:pPr>
            <a:r>
              <a:rPr lang="fr-FR" sz="1000" dirty="0">
                <a:solidFill>
                  <a:srgbClr val="0A0A0A"/>
                </a:solidFill>
                <a:latin typeface="Calibri" pitchFamily="34" charset="0"/>
                <a:cs typeface="Calibri" pitchFamily="34" charset="-120"/>
              </a:rPr>
              <a:t>Validité limitée au cadre testé</a:t>
            </a:r>
          </a:p>
          <a:p>
            <a:pPr marL="285750" indent="-285750">
              <a:lnSpc>
                <a:spcPct val="200000"/>
              </a:lnSpc>
              <a:buFont typeface="Arial" panose="020B0604020202020204" pitchFamily="34" charset="0"/>
              <a:buChar char="•"/>
            </a:pPr>
            <a:r>
              <a:rPr lang="fr-FR" sz="1000" dirty="0">
                <a:solidFill>
                  <a:srgbClr val="0A0A0A"/>
                </a:solidFill>
                <a:latin typeface="Calibri" pitchFamily="34" charset="0"/>
                <a:cs typeface="Calibri" pitchFamily="34" charset="-120"/>
              </a:rPr>
              <a:t>Hors périmètre: UX, réseau, production</a:t>
            </a:r>
            <a:endParaRPr lang="en-CA" sz="1000" dirty="0">
              <a:solidFill>
                <a:srgbClr val="0A0A0A"/>
              </a:solidFill>
              <a:latin typeface="Calibri" pitchFamily="34" charset="0"/>
              <a:cs typeface="Calibri" pitchFamily="34" charset="-120"/>
            </a:endParaRPr>
          </a:p>
        </p:txBody>
      </p:sp>
      <p:pic>
        <p:nvPicPr>
          <p:cNvPr id="16" name="Picture 15">
            <a:extLst>
              <a:ext uri="{FF2B5EF4-FFF2-40B4-BE49-F238E27FC236}">
                <a16:creationId xmlns:a16="http://schemas.microsoft.com/office/drawing/2014/main" id="{D4E96BD3-0A83-265A-F081-5DCC8982B9F2}"/>
              </a:ext>
            </a:extLst>
          </p:cNvPr>
          <p:cNvPicPr>
            <a:picLocks noChangeAspect="1"/>
          </p:cNvPicPr>
          <p:nvPr/>
        </p:nvPicPr>
        <p:blipFill>
          <a:blip r:embed="rId3">
            <a:alphaModFix amt="5000"/>
          </a:blip>
          <a:stretch>
            <a:fillRect/>
          </a:stretch>
        </p:blipFill>
        <p:spPr>
          <a:xfrm>
            <a:off x="3105034" y="1082370"/>
            <a:ext cx="1010949" cy="1010949"/>
          </a:xfrm>
          <a:prstGeom prst="rect">
            <a:avLst/>
          </a:prstGeom>
        </p:spPr>
      </p:pic>
      <p:pic>
        <p:nvPicPr>
          <p:cNvPr id="20" name="Picture 19">
            <a:extLst>
              <a:ext uri="{FF2B5EF4-FFF2-40B4-BE49-F238E27FC236}">
                <a16:creationId xmlns:a16="http://schemas.microsoft.com/office/drawing/2014/main" id="{17294F83-7A07-387C-DF21-F752A66E3E31}"/>
              </a:ext>
            </a:extLst>
          </p:cNvPr>
          <p:cNvPicPr>
            <a:picLocks noChangeAspect="1"/>
          </p:cNvPicPr>
          <p:nvPr/>
        </p:nvPicPr>
        <p:blipFill>
          <a:blip r:embed="rId4">
            <a:alphaModFix amt="5000"/>
          </a:blip>
          <a:stretch>
            <a:fillRect/>
          </a:stretch>
        </p:blipFill>
        <p:spPr>
          <a:xfrm>
            <a:off x="7768656" y="1827892"/>
            <a:ext cx="1018794" cy="1018794"/>
          </a:xfrm>
          <a:prstGeom prst="rect">
            <a:avLst/>
          </a:prstGeom>
        </p:spPr>
      </p:pic>
      <p:sp>
        <p:nvSpPr>
          <p:cNvPr id="24" name="Shape 10">
            <a:extLst>
              <a:ext uri="{FF2B5EF4-FFF2-40B4-BE49-F238E27FC236}">
                <a16:creationId xmlns:a16="http://schemas.microsoft.com/office/drawing/2014/main" id="{38E5E167-C951-8FF9-6EF5-1CF935104395}"/>
              </a:ext>
            </a:extLst>
          </p:cNvPr>
          <p:cNvSpPr/>
          <p:nvPr/>
        </p:nvSpPr>
        <p:spPr>
          <a:xfrm flipH="1">
            <a:off x="3588098" y="1017510"/>
            <a:ext cx="2003615" cy="3005399"/>
          </a:xfrm>
          <a:prstGeom prst="line">
            <a:avLst/>
          </a:prstGeom>
          <a:noFill/>
          <a:ln w="10160">
            <a:solidFill>
              <a:srgbClr val="CFB260">
                <a:alpha val="30000"/>
              </a:srgbClr>
            </a:solidFill>
            <a:prstDash val="dash"/>
          </a:ln>
        </p:spPr>
        <p:txBody>
          <a:bodyPr/>
          <a:lstStyle/>
          <a:p>
            <a:endParaRPr lang="en-CA"/>
          </a:p>
        </p:txBody>
      </p:sp>
    </p:spTree>
    <p:extLst>
      <p:ext uri="{BB962C8B-B14F-4D97-AF65-F5344CB8AC3E}">
        <p14:creationId xmlns:p14="http://schemas.microsoft.com/office/powerpoint/2010/main" val="4147702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0" y="1920240"/>
            <a:ext cx="2341658" cy="3200400"/>
          </a:xfrm>
          <a:prstGeom prst="rect">
            <a:avLst/>
          </a:prstGeom>
          <a:noFill/>
          <a:ln/>
        </p:spPr>
        <p:txBody>
          <a:bodyPr wrap="square" lIns="0" tIns="0" rIns="0" bIns="0" rtlCol="0" anchor="ctr"/>
          <a:lstStyle/>
          <a:p>
            <a:pPr marL="0" indent="0">
              <a:buNone/>
            </a:pPr>
            <a:r>
              <a:rPr lang="en-US" sz="16000" b="1" dirty="0">
                <a:solidFill>
                  <a:srgbClr val="0A0A0A">
                    <a:alpha val="3000"/>
                  </a:srgbClr>
                </a:solidFill>
                <a:latin typeface="Calibri" pitchFamily="34" charset="0"/>
                <a:ea typeface="Calibri" pitchFamily="34" charset="-122"/>
                <a:cs typeface="Calibri" pitchFamily="34" charset="-120"/>
              </a:rPr>
              <a:t>03</a:t>
            </a:r>
            <a:endParaRPr lang="en-US" sz="16000" dirty="0"/>
          </a:p>
        </p:txBody>
      </p:sp>
      <p:sp>
        <p:nvSpPr>
          <p:cNvPr id="4" name="Text 2"/>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  ·  VALIDATION CRYPTOGRAPHIQUE — KAT</a:t>
            </a:r>
            <a:endParaRPr lang="en-US" sz="800" dirty="0"/>
          </a:p>
        </p:txBody>
      </p:sp>
      <p:sp>
        <p:nvSpPr>
          <p:cNvPr id="5" name="Text 3"/>
          <p:cNvSpPr/>
          <p:nvPr/>
        </p:nvSpPr>
        <p:spPr>
          <a:xfrm>
            <a:off x="475488" y="402336"/>
            <a:ext cx="2834640" cy="1371600"/>
          </a:xfrm>
          <a:prstGeom prst="rect">
            <a:avLst/>
          </a:prstGeom>
          <a:noFill/>
          <a:ln/>
        </p:spPr>
        <p:txBody>
          <a:bodyPr wrap="square" lIns="0" tIns="0" rIns="0" bIns="0" rtlCol="0" anchor="ctr"/>
          <a:lstStyle/>
          <a:p>
            <a:pPr marL="0" indent="0">
              <a:lnSpc>
                <a:spcPct val="115000"/>
              </a:lnSpc>
              <a:buNone/>
            </a:pPr>
            <a:r>
              <a:rPr lang="en-US" sz="1900" b="1" dirty="0">
                <a:solidFill>
                  <a:srgbClr val="0A0A0A"/>
                </a:solidFill>
                <a:latin typeface="Calibri" pitchFamily="34" charset="0"/>
                <a:ea typeface="Calibri" pitchFamily="34" charset="-122"/>
                <a:cs typeface="Calibri" pitchFamily="34" charset="-120"/>
              </a:rPr>
              <a:t>Validation cryptographique,
</a:t>
            </a:r>
            <a:r>
              <a:rPr lang="en-US" sz="1900" b="1" dirty="0">
                <a:solidFill>
                  <a:srgbClr val="C9A84C"/>
                </a:solidFill>
                <a:latin typeface="Calibri" pitchFamily="34" charset="0"/>
                <a:ea typeface="Calibri" pitchFamily="34" charset="-122"/>
                <a:cs typeface="Calibri" pitchFamily="34" charset="-120"/>
              </a:rPr>
              <a:t>avant toute mesure
</a:t>
            </a:r>
            <a:r>
              <a:rPr lang="en-US" sz="1900" b="1" dirty="0">
                <a:solidFill>
                  <a:srgbClr val="0A0A0A"/>
                </a:solidFill>
                <a:latin typeface="Calibri" pitchFamily="34" charset="0"/>
                <a:ea typeface="Calibri" pitchFamily="34" charset="-122"/>
                <a:cs typeface="Calibri" pitchFamily="34" charset="-120"/>
              </a:rPr>
              <a:t>de performance.</a:t>
            </a:r>
            <a:endParaRPr lang="en-US" sz="1900" dirty="0"/>
          </a:p>
        </p:txBody>
      </p:sp>
      <p:sp>
        <p:nvSpPr>
          <p:cNvPr id="6" name="Shape 4"/>
          <p:cNvSpPr/>
          <p:nvPr/>
        </p:nvSpPr>
        <p:spPr>
          <a:xfrm>
            <a:off x="475488" y="1847088"/>
            <a:ext cx="329184" cy="0"/>
          </a:xfrm>
          <a:prstGeom prst="line">
            <a:avLst/>
          </a:prstGeom>
          <a:noFill/>
          <a:ln w="31750">
            <a:solidFill>
              <a:srgbClr val="C9A84C"/>
            </a:solidFill>
            <a:prstDash val="solid"/>
          </a:ln>
        </p:spPr>
        <p:txBody>
          <a:bodyPr/>
          <a:lstStyle/>
          <a:p>
            <a:endParaRPr lang="en-CA"/>
          </a:p>
        </p:txBody>
      </p:sp>
      <p:sp>
        <p:nvSpPr>
          <p:cNvPr id="7" name="Text 5"/>
          <p:cNvSpPr/>
          <p:nvPr/>
        </p:nvSpPr>
        <p:spPr>
          <a:xfrm>
            <a:off x="475488" y="1993392"/>
            <a:ext cx="2834640" cy="1609344"/>
          </a:xfrm>
          <a:prstGeom prst="rect">
            <a:avLst/>
          </a:prstGeom>
          <a:noFill/>
          <a:ln/>
        </p:spPr>
        <p:txBody>
          <a:bodyPr wrap="square" lIns="0" tIns="0" rIns="0" bIns="0" rtlCol="0" anchor="t"/>
          <a:lstStyle/>
          <a:p>
            <a:pPr marL="0" indent="0">
              <a:lnSpc>
                <a:spcPct val="145000"/>
              </a:lnSpc>
              <a:buNone/>
            </a:pPr>
            <a:r>
              <a:rPr lang="fr-FR" sz="850" dirty="0">
                <a:solidFill>
                  <a:srgbClr val="555555"/>
                </a:solidFill>
                <a:latin typeface="Calibri" pitchFamily="34" charset="0"/>
                <a:ea typeface="Calibri" pitchFamily="34" charset="-122"/>
                <a:cs typeface="Calibri" pitchFamily="34" charset="-120"/>
              </a:rPr>
              <a:t>Cette section établit la conformité cryptographique des implémentations avant toute analyse de performance. </a:t>
            </a:r>
          </a:p>
          <a:p>
            <a:pPr marL="0" indent="0">
              <a:lnSpc>
                <a:spcPct val="145000"/>
              </a:lnSpc>
              <a:buNone/>
            </a:pPr>
            <a:endParaRPr lang="fr-FR" sz="850" dirty="0">
              <a:solidFill>
                <a:srgbClr val="555555"/>
              </a:solidFill>
              <a:latin typeface="Calibri" pitchFamily="34" charset="0"/>
              <a:ea typeface="Calibri" pitchFamily="34" charset="-122"/>
              <a:cs typeface="Calibri" pitchFamily="34" charset="-120"/>
            </a:endParaRPr>
          </a:p>
          <a:p>
            <a:pPr marL="0" indent="0">
              <a:lnSpc>
                <a:spcPct val="145000"/>
              </a:lnSpc>
              <a:buNone/>
            </a:pPr>
            <a:r>
              <a:rPr lang="fr-FR" sz="850" dirty="0">
                <a:solidFill>
                  <a:srgbClr val="555555"/>
                </a:solidFill>
                <a:latin typeface="Calibri" pitchFamily="34" charset="0"/>
                <a:ea typeface="Calibri" pitchFamily="34" charset="-122"/>
                <a:cs typeface="Calibri" pitchFamily="34" charset="-120"/>
              </a:rPr>
              <a:t>Elle présente le principe des KAT, l’exemple concret de vérification, la couverture retenue par suite, le pipeline d’exécution centralisé, puis les résultats consolidés du profil principal sur les deux plateformes.</a:t>
            </a:r>
            <a:endParaRPr lang="en-US" sz="850" dirty="0"/>
          </a:p>
        </p:txBody>
      </p:sp>
      <p:sp>
        <p:nvSpPr>
          <p:cNvPr id="8" name="Shape 6"/>
          <p:cNvSpPr/>
          <p:nvPr/>
        </p:nvSpPr>
        <p:spPr>
          <a:xfrm>
            <a:off x="3438144" y="402336"/>
            <a:ext cx="0" cy="4315968"/>
          </a:xfrm>
          <a:prstGeom prst="line">
            <a:avLst/>
          </a:prstGeom>
          <a:noFill/>
          <a:ln w="10160">
            <a:solidFill>
              <a:srgbClr val="E8E8E8"/>
            </a:solidFill>
            <a:prstDash val="solid"/>
          </a:ln>
        </p:spPr>
        <p:txBody>
          <a:bodyPr/>
          <a:lstStyle/>
          <a:p>
            <a:endParaRPr lang="en-CA"/>
          </a:p>
        </p:txBody>
      </p:sp>
      <p:sp>
        <p:nvSpPr>
          <p:cNvPr id="57" name="Text 55"/>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113" name="Shape 8">
            <a:extLst>
              <a:ext uri="{FF2B5EF4-FFF2-40B4-BE49-F238E27FC236}">
                <a16:creationId xmlns:a16="http://schemas.microsoft.com/office/drawing/2014/main" id="{C837969A-0466-E547-DBC0-AA8621828EA1}"/>
              </a:ext>
            </a:extLst>
          </p:cNvPr>
          <p:cNvSpPr/>
          <p:nvPr/>
        </p:nvSpPr>
        <p:spPr>
          <a:xfrm>
            <a:off x="3675888" y="654734"/>
            <a:ext cx="256032" cy="256032"/>
          </a:xfrm>
          <a:prstGeom prst="ellipse">
            <a:avLst/>
          </a:prstGeom>
          <a:solidFill>
            <a:srgbClr val="0A0A0A"/>
          </a:solidFill>
          <a:ln w="12700">
            <a:solidFill>
              <a:srgbClr val="0A0A0A"/>
            </a:solidFill>
            <a:prstDash val="solid"/>
          </a:ln>
        </p:spPr>
        <p:txBody>
          <a:bodyPr/>
          <a:lstStyle/>
          <a:p>
            <a:endParaRPr lang="en-CA"/>
          </a:p>
        </p:txBody>
      </p:sp>
      <p:sp>
        <p:nvSpPr>
          <p:cNvPr id="115" name="Text 9">
            <a:extLst>
              <a:ext uri="{FF2B5EF4-FFF2-40B4-BE49-F238E27FC236}">
                <a16:creationId xmlns:a16="http://schemas.microsoft.com/office/drawing/2014/main" id="{FF0F3AE5-0515-D6F4-7391-76C403A55DDA}"/>
              </a:ext>
            </a:extLst>
          </p:cNvPr>
          <p:cNvSpPr/>
          <p:nvPr/>
        </p:nvSpPr>
        <p:spPr>
          <a:xfrm>
            <a:off x="3675888" y="654734"/>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1</a:t>
            </a:r>
            <a:endParaRPr lang="en-US" sz="900" dirty="0"/>
          </a:p>
        </p:txBody>
      </p:sp>
      <p:sp>
        <p:nvSpPr>
          <p:cNvPr id="117" name="Text 10">
            <a:extLst>
              <a:ext uri="{FF2B5EF4-FFF2-40B4-BE49-F238E27FC236}">
                <a16:creationId xmlns:a16="http://schemas.microsoft.com/office/drawing/2014/main" id="{45B0FE8B-C52E-9741-6D3F-D27C3360C5BF}"/>
              </a:ext>
            </a:extLst>
          </p:cNvPr>
          <p:cNvSpPr/>
          <p:nvPr/>
        </p:nvSpPr>
        <p:spPr>
          <a:xfrm>
            <a:off x="4005072" y="618158"/>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Principe KAT et références normatives</a:t>
            </a:r>
            <a:endParaRPr lang="en-US" sz="1000" dirty="0"/>
          </a:p>
        </p:txBody>
      </p:sp>
      <p:sp>
        <p:nvSpPr>
          <p:cNvPr id="119" name="Text 11">
            <a:extLst>
              <a:ext uri="{FF2B5EF4-FFF2-40B4-BE49-F238E27FC236}">
                <a16:creationId xmlns:a16="http://schemas.microsoft.com/office/drawing/2014/main" id="{1E3F6427-A556-20F6-F2DF-31B6BD0DEA8C}"/>
              </a:ext>
            </a:extLst>
          </p:cNvPr>
          <p:cNvSpPr/>
          <p:nvPr/>
        </p:nvSpPr>
        <p:spPr>
          <a:xfrm>
            <a:off x="4005072" y="892478"/>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Définit le KAT et ancre la validation dans des références normatives reconnues.</a:t>
            </a:r>
            <a:endParaRPr lang="en-US" sz="750" dirty="0"/>
          </a:p>
        </p:txBody>
      </p:sp>
      <p:sp>
        <p:nvSpPr>
          <p:cNvPr id="121" name="Shape 12">
            <a:extLst>
              <a:ext uri="{FF2B5EF4-FFF2-40B4-BE49-F238E27FC236}">
                <a16:creationId xmlns:a16="http://schemas.microsoft.com/office/drawing/2014/main" id="{DE36B6B1-3A97-FFDD-5510-3123BF5D4AFB}"/>
              </a:ext>
            </a:extLst>
          </p:cNvPr>
          <p:cNvSpPr/>
          <p:nvPr/>
        </p:nvSpPr>
        <p:spPr>
          <a:xfrm>
            <a:off x="8321040" y="709598"/>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23" name="Text 13">
            <a:extLst>
              <a:ext uri="{FF2B5EF4-FFF2-40B4-BE49-F238E27FC236}">
                <a16:creationId xmlns:a16="http://schemas.microsoft.com/office/drawing/2014/main" id="{0A4AE286-D265-62A2-CEA8-D1CF5BEA434B}"/>
              </a:ext>
            </a:extLst>
          </p:cNvPr>
          <p:cNvSpPr/>
          <p:nvPr/>
        </p:nvSpPr>
        <p:spPr>
          <a:xfrm>
            <a:off x="8321040" y="709598"/>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02a</a:t>
            </a:r>
            <a:endParaRPr lang="en-US" sz="700" dirty="0"/>
          </a:p>
        </p:txBody>
      </p:sp>
      <p:sp>
        <p:nvSpPr>
          <p:cNvPr id="125" name="Shape 14">
            <a:extLst>
              <a:ext uri="{FF2B5EF4-FFF2-40B4-BE49-F238E27FC236}">
                <a16:creationId xmlns:a16="http://schemas.microsoft.com/office/drawing/2014/main" id="{10623606-FA1F-2653-D21B-89017B54F1B6}"/>
              </a:ext>
            </a:extLst>
          </p:cNvPr>
          <p:cNvSpPr/>
          <p:nvPr/>
        </p:nvSpPr>
        <p:spPr>
          <a:xfrm>
            <a:off x="4005072" y="1346781"/>
            <a:ext cx="4773168" cy="0"/>
          </a:xfrm>
          <a:prstGeom prst="line">
            <a:avLst/>
          </a:prstGeom>
          <a:noFill/>
          <a:ln w="7620">
            <a:solidFill>
              <a:srgbClr val="F5F5F5"/>
            </a:solidFill>
            <a:prstDash val="solid"/>
          </a:ln>
        </p:spPr>
        <p:txBody>
          <a:bodyPr/>
          <a:lstStyle/>
          <a:p>
            <a:endParaRPr lang="en-CA"/>
          </a:p>
        </p:txBody>
      </p:sp>
      <p:sp>
        <p:nvSpPr>
          <p:cNvPr id="127" name="Shape 15">
            <a:extLst>
              <a:ext uri="{FF2B5EF4-FFF2-40B4-BE49-F238E27FC236}">
                <a16:creationId xmlns:a16="http://schemas.microsoft.com/office/drawing/2014/main" id="{66AB8C1C-08A1-7E2E-D8FA-C7154A727488}"/>
              </a:ext>
            </a:extLst>
          </p:cNvPr>
          <p:cNvSpPr/>
          <p:nvPr/>
        </p:nvSpPr>
        <p:spPr>
          <a:xfrm>
            <a:off x="3675888" y="1456509"/>
            <a:ext cx="256032" cy="256032"/>
          </a:xfrm>
          <a:prstGeom prst="ellipse">
            <a:avLst/>
          </a:prstGeom>
          <a:solidFill>
            <a:srgbClr val="0A0A0A"/>
          </a:solidFill>
          <a:ln w="12700">
            <a:solidFill>
              <a:srgbClr val="0A0A0A"/>
            </a:solidFill>
            <a:prstDash val="solid"/>
          </a:ln>
        </p:spPr>
        <p:txBody>
          <a:bodyPr/>
          <a:lstStyle/>
          <a:p>
            <a:endParaRPr lang="en-CA"/>
          </a:p>
        </p:txBody>
      </p:sp>
      <p:sp>
        <p:nvSpPr>
          <p:cNvPr id="129" name="Text 16">
            <a:extLst>
              <a:ext uri="{FF2B5EF4-FFF2-40B4-BE49-F238E27FC236}">
                <a16:creationId xmlns:a16="http://schemas.microsoft.com/office/drawing/2014/main" id="{12BF3D82-39BF-A36A-AB2D-BC5E2B662C8B}"/>
              </a:ext>
            </a:extLst>
          </p:cNvPr>
          <p:cNvSpPr/>
          <p:nvPr/>
        </p:nvSpPr>
        <p:spPr>
          <a:xfrm>
            <a:off x="3675888" y="1456509"/>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2</a:t>
            </a:r>
            <a:endParaRPr lang="en-US" sz="900" dirty="0"/>
          </a:p>
        </p:txBody>
      </p:sp>
      <p:sp>
        <p:nvSpPr>
          <p:cNvPr id="131" name="Text 17">
            <a:extLst>
              <a:ext uri="{FF2B5EF4-FFF2-40B4-BE49-F238E27FC236}">
                <a16:creationId xmlns:a16="http://schemas.microsoft.com/office/drawing/2014/main" id="{59DDB344-4F0D-542F-AC10-82023DD02A07}"/>
              </a:ext>
            </a:extLst>
          </p:cNvPr>
          <p:cNvSpPr/>
          <p:nvPr/>
        </p:nvSpPr>
        <p:spPr>
          <a:xfrm>
            <a:off x="4005072" y="1419933"/>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Vecteur de test et principe de vérification</a:t>
            </a:r>
            <a:endParaRPr lang="en-US" sz="1000" dirty="0"/>
          </a:p>
        </p:txBody>
      </p:sp>
      <p:sp>
        <p:nvSpPr>
          <p:cNvPr id="133" name="Text 18">
            <a:extLst>
              <a:ext uri="{FF2B5EF4-FFF2-40B4-BE49-F238E27FC236}">
                <a16:creationId xmlns:a16="http://schemas.microsoft.com/office/drawing/2014/main" id="{A24CF17B-358E-1263-7012-A4507EA0CDE1}"/>
              </a:ext>
            </a:extLst>
          </p:cNvPr>
          <p:cNvSpPr/>
          <p:nvPr/>
        </p:nvSpPr>
        <p:spPr>
          <a:xfrm>
            <a:off x="4005072" y="1700505"/>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Montre concrètement comment un cas KAT est exécuté et validé par comparaison bit à bit.</a:t>
            </a:r>
            <a:endParaRPr lang="en-US" sz="750" dirty="0"/>
          </a:p>
        </p:txBody>
      </p:sp>
      <p:sp>
        <p:nvSpPr>
          <p:cNvPr id="135" name="Shape 19">
            <a:extLst>
              <a:ext uri="{FF2B5EF4-FFF2-40B4-BE49-F238E27FC236}">
                <a16:creationId xmlns:a16="http://schemas.microsoft.com/office/drawing/2014/main" id="{9489764A-73D5-585C-8974-FA31877596DB}"/>
              </a:ext>
            </a:extLst>
          </p:cNvPr>
          <p:cNvSpPr/>
          <p:nvPr/>
        </p:nvSpPr>
        <p:spPr>
          <a:xfrm>
            <a:off x="8321040" y="1511373"/>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37" name="Text 20">
            <a:extLst>
              <a:ext uri="{FF2B5EF4-FFF2-40B4-BE49-F238E27FC236}">
                <a16:creationId xmlns:a16="http://schemas.microsoft.com/office/drawing/2014/main" id="{F216DC25-B753-A09F-8F08-989652CF5F99}"/>
              </a:ext>
            </a:extLst>
          </p:cNvPr>
          <p:cNvSpPr/>
          <p:nvPr/>
        </p:nvSpPr>
        <p:spPr>
          <a:xfrm>
            <a:off x="8321040" y="1511373"/>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02b</a:t>
            </a:r>
            <a:endParaRPr lang="en-US" sz="700" dirty="0"/>
          </a:p>
        </p:txBody>
      </p:sp>
      <p:sp>
        <p:nvSpPr>
          <p:cNvPr id="139" name="Shape 21">
            <a:extLst>
              <a:ext uri="{FF2B5EF4-FFF2-40B4-BE49-F238E27FC236}">
                <a16:creationId xmlns:a16="http://schemas.microsoft.com/office/drawing/2014/main" id="{6E017AC8-978A-15D8-5352-4D20C0AC1EF5}"/>
              </a:ext>
            </a:extLst>
          </p:cNvPr>
          <p:cNvSpPr/>
          <p:nvPr/>
        </p:nvSpPr>
        <p:spPr>
          <a:xfrm>
            <a:off x="4005072" y="2159292"/>
            <a:ext cx="4773168" cy="0"/>
          </a:xfrm>
          <a:prstGeom prst="line">
            <a:avLst/>
          </a:prstGeom>
          <a:noFill/>
          <a:ln w="7620">
            <a:solidFill>
              <a:srgbClr val="F5F5F5"/>
            </a:solidFill>
            <a:prstDash val="solid"/>
          </a:ln>
        </p:spPr>
        <p:txBody>
          <a:bodyPr/>
          <a:lstStyle/>
          <a:p>
            <a:endParaRPr lang="en-CA"/>
          </a:p>
        </p:txBody>
      </p:sp>
      <p:sp>
        <p:nvSpPr>
          <p:cNvPr id="141" name="Shape 22">
            <a:extLst>
              <a:ext uri="{FF2B5EF4-FFF2-40B4-BE49-F238E27FC236}">
                <a16:creationId xmlns:a16="http://schemas.microsoft.com/office/drawing/2014/main" id="{5E27A43C-F7AE-FD6D-A0D4-9E430AE57151}"/>
              </a:ext>
            </a:extLst>
          </p:cNvPr>
          <p:cNvSpPr/>
          <p:nvPr/>
        </p:nvSpPr>
        <p:spPr>
          <a:xfrm>
            <a:off x="3675888" y="2269020"/>
            <a:ext cx="256032" cy="256032"/>
          </a:xfrm>
          <a:prstGeom prst="ellipse">
            <a:avLst/>
          </a:prstGeom>
          <a:solidFill>
            <a:srgbClr val="0A0A0A"/>
          </a:solidFill>
          <a:ln w="12700">
            <a:solidFill>
              <a:srgbClr val="0A0A0A"/>
            </a:solidFill>
            <a:prstDash val="solid"/>
          </a:ln>
        </p:spPr>
        <p:txBody>
          <a:bodyPr/>
          <a:lstStyle/>
          <a:p>
            <a:endParaRPr lang="en-CA"/>
          </a:p>
        </p:txBody>
      </p:sp>
      <p:sp>
        <p:nvSpPr>
          <p:cNvPr id="143" name="Text 23">
            <a:extLst>
              <a:ext uri="{FF2B5EF4-FFF2-40B4-BE49-F238E27FC236}">
                <a16:creationId xmlns:a16="http://schemas.microsoft.com/office/drawing/2014/main" id="{13B719CE-2244-B6CB-AFB2-88FAE26B9B81}"/>
              </a:ext>
            </a:extLst>
          </p:cNvPr>
          <p:cNvSpPr/>
          <p:nvPr/>
        </p:nvSpPr>
        <p:spPr>
          <a:xfrm>
            <a:off x="3675888" y="2269020"/>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3</a:t>
            </a:r>
            <a:endParaRPr lang="en-US" sz="900" dirty="0"/>
          </a:p>
        </p:txBody>
      </p:sp>
      <p:sp>
        <p:nvSpPr>
          <p:cNvPr id="145" name="Text 24">
            <a:extLst>
              <a:ext uri="{FF2B5EF4-FFF2-40B4-BE49-F238E27FC236}">
                <a16:creationId xmlns:a16="http://schemas.microsoft.com/office/drawing/2014/main" id="{4980A1A8-85AD-89FF-6F78-2F0014DB1E7A}"/>
              </a:ext>
            </a:extLst>
          </p:cNvPr>
          <p:cNvSpPr/>
          <p:nvPr/>
        </p:nvSpPr>
        <p:spPr>
          <a:xfrm>
            <a:off x="4005072" y="2232444"/>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Couverture KAT retenue par suite</a:t>
            </a:r>
            <a:endParaRPr lang="en-US" sz="1000" dirty="0"/>
          </a:p>
        </p:txBody>
      </p:sp>
      <p:sp>
        <p:nvSpPr>
          <p:cNvPr id="147" name="Text 25">
            <a:extLst>
              <a:ext uri="{FF2B5EF4-FFF2-40B4-BE49-F238E27FC236}">
                <a16:creationId xmlns:a16="http://schemas.microsoft.com/office/drawing/2014/main" id="{016C170F-E01F-4468-2557-C5EF77A05615}"/>
              </a:ext>
            </a:extLst>
          </p:cNvPr>
          <p:cNvSpPr/>
          <p:nvPr/>
        </p:nvSpPr>
        <p:spPr>
          <a:xfrm>
            <a:off x="4005072" y="2523465"/>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Précise, pour chaque suite, ce qui est testé, pourquoi ce choix est retenu et ce qu’il permet de valider.</a:t>
            </a:r>
            <a:endParaRPr lang="en-US" sz="750" dirty="0"/>
          </a:p>
        </p:txBody>
      </p:sp>
      <p:sp>
        <p:nvSpPr>
          <p:cNvPr id="149" name="Shape 26">
            <a:extLst>
              <a:ext uri="{FF2B5EF4-FFF2-40B4-BE49-F238E27FC236}">
                <a16:creationId xmlns:a16="http://schemas.microsoft.com/office/drawing/2014/main" id="{0ACF1F0B-1586-5593-A205-1DFDF0651F5F}"/>
              </a:ext>
            </a:extLst>
          </p:cNvPr>
          <p:cNvSpPr/>
          <p:nvPr/>
        </p:nvSpPr>
        <p:spPr>
          <a:xfrm>
            <a:off x="8321040" y="2323884"/>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51" name="Text 27">
            <a:extLst>
              <a:ext uri="{FF2B5EF4-FFF2-40B4-BE49-F238E27FC236}">
                <a16:creationId xmlns:a16="http://schemas.microsoft.com/office/drawing/2014/main" id="{83DE6470-9DE2-940A-BB29-8593EE439819}"/>
              </a:ext>
            </a:extLst>
          </p:cNvPr>
          <p:cNvSpPr/>
          <p:nvPr/>
        </p:nvSpPr>
        <p:spPr>
          <a:xfrm>
            <a:off x="8321040" y="2323884"/>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02c</a:t>
            </a:r>
            <a:endParaRPr lang="en-US" sz="700" dirty="0"/>
          </a:p>
        </p:txBody>
      </p:sp>
      <p:sp>
        <p:nvSpPr>
          <p:cNvPr id="153" name="Shape 21">
            <a:extLst>
              <a:ext uri="{FF2B5EF4-FFF2-40B4-BE49-F238E27FC236}">
                <a16:creationId xmlns:a16="http://schemas.microsoft.com/office/drawing/2014/main" id="{F01FFB37-7F31-4951-EE5B-3BDDB7822187}"/>
              </a:ext>
            </a:extLst>
          </p:cNvPr>
          <p:cNvSpPr/>
          <p:nvPr/>
        </p:nvSpPr>
        <p:spPr>
          <a:xfrm>
            <a:off x="4005072" y="2982515"/>
            <a:ext cx="4773168" cy="0"/>
          </a:xfrm>
          <a:prstGeom prst="line">
            <a:avLst/>
          </a:prstGeom>
          <a:noFill/>
          <a:ln w="7620">
            <a:solidFill>
              <a:srgbClr val="F5F5F5"/>
            </a:solidFill>
            <a:prstDash val="solid"/>
          </a:ln>
        </p:spPr>
        <p:txBody>
          <a:bodyPr/>
          <a:lstStyle/>
          <a:p>
            <a:endParaRPr lang="en-CA"/>
          </a:p>
        </p:txBody>
      </p:sp>
      <p:sp>
        <p:nvSpPr>
          <p:cNvPr id="155" name="Shape 22">
            <a:extLst>
              <a:ext uri="{FF2B5EF4-FFF2-40B4-BE49-F238E27FC236}">
                <a16:creationId xmlns:a16="http://schemas.microsoft.com/office/drawing/2014/main" id="{7A951620-B0DA-05DA-23BE-61C61039E0DE}"/>
              </a:ext>
            </a:extLst>
          </p:cNvPr>
          <p:cNvSpPr/>
          <p:nvPr/>
        </p:nvSpPr>
        <p:spPr>
          <a:xfrm>
            <a:off x="3675888" y="3092243"/>
            <a:ext cx="256032" cy="256032"/>
          </a:xfrm>
          <a:prstGeom prst="ellipse">
            <a:avLst/>
          </a:prstGeom>
          <a:solidFill>
            <a:srgbClr val="0A0A0A"/>
          </a:solidFill>
          <a:ln w="12700">
            <a:solidFill>
              <a:srgbClr val="0A0A0A"/>
            </a:solidFill>
            <a:prstDash val="solid"/>
          </a:ln>
        </p:spPr>
        <p:txBody>
          <a:bodyPr/>
          <a:lstStyle/>
          <a:p>
            <a:endParaRPr lang="en-CA"/>
          </a:p>
        </p:txBody>
      </p:sp>
      <p:sp>
        <p:nvSpPr>
          <p:cNvPr id="157" name="Text 23">
            <a:extLst>
              <a:ext uri="{FF2B5EF4-FFF2-40B4-BE49-F238E27FC236}">
                <a16:creationId xmlns:a16="http://schemas.microsoft.com/office/drawing/2014/main" id="{1621392D-4B39-DCF9-F8CD-E50D63BA753A}"/>
              </a:ext>
            </a:extLst>
          </p:cNvPr>
          <p:cNvSpPr/>
          <p:nvPr/>
        </p:nvSpPr>
        <p:spPr>
          <a:xfrm>
            <a:off x="3675888" y="3092243"/>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cs typeface="Calibri" pitchFamily="34" charset="-120"/>
              </a:rPr>
              <a:t>4</a:t>
            </a:r>
            <a:endParaRPr lang="en-US" sz="900" dirty="0"/>
          </a:p>
        </p:txBody>
      </p:sp>
      <p:sp>
        <p:nvSpPr>
          <p:cNvPr id="159" name="Text 24">
            <a:extLst>
              <a:ext uri="{FF2B5EF4-FFF2-40B4-BE49-F238E27FC236}">
                <a16:creationId xmlns:a16="http://schemas.microsoft.com/office/drawing/2014/main" id="{6D1A54A4-6B64-7B90-22D6-AC7F708A77F0}"/>
              </a:ext>
            </a:extLst>
          </p:cNvPr>
          <p:cNvSpPr/>
          <p:nvPr/>
        </p:nvSpPr>
        <p:spPr>
          <a:xfrm>
            <a:off x="4005072" y="3055667"/>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Pipeline de validation KAT</a:t>
            </a:r>
            <a:endParaRPr lang="en-US" sz="1000" dirty="0"/>
          </a:p>
        </p:txBody>
      </p:sp>
      <p:sp>
        <p:nvSpPr>
          <p:cNvPr id="161" name="Text 25">
            <a:extLst>
              <a:ext uri="{FF2B5EF4-FFF2-40B4-BE49-F238E27FC236}">
                <a16:creationId xmlns:a16="http://schemas.microsoft.com/office/drawing/2014/main" id="{07BB33E5-E02E-CF36-D3A7-BEF732F2FB8C}"/>
              </a:ext>
            </a:extLst>
          </p:cNvPr>
          <p:cNvSpPr/>
          <p:nvPr/>
        </p:nvSpPr>
        <p:spPr>
          <a:xfrm>
            <a:off x="4005072" y="3292106"/>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Présente l’exécution centralisée de la campagne KAT, de la préparation des suites jusqu’au rapport final.</a:t>
            </a:r>
            <a:endParaRPr lang="en-US" sz="750" dirty="0"/>
          </a:p>
        </p:txBody>
      </p:sp>
      <p:sp>
        <p:nvSpPr>
          <p:cNvPr id="163" name="Shape 26">
            <a:extLst>
              <a:ext uri="{FF2B5EF4-FFF2-40B4-BE49-F238E27FC236}">
                <a16:creationId xmlns:a16="http://schemas.microsoft.com/office/drawing/2014/main" id="{9FF0E3EB-8729-543B-3D24-B6A2A9868C18}"/>
              </a:ext>
            </a:extLst>
          </p:cNvPr>
          <p:cNvSpPr/>
          <p:nvPr/>
        </p:nvSpPr>
        <p:spPr>
          <a:xfrm>
            <a:off x="8321040" y="3147107"/>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65" name="Text 27">
            <a:extLst>
              <a:ext uri="{FF2B5EF4-FFF2-40B4-BE49-F238E27FC236}">
                <a16:creationId xmlns:a16="http://schemas.microsoft.com/office/drawing/2014/main" id="{2DB71955-04C6-4407-56A3-FD445FFC080C}"/>
              </a:ext>
            </a:extLst>
          </p:cNvPr>
          <p:cNvSpPr/>
          <p:nvPr/>
        </p:nvSpPr>
        <p:spPr>
          <a:xfrm>
            <a:off x="8321040" y="3147107"/>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02d</a:t>
            </a:r>
            <a:endParaRPr lang="en-US" sz="700" dirty="0"/>
          </a:p>
        </p:txBody>
      </p:sp>
      <p:sp>
        <p:nvSpPr>
          <p:cNvPr id="167" name="Shape 21">
            <a:extLst>
              <a:ext uri="{FF2B5EF4-FFF2-40B4-BE49-F238E27FC236}">
                <a16:creationId xmlns:a16="http://schemas.microsoft.com/office/drawing/2014/main" id="{6E51A2A1-7382-8ADE-05FF-F5B35444C20B}"/>
              </a:ext>
            </a:extLst>
          </p:cNvPr>
          <p:cNvSpPr/>
          <p:nvPr/>
        </p:nvSpPr>
        <p:spPr>
          <a:xfrm>
            <a:off x="4005072" y="3759489"/>
            <a:ext cx="4773168" cy="0"/>
          </a:xfrm>
          <a:prstGeom prst="line">
            <a:avLst/>
          </a:prstGeom>
          <a:noFill/>
          <a:ln w="7620">
            <a:solidFill>
              <a:srgbClr val="F5F5F5"/>
            </a:solidFill>
            <a:prstDash val="solid"/>
          </a:ln>
        </p:spPr>
        <p:txBody>
          <a:bodyPr/>
          <a:lstStyle/>
          <a:p>
            <a:endParaRPr lang="en-CA"/>
          </a:p>
        </p:txBody>
      </p:sp>
      <p:sp>
        <p:nvSpPr>
          <p:cNvPr id="169" name="Shape 22">
            <a:extLst>
              <a:ext uri="{FF2B5EF4-FFF2-40B4-BE49-F238E27FC236}">
                <a16:creationId xmlns:a16="http://schemas.microsoft.com/office/drawing/2014/main" id="{BEB1FDED-2439-6D78-7BDF-8A665FF92F1C}"/>
              </a:ext>
            </a:extLst>
          </p:cNvPr>
          <p:cNvSpPr/>
          <p:nvPr/>
        </p:nvSpPr>
        <p:spPr>
          <a:xfrm>
            <a:off x="3675888" y="3869217"/>
            <a:ext cx="256032" cy="256032"/>
          </a:xfrm>
          <a:prstGeom prst="ellipse">
            <a:avLst/>
          </a:prstGeom>
          <a:solidFill>
            <a:srgbClr val="0A0A0A"/>
          </a:solidFill>
          <a:ln w="12700">
            <a:solidFill>
              <a:srgbClr val="0A0A0A"/>
            </a:solidFill>
            <a:prstDash val="solid"/>
          </a:ln>
        </p:spPr>
        <p:txBody>
          <a:bodyPr/>
          <a:lstStyle/>
          <a:p>
            <a:endParaRPr lang="en-CA" dirty="0"/>
          </a:p>
        </p:txBody>
      </p:sp>
      <p:sp>
        <p:nvSpPr>
          <p:cNvPr id="171" name="Text 23">
            <a:extLst>
              <a:ext uri="{FF2B5EF4-FFF2-40B4-BE49-F238E27FC236}">
                <a16:creationId xmlns:a16="http://schemas.microsoft.com/office/drawing/2014/main" id="{8BA4E021-8206-1A9C-AA4B-FBE425508F87}"/>
              </a:ext>
            </a:extLst>
          </p:cNvPr>
          <p:cNvSpPr/>
          <p:nvPr/>
        </p:nvSpPr>
        <p:spPr>
          <a:xfrm>
            <a:off x="3675888" y="3869217"/>
            <a:ext cx="256032" cy="256032"/>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cs typeface="Calibri" pitchFamily="34" charset="-120"/>
              </a:rPr>
              <a:t>5</a:t>
            </a:r>
            <a:endParaRPr lang="en-US" sz="900" dirty="0"/>
          </a:p>
        </p:txBody>
      </p:sp>
      <p:sp>
        <p:nvSpPr>
          <p:cNvPr id="173" name="Text 24">
            <a:extLst>
              <a:ext uri="{FF2B5EF4-FFF2-40B4-BE49-F238E27FC236}">
                <a16:creationId xmlns:a16="http://schemas.microsoft.com/office/drawing/2014/main" id="{F51677EB-DC27-CBBD-0D2C-320B190BE736}"/>
              </a:ext>
            </a:extLst>
          </p:cNvPr>
          <p:cNvSpPr/>
          <p:nvPr/>
        </p:nvSpPr>
        <p:spPr>
          <a:xfrm>
            <a:off x="4005072" y="3832641"/>
            <a:ext cx="4206240" cy="256032"/>
          </a:xfrm>
          <a:prstGeom prst="rect">
            <a:avLst/>
          </a:prstGeom>
          <a:noFill/>
          <a:ln/>
        </p:spPr>
        <p:txBody>
          <a:bodyPr wrap="square" lIns="0" tIns="0" rIns="0" bIns="0" rtlCol="0" anchor="ctr"/>
          <a:lstStyle/>
          <a:p>
            <a:pPr marL="0" indent="0">
              <a:buNone/>
            </a:pPr>
            <a:r>
              <a:rPr lang="fr-FR" sz="1000" b="1" dirty="0">
                <a:solidFill>
                  <a:srgbClr val="0A0A0A"/>
                </a:solidFill>
                <a:latin typeface="Calibri" pitchFamily="34" charset="0"/>
                <a:ea typeface="Calibri" pitchFamily="34" charset="-122"/>
                <a:cs typeface="Calibri" pitchFamily="34" charset="-120"/>
              </a:rPr>
              <a:t>Résultats KAT — profil principal</a:t>
            </a:r>
            <a:endParaRPr lang="en-US" sz="1000" dirty="0"/>
          </a:p>
        </p:txBody>
      </p:sp>
      <p:sp>
        <p:nvSpPr>
          <p:cNvPr id="175" name="Text 25">
            <a:extLst>
              <a:ext uri="{FF2B5EF4-FFF2-40B4-BE49-F238E27FC236}">
                <a16:creationId xmlns:a16="http://schemas.microsoft.com/office/drawing/2014/main" id="{6D809516-943E-1F0D-3529-591333623B4A}"/>
              </a:ext>
            </a:extLst>
          </p:cNvPr>
          <p:cNvSpPr/>
          <p:nvPr/>
        </p:nvSpPr>
        <p:spPr>
          <a:xfrm>
            <a:off x="4005072" y="4106961"/>
            <a:ext cx="4206240" cy="457200"/>
          </a:xfrm>
          <a:prstGeom prst="rect">
            <a:avLst/>
          </a:prstGeom>
          <a:noFill/>
          <a:ln/>
        </p:spPr>
        <p:txBody>
          <a:bodyPr wrap="square" lIns="0" tIns="0" rIns="0" bIns="0" rtlCol="0" anchor="t"/>
          <a:lstStyle/>
          <a:p>
            <a:pPr marL="0" indent="0">
              <a:lnSpc>
                <a:spcPct val="135000"/>
              </a:lnSpc>
              <a:buNone/>
            </a:pPr>
            <a:r>
              <a:rPr lang="fr-FR" sz="750" dirty="0">
                <a:solidFill>
                  <a:srgbClr val="888888"/>
                </a:solidFill>
                <a:latin typeface="Calibri" pitchFamily="34" charset="0"/>
                <a:ea typeface="Calibri" pitchFamily="34" charset="-122"/>
                <a:cs typeface="Calibri" pitchFamily="34" charset="-120"/>
              </a:rPr>
              <a:t>Résume les résultats de conformité du profil principal sur l’ensemble des suites et des plateformes.</a:t>
            </a:r>
            <a:endParaRPr lang="en-US" sz="750" dirty="0"/>
          </a:p>
        </p:txBody>
      </p:sp>
      <p:sp>
        <p:nvSpPr>
          <p:cNvPr id="177" name="Shape 26">
            <a:extLst>
              <a:ext uri="{FF2B5EF4-FFF2-40B4-BE49-F238E27FC236}">
                <a16:creationId xmlns:a16="http://schemas.microsoft.com/office/drawing/2014/main" id="{1963F0FB-4B5A-6CCA-60D1-0FE2E9C8EDFF}"/>
              </a:ext>
            </a:extLst>
          </p:cNvPr>
          <p:cNvSpPr/>
          <p:nvPr/>
        </p:nvSpPr>
        <p:spPr>
          <a:xfrm>
            <a:off x="8321040" y="3924081"/>
            <a:ext cx="402336" cy="182880"/>
          </a:xfrm>
          <a:prstGeom prst="roundRect">
            <a:avLst>
              <a:gd name="adj" fmla="val 20000"/>
            </a:avLst>
          </a:prstGeom>
          <a:solidFill>
            <a:srgbClr val="F2F2F2"/>
          </a:solidFill>
          <a:ln w="7620">
            <a:solidFill>
              <a:srgbClr val="E0E0E0"/>
            </a:solidFill>
            <a:prstDash val="solid"/>
          </a:ln>
        </p:spPr>
        <p:txBody>
          <a:bodyPr/>
          <a:lstStyle/>
          <a:p>
            <a:endParaRPr lang="en-CA"/>
          </a:p>
        </p:txBody>
      </p:sp>
      <p:sp>
        <p:nvSpPr>
          <p:cNvPr id="179" name="Text 27">
            <a:extLst>
              <a:ext uri="{FF2B5EF4-FFF2-40B4-BE49-F238E27FC236}">
                <a16:creationId xmlns:a16="http://schemas.microsoft.com/office/drawing/2014/main" id="{6A93A7A5-523C-4423-1F01-7F799E20C0BB}"/>
              </a:ext>
            </a:extLst>
          </p:cNvPr>
          <p:cNvSpPr/>
          <p:nvPr/>
        </p:nvSpPr>
        <p:spPr>
          <a:xfrm>
            <a:off x="8321040" y="3924081"/>
            <a:ext cx="402336" cy="182880"/>
          </a:xfrm>
          <a:prstGeom prst="rect">
            <a:avLst/>
          </a:prstGeom>
          <a:noFill/>
          <a:ln/>
        </p:spPr>
        <p:txBody>
          <a:bodyPr wrap="square" lIns="0" tIns="0" rIns="0" bIns="0" rtlCol="0" anchor="ctr"/>
          <a:lstStyle/>
          <a:p>
            <a:pPr marL="0" indent="0" algn="ctr">
              <a:buNone/>
            </a:pPr>
            <a:r>
              <a:rPr lang="en-US" sz="700" b="1" dirty="0">
                <a:solidFill>
                  <a:srgbClr val="888888"/>
                </a:solidFill>
                <a:latin typeface="Calibri" pitchFamily="34" charset="0"/>
                <a:ea typeface="Calibri" pitchFamily="34" charset="-122"/>
                <a:cs typeface="Calibri" pitchFamily="34" charset="-120"/>
              </a:rPr>
              <a:t>02e</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82880"/>
            <a:ext cx="45720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03a  ·  VALIDATION CRYPTOGRAPHIQUE — KAT</a:t>
            </a:r>
            <a:endParaRPr lang="en-US" sz="800" dirty="0"/>
          </a:p>
        </p:txBody>
      </p:sp>
      <p:sp>
        <p:nvSpPr>
          <p:cNvPr id="4" name="Text 2"/>
          <p:cNvSpPr/>
          <p:nvPr/>
        </p:nvSpPr>
        <p:spPr>
          <a:xfrm>
            <a:off x="475488" y="365760"/>
            <a:ext cx="6400800" cy="347472"/>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Principe </a:t>
            </a:r>
            <a:r>
              <a:rPr lang="fr-FR" sz="1500" b="1" dirty="0">
                <a:solidFill>
                  <a:srgbClr val="C9A84C"/>
                </a:solidFill>
                <a:latin typeface="Calibri" pitchFamily="34" charset="0"/>
                <a:cs typeface="Calibri" pitchFamily="34" charset="-120"/>
              </a:rPr>
              <a:t>KAT </a:t>
            </a:r>
            <a:r>
              <a:rPr lang="fr-FR" sz="1500" b="1" dirty="0">
                <a:solidFill>
                  <a:srgbClr val="0A0A0A"/>
                </a:solidFill>
                <a:latin typeface="Calibri" pitchFamily="34" charset="0"/>
                <a:ea typeface="Calibri" pitchFamily="34" charset="-122"/>
                <a:cs typeface="Calibri" pitchFamily="34" charset="-120"/>
              </a:rPr>
              <a:t>et références normatives</a:t>
            </a:r>
          </a:p>
        </p:txBody>
      </p:sp>
      <p:sp>
        <p:nvSpPr>
          <p:cNvPr id="5" name="Text 3"/>
          <p:cNvSpPr/>
          <p:nvPr/>
        </p:nvSpPr>
        <p:spPr>
          <a:xfrm>
            <a:off x="475488" y="914400"/>
            <a:ext cx="4754880" cy="512064"/>
          </a:xfrm>
          <a:prstGeom prst="rect">
            <a:avLst/>
          </a:prstGeom>
          <a:noFill/>
          <a:ln/>
        </p:spPr>
        <p:txBody>
          <a:bodyPr wrap="square" lIns="0" tIns="0" rIns="0" bIns="0"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Qu’est-ce qu’un Known Answer Test (KAT)</a:t>
            </a:r>
            <a:endParaRPr lang="en-US" sz="1200" dirty="0"/>
          </a:p>
        </p:txBody>
      </p:sp>
      <p:sp>
        <p:nvSpPr>
          <p:cNvPr id="6" name="Shape 4"/>
          <p:cNvSpPr/>
          <p:nvPr/>
        </p:nvSpPr>
        <p:spPr>
          <a:xfrm>
            <a:off x="475488" y="1408176"/>
            <a:ext cx="365760" cy="0"/>
          </a:xfrm>
          <a:prstGeom prst="line">
            <a:avLst/>
          </a:prstGeom>
          <a:noFill/>
          <a:ln w="31750">
            <a:solidFill>
              <a:srgbClr val="C9A84C"/>
            </a:solidFill>
            <a:prstDash val="solid"/>
          </a:ln>
        </p:spPr>
        <p:txBody>
          <a:bodyPr/>
          <a:lstStyle/>
          <a:p>
            <a:endParaRPr lang="en-CA"/>
          </a:p>
        </p:txBody>
      </p:sp>
      <p:sp>
        <p:nvSpPr>
          <p:cNvPr id="7" name="Text 5"/>
          <p:cNvSpPr/>
          <p:nvPr/>
        </p:nvSpPr>
        <p:spPr>
          <a:xfrm>
            <a:off x="475488" y="1468605"/>
            <a:ext cx="4754880" cy="1005840"/>
          </a:xfrm>
          <a:prstGeom prst="rect">
            <a:avLst/>
          </a:prstGeom>
          <a:noFill/>
          <a:ln/>
        </p:spPr>
        <p:txBody>
          <a:bodyPr wrap="square" lIns="0" tIns="0" rIns="0" bIns="0" rtlCol="0" anchor="t"/>
          <a:lstStyle/>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Un KAT applique un vecteur de test prédéfini à l’algorithme.</a:t>
            </a:r>
          </a:p>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L’exécution se fait avec des paramètres fixes (clé, mode, IV/nonce selon le cas).</a:t>
            </a:r>
          </a:p>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La sortie obtenue est comparée bit à bit à la sortie de référence attendue.</a:t>
            </a:r>
            <a:endParaRPr lang="en-US" sz="900" dirty="0">
              <a:solidFill>
                <a:srgbClr val="888888"/>
              </a:solidFill>
            </a:endParaRPr>
          </a:p>
        </p:txBody>
      </p:sp>
      <p:sp>
        <p:nvSpPr>
          <p:cNvPr id="8" name="Shape 6"/>
          <p:cNvSpPr/>
          <p:nvPr/>
        </p:nvSpPr>
        <p:spPr>
          <a:xfrm>
            <a:off x="475488" y="4014215"/>
            <a:ext cx="4535423" cy="219457"/>
          </a:xfrm>
          <a:prstGeom prst="roundRect">
            <a:avLst>
              <a:gd name="adj" fmla="val 9091"/>
            </a:avLst>
          </a:prstGeom>
          <a:solidFill>
            <a:srgbClr val="FFFBF0"/>
          </a:solidFill>
          <a:ln w="10160">
            <a:solidFill>
              <a:srgbClr val="E8D090"/>
            </a:solidFill>
            <a:prstDash val="solid"/>
          </a:ln>
        </p:spPr>
        <p:txBody>
          <a:bodyPr/>
          <a:lstStyle/>
          <a:p>
            <a:endParaRPr lang="en-CA"/>
          </a:p>
        </p:txBody>
      </p:sp>
      <p:sp>
        <p:nvSpPr>
          <p:cNvPr id="10" name="Text 8"/>
          <p:cNvSpPr/>
          <p:nvPr/>
        </p:nvSpPr>
        <p:spPr>
          <a:xfrm>
            <a:off x="841248" y="3969208"/>
            <a:ext cx="4071572" cy="286247"/>
          </a:xfrm>
          <a:prstGeom prst="rect">
            <a:avLst/>
          </a:prstGeom>
          <a:noFill/>
          <a:ln/>
        </p:spPr>
        <p:txBody>
          <a:bodyPr wrap="square" lIns="0" tIns="0" rIns="0" bIns="0" rtlCol="0" anchor="ctr"/>
          <a:lstStyle/>
          <a:p>
            <a:pPr marL="0" indent="0">
              <a:lnSpc>
                <a:spcPct val="150000"/>
              </a:lnSpc>
              <a:buNone/>
            </a:pPr>
            <a:r>
              <a:rPr lang="fr-FR" sz="950" i="1" dirty="0">
                <a:solidFill>
                  <a:srgbClr val="CFB260"/>
                </a:solidFill>
                <a:latin typeface="Calibri" pitchFamily="34" charset="0"/>
                <a:ea typeface="Calibri" pitchFamily="34" charset="-122"/>
                <a:cs typeface="Calibri" pitchFamily="34" charset="-120"/>
              </a:rPr>
              <a:t>Le KAT est un prérequis méthodologique avant toute mesure de performance.</a:t>
            </a:r>
            <a:endParaRPr lang="en-US" sz="950" dirty="0">
              <a:solidFill>
                <a:srgbClr val="CFB260"/>
              </a:solidFill>
            </a:endParaRPr>
          </a:p>
        </p:txBody>
      </p:sp>
      <p:sp>
        <p:nvSpPr>
          <p:cNvPr id="12" name="Shape 10"/>
          <p:cNvSpPr/>
          <p:nvPr/>
        </p:nvSpPr>
        <p:spPr>
          <a:xfrm>
            <a:off x="5394960" y="932688"/>
            <a:ext cx="0" cy="3383280"/>
          </a:xfrm>
          <a:prstGeom prst="line">
            <a:avLst/>
          </a:prstGeom>
          <a:noFill/>
          <a:ln w="10160">
            <a:solidFill>
              <a:srgbClr val="EBEBEB"/>
            </a:solidFill>
            <a:prstDash val="solid"/>
          </a:ln>
        </p:spPr>
        <p:txBody>
          <a:bodyPr/>
          <a:lstStyle/>
          <a:p>
            <a:endParaRPr lang="en-CA"/>
          </a:p>
        </p:txBody>
      </p:sp>
      <p:sp>
        <p:nvSpPr>
          <p:cNvPr id="13" name="Text 11"/>
          <p:cNvSpPr/>
          <p:nvPr/>
        </p:nvSpPr>
        <p:spPr>
          <a:xfrm>
            <a:off x="5614416" y="841248"/>
            <a:ext cx="3163824" cy="201168"/>
          </a:xfrm>
          <a:prstGeom prst="rect">
            <a:avLst/>
          </a:prstGeom>
          <a:noFill/>
          <a:ln/>
        </p:spPr>
        <p:txBody>
          <a:bodyPr wrap="square" lIns="0" tIns="0" rIns="0" bIns="0" rtlCol="0" anchor="ctr"/>
          <a:lstStyle/>
          <a:p>
            <a:pPr marL="0" indent="0">
              <a:buNone/>
            </a:pPr>
            <a:r>
              <a:rPr lang="en-US" sz="750" b="1" kern="0" spc="200" dirty="0">
                <a:solidFill>
                  <a:srgbClr val="C9A84C"/>
                </a:solidFill>
                <a:latin typeface="Calibri" pitchFamily="34" charset="0"/>
                <a:ea typeface="Calibri" pitchFamily="34" charset="-122"/>
                <a:cs typeface="Calibri" pitchFamily="34" charset="-120"/>
              </a:rPr>
              <a:t>SOURCES DE REFERENCE</a:t>
            </a:r>
            <a:endParaRPr lang="en-US" sz="750" dirty="0"/>
          </a:p>
        </p:txBody>
      </p:sp>
      <p:sp>
        <p:nvSpPr>
          <p:cNvPr id="14" name="Shape 12"/>
          <p:cNvSpPr/>
          <p:nvPr/>
        </p:nvSpPr>
        <p:spPr>
          <a:xfrm>
            <a:off x="5614416" y="1353312"/>
            <a:ext cx="73152" cy="73152"/>
          </a:xfrm>
          <a:prstGeom prst="ellipse">
            <a:avLst/>
          </a:prstGeom>
          <a:solidFill>
            <a:srgbClr val="C9A84C"/>
          </a:solidFill>
          <a:ln w="12700">
            <a:solidFill>
              <a:srgbClr val="C9A84C"/>
            </a:solidFill>
            <a:prstDash val="solid"/>
          </a:ln>
        </p:spPr>
        <p:txBody>
          <a:bodyPr/>
          <a:lstStyle/>
          <a:p>
            <a:endParaRPr lang="en-CA"/>
          </a:p>
        </p:txBody>
      </p:sp>
      <p:sp>
        <p:nvSpPr>
          <p:cNvPr id="15" name="Text 13"/>
          <p:cNvSpPr/>
          <p:nvPr/>
        </p:nvSpPr>
        <p:spPr>
          <a:xfrm>
            <a:off x="5779008" y="1243584"/>
            <a:ext cx="2999232" cy="201168"/>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NIST FIPS 197</a:t>
            </a:r>
            <a:endParaRPr lang="en-US" sz="950" dirty="0"/>
          </a:p>
        </p:txBody>
      </p:sp>
      <p:sp>
        <p:nvSpPr>
          <p:cNvPr id="16" name="Text 14"/>
          <p:cNvSpPr/>
          <p:nvPr/>
        </p:nvSpPr>
        <p:spPr>
          <a:xfrm>
            <a:off x="5779008" y="1444752"/>
            <a:ext cx="2999232" cy="164592"/>
          </a:xfrm>
          <a:prstGeom prst="rect">
            <a:avLst/>
          </a:prstGeom>
          <a:noFill/>
          <a:ln/>
        </p:spPr>
        <p:txBody>
          <a:bodyPr wrap="square" lIns="0" tIns="0" rIns="0" bIns="0" rtlCol="0" anchor="ctr"/>
          <a:lstStyle/>
          <a:p>
            <a:pPr marL="0" indent="0">
              <a:buNone/>
            </a:pPr>
            <a:r>
              <a:rPr lang="en-US" sz="800" dirty="0">
                <a:solidFill>
                  <a:srgbClr val="C0C0C0"/>
                </a:solidFill>
                <a:latin typeface="Calibri" pitchFamily="34" charset="0"/>
                <a:ea typeface="Calibri" pitchFamily="34" charset="-122"/>
                <a:cs typeface="Calibri" pitchFamily="34" charset="-120"/>
              </a:rPr>
              <a:t>AES</a:t>
            </a:r>
            <a:endParaRPr lang="en-US" sz="800" dirty="0"/>
          </a:p>
        </p:txBody>
      </p:sp>
      <p:sp>
        <p:nvSpPr>
          <p:cNvPr id="17" name="Shape 15"/>
          <p:cNvSpPr/>
          <p:nvPr/>
        </p:nvSpPr>
        <p:spPr>
          <a:xfrm>
            <a:off x="5614416" y="1627632"/>
            <a:ext cx="3163824" cy="0"/>
          </a:xfrm>
          <a:prstGeom prst="line">
            <a:avLst/>
          </a:prstGeom>
          <a:noFill/>
          <a:ln w="7620">
            <a:solidFill>
              <a:srgbClr val="F5F5F5"/>
            </a:solidFill>
            <a:prstDash val="solid"/>
          </a:ln>
        </p:spPr>
        <p:txBody>
          <a:bodyPr/>
          <a:lstStyle/>
          <a:p>
            <a:endParaRPr lang="en-CA"/>
          </a:p>
        </p:txBody>
      </p:sp>
      <p:sp>
        <p:nvSpPr>
          <p:cNvPr id="18" name="Shape 16"/>
          <p:cNvSpPr/>
          <p:nvPr/>
        </p:nvSpPr>
        <p:spPr>
          <a:xfrm>
            <a:off x="5614416" y="1847088"/>
            <a:ext cx="73152" cy="73152"/>
          </a:xfrm>
          <a:prstGeom prst="ellipse">
            <a:avLst/>
          </a:prstGeom>
          <a:solidFill>
            <a:srgbClr val="C9A84C"/>
          </a:solidFill>
          <a:ln w="12700">
            <a:solidFill>
              <a:srgbClr val="C9A84C"/>
            </a:solidFill>
            <a:prstDash val="solid"/>
          </a:ln>
        </p:spPr>
        <p:txBody>
          <a:bodyPr/>
          <a:lstStyle/>
          <a:p>
            <a:endParaRPr lang="en-CA"/>
          </a:p>
        </p:txBody>
      </p:sp>
      <p:sp>
        <p:nvSpPr>
          <p:cNvPr id="19" name="Text 17"/>
          <p:cNvSpPr/>
          <p:nvPr/>
        </p:nvSpPr>
        <p:spPr>
          <a:xfrm>
            <a:off x="5779008" y="1737360"/>
            <a:ext cx="2999232" cy="201168"/>
          </a:xfrm>
          <a:prstGeom prst="rect">
            <a:avLst/>
          </a:prstGeom>
          <a:noFill/>
          <a:ln/>
        </p:spPr>
        <p:txBody>
          <a:bodyPr wrap="square" lIns="0" tIns="0" rIns="0" bIns="0" rtlCol="0" anchor="ctr"/>
          <a:lstStyle/>
          <a:p>
            <a:pPr marL="0" indent="0">
              <a:buNone/>
            </a:pPr>
            <a:r>
              <a:rPr lang="fr-FR" sz="950" b="1" dirty="0">
                <a:solidFill>
                  <a:srgbClr val="0A0A0A"/>
                </a:solidFill>
                <a:latin typeface="Calibri" pitchFamily="34" charset="0"/>
                <a:ea typeface="Calibri" pitchFamily="34" charset="-122"/>
                <a:cs typeface="Calibri" pitchFamily="34" charset="-120"/>
              </a:rPr>
              <a:t>NIST SP 800-17 </a:t>
            </a:r>
            <a:endParaRPr lang="en-US" sz="950" dirty="0"/>
          </a:p>
        </p:txBody>
      </p:sp>
      <p:sp>
        <p:nvSpPr>
          <p:cNvPr id="20" name="Text 18"/>
          <p:cNvSpPr/>
          <p:nvPr/>
        </p:nvSpPr>
        <p:spPr>
          <a:xfrm>
            <a:off x="5779008" y="1938528"/>
            <a:ext cx="2999232" cy="164592"/>
          </a:xfrm>
          <a:prstGeom prst="rect">
            <a:avLst/>
          </a:prstGeom>
          <a:noFill/>
          <a:ln/>
        </p:spPr>
        <p:txBody>
          <a:bodyPr wrap="square" lIns="0" tIns="0" rIns="0" bIns="0" rtlCol="0" anchor="ctr"/>
          <a:lstStyle/>
          <a:p>
            <a:pPr marL="0" indent="0">
              <a:buNone/>
            </a:pPr>
            <a:r>
              <a:rPr lang="en-US" sz="800" dirty="0">
                <a:solidFill>
                  <a:srgbClr val="C0C0C0"/>
                </a:solidFill>
                <a:latin typeface="Calibri" pitchFamily="34" charset="0"/>
                <a:ea typeface="Calibri" pitchFamily="34" charset="-122"/>
                <a:cs typeface="Calibri" pitchFamily="34" charset="-120"/>
              </a:rPr>
              <a:t>DES</a:t>
            </a:r>
            <a:endParaRPr lang="en-US" sz="800" dirty="0"/>
          </a:p>
        </p:txBody>
      </p:sp>
      <p:sp>
        <p:nvSpPr>
          <p:cNvPr id="21" name="Shape 19"/>
          <p:cNvSpPr/>
          <p:nvPr/>
        </p:nvSpPr>
        <p:spPr>
          <a:xfrm>
            <a:off x="5614416" y="2121408"/>
            <a:ext cx="3163824" cy="0"/>
          </a:xfrm>
          <a:prstGeom prst="line">
            <a:avLst/>
          </a:prstGeom>
          <a:noFill/>
          <a:ln w="7620">
            <a:solidFill>
              <a:srgbClr val="F5F5F5"/>
            </a:solidFill>
            <a:prstDash val="solid"/>
          </a:ln>
        </p:spPr>
        <p:txBody>
          <a:bodyPr/>
          <a:lstStyle/>
          <a:p>
            <a:endParaRPr lang="en-CA"/>
          </a:p>
        </p:txBody>
      </p:sp>
      <p:sp>
        <p:nvSpPr>
          <p:cNvPr id="22" name="Shape 20"/>
          <p:cNvSpPr/>
          <p:nvPr/>
        </p:nvSpPr>
        <p:spPr>
          <a:xfrm>
            <a:off x="5614416" y="2340864"/>
            <a:ext cx="73152" cy="73152"/>
          </a:xfrm>
          <a:prstGeom prst="ellipse">
            <a:avLst/>
          </a:prstGeom>
          <a:solidFill>
            <a:srgbClr val="C9A84C"/>
          </a:solidFill>
          <a:ln w="12700">
            <a:solidFill>
              <a:srgbClr val="C9A84C"/>
            </a:solidFill>
            <a:prstDash val="solid"/>
          </a:ln>
        </p:spPr>
        <p:txBody>
          <a:bodyPr/>
          <a:lstStyle/>
          <a:p>
            <a:endParaRPr lang="en-CA"/>
          </a:p>
        </p:txBody>
      </p:sp>
      <p:sp>
        <p:nvSpPr>
          <p:cNvPr id="23" name="Text 21"/>
          <p:cNvSpPr/>
          <p:nvPr/>
        </p:nvSpPr>
        <p:spPr>
          <a:xfrm>
            <a:off x="5779008" y="2231136"/>
            <a:ext cx="2999232" cy="201168"/>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NIST SP 800-67 Rev.2</a:t>
            </a:r>
            <a:endParaRPr lang="en-US" sz="950" dirty="0"/>
          </a:p>
        </p:txBody>
      </p:sp>
      <p:sp>
        <p:nvSpPr>
          <p:cNvPr id="24" name="Text 22"/>
          <p:cNvSpPr/>
          <p:nvPr/>
        </p:nvSpPr>
        <p:spPr>
          <a:xfrm>
            <a:off x="5779008" y="2432304"/>
            <a:ext cx="2999232" cy="164592"/>
          </a:xfrm>
          <a:prstGeom prst="rect">
            <a:avLst/>
          </a:prstGeom>
          <a:noFill/>
          <a:ln/>
        </p:spPr>
        <p:txBody>
          <a:bodyPr wrap="square" lIns="0" tIns="0" rIns="0" bIns="0" rtlCol="0" anchor="ctr"/>
          <a:lstStyle/>
          <a:p>
            <a:pPr marL="0" indent="0">
              <a:buNone/>
            </a:pPr>
            <a:r>
              <a:rPr lang="en-US" sz="800" dirty="0">
                <a:solidFill>
                  <a:srgbClr val="C0C0C0"/>
                </a:solidFill>
                <a:latin typeface="Calibri" pitchFamily="34" charset="0"/>
                <a:ea typeface="Calibri" pitchFamily="34" charset="-122"/>
                <a:cs typeface="Calibri" pitchFamily="34" charset="-120"/>
              </a:rPr>
              <a:t>3DES</a:t>
            </a:r>
            <a:endParaRPr lang="en-US" sz="800" dirty="0"/>
          </a:p>
        </p:txBody>
      </p:sp>
      <p:sp>
        <p:nvSpPr>
          <p:cNvPr id="25" name="Shape 23"/>
          <p:cNvSpPr/>
          <p:nvPr/>
        </p:nvSpPr>
        <p:spPr>
          <a:xfrm>
            <a:off x="5614416" y="2615184"/>
            <a:ext cx="3163824" cy="0"/>
          </a:xfrm>
          <a:prstGeom prst="line">
            <a:avLst/>
          </a:prstGeom>
          <a:noFill/>
          <a:ln w="7620">
            <a:solidFill>
              <a:srgbClr val="F5F5F5"/>
            </a:solidFill>
            <a:prstDash val="solid"/>
          </a:ln>
        </p:spPr>
        <p:txBody>
          <a:bodyPr/>
          <a:lstStyle/>
          <a:p>
            <a:endParaRPr lang="en-CA"/>
          </a:p>
        </p:txBody>
      </p:sp>
      <p:sp>
        <p:nvSpPr>
          <p:cNvPr id="26" name="Shape 24"/>
          <p:cNvSpPr/>
          <p:nvPr/>
        </p:nvSpPr>
        <p:spPr>
          <a:xfrm>
            <a:off x="5614416" y="2834640"/>
            <a:ext cx="73152" cy="73152"/>
          </a:xfrm>
          <a:prstGeom prst="ellipse">
            <a:avLst/>
          </a:prstGeom>
          <a:solidFill>
            <a:srgbClr val="C9A84C"/>
          </a:solidFill>
          <a:ln w="12700">
            <a:solidFill>
              <a:srgbClr val="C9A84C"/>
            </a:solidFill>
            <a:prstDash val="solid"/>
          </a:ln>
        </p:spPr>
        <p:txBody>
          <a:bodyPr/>
          <a:lstStyle/>
          <a:p>
            <a:endParaRPr lang="en-CA"/>
          </a:p>
        </p:txBody>
      </p:sp>
      <p:sp>
        <p:nvSpPr>
          <p:cNvPr id="27" name="Text 25"/>
          <p:cNvSpPr/>
          <p:nvPr/>
        </p:nvSpPr>
        <p:spPr>
          <a:xfrm>
            <a:off x="5779008" y="2724912"/>
            <a:ext cx="2999232" cy="201168"/>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NIST SP 800-38A/D</a:t>
            </a:r>
            <a:endParaRPr lang="en-US" sz="950" dirty="0"/>
          </a:p>
        </p:txBody>
      </p:sp>
      <p:sp>
        <p:nvSpPr>
          <p:cNvPr id="28" name="Text 26"/>
          <p:cNvSpPr/>
          <p:nvPr/>
        </p:nvSpPr>
        <p:spPr>
          <a:xfrm>
            <a:off x="5779008" y="2926080"/>
            <a:ext cx="2999232" cy="164592"/>
          </a:xfrm>
          <a:prstGeom prst="rect">
            <a:avLst/>
          </a:prstGeom>
          <a:noFill/>
          <a:ln/>
        </p:spPr>
        <p:txBody>
          <a:bodyPr wrap="square" lIns="0" tIns="0" rIns="0" bIns="0" rtlCol="0" anchor="ctr"/>
          <a:lstStyle/>
          <a:p>
            <a:pPr marL="0" indent="0">
              <a:buNone/>
            </a:pPr>
            <a:r>
              <a:rPr lang="en-US" sz="800" dirty="0">
                <a:solidFill>
                  <a:srgbClr val="C0C0C0"/>
                </a:solidFill>
                <a:latin typeface="Calibri" pitchFamily="34" charset="0"/>
                <a:ea typeface="Calibri" pitchFamily="34" charset="-122"/>
                <a:cs typeface="Calibri" pitchFamily="34" charset="-120"/>
              </a:rPr>
              <a:t>NIST SP 800-38A (ECB, CBC, CTR) / NIST SP 800-38D (GCM)  </a:t>
            </a:r>
            <a:endParaRPr lang="en-US" sz="800" dirty="0"/>
          </a:p>
        </p:txBody>
      </p:sp>
      <p:sp>
        <p:nvSpPr>
          <p:cNvPr id="29" name="Shape 27"/>
          <p:cNvSpPr/>
          <p:nvPr/>
        </p:nvSpPr>
        <p:spPr>
          <a:xfrm>
            <a:off x="5614416" y="3108960"/>
            <a:ext cx="3163824" cy="0"/>
          </a:xfrm>
          <a:prstGeom prst="line">
            <a:avLst/>
          </a:prstGeom>
          <a:noFill/>
          <a:ln w="7620">
            <a:solidFill>
              <a:srgbClr val="F5F5F5"/>
            </a:solidFill>
            <a:prstDash val="solid"/>
          </a:ln>
        </p:spPr>
        <p:txBody>
          <a:bodyPr/>
          <a:lstStyle/>
          <a:p>
            <a:endParaRPr lang="en-CA"/>
          </a:p>
        </p:txBody>
      </p:sp>
      <p:sp>
        <p:nvSpPr>
          <p:cNvPr id="30" name="Shape 28"/>
          <p:cNvSpPr/>
          <p:nvPr/>
        </p:nvSpPr>
        <p:spPr>
          <a:xfrm>
            <a:off x="5614416" y="3328416"/>
            <a:ext cx="73152" cy="73152"/>
          </a:xfrm>
          <a:prstGeom prst="ellipse">
            <a:avLst/>
          </a:prstGeom>
          <a:solidFill>
            <a:srgbClr val="C9A84C"/>
          </a:solidFill>
          <a:ln w="12700">
            <a:solidFill>
              <a:srgbClr val="C9A84C"/>
            </a:solidFill>
            <a:prstDash val="solid"/>
          </a:ln>
        </p:spPr>
        <p:txBody>
          <a:bodyPr/>
          <a:lstStyle/>
          <a:p>
            <a:endParaRPr lang="en-CA"/>
          </a:p>
        </p:txBody>
      </p:sp>
      <p:sp>
        <p:nvSpPr>
          <p:cNvPr id="31" name="Text 29"/>
          <p:cNvSpPr/>
          <p:nvPr/>
        </p:nvSpPr>
        <p:spPr>
          <a:xfrm>
            <a:off x="5779008" y="3218688"/>
            <a:ext cx="2999232" cy="201168"/>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RFC 8439</a:t>
            </a:r>
            <a:endParaRPr lang="en-US" sz="950" dirty="0"/>
          </a:p>
        </p:txBody>
      </p:sp>
      <p:sp>
        <p:nvSpPr>
          <p:cNvPr id="32" name="Text 30"/>
          <p:cNvSpPr/>
          <p:nvPr/>
        </p:nvSpPr>
        <p:spPr>
          <a:xfrm>
            <a:off x="5779008" y="3419856"/>
            <a:ext cx="2999232" cy="164592"/>
          </a:xfrm>
          <a:prstGeom prst="rect">
            <a:avLst/>
          </a:prstGeom>
          <a:noFill/>
          <a:ln/>
        </p:spPr>
        <p:txBody>
          <a:bodyPr wrap="square" lIns="0" tIns="0" rIns="0" bIns="0" rtlCol="0" anchor="ctr"/>
          <a:lstStyle/>
          <a:p>
            <a:pPr marL="0" indent="0">
              <a:buNone/>
            </a:pPr>
            <a:r>
              <a:rPr lang="en-US" sz="800" dirty="0">
                <a:solidFill>
                  <a:srgbClr val="C0C0C0"/>
                </a:solidFill>
                <a:latin typeface="Calibri" pitchFamily="34" charset="0"/>
                <a:ea typeface="Calibri" pitchFamily="34" charset="-122"/>
                <a:cs typeface="Calibri" pitchFamily="34" charset="-120"/>
              </a:rPr>
              <a:t>ChaCha20</a:t>
            </a:r>
            <a:endParaRPr lang="en-US" sz="800" dirty="0"/>
          </a:p>
        </p:txBody>
      </p:sp>
      <p:sp>
        <p:nvSpPr>
          <p:cNvPr id="33" name="Shape 31"/>
          <p:cNvSpPr/>
          <p:nvPr/>
        </p:nvSpPr>
        <p:spPr>
          <a:xfrm>
            <a:off x="5614416" y="3602736"/>
            <a:ext cx="3163824" cy="0"/>
          </a:xfrm>
          <a:prstGeom prst="line">
            <a:avLst/>
          </a:prstGeom>
          <a:noFill/>
          <a:ln w="7620">
            <a:solidFill>
              <a:srgbClr val="F5F5F5"/>
            </a:solidFill>
            <a:prstDash val="solid"/>
          </a:ln>
        </p:spPr>
        <p:txBody>
          <a:bodyPr/>
          <a:lstStyle/>
          <a:p>
            <a:endParaRPr lang="en-CA"/>
          </a:p>
        </p:txBody>
      </p:sp>
      <p:sp>
        <p:nvSpPr>
          <p:cNvPr id="34" name="Shape 32"/>
          <p:cNvSpPr/>
          <p:nvPr/>
        </p:nvSpPr>
        <p:spPr>
          <a:xfrm>
            <a:off x="5614416" y="3822192"/>
            <a:ext cx="73152" cy="73152"/>
          </a:xfrm>
          <a:prstGeom prst="ellipse">
            <a:avLst/>
          </a:prstGeom>
          <a:solidFill>
            <a:srgbClr val="C9A84C"/>
          </a:solidFill>
          <a:ln w="12700">
            <a:solidFill>
              <a:srgbClr val="C9A84C"/>
            </a:solidFill>
            <a:prstDash val="solid"/>
          </a:ln>
        </p:spPr>
        <p:txBody>
          <a:bodyPr/>
          <a:lstStyle/>
          <a:p>
            <a:endParaRPr lang="en-CA"/>
          </a:p>
        </p:txBody>
      </p:sp>
      <p:sp>
        <p:nvSpPr>
          <p:cNvPr id="35" name="Text 33"/>
          <p:cNvSpPr/>
          <p:nvPr/>
        </p:nvSpPr>
        <p:spPr>
          <a:xfrm>
            <a:off x="5779008" y="3712464"/>
            <a:ext cx="2999232" cy="201168"/>
          </a:xfrm>
          <a:prstGeom prst="rect">
            <a:avLst/>
          </a:prstGeom>
          <a:noFill/>
          <a:ln/>
        </p:spPr>
        <p:txBody>
          <a:bodyPr wrap="square" lIns="0" tIns="0" rIns="0" bIns="0" rtlCol="0" anchor="ctr"/>
          <a:lstStyle/>
          <a:p>
            <a:pPr marL="0" indent="0">
              <a:buNone/>
            </a:pPr>
            <a:r>
              <a:rPr lang="da-DK" sz="950" b="1" dirty="0">
                <a:latin typeface="Calibri" pitchFamily="34" charset="0"/>
                <a:ea typeface="Calibri" pitchFamily="34" charset="-122"/>
                <a:cs typeface="Calibri" pitchFamily="34" charset="-120"/>
              </a:rPr>
              <a:t>Schneier et al. (1998), Counterpane Systems</a:t>
            </a:r>
            <a:endParaRPr lang="en-US" sz="950" dirty="0"/>
          </a:p>
        </p:txBody>
      </p:sp>
      <p:sp>
        <p:nvSpPr>
          <p:cNvPr id="36" name="Text 34"/>
          <p:cNvSpPr/>
          <p:nvPr/>
        </p:nvSpPr>
        <p:spPr>
          <a:xfrm>
            <a:off x="5779007" y="3913632"/>
            <a:ext cx="3221299" cy="128011"/>
          </a:xfrm>
          <a:prstGeom prst="rect">
            <a:avLst/>
          </a:prstGeom>
          <a:noFill/>
          <a:ln/>
        </p:spPr>
        <p:txBody>
          <a:bodyPr wrap="square" lIns="0" tIns="0" rIns="0" bIns="0" rtlCol="0" anchor="ctr"/>
          <a:lstStyle/>
          <a:p>
            <a:pPr marL="0" indent="0">
              <a:buNone/>
            </a:pPr>
            <a:r>
              <a:rPr lang="da-DK" sz="800" dirty="0">
                <a:solidFill>
                  <a:srgbClr val="C0C0C0"/>
                </a:solidFill>
                <a:latin typeface="Calibri" pitchFamily="34" charset="0"/>
                <a:ea typeface="Calibri" pitchFamily="34" charset="-122"/>
                <a:cs typeface="Calibri" pitchFamily="34" charset="-120"/>
              </a:rPr>
              <a:t>Twofish (ECB_VK, ECB_VT, ECB_TBL)</a:t>
            </a:r>
            <a:endParaRPr lang="en-US" sz="800" dirty="0"/>
          </a:p>
        </p:txBody>
      </p:sp>
      <p:sp>
        <p:nvSpPr>
          <p:cNvPr id="37" name="Text 35"/>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8" name="Text 3">
            <a:extLst>
              <a:ext uri="{FF2B5EF4-FFF2-40B4-BE49-F238E27FC236}">
                <a16:creationId xmlns:a16="http://schemas.microsoft.com/office/drawing/2014/main" id="{4E540C6E-C69D-844C-80EB-B5E9AE0CFBC4}"/>
              </a:ext>
            </a:extLst>
          </p:cNvPr>
          <p:cNvSpPr/>
          <p:nvPr/>
        </p:nvSpPr>
        <p:spPr>
          <a:xfrm>
            <a:off x="475488" y="2200921"/>
            <a:ext cx="4754880" cy="512064"/>
          </a:xfrm>
          <a:prstGeom prst="rect">
            <a:avLst/>
          </a:prstGeom>
          <a:noFill/>
          <a:ln/>
        </p:spPr>
        <p:txBody>
          <a:bodyPr wrap="square" lIns="0" tIns="0" rIns="0" bIns="0" rtlCol="0" anchor="ctr"/>
          <a:lstStyle/>
          <a:p>
            <a:pPr marL="0" indent="0">
              <a:buNone/>
            </a:pPr>
            <a:r>
              <a:rPr lang="en-US" sz="1200" b="1" dirty="0">
                <a:solidFill>
                  <a:srgbClr val="0A0A0A"/>
                </a:solidFill>
                <a:latin typeface="Calibri" pitchFamily="34" charset="0"/>
                <a:ea typeface="Calibri" pitchFamily="34" charset="-122"/>
                <a:cs typeface="Calibri" pitchFamily="34" charset="-120"/>
              </a:rPr>
              <a:t>Pourquoi c’est important ?</a:t>
            </a:r>
            <a:endParaRPr lang="en-US" sz="1200" dirty="0"/>
          </a:p>
        </p:txBody>
      </p:sp>
      <p:sp>
        <p:nvSpPr>
          <p:cNvPr id="40" name="Shape 4">
            <a:extLst>
              <a:ext uri="{FF2B5EF4-FFF2-40B4-BE49-F238E27FC236}">
                <a16:creationId xmlns:a16="http://schemas.microsoft.com/office/drawing/2014/main" id="{F99DB7EA-9A46-CE7D-E983-719A811563EE}"/>
              </a:ext>
            </a:extLst>
          </p:cNvPr>
          <p:cNvSpPr/>
          <p:nvPr/>
        </p:nvSpPr>
        <p:spPr>
          <a:xfrm>
            <a:off x="475488" y="2694697"/>
            <a:ext cx="365760" cy="0"/>
          </a:xfrm>
          <a:prstGeom prst="line">
            <a:avLst/>
          </a:prstGeom>
          <a:noFill/>
          <a:ln w="31750">
            <a:solidFill>
              <a:srgbClr val="C9A84C"/>
            </a:solidFill>
            <a:prstDash val="solid"/>
          </a:ln>
        </p:spPr>
        <p:txBody>
          <a:bodyPr/>
          <a:lstStyle/>
          <a:p>
            <a:endParaRPr lang="en-CA"/>
          </a:p>
        </p:txBody>
      </p:sp>
      <p:sp>
        <p:nvSpPr>
          <p:cNvPr id="42" name="Text 5">
            <a:extLst>
              <a:ext uri="{FF2B5EF4-FFF2-40B4-BE49-F238E27FC236}">
                <a16:creationId xmlns:a16="http://schemas.microsoft.com/office/drawing/2014/main" id="{3AD3F44B-61AA-F61D-EB5C-B72F06B87C2D}"/>
              </a:ext>
            </a:extLst>
          </p:cNvPr>
          <p:cNvSpPr/>
          <p:nvPr/>
        </p:nvSpPr>
        <p:spPr>
          <a:xfrm>
            <a:off x="475488" y="2755126"/>
            <a:ext cx="4754880" cy="1005840"/>
          </a:xfrm>
          <a:prstGeom prst="rect">
            <a:avLst/>
          </a:prstGeom>
          <a:noFill/>
          <a:ln/>
        </p:spPr>
        <p:txBody>
          <a:bodyPr wrap="square" lIns="0" tIns="0" rIns="0" bIns="0" rtlCol="0" anchor="t"/>
          <a:lstStyle/>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Le KAT valide la conformité fonctionnelle avant toute mesure de performance, avec contrôles stricts des vecteurs Twofish.</a:t>
            </a:r>
          </a:p>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Il évite d’interpréter des résultats de vitesse sur une implémentation incorrecte.</a:t>
            </a:r>
          </a:p>
          <a:p>
            <a:pPr marL="171450" indent="-171450">
              <a:lnSpc>
                <a:spcPct val="160000"/>
              </a:lnSpc>
              <a:buFont typeface="Arial" panose="020B0604020202020204" pitchFamily="34" charset="0"/>
              <a:buChar char="•"/>
            </a:pPr>
            <a:r>
              <a:rPr lang="fr-FR" sz="900" dirty="0">
                <a:solidFill>
                  <a:srgbClr val="888888"/>
                </a:solidFill>
                <a:latin typeface="Calibri" pitchFamily="34" charset="0"/>
                <a:ea typeface="Calibri" pitchFamily="34" charset="-122"/>
                <a:cs typeface="Calibri" pitchFamily="34" charset="-120"/>
              </a:rPr>
              <a:t>Il fournit une preuve traçable, alignée sur les références normatives (NIST, RFC, corpus Twofish) et vérifiable par hachage des artefacts.</a:t>
            </a:r>
            <a:endParaRPr lang="en-US" sz="900" dirty="0">
              <a:solidFill>
                <a:srgbClr val="88888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03b  ·  VALIDATION CRYPTOGRAPHIQUE — KAT</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Couverture KAT retenue </a:t>
            </a:r>
            <a:r>
              <a:rPr lang="fr-FR" sz="1500" b="1" dirty="0">
                <a:solidFill>
                  <a:srgbClr val="CFB260"/>
                </a:solidFill>
                <a:latin typeface="Calibri" pitchFamily="34" charset="0"/>
                <a:ea typeface="Calibri" pitchFamily="34" charset="-122"/>
                <a:cs typeface="Calibri" pitchFamily="34" charset="-120"/>
              </a:rPr>
              <a:t>par famille</a:t>
            </a:r>
            <a:endParaRPr lang="en-US" sz="1500" dirty="0">
              <a:solidFill>
                <a:srgbClr val="CFB260"/>
              </a:solidFill>
            </a:endParaRPr>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pic>
        <p:nvPicPr>
          <p:cNvPr id="7" name="Image 0" descr="preencoded.png"/>
          <p:cNvPicPr>
            <a:picLocks noChangeAspect="1"/>
          </p:cNvPicPr>
          <p:nvPr/>
        </p:nvPicPr>
        <p:blipFill>
          <a:blip r:embed="rId3">
            <a:alphaModFix amt="75000"/>
          </a:blip>
          <a:stretch>
            <a:fillRect/>
          </a:stretch>
        </p:blipFill>
        <p:spPr>
          <a:xfrm>
            <a:off x="1499616" y="943128"/>
            <a:ext cx="292608" cy="292608"/>
          </a:xfrm>
          <a:prstGeom prst="rect">
            <a:avLst/>
          </a:prstGeom>
        </p:spPr>
      </p:pic>
      <p:sp>
        <p:nvSpPr>
          <p:cNvPr id="8" name="Text 5"/>
          <p:cNvSpPr/>
          <p:nvPr/>
        </p:nvSpPr>
        <p:spPr>
          <a:xfrm>
            <a:off x="1554480" y="906552"/>
            <a:ext cx="2139696" cy="256032"/>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Couverture par suite</a:t>
            </a:r>
          </a:p>
        </p:txBody>
      </p:sp>
      <p:pic>
        <p:nvPicPr>
          <p:cNvPr id="10" name="Image 1" descr="preencoded.png"/>
          <p:cNvPicPr>
            <a:picLocks noChangeAspect="1"/>
          </p:cNvPicPr>
          <p:nvPr/>
        </p:nvPicPr>
        <p:blipFill>
          <a:blip r:embed="rId3">
            <a:alphaModFix amt="75000"/>
          </a:blip>
          <a:stretch>
            <a:fillRect/>
          </a:stretch>
        </p:blipFill>
        <p:spPr>
          <a:xfrm>
            <a:off x="3749040" y="943128"/>
            <a:ext cx="292608" cy="292608"/>
          </a:xfrm>
          <a:prstGeom prst="rect">
            <a:avLst/>
          </a:prstGeom>
        </p:spPr>
      </p:pic>
      <p:sp>
        <p:nvSpPr>
          <p:cNvPr id="11" name="Text 7"/>
          <p:cNvSpPr/>
          <p:nvPr/>
        </p:nvSpPr>
        <p:spPr>
          <a:xfrm>
            <a:off x="3803904" y="906552"/>
            <a:ext cx="2231136" cy="256032"/>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Raison méthodologique</a:t>
            </a:r>
          </a:p>
        </p:txBody>
      </p:sp>
      <p:pic>
        <p:nvPicPr>
          <p:cNvPr id="13" name="Image 2" descr="preencoded.png"/>
          <p:cNvPicPr>
            <a:picLocks noChangeAspect="1"/>
          </p:cNvPicPr>
          <p:nvPr/>
        </p:nvPicPr>
        <p:blipFill>
          <a:blip r:embed="rId3">
            <a:alphaModFix amt="75000"/>
          </a:blip>
          <a:stretch>
            <a:fillRect/>
          </a:stretch>
        </p:blipFill>
        <p:spPr>
          <a:xfrm>
            <a:off x="6089904" y="943128"/>
            <a:ext cx="292608" cy="292608"/>
          </a:xfrm>
          <a:prstGeom prst="rect">
            <a:avLst/>
          </a:prstGeom>
        </p:spPr>
      </p:pic>
      <p:sp>
        <p:nvSpPr>
          <p:cNvPr id="14" name="Text 9"/>
          <p:cNvSpPr/>
          <p:nvPr/>
        </p:nvSpPr>
        <p:spPr>
          <a:xfrm>
            <a:off x="6144768" y="906552"/>
            <a:ext cx="2651760" cy="256032"/>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Garantie obtenue</a:t>
            </a:r>
          </a:p>
        </p:txBody>
      </p:sp>
      <p:sp>
        <p:nvSpPr>
          <p:cNvPr id="16" name="Shape 11"/>
          <p:cNvSpPr/>
          <p:nvPr/>
        </p:nvSpPr>
        <p:spPr>
          <a:xfrm>
            <a:off x="475488" y="1180872"/>
            <a:ext cx="8321040" cy="0"/>
          </a:xfrm>
          <a:prstGeom prst="line">
            <a:avLst/>
          </a:prstGeom>
          <a:noFill/>
          <a:ln w="12700">
            <a:solidFill>
              <a:srgbClr val="C9A84C"/>
            </a:solidFill>
            <a:prstDash val="solid"/>
          </a:ln>
        </p:spPr>
        <p:txBody>
          <a:bodyPr/>
          <a:lstStyle/>
          <a:p>
            <a:endParaRPr lang="en-CA"/>
          </a:p>
        </p:txBody>
      </p:sp>
      <p:sp>
        <p:nvSpPr>
          <p:cNvPr id="17" name="Shape 12"/>
          <p:cNvSpPr/>
          <p:nvPr/>
        </p:nvSpPr>
        <p:spPr>
          <a:xfrm>
            <a:off x="475488" y="1235736"/>
            <a:ext cx="8321040" cy="457200"/>
          </a:xfrm>
          <a:prstGeom prst="rect">
            <a:avLst/>
          </a:prstGeom>
          <a:solidFill>
            <a:srgbClr val="FAFAFA"/>
          </a:solidFill>
          <a:ln w="12700">
            <a:solidFill>
              <a:srgbClr val="FAFAFA"/>
            </a:solidFill>
            <a:prstDash val="solid"/>
          </a:ln>
        </p:spPr>
        <p:txBody>
          <a:bodyPr/>
          <a:lstStyle/>
          <a:p>
            <a:endParaRPr lang="en-CA"/>
          </a:p>
        </p:txBody>
      </p:sp>
      <p:sp>
        <p:nvSpPr>
          <p:cNvPr id="18" name="Shape 13"/>
          <p:cNvSpPr/>
          <p:nvPr/>
        </p:nvSpPr>
        <p:spPr>
          <a:xfrm>
            <a:off x="475488" y="1692936"/>
            <a:ext cx="8321040" cy="0"/>
          </a:xfrm>
          <a:prstGeom prst="line">
            <a:avLst/>
          </a:prstGeom>
          <a:noFill/>
          <a:ln w="5080">
            <a:solidFill>
              <a:srgbClr val="F2F2F2"/>
            </a:solidFill>
            <a:prstDash val="solid"/>
          </a:ln>
        </p:spPr>
        <p:txBody>
          <a:bodyPr/>
          <a:lstStyle/>
          <a:p>
            <a:endParaRPr lang="en-CA"/>
          </a:p>
        </p:txBody>
      </p:sp>
      <p:sp>
        <p:nvSpPr>
          <p:cNvPr id="19" name="Shape 14"/>
          <p:cNvSpPr/>
          <p:nvPr/>
        </p:nvSpPr>
        <p:spPr>
          <a:xfrm>
            <a:off x="475488" y="1235736"/>
            <a:ext cx="36576" cy="457200"/>
          </a:xfrm>
          <a:prstGeom prst="rect">
            <a:avLst/>
          </a:prstGeom>
          <a:solidFill>
            <a:srgbClr val="C9A84C"/>
          </a:solidFill>
          <a:ln w="12700">
            <a:solidFill>
              <a:srgbClr val="C9A84C"/>
            </a:solidFill>
            <a:prstDash val="solid"/>
          </a:ln>
        </p:spPr>
        <p:txBody>
          <a:bodyPr/>
          <a:lstStyle/>
          <a:p>
            <a:endParaRPr lang="en-CA"/>
          </a:p>
        </p:txBody>
      </p:sp>
      <p:sp>
        <p:nvSpPr>
          <p:cNvPr id="20" name="Text 15"/>
          <p:cNvSpPr/>
          <p:nvPr/>
        </p:nvSpPr>
        <p:spPr>
          <a:xfrm>
            <a:off x="566928" y="12357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AES</a:t>
            </a:r>
            <a:endParaRPr lang="en-US" sz="900" dirty="0"/>
          </a:p>
        </p:txBody>
      </p:sp>
      <p:sp>
        <p:nvSpPr>
          <p:cNvPr id="21" name="Shape 16"/>
          <p:cNvSpPr/>
          <p:nvPr/>
        </p:nvSpPr>
        <p:spPr>
          <a:xfrm>
            <a:off x="1444752" y="1308888"/>
            <a:ext cx="0" cy="310896"/>
          </a:xfrm>
          <a:prstGeom prst="line">
            <a:avLst/>
          </a:prstGeom>
          <a:noFill/>
          <a:ln w="5080">
            <a:solidFill>
              <a:srgbClr val="EEEEEE"/>
            </a:solidFill>
            <a:prstDash val="solid"/>
          </a:ln>
        </p:spPr>
        <p:txBody>
          <a:bodyPr/>
          <a:lstStyle/>
          <a:p>
            <a:endParaRPr lang="en-CA"/>
          </a:p>
        </p:txBody>
      </p:sp>
      <p:sp>
        <p:nvSpPr>
          <p:cNvPr id="22" name="Text 17"/>
          <p:cNvSpPr/>
          <p:nvPr/>
        </p:nvSpPr>
        <p:spPr>
          <a:xfrm>
            <a:off x="1554480" y="12357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AES-128, AES-192 et AES-256</a:t>
            </a:r>
            <a:endParaRPr lang="en-US" sz="750" dirty="0"/>
          </a:p>
        </p:txBody>
      </p:sp>
      <p:sp>
        <p:nvSpPr>
          <p:cNvPr id="23" name="Shape 18"/>
          <p:cNvSpPr/>
          <p:nvPr/>
        </p:nvSpPr>
        <p:spPr>
          <a:xfrm>
            <a:off x="3694176" y="1308888"/>
            <a:ext cx="0" cy="310896"/>
          </a:xfrm>
          <a:prstGeom prst="line">
            <a:avLst/>
          </a:prstGeom>
          <a:noFill/>
          <a:ln w="5080">
            <a:solidFill>
              <a:srgbClr val="EEEEEE"/>
            </a:solidFill>
            <a:prstDash val="solid"/>
          </a:ln>
        </p:spPr>
        <p:txBody>
          <a:bodyPr/>
          <a:lstStyle/>
          <a:p>
            <a:endParaRPr lang="en-CA"/>
          </a:p>
        </p:txBody>
      </p:sp>
      <p:sp>
        <p:nvSpPr>
          <p:cNvPr id="24" name="Text 19"/>
          <p:cNvSpPr/>
          <p:nvPr/>
        </p:nvSpPr>
        <p:spPr>
          <a:xfrm>
            <a:off x="3803904" y="12357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Couvrir les trois tailles de clé sans multiplier les cas redondants</a:t>
            </a:r>
            <a:endParaRPr lang="en-US" sz="750" dirty="0"/>
          </a:p>
        </p:txBody>
      </p:sp>
      <p:sp>
        <p:nvSpPr>
          <p:cNvPr id="25" name="Shape 20"/>
          <p:cNvSpPr/>
          <p:nvPr/>
        </p:nvSpPr>
        <p:spPr>
          <a:xfrm>
            <a:off x="6035040" y="1308888"/>
            <a:ext cx="0" cy="310896"/>
          </a:xfrm>
          <a:prstGeom prst="line">
            <a:avLst/>
          </a:prstGeom>
          <a:noFill/>
          <a:ln w="5080">
            <a:solidFill>
              <a:srgbClr val="EEEEEE"/>
            </a:solidFill>
            <a:prstDash val="solid"/>
          </a:ln>
        </p:spPr>
        <p:txBody>
          <a:bodyPr/>
          <a:lstStyle/>
          <a:p>
            <a:endParaRPr lang="en-CA"/>
          </a:p>
        </p:txBody>
      </p:sp>
      <p:sp>
        <p:nvSpPr>
          <p:cNvPr id="26" name="Text 21"/>
          <p:cNvSpPr/>
          <p:nvPr/>
        </p:nvSpPr>
        <p:spPr>
          <a:xfrm>
            <a:off x="6144768" y="1235736"/>
            <a:ext cx="2596896"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Conformité sur les variantes principales de la suite AES</a:t>
            </a:r>
            <a:endParaRPr lang="en-US" sz="750" dirty="0"/>
          </a:p>
        </p:txBody>
      </p:sp>
      <p:sp>
        <p:nvSpPr>
          <p:cNvPr id="27" name="Shape 22"/>
          <p:cNvSpPr/>
          <p:nvPr/>
        </p:nvSpPr>
        <p:spPr>
          <a:xfrm>
            <a:off x="475488" y="1692936"/>
            <a:ext cx="8321040" cy="457200"/>
          </a:xfrm>
          <a:prstGeom prst="rect">
            <a:avLst/>
          </a:prstGeom>
          <a:solidFill>
            <a:srgbClr val="FFFFFF"/>
          </a:solidFill>
          <a:ln w="12700">
            <a:solidFill>
              <a:srgbClr val="FFFFFF"/>
            </a:solidFill>
            <a:prstDash val="solid"/>
          </a:ln>
        </p:spPr>
        <p:txBody>
          <a:bodyPr/>
          <a:lstStyle/>
          <a:p>
            <a:endParaRPr lang="en-CA"/>
          </a:p>
        </p:txBody>
      </p:sp>
      <p:sp>
        <p:nvSpPr>
          <p:cNvPr id="28" name="Shape 23"/>
          <p:cNvSpPr/>
          <p:nvPr/>
        </p:nvSpPr>
        <p:spPr>
          <a:xfrm>
            <a:off x="475488" y="2150136"/>
            <a:ext cx="8321040" cy="0"/>
          </a:xfrm>
          <a:prstGeom prst="line">
            <a:avLst/>
          </a:prstGeom>
          <a:noFill/>
          <a:ln w="5080">
            <a:solidFill>
              <a:srgbClr val="F2F2F2"/>
            </a:solidFill>
            <a:prstDash val="solid"/>
          </a:ln>
        </p:spPr>
        <p:txBody>
          <a:bodyPr/>
          <a:lstStyle/>
          <a:p>
            <a:endParaRPr lang="en-CA"/>
          </a:p>
        </p:txBody>
      </p:sp>
      <p:sp>
        <p:nvSpPr>
          <p:cNvPr id="29" name="Shape 24"/>
          <p:cNvSpPr/>
          <p:nvPr/>
        </p:nvSpPr>
        <p:spPr>
          <a:xfrm>
            <a:off x="475488" y="1692936"/>
            <a:ext cx="36576" cy="457200"/>
          </a:xfrm>
          <a:prstGeom prst="rect">
            <a:avLst/>
          </a:prstGeom>
          <a:solidFill>
            <a:srgbClr val="C9A84C"/>
          </a:solidFill>
          <a:ln w="12700">
            <a:solidFill>
              <a:srgbClr val="C9A84C"/>
            </a:solidFill>
            <a:prstDash val="solid"/>
          </a:ln>
        </p:spPr>
        <p:txBody>
          <a:bodyPr/>
          <a:lstStyle/>
          <a:p>
            <a:endParaRPr lang="en-CA"/>
          </a:p>
        </p:txBody>
      </p:sp>
      <p:sp>
        <p:nvSpPr>
          <p:cNvPr id="30" name="Text 25"/>
          <p:cNvSpPr/>
          <p:nvPr/>
        </p:nvSpPr>
        <p:spPr>
          <a:xfrm>
            <a:off x="566928" y="16929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DES</a:t>
            </a:r>
            <a:endParaRPr lang="en-US" sz="900" dirty="0"/>
          </a:p>
        </p:txBody>
      </p:sp>
      <p:sp>
        <p:nvSpPr>
          <p:cNvPr id="31" name="Shape 26"/>
          <p:cNvSpPr/>
          <p:nvPr/>
        </p:nvSpPr>
        <p:spPr>
          <a:xfrm>
            <a:off x="1444752" y="1766088"/>
            <a:ext cx="0" cy="310896"/>
          </a:xfrm>
          <a:prstGeom prst="line">
            <a:avLst/>
          </a:prstGeom>
          <a:noFill/>
          <a:ln w="5080">
            <a:solidFill>
              <a:srgbClr val="EEEEEE"/>
            </a:solidFill>
            <a:prstDash val="solid"/>
          </a:ln>
        </p:spPr>
        <p:txBody>
          <a:bodyPr/>
          <a:lstStyle/>
          <a:p>
            <a:endParaRPr lang="en-CA"/>
          </a:p>
        </p:txBody>
      </p:sp>
      <p:sp>
        <p:nvSpPr>
          <p:cNvPr id="32" name="Text 27"/>
          <p:cNvSpPr/>
          <p:nvPr/>
        </p:nvSpPr>
        <p:spPr>
          <a:xfrm>
            <a:off x="1554480" y="16929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Couples clair/chiffré représentatifs</a:t>
            </a:r>
            <a:endParaRPr lang="en-US" sz="750" dirty="0"/>
          </a:p>
        </p:txBody>
      </p:sp>
      <p:sp>
        <p:nvSpPr>
          <p:cNvPr id="33" name="Shape 28"/>
          <p:cNvSpPr/>
          <p:nvPr/>
        </p:nvSpPr>
        <p:spPr>
          <a:xfrm>
            <a:off x="3694176" y="1766088"/>
            <a:ext cx="0" cy="310896"/>
          </a:xfrm>
          <a:prstGeom prst="line">
            <a:avLst/>
          </a:prstGeom>
          <a:noFill/>
          <a:ln w="5080">
            <a:solidFill>
              <a:srgbClr val="EEEEEE"/>
            </a:solidFill>
            <a:prstDash val="solid"/>
          </a:ln>
        </p:spPr>
        <p:txBody>
          <a:bodyPr/>
          <a:lstStyle/>
          <a:p>
            <a:endParaRPr lang="en-CA"/>
          </a:p>
        </p:txBody>
      </p:sp>
      <p:sp>
        <p:nvSpPr>
          <p:cNvPr id="34" name="Text 29"/>
          <p:cNvSpPr/>
          <p:nvPr/>
        </p:nvSpPr>
        <p:spPr>
          <a:xfrm>
            <a:off x="3803904" y="16929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Vérifier le comportement sur des cas normatifs sans reprendre tout le corpus</a:t>
            </a:r>
            <a:endParaRPr lang="en-US" sz="750" dirty="0"/>
          </a:p>
        </p:txBody>
      </p:sp>
      <p:sp>
        <p:nvSpPr>
          <p:cNvPr id="35" name="Shape 30"/>
          <p:cNvSpPr/>
          <p:nvPr/>
        </p:nvSpPr>
        <p:spPr>
          <a:xfrm>
            <a:off x="6035040" y="1766088"/>
            <a:ext cx="0" cy="310896"/>
          </a:xfrm>
          <a:prstGeom prst="line">
            <a:avLst/>
          </a:prstGeom>
          <a:noFill/>
          <a:ln w="5080">
            <a:solidFill>
              <a:srgbClr val="EEEEEE"/>
            </a:solidFill>
            <a:prstDash val="solid"/>
          </a:ln>
        </p:spPr>
        <p:txBody>
          <a:bodyPr/>
          <a:lstStyle/>
          <a:p>
            <a:endParaRPr lang="en-CA"/>
          </a:p>
        </p:txBody>
      </p:sp>
      <p:sp>
        <p:nvSpPr>
          <p:cNvPr id="36" name="Text 31"/>
          <p:cNvSpPr/>
          <p:nvPr/>
        </p:nvSpPr>
        <p:spPr>
          <a:xfrm>
            <a:off x="6144768" y="1692936"/>
            <a:ext cx="2596896"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Conformité fonctionnelle de la primitive DES</a:t>
            </a:r>
            <a:endParaRPr lang="en-US" sz="750" dirty="0"/>
          </a:p>
        </p:txBody>
      </p:sp>
      <p:sp>
        <p:nvSpPr>
          <p:cNvPr id="37" name="Shape 32"/>
          <p:cNvSpPr/>
          <p:nvPr/>
        </p:nvSpPr>
        <p:spPr>
          <a:xfrm>
            <a:off x="475488" y="2150136"/>
            <a:ext cx="8321040" cy="457200"/>
          </a:xfrm>
          <a:prstGeom prst="rect">
            <a:avLst/>
          </a:prstGeom>
          <a:solidFill>
            <a:srgbClr val="FAFAFA"/>
          </a:solidFill>
          <a:ln w="12700">
            <a:solidFill>
              <a:srgbClr val="FAFAFA"/>
            </a:solidFill>
            <a:prstDash val="solid"/>
          </a:ln>
        </p:spPr>
        <p:txBody>
          <a:bodyPr/>
          <a:lstStyle/>
          <a:p>
            <a:endParaRPr lang="en-CA"/>
          </a:p>
        </p:txBody>
      </p:sp>
      <p:sp>
        <p:nvSpPr>
          <p:cNvPr id="38" name="Shape 33"/>
          <p:cNvSpPr/>
          <p:nvPr/>
        </p:nvSpPr>
        <p:spPr>
          <a:xfrm>
            <a:off x="475488" y="2607336"/>
            <a:ext cx="8321040" cy="0"/>
          </a:xfrm>
          <a:prstGeom prst="line">
            <a:avLst/>
          </a:prstGeom>
          <a:noFill/>
          <a:ln w="5080">
            <a:solidFill>
              <a:srgbClr val="F2F2F2"/>
            </a:solidFill>
            <a:prstDash val="solid"/>
          </a:ln>
        </p:spPr>
        <p:txBody>
          <a:bodyPr/>
          <a:lstStyle/>
          <a:p>
            <a:endParaRPr lang="en-CA"/>
          </a:p>
        </p:txBody>
      </p:sp>
      <p:sp>
        <p:nvSpPr>
          <p:cNvPr id="39" name="Shape 34"/>
          <p:cNvSpPr/>
          <p:nvPr/>
        </p:nvSpPr>
        <p:spPr>
          <a:xfrm>
            <a:off x="475488" y="2150136"/>
            <a:ext cx="36576" cy="457200"/>
          </a:xfrm>
          <a:prstGeom prst="rect">
            <a:avLst/>
          </a:prstGeom>
          <a:solidFill>
            <a:srgbClr val="C9A84C"/>
          </a:solidFill>
          <a:ln w="12700">
            <a:solidFill>
              <a:srgbClr val="C9A84C"/>
            </a:solidFill>
            <a:prstDash val="solid"/>
          </a:ln>
        </p:spPr>
        <p:txBody>
          <a:bodyPr/>
          <a:lstStyle/>
          <a:p>
            <a:endParaRPr lang="en-CA"/>
          </a:p>
        </p:txBody>
      </p:sp>
      <p:sp>
        <p:nvSpPr>
          <p:cNvPr id="40" name="Text 35"/>
          <p:cNvSpPr/>
          <p:nvPr/>
        </p:nvSpPr>
        <p:spPr>
          <a:xfrm>
            <a:off x="566928" y="21501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3DES</a:t>
            </a:r>
            <a:endParaRPr lang="en-US" sz="900" dirty="0"/>
          </a:p>
        </p:txBody>
      </p:sp>
      <p:sp>
        <p:nvSpPr>
          <p:cNvPr id="41" name="Shape 36"/>
          <p:cNvSpPr/>
          <p:nvPr/>
        </p:nvSpPr>
        <p:spPr>
          <a:xfrm>
            <a:off x="1444752" y="2223288"/>
            <a:ext cx="0" cy="310896"/>
          </a:xfrm>
          <a:prstGeom prst="line">
            <a:avLst/>
          </a:prstGeom>
          <a:noFill/>
          <a:ln w="5080">
            <a:solidFill>
              <a:srgbClr val="EEEEEE"/>
            </a:solidFill>
            <a:prstDash val="solid"/>
          </a:ln>
        </p:spPr>
        <p:txBody>
          <a:bodyPr/>
          <a:lstStyle/>
          <a:p>
            <a:endParaRPr lang="en-CA"/>
          </a:p>
        </p:txBody>
      </p:sp>
      <p:sp>
        <p:nvSpPr>
          <p:cNvPr id="42" name="Text 37"/>
          <p:cNvSpPr/>
          <p:nvPr/>
        </p:nvSpPr>
        <p:spPr>
          <a:xfrm>
            <a:off x="1554480" y="21501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Cas à 2 clés et à 3 clés (EDE)</a:t>
            </a:r>
            <a:endParaRPr lang="en-US" sz="750" dirty="0"/>
          </a:p>
        </p:txBody>
      </p:sp>
      <p:sp>
        <p:nvSpPr>
          <p:cNvPr id="43" name="Shape 38"/>
          <p:cNvSpPr/>
          <p:nvPr/>
        </p:nvSpPr>
        <p:spPr>
          <a:xfrm>
            <a:off x="3694176" y="2223288"/>
            <a:ext cx="0" cy="310896"/>
          </a:xfrm>
          <a:prstGeom prst="line">
            <a:avLst/>
          </a:prstGeom>
          <a:noFill/>
          <a:ln w="5080">
            <a:solidFill>
              <a:srgbClr val="EEEEEE"/>
            </a:solidFill>
            <a:prstDash val="solid"/>
          </a:ln>
        </p:spPr>
        <p:txBody>
          <a:bodyPr/>
          <a:lstStyle/>
          <a:p>
            <a:endParaRPr lang="en-CA"/>
          </a:p>
        </p:txBody>
      </p:sp>
      <p:sp>
        <p:nvSpPr>
          <p:cNvPr id="44" name="Text 39"/>
          <p:cNvSpPr/>
          <p:nvPr/>
        </p:nvSpPr>
        <p:spPr>
          <a:xfrm>
            <a:off x="3803904" y="21501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Couvrir les deux configurations opérationnelles principales</a:t>
            </a:r>
            <a:endParaRPr lang="en-US" sz="750" dirty="0"/>
          </a:p>
        </p:txBody>
      </p:sp>
      <p:sp>
        <p:nvSpPr>
          <p:cNvPr id="45" name="Shape 40"/>
          <p:cNvSpPr/>
          <p:nvPr/>
        </p:nvSpPr>
        <p:spPr>
          <a:xfrm>
            <a:off x="6035040" y="2223288"/>
            <a:ext cx="0" cy="310896"/>
          </a:xfrm>
          <a:prstGeom prst="line">
            <a:avLst/>
          </a:prstGeom>
          <a:noFill/>
          <a:ln w="5080">
            <a:solidFill>
              <a:srgbClr val="EEEEEE"/>
            </a:solidFill>
            <a:prstDash val="solid"/>
          </a:ln>
        </p:spPr>
        <p:txBody>
          <a:bodyPr/>
          <a:lstStyle/>
          <a:p>
            <a:endParaRPr lang="en-CA"/>
          </a:p>
        </p:txBody>
      </p:sp>
      <p:sp>
        <p:nvSpPr>
          <p:cNvPr id="46" name="Text 41"/>
          <p:cNvSpPr/>
          <p:nvPr/>
        </p:nvSpPr>
        <p:spPr>
          <a:xfrm>
            <a:off x="6144768" y="2150136"/>
            <a:ext cx="2596896"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Validité des variantes TDEA les plus représentatives</a:t>
            </a:r>
            <a:endParaRPr lang="en-US" sz="750" dirty="0"/>
          </a:p>
        </p:txBody>
      </p:sp>
      <p:sp>
        <p:nvSpPr>
          <p:cNvPr id="47" name="Shape 42"/>
          <p:cNvSpPr/>
          <p:nvPr/>
        </p:nvSpPr>
        <p:spPr>
          <a:xfrm>
            <a:off x="475488" y="2607336"/>
            <a:ext cx="8321040" cy="457200"/>
          </a:xfrm>
          <a:prstGeom prst="rect">
            <a:avLst/>
          </a:prstGeom>
          <a:solidFill>
            <a:srgbClr val="FFFFFF"/>
          </a:solidFill>
          <a:ln w="12700">
            <a:solidFill>
              <a:srgbClr val="FFFFFF"/>
            </a:solidFill>
            <a:prstDash val="solid"/>
          </a:ln>
        </p:spPr>
        <p:txBody>
          <a:bodyPr/>
          <a:lstStyle/>
          <a:p>
            <a:endParaRPr lang="en-CA"/>
          </a:p>
        </p:txBody>
      </p:sp>
      <p:sp>
        <p:nvSpPr>
          <p:cNvPr id="48" name="Shape 43"/>
          <p:cNvSpPr/>
          <p:nvPr/>
        </p:nvSpPr>
        <p:spPr>
          <a:xfrm>
            <a:off x="475488" y="3064536"/>
            <a:ext cx="8321040" cy="0"/>
          </a:xfrm>
          <a:prstGeom prst="line">
            <a:avLst/>
          </a:prstGeom>
          <a:noFill/>
          <a:ln w="5080">
            <a:solidFill>
              <a:srgbClr val="F2F2F2"/>
            </a:solidFill>
            <a:prstDash val="solid"/>
          </a:ln>
        </p:spPr>
        <p:txBody>
          <a:bodyPr/>
          <a:lstStyle/>
          <a:p>
            <a:endParaRPr lang="en-CA"/>
          </a:p>
        </p:txBody>
      </p:sp>
      <p:sp>
        <p:nvSpPr>
          <p:cNvPr id="49" name="Shape 44"/>
          <p:cNvSpPr/>
          <p:nvPr/>
        </p:nvSpPr>
        <p:spPr>
          <a:xfrm>
            <a:off x="475488" y="2607336"/>
            <a:ext cx="36576" cy="457200"/>
          </a:xfrm>
          <a:prstGeom prst="rect">
            <a:avLst/>
          </a:prstGeom>
          <a:solidFill>
            <a:srgbClr val="C9A84C"/>
          </a:solidFill>
          <a:ln w="12700">
            <a:solidFill>
              <a:srgbClr val="C9A84C"/>
            </a:solidFill>
            <a:prstDash val="solid"/>
          </a:ln>
        </p:spPr>
        <p:txBody>
          <a:bodyPr/>
          <a:lstStyle/>
          <a:p>
            <a:endParaRPr lang="en-CA"/>
          </a:p>
        </p:txBody>
      </p:sp>
      <p:sp>
        <p:nvSpPr>
          <p:cNvPr id="50" name="Text 45"/>
          <p:cNvSpPr/>
          <p:nvPr/>
        </p:nvSpPr>
        <p:spPr>
          <a:xfrm>
            <a:off x="566928" y="26073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Modes</a:t>
            </a:r>
            <a:endParaRPr lang="en-US" sz="900" dirty="0"/>
          </a:p>
        </p:txBody>
      </p:sp>
      <p:sp>
        <p:nvSpPr>
          <p:cNvPr id="51" name="Shape 46"/>
          <p:cNvSpPr/>
          <p:nvPr/>
        </p:nvSpPr>
        <p:spPr>
          <a:xfrm>
            <a:off x="1444752" y="2680488"/>
            <a:ext cx="0" cy="310896"/>
          </a:xfrm>
          <a:prstGeom prst="line">
            <a:avLst/>
          </a:prstGeom>
          <a:noFill/>
          <a:ln w="5080">
            <a:solidFill>
              <a:srgbClr val="EEEEEE"/>
            </a:solidFill>
            <a:prstDash val="solid"/>
          </a:ln>
        </p:spPr>
        <p:txBody>
          <a:bodyPr/>
          <a:lstStyle/>
          <a:p>
            <a:endParaRPr lang="en-CA"/>
          </a:p>
        </p:txBody>
      </p:sp>
      <p:sp>
        <p:nvSpPr>
          <p:cNvPr id="52" name="Text 47"/>
          <p:cNvSpPr/>
          <p:nvPr/>
        </p:nvSpPr>
        <p:spPr>
          <a:xfrm>
            <a:off x="1554480" y="26073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Un cas pour ECB, CBC et CTR</a:t>
            </a:r>
            <a:endParaRPr lang="en-US" sz="750" dirty="0"/>
          </a:p>
        </p:txBody>
      </p:sp>
      <p:sp>
        <p:nvSpPr>
          <p:cNvPr id="53" name="Shape 48"/>
          <p:cNvSpPr/>
          <p:nvPr/>
        </p:nvSpPr>
        <p:spPr>
          <a:xfrm>
            <a:off x="3694176" y="2680488"/>
            <a:ext cx="0" cy="310896"/>
          </a:xfrm>
          <a:prstGeom prst="line">
            <a:avLst/>
          </a:prstGeom>
          <a:noFill/>
          <a:ln w="5080">
            <a:solidFill>
              <a:srgbClr val="EEEEEE"/>
            </a:solidFill>
            <a:prstDash val="solid"/>
          </a:ln>
        </p:spPr>
        <p:txBody>
          <a:bodyPr/>
          <a:lstStyle/>
          <a:p>
            <a:endParaRPr lang="en-CA"/>
          </a:p>
        </p:txBody>
      </p:sp>
      <p:sp>
        <p:nvSpPr>
          <p:cNvPr id="54" name="Text 49"/>
          <p:cNvSpPr/>
          <p:nvPr/>
        </p:nvSpPr>
        <p:spPr>
          <a:xfrm>
            <a:off x="3803904" y="26073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Isoler la logique de chaque mode sans surpondérer la famille</a:t>
            </a:r>
            <a:endParaRPr lang="en-US" sz="750" dirty="0"/>
          </a:p>
        </p:txBody>
      </p:sp>
      <p:sp>
        <p:nvSpPr>
          <p:cNvPr id="55" name="Shape 50"/>
          <p:cNvSpPr/>
          <p:nvPr/>
        </p:nvSpPr>
        <p:spPr>
          <a:xfrm>
            <a:off x="6035040" y="2680488"/>
            <a:ext cx="0" cy="310896"/>
          </a:xfrm>
          <a:prstGeom prst="line">
            <a:avLst/>
          </a:prstGeom>
          <a:noFill/>
          <a:ln w="5080">
            <a:solidFill>
              <a:srgbClr val="EEEEEE"/>
            </a:solidFill>
            <a:prstDash val="solid"/>
          </a:ln>
        </p:spPr>
        <p:txBody>
          <a:bodyPr/>
          <a:lstStyle/>
          <a:p>
            <a:endParaRPr lang="en-CA"/>
          </a:p>
        </p:txBody>
      </p:sp>
      <p:sp>
        <p:nvSpPr>
          <p:cNvPr id="56" name="Text 51"/>
          <p:cNvSpPr/>
          <p:nvPr/>
        </p:nvSpPr>
        <p:spPr>
          <a:xfrm>
            <a:off x="6144768" y="2607336"/>
            <a:ext cx="2596896"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Conformité de l'enchaînement, IV et compteur selon le mode</a:t>
            </a:r>
            <a:endParaRPr lang="en-US" sz="750" dirty="0"/>
          </a:p>
        </p:txBody>
      </p:sp>
      <p:sp>
        <p:nvSpPr>
          <p:cNvPr id="57" name="Shape 52"/>
          <p:cNvSpPr/>
          <p:nvPr/>
        </p:nvSpPr>
        <p:spPr>
          <a:xfrm>
            <a:off x="475488" y="3064536"/>
            <a:ext cx="8321040" cy="457200"/>
          </a:xfrm>
          <a:prstGeom prst="rect">
            <a:avLst/>
          </a:prstGeom>
          <a:solidFill>
            <a:srgbClr val="FAFAFA"/>
          </a:solidFill>
          <a:ln w="12700">
            <a:solidFill>
              <a:srgbClr val="FAFAFA"/>
            </a:solidFill>
            <a:prstDash val="solid"/>
          </a:ln>
        </p:spPr>
        <p:txBody>
          <a:bodyPr/>
          <a:lstStyle/>
          <a:p>
            <a:endParaRPr lang="en-CA"/>
          </a:p>
        </p:txBody>
      </p:sp>
      <p:sp>
        <p:nvSpPr>
          <p:cNvPr id="58" name="Shape 53"/>
          <p:cNvSpPr/>
          <p:nvPr/>
        </p:nvSpPr>
        <p:spPr>
          <a:xfrm>
            <a:off x="475488" y="3521736"/>
            <a:ext cx="8321040" cy="0"/>
          </a:xfrm>
          <a:prstGeom prst="line">
            <a:avLst/>
          </a:prstGeom>
          <a:noFill/>
          <a:ln w="5080">
            <a:solidFill>
              <a:srgbClr val="F2F2F2"/>
            </a:solidFill>
            <a:prstDash val="solid"/>
          </a:ln>
        </p:spPr>
        <p:txBody>
          <a:bodyPr/>
          <a:lstStyle/>
          <a:p>
            <a:endParaRPr lang="en-CA"/>
          </a:p>
        </p:txBody>
      </p:sp>
      <p:sp>
        <p:nvSpPr>
          <p:cNvPr id="59" name="Shape 54"/>
          <p:cNvSpPr/>
          <p:nvPr/>
        </p:nvSpPr>
        <p:spPr>
          <a:xfrm>
            <a:off x="475488" y="3064536"/>
            <a:ext cx="36576" cy="457200"/>
          </a:xfrm>
          <a:prstGeom prst="rect">
            <a:avLst/>
          </a:prstGeom>
          <a:solidFill>
            <a:srgbClr val="C9A84C"/>
          </a:solidFill>
          <a:ln w="12700">
            <a:solidFill>
              <a:srgbClr val="C9A84C"/>
            </a:solidFill>
            <a:prstDash val="solid"/>
          </a:ln>
        </p:spPr>
        <p:txBody>
          <a:bodyPr/>
          <a:lstStyle/>
          <a:p>
            <a:endParaRPr lang="en-CA"/>
          </a:p>
        </p:txBody>
      </p:sp>
      <p:sp>
        <p:nvSpPr>
          <p:cNvPr id="60" name="Text 55"/>
          <p:cNvSpPr/>
          <p:nvPr/>
        </p:nvSpPr>
        <p:spPr>
          <a:xfrm>
            <a:off x="566928" y="30645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GCM</a:t>
            </a:r>
            <a:endParaRPr lang="en-US" sz="900" dirty="0"/>
          </a:p>
        </p:txBody>
      </p:sp>
      <p:sp>
        <p:nvSpPr>
          <p:cNvPr id="61" name="Shape 56"/>
          <p:cNvSpPr/>
          <p:nvPr/>
        </p:nvSpPr>
        <p:spPr>
          <a:xfrm>
            <a:off x="1444752" y="3137688"/>
            <a:ext cx="0" cy="310896"/>
          </a:xfrm>
          <a:prstGeom prst="line">
            <a:avLst/>
          </a:prstGeom>
          <a:noFill/>
          <a:ln w="5080">
            <a:solidFill>
              <a:srgbClr val="EEEEEE"/>
            </a:solidFill>
            <a:prstDash val="solid"/>
          </a:ln>
        </p:spPr>
        <p:txBody>
          <a:bodyPr/>
          <a:lstStyle/>
          <a:p>
            <a:endParaRPr lang="en-CA"/>
          </a:p>
        </p:txBody>
      </p:sp>
      <p:sp>
        <p:nvSpPr>
          <p:cNvPr id="62" name="Text 57"/>
          <p:cNvSpPr/>
          <p:nvPr/>
        </p:nvSpPr>
        <p:spPr>
          <a:xfrm>
            <a:off x="1554480" y="30645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Chiffrement, tag et vérification d'intégrité</a:t>
            </a:r>
            <a:endParaRPr lang="en-US" sz="750" dirty="0"/>
          </a:p>
        </p:txBody>
      </p:sp>
      <p:sp>
        <p:nvSpPr>
          <p:cNvPr id="63" name="Shape 58"/>
          <p:cNvSpPr/>
          <p:nvPr/>
        </p:nvSpPr>
        <p:spPr>
          <a:xfrm>
            <a:off x="3694176" y="3137688"/>
            <a:ext cx="0" cy="310896"/>
          </a:xfrm>
          <a:prstGeom prst="line">
            <a:avLst/>
          </a:prstGeom>
          <a:noFill/>
          <a:ln w="5080">
            <a:solidFill>
              <a:srgbClr val="EEEEEE"/>
            </a:solidFill>
            <a:prstDash val="solid"/>
          </a:ln>
        </p:spPr>
        <p:txBody>
          <a:bodyPr/>
          <a:lstStyle/>
          <a:p>
            <a:endParaRPr lang="en-CA"/>
          </a:p>
        </p:txBody>
      </p:sp>
      <p:sp>
        <p:nvSpPr>
          <p:cNvPr id="64" name="Text 59"/>
          <p:cNvSpPr/>
          <p:nvPr/>
        </p:nvSpPr>
        <p:spPr>
          <a:xfrm>
            <a:off x="3803904" y="30645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Tester les fonctions essentielles AEAD, pas seulement le chiffrement</a:t>
            </a:r>
            <a:endParaRPr lang="en-US" sz="750" dirty="0"/>
          </a:p>
        </p:txBody>
      </p:sp>
      <p:sp>
        <p:nvSpPr>
          <p:cNvPr id="65" name="Shape 60"/>
          <p:cNvSpPr/>
          <p:nvPr/>
        </p:nvSpPr>
        <p:spPr>
          <a:xfrm>
            <a:off x="6035040" y="3137688"/>
            <a:ext cx="0" cy="310896"/>
          </a:xfrm>
          <a:prstGeom prst="line">
            <a:avLst/>
          </a:prstGeom>
          <a:noFill/>
          <a:ln w="5080">
            <a:solidFill>
              <a:srgbClr val="EEEEEE"/>
            </a:solidFill>
            <a:prstDash val="solid"/>
          </a:ln>
        </p:spPr>
        <p:txBody>
          <a:bodyPr/>
          <a:lstStyle/>
          <a:p>
            <a:endParaRPr lang="en-CA"/>
          </a:p>
        </p:txBody>
      </p:sp>
      <p:sp>
        <p:nvSpPr>
          <p:cNvPr id="66" name="Text 61"/>
          <p:cNvSpPr/>
          <p:nvPr/>
        </p:nvSpPr>
        <p:spPr>
          <a:xfrm>
            <a:off x="6144768" y="3064536"/>
            <a:ext cx="2596896"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Conformité du traitement authentifié et de la vérification</a:t>
            </a:r>
            <a:endParaRPr lang="en-US" sz="750" dirty="0"/>
          </a:p>
        </p:txBody>
      </p:sp>
      <p:sp>
        <p:nvSpPr>
          <p:cNvPr id="67" name="Shape 62"/>
          <p:cNvSpPr/>
          <p:nvPr/>
        </p:nvSpPr>
        <p:spPr>
          <a:xfrm>
            <a:off x="475488" y="3521736"/>
            <a:ext cx="8321040" cy="457200"/>
          </a:xfrm>
          <a:prstGeom prst="rect">
            <a:avLst/>
          </a:prstGeom>
          <a:solidFill>
            <a:srgbClr val="FFFFFF"/>
          </a:solidFill>
          <a:ln w="12700">
            <a:solidFill>
              <a:srgbClr val="FFFFFF"/>
            </a:solidFill>
            <a:prstDash val="solid"/>
          </a:ln>
        </p:spPr>
        <p:txBody>
          <a:bodyPr/>
          <a:lstStyle/>
          <a:p>
            <a:endParaRPr lang="en-CA"/>
          </a:p>
        </p:txBody>
      </p:sp>
      <p:sp>
        <p:nvSpPr>
          <p:cNvPr id="68" name="Shape 63"/>
          <p:cNvSpPr/>
          <p:nvPr/>
        </p:nvSpPr>
        <p:spPr>
          <a:xfrm>
            <a:off x="475488" y="3978936"/>
            <a:ext cx="8321040" cy="0"/>
          </a:xfrm>
          <a:prstGeom prst="line">
            <a:avLst/>
          </a:prstGeom>
          <a:noFill/>
          <a:ln w="5080">
            <a:solidFill>
              <a:srgbClr val="F2F2F2"/>
            </a:solidFill>
            <a:prstDash val="solid"/>
          </a:ln>
        </p:spPr>
        <p:txBody>
          <a:bodyPr/>
          <a:lstStyle/>
          <a:p>
            <a:endParaRPr lang="en-CA"/>
          </a:p>
        </p:txBody>
      </p:sp>
      <p:sp>
        <p:nvSpPr>
          <p:cNvPr id="69" name="Shape 64"/>
          <p:cNvSpPr/>
          <p:nvPr/>
        </p:nvSpPr>
        <p:spPr>
          <a:xfrm>
            <a:off x="475488" y="3521736"/>
            <a:ext cx="36576" cy="457200"/>
          </a:xfrm>
          <a:prstGeom prst="rect">
            <a:avLst/>
          </a:prstGeom>
          <a:solidFill>
            <a:srgbClr val="C9A84C"/>
          </a:solidFill>
          <a:ln w="12700">
            <a:solidFill>
              <a:srgbClr val="C9A84C"/>
            </a:solidFill>
            <a:prstDash val="solid"/>
          </a:ln>
        </p:spPr>
        <p:txBody>
          <a:bodyPr/>
          <a:lstStyle/>
          <a:p>
            <a:endParaRPr lang="en-CA"/>
          </a:p>
        </p:txBody>
      </p:sp>
      <p:sp>
        <p:nvSpPr>
          <p:cNvPr id="70" name="Text 65"/>
          <p:cNvSpPr/>
          <p:nvPr/>
        </p:nvSpPr>
        <p:spPr>
          <a:xfrm>
            <a:off x="566928" y="35217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ChaCha20</a:t>
            </a:r>
            <a:endParaRPr lang="en-US" sz="900" dirty="0"/>
          </a:p>
        </p:txBody>
      </p:sp>
      <p:sp>
        <p:nvSpPr>
          <p:cNvPr id="71" name="Shape 66"/>
          <p:cNvSpPr/>
          <p:nvPr/>
        </p:nvSpPr>
        <p:spPr>
          <a:xfrm>
            <a:off x="1444752" y="3594888"/>
            <a:ext cx="0" cy="310896"/>
          </a:xfrm>
          <a:prstGeom prst="line">
            <a:avLst/>
          </a:prstGeom>
          <a:noFill/>
          <a:ln w="5080">
            <a:solidFill>
              <a:srgbClr val="EEEEEE"/>
            </a:solidFill>
            <a:prstDash val="solid"/>
          </a:ln>
        </p:spPr>
        <p:txBody>
          <a:bodyPr/>
          <a:lstStyle/>
          <a:p>
            <a:endParaRPr lang="en-CA"/>
          </a:p>
        </p:txBody>
      </p:sp>
      <p:sp>
        <p:nvSpPr>
          <p:cNvPr id="72" name="Text 67"/>
          <p:cNvSpPr/>
          <p:nvPr/>
        </p:nvSpPr>
        <p:spPr>
          <a:xfrm>
            <a:off x="1554480" y="3521736"/>
            <a:ext cx="208483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Vecteur RFC 8439 et validation via le wrapper</a:t>
            </a:r>
            <a:endParaRPr lang="en-US" sz="750" dirty="0"/>
          </a:p>
        </p:txBody>
      </p:sp>
      <p:sp>
        <p:nvSpPr>
          <p:cNvPr id="73" name="Shape 68"/>
          <p:cNvSpPr/>
          <p:nvPr/>
        </p:nvSpPr>
        <p:spPr>
          <a:xfrm>
            <a:off x="3694176" y="3594888"/>
            <a:ext cx="0" cy="310896"/>
          </a:xfrm>
          <a:prstGeom prst="line">
            <a:avLst/>
          </a:prstGeom>
          <a:noFill/>
          <a:ln w="5080">
            <a:solidFill>
              <a:srgbClr val="EEEEEE"/>
            </a:solidFill>
            <a:prstDash val="solid"/>
          </a:ln>
        </p:spPr>
        <p:txBody>
          <a:bodyPr/>
          <a:lstStyle/>
          <a:p>
            <a:endParaRPr lang="en-CA"/>
          </a:p>
        </p:txBody>
      </p:sp>
      <p:sp>
        <p:nvSpPr>
          <p:cNvPr id="74" name="Text 69"/>
          <p:cNvSpPr/>
          <p:nvPr/>
        </p:nvSpPr>
        <p:spPr>
          <a:xfrm>
            <a:off x="3803904" y="3521736"/>
            <a:ext cx="2176272" cy="457200"/>
          </a:xfrm>
          <a:prstGeom prst="rect">
            <a:avLst/>
          </a:prstGeom>
          <a:noFill/>
          <a:ln/>
        </p:spPr>
        <p:txBody>
          <a:bodyPr wrap="square" lIns="0" tIns="0" rIns="0" bIns="0" rtlCol="0" anchor="ctr"/>
          <a:lstStyle/>
          <a:p>
            <a:pPr marL="0" indent="0">
              <a:lnSpc>
                <a:spcPct val="120000"/>
              </a:lnSpc>
              <a:buNone/>
            </a:pPr>
            <a:r>
              <a:rPr lang="en-US" sz="750" dirty="0">
                <a:solidFill>
                  <a:srgbClr val="555555"/>
                </a:solidFill>
                <a:latin typeface="Calibri" pitchFamily="34" charset="0"/>
                <a:ea typeface="Calibri" pitchFamily="34" charset="-122"/>
                <a:cs typeface="Calibri" pitchFamily="34" charset="-120"/>
              </a:rPr>
              <a:t>Couvrir la conformité normative et l'intégration dans le projet</a:t>
            </a:r>
            <a:endParaRPr lang="en-US" sz="750" dirty="0"/>
          </a:p>
        </p:txBody>
      </p:sp>
      <p:sp>
        <p:nvSpPr>
          <p:cNvPr id="75" name="Shape 70"/>
          <p:cNvSpPr/>
          <p:nvPr/>
        </p:nvSpPr>
        <p:spPr>
          <a:xfrm>
            <a:off x="6035040" y="3594888"/>
            <a:ext cx="0" cy="310896"/>
          </a:xfrm>
          <a:prstGeom prst="line">
            <a:avLst/>
          </a:prstGeom>
          <a:noFill/>
          <a:ln w="5080">
            <a:solidFill>
              <a:srgbClr val="EEEEEE"/>
            </a:solidFill>
            <a:prstDash val="solid"/>
          </a:ln>
        </p:spPr>
        <p:txBody>
          <a:bodyPr/>
          <a:lstStyle/>
          <a:p>
            <a:endParaRPr lang="en-CA"/>
          </a:p>
        </p:txBody>
      </p:sp>
      <p:sp>
        <p:nvSpPr>
          <p:cNvPr id="76" name="Text 71"/>
          <p:cNvSpPr/>
          <p:nvPr/>
        </p:nvSpPr>
        <p:spPr>
          <a:xfrm>
            <a:off x="6144768" y="3521736"/>
            <a:ext cx="2596896" cy="457200"/>
          </a:xfrm>
          <a:prstGeom prst="rect">
            <a:avLst/>
          </a:prstGeom>
          <a:noFill/>
          <a:ln/>
        </p:spPr>
        <p:txBody>
          <a:bodyPr wrap="square" lIns="0" tIns="0" rIns="0" bIns="0" rtlCol="0" anchor="ctr"/>
          <a:lstStyle/>
          <a:p>
            <a:pPr marL="0" indent="0">
              <a:lnSpc>
                <a:spcPct val="120000"/>
              </a:lnSpc>
              <a:buNone/>
            </a:pPr>
            <a:r>
              <a:rPr lang="fr-FR" sz="750" dirty="0">
                <a:solidFill>
                  <a:srgbClr val="555555"/>
                </a:solidFill>
                <a:latin typeface="Calibri" pitchFamily="34" charset="0"/>
                <a:ea typeface="Calibri" pitchFamily="34" charset="-122"/>
                <a:cs typeface="Calibri" pitchFamily="34" charset="-120"/>
              </a:rPr>
              <a:t>Conformité du vecteur normatif et de son intégration dans l’implémentation</a:t>
            </a:r>
            <a:endParaRPr lang="en-US" sz="750" dirty="0"/>
          </a:p>
        </p:txBody>
      </p:sp>
      <p:sp>
        <p:nvSpPr>
          <p:cNvPr id="77" name="Shape 72"/>
          <p:cNvSpPr/>
          <p:nvPr/>
        </p:nvSpPr>
        <p:spPr>
          <a:xfrm>
            <a:off x="475488" y="3978936"/>
            <a:ext cx="8321040" cy="457200"/>
          </a:xfrm>
          <a:prstGeom prst="rect">
            <a:avLst/>
          </a:prstGeom>
          <a:solidFill>
            <a:srgbClr val="FAFAFA"/>
          </a:solidFill>
          <a:ln w="12700">
            <a:solidFill>
              <a:srgbClr val="FAFAFA"/>
            </a:solidFill>
            <a:prstDash val="solid"/>
          </a:ln>
        </p:spPr>
        <p:txBody>
          <a:bodyPr/>
          <a:lstStyle/>
          <a:p>
            <a:endParaRPr lang="en-CA"/>
          </a:p>
        </p:txBody>
      </p:sp>
      <p:sp>
        <p:nvSpPr>
          <p:cNvPr id="78" name="Shape 73"/>
          <p:cNvSpPr/>
          <p:nvPr/>
        </p:nvSpPr>
        <p:spPr>
          <a:xfrm>
            <a:off x="475488" y="4436136"/>
            <a:ext cx="8321040" cy="0"/>
          </a:xfrm>
          <a:prstGeom prst="line">
            <a:avLst/>
          </a:prstGeom>
          <a:noFill/>
          <a:ln w="5080">
            <a:solidFill>
              <a:srgbClr val="F2F2F2"/>
            </a:solidFill>
            <a:prstDash val="solid"/>
          </a:ln>
        </p:spPr>
        <p:txBody>
          <a:bodyPr/>
          <a:lstStyle/>
          <a:p>
            <a:endParaRPr lang="en-CA"/>
          </a:p>
        </p:txBody>
      </p:sp>
      <p:sp>
        <p:nvSpPr>
          <p:cNvPr id="79" name="Shape 74"/>
          <p:cNvSpPr/>
          <p:nvPr/>
        </p:nvSpPr>
        <p:spPr>
          <a:xfrm>
            <a:off x="475488" y="3978936"/>
            <a:ext cx="36576" cy="457200"/>
          </a:xfrm>
          <a:prstGeom prst="rect">
            <a:avLst/>
          </a:prstGeom>
          <a:solidFill>
            <a:srgbClr val="C9A84C"/>
          </a:solidFill>
          <a:ln w="12700">
            <a:solidFill>
              <a:srgbClr val="C9A84C"/>
            </a:solidFill>
            <a:prstDash val="solid"/>
          </a:ln>
        </p:spPr>
        <p:txBody>
          <a:bodyPr/>
          <a:lstStyle/>
          <a:p>
            <a:endParaRPr lang="en-CA"/>
          </a:p>
        </p:txBody>
      </p:sp>
      <p:sp>
        <p:nvSpPr>
          <p:cNvPr id="80" name="Text 75"/>
          <p:cNvSpPr/>
          <p:nvPr/>
        </p:nvSpPr>
        <p:spPr>
          <a:xfrm>
            <a:off x="566928" y="3978936"/>
            <a:ext cx="877824" cy="457200"/>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Twofish</a:t>
            </a:r>
            <a:endParaRPr lang="en-US" sz="900" dirty="0"/>
          </a:p>
        </p:txBody>
      </p:sp>
      <p:sp>
        <p:nvSpPr>
          <p:cNvPr id="81" name="Shape 76"/>
          <p:cNvSpPr/>
          <p:nvPr/>
        </p:nvSpPr>
        <p:spPr>
          <a:xfrm>
            <a:off x="1444752" y="4052088"/>
            <a:ext cx="0" cy="310896"/>
          </a:xfrm>
          <a:prstGeom prst="line">
            <a:avLst/>
          </a:prstGeom>
          <a:noFill/>
          <a:ln w="5080">
            <a:solidFill>
              <a:srgbClr val="EEEEEE"/>
            </a:solidFill>
            <a:prstDash val="solid"/>
          </a:ln>
        </p:spPr>
        <p:txBody>
          <a:bodyPr/>
          <a:lstStyle/>
          <a:p>
            <a:endParaRPr lang="en-CA"/>
          </a:p>
        </p:txBody>
      </p:sp>
      <p:sp>
        <p:nvSpPr>
          <p:cNvPr id="82" name="Text 77"/>
          <p:cNvSpPr/>
          <p:nvPr/>
        </p:nvSpPr>
        <p:spPr>
          <a:xfrm>
            <a:off x="1554480" y="3978936"/>
            <a:ext cx="2084832" cy="457200"/>
          </a:xfrm>
          <a:prstGeom prst="rect">
            <a:avLst/>
          </a:prstGeom>
          <a:noFill/>
          <a:ln/>
        </p:spPr>
        <p:txBody>
          <a:bodyPr wrap="square" lIns="0" tIns="0" rIns="0" bIns="0" rtlCol="0" anchor="ctr"/>
          <a:lstStyle/>
          <a:p>
            <a:pPr marL="0" indent="0">
              <a:lnSpc>
                <a:spcPct val="120000"/>
              </a:lnSpc>
              <a:buNone/>
            </a:pPr>
            <a:r>
              <a:rPr lang="fr-FR" sz="750" dirty="0">
                <a:solidFill>
                  <a:srgbClr val="555555"/>
                </a:solidFill>
                <a:latin typeface="Calibri" pitchFamily="34" charset="0"/>
                <a:ea typeface="Calibri" pitchFamily="34" charset="-122"/>
                <a:cs typeface="Calibri" pitchFamily="34" charset="-120"/>
              </a:rPr>
              <a:t>Deux cas par famille VK, VT et TBL en mode ECB</a:t>
            </a:r>
            <a:endParaRPr lang="en-US" sz="750" dirty="0"/>
          </a:p>
        </p:txBody>
      </p:sp>
      <p:sp>
        <p:nvSpPr>
          <p:cNvPr id="83" name="Shape 78"/>
          <p:cNvSpPr/>
          <p:nvPr/>
        </p:nvSpPr>
        <p:spPr>
          <a:xfrm>
            <a:off x="3694176" y="4052088"/>
            <a:ext cx="0" cy="310896"/>
          </a:xfrm>
          <a:prstGeom prst="line">
            <a:avLst/>
          </a:prstGeom>
          <a:noFill/>
          <a:ln w="5080">
            <a:solidFill>
              <a:srgbClr val="EEEEEE"/>
            </a:solidFill>
            <a:prstDash val="solid"/>
          </a:ln>
        </p:spPr>
        <p:txBody>
          <a:bodyPr/>
          <a:lstStyle/>
          <a:p>
            <a:endParaRPr lang="en-CA"/>
          </a:p>
        </p:txBody>
      </p:sp>
      <p:sp>
        <p:nvSpPr>
          <p:cNvPr id="84" name="Text 79"/>
          <p:cNvSpPr/>
          <p:nvPr/>
        </p:nvSpPr>
        <p:spPr>
          <a:xfrm>
            <a:off x="3803904" y="3978936"/>
            <a:ext cx="2176272" cy="457200"/>
          </a:xfrm>
          <a:prstGeom prst="rect">
            <a:avLst/>
          </a:prstGeom>
          <a:noFill/>
          <a:ln/>
        </p:spPr>
        <p:txBody>
          <a:bodyPr wrap="square" lIns="0" tIns="0" rIns="0" bIns="0" rtlCol="0" anchor="ctr"/>
          <a:lstStyle/>
          <a:p>
            <a:pPr marL="0" indent="0">
              <a:lnSpc>
                <a:spcPct val="120000"/>
              </a:lnSpc>
              <a:buNone/>
            </a:pPr>
            <a:r>
              <a:rPr lang="fr-FR" sz="750" dirty="0">
                <a:solidFill>
                  <a:srgbClr val="555555"/>
                </a:solidFill>
                <a:latin typeface="Calibri" pitchFamily="34" charset="0"/>
                <a:ea typeface="Calibri" pitchFamily="34" charset="-122"/>
                <a:cs typeface="Calibri" pitchFamily="34" charset="-120"/>
              </a:rPr>
              <a:t>Couvrir VK, VT et TBL avec un échantillonnage représentatif sans exécuter le corpus complet</a:t>
            </a:r>
            <a:endParaRPr lang="en-US" sz="750" dirty="0"/>
          </a:p>
        </p:txBody>
      </p:sp>
      <p:sp>
        <p:nvSpPr>
          <p:cNvPr id="85" name="Shape 80"/>
          <p:cNvSpPr/>
          <p:nvPr/>
        </p:nvSpPr>
        <p:spPr>
          <a:xfrm>
            <a:off x="6035040" y="4052088"/>
            <a:ext cx="0" cy="310896"/>
          </a:xfrm>
          <a:prstGeom prst="line">
            <a:avLst/>
          </a:prstGeom>
          <a:noFill/>
          <a:ln w="5080">
            <a:solidFill>
              <a:srgbClr val="EEEEEE"/>
            </a:solidFill>
            <a:prstDash val="solid"/>
          </a:ln>
        </p:spPr>
        <p:txBody>
          <a:bodyPr/>
          <a:lstStyle/>
          <a:p>
            <a:endParaRPr lang="en-CA"/>
          </a:p>
        </p:txBody>
      </p:sp>
      <p:sp>
        <p:nvSpPr>
          <p:cNvPr id="86" name="Text 81"/>
          <p:cNvSpPr/>
          <p:nvPr/>
        </p:nvSpPr>
        <p:spPr>
          <a:xfrm>
            <a:off x="6144768" y="3978936"/>
            <a:ext cx="2596896" cy="457200"/>
          </a:xfrm>
          <a:prstGeom prst="rect">
            <a:avLst/>
          </a:prstGeom>
          <a:noFill/>
          <a:ln/>
        </p:spPr>
        <p:txBody>
          <a:bodyPr wrap="square" lIns="0" tIns="0" rIns="0" bIns="0" rtlCol="0" anchor="ctr"/>
          <a:lstStyle/>
          <a:p>
            <a:pPr marL="0" indent="0">
              <a:lnSpc>
                <a:spcPct val="120000"/>
              </a:lnSpc>
              <a:buNone/>
            </a:pPr>
            <a:r>
              <a:rPr lang="fr-FR" sz="750" dirty="0">
                <a:solidFill>
                  <a:srgbClr val="555555"/>
                </a:solidFill>
                <a:latin typeface="Calibri" pitchFamily="34" charset="0"/>
                <a:ea typeface="Calibri" pitchFamily="34" charset="-122"/>
                <a:cs typeface="Calibri" pitchFamily="34" charset="-120"/>
              </a:rPr>
              <a:t>Conformité vérifiée sur les familles VK, VT et TBL dans la campagne KAT actuelle</a:t>
            </a:r>
          </a:p>
        </p:txBody>
      </p:sp>
      <p:sp>
        <p:nvSpPr>
          <p:cNvPr id="87" name="Text 82"/>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6" name="TextBox 5">
            <a:extLst>
              <a:ext uri="{FF2B5EF4-FFF2-40B4-BE49-F238E27FC236}">
                <a16:creationId xmlns:a16="http://schemas.microsoft.com/office/drawing/2014/main" id="{6FF5DFA4-ADF6-6CF7-2C69-EDFFEB58C95F}"/>
              </a:ext>
            </a:extLst>
          </p:cNvPr>
          <p:cNvSpPr txBox="1"/>
          <p:nvPr/>
        </p:nvSpPr>
        <p:spPr>
          <a:xfrm>
            <a:off x="2811293" y="4450693"/>
            <a:ext cx="4572000" cy="223138"/>
          </a:xfrm>
          <a:prstGeom prst="rect">
            <a:avLst/>
          </a:prstGeom>
          <a:noFill/>
        </p:spPr>
        <p:txBody>
          <a:bodyPr wrap="square">
            <a:spAutoFit/>
          </a:bodyPr>
          <a:lstStyle/>
          <a:p>
            <a:r>
              <a:rPr lang="en-CA" sz="850" i="1" dirty="0">
                <a:solidFill>
                  <a:srgbClr val="C0C0C0"/>
                </a:solidFill>
                <a:latin typeface="Calibri" pitchFamily="34" charset="0"/>
                <a:cs typeface="Calibri" pitchFamily="34" charset="-120"/>
              </a:rPr>
              <a:t>Cette slide </a:t>
            </a:r>
            <a:r>
              <a:rPr lang="en-CA" sz="850" i="1" dirty="0" err="1">
                <a:solidFill>
                  <a:srgbClr val="C0C0C0"/>
                </a:solidFill>
                <a:latin typeface="Calibri" pitchFamily="34" charset="0"/>
                <a:cs typeface="Calibri" pitchFamily="34" charset="-120"/>
              </a:rPr>
              <a:t>décrit</a:t>
            </a:r>
            <a:r>
              <a:rPr lang="en-CA" sz="850" i="1" dirty="0">
                <a:solidFill>
                  <a:srgbClr val="C0C0C0"/>
                </a:solidFill>
                <a:latin typeface="Calibri" pitchFamily="34" charset="0"/>
                <a:cs typeface="Calibri" pitchFamily="34" charset="-120"/>
              </a:rPr>
              <a:t> le </a:t>
            </a:r>
            <a:r>
              <a:rPr lang="en-CA" sz="850" i="1" dirty="0" err="1">
                <a:solidFill>
                  <a:srgbClr val="C0C0C0"/>
                </a:solidFill>
                <a:latin typeface="Calibri" pitchFamily="34" charset="0"/>
                <a:cs typeface="Calibri" pitchFamily="34" charset="-120"/>
              </a:rPr>
              <a:t>périmètre</a:t>
            </a:r>
            <a:r>
              <a:rPr lang="en-CA" sz="850" i="1" dirty="0">
                <a:solidFill>
                  <a:srgbClr val="C0C0C0"/>
                </a:solidFill>
                <a:latin typeface="Calibri" pitchFamily="34" charset="0"/>
                <a:cs typeface="Calibri" pitchFamily="34" charset="-120"/>
              </a:rPr>
              <a:t> </a:t>
            </a:r>
            <a:r>
              <a:rPr lang="en-CA" sz="850" i="1" dirty="0" err="1">
                <a:solidFill>
                  <a:srgbClr val="C0C0C0"/>
                </a:solidFill>
                <a:latin typeface="Calibri" pitchFamily="34" charset="0"/>
                <a:cs typeface="Calibri" pitchFamily="34" charset="-120"/>
              </a:rPr>
              <a:t>retenu</a:t>
            </a:r>
            <a:r>
              <a:rPr lang="en-CA" sz="850" i="1" dirty="0">
                <a:solidFill>
                  <a:srgbClr val="C0C0C0"/>
                </a:solidFill>
                <a:latin typeface="Calibri" pitchFamily="34" charset="0"/>
                <a:cs typeface="Calibri" pitchFamily="34" charset="-120"/>
              </a:rPr>
              <a:t>, pas </a:t>
            </a:r>
            <a:r>
              <a:rPr lang="en-CA" sz="850" i="1" dirty="0" err="1">
                <a:solidFill>
                  <a:srgbClr val="C0C0C0"/>
                </a:solidFill>
                <a:latin typeface="Calibri" pitchFamily="34" charset="0"/>
                <a:cs typeface="Calibri" pitchFamily="34" charset="-120"/>
              </a:rPr>
              <a:t>une</a:t>
            </a:r>
            <a:r>
              <a:rPr lang="en-CA" sz="850" i="1" dirty="0">
                <a:solidFill>
                  <a:srgbClr val="C0C0C0"/>
                </a:solidFill>
                <a:latin typeface="Calibri" pitchFamily="34" charset="0"/>
                <a:cs typeface="Calibri" pitchFamily="34" charset="-120"/>
              </a:rPr>
              <a:t> </a:t>
            </a:r>
            <a:r>
              <a:rPr lang="en-CA" sz="850" i="1" dirty="0" err="1">
                <a:solidFill>
                  <a:srgbClr val="C0C0C0"/>
                </a:solidFill>
                <a:latin typeface="Calibri" pitchFamily="34" charset="0"/>
                <a:cs typeface="Calibri" pitchFamily="34" charset="-120"/>
              </a:rPr>
              <a:t>exhaustivité</a:t>
            </a:r>
            <a:r>
              <a:rPr lang="en-CA" sz="850" i="1" dirty="0">
                <a:solidFill>
                  <a:srgbClr val="C0C0C0"/>
                </a:solidFill>
                <a:latin typeface="Calibri" pitchFamily="34" charset="0"/>
                <a:cs typeface="Calibri" pitchFamily="34" charset="-120"/>
              </a:rPr>
              <a:t> </a:t>
            </a:r>
            <a:r>
              <a:rPr lang="en-CA" sz="850" i="1" dirty="0" err="1">
                <a:solidFill>
                  <a:srgbClr val="C0C0C0"/>
                </a:solidFill>
                <a:latin typeface="Calibri" pitchFamily="34" charset="0"/>
                <a:cs typeface="Calibri" pitchFamily="34" charset="-120"/>
              </a:rPr>
              <a:t>totale</a:t>
            </a:r>
            <a:r>
              <a:rPr lang="en-CA" sz="850" i="1" dirty="0">
                <a:solidFill>
                  <a:srgbClr val="C0C0C0"/>
                </a:solidFill>
                <a:latin typeface="Calibri" pitchFamily="34" charset="0"/>
                <a:cs typeface="Calibri" pitchFamily="34" charset="-120"/>
              </a:rPr>
              <a:t> de </a:t>
            </a:r>
            <a:r>
              <a:rPr lang="en-CA" sz="850" i="1" dirty="0" err="1">
                <a:solidFill>
                  <a:srgbClr val="C0C0C0"/>
                </a:solidFill>
                <a:latin typeface="Calibri" pitchFamily="34" charset="0"/>
                <a:cs typeface="Calibri" pitchFamily="34" charset="-120"/>
              </a:rPr>
              <a:t>tous</a:t>
            </a:r>
            <a:r>
              <a:rPr lang="en-CA" sz="850" i="1" dirty="0">
                <a:solidFill>
                  <a:srgbClr val="C0C0C0"/>
                </a:solidFill>
                <a:latin typeface="Calibri" pitchFamily="34" charset="0"/>
                <a:cs typeface="Calibri" pitchFamily="34" charset="-120"/>
              </a:rPr>
              <a:t> les </a:t>
            </a:r>
            <a:r>
              <a:rPr lang="en-CA" sz="850" i="1" dirty="0" err="1">
                <a:solidFill>
                  <a:srgbClr val="C0C0C0"/>
                </a:solidFill>
                <a:latin typeface="Calibri" pitchFamily="34" charset="0"/>
                <a:cs typeface="Calibri" pitchFamily="34" charset="-120"/>
              </a:rPr>
              <a:t>vecteurs</a:t>
            </a:r>
            <a:r>
              <a:rPr lang="en-CA" sz="850" i="1" dirty="0">
                <a:solidFill>
                  <a:srgbClr val="C0C0C0"/>
                </a:solidFill>
                <a:latin typeface="Calibri" pitchFamily="34" charset="0"/>
                <a:cs typeface="Calibri" pitchFamily="34" charset="-12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03c  ·  VALIDATION CRYPTOGRAPHIQUE— KAT</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Vecteur de test </a:t>
            </a:r>
            <a:r>
              <a:rPr lang="en-US" sz="1500" b="1" dirty="0">
                <a:solidFill>
                  <a:srgbClr val="C9A84C"/>
                </a:solidFill>
                <a:latin typeface="Calibri" pitchFamily="34" charset="0"/>
                <a:ea typeface="Calibri" pitchFamily="34" charset="-122"/>
                <a:cs typeface="Calibri" pitchFamily="34" charset="-120"/>
              </a:rPr>
              <a:t>et principe de vérification</a:t>
            </a:r>
            <a:endParaRPr lang="en-US" sz="1500" dirty="0"/>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6" name="Text 4"/>
          <p:cNvSpPr/>
          <p:nvPr/>
        </p:nvSpPr>
        <p:spPr>
          <a:xfrm>
            <a:off x="475488" y="4882896"/>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7" name="Shape 5"/>
          <p:cNvSpPr/>
          <p:nvPr/>
        </p:nvSpPr>
        <p:spPr>
          <a:xfrm>
            <a:off x="475488" y="877824"/>
            <a:ext cx="3840480" cy="1645920"/>
          </a:xfrm>
          <a:prstGeom prst="roundRect">
            <a:avLst>
              <a:gd name="adj" fmla="val 5556"/>
            </a:avLst>
          </a:prstGeom>
          <a:solidFill>
            <a:srgbClr val="FAFAFA"/>
          </a:solidFill>
          <a:ln w="7620">
            <a:solidFill>
              <a:srgbClr val="EEEEEE"/>
            </a:solidFill>
            <a:prstDash val="solid"/>
          </a:ln>
        </p:spPr>
        <p:txBody>
          <a:bodyPr/>
          <a:lstStyle/>
          <a:p>
            <a:endParaRPr lang="en-CA"/>
          </a:p>
        </p:txBody>
      </p:sp>
      <p:sp>
        <p:nvSpPr>
          <p:cNvPr id="8" name="Shape 6"/>
          <p:cNvSpPr/>
          <p:nvPr/>
        </p:nvSpPr>
        <p:spPr>
          <a:xfrm>
            <a:off x="475488" y="877824"/>
            <a:ext cx="3840480" cy="54864"/>
          </a:xfrm>
          <a:prstGeom prst="rect">
            <a:avLst/>
          </a:prstGeom>
          <a:solidFill>
            <a:srgbClr val="0A0A0A"/>
          </a:solidFill>
          <a:ln w="12700">
            <a:solidFill>
              <a:srgbClr val="0A0A0A"/>
            </a:solidFill>
            <a:prstDash val="solid"/>
          </a:ln>
        </p:spPr>
        <p:txBody>
          <a:bodyPr/>
          <a:lstStyle/>
          <a:p>
            <a:endParaRPr lang="en-CA"/>
          </a:p>
        </p:txBody>
      </p:sp>
      <p:sp>
        <p:nvSpPr>
          <p:cNvPr id="9" name="Text 7"/>
          <p:cNvSpPr/>
          <p:nvPr/>
        </p:nvSpPr>
        <p:spPr>
          <a:xfrm>
            <a:off x="621792" y="987552"/>
            <a:ext cx="3547872" cy="201168"/>
          </a:xfrm>
          <a:prstGeom prst="rect">
            <a:avLst/>
          </a:prstGeom>
          <a:noFill/>
          <a:ln/>
        </p:spPr>
        <p:txBody>
          <a:bodyPr wrap="square" lIns="0" tIns="0" rIns="0" bIns="0" rtlCol="0" anchor="ctr"/>
          <a:lstStyle/>
          <a:p>
            <a:pPr marL="0" indent="0">
              <a:buNone/>
            </a:pPr>
            <a:r>
              <a:rPr lang="en-US" sz="750" b="1" kern="0" spc="150" dirty="0">
                <a:solidFill>
                  <a:srgbClr val="C0C0C0"/>
                </a:solidFill>
                <a:latin typeface="Calibri" pitchFamily="34" charset="0"/>
                <a:ea typeface="Calibri" pitchFamily="34" charset="-122"/>
                <a:cs typeface="Calibri" pitchFamily="34" charset="-120"/>
              </a:rPr>
              <a:t>UN VECTEUR DE TEST ASSOCIE</a:t>
            </a:r>
            <a:endParaRPr lang="en-US" sz="750" dirty="0"/>
          </a:p>
        </p:txBody>
      </p:sp>
      <p:sp>
        <p:nvSpPr>
          <p:cNvPr id="10" name="Shape 8"/>
          <p:cNvSpPr/>
          <p:nvPr/>
        </p:nvSpPr>
        <p:spPr>
          <a:xfrm>
            <a:off x="637430" y="1362456"/>
            <a:ext cx="54864" cy="45719"/>
          </a:xfrm>
          <a:prstGeom prst="ellipse">
            <a:avLst/>
          </a:prstGeom>
          <a:solidFill>
            <a:srgbClr val="C9A84C"/>
          </a:solidFill>
          <a:ln w="12700">
            <a:solidFill>
              <a:srgbClr val="C9A84C"/>
            </a:solidFill>
            <a:prstDash val="solid"/>
          </a:ln>
        </p:spPr>
        <p:txBody>
          <a:bodyPr/>
          <a:lstStyle/>
          <a:p>
            <a:endParaRPr lang="en-CA"/>
          </a:p>
        </p:txBody>
      </p:sp>
      <p:sp>
        <p:nvSpPr>
          <p:cNvPr id="11" name="Text 9"/>
          <p:cNvSpPr/>
          <p:nvPr/>
        </p:nvSpPr>
        <p:spPr>
          <a:xfrm>
            <a:off x="786384" y="1261872"/>
            <a:ext cx="1463040" cy="274320"/>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Entrée connue</a:t>
            </a:r>
            <a:endParaRPr lang="en-US" sz="950" dirty="0"/>
          </a:p>
        </p:txBody>
      </p:sp>
      <p:sp>
        <p:nvSpPr>
          <p:cNvPr id="12" name="Text 10"/>
          <p:cNvSpPr/>
          <p:nvPr/>
        </p:nvSpPr>
        <p:spPr>
          <a:xfrm>
            <a:off x="2286000" y="1261872"/>
            <a:ext cx="219456" cy="274320"/>
          </a:xfrm>
          <a:prstGeom prst="rect">
            <a:avLst/>
          </a:prstGeom>
          <a:noFill/>
          <a:ln/>
        </p:spPr>
        <p:txBody>
          <a:bodyPr wrap="square" lIns="0" tIns="0" rIns="0" bIns="0" rtlCol="0" anchor="ctr"/>
          <a:lstStyle/>
          <a:p>
            <a:pPr marL="0" indent="0" algn="ctr">
              <a:buNone/>
            </a:pPr>
            <a:r>
              <a:rPr lang="en-US" sz="900" dirty="0">
                <a:solidFill>
                  <a:srgbClr val="C0C0C0"/>
                </a:solidFill>
                <a:latin typeface="Calibri" pitchFamily="34" charset="0"/>
                <a:ea typeface="Calibri" pitchFamily="34" charset="-122"/>
                <a:cs typeface="Calibri" pitchFamily="34" charset="-120"/>
              </a:rPr>
              <a:t>—</a:t>
            </a:r>
            <a:endParaRPr lang="en-US" sz="900" dirty="0"/>
          </a:p>
        </p:txBody>
      </p:sp>
      <p:sp>
        <p:nvSpPr>
          <p:cNvPr id="13" name="Text 11"/>
          <p:cNvSpPr/>
          <p:nvPr/>
        </p:nvSpPr>
        <p:spPr>
          <a:xfrm>
            <a:off x="2523744" y="1261872"/>
            <a:ext cx="1645920" cy="274320"/>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texte clair, données brutes</a:t>
            </a:r>
            <a:endParaRPr lang="en-US" sz="900" dirty="0"/>
          </a:p>
        </p:txBody>
      </p:sp>
      <p:sp>
        <p:nvSpPr>
          <p:cNvPr id="15" name="Text 13"/>
          <p:cNvSpPr/>
          <p:nvPr/>
        </p:nvSpPr>
        <p:spPr>
          <a:xfrm>
            <a:off x="786384" y="1645920"/>
            <a:ext cx="1463040" cy="274320"/>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Paramètres fixés</a:t>
            </a:r>
            <a:endParaRPr lang="en-US" sz="950" dirty="0"/>
          </a:p>
        </p:txBody>
      </p:sp>
      <p:sp>
        <p:nvSpPr>
          <p:cNvPr id="16" name="Text 14"/>
          <p:cNvSpPr/>
          <p:nvPr/>
        </p:nvSpPr>
        <p:spPr>
          <a:xfrm>
            <a:off x="2286000" y="1645920"/>
            <a:ext cx="219456" cy="274320"/>
          </a:xfrm>
          <a:prstGeom prst="rect">
            <a:avLst/>
          </a:prstGeom>
          <a:noFill/>
          <a:ln/>
        </p:spPr>
        <p:txBody>
          <a:bodyPr wrap="square" lIns="0" tIns="0" rIns="0" bIns="0" rtlCol="0" anchor="ctr"/>
          <a:lstStyle/>
          <a:p>
            <a:pPr marL="0" indent="0" algn="ctr">
              <a:buNone/>
            </a:pPr>
            <a:r>
              <a:rPr lang="en-US" sz="900" dirty="0">
                <a:solidFill>
                  <a:srgbClr val="C0C0C0"/>
                </a:solidFill>
                <a:latin typeface="Calibri" pitchFamily="34" charset="0"/>
                <a:ea typeface="Calibri" pitchFamily="34" charset="-122"/>
                <a:cs typeface="Calibri" pitchFamily="34" charset="-120"/>
              </a:rPr>
              <a:t>—</a:t>
            </a:r>
            <a:endParaRPr lang="en-US" sz="900" dirty="0"/>
          </a:p>
        </p:txBody>
      </p:sp>
      <p:sp>
        <p:nvSpPr>
          <p:cNvPr id="17" name="Text 15"/>
          <p:cNvSpPr/>
          <p:nvPr/>
        </p:nvSpPr>
        <p:spPr>
          <a:xfrm>
            <a:off x="2523744" y="1645920"/>
            <a:ext cx="1645920" cy="274320"/>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clé, IV, nonce, mode, taille</a:t>
            </a:r>
            <a:endParaRPr lang="en-US" sz="900" dirty="0"/>
          </a:p>
        </p:txBody>
      </p:sp>
      <p:sp>
        <p:nvSpPr>
          <p:cNvPr id="19" name="Text 17"/>
          <p:cNvSpPr/>
          <p:nvPr/>
        </p:nvSpPr>
        <p:spPr>
          <a:xfrm>
            <a:off x="786384" y="2029968"/>
            <a:ext cx="1463040" cy="274320"/>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Sortie attendue</a:t>
            </a:r>
            <a:endParaRPr lang="en-US" sz="950" dirty="0"/>
          </a:p>
        </p:txBody>
      </p:sp>
      <p:sp>
        <p:nvSpPr>
          <p:cNvPr id="20" name="Text 18"/>
          <p:cNvSpPr/>
          <p:nvPr/>
        </p:nvSpPr>
        <p:spPr>
          <a:xfrm>
            <a:off x="2286000" y="2029968"/>
            <a:ext cx="219456" cy="274320"/>
          </a:xfrm>
          <a:prstGeom prst="rect">
            <a:avLst/>
          </a:prstGeom>
          <a:noFill/>
          <a:ln/>
        </p:spPr>
        <p:txBody>
          <a:bodyPr wrap="square" lIns="0" tIns="0" rIns="0" bIns="0" rtlCol="0" anchor="ctr"/>
          <a:lstStyle/>
          <a:p>
            <a:pPr marL="0" indent="0" algn="ctr">
              <a:buNone/>
            </a:pPr>
            <a:r>
              <a:rPr lang="en-US" sz="900" dirty="0">
                <a:solidFill>
                  <a:srgbClr val="C0C0C0"/>
                </a:solidFill>
                <a:latin typeface="Calibri" pitchFamily="34" charset="0"/>
                <a:ea typeface="Calibri" pitchFamily="34" charset="-122"/>
                <a:cs typeface="Calibri" pitchFamily="34" charset="-120"/>
              </a:rPr>
              <a:t>—</a:t>
            </a:r>
            <a:endParaRPr lang="en-US" sz="900" dirty="0"/>
          </a:p>
        </p:txBody>
      </p:sp>
      <p:sp>
        <p:nvSpPr>
          <p:cNvPr id="21" name="Text 19"/>
          <p:cNvSpPr/>
          <p:nvPr/>
        </p:nvSpPr>
        <p:spPr>
          <a:xfrm>
            <a:off x="2523744" y="2029968"/>
            <a:ext cx="1645920" cy="274320"/>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valeur de référence normative</a:t>
            </a:r>
            <a:endParaRPr lang="en-US" sz="900" dirty="0"/>
          </a:p>
        </p:txBody>
      </p:sp>
      <p:sp>
        <p:nvSpPr>
          <p:cNvPr id="22" name="Shape 20"/>
          <p:cNvSpPr/>
          <p:nvPr/>
        </p:nvSpPr>
        <p:spPr>
          <a:xfrm>
            <a:off x="475488" y="2651760"/>
            <a:ext cx="3840480" cy="1920240"/>
          </a:xfrm>
          <a:prstGeom prst="roundRect">
            <a:avLst>
              <a:gd name="adj" fmla="val 4762"/>
            </a:avLst>
          </a:prstGeom>
          <a:solidFill>
            <a:srgbClr val="FAFAFA"/>
          </a:solidFill>
          <a:ln w="7620">
            <a:solidFill>
              <a:srgbClr val="EEEEEE"/>
            </a:solidFill>
            <a:prstDash val="solid"/>
          </a:ln>
        </p:spPr>
        <p:txBody>
          <a:bodyPr/>
          <a:lstStyle/>
          <a:p>
            <a:endParaRPr lang="en-CA"/>
          </a:p>
        </p:txBody>
      </p:sp>
      <p:sp>
        <p:nvSpPr>
          <p:cNvPr id="23" name="Shape 21"/>
          <p:cNvSpPr/>
          <p:nvPr/>
        </p:nvSpPr>
        <p:spPr>
          <a:xfrm>
            <a:off x="475488" y="2651760"/>
            <a:ext cx="3840480" cy="54864"/>
          </a:xfrm>
          <a:prstGeom prst="rect">
            <a:avLst/>
          </a:prstGeom>
          <a:solidFill>
            <a:srgbClr val="888888"/>
          </a:solidFill>
          <a:ln w="12700">
            <a:solidFill>
              <a:srgbClr val="888888"/>
            </a:solidFill>
            <a:prstDash val="solid"/>
          </a:ln>
        </p:spPr>
        <p:txBody>
          <a:bodyPr/>
          <a:lstStyle/>
          <a:p>
            <a:endParaRPr lang="en-CA"/>
          </a:p>
        </p:txBody>
      </p:sp>
      <p:sp>
        <p:nvSpPr>
          <p:cNvPr id="24" name="Text 22"/>
          <p:cNvSpPr/>
          <p:nvPr/>
        </p:nvSpPr>
        <p:spPr>
          <a:xfrm>
            <a:off x="621792" y="2761488"/>
            <a:ext cx="3547872" cy="201168"/>
          </a:xfrm>
          <a:prstGeom prst="rect">
            <a:avLst/>
          </a:prstGeom>
          <a:noFill/>
          <a:ln/>
        </p:spPr>
        <p:txBody>
          <a:bodyPr wrap="square" lIns="0" tIns="0" rIns="0" bIns="0" rtlCol="0" anchor="ctr"/>
          <a:lstStyle/>
          <a:p>
            <a:pPr marL="0" indent="0">
              <a:buNone/>
            </a:pPr>
            <a:r>
              <a:rPr lang="en-US" sz="750" b="1" kern="0" spc="150" dirty="0">
                <a:solidFill>
                  <a:srgbClr val="C0C0C0"/>
                </a:solidFill>
                <a:latin typeface="Calibri" pitchFamily="34" charset="0"/>
                <a:ea typeface="Calibri" pitchFamily="34" charset="-122"/>
                <a:cs typeface="Calibri" pitchFamily="34" charset="-120"/>
              </a:rPr>
              <a:t>LE PRINCIPE DE VÉRIFICATION</a:t>
            </a:r>
            <a:endParaRPr lang="en-US" sz="750" dirty="0"/>
          </a:p>
        </p:txBody>
      </p:sp>
      <p:sp>
        <p:nvSpPr>
          <p:cNvPr id="25" name="Shape 23"/>
          <p:cNvSpPr/>
          <p:nvPr/>
        </p:nvSpPr>
        <p:spPr>
          <a:xfrm>
            <a:off x="621792" y="3127248"/>
            <a:ext cx="219456" cy="219456"/>
          </a:xfrm>
          <a:prstGeom prst="ellipse">
            <a:avLst/>
          </a:prstGeom>
          <a:solidFill>
            <a:schemeClr val="bg2"/>
          </a:solidFill>
          <a:ln w="12700">
            <a:solidFill>
              <a:srgbClr val="888888"/>
            </a:solidFill>
            <a:prstDash val="solid"/>
          </a:ln>
        </p:spPr>
        <p:txBody>
          <a:bodyPr/>
          <a:lstStyle/>
          <a:p>
            <a:endParaRPr lang="en-CA"/>
          </a:p>
        </p:txBody>
      </p:sp>
      <p:sp>
        <p:nvSpPr>
          <p:cNvPr id="26" name="Text 24"/>
          <p:cNvSpPr/>
          <p:nvPr/>
        </p:nvSpPr>
        <p:spPr>
          <a:xfrm>
            <a:off x="621792" y="3127248"/>
            <a:ext cx="219456" cy="219456"/>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1</a:t>
            </a:r>
            <a:endParaRPr lang="en-US" sz="800" dirty="0"/>
          </a:p>
        </p:txBody>
      </p:sp>
      <p:sp>
        <p:nvSpPr>
          <p:cNvPr id="27" name="Text 25"/>
          <p:cNvSpPr/>
          <p:nvPr/>
        </p:nvSpPr>
        <p:spPr>
          <a:xfrm>
            <a:off x="950976" y="3011978"/>
            <a:ext cx="3236976" cy="438912"/>
          </a:xfrm>
          <a:prstGeom prst="rect">
            <a:avLst/>
          </a:prstGeom>
          <a:noFill/>
          <a:ln/>
        </p:spPr>
        <p:txBody>
          <a:bodyPr wrap="square" lIns="0" tIns="0" rIns="0" bIns="0" rtlCol="0" anchor="ctr"/>
          <a:lstStyle/>
          <a:p>
            <a:pPr marL="0" indent="0">
              <a:lnSpc>
                <a:spcPct val="130000"/>
              </a:lnSpc>
              <a:buNone/>
            </a:pPr>
            <a:r>
              <a:rPr lang="en-US" sz="900" dirty="0">
                <a:solidFill>
                  <a:srgbClr val="555555"/>
                </a:solidFill>
                <a:latin typeface="Calibri" pitchFamily="34" charset="0"/>
                <a:ea typeface="Calibri" pitchFamily="34" charset="-122"/>
                <a:cs typeface="Calibri" pitchFamily="34" charset="-120"/>
              </a:rPr>
              <a:t>L'implémentation chiffre ou déchiffre l'entrée.</a:t>
            </a:r>
            <a:endParaRPr lang="en-US" sz="900" dirty="0"/>
          </a:p>
        </p:txBody>
      </p:sp>
      <p:sp>
        <p:nvSpPr>
          <p:cNvPr id="28" name="Shape 26"/>
          <p:cNvSpPr/>
          <p:nvPr/>
        </p:nvSpPr>
        <p:spPr>
          <a:xfrm>
            <a:off x="621792" y="3602736"/>
            <a:ext cx="219456" cy="219456"/>
          </a:xfrm>
          <a:prstGeom prst="ellipse">
            <a:avLst/>
          </a:prstGeom>
          <a:solidFill>
            <a:schemeClr val="bg2"/>
          </a:solidFill>
          <a:ln w="12700">
            <a:solidFill>
              <a:srgbClr val="888888"/>
            </a:solidFill>
            <a:prstDash val="solid"/>
          </a:ln>
        </p:spPr>
        <p:txBody>
          <a:bodyPr/>
          <a:lstStyle/>
          <a:p>
            <a:endParaRPr lang="en-CA"/>
          </a:p>
        </p:txBody>
      </p:sp>
      <p:sp>
        <p:nvSpPr>
          <p:cNvPr id="29" name="Text 27"/>
          <p:cNvSpPr/>
          <p:nvPr/>
        </p:nvSpPr>
        <p:spPr>
          <a:xfrm>
            <a:off x="621792" y="3602736"/>
            <a:ext cx="219456" cy="219456"/>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2</a:t>
            </a:r>
            <a:endParaRPr lang="en-US" sz="800" dirty="0"/>
          </a:p>
        </p:txBody>
      </p:sp>
      <p:sp>
        <p:nvSpPr>
          <p:cNvPr id="30" name="Text 28"/>
          <p:cNvSpPr/>
          <p:nvPr/>
        </p:nvSpPr>
        <p:spPr>
          <a:xfrm>
            <a:off x="932688" y="3488575"/>
            <a:ext cx="3236976" cy="438912"/>
          </a:xfrm>
          <a:prstGeom prst="rect">
            <a:avLst/>
          </a:prstGeom>
          <a:noFill/>
          <a:ln/>
        </p:spPr>
        <p:txBody>
          <a:bodyPr wrap="square" lIns="0" tIns="0" rIns="0" bIns="0" rtlCol="0" anchor="ctr"/>
          <a:lstStyle/>
          <a:p>
            <a:pPr marL="0" indent="0">
              <a:lnSpc>
                <a:spcPct val="130000"/>
              </a:lnSpc>
              <a:buNone/>
            </a:pPr>
            <a:r>
              <a:rPr lang="en-US" sz="900" dirty="0">
                <a:solidFill>
                  <a:srgbClr val="555555"/>
                </a:solidFill>
                <a:latin typeface="Calibri" pitchFamily="34" charset="0"/>
                <a:ea typeface="Calibri" pitchFamily="34" charset="-122"/>
                <a:cs typeface="Calibri" pitchFamily="34" charset="-120"/>
              </a:rPr>
              <a:t>Le résultat obtenu est comparé bit à bit à la sortie attendue.</a:t>
            </a:r>
            <a:endParaRPr lang="en-US" sz="900" dirty="0"/>
          </a:p>
        </p:txBody>
      </p:sp>
      <p:sp>
        <p:nvSpPr>
          <p:cNvPr id="31" name="Shape 29"/>
          <p:cNvSpPr/>
          <p:nvPr/>
        </p:nvSpPr>
        <p:spPr>
          <a:xfrm>
            <a:off x="621792" y="4078224"/>
            <a:ext cx="219456" cy="219456"/>
          </a:xfrm>
          <a:prstGeom prst="ellipse">
            <a:avLst/>
          </a:prstGeom>
          <a:solidFill>
            <a:schemeClr val="bg2"/>
          </a:solidFill>
          <a:ln w="12700">
            <a:solidFill>
              <a:srgbClr val="888888"/>
            </a:solidFill>
            <a:prstDash val="solid"/>
          </a:ln>
        </p:spPr>
        <p:txBody>
          <a:bodyPr/>
          <a:lstStyle/>
          <a:p>
            <a:endParaRPr lang="en-CA"/>
          </a:p>
        </p:txBody>
      </p:sp>
      <p:sp>
        <p:nvSpPr>
          <p:cNvPr id="32" name="Text 30"/>
          <p:cNvSpPr/>
          <p:nvPr/>
        </p:nvSpPr>
        <p:spPr>
          <a:xfrm>
            <a:off x="621792" y="4078224"/>
            <a:ext cx="219456" cy="219456"/>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3</a:t>
            </a:r>
            <a:endParaRPr lang="en-US" sz="800" dirty="0"/>
          </a:p>
        </p:txBody>
      </p:sp>
      <p:sp>
        <p:nvSpPr>
          <p:cNvPr id="33" name="Text 31"/>
          <p:cNvSpPr/>
          <p:nvPr/>
        </p:nvSpPr>
        <p:spPr>
          <a:xfrm>
            <a:off x="950976" y="3959630"/>
            <a:ext cx="3236976" cy="438912"/>
          </a:xfrm>
          <a:prstGeom prst="rect">
            <a:avLst/>
          </a:prstGeom>
          <a:noFill/>
          <a:ln/>
        </p:spPr>
        <p:txBody>
          <a:bodyPr wrap="square" lIns="0" tIns="0" rIns="0" bIns="0" rtlCol="0" anchor="ctr"/>
          <a:lstStyle/>
          <a:p>
            <a:pPr marL="0" indent="0">
              <a:lnSpc>
                <a:spcPct val="130000"/>
              </a:lnSpc>
              <a:buNone/>
            </a:pPr>
            <a:r>
              <a:rPr lang="fr-FR" sz="900" dirty="0">
                <a:solidFill>
                  <a:srgbClr val="555555"/>
                </a:solidFill>
                <a:latin typeface="Calibri" pitchFamily="34" charset="0"/>
                <a:ea typeface="Calibri" pitchFamily="34" charset="-122"/>
                <a:cs typeface="Calibri" pitchFamily="34" charset="-120"/>
              </a:rPr>
              <a:t>Une égalité exacte valide la conformité au vecteur de référence</a:t>
            </a:r>
            <a:r>
              <a:rPr lang="en-US" sz="900" dirty="0">
                <a:solidFill>
                  <a:srgbClr val="555555"/>
                </a:solidFill>
                <a:latin typeface="Calibri" pitchFamily="34" charset="0"/>
                <a:ea typeface="Calibri" pitchFamily="34" charset="-122"/>
                <a:cs typeface="Calibri" pitchFamily="34" charset="-120"/>
              </a:rPr>
              <a:t>.</a:t>
            </a:r>
            <a:endParaRPr lang="en-US" sz="900" dirty="0"/>
          </a:p>
        </p:txBody>
      </p:sp>
      <p:sp>
        <p:nvSpPr>
          <p:cNvPr id="34" name="Shape 32"/>
          <p:cNvSpPr/>
          <p:nvPr/>
        </p:nvSpPr>
        <p:spPr>
          <a:xfrm>
            <a:off x="4443984" y="841248"/>
            <a:ext cx="0" cy="3730752"/>
          </a:xfrm>
          <a:prstGeom prst="line">
            <a:avLst/>
          </a:prstGeom>
          <a:noFill/>
          <a:ln w="10160">
            <a:solidFill>
              <a:srgbClr val="EBEBEB"/>
            </a:solidFill>
            <a:prstDash val="solid"/>
          </a:ln>
        </p:spPr>
        <p:txBody>
          <a:bodyPr/>
          <a:lstStyle/>
          <a:p>
            <a:endParaRPr lang="en-CA"/>
          </a:p>
        </p:txBody>
      </p:sp>
      <p:sp>
        <p:nvSpPr>
          <p:cNvPr id="35" name="Text 33"/>
          <p:cNvSpPr/>
          <p:nvPr/>
        </p:nvSpPr>
        <p:spPr>
          <a:xfrm>
            <a:off x="4626864" y="877824"/>
            <a:ext cx="4169664" cy="201168"/>
          </a:xfrm>
          <a:prstGeom prst="rect">
            <a:avLst/>
          </a:prstGeom>
          <a:noFill/>
          <a:ln/>
        </p:spPr>
        <p:txBody>
          <a:bodyPr wrap="square" lIns="0" tIns="0" rIns="0" bIns="0" rtlCol="0" anchor="ctr"/>
          <a:lstStyle/>
          <a:p>
            <a:pPr marL="0" indent="0">
              <a:buNone/>
            </a:pPr>
            <a:r>
              <a:rPr lang="en-US" sz="750" b="1" kern="0" spc="150" dirty="0">
                <a:solidFill>
                  <a:srgbClr val="C0C0C0"/>
                </a:solidFill>
                <a:latin typeface="Calibri" pitchFamily="34" charset="0"/>
                <a:ea typeface="Calibri" pitchFamily="34" charset="-122"/>
                <a:cs typeface="Calibri" pitchFamily="34" charset="-120"/>
              </a:rPr>
              <a:t>EXEMPLE CONCRET — AES-128 ECB</a:t>
            </a:r>
            <a:endParaRPr lang="en-US" sz="750" dirty="0"/>
          </a:p>
        </p:txBody>
      </p:sp>
      <p:sp>
        <p:nvSpPr>
          <p:cNvPr id="36" name="Shape 34"/>
          <p:cNvSpPr/>
          <p:nvPr/>
        </p:nvSpPr>
        <p:spPr>
          <a:xfrm>
            <a:off x="4590289" y="1325190"/>
            <a:ext cx="4169664" cy="420624"/>
          </a:xfrm>
          <a:prstGeom prst="roundRect">
            <a:avLst>
              <a:gd name="adj" fmla="val 13043"/>
            </a:avLst>
          </a:prstGeom>
          <a:solidFill>
            <a:srgbClr val="FAFAFA"/>
          </a:solidFill>
          <a:ln w="6350">
            <a:solidFill>
              <a:srgbClr val="EEEEEE"/>
            </a:solidFill>
            <a:prstDash val="solid"/>
          </a:ln>
        </p:spPr>
        <p:txBody>
          <a:bodyPr/>
          <a:lstStyle/>
          <a:p>
            <a:endParaRPr lang="en-CA"/>
          </a:p>
        </p:txBody>
      </p:sp>
      <p:sp>
        <p:nvSpPr>
          <p:cNvPr id="37" name="Text 35"/>
          <p:cNvSpPr/>
          <p:nvPr/>
        </p:nvSpPr>
        <p:spPr>
          <a:xfrm>
            <a:off x="4700017" y="1325190"/>
            <a:ext cx="822960" cy="420624"/>
          </a:xfrm>
          <a:prstGeom prst="rect">
            <a:avLst/>
          </a:prstGeom>
          <a:noFill/>
          <a:ln/>
        </p:spPr>
        <p:txBody>
          <a:bodyPr wrap="square" lIns="0" tIns="0" rIns="0" bIns="0" rtlCol="0" anchor="ctr"/>
          <a:lstStyle/>
          <a:p>
            <a:pPr marL="0" indent="0">
              <a:buNone/>
            </a:pPr>
            <a:r>
              <a:rPr lang="en-US" sz="800" b="1" dirty="0">
                <a:solidFill>
                  <a:srgbClr val="888888"/>
                </a:solidFill>
                <a:latin typeface="Calibri" pitchFamily="34" charset="0"/>
                <a:ea typeface="Calibri" pitchFamily="34" charset="-122"/>
                <a:cs typeface="Calibri" pitchFamily="34" charset="-120"/>
              </a:rPr>
              <a:t>Entrée</a:t>
            </a:r>
            <a:endParaRPr lang="en-US" sz="800" dirty="0"/>
          </a:p>
        </p:txBody>
      </p:sp>
      <p:sp>
        <p:nvSpPr>
          <p:cNvPr id="38" name="Text 36"/>
          <p:cNvSpPr/>
          <p:nvPr/>
        </p:nvSpPr>
        <p:spPr>
          <a:xfrm>
            <a:off x="5559553" y="1325190"/>
            <a:ext cx="3090672" cy="420624"/>
          </a:xfrm>
          <a:prstGeom prst="rect">
            <a:avLst/>
          </a:prstGeom>
          <a:noFill/>
          <a:ln/>
        </p:spPr>
        <p:txBody>
          <a:bodyPr wrap="square" lIns="0" tIns="0" rIns="0" bIns="0" rtlCol="0" anchor="ctr"/>
          <a:lstStyle/>
          <a:p>
            <a:pPr marL="0" indent="0">
              <a:buNone/>
            </a:pPr>
            <a:r>
              <a:rPr lang="en-US" sz="750" dirty="0">
                <a:solidFill>
                  <a:srgbClr val="0A0A0A"/>
                </a:solidFill>
                <a:latin typeface="Courier New" pitchFamily="34" charset="0"/>
                <a:ea typeface="Courier New" pitchFamily="34" charset="-122"/>
                <a:cs typeface="Courier New" pitchFamily="34" charset="-120"/>
              </a:rPr>
              <a:t>00000000...00 (16 octets)</a:t>
            </a:r>
            <a:endParaRPr lang="en-US" sz="750" dirty="0"/>
          </a:p>
        </p:txBody>
      </p:sp>
      <p:sp>
        <p:nvSpPr>
          <p:cNvPr id="39" name="Shape 37"/>
          <p:cNvSpPr/>
          <p:nvPr/>
        </p:nvSpPr>
        <p:spPr>
          <a:xfrm>
            <a:off x="4590289" y="1818966"/>
            <a:ext cx="4169664" cy="420624"/>
          </a:xfrm>
          <a:prstGeom prst="roundRect">
            <a:avLst>
              <a:gd name="adj" fmla="val 13043"/>
            </a:avLst>
          </a:prstGeom>
          <a:solidFill>
            <a:srgbClr val="FAFAFA"/>
          </a:solidFill>
          <a:ln w="6350">
            <a:solidFill>
              <a:srgbClr val="EEEEEE"/>
            </a:solidFill>
            <a:prstDash val="solid"/>
          </a:ln>
        </p:spPr>
        <p:txBody>
          <a:bodyPr/>
          <a:lstStyle/>
          <a:p>
            <a:endParaRPr lang="en-CA"/>
          </a:p>
        </p:txBody>
      </p:sp>
      <p:sp>
        <p:nvSpPr>
          <p:cNvPr id="40" name="Text 38"/>
          <p:cNvSpPr/>
          <p:nvPr/>
        </p:nvSpPr>
        <p:spPr>
          <a:xfrm>
            <a:off x="4700017" y="1818966"/>
            <a:ext cx="822960" cy="420624"/>
          </a:xfrm>
          <a:prstGeom prst="rect">
            <a:avLst/>
          </a:prstGeom>
          <a:noFill/>
          <a:ln/>
        </p:spPr>
        <p:txBody>
          <a:bodyPr wrap="square" lIns="0" tIns="0" rIns="0" bIns="0" rtlCol="0" anchor="ctr"/>
          <a:lstStyle/>
          <a:p>
            <a:pPr marL="0" indent="0">
              <a:buNone/>
            </a:pPr>
            <a:r>
              <a:rPr lang="en-US" sz="800" b="1" dirty="0">
                <a:solidFill>
                  <a:srgbClr val="888888"/>
                </a:solidFill>
                <a:latin typeface="Calibri" pitchFamily="34" charset="0"/>
                <a:ea typeface="Calibri" pitchFamily="34" charset="-122"/>
                <a:cs typeface="Calibri" pitchFamily="34" charset="-120"/>
              </a:rPr>
              <a:t>Clé</a:t>
            </a:r>
            <a:endParaRPr lang="en-US" sz="800" dirty="0"/>
          </a:p>
        </p:txBody>
      </p:sp>
      <p:sp>
        <p:nvSpPr>
          <p:cNvPr id="41" name="Text 39"/>
          <p:cNvSpPr/>
          <p:nvPr/>
        </p:nvSpPr>
        <p:spPr>
          <a:xfrm>
            <a:off x="5559553" y="1818966"/>
            <a:ext cx="3090672" cy="420624"/>
          </a:xfrm>
          <a:prstGeom prst="rect">
            <a:avLst/>
          </a:prstGeom>
          <a:noFill/>
          <a:ln/>
        </p:spPr>
        <p:txBody>
          <a:bodyPr wrap="square" lIns="0" tIns="0" rIns="0" bIns="0" rtlCol="0" anchor="ctr"/>
          <a:lstStyle/>
          <a:p>
            <a:pPr marL="0" indent="0">
              <a:buNone/>
            </a:pPr>
            <a:r>
              <a:rPr lang="en-US" sz="750" dirty="0">
                <a:solidFill>
                  <a:srgbClr val="0A0A0A"/>
                </a:solidFill>
                <a:latin typeface="Courier New" pitchFamily="34" charset="0"/>
                <a:ea typeface="Courier New" pitchFamily="34" charset="-122"/>
                <a:cs typeface="Courier New" pitchFamily="34" charset="-120"/>
              </a:rPr>
              <a:t>00000000...00 (16 octets)</a:t>
            </a:r>
            <a:endParaRPr lang="en-US" sz="750" dirty="0"/>
          </a:p>
        </p:txBody>
      </p:sp>
      <p:sp>
        <p:nvSpPr>
          <p:cNvPr id="42" name="Shape 40"/>
          <p:cNvSpPr/>
          <p:nvPr/>
        </p:nvSpPr>
        <p:spPr>
          <a:xfrm>
            <a:off x="4590289" y="2312742"/>
            <a:ext cx="4169664" cy="420624"/>
          </a:xfrm>
          <a:prstGeom prst="roundRect">
            <a:avLst>
              <a:gd name="adj" fmla="val 13043"/>
            </a:avLst>
          </a:prstGeom>
          <a:solidFill>
            <a:srgbClr val="FAFAFA"/>
          </a:solidFill>
          <a:ln w="6350">
            <a:solidFill>
              <a:srgbClr val="EEEEEE"/>
            </a:solidFill>
            <a:prstDash val="solid"/>
          </a:ln>
        </p:spPr>
        <p:txBody>
          <a:bodyPr/>
          <a:lstStyle/>
          <a:p>
            <a:endParaRPr lang="en-CA"/>
          </a:p>
        </p:txBody>
      </p:sp>
      <p:sp>
        <p:nvSpPr>
          <p:cNvPr id="43" name="Text 41"/>
          <p:cNvSpPr/>
          <p:nvPr/>
        </p:nvSpPr>
        <p:spPr>
          <a:xfrm>
            <a:off x="4700017" y="2312742"/>
            <a:ext cx="822960" cy="420624"/>
          </a:xfrm>
          <a:prstGeom prst="rect">
            <a:avLst/>
          </a:prstGeom>
          <a:noFill/>
          <a:ln/>
        </p:spPr>
        <p:txBody>
          <a:bodyPr wrap="square" lIns="0" tIns="0" rIns="0" bIns="0" rtlCol="0" anchor="ctr"/>
          <a:lstStyle/>
          <a:p>
            <a:pPr marL="0" indent="0">
              <a:buNone/>
            </a:pPr>
            <a:r>
              <a:rPr lang="en-US" sz="800" b="1" dirty="0">
                <a:solidFill>
                  <a:srgbClr val="888888"/>
                </a:solidFill>
                <a:latin typeface="Calibri" pitchFamily="34" charset="0"/>
                <a:ea typeface="Calibri" pitchFamily="34" charset="-122"/>
                <a:cs typeface="Calibri" pitchFamily="34" charset="-120"/>
              </a:rPr>
              <a:t>Mode</a:t>
            </a:r>
            <a:endParaRPr lang="en-US" sz="800" dirty="0"/>
          </a:p>
        </p:txBody>
      </p:sp>
      <p:sp>
        <p:nvSpPr>
          <p:cNvPr id="44" name="Text 42"/>
          <p:cNvSpPr/>
          <p:nvPr/>
        </p:nvSpPr>
        <p:spPr>
          <a:xfrm>
            <a:off x="5559553" y="2312742"/>
            <a:ext cx="3090672" cy="420624"/>
          </a:xfrm>
          <a:prstGeom prst="rect">
            <a:avLst/>
          </a:prstGeom>
          <a:noFill/>
          <a:ln/>
        </p:spPr>
        <p:txBody>
          <a:bodyPr wrap="square" lIns="0" tIns="0" rIns="0" bIns="0" rtlCol="0" anchor="ctr"/>
          <a:lstStyle/>
          <a:p>
            <a:pPr marL="0" indent="0">
              <a:buNone/>
            </a:pPr>
            <a:r>
              <a:rPr lang="en-US" sz="900" dirty="0">
                <a:solidFill>
                  <a:srgbClr val="0A0A0A"/>
                </a:solidFill>
                <a:latin typeface="Calibri" pitchFamily="34" charset="0"/>
                <a:ea typeface="Calibri" pitchFamily="34" charset="-122"/>
                <a:cs typeface="Calibri" pitchFamily="34" charset="-120"/>
              </a:rPr>
              <a:t>ECB</a:t>
            </a:r>
            <a:endParaRPr lang="en-US" sz="900" dirty="0"/>
          </a:p>
        </p:txBody>
      </p:sp>
      <p:sp>
        <p:nvSpPr>
          <p:cNvPr id="45" name="Shape 43"/>
          <p:cNvSpPr/>
          <p:nvPr/>
        </p:nvSpPr>
        <p:spPr>
          <a:xfrm>
            <a:off x="4590289" y="2806518"/>
            <a:ext cx="4169664" cy="420624"/>
          </a:xfrm>
          <a:prstGeom prst="roundRect">
            <a:avLst>
              <a:gd name="adj" fmla="val 13043"/>
            </a:avLst>
          </a:prstGeom>
          <a:solidFill>
            <a:srgbClr val="FFFBF0"/>
          </a:solidFill>
          <a:ln w="6350">
            <a:solidFill>
              <a:srgbClr val="C9A84C"/>
            </a:solidFill>
            <a:prstDash val="solid"/>
          </a:ln>
        </p:spPr>
        <p:txBody>
          <a:bodyPr/>
          <a:lstStyle/>
          <a:p>
            <a:endParaRPr lang="en-CA"/>
          </a:p>
        </p:txBody>
      </p:sp>
      <p:sp>
        <p:nvSpPr>
          <p:cNvPr id="46" name="Text 44"/>
          <p:cNvSpPr/>
          <p:nvPr/>
        </p:nvSpPr>
        <p:spPr>
          <a:xfrm>
            <a:off x="4700017" y="2806518"/>
            <a:ext cx="822960" cy="420624"/>
          </a:xfrm>
          <a:prstGeom prst="rect">
            <a:avLst/>
          </a:prstGeom>
          <a:noFill/>
          <a:ln/>
        </p:spPr>
        <p:txBody>
          <a:bodyPr wrap="square" lIns="0" tIns="0" rIns="0" bIns="0" rtlCol="0" anchor="ctr"/>
          <a:lstStyle/>
          <a:p>
            <a:pPr marL="0" indent="0">
              <a:buNone/>
            </a:pPr>
            <a:r>
              <a:rPr lang="en-US" sz="800" b="1" dirty="0">
                <a:solidFill>
                  <a:srgbClr val="C9A84C"/>
                </a:solidFill>
                <a:latin typeface="Calibri" pitchFamily="34" charset="0"/>
                <a:ea typeface="Calibri" pitchFamily="34" charset="-122"/>
                <a:cs typeface="Calibri" pitchFamily="34" charset="-120"/>
              </a:rPr>
              <a:t>Attendu</a:t>
            </a:r>
            <a:endParaRPr lang="en-US" sz="800" dirty="0"/>
          </a:p>
        </p:txBody>
      </p:sp>
      <p:sp>
        <p:nvSpPr>
          <p:cNvPr id="47" name="Text 45"/>
          <p:cNvSpPr/>
          <p:nvPr/>
        </p:nvSpPr>
        <p:spPr>
          <a:xfrm>
            <a:off x="5559553" y="2806518"/>
            <a:ext cx="3090672" cy="420624"/>
          </a:xfrm>
          <a:prstGeom prst="rect">
            <a:avLst/>
          </a:prstGeom>
          <a:noFill/>
          <a:ln/>
        </p:spPr>
        <p:txBody>
          <a:bodyPr wrap="square" lIns="0" tIns="0" rIns="0" bIns="0" rtlCol="0" anchor="ctr"/>
          <a:lstStyle/>
          <a:p>
            <a:pPr marL="0" indent="0">
              <a:buNone/>
            </a:pPr>
            <a:r>
              <a:rPr lang="en-US" sz="750" dirty="0">
                <a:solidFill>
                  <a:srgbClr val="B8942A"/>
                </a:solidFill>
                <a:latin typeface="Courier New" pitchFamily="34" charset="0"/>
                <a:ea typeface="Courier New" pitchFamily="34" charset="-122"/>
                <a:cs typeface="Courier New" pitchFamily="34" charset="-120"/>
              </a:rPr>
              <a:t>66e94bd4ef8a2c3b884cfa59ca342b2e</a:t>
            </a:r>
            <a:endParaRPr lang="en-US" sz="750" dirty="0"/>
          </a:p>
        </p:txBody>
      </p:sp>
      <p:sp>
        <p:nvSpPr>
          <p:cNvPr id="48" name="Shape 46"/>
          <p:cNvSpPr/>
          <p:nvPr/>
        </p:nvSpPr>
        <p:spPr>
          <a:xfrm>
            <a:off x="4590289" y="3300294"/>
            <a:ext cx="4169664" cy="420624"/>
          </a:xfrm>
          <a:prstGeom prst="roundRect">
            <a:avLst>
              <a:gd name="adj" fmla="val 13043"/>
            </a:avLst>
          </a:prstGeom>
          <a:solidFill>
            <a:srgbClr val="FFFBF0"/>
          </a:solidFill>
          <a:ln w="6350">
            <a:solidFill>
              <a:srgbClr val="C9A84C"/>
            </a:solidFill>
            <a:prstDash val="solid"/>
          </a:ln>
        </p:spPr>
        <p:txBody>
          <a:bodyPr/>
          <a:lstStyle/>
          <a:p>
            <a:endParaRPr lang="en-CA"/>
          </a:p>
        </p:txBody>
      </p:sp>
      <p:sp>
        <p:nvSpPr>
          <p:cNvPr id="49" name="Text 47"/>
          <p:cNvSpPr/>
          <p:nvPr/>
        </p:nvSpPr>
        <p:spPr>
          <a:xfrm>
            <a:off x="4700017" y="3300294"/>
            <a:ext cx="822960" cy="420624"/>
          </a:xfrm>
          <a:prstGeom prst="rect">
            <a:avLst/>
          </a:prstGeom>
          <a:noFill/>
          <a:ln/>
        </p:spPr>
        <p:txBody>
          <a:bodyPr wrap="square" lIns="0" tIns="0" rIns="0" bIns="0" rtlCol="0" anchor="ctr"/>
          <a:lstStyle/>
          <a:p>
            <a:pPr marL="0" indent="0">
              <a:buNone/>
            </a:pPr>
            <a:r>
              <a:rPr lang="en-US" sz="800" b="1" dirty="0">
                <a:solidFill>
                  <a:srgbClr val="C9A84C"/>
                </a:solidFill>
                <a:latin typeface="Calibri" pitchFamily="34" charset="0"/>
                <a:cs typeface="Calibri" pitchFamily="34" charset="-120"/>
              </a:rPr>
              <a:t>Obtenu</a:t>
            </a:r>
          </a:p>
        </p:txBody>
      </p:sp>
      <p:sp>
        <p:nvSpPr>
          <p:cNvPr id="50" name="Text 48"/>
          <p:cNvSpPr/>
          <p:nvPr/>
        </p:nvSpPr>
        <p:spPr>
          <a:xfrm>
            <a:off x="5559553" y="3300294"/>
            <a:ext cx="3090672" cy="420624"/>
          </a:xfrm>
          <a:prstGeom prst="rect">
            <a:avLst/>
          </a:prstGeom>
          <a:noFill/>
          <a:ln/>
        </p:spPr>
        <p:txBody>
          <a:bodyPr wrap="square" lIns="0" tIns="0" rIns="0" bIns="0" rtlCol="0" anchor="ctr"/>
          <a:lstStyle/>
          <a:p>
            <a:pPr marL="0" indent="0">
              <a:buNone/>
            </a:pPr>
            <a:r>
              <a:rPr lang="en-US" sz="750" dirty="0">
                <a:solidFill>
                  <a:srgbClr val="B8942A"/>
                </a:solidFill>
                <a:latin typeface="Courier New" pitchFamily="34" charset="0"/>
                <a:cs typeface="Courier New" pitchFamily="34" charset="-120"/>
              </a:rPr>
              <a:t>66e94bd4ef8a2c3b884cfa59ca342b2e</a:t>
            </a:r>
          </a:p>
        </p:txBody>
      </p:sp>
      <p:sp>
        <p:nvSpPr>
          <p:cNvPr id="51" name="Shape 49"/>
          <p:cNvSpPr/>
          <p:nvPr/>
        </p:nvSpPr>
        <p:spPr>
          <a:xfrm>
            <a:off x="4590289" y="3794070"/>
            <a:ext cx="4169664" cy="420624"/>
          </a:xfrm>
          <a:prstGeom prst="roundRect">
            <a:avLst>
              <a:gd name="adj" fmla="val 13043"/>
            </a:avLst>
          </a:prstGeom>
          <a:solidFill>
            <a:srgbClr val="F0FFF0"/>
          </a:solidFill>
          <a:ln w="6350">
            <a:solidFill>
              <a:srgbClr val="90CC90"/>
            </a:solidFill>
            <a:prstDash val="solid"/>
          </a:ln>
        </p:spPr>
        <p:txBody>
          <a:bodyPr/>
          <a:lstStyle/>
          <a:p>
            <a:endParaRPr lang="en-CA"/>
          </a:p>
        </p:txBody>
      </p:sp>
      <p:sp>
        <p:nvSpPr>
          <p:cNvPr id="52" name="Text 50"/>
          <p:cNvSpPr/>
          <p:nvPr/>
        </p:nvSpPr>
        <p:spPr>
          <a:xfrm>
            <a:off x="4700017" y="3794070"/>
            <a:ext cx="822960" cy="420624"/>
          </a:xfrm>
          <a:prstGeom prst="rect">
            <a:avLst/>
          </a:prstGeom>
          <a:noFill/>
          <a:ln/>
        </p:spPr>
        <p:txBody>
          <a:bodyPr wrap="square" lIns="0" tIns="0" rIns="0" bIns="0" rtlCol="0" anchor="ctr"/>
          <a:lstStyle/>
          <a:p>
            <a:pPr marL="0" indent="0">
              <a:buNone/>
            </a:pPr>
            <a:r>
              <a:rPr lang="en-US" sz="800" b="1" dirty="0">
                <a:solidFill>
                  <a:srgbClr val="2A7A2A"/>
                </a:solidFill>
                <a:latin typeface="Calibri" pitchFamily="34" charset="0"/>
                <a:ea typeface="Calibri" pitchFamily="34" charset="-122"/>
                <a:cs typeface="Calibri" pitchFamily="34" charset="-120"/>
              </a:rPr>
              <a:t>Résultat</a:t>
            </a:r>
            <a:endParaRPr lang="en-US" sz="800" dirty="0"/>
          </a:p>
        </p:txBody>
      </p:sp>
      <p:sp>
        <p:nvSpPr>
          <p:cNvPr id="53" name="Text 51"/>
          <p:cNvSpPr/>
          <p:nvPr/>
        </p:nvSpPr>
        <p:spPr>
          <a:xfrm>
            <a:off x="5559553" y="3794070"/>
            <a:ext cx="3090672" cy="420624"/>
          </a:xfrm>
          <a:prstGeom prst="rect">
            <a:avLst/>
          </a:prstGeom>
          <a:noFill/>
          <a:ln/>
        </p:spPr>
        <p:txBody>
          <a:bodyPr wrap="square" lIns="0" tIns="0" rIns="0" bIns="0" rtlCol="0" anchor="ctr"/>
          <a:lstStyle/>
          <a:p>
            <a:pPr marL="0" indent="0">
              <a:buNone/>
            </a:pPr>
            <a:r>
              <a:rPr lang="en-US" sz="900" b="1" dirty="0">
                <a:solidFill>
                  <a:srgbClr val="2A7A2A"/>
                </a:solidFill>
                <a:latin typeface="Calibri" pitchFamily="34" charset="0"/>
                <a:ea typeface="Calibri" pitchFamily="34" charset="-122"/>
                <a:cs typeface="Calibri" pitchFamily="34" charset="-120"/>
              </a:rPr>
              <a:t>✓  PASS — conformité validée</a:t>
            </a:r>
            <a:endParaRPr lang="en-US" sz="900" dirty="0"/>
          </a:p>
        </p:txBody>
      </p:sp>
      <p:sp>
        <p:nvSpPr>
          <p:cNvPr id="56" name="Text 54"/>
          <p:cNvSpPr/>
          <p:nvPr/>
        </p:nvSpPr>
        <p:spPr>
          <a:xfrm>
            <a:off x="637430" y="4649585"/>
            <a:ext cx="8321040" cy="201168"/>
          </a:xfrm>
          <a:prstGeom prst="rect">
            <a:avLst/>
          </a:prstGeom>
          <a:noFill/>
          <a:ln/>
        </p:spPr>
        <p:txBody>
          <a:bodyPr wrap="square" lIns="0" tIns="0" rIns="0" bIns="0" rtlCol="0" anchor="ctr"/>
          <a:lstStyle/>
          <a:p>
            <a:pPr marL="0" indent="0" algn="ctr">
              <a:buNone/>
            </a:pPr>
            <a:r>
              <a:rPr lang="en-US" sz="850" i="1" dirty="0">
                <a:solidFill>
                  <a:srgbClr val="C0C0C0"/>
                </a:solidFill>
                <a:latin typeface="Calibri" pitchFamily="34" charset="0"/>
                <a:ea typeface="Calibri" pitchFamily="34" charset="-122"/>
                <a:cs typeface="Calibri" pitchFamily="34" charset="-120"/>
              </a:rPr>
              <a:t>Un vecteur ne mesure pas la vitesse — il vérifie que l'algorithme produit le bon résultat pour un cas de référence donné.</a:t>
            </a:r>
            <a:endParaRPr lang="en-US" sz="850" dirty="0"/>
          </a:p>
        </p:txBody>
      </p:sp>
      <p:sp>
        <p:nvSpPr>
          <p:cNvPr id="58" name="Shape 8">
            <a:extLst>
              <a:ext uri="{FF2B5EF4-FFF2-40B4-BE49-F238E27FC236}">
                <a16:creationId xmlns:a16="http://schemas.microsoft.com/office/drawing/2014/main" id="{84DC86DE-E1F7-7C01-6992-17F0F8A49407}"/>
              </a:ext>
            </a:extLst>
          </p:cNvPr>
          <p:cNvSpPr/>
          <p:nvPr/>
        </p:nvSpPr>
        <p:spPr>
          <a:xfrm>
            <a:off x="637430" y="1754823"/>
            <a:ext cx="54864" cy="45719"/>
          </a:xfrm>
          <a:prstGeom prst="ellipse">
            <a:avLst/>
          </a:prstGeom>
          <a:solidFill>
            <a:srgbClr val="C9A84C"/>
          </a:solidFill>
          <a:ln w="12700">
            <a:solidFill>
              <a:srgbClr val="C9A84C"/>
            </a:solidFill>
            <a:prstDash val="solid"/>
          </a:ln>
        </p:spPr>
        <p:txBody>
          <a:bodyPr/>
          <a:lstStyle/>
          <a:p>
            <a:endParaRPr lang="en-CA"/>
          </a:p>
        </p:txBody>
      </p:sp>
      <p:sp>
        <p:nvSpPr>
          <p:cNvPr id="60" name="Shape 8">
            <a:extLst>
              <a:ext uri="{FF2B5EF4-FFF2-40B4-BE49-F238E27FC236}">
                <a16:creationId xmlns:a16="http://schemas.microsoft.com/office/drawing/2014/main" id="{1CC3834A-25C7-3F77-7A35-EF22DBA775E1}"/>
              </a:ext>
            </a:extLst>
          </p:cNvPr>
          <p:cNvSpPr/>
          <p:nvPr/>
        </p:nvSpPr>
        <p:spPr>
          <a:xfrm>
            <a:off x="637430" y="2145499"/>
            <a:ext cx="54864" cy="45719"/>
          </a:xfrm>
          <a:prstGeom prst="ellipse">
            <a:avLst/>
          </a:prstGeom>
          <a:solidFill>
            <a:srgbClr val="C9A84C"/>
          </a:solidFill>
          <a:ln w="12700">
            <a:solidFill>
              <a:srgbClr val="C9A84C"/>
            </a:solidFill>
            <a:prstDash val="solid"/>
          </a:ln>
        </p:spPr>
        <p:txBody>
          <a:bodyPr/>
          <a:lstStyle/>
          <a:p>
            <a:endParaRPr lang="en-CA"/>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03d  ·  VALIDATION CRYPTOGRAPHIQUE — KAT</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Pipeline de </a:t>
            </a:r>
            <a:r>
              <a:rPr lang="en-US" sz="1500" b="1" dirty="0">
                <a:solidFill>
                  <a:srgbClr val="C9A84C"/>
                </a:solidFill>
                <a:latin typeface="Calibri" pitchFamily="34" charset="0"/>
                <a:ea typeface="Calibri" pitchFamily="34" charset="-122"/>
                <a:cs typeface="Calibri" pitchFamily="34" charset="-120"/>
              </a:rPr>
              <a:t>validation KAT</a:t>
            </a:r>
            <a:endParaRPr lang="en-US" sz="1500" dirty="0"/>
          </a:p>
        </p:txBody>
      </p:sp>
      <p:sp>
        <p:nvSpPr>
          <p:cNvPr id="5" name="Shape 3"/>
          <p:cNvSpPr/>
          <p:nvPr/>
        </p:nvSpPr>
        <p:spPr>
          <a:xfrm>
            <a:off x="300366" y="749808"/>
            <a:ext cx="8569313" cy="0"/>
          </a:xfrm>
          <a:prstGeom prst="line">
            <a:avLst/>
          </a:prstGeom>
          <a:noFill/>
          <a:ln w="10160">
            <a:solidFill>
              <a:srgbClr val="F0F0F0"/>
            </a:solidFill>
            <a:prstDash val="solid"/>
          </a:ln>
        </p:spPr>
        <p:txBody>
          <a:bodyPr/>
          <a:lstStyle/>
          <a:p>
            <a:endParaRPr lang="en-CA"/>
          </a:p>
        </p:txBody>
      </p:sp>
      <p:sp>
        <p:nvSpPr>
          <p:cNvPr id="6" name="Shape 4"/>
          <p:cNvSpPr>
            <a:spLocks/>
          </p:cNvSpPr>
          <p:nvPr/>
        </p:nvSpPr>
        <p:spPr>
          <a:xfrm>
            <a:off x="301059" y="1464230"/>
            <a:ext cx="1920240" cy="3245764"/>
          </a:xfrm>
          <a:prstGeom prst="roundRect">
            <a:avLst>
              <a:gd name="adj" fmla="val 4762"/>
            </a:avLst>
          </a:prstGeom>
          <a:solidFill>
            <a:srgbClr val="FAFAFA"/>
          </a:solidFill>
          <a:ln w="7620">
            <a:solidFill>
              <a:srgbClr val="E8E8E8"/>
            </a:solidFill>
            <a:prstDash val="solid"/>
          </a:ln>
        </p:spPr>
        <p:txBody>
          <a:bodyPr/>
          <a:lstStyle/>
          <a:p>
            <a:endParaRPr lang="en-CA"/>
          </a:p>
        </p:txBody>
      </p:sp>
      <p:sp>
        <p:nvSpPr>
          <p:cNvPr id="7" name="Shape 5"/>
          <p:cNvSpPr/>
          <p:nvPr/>
        </p:nvSpPr>
        <p:spPr>
          <a:xfrm>
            <a:off x="301059" y="1464229"/>
            <a:ext cx="1920240" cy="67231"/>
          </a:xfrm>
          <a:prstGeom prst="rect">
            <a:avLst/>
          </a:prstGeom>
          <a:solidFill>
            <a:srgbClr val="888888"/>
          </a:solidFill>
          <a:ln w="12700">
            <a:solidFill>
              <a:srgbClr val="888888"/>
            </a:solidFill>
            <a:prstDash val="solid"/>
          </a:ln>
        </p:spPr>
        <p:txBody>
          <a:bodyPr/>
          <a:lstStyle/>
          <a:p>
            <a:endParaRPr lang="en-CA"/>
          </a:p>
        </p:txBody>
      </p:sp>
      <p:sp>
        <p:nvSpPr>
          <p:cNvPr id="8" name="Text 6"/>
          <p:cNvSpPr/>
          <p:nvPr/>
        </p:nvSpPr>
        <p:spPr>
          <a:xfrm>
            <a:off x="410787" y="1573958"/>
            <a:ext cx="1700784" cy="224104"/>
          </a:xfrm>
          <a:prstGeom prst="rect">
            <a:avLst/>
          </a:prstGeom>
          <a:noFill/>
          <a:ln/>
        </p:spPr>
        <p:txBody>
          <a:bodyPr wrap="square" lIns="0" tIns="0" rIns="0" bIns="0" rtlCol="0" anchor="ctr"/>
          <a:lstStyle/>
          <a:p>
            <a:pPr marL="0" indent="0" algn="ctr">
              <a:buNone/>
            </a:pPr>
            <a:r>
              <a:rPr lang="en-US" sz="650" b="1" kern="0" spc="150" dirty="0">
                <a:solidFill>
                  <a:schemeClr val="tx1">
                    <a:lumMod val="65000"/>
                    <a:lumOff val="35000"/>
                  </a:schemeClr>
                </a:solidFill>
                <a:latin typeface="Calibri" pitchFamily="34" charset="0"/>
                <a:cs typeface="Calibri" pitchFamily="34" charset="-120"/>
              </a:rPr>
              <a:t>PRÉPARE</a:t>
            </a:r>
          </a:p>
        </p:txBody>
      </p:sp>
      <p:sp>
        <p:nvSpPr>
          <p:cNvPr id="13" name="Text 11"/>
          <p:cNvSpPr/>
          <p:nvPr/>
        </p:nvSpPr>
        <p:spPr>
          <a:xfrm>
            <a:off x="502227" y="2310557"/>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Rôle: sélectionner le profil, les suites, et charger les vecteurs.</a:t>
            </a:r>
            <a:endParaRPr lang="en-US" sz="850" dirty="0">
              <a:solidFill>
                <a:schemeClr val="bg1">
                  <a:lumMod val="50000"/>
                </a:schemeClr>
              </a:solidFill>
            </a:endParaRPr>
          </a:p>
        </p:txBody>
      </p:sp>
      <p:sp>
        <p:nvSpPr>
          <p:cNvPr id="22" name="Text 20"/>
          <p:cNvSpPr/>
          <p:nvPr/>
        </p:nvSpPr>
        <p:spPr>
          <a:xfrm>
            <a:off x="2254966" y="2518116"/>
            <a:ext cx="219456" cy="403386"/>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23" name="Shape 21"/>
          <p:cNvSpPr>
            <a:spLocks/>
          </p:cNvSpPr>
          <p:nvPr/>
        </p:nvSpPr>
        <p:spPr>
          <a:xfrm>
            <a:off x="2532195" y="1467279"/>
            <a:ext cx="1920240" cy="3242028"/>
          </a:xfrm>
          <a:prstGeom prst="roundRect">
            <a:avLst>
              <a:gd name="adj" fmla="val 4762"/>
            </a:avLst>
          </a:prstGeom>
          <a:solidFill>
            <a:srgbClr val="FAFAFA"/>
          </a:solidFill>
          <a:ln w="7620">
            <a:solidFill>
              <a:srgbClr val="E8E8E8"/>
            </a:solidFill>
            <a:prstDash val="solid"/>
          </a:ln>
        </p:spPr>
        <p:txBody>
          <a:bodyPr/>
          <a:lstStyle/>
          <a:p>
            <a:endParaRPr lang="en-CA"/>
          </a:p>
        </p:txBody>
      </p:sp>
      <p:sp>
        <p:nvSpPr>
          <p:cNvPr id="24" name="Shape 22"/>
          <p:cNvSpPr/>
          <p:nvPr/>
        </p:nvSpPr>
        <p:spPr>
          <a:xfrm>
            <a:off x="2532195" y="1467278"/>
            <a:ext cx="1920240" cy="67231"/>
          </a:xfrm>
          <a:prstGeom prst="rect">
            <a:avLst/>
          </a:prstGeom>
          <a:solidFill>
            <a:srgbClr val="888888"/>
          </a:solidFill>
          <a:ln w="12700">
            <a:solidFill>
              <a:srgbClr val="888888"/>
            </a:solidFill>
            <a:prstDash val="solid"/>
          </a:ln>
        </p:spPr>
        <p:txBody>
          <a:bodyPr/>
          <a:lstStyle/>
          <a:p>
            <a:endParaRPr lang="en-CA"/>
          </a:p>
        </p:txBody>
      </p:sp>
      <p:sp>
        <p:nvSpPr>
          <p:cNvPr id="25" name="Text 23"/>
          <p:cNvSpPr/>
          <p:nvPr/>
        </p:nvSpPr>
        <p:spPr>
          <a:xfrm>
            <a:off x="2641923" y="1577007"/>
            <a:ext cx="1700784" cy="224104"/>
          </a:xfrm>
          <a:prstGeom prst="rect">
            <a:avLst/>
          </a:prstGeom>
          <a:noFill/>
          <a:ln/>
        </p:spPr>
        <p:txBody>
          <a:bodyPr wrap="square" lIns="0" tIns="0" rIns="0" bIns="0" rtlCol="0" anchor="ctr"/>
          <a:lstStyle/>
          <a:p>
            <a:pPr marL="0" indent="0" algn="ctr">
              <a:buNone/>
            </a:pPr>
            <a:r>
              <a:rPr lang="en-US" sz="650" b="1" kern="0" spc="150" dirty="0">
                <a:solidFill>
                  <a:schemeClr val="tx1">
                    <a:lumMod val="65000"/>
                    <a:lumOff val="35000"/>
                  </a:schemeClr>
                </a:solidFill>
                <a:latin typeface="Calibri" pitchFamily="34" charset="0"/>
                <a:ea typeface="Calibri" pitchFamily="34" charset="-122"/>
                <a:cs typeface="Calibri" pitchFamily="34" charset="-120"/>
              </a:rPr>
              <a:t>EXÉCUTE</a:t>
            </a:r>
            <a:endParaRPr lang="en-US" sz="650" dirty="0">
              <a:solidFill>
                <a:schemeClr val="tx1">
                  <a:lumMod val="65000"/>
                  <a:lumOff val="35000"/>
                </a:schemeClr>
              </a:solidFill>
            </a:endParaRPr>
          </a:p>
        </p:txBody>
      </p:sp>
      <p:sp>
        <p:nvSpPr>
          <p:cNvPr id="26" name="Shape 24"/>
          <p:cNvSpPr/>
          <p:nvPr/>
        </p:nvSpPr>
        <p:spPr>
          <a:xfrm>
            <a:off x="2641923" y="2246549"/>
            <a:ext cx="1700784" cy="0"/>
          </a:xfrm>
          <a:prstGeom prst="line">
            <a:avLst/>
          </a:prstGeom>
          <a:noFill/>
          <a:ln w="7620">
            <a:solidFill>
              <a:srgbClr val="F0F0F0"/>
            </a:solidFill>
            <a:prstDash val="solid"/>
          </a:ln>
        </p:spPr>
        <p:txBody>
          <a:bodyPr/>
          <a:lstStyle/>
          <a:p>
            <a:endParaRPr lang="en-CA"/>
          </a:p>
        </p:txBody>
      </p:sp>
      <p:sp>
        <p:nvSpPr>
          <p:cNvPr id="38" name="Text 36"/>
          <p:cNvSpPr/>
          <p:nvPr/>
        </p:nvSpPr>
        <p:spPr>
          <a:xfrm>
            <a:off x="4480906" y="2566590"/>
            <a:ext cx="219456" cy="403386"/>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39" name="Shape 37"/>
          <p:cNvSpPr>
            <a:spLocks/>
          </p:cNvSpPr>
          <p:nvPr/>
        </p:nvSpPr>
        <p:spPr>
          <a:xfrm>
            <a:off x="4728140" y="1464230"/>
            <a:ext cx="1920240" cy="3242028"/>
          </a:xfrm>
          <a:prstGeom prst="roundRect">
            <a:avLst>
              <a:gd name="adj" fmla="val 4762"/>
            </a:avLst>
          </a:prstGeom>
          <a:solidFill>
            <a:srgbClr val="FAFAFA"/>
          </a:solidFill>
          <a:ln w="7620">
            <a:solidFill>
              <a:srgbClr val="E8E8E8"/>
            </a:solidFill>
            <a:prstDash val="solid"/>
          </a:ln>
        </p:spPr>
        <p:txBody>
          <a:bodyPr/>
          <a:lstStyle/>
          <a:p>
            <a:endParaRPr lang="en-CA"/>
          </a:p>
        </p:txBody>
      </p:sp>
      <p:sp>
        <p:nvSpPr>
          <p:cNvPr id="40" name="Shape 38"/>
          <p:cNvSpPr/>
          <p:nvPr/>
        </p:nvSpPr>
        <p:spPr>
          <a:xfrm>
            <a:off x="4728140" y="1464229"/>
            <a:ext cx="1920240" cy="67231"/>
          </a:xfrm>
          <a:prstGeom prst="rect">
            <a:avLst/>
          </a:prstGeom>
          <a:solidFill>
            <a:srgbClr val="888888"/>
          </a:solidFill>
          <a:ln w="12700">
            <a:solidFill>
              <a:srgbClr val="888888"/>
            </a:solidFill>
            <a:prstDash val="solid"/>
          </a:ln>
        </p:spPr>
        <p:txBody>
          <a:bodyPr/>
          <a:lstStyle/>
          <a:p>
            <a:endParaRPr lang="en-CA"/>
          </a:p>
        </p:txBody>
      </p:sp>
      <p:sp>
        <p:nvSpPr>
          <p:cNvPr id="41" name="Text 39"/>
          <p:cNvSpPr/>
          <p:nvPr/>
        </p:nvSpPr>
        <p:spPr>
          <a:xfrm>
            <a:off x="4837868" y="1573958"/>
            <a:ext cx="1700784" cy="224104"/>
          </a:xfrm>
          <a:prstGeom prst="rect">
            <a:avLst/>
          </a:prstGeom>
          <a:noFill/>
          <a:ln/>
        </p:spPr>
        <p:txBody>
          <a:bodyPr wrap="square" lIns="0" tIns="0" rIns="0" bIns="0" rtlCol="0" anchor="ctr"/>
          <a:lstStyle/>
          <a:p>
            <a:pPr marL="0" indent="0" algn="ctr">
              <a:buNone/>
            </a:pPr>
            <a:r>
              <a:rPr lang="en-US" sz="650" b="1" kern="0" spc="150" dirty="0">
                <a:solidFill>
                  <a:schemeClr val="tx1">
                    <a:lumMod val="65000"/>
                    <a:lumOff val="35000"/>
                  </a:schemeClr>
                </a:solidFill>
                <a:latin typeface="Calibri" pitchFamily="34" charset="0"/>
                <a:ea typeface="Calibri" pitchFamily="34" charset="-122"/>
                <a:cs typeface="Calibri" pitchFamily="34" charset="-120"/>
              </a:rPr>
              <a:t>VÉRIFIE</a:t>
            </a:r>
            <a:endParaRPr lang="en-US" sz="650" dirty="0">
              <a:solidFill>
                <a:schemeClr val="tx1">
                  <a:lumMod val="65000"/>
                  <a:lumOff val="35000"/>
                </a:schemeClr>
              </a:solidFill>
            </a:endParaRPr>
          </a:p>
        </p:txBody>
      </p:sp>
      <p:sp>
        <p:nvSpPr>
          <p:cNvPr id="42" name="Shape 40"/>
          <p:cNvSpPr/>
          <p:nvPr/>
        </p:nvSpPr>
        <p:spPr>
          <a:xfrm>
            <a:off x="4837868" y="2243500"/>
            <a:ext cx="1700784" cy="0"/>
          </a:xfrm>
          <a:prstGeom prst="line">
            <a:avLst/>
          </a:prstGeom>
          <a:noFill/>
          <a:ln w="7620">
            <a:solidFill>
              <a:srgbClr val="F0F0F0"/>
            </a:solidFill>
            <a:prstDash val="solid"/>
          </a:ln>
        </p:spPr>
        <p:txBody>
          <a:bodyPr/>
          <a:lstStyle/>
          <a:p>
            <a:endParaRPr lang="en-CA"/>
          </a:p>
        </p:txBody>
      </p:sp>
      <p:sp>
        <p:nvSpPr>
          <p:cNvPr id="56" name="Text 54"/>
          <p:cNvSpPr/>
          <p:nvPr/>
        </p:nvSpPr>
        <p:spPr>
          <a:xfrm>
            <a:off x="6684956" y="2550333"/>
            <a:ext cx="219456" cy="403386"/>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57" name="Shape 55"/>
          <p:cNvSpPr>
            <a:spLocks/>
          </p:cNvSpPr>
          <p:nvPr/>
        </p:nvSpPr>
        <p:spPr>
          <a:xfrm>
            <a:off x="6940988" y="1464230"/>
            <a:ext cx="1920240" cy="3242028"/>
          </a:xfrm>
          <a:prstGeom prst="roundRect">
            <a:avLst>
              <a:gd name="adj" fmla="val 4762"/>
            </a:avLst>
          </a:prstGeom>
          <a:solidFill>
            <a:srgbClr val="FAFAFA"/>
          </a:solidFill>
          <a:ln w="7620">
            <a:solidFill>
              <a:srgbClr val="E8E8E8"/>
            </a:solidFill>
            <a:prstDash val="solid"/>
          </a:ln>
        </p:spPr>
        <p:txBody>
          <a:bodyPr/>
          <a:lstStyle/>
          <a:p>
            <a:endParaRPr lang="en-CA"/>
          </a:p>
        </p:txBody>
      </p:sp>
      <p:sp>
        <p:nvSpPr>
          <p:cNvPr id="58" name="Shape 56"/>
          <p:cNvSpPr/>
          <p:nvPr/>
        </p:nvSpPr>
        <p:spPr>
          <a:xfrm>
            <a:off x="6940988" y="1464229"/>
            <a:ext cx="1920240" cy="67231"/>
          </a:xfrm>
          <a:prstGeom prst="rect">
            <a:avLst/>
          </a:prstGeom>
          <a:solidFill>
            <a:srgbClr val="888888"/>
          </a:solidFill>
          <a:ln w="12700">
            <a:solidFill>
              <a:srgbClr val="888888"/>
            </a:solidFill>
            <a:prstDash val="solid"/>
          </a:ln>
        </p:spPr>
        <p:txBody>
          <a:bodyPr/>
          <a:lstStyle/>
          <a:p>
            <a:endParaRPr lang="en-CA"/>
          </a:p>
        </p:txBody>
      </p:sp>
      <p:sp>
        <p:nvSpPr>
          <p:cNvPr id="59" name="Text 57"/>
          <p:cNvSpPr/>
          <p:nvPr/>
        </p:nvSpPr>
        <p:spPr>
          <a:xfrm>
            <a:off x="7050716" y="1573958"/>
            <a:ext cx="1700784" cy="224104"/>
          </a:xfrm>
          <a:prstGeom prst="rect">
            <a:avLst/>
          </a:prstGeom>
          <a:noFill/>
          <a:ln/>
        </p:spPr>
        <p:txBody>
          <a:bodyPr wrap="square" lIns="0" tIns="0" rIns="0" bIns="0" rtlCol="0" anchor="ctr"/>
          <a:lstStyle/>
          <a:p>
            <a:pPr marL="0" indent="0" algn="ctr">
              <a:buNone/>
            </a:pPr>
            <a:r>
              <a:rPr lang="en-US" sz="650" b="1" kern="0" spc="150" dirty="0">
                <a:solidFill>
                  <a:schemeClr val="tx1">
                    <a:lumMod val="65000"/>
                    <a:lumOff val="35000"/>
                  </a:schemeClr>
                </a:solidFill>
                <a:latin typeface="Calibri" pitchFamily="34" charset="0"/>
                <a:cs typeface="Calibri" pitchFamily="34" charset="-120"/>
              </a:rPr>
              <a:t>RAPPORTE</a:t>
            </a:r>
          </a:p>
        </p:txBody>
      </p:sp>
      <p:sp>
        <p:nvSpPr>
          <p:cNvPr id="74" name="Text 72"/>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76" name="Shape 24">
            <a:extLst>
              <a:ext uri="{FF2B5EF4-FFF2-40B4-BE49-F238E27FC236}">
                <a16:creationId xmlns:a16="http://schemas.microsoft.com/office/drawing/2014/main" id="{2AA421CD-E30E-1DBD-8C6A-87455625CAFB}"/>
              </a:ext>
            </a:extLst>
          </p:cNvPr>
          <p:cNvSpPr/>
          <p:nvPr/>
        </p:nvSpPr>
        <p:spPr>
          <a:xfrm>
            <a:off x="410787" y="2246549"/>
            <a:ext cx="1700784" cy="0"/>
          </a:xfrm>
          <a:prstGeom prst="line">
            <a:avLst/>
          </a:prstGeom>
          <a:noFill/>
          <a:ln w="7620">
            <a:solidFill>
              <a:srgbClr val="F0F0F0"/>
            </a:solidFill>
            <a:prstDash val="solid"/>
          </a:ln>
        </p:spPr>
        <p:txBody>
          <a:bodyPr/>
          <a:lstStyle/>
          <a:p>
            <a:endParaRPr lang="en-CA"/>
          </a:p>
        </p:txBody>
      </p:sp>
      <p:sp>
        <p:nvSpPr>
          <p:cNvPr id="78" name="Shape 24">
            <a:extLst>
              <a:ext uri="{FF2B5EF4-FFF2-40B4-BE49-F238E27FC236}">
                <a16:creationId xmlns:a16="http://schemas.microsoft.com/office/drawing/2014/main" id="{4B261386-3D29-C176-D914-0B14E2F620E5}"/>
              </a:ext>
            </a:extLst>
          </p:cNvPr>
          <p:cNvSpPr/>
          <p:nvPr/>
        </p:nvSpPr>
        <p:spPr>
          <a:xfrm>
            <a:off x="410787" y="2714925"/>
            <a:ext cx="1700784" cy="0"/>
          </a:xfrm>
          <a:prstGeom prst="line">
            <a:avLst/>
          </a:prstGeom>
          <a:noFill/>
          <a:ln w="7620">
            <a:solidFill>
              <a:srgbClr val="F0F0F0"/>
            </a:solidFill>
            <a:prstDash val="solid"/>
          </a:ln>
        </p:spPr>
        <p:txBody>
          <a:bodyPr/>
          <a:lstStyle/>
          <a:p>
            <a:endParaRPr lang="en-CA"/>
          </a:p>
        </p:txBody>
      </p:sp>
      <p:sp>
        <p:nvSpPr>
          <p:cNvPr id="82" name="TextBox 81">
            <a:extLst>
              <a:ext uri="{FF2B5EF4-FFF2-40B4-BE49-F238E27FC236}">
                <a16:creationId xmlns:a16="http://schemas.microsoft.com/office/drawing/2014/main" id="{B4CDE86D-D099-0994-112A-81643E4798EB}"/>
              </a:ext>
            </a:extLst>
          </p:cNvPr>
          <p:cNvSpPr txBox="1"/>
          <p:nvPr/>
        </p:nvSpPr>
        <p:spPr>
          <a:xfrm>
            <a:off x="475487" y="3357181"/>
            <a:ext cx="1546029" cy="1138773"/>
          </a:xfrm>
          <a:prstGeom prst="rect">
            <a:avLst/>
          </a:prstGeom>
          <a:noFill/>
        </p:spPr>
        <p:txBody>
          <a:bodyPr wrap="square">
            <a:spAutoFit/>
          </a:bodyPr>
          <a:lstStyle/>
          <a:p>
            <a:r>
              <a:rPr lang="en-CA" sz="850" dirty="0">
                <a:solidFill>
                  <a:schemeClr val="bg1">
                    <a:lumMod val="50000"/>
                  </a:schemeClr>
                </a:solidFill>
                <a:latin typeface="Calibri" pitchFamily="34" charset="0"/>
                <a:cs typeface="Calibri" pitchFamily="34" charset="-120"/>
              </a:rPr>
              <a:t>Fichiers sources: </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kat_aes.py</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kat_des.py</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kat_3des.py</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kat_modes.py</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kat_gcm.py</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kat_chacha20.py </a:t>
            </a:r>
          </a:p>
          <a:p>
            <a:pPr marL="171450" indent="-171450">
              <a:buFont typeface="Arial" panose="020B0604020202020204" pitchFamily="34" charset="0"/>
              <a:buChar char="•"/>
            </a:pPr>
            <a:r>
              <a:rPr lang="en-CA" sz="850" dirty="0">
                <a:solidFill>
                  <a:schemeClr val="bg1">
                    <a:lumMod val="50000"/>
                  </a:schemeClr>
                </a:solidFill>
                <a:latin typeface="Calibri" pitchFamily="34" charset="0"/>
                <a:cs typeface="Calibri" pitchFamily="34" charset="-120"/>
              </a:rPr>
              <a:t>kat_twofish.py</a:t>
            </a:r>
          </a:p>
        </p:txBody>
      </p:sp>
      <p:sp>
        <p:nvSpPr>
          <p:cNvPr id="88" name="Text 11">
            <a:extLst>
              <a:ext uri="{FF2B5EF4-FFF2-40B4-BE49-F238E27FC236}">
                <a16:creationId xmlns:a16="http://schemas.microsoft.com/office/drawing/2014/main" id="{815A3B7A-47AA-AD48-C05C-8DAD1BB46740}"/>
              </a:ext>
            </a:extLst>
          </p:cNvPr>
          <p:cNvSpPr/>
          <p:nvPr/>
        </p:nvSpPr>
        <p:spPr>
          <a:xfrm>
            <a:off x="2707594" y="2310557"/>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Rôle: exécuter chaque vecteur KAT par suite.</a:t>
            </a:r>
            <a:endParaRPr lang="en-US" sz="850" dirty="0">
              <a:solidFill>
                <a:schemeClr val="bg1">
                  <a:lumMod val="50000"/>
                </a:schemeClr>
              </a:solidFill>
            </a:endParaRPr>
          </a:p>
        </p:txBody>
      </p:sp>
      <p:sp>
        <p:nvSpPr>
          <p:cNvPr id="90" name="Text 11">
            <a:extLst>
              <a:ext uri="{FF2B5EF4-FFF2-40B4-BE49-F238E27FC236}">
                <a16:creationId xmlns:a16="http://schemas.microsoft.com/office/drawing/2014/main" id="{BB3B70B6-F56A-C324-93A5-270598EE4A98}"/>
              </a:ext>
            </a:extLst>
          </p:cNvPr>
          <p:cNvSpPr/>
          <p:nvPr/>
        </p:nvSpPr>
        <p:spPr>
          <a:xfrm>
            <a:off x="4883588" y="2310557"/>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Rôle: comparer attendu vs obtenu, puis PASS/FAIL.</a:t>
            </a:r>
            <a:endParaRPr lang="en-US" sz="850" dirty="0">
              <a:solidFill>
                <a:schemeClr val="bg1">
                  <a:lumMod val="50000"/>
                </a:schemeClr>
              </a:solidFill>
            </a:endParaRPr>
          </a:p>
        </p:txBody>
      </p:sp>
      <p:sp>
        <p:nvSpPr>
          <p:cNvPr id="92" name="Text 11">
            <a:extLst>
              <a:ext uri="{FF2B5EF4-FFF2-40B4-BE49-F238E27FC236}">
                <a16:creationId xmlns:a16="http://schemas.microsoft.com/office/drawing/2014/main" id="{79C50C14-20DB-393C-5019-9520D91CE8EA}"/>
              </a:ext>
            </a:extLst>
          </p:cNvPr>
          <p:cNvSpPr/>
          <p:nvPr/>
        </p:nvSpPr>
        <p:spPr>
          <a:xfrm>
            <a:off x="7122483" y="2310557"/>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Rôle: agréger et afficher le total par suite + statut global.</a:t>
            </a:r>
            <a:endParaRPr lang="en-US" sz="850" dirty="0">
              <a:solidFill>
                <a:schemeClr val="bg1">
                  <a:lumMod val="50000"/>
                </a:schemeClr>
              </a:solidFill>
            </a:endParaRPr>
          </a:p>
        </p:txBody>
      </p:sp>
      <p:sp>
        <p:nvSpPr>
          <p:cNvPr id="94" name="Shape 40">
            <a:extLst>
              <a:ext uri="{FF2B5EF4-FFF2-40B4-BE49-F238E27FC236}">
                <a16:creationId xmlns:a16="http://schemas.microsoft.com/office/drawing/2014/main" id="{50B1C0BC-E37A-5D5F-F74A-D536CD4330DB}"/>
              </a:ext>
            </a:extLst>
          </p:cNvPr>
          <p:cNvSpPr/>
          <p:nvPr/>
        </p:nvSpPr>
        <p:spPr>
          <a:xfrm>
            <a:off x="7076763" y="2246549"/>
            <a:ext cx="1700784" cy="0"/>
          </a:xfrm>
          <a:prstGeom prst="line">
            <a:avLst/>
          </a:prstGeom>
          <a:noFill/>
          <a:ln w="7620">
            <a:solidFill>
              <a:srgbClr val="F0F0F0"/>
            </a:solidFill>
            <a:prstDash val="solid"/>
          </a:ln>
        </p:spPr>
        <p:txBody>
          <a:bodyPr/>
          <a:lstStyle/>
          <a:p>
            <a:endParaRPr lang="en-CA"/>
          </a:p>
        </p:txBody>
      </p:sp>
      <p:sp>
        <p:nvSpPr>
          <p:cNvPr id="100" name="Shape 24">
            <a:extLst>
              <a:ext uri="{FF2B5EF4-FFF2-40B4-BE49-F238E27FC236}">
                <a16:creationId xmlns:a16="http://schemas.microsoft.com/office/drawing/2014/main" id="{F59D9C89-017B-A8F8-1FEC-963B235EACAF}"/>
              </a:ext>
            </a:extLst>
          </p:cNvPr>
          <p:cNvSpPr/>
          <p:nvPr/>
        </p:nvSpPr>
        <p:spPr>
          <a:xfrm>
            <a:off x="2661874" y="2714925"/>
            <a:ext cx="1700784" cy="0"/>
          </a:xfrm>
          <a:prstGeom prst="line">
            <a:avLst/>
          </a:prstGeom>
          <a:noFill/>
          <a:ln w="7620">
            <a:solidFill>
              <a:srgbClr val="F0F0F0"/>
            </a:solidFill>
            <a:prstDash val="solid"/>
          </a:ln>
        </p:spPr>
        <p:txBody>
          <a:bodyPr/>
          <a:lstStyle/>
          <a:p>
            <a:endParaRPr lang="en-CA"/>
          </a:p>
        </p:txBody>
      </p:sp>
      <p:sp>
        <p:nvSpPr>
          <p:cNvPr id="102" name="Shape 24">
            <a:extLst>
              <a:ext uri="{FF2B5EF4-FFF2-40B4-BE49-F238E27FC236}">
                <a16:creationId xmlns:a16="http://schemas.microsoft.com/office/drawing/2014/main" id="{8F0772D1-5988-F195-C3B6-671D554638F3}"/>
              </a:ext>
            </a:extLst>
          </p:cNvPr>
          <p:cNvSpPr/>
          <p:nvPr/>
        </p:nvSpPr>
        <p:spPr>
          <a:xfrm>
            <a:off x="4837868" y="2728132"/>
            <a:ext cx="1700784" cy="0"/>
          </a:xfrm>
          <a:prstGeom prst="line">
            <a:avLst/>
          </a:prstGeom>
          <a:noFill/>
          <a:ln w="7620">
            <a:solidFill>
              <a:srgbClr val="F0F0F0"/>
            </a:solidFill>
            <a:prstDash val="solid"/>
          </a:ln>
        </p:spPr>
        <p:txBody>
          <a:bodyPr/>
          <a:lstStyle/>
          <a:p>
            <a:endParaRPr lang="en-CA"/>
          </a:p>
        </p:txBody>
      </p:sp>
      <p:sp>
        <p:nvSpPr>
          <p:cNvPr id="104" name="Shape 24">
            <a:extLst>
              <a:ext uri="{FF2B5EF4-FFF2-40B4-BE49-F238E27FC236}">
                <a16:creationId xmlns:a16="http://schemas.microsoft.com/office/drawing/2014/main" id="{8E03DEF1-489A-1B40-1368-27DF2478EF2C}"/>
              </a:ext>
            </a:extLst>
          </p:cNvPr>
          <p:cNvSpPr/>
          <p:nvPr/>
        </p:nvSpPr>
        <p:spPr>
          <a:xfrm>
            <a:off x="7076763" y="2717466"/>
            <a:ext cx="1700784" cy="0"/>
          </a:xfrm>
          <a:prstGeom prst="line">
            <a:avLst/>
          </a:prstGeom>
          <a:noFill/>
          <a:ln w="7620">
            <a:solidFill>
              <a:srgbClr val="F0F0F0"/>
            </a:solidFill>
            <a:prstDash val="solid"/>
          </a:ln>
        </p:spPr>
        <p:txBody>
          <a:bodyPr/>
          <a:lstStyle/>
          <a:p>
            <a:endParaRPr lang="en-CA"/>
          </a:p>
        </p:txBody>
      </p:sp>
      <p:sp>
        <p:nvSpPr>
          <p:cNvPr id="112" name="Text 11">
            <a:extLst>
              <a:ext uri="{FF2B5EF4-FFF2-40B4-BE49-F238E27FC236}">
                <a16:creationId xmlns:a16="http://schemas.microsoft.com/office/drawing/2014/main" id="{F757AD55-6560-F933-118B-765EF038AC0B}"/>
              </a:ext>
            </a:extLst>
          </p:cNvPr>
          <p:cNvSpPr/>
          <p:nvPr/>
        </p:nvSpPr>
        <p:spPr>
          <a:xfrm>
            <a:off x="2688542" y="2812177"/>
            <a:ext cx="1607545"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Mécanisme: appel séquentiel des modules KAT et calcul des sorties.</a:t>
            </a:r>
            <a:endParaRPr lang="en-US" sz="850" dirty="0">
              <a:solidFill>
                <a:schemeClr val="bg1">
                  <a:lumMod val="50000"/>
                </a:schemeClr>
              </a:solidFill>
            </a:endParaRPr>
          </a:p>
        </p:txBody>
      </p:sp>
      <p:sp>
        <p:nvSpPr>
          <p:cNvPr id="114" name="Text 11">
            <a:extLst>
              <a:ext uri="{FF2B5EF4-FFF2-40B4-BE49-F238E27FC236}">
                <a16:creationId xmlns:a16="http://schemas.microsoft.com/office/drawing/2014/main" id="{98DA24F8-345F-EA17-1C2E-982A82C9FF4B}"/>
              </a:ext>
            </a:extLst>
          </p:cNvPr>
          <p:cNvSpPr/>
          <p:nvPr/>
        </p:nvSpPr>
        <p:spPr>
          <a:xfrm>
            <a:off x="4892039" y="3376763"/>
            <a:ext cx="1609344" cy="726484"/>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Fichiers de vérification: </a:t>
            </a:r>
          </a:p>
          <a:p>
            <a:pPr marL="171450" indent="-171450">
              <a:buFont typeface="Arial" panose="020B0604020202020204" pitchFamily="34" charset="0"/>
              <a:buChar char="•"/>
            </a:pPr>
            <a:r>
              <a:rPr lang="fr-FR" sz="850" dirty="0">
                <a:solidFill>
                  <a:schemeClr val="bg1">
                    <a:lumMod val="50000"/>
                  </a:schemeClr>
                </a:solidFill>
                <a:latin typeface="Calibri" pitchFamily="34" charset="0"/>
                <a:ea typeface="Calibri" pitchFamily="34" charset="-122"/>
                <a:cs typeface="Calibri" pitchFamily="34" charset="-120"/>
              </a:rPr>
              <a:t>kat_aes.py</a:t>
            </a:r>
          </a:p>
          <a:p>
            <a:pPr marL="171450" indent="-171450">
              <a:buFont typeface="Arial" panose="020B0604020202020204" pitchFamily="34" charset="0"/>
              <a:buChar char="•"/>
            </a:pPr>
            <a:r>
              <a:rPr lang="fr-FR" sz="850" dirty="0">
                <a:solidFill>
                  <a:schemeClr val="bg1">
                    <a:lumMod val="50000"/>
                  </a:schemeClr>
                </a:solidFill>
                <a:latin typeface="Calibri" pitchFamily="34" charset="0"/>
                <a:ea typeface="Calibri" pitchFamily="34" charset="-122"/>
                <a:cs typeface="Calibri" pitchFamily="34" charset="-120"/>
              </a:rPr>
              <a:t>kat_modes.py</a:t>
            </a:r>
          </a:p>
          <a:p>
            <a:pPr marL="171450" indent="-171450">
              <a:buFont typeface="Arial" panose="020B0604020202020204" pitchFamily="34" charset="0"/>
              <a:buChar char="•"/>
            </a:pPr>
            <a:r>
              <a:rPr lang="fr-FR" sz="850" dirty="0">
                <a:solidFill>
                  <a:schemeClr val="bg1">
                    <a:lumMod val="50000"/>
                  </a:schemeClr>
                </a:solidFill>
                <a:latin typeface="Calibri" pitchFamily="34" charset="0"/>
                <a:ea typeface="Calibri" pitchFamily="34" charset="-122"/>
                <a:cs typeface="Calibri" pitchFamily="34" charset="-120"/>
              </a:rPr>
              <a:t>kat_gcm.py</a:t>
            </a:r>
          </a:p>
          <a:p>
            <a:pPr marL="171450" indent="-171450">
              <a:buFont typeface="Arial" panose="020B0604020202020204" pitchFamily="34" charset="0"/>
              <a:buChar char="•"/>
            </a:pPr>
            <a:r>
              <a:rPr lang="fr-FR" sz="850" dirty="0">
                <a:solidFill>
                  <a:schemeClr val="bg1">
                    <a:lumMod val="50000"/>
                  </a:schemeClr>
                </a:solidFill>
                <a:latin typeface="Calibri" pitchFamily="34" charset="0"/>
                <a:ea typeface="Calibri" pitchFamily="34" charset="-122"/>
                <a:cs typeface="Calibri" pitchFamily="34" charset="-120"/>
              </a:rPr>
              <a:t>kat_twofish.py</a:t>
            </a:r>
            <a:endParaRPr lang="en-US" sz="850" dirty="0">
              <a:solidFill>
                <a:schemeClr val="bg1">
                  <a:lumMod val="50000"/>
                </a:schemeClr>
              </a:solidFill>
            </a:endParaRPr>
          </a:p>
        </p:txBody>
      </p:sp>
      <p:sp>
        <p:nvSpPr>
          <p:cNvPr id="116" name="Text 11">
            <a:extLst>
              <a:ext uri="{FF2B5EF4-FFF2-40B4-BE49-F238E27FC236}">
                <a16:creationId xmlns:a16="http://schemas.microsoft.com/office/drawing/2014/main" id="{2F2978D6-898F-6958-108A-ECDB2F855217}"/>
              </a:ext>
            </a:extLst>
          </p:cNvPr>
          <p:cNvSpPr/>
          <p:nvPr/>
        </p:nvSpPr>
        <p:spPr>
          <a:xfrm>
            <a:off x="7122483" y="3366821"/>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Exemple de sortie: kat_results.txt</a:t>
            </a:r>
            <a:endParaRPr lang="en-US" sz="850" dirty="0">
              <a:solidFill>
                <a:schemeClr val="bg1">
                  <a:lumMod val="50000"/>
                </a:schemeClr>
              </a:solidFill>
            </a:endParaRPr>
          </a:p>
        </p:txBody>
      </p:sp>
      <p:pic>
        <p:nvPicPr>
          <p:cNvPr id="118" name="Picture 117">
            <a:extLst>
              <a:ext uri="{FF2B5EF4-FFF2-40B4-BE49-F238E27FC236}">
                <a16:creationId xmlns:a16="http://schemas.microsoft.com/office/drawing/2014/main" id="{E74A62BC-F6B6-D0A8-D21E-5298164A117F}"/>
              </a:ext>
            </a:extLst>
          </p:cNvPr>
          <p:cNvPicPr>
            <a:picLocks noChangeAspect="1"/>
          </p:cNvPicPr>
          <p:nvPr/>
        </p:nvPicPr>
        <p:blipFill>
          <a:blip r:embed="rId3">
            <a:alphaModFix amt="60000"/>
          </a:blip>
          <a:stretch>
            <a:fillRect/>
          </a:stretch>
        </p:blipFill>
        <p:spPr>
          <a:xfrm>
            <a:off x="1030313" y="1790195"/>
            <a:ext cx="436376" cy="437211"/>
          </a:xfrm>
          <a:prstGeom prst="rect">
            <a:avLst/>
          </a:prstGeom>
        </p:spPr>
      </p:pic>
      <p:pic>
        <p:nvPicPr>
          <p:cNvPr id="120" name="Picture 119">
            <a:extLst>
              <a:ext uri="{FF2B5EF4-FFF2-40B4-BE49-F238E27FC236}">
                <a16:creationId xmlns:a16="http://schemas.microsoft.com/office/drawing/2014/main" id="{F4D8EC08-BBE2-1D28-8BB5-9217632FFDA1}"/>
              </a:ext>
            </a:extLst>
          </p:cNvPr>
          <p:cNvPicPr>
            <a:picLocks noChangeAspect="1"/>
          </p:cNvPicPr>
          <p:nvPr/>
        </p:nvPicPr>
        <p:blipFill>
          <a:blip r:embed="rId4">
            <a:alphaModFix amt="60000"/>
          </a:blip>
          <a:stretch>
            <a:fillRect/>
          </a:stretch>
        </p:blipFill>
        <p:spPr>
          <a:xfrm>
            <a:off x="3274223" y="1773182"/>
            <a:ext cx="436181" cy="459404"/>
          </a:xfrm>
          <a:prstGeom prst="rect">
            <a:avLst/>
          </a:prstGeom>
        </p:spPr>
      </p:pic>
      <p:pic>
        <p:nvPicPr>
          <p:cNvPr id="122" name="Picture 121">
            <a:extLst>
              <a:ext uri="{FF2B5EF4-FFF2-40B4-BE49-F238E27FC236}">
                <a16:creationId xmlns:a16="http://schemas.microsoft.com/office/drawing/2014/main" id="{39B60815-A8AC-DF90-E8F0-52C8DE7DD057}"/>
              </a:ext>
            </a:extLst>
          </p:cNvPr>
          <p:cNvPicPr>
            <a:picLocks noChangeAspect="1"/>
          </p:cNvPicPr>
          <p:nvPr/>
        </p:nvPicPr>
        <p:blipFill>
          <a:blip r:embed="rId5">
            <a:alphaModFix amt="60000"/>
          </a:blip>
          <a:stretch>
            <a:fillRect/>
          </a:stretch>
        </p:blipFill>
        <p:spPr>
          <a:xfrm>
            <a:off x="5510331" y="1790195"/>
            <a:ext cx="447297" cy="437211"/>
          </a:xfrm>
          <a:prstGeom prst="rect">
            <a:avLst/>
          </a:prstGeom>
        </p:spPr>
      </p:pic>
      <p:pic>
        <p:nvPicPr>
          <p:cNvPr id="124" name="Picture 123">
            <a:extLst>
              <a:ext uri="{FF2B5EF4-FFF2-40B4-BE49-F238E27FC236}">
                <a16:creationId xmlns:a16="http://schemas.microsoft.com/office/drawing/2014/main" id="{FC115D0A-9E33-EF57-2D75-5289AC281FF7}"/>
              </a:ext>
            </a:extLst>
          </p:cNvPr>
          <p:cNvPicPr>
            <a:picLocks noChangeAspect="1"/>
          </p:cNvPicPr>
          <p:nvPr/>
        </p:nvPicPr>
        <p:blipFill>
          <a:blip r:embed="rId6">
            <a:alphaModFix amt="60000"/>
          </a:blip>
          <a:stretch>
            <a:fillRect/>
          </a:stretch>
        </p:blipFill>
        <p:spPr>
          <a:xfrm>
            <a:off x="7707087" y="1793414"/>
            <a:ext cx="336204" cy="348465"/>
          </a:xfrm>
          <a:prstGeom prst="rect">
            <a:avLst/>
          </a:prstGeom>
        </p:spPr>
      </p:pic>
      <p:sp>
        <p:nvSpPr>
          <p:cNvPr id="128" name="Shape 43">
            <a:extLst>
              <a:ext uri="{FF2B5EF4-FFF2-40B4-BE49-F238E27FC236}">
                <a16:creationId xmlns:a16="http://schemas.microsoft.com/office/drawing/2014/main" id="{4BAE6FCE-983C-75A1-4C52-38BE5E89B142}"/>
              </a:ext>
            </a:extLst>
          </p:cNvPr>
          <p:cNvSpPr/>
          <p:nvPr/>
        </p:nvSpPr>
        <p:spPr>
          <a:xfrm>
            <a:off x="282771" y="865202"/>
            <a:ext cx="8578457" cy="485356"/>
          </a:xfrm>
          <a:prstGeom prst="roundRect">
            <a:avLst>
              <a:gd name="adj" fmla="val 13043"/>
            </a:avLst>
          </a:prstGeom>
          <a:solidFill>
            <a:srgbClr val="FFFBF0"/>
          </a:solidFill>
          <a:ln w="6350">
            <a:solidFill>
              <a:srgbClr val="C9A84C"/>
            </a:solidFill>
            <a:prstDash val="solid"/>
          </a:ln>
        </p:spPr>
        <p:txBody>
          <a:bodyPr numCol="2" anchor="ctr"/>
          <a:lstStyle/>
          <a:p>
            <a:pPr algn="ctr"/>
            <a:r>
              <a:rPr lang="en-CA" sz="1100" b="1" kern="0" spc="150" dirty="0">
                <a:solidFill>
                  <a:srgbClr val="CFB260"/>
                </a:solidFill>
                <a:latin typeface="Calibri" pitchFamily="34" charset="0"/>
                <a:cs typeface="Calibri" pitchFamily="34" charset="-120"/>
              </a:rPr>
              <a:t>Orchestrateur principal: run_kat.py</a:t>
            </a:r>
          </a:p>
        </p:txBody>
      </p:sp>
      <p:pic>
        <p:nvPicPr>
          <p:cNvPr id="152" name="Picture 151">
            <a:extLst>
              <a:ext uri="{FF2B5EF4-FFF2-40B4-BE49-F238E27FC236}">
                <a16:creationId xmlns:a16="http://schemas.microsoft.com/office/drawing/2014/main" id="{8AAF6B94-7C0F-9EA4-4487-9EE73E6621B6}"/>
              </a:ext>
            </a:extLst>
          </p:cNvPr>
          <p:cNvPicPr>
            <a:picLocks noChangeAspect="1"/>
          </p:cNvPicPr>
          <p:nvPr/>
        </p:nvPicPr>
        <p:blipFill>
          <a:blip r:embed="rId7">
            <a:alphaModFix amt="60000"/>
          </a:blip>
          <a:stretch>
            <a:fillRect/>
          </a:stretch>
        </p:blipFill>
        <p:spPr>
          <a:xfrm>
            <a:off x="419239" y="930109"/>
            <a:ext cx="357275" cy="357275"/>
          </a:xfrm>
          <a:prstGeom prst="rect">
            <a:avLst/>
          </a:prstGeom>
        </p:spPr>
      </p:pic>
      <p:sp>
        <p:nvSpPr>
          <p:cNvPr id="156" name="Shape 24">
            <a:extLst>
              <a:ext uri="{FF2B5EF4-FFF2-40B4-BE49-F238E27FC236}">
                <a16:creationId xmlns:a16="http://schemas.microsoft.com/office/drawing/2014/main" id="{69D97F47-68B9-F99C-ED1B-137E6BA11D61}"/>
              </a:ext>
            </a:extLst>
          </p:cNvPr>
          <p:cNvSpPr/>
          <p:nvPr/>
        </p:nvSpPr>
        <p:spPr>
          <a:xfrm>
            <a:off x="4883588" y="3274117"/>
            <a:ext cx="1700784" cy="0"/>
          </a:xfrm>
          <a:prstGeom prst="line">
            <a:avLst/>
          </a:prstGeom>
          <a:noFill/>
          <a:ln w="7620">
            <a:solidFill>
              <a:srgbClr val="F0F0F0"/>
            </a:solidFill>
            <a:prstDash val="solid"/>
          </a:ln>
        </p:spPr>
        <p:txBody>
          <a:bodyPr/>
          <a:lstStyle/>
          <a:p>
            <a:endParaRPr lang="en-CA"/>
          </a:p>
        </p:txBody>
      </p:sp>
      <p:sp>
        <p:nvSpPr>
          <p:cNvPr id="158" name="TextBox 157">
            <a:extLst>
              <a:ext uri="{FF2B5EF4-FFF2-40B4-BE49-F238E27FC236}">
                <a16:creationId xmlns:a16="http://schemas.microsoft.com/office/drawing/2014/main" id="{50E93C70-3CAA-DC92-0649-CE29293CFDE5}"/>
              </a:ext>
            </a:extLst>
          </p:cNvPr>
          <p:cNvSpPr txBox="1"/>
          <p:nvPr/>
        </p:nvSpPr>
        <p:spPr>
          <a:xfrm>
            <a:off x="7015249" y="3746094"/>
            <a:ext cx="1653264" cy="484748"/>
          </a:xfrm>
          <a:prstGeom prst="rect">
            <a:avLst/>
          </a:prstGeom>
          <a:noFill/>
        </p:spPr>
        <p:txBody>
          <a:bodyPr wrap="square">
            <a:spAutoFit/>
          </a:bodyPr>
          <a:lstStyle/>
          <a:p>
            <a:r>
              <a:rPr lang="fr-FR" sz="850" dirty="0">
                <a:solidFill>
                  <a:schemeClr val="bg1">
                    <a:lumMod val="50000"/>
                  </a:schemeClr>
                </a:solidFill>
                <a:latin typeface="Calibri" pitchFamily="34" charset="0"/>
                <a:cs typeface="Calibri" pitchFamily="34" charset="-120"/>
              </a:rPr>
              <a:t>Sortie: total global et rapport final de conformité (profil </a:t>
            </a:r>
            <a:r>
              <a:rPr lang="fr-FR" sz="850" dirty="0" err="1">
                <a:solidFill>
                  <a:schemeClr val="bg1">
                    <a:lumMod val="50000"/>
                  </a:schemeClr>
                </a:solidFill>
                <a:latin typeface="Calibri" pitchFamily="34" charset="0"/>
                <a:cs typeface="Calibri" pitchFamily="34" charset="-120"/>
              </a:rPr>
              <a:t>core</a:t>
            </a:r>
            <a:r>
              <a:rPr lang="fr-FR" sz="850" dirty="0">
                <a:solidFill>
                  <a:schemeClr val="bg1">
                    <a:lumMod val="50000"/>
                  </a:schemeClr>
                </a:solidFill>
                <a:latin typeface="Calibri" pitchFamily="34" charset="0"/>
                <a:cs typeface="Calibri" pitchFamily="34" charset="-120"/>
              </a:rPr>
              <a:t>/full affiché).</a:t>
            </a:r>
            <a:endParaRPr lang="en-CA" sz="850" dirty="0">
              <a:solidFill>
                <a:schemeClr val="bg1">
                  <a:lumMod val="50000"/>
                </a:schemeClr>
              </a:solidFill>
              <a:latin typeface="Calibri" pitchFamily="34" charset="0"/>
              <a:cs typeface="Calibri" pitchFamily="34" charset="-120"/>
            </a:endParaRPr>
          </a:p>
        </p:txBody>
      </p:sp>
      <p:sp>
        <p:nvSpPr>
          <p:cNvPr id="160" name="Shape 24">
            <a:extLst>
              <a:ext uri="{FF2B5EF4-FFF2-40B4-BE49-F238E27FC236}">
                <a16:creationId xmlns:a16="http://schemas.microsoft.com/office/drawing/2014/main" id="{C482A623-548C-9EE2-A1E9-2818E5909BFE}"/>
              </a:ext>
            </a:extLst>
          </p:cNvPr>
          <p:cNvSpPr/>
          <p:nvPr/>
        </p:nvSpPr>
        <p:spPr>
          <a:xfrm>
            <a:off x="419239" y="3274117"/>
            <a:ext cx="1700784" cy="0"/>
          </a:xfrm>
          <a:prstGeom prst="line">
            <a:avLst/>
          </a:prstGeom>
          <a:noFill/>
          <a:ln w="7620">
            <a:solidFill>
              <a:srgbClr val="F0F0F0"/>
            </a:solidFill>
            <a:prstDash val="solid"/>
          </a:ln>
        </p:spPr>
        <p:txBody>
          <a:bodyPr/>
          <a:lstStyle/>
          <a:p>
            <a:endParaRPr lang="en-CA"/>
          </a:p>
        </p:txBody>
      </p:sp>
      <p:sp>
        <p:nvSpPr>
          <p:cNvPr id="162" name="Text 11">
            <a:extLst>
              <a:ext uri="{FF2B5EF4-FFF2-40B4-BE49-F238E27FC236}">
                <a16:creationId xmlns:a16="http://schemas.microsoft.com/office/drawing/2014/main" id="{4E0FAB27-1ED2-2167-A66A-E726BA354D8D}"/>
              </a:ext>
            </a:extLst>
          </p:cNvPr>
          <p:cNvSpPr/>
          <p:nvPr/>
        </p:nvSpPr>
        <p:spPr>
          <a:xfrm>
            <a:off x="464959" y="2803499"/>
            <a:ext cx="1609344"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Mécanisme: lecture de la configuration KAT et préparation des jeux de test.</a:t>
            </a:r>
            <a:endParaRPr lang="en-US" sz="850" dirty="0">
              <a:solidFill>
                <a:schemeClr val="bg1">
                  <a:lumMod val="50000"/>
                </a:schemeClr>
              </a:solidFill>
            </a:endParaRPr>
          </a:p>
        </p:txBody>
      </p:sp>
      <p:sp>
        <p:nvSpPr>
          <p:cNvPr id="164" name="Shape 24">
            <a:extLst>
              <a:ext uri="{FF2B5EF4-FFF2-40B4-BE49-F238E27FC236}">
                <a16:creationId xmlns:a16="http://schemas.microsoft.com/office/drawing/2014/main" id="{49DEA5AB-CEA3-EF61-4A03-8D2ABF524DB9}"/>
              </a:ext>
            </a:extLst>
          </p:cNvPr>
          <p:cNvSpPr/>
          <p:nvPr/>
        </p:nvSpPr>
        <p:spPr>
          <a:xfrm>
            <a:off x="2641923" y="3260356"/>
            <a:ext cx="1700784" cy="0"/>
          </a:xfrm>
          <a:prstGeom prst="line">
            <a:avLst/>
          </a:prstGeom>
          <a:noFill/>
          <a:ln w="7620">
            <a:solidFill>
              <a:srgbClr val="F0F0F0"/>
            </a:solidFill>
            <a:prstDash val="solid"/>
          </a:ln>
        </p:spPr>
        <p:txBody>
          <a:bodyPr/>
          <a:lstStyle/>
          <a:p>
            <a:endParaRPr lang="en-CA"/>
          </a:p>
        </p:txBody>
      </p:sp>
      <p:sp>
        <p:nvSpPr>
          <p:cNvPr id="166" name="Text 11">
            <a:extLst>
              <a:ext uri="{FF2B5EF4-FFF2-40B4-BE49-F238E27FC236}">
                <a16:creationId xmlns:a16="http://schemas.microsoft.com/office/drawing/2014/main" id="{98056A7B-0850-DE30-782F-AE47F9007DF7}"/>
              </a:ext>
            </a:extLst>
          </p:cNvPr>
          <p:cNvSpPr/>
          <p:nvPr/>
        </p:nvSpPr>
        <p:spPr>
          <a:xfrm>
            <a:off x="4881857" y="2815356"/>
            <a:ext cx="1607545"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Mécanisme: comparaison bit à bit attendu vs obtenu + assertion.</a:t>
            </a:r>
            <a:endParaRPr lang="en-US" sz="850" dirty="0">
              <a:solidFill>
                <a:schemeClr val="bg1">
                  <a:lumMod val="50000"/>
                </a:schemeClr>
              </a:solidFill>
            </a:endParaRPr>
          </a:p>
        </p:txBody>
      </p:sp>
      <p:sp>
        <p:nvSpPr>
          <p:cNvPr id="168" name="Text 11">
            <a:extLst>
              <a:ext uri="{FF2B5EF4-FFF2-40B4-BE49-F238E27FC236}">
                <a16:creationId xmlns:a16="http://schemas.microsoft.com/office/drawing/2014/main" id="{FDF30578-C41A-79AD-F858-1D81A8AD36BF}"/>
              </a:ext>
            </a:extLst>
          </p:cNvPr>
          <p:cNvSpPr/>
          <p:nvPr/>
        </p:nvSpPr>
        <p:spPr>
          <a:xfrm>
            <a:off x="7122483" y="2812177"/>
            <a:ext cx="1582605"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Mécanisme: agrégation par suite et par plateforme, avec profil affiché.</a:t>
            </a:r>
            <a:endParaRPr lang="en-US" sz="850" dirty="0">
              <a:solidFill>
                <a:schemeClr val="bg1">
                  <a:lumMod val="50000"/>
                </a:schemeClr>
              </a:solidFill>
            </a:endParaRPr>
          </a:p>
        </p:txBody>
      </p:sp>
      <p:sp>
        <p:nvSpPr>
          <p:cNvPr id="170" name="Shape 24">
            <a:extLst>
              <a:ext uri="{FF2B5EF4-FFF2-40B4-BE49-F238E27FC236}">
                <a16:creationId xmlns:a16="http://schemas.microsoft.com/office/drawing/2014/main" id="{B20D607A-8F61-1DEC-949E-6E9BFEE9C1B7}"/>
              </a:ext>
            </a:extLst>
          </p:cNvPr>
          <p:cNvSpPr/>
          <p:nvPr/>
        </p:nvSpPr>
        <p:spPr>
          <a:xfrm>
            <a:off x="7050716" y="3260356"/>
            <a:ext cx="1700784" cy="0"/>
          </a:xfrm>
          <a:prstGeom prst="line">
            <a:avLst/>
          </a:prstGeom>
          <a:noFill/>
          <a:ln w="7620">
            <a:solidFill>
              <a:srgbClr val="F0F0F0"/>
            </a:solidFill>
            <a:prstDash val="solid"/>
          </a:ln>
        </p:spPr>
        <p:txBody>
          <a:bodyPr/>
          <a:lstStyle/>
          <a:p>
            <a:endParaRPr lang="en-CA"/>
          </a:p>
        </p:txBody>
      </p:sp>
      <p:sp>
        <p:nvSpPr>
          <p:cNvPr id="172" name="Shape 24">
            <a:extLst>
              <a:ext uri="{FF2B5EF4-FFF2-40B4-BE49-F238E27FC236}">
                <a16:creationId xmlns:a16="http://schemas.microsoft.com/office/drawing/2014/main" id="{FDDE0A5C-FD4E-BA94-DE28-6365B7A867C2}"/>
              </a:ext>
            </a:extLst>
          </p:cNvPr>
          <p:cNvSpPr/>
          <p:nvPr/>
        </p:nvSpPr>
        <p:spPr>
          <a:xfrm>
            <a:off x="7050716" y="3626116"/>
            <a:ext cx="1700784" cy="0"/>
          </a:xfrm>
          <a:prstGeom prst="line">
            <a:avLst/>
          </a:prstGeom>
          <a:noFill/>
          <a:ln w="7620">
            <a:solidFill>
              <a:srgbClr val="F0F0F0"/>
            </a:solidFill>
            <a:prstDash val="solid"/>
          </a:ln>
        </p:spPr>
        <p:txBody>
          <a:bodyPr/>
          <a:lstStyle/>
          <a:p>
            <a:endParaRPr lang="en-CA"/>
          </a:p>
        </p:txBody>
      </p:sp>
      <p:sp>
        <p:nvSpPr>
          <p:cNvPr id="174" name="Text 11">
            <a:extLst>
              <a:ext uri="{FF2B5EF4-FFF2-40B4-BE49-F238E27FC236}">
                <a16:creationId xmlns:a16="http://schemas.microsoft.com/office/drawing/2014/main" id="{815246C5-CAA6-E1B9-6C9B-2B6CCE72D0BB}"/>
              </a:ext>
            </a:extLst>
          </p:cNvPr>
          <p:cNvSpPr/>
          <p:nvPr/>
        </p:nvSpPr>
        <p:spPr>
          <a:xfrm>
            <a:off x="2709393" y="3339032"/>
            <a:ext cx="1607545"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Sortie: résultats bruts par vecteur.</a:t>
            </a:r>
            <a:endParaRPr lang="en-US" sz="850" dirty="0">
              <a:solidFill>
                <a:schemeClr val="bg1">
                  <a:lumMod val="50000"/>
                </a:schemeClr>
              </a:solidFill>
            </a:endParaRPr>
          </a:p>
        </p:txBody>
      </p:sp>
      <p:sp>
        <p:nvSpPr>
          <p:cNvPr id="176" name="Text 11">
            <a:extLst>
              <a:ext uri="{FF2B5EF4-FFF2-40B4-BE49-F238E27FC236}">
                <a16:creationId xmlns:a16="http://schemas.microsoft.com/office/drawing/2014/main" id="{8D38C60C-E8BB-D1D3-AE7B-F00678ABB33B}"/>
              </a:ext>
            </a:extLst>
          </p:cNvPr>
          <p:cNvSpPr/>
          <p:nvPr/>
        </p:nvSpPr>
        <p:spPr>
          <a:xfrm>
            <a:off x="4893838" y="4217580"/>
            <a:ext cx="1607545" cy="313745"/>
          </a:xfrm>
          <a:prstGeom prst="rect">
            <a:avLst/>
          </a:prstGeom>
          <a:noFill/>
          <a:ln/>
        </p:spPr>
        <p:txBody>
          <a:bodyPr wrap="square" lIns="0" tIns="0" rIns="0" bIns="0" rtlCol="0" anchor="t"/>
          <a:lstStyle/>
          <a:p>
            <a:pPr marL="0" indent="0">
              <a:buNone/>
            </a:pPr>
            <a:r>
              <a:rPr lang="fr-FR" sz="850" dirty="0">
                <a:solidFill>
                  <a:schemeClr val="bg1">
                    <a:lumMod val="50000"/>
                  </a:schemeClr>
                </a:solidFill>
                <a:latin typeface="Calibri" pitchFamily="34" charset="0"/>
                <a:ea typeface="Calibri" pitchFamily="34" charset="-122"/>
                <a:cs typeface="Calibri" pitchFamily="34" charset="-120"/>
              </a:rPr>
              <a:t>Sortie: statut par vecteur et détails d’échec.</a:t>
            </a:r>
            <a:endParaRPr lang="en-US" sz="850" dirty="0">
              <a:solidFill>
                <a:schemeClr val="bg1">
                  <a:lumMod val="50000"/>
                </a:schemeClr>
              </a:solidFill>
            </a:endParaRPr>
          </a:p>
        </p:txBody>
      </p:sp>
      <p:sp>
        <p:nvSpPr>
          <p:cNvPr id="178" name="Shape 24">
            <a:extLst>
              <a:ext uri="{FF2B5EF4-FFF2-40B4-BE49-F238E27FC236}">
                <a16:creationId xmlns:a16="http://schemas.microsoft.com/office/drawing/2014/main" id="{282DF12F-7B21-E5AE-660F-93424B4A0908}"/>
              </a:ext>
            </a:extLst>
          </p:cNvPr>
          <p:cNvSpPr/>
          <p:nvPr/>
        </p:nvSpPr>
        <p:spPr>
          <a:xfrm>
            <a:off x="4788618" y="4103247"/>
            <a:ext cx="1700784" cy="0"/>
          </a:xfrm>
          <a:prstGeom prst="line">
            <a:avLst/>
          </a:prstGeom>
          <a:noFill/>
          <a:ln w="7620">
            <a:solidFill>
              <a:srgbClr val="F0F0F0"/>
            </a:solidFill>
            <a:prstDash val="solid"/>
          </a:ln>
        </p:spPr>
        <p:txBody>
          <a:bodyPr/>
          <a:lstStyle/>
          <a:p>
            <a:endParaRPr lang="en-CA"/>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03e  ·  VALIDATION CRYPTOGRAPHIQUE — KAT</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Résultats KAT </a:t>
            </a:r>
            <a:r>
              <a:rPr lang="en-US" sz="1500" b="1" dirty="0">
                <a:solidFill>
                  <a:srgbClr val="C9A84C"/>
                </a:solidFill>
                <a:latin typeface="Calibri" pitchFamily="34" charset="0"/>
                <a:ea typeface="Calibri" pitchFamily="34" charset="-122"/>
                <a:cs typeface="Calibri" pitchFamily="34" charset="-120"/>
              </a:rPr>
              <a:t>— profil principal</a:t>
            </a:r>
            <a:endParaRPr lang="en-US" sz="1500" dirty="0"/>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22" name="Shape 20"/>
          <p:cNvSpPr/>
          <p:nvPr/>
        </p:nvSpPr>
        <p:spPr>
          <a:xfrm>
            <a:off x="475488" y="1003814"/>
            <a:ext cx="8321040" cy="329184"/>
          </a:xfrm>
          <a:prstGeom prst="rect">
            <a:avLst/>
          </a:prstGeom>
          <a:solidFill>
            <a:srgbClr val="0A0A0A"/>
          </a:solidFill>
          <a:ln w="12700">
            <a:solidFill>
              <a:srgbClr val="0A0A0A"/>
            </a:solidFill>
            <a:prstDash val="solid"/>
          </a:ln>
        </p:spPr>
        <p:txBody>
          <a:bodyPr/>
          <a:lstStyle/>
          <a:p>
            <a:endParaRPr lang="en-CA">
              <a:solidFill>
                <a:schemeClr val="bg1"/>
              </a:solidFill>
            </a:endParaRPr>
          </a:p>
        </p:txBody>
      </p:sp>
      <p:sp>
        <p:nvSpPr>
          <p:cNvPr id="23" name="Text 21"/>
          <p:cNvSpPr/>
          <p:nvPr/>
        </p:nvSpPr>
        <p:spPr>
          <a:xfrm>
            <a:off x="603504" y="1019897"/>
            <a:ext cx="822960" cy="329184"/>
          </a:xfrm>
          <a:prstGeom prst="rect">
            <a:avLst/>
          </a:prstGeom>
          <a:noFill/>
          <a:ln/>
        </p:spPr>
        <p:txBody>
          <a:bodyPr wrap="square" lIns="0" tIns="0" rIns="0" bIns="0" rtlCol="0" anchor="ctr"/>
          <a:lstStyle/>
          <a:p>
            <a:pPr marL="0" indent="0">
              <a:buNone/>
            </a:pPr>
            <a:r>
              <a:rPr lang="en-US" sz="750" b="1" kern="0" spc="50" dirty="0">
                <a:solidFill>
                  <a:srgbClr val="C9A84C"/>
                </a:solidFill>
                <a:latin typeface="Calibri" pitchFamily="34" charset="0"/>
                <a:ea typeface="Calibri" pitchFamily="34" charset="-122"/>
                <a:cs typeface="Calibri" pitchFamily="34" charset="-120"/>
              </a:rPr>
              <a:t>SUITE</a:t>
            </a:r>
            <a:endParaRPr lang="en-US" sz="750" dirty="0"/>
          </a:p>
        </p:txBody>
      </p:sp>
      <p:sp>
        <p:nvSpPr>
          <p:cNvPr id="24" name="Text 22"/>
          <p:cNvSpPr/>
          <p:nvPr/>
        </p:nvSpPr>
        <p:spPr>
          <a:xfrm>
            <a:off x="1481328" y="1019897"/>
            <a:ext cx="1463040" cy="329184"/>
          </a:xfrm>
          <a:prstGeom prst="rect">
            <a:avLst/>
          </a:prstGeom>
          <a:noFill/>
          <a:ln/>
        </p:spPr>
        <p:txBody>
          <a:bodyPr wrap="square" lIns="0" tIns="0" rIns="0" bIns="0" rtlCol="0" anchor="ctr"/>
          <a:lstStyle/>
          <a:p>
            <a:pPr marL="0" indent="0">
              <a:buNone/>
            </a:pPr>
            <a:r>
              <a:rPr lang="en-US" sz="750" b="1" kern="0" spc="50" dirty="0">
                <a:solidFill>
                  <a:srgbClr val="C9A84C"/>
                </a:solidFill>
                <a:latin typeface="Calibri" pitchFamily="34" charset="0"/>
                <a:ea typeface="Calibri" pitchFamily="34" charset="-122"/>
                <a:cs typeface="Calibri" pitchFamily="34" charset="-120"/>
              </a:rPr>
              <a:t>SOURCE</a:t>
            </a:r>
            <a:endParaRPr lang="en-US" sz="750" dirty="0"/>
          </a:p>
        </p:txBody>
      </p:sp>
      <p:sp>
        <p:nvSpPr>
          <p:cNvPr id="25" name="Text 23"/>
          <p:cNvSpPr/>
          <p:nvPr/>
        </p:nvSpPr>
        <p:spPr>
          <a:xfrm>
            <a:off x="2999232" y="1019897"/>
            <a:ext cx="3950208" cy="329184"/>
          </a:xfrm>
          <a:prstGeom prst="rect">
            <a:avLst/>
          </a:prstGeom>
          <a:noFill/>
          <a:ln/>
        </p:spPr>
        <p:txBody>
          <a:bodyPr wrap="square" lIns="0" tIns="0" rIns="0" bIns="0" rtlCol="0" anchor="ctr"/>
          <a:lstStyle/>
          <a:p>
            <a:pPr marL="0" indent="0">
              <a:buNone/>
            </a:pPr>
            <a:r>
              <a:rPr lang="en-US" sz="750" b="1" kern="0" spc="50" dirty="0">
                <a:solidFill>
                  <a:srgbClr val="C9A84C"/>
                </a:solidFill>
                <a:latin typeface="Calibri" pitchFamily="34" charset="0"/>
                <a:ea typeface="Calibri" pitchFamily="34" charset="-122"/>
                <a:cs typeface="Calibri" pitchFamily="34" charset="-120"/>
              </a:rPr>
              <a:t>COUVERTURE</a:t>
            </a:r>
            <a:endParaRPr lang="en-US" sz="750" dirty="0"/>
          </a:p>
        </p:txBody>
      </p:sp>
      <p:sp>
        <p:nvSpPr>
          <p:cNvPr id="26" name="Text 24"/>
          <p:cNvSpPr/>
          <p:nvPr/>
        </p:nvSpPr>
        <p:spPr>
          <a:xfrm>
            <a:off x="6547104" y="1003814"/>
            <a:ext cx="658368" cy="329184"/>
          </a:xfrm>
          <a:prstGeom prst="rect">
            <a:avLst/>
          </a:prstGeom>
          <a:noFill/>
          <a:ln/>
        </p:spPr>
        <p:txBody>
          <a:bodyPr wrap="square" lIns="0" tIns="0" rIns="0" bIns="0" rtlCol="0" anchor="ctr"/>
          <a:lstStyle/>
          <a:p>
            <a:pPr marL="0" indent="0">
              <a:buNone/>
            </a:pPr>
            <a:r>
              <a:rPr lang="en-US" sz="750" b="1" kern="0" spc="50" dirty="0">
                <a:solidFill>
                  <a:srgbClr val="C9A84C"/>
                </a:solidFill>
                <a:latin typeface="Calibri" pitchFamily="34" charset="0"/>
                <a:ea typeface="Calibri" pitchFamily="34" charset="-122"/>
                <a:cs typeface="Calibri" pitchFamily="34" charset="-120"/>
              </a:rPr>
              <a:t>ASSERTIONS</a:t>
            </a:r>
            <a:endParaRPr lang="en-US" sz="750" dirty="0"/>
          </a:p>
        </p:txBody>
      </p:sp>
      <p:sp>
        <p:nvSpPr>
          <p:cNvPr id="27" name="Text 25"/>
          <p:cNvSpPr/>
          <p:nvPr/>
        </p:nvSpPr>
        <p:spPr>
          <a:xfrm>
            <a:off x="7302230" y="1019897"/>
            <a:ext cx="1421146" cy="329184"/>
          </a:xfrm>
          <a:prstGeom prst="rect">
            <a:avLst/>
          </a:prstGeom>
          <a:noFill/>
          <a:ln/>
        </p:spPr>
        <p:txBody>
          <a:bodyPr wrap="square" lIns="0" tIns="0" rIns="0" bIns="0" rtlCol="0" anchor="ctr"/>
          <a:lstStyle/>
          <a:p>
            <a:pPr marL="0" indent="0" algn="ctr">
              <a:buNone/>
            </a:pPr>
            <a:r>
              <a:rPr lang="en-US" sz="750" b="1" kern="0" spc="50" dirty="0">
                <a:solidFill>
                  <a:srgbClr val="C9A84C"/>
                </a:solidFill>
                <a:latin typeface="Calibri" pitchFamily="34" charset="0"/>
                <a:ea typeface="Calibri" pitchFamily="34" charset="-122"/>
                <a:cs typeface="Calibri" pitchFamily="34" charset="-120"/>
              </a:rPr>
              <a:t>RÉSULTAT x86 &amp; ARM</a:t>
            </a:r>
            <a:endParaRPr lang="en-US" sz="750" dirty="0"/>
          </a:p>
        </p:txBody>
      </p:sp>
      <p:sp>
        <p:nvSpPr>
          <p:cNvPr id="28" name="Shape 26"/>
          <p:cNvSpPr/>
          <p:nvPr/>
        </p:nvSpPr>
        <p:spPr>
          <a:xfrm>
            <a:off x="475488" y="1349081"/>
            <a:ext cx="8321040" cy="402336"/>
          </a:xfrm>
          <a:prstGeom prst="rect">
            <a:avLst/>
          </a:prstGeom>
          <a:solidFill>
            <a:srgbClr val="FAFAFA"/>
          </a:solidFill>
          <a:ln w="12700">
            <a:solidFill>
              <a:srgbClr val="FAFAFA"/>
            </a:solidFill>
            <a:prstDash val="solid"/>
          </a:ln>
        </p:spPr>
        <p:txBody>
          <a:bodyPr/>
          <a:lstStyle/>
          <a:p>
            <a:endParaRPr lang="en-CA"/>
          </a:p>
        </p:txBody>
      </p:sp>
      <p:sp>
        <p:nvSpPr>
          <p:cNvPr id="29" name="Shape 27"/>
          <p:cNvSpPr/>
          <p:nvPr/>
        </p:nvSpPr>
        <p:spPr>
          <a:xfrm>
            <a:off x="475488" y="1751417"/>
            <a:ext cx="8321040" cy="0"/>
          </a:xfrm>
          <a:prstGeom prst="line">
            <a:avLst/>
          </a:prstGeom>
          <a:noFill/>
          <a:ln w="5080">
            <a:solidFill>
              <a:srgbClr val="EEEEEE"/>
            </a:solidFill>
            <a:prstDash val="solid"/>
          </a:ln>
        </p:spPr>
        <p:txBody>
          <a:bodyPr/>
          <a:lstStyle/>
          <a:p>
            <a:endParaRPr lang="en-CA"/>
          </a:p>
        </p:txBody>
      </p:sp>
      <p:sp>
        <p:nvSpPr>
          <p:cNvPr id="30" name="Shape 28"/>
          <p:cNvSpPr/>
          <p:nvPr/>
        </p:nvSpPr>
        <p:spPr>
          <a:xfrm>
            <a:off x="475488" y="1349081"/>
            <a:ext cx="36576" cy="402336"/>
          </a:xfrm>
          <a:prstGeom prst="rect">
            <a:avLst/>
          </a:prstGeom>
          <a:solidFill>
            <a:srgbClr val="888888"/>
          </a:solidFill>
          <a:ln w="12700">
            <a:solidFill>
              <a:srgbClr val="888888"/>
            </a:solidFill>
            <a:prstDash val="solid"/>
          </a:ln>
        </p:spPr>
        <p:txBody>
          <a:bodyPr/>
          <a:lstStyle/>
          <a:p>
            <a:endParaRPr lang="en-CA"/>
          </a:p>
        </p:txBody>
      </p:sp>
      <p:sp>
        <p:nvSpPr>
          <p:cNvPr id="31" name="Text 29"/>
          <p:cNvSpPr/>
          <p:nvPr/>
        </p:nvSpPr>
        <p:spPr>
          <a:xfrm>
            <a:off x="603504" y="1349081"/>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AES</a:t>
            </a:r>
            <a:endParaRPr lang="en-US" sz="900" dirty="0"/>
          </a:p>
        </p:txBody>
      </p:sp>
      <p:sp>
        <p:nvSpPr>
          <p:cNvPr id="32" name="Shape 30"/>
          <p:cNvSpPr/>
          <p:nvPr/>
        </p:nvSpPr>
        <p:spPr>
          <a:xfrm>
            <a:off x="1463040" y="1422233"/>
            <a:ext cx="0" cy="256032"/>
          </a:xfrm>
          <a:prstGeom prst="line">
            <a:avLst/>
          </a:prstGeom>
          <a:noFill/>
          <a:ln w="6350">
            <a:solidFill>
              <a:srgbClr val="EEEEEE"/>
            </a:solidFill>
            <a:prstDash val="solid"/>
          </a:ln>
        </p:spPr>
        <p:txBody>
          <a:bodyPr/>
          <a:lstStyle/>
          <a:p>
            <a:endParaRPr lang="en-CA"/>
          </a:p>
        </p:txBody>
      </p:sp>
      <p:sp>
        <p:nvSpPr>
          <p:cNvPr id="33" name="Text 31"/>
          <p:cNvSpPr/>
          <p:nvPr/>
        </p:nvSpPr>
        <p:spPr>
          <a:xfrm>
            <a:off x="1517904" y="1349081"/>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NIST FIPS 197</a:t>
            </a:r>
            <a:endParaRPr lang="en-US" sz="750" dirty="0"/>
          </a:p>
        </p:txBody>
      </p:sp>
      <p:sp>
        <p:nvSpPr>
          <p:cNvPr id="34" name="Shape 32"/>
          <p:cNvSpPr/>
          <p:nvPr/>
        </p:nvSpPr>
        <p:spPr>
          <a:xfrm>
            <a:off x="2980944" y="1422233"/>
            <a:ext cx="0" cy="256032"/>
          </a:xfrm>
          <a:prstGeom prst="line">
            <a:avLst/>
          </a:prstGeom>
          <a:noFill/>
          <a:ln w="6350">
            <a:solidFill>
              <a:srgbClr val="EEEEEE"/>
            </a:solidFill>
            <a:prstDash val="solid"/>
          </a:ln>
        </p:spPr>
        <p:txBody>
          <a:bodyPr/>
          <a:lstStyle/>
          <a:p>
            <a:endParaRPr lang="en-CA"/>
          </a:p>
        </p:txBody>
      </p:sp>
      <p:sp>
        <p:nvSpPr>
          <p:cNvPr id="35" name="Text 33"/>
          <p:cNvSpPr/>
          <p:nvPr/>
        </p:nvSpPr>
        <p:spPr>
          <a:xfrm>
            <a:off x="3035808" y="1349081"/>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Vecteurs couvrant les clés 128, 192 et 256 bits</a:t>
            </a:r>
            <a:endParaRPr lang="en-US" sz="800" dirty="0"/>
          </a:p>
        </p:txBody>
      </p:sp>
      <p:sp>
        <p:nvSpPr>
          <p:cNvPr id="36" name="Shape 34"/>
          <p:cNvSpPr/>
          <p:nvPr/>
        </p:nvSpPr>
        <p:spPr>
          <a:xfrm>
            <a:off x="6510528" y="1406150"/>
            <a:ext cx="0" cy="256032"/>
          </a:xfrm>
          <a:prstGeom prst="line">
            <a:avLst/>
          </a:prstGeom>
          <a:noFill/>
          <a:ln w="6350">
            <a:solidFill>
              <a:srgbClr val="EEEEEE"/>
            </a:solidFill>
            <a:prstDash val="solid"/>
          </a:ln>
        </p:spPr>
        <p:txBody>
          <a:bodyPr/>
          <a:lstStyle/>
          <a:p>
            <a:endParaRPr lang="en-CA"/>
          </a:p>
        </p:txBody>
      </p:sp>
      <p:sp>
        <p:nvSpPr>
          <p:cNvPr id="37" name="Text 35"/>
          <p:cNvSpPr/>
          <p:nvPr/>
        </p:nvSpPr>
        <p:spPr>
          <a:xfrm>
            <a:off x="6547104" y="1332998"/>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10</a:t>
            </a:r>
            <a:endParaRPr lang="en-US" sz="1100" dirty="0"/>
          </a:p>
        </p:txBody>
      </p:sp>
      <p:sp>
        <p:nvSpPr>
          <p:cNvPr id="38" name="Shape 36"/>
          <p:cNvSpPr/>
          <p:nvPr/>
        </p:nvSpPr>
        <p:spPr>
          <a:xfrm>
            <a:off x="7242048" y="1406150"/>
            <a:ext cx="0" cy="256032"/>
          </a:xfrm>
          <a:prstGeom prst="line">
            <a:avLst/>
          </a:prstGeom>
          <a:noFill/>
          <a:ln w="6350">
            <a:solidFill>
              <a:srgbClr val="EEEEEE"/>
            </a:solidFill>
            <a:prstDash val="solid"/>
          </a:ln>
        </p:spPr>
        <p:txBody>
          <a:bodyPr/>
          <a:lstStyle/>
          <a:p>
            <a:endParaRPr lang="en-CA"/>
          </a:p>
        </p:txBody>
      </p:sp>
      <p:sp>
        <p:nvSpPr>
          <p:cNvPr id="39" name="Text 37"/>
          <p:cNvSpPr/>
          <p:nvPr/>
        </p:nvSpPr>
        <p:spPr>
          <a:xfrm>
            <a:off x="7278625" y="1349081"/>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40" name="Shape 38"/>
          <p:cNvSpPr/>
          <p:nvPr/>
        </p:nvSpPr>
        <p:spPr>
          <a:xfrm>
            <a:off x="475488" y="1751417"/>
            <a:ext cx="8321040" cy="402336"/>
          </a:xfrm>
          <a:prstGeom prst="rect">
            <a:avLst/>
          </a:prstGeom>
          <a:solidFill>
            <a:srgbClr val="FFFFFF"/>
          </a:solidFill>
          <a:ln w="12700">
            <a:solidFill>
              <a:srgbClr val="FFFFFF"/>
            </a:solidFill>
            <a:prstDash val="solid"/>
          </a:ln>
        </p:spPr>
        <p:txBody>
          <a:bodyPr/>
          <a:lstStyle/>
          <a:p>
            <a:endParaRPr lang="en-CA"/>
          </a:p>
        </p:txBody>
      </p:sp>
      <p:sp>
        <p:nvSpPr>
          <p:cNvPr id="41" name="Shape 39"/>
          <p:cNvSpPr/>
          <p:nvPr/>
        </p:nvSpPr>
        <p:spPr>
          <a:xfrm>
            <a:off x="475488" y="2153753"/>
            <a:ext cx="8321040" cy="0"/>
          </a:xfrm>
          <a:prstGeom prst="line">
            <a:avLst/>
          </a:prstGeom>
          <a:noFill/>
          <a:ln w="5080">
            <a:solidFill>
              <a:srgbClr val="EEEEEE"/>
            </a:solidFill>
            <a:prstDash val="solid"/>
          </a:ln>
        </p:spPr>
        <p:txBody>
          <a:bodyPr/>
          <a:lstStyle/>
          <a:p>
            <a:endParaRPr lang="en-CA"/>
          </a:p>
        </p:txBody>
      </p:sp>
      <p:sp>
        <p:nvSpPr>
          <p:cNvPr id="42" name="Shape 40"/>
          <p:cNvSpPr/>
          <p:nvPr/>
        </p:nvSpPr>
        <p:spPr>
          <a:xfrm>
            <a:off x="475488" y="1751417"/>
            <a:ext cx="36576" cy="402336"/>
          </a:xfrm>
          <a:prstGeom prst="rect">
            <a:avLst/>
          </a:prstGeom>
          <a:solidFill>
            <a:srgbClr val="888888"/>
          </a:solidFill>
          <a:ln w="12700">
            <a:solidFill>
              <a:srgbClr val="888888"/>
            </a:solidFill>
            <a:prstDash val="solid"/>
          </a:ln>
        </p:spPr>
        <p:txBody>
          <a:bodyPr/>
          <a:lstStyle/>
          <a:p>
            <a:endParaRPr lang="en-CA"/>
          </a:p>
        </p:txBody>
      </p:sp>
      <p:sp>
        <p:nvSpPr>
          <p:cNvPr id="43" name="Text 41"/>
          <p:cNvSpPr/>
          <p:nvPr/>
        </p:nvSpPr>
        <p:spPr>
          <a:xfrm>
            <a:off x="603504" y="1751417"/>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DES</a:t>
            </a:r>
            <a:endParaRPr lang="en-US" sz="900" dirty="0"/>
          </a:p>
        </p:txBody>
      </p:sp>
      <p:sp>
        <p:nvSpPr>
          <p:cNvPr id="44" name="Shape 42"/>
          <p:cNvSpPr/>
          <p:nvPr/>
        </p:nvSpPr>
        <p:spPr>
          <a:xfrm>
            <a:off x="1463040" y="1824569"/>
            <a:ext cx="0" cy="256032"/>
          </a:xfrm>
          <a:prstGeom prst="line">
            <a:avLst/>
          </a:prstGeom>
          <a:noFill/>
          <a:ln w="6350">
            <a:solidFill>
              <a:srgbClr val="EEEEEE"/>
            </a:solidFill>
            <a:prstDash val="solid"/>
          </a:ln>
        </p:spPr>
        <p:txBody>
          <a:bodyPr/>
          <a:lstStyle/>
          <a:p>
            <a:endParaRPr lang="en-CA"/>
          </a:p>
        </p:txBody>
      </p:sp>
      <p:sp>
        <p:nvSpPr>
          <p:cNvPr id="45" name="Text 43"/>
          <p:cNvSpPr/>
          <p:nvPr/>
        </p:nvSpPr>
        <p:spPr>
          <a:xfrm>
            <a:off x="1517904" y="1751417"/>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NIST SP 800-17</a:t>
            </a:r>
            <a:endParaRPr lang="en-US" sz="750" dirty="0"/>
          </a:p>
        </p:txBody>
      </p:sp>
      <p:sp>
        <p:nvSpPr>
          <p:cNvPr id="46" name="Shape 44"/>
          <p:cNvSpPr/>
          <p:nvPr/>
        </p:nvSpPr>
        <p:spPr>
          <a:xfrm>
            <a:off x="2980944" y="1824569"/>
            <a:ext cx="0" cy="256032"/>
          </a:xfrm>
          <a:prstGeom prst="line">
            <a:avLst/>
          </a:prstGeom>
          <a:noFill/>
          <a:ln w="6350">
            <a:solidFill>
              <a:srgbClr val="EEEEEE"/>
            </a:solidFill>
            <a:prstDash val="solid"/>
          </a:ln>
        </p:spPr>
        <p:txBody>
          <a:bodyPr/>
          <a:lstStyle/>
          <a:p>
            <a:endParaRPr lang="en-CA"/>
          </a:p>
        </p:txBody>
      </p:sp>
      <p:sp>
        <p:nvSpPr>
          <p:cNvPr id="47" name="Text 45"/>
          <p:cNvSpPr/>
          <p:nvPr/>
        </p:nvSpPr>
        <p:spPr>
          <a:xfrm>
            <a:off x="3035808" y="1751417"/>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Couples clair/chiffré représentatifs issus du corpus KAT</a:t>
            </a:r>
            <a:endParaRPr lang="en-US" sz="800" dirty="0"/>
          </a:p>
        </p:txBody>
      </p:sp>
      <p:sp>
        <p:nvSpPr>
          <p:cNvPr id="48" name="Shape 46"/>
          <p:cNvSpPr/>
          <p:nvPr/>
        </p:nvSpPr>
        <p:spPr>
          <a:xfrm>
            <a:off x="6510528" y="1808486"/>
            <a:ext cx="0" cy="256032"/>
          </a:xfrm>
          <a:prstGeom prst="line">
            <a:avLst/>
          </a:prstGeom>
          <a:noFill/>
          <a:ln w="6350">
            <a:solidFill>
              <a:srgbClr val="EEEEEE"/>
            </a:solidFill>
            <a:prstDash val="solid"/>
          </a:ln>
        </p:spPr>
        <p:txBody>
          <a:bodyPr/>
          <a:lstStyle/>
          <a:p>
            <a:endParaRPr lang="en-CA"/>
          </a:p>
        </p:txBody>
      </p:sp>
      <p:sp>
        <p:nvSpPr>
          <p:cNvPr id="49" name="Text 47"/>
          <p:cNvSpPr/>
          <p:nvPr/>
        </p:nvSpPr>
        <p:spPr>
          <a:xfrm>
            <a:off x="6547104" y="1735334"/>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18</a:t>
            </a:r>
            <a:endParaRPr lang="en-US" sz="1100" dirty="0"/>
          </a:p>
        </p:txBody>
      </p:sp>
      <p:sp>
        <p:nvSpPr>
          <p:cNvPr id="50" name="Shape 48"/>
          <p:cNvSpPr/>
          <p:nvPr/>
        </p:nvSpPr>
        <p:spPr>
          <a:xfrm>
            <a:off x="7242048" y="1808486"/>
            <a:ext cx="0" cy="256032"/>
          </a:xfrm>
          <a:prstGeom prst="line">
            <a:avLst/>
          </a:prstGeom>
          <a:noFill/>
          <a:ln w="6350">
            <a:solidFill>
              <a:srgbClr val="EEEEEE"/>
            </a:solidFill>
            <a:prstDash val="solid"/>
          </a:ln>
        </p:spPr>
        <p:txBody>
          <a:bodyPr/>
          <a:lstStyle/>
          <a:p>
            <a:endParaRPr lang="en-CA"/>
          </a:p>
        </p:txBody>
      </p:sp>
      <p:sp>
        <p:nvSpPr>
          <p:cNvPr id="51" name="Text 49"/>
          <p:cNvSpPr/>
          <p:nvPr/>
        </p:nvSpPr>
        <p:spPr>
          <a:xfrm>
            <a:off x="7278625" y="1751417"/>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52" name="Shape 50"/>
          <p:cNvSpPr/>
          <p:nvPr/>
        </p:nvSpPr>
        <p:spPr>
          <a:xfrm>
            <a:off x="475488" y="2153753"/>
            <a:ext cx="8321040" cy="402336"/>
          </a:xfrm>
          <a:prstGeom prst="rect">
            <a:avLst/>
          </a:prstGeom>
          <a:solidFill>
            <a:srgbClr val="FAFAFA"/>
          </a:solidFill>
          <a:ln w="12700">
            <a:solidFill>
              <a:srgbClr val="FAFAFA"/>
            </a:solidFill>
            <a:prstDash val="solid"/>
          </a:ln>
        </p:spPr>
        <p:txBody>
          <a:bodyPr/>
          <a:lstStyle/>
          <a:p>
            <a:endParaRPr lang="en-CA"/>
          </a:p>
        </p:txBody>
      </p:sp>
      <p:sp>
        <p:nvSpPr>
          <p:cNvPr id="53" name="Shape 51"/>
          <p:cNvSpPr/>
          <p:nvPr/>
        </p:nvSpPr>
        <p:spPr>
          <a:xfrm>
            <a:off x="475488" y="2556089"/>
            <a:ext cx="8321040" cy="0"/>
          </a:xfrm>
          <a:prstGeom prst="line">
            <a:avLst/>
          </a:prstGeom>
          <a:noFill/>
          <a:ln w="5080">
            <a:solidFill>
              <a:srgbClr val="EEEEEE"/>
            </a:solidFill>
            <a:prstDash val="solid"/>
          </a:ln>
        </p:spPr>
        <p:txBody>
          <a:bodyPr/>
          <a:lstStyle/>
          <a:p>
            <a:endParaRPr lang="en-CA"/>
          </a:p>
        </p:txBody>
      </p:sp>
      <p:sp>
        <p:nvSpPr>
          <p:cNvPr id="54" name="Shape 52"/>
          <p:cNvSpPr/>
          <p:nvPr/>
        </p:nvSpPr>
        <p:spPr>
          <a:xfrm>
            <a:off x="475488" y="2153753"/>
            <a:ext cx="36576" cy="402336"/>
          </a:xfrm>
          <a:prstGeom prst="rect">
            <a:avLst/>
          </a:prstGeom>
          <a:solidFill>
            <a:srgbClr val="888888"/>
          </a:solidFill>
          <a:ln w="12700">
            <a:solidFill>
              <a:srgbClr val="888888"/>
            </a:solidFill>
            <a:prstDash val="solid"/>
          </a:ln>
        </p:spPr>
        <p:txBody>
          <a:bodyPr/>
          <a:lstStyle/>
          <a:p>
            <a:endParaRPr lang="en-CA"/>
          </a:p>
        </p:txBody>
      </p:sp>
      <p:sp>
        <p:nvSpPr>
          <p:cNvPr id="55" name="Text 53"/>
          <p:cNvSpPr/>
          <p:nvPr/>
        </p:nvSpPr>
        <p:spPr>
          <a:xfrm>
            <a:off x="603504" y="2153753"/>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3DES</a:t>
            </a:r>
            <a:endParaRPr lang="en-US" sz="900" dirty="0"/>
          </a:p>
        </p:txBody>
      </p:sp>
      <p:sp>
        <p:nvSpPr>
          <p:cNvPr id="56" name="Shape 54"/>
          <p:cNvSpPr/>
          <p:nvPr/>
        </p:nvSpPr>
        <p:spPr>
          <a:xfrm>
            <a:off x="1463040" y="2226905"/>
            <a:ext cx="0" cy="256032"/>
          </a:xfrm>
          <a:prstGeom prst="line">
            <a:avLst/>
          </a:prstGeom>
          <a:noFill/>
          <a:ln w="6350">
            <a:solidFill>
              <a:srgbClr val="EEEEEE"/>
            </a:solidFill>
            <a:prstDash val="solid"/>
          </a:ln>
        </p:spPr>
        <p:txBody>
          <a:bodyPr/>
          <a:lstStyle/>
          <a:p>
            <a:endParaRPr lang="en-CA"/>
          </a:p>
        </p:txBody>
      </p:sp>
      <p:sp>
        <p:nvSpPr>
          <p:cNvPr id="57" name="Text 55"/>
          <p:cNvSpPr/>
          <p:nvPr/>
        </p:nvSpPr>
        <p:spPr>
          <a:xfrm>
            <a:off x="1517904" y="2153753"/>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NIST SP 800-67</a:t>
            </a:r>
            <a:endParaRPr lang="en-US" sz="750" dirty="0"/>
          </a:p>
        </p:txBody>
      </p:sp>
      <p:sp>
        <p:nvSpPr>
          <p:cNvPr id="58" name="Shape 56"/>
          <p:cNvSpPr/>
          <p:nvPr/>
        </p:nvSpPr>
        <p:spPr>
          <a:xfrm>
            <a:off x="2980944" y="2226905"/>
            <a:ext cx="0" cy="256032"/>
          </a:xfrm>
          <a:prstGeom prst="line">
            <a:avLst/>
          </a:prstGeom>
          <a:noFill/>
          <a:ln w="6350">
            <a:solidFill>
              <a:srgbClr val="EEEEEE"/>
            </a:solidFill>
            <a:prstDash val="solid"/>
          </a:ln>
        </p:spPr>
        <p:txBody>
          <a:bodyPr/>
          <a:lstStyle/>
          <a:p>
            <a:endParaRPr lang="en-CA"/>
          </a:p>
        </p:txBody>
      </p:sp>
      <p:sp>
        <p:nvSpPr>
          <p:cNvPr id="59" name="Text 57"/>
          <p:cNvSpPr/>
          <p:nvPr/>
        </p:nvSpPr>
        <p:spPr>
          <a:xfrm>
            <a:off x="3035808" y="2153753"/>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Cas représentatifs à 2 clés et à 3 clés (EDE)</a:t>
            </a:r>
            <a:endParaRPr lang="en-US" sz="800" dirty="0"/>
          </a:p>
        </p:txBody>
      </p:sp>
      <p:sp>
        <p:nvSpPr>
          <p:cNvPr id="60" name="Shape 58"/>
          <p:cNvSpPr/>
          <p:nvPr/>
        </p:nvSpPr>
        <p:spPr>
          <a:xfrm>
            <a:off x="6510528" y="2210822"/>
            <a:ext cx="0" cy="256032"/>
          </a:xfrm>
          <a:prstGeom prst="line">
            <a:avLst/>
          </a:prstGeom>
          <a:noFill/>
          <a:ln w="6350">
            <a:solidFill>
              <a:srgbClr val="EEEEEE"/>
            </a:solidFill>
            <a:prstDash val="solid"/>
          </a:ln>
        </p:spPr>
        <p:txBody>
          <a:bodyPr/>
          <a:lstStyle/>
          <a:p>
            <a:endParaRPr lang="en-CA"/>
          </a:p>
        </p:txBody>
      </p:sp>
      <p:sp>
        <p:nvSpPr>
          <p:cNvPr id="61" name="Text 59"/>
          <p:cNvSpPr/>
          <p:nvPr/>
        </p:nvSpPr>
        <p:spPr>
          <a:xfrm>
            <a:off x="6547104" y="2137670"/>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4</a:t>
            </a:r>
            <a:endParaRPr lang="en-US" sz="1100" dirty="0"/>
          </a:p>
        </p:txBody>
      </p:sp>
      <p:sp>
        <p:nvSpPr>
          <p:cNvPr id="62" name="Shape 60"/>
          <p:cNvSpPr/>
          <p:nvPr/>
        </p:nvSpPr>
        <p:spPr>
          <a:xfrm>
            <a:off x="7242048" y="2210822"/>
            <a:ext cx="0" cy="256032"/>
          </a:xfrm>
          <a:prstGeom prst="line">
            <a:avLst/>
          </a:prstGeom>
          <a:noFill/>
          <a:ln w="6350">
            <a:solidFill>
              <a:srgbClr val="EEEEEE"/>
            </a:solidFill>
            <a:prstDash val="solid"/>
          </a:ln>
        </p:spPr>
        <p:txBody>
          <a:bodyPr/>
          <a:lstStyle/>
          <a:p>
            <a:endParaRPr lang="en-CA"/>
          </a:p>
        </p:txBody>
      </p:sp>
      <p:sp>
        <p:nvSpPr>
          <p:cNvPr id="63" name="Text 61"/>
          <p:cNvSpPr/>
          <p:nvPr/>
        </p:nvSpPr>
        <p:spPr>
          <a:xfrm>
            <a:off x="7278625" y="2153753"/>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64" name="Shape 62"/>
          <p:cNvSpPr/>
          <p:nvPr/>
        </p:nvSpPr>
        <p:spPr>
          <a:xfrm>
            <a:off x="475488" y="2556089"/>
            <a:ext cx="8321040" cy="402336"/>
          </a:xfrm>
          <a:prstGeom prst="rect">
            <a:avLst/>
          </a:prstGeom>
          <a:solidFill>
            <a:srgbClr val="FFFFFF"/>
          </a:solidFill>
          <a:ln w="12700">
            <a:solidFill>
              <a:srgbClr val="FFFFFF"/>
            </a:solidFill>
            <a:prstDash val="solid"/>
          </a:ln>
        </p:spPr>
        <p:txBody>
          <a:bodyPr/>
          <a:lstStyle/>
          <a:p>
            <a:endParaRPr lang="en-CA"/>
          </a:p>
        </p:txBody>
      </p:sp>
      <p:sp>
        <p:nvSpPr>
          <p:cNvPr id="65" name="Shape 63"/>
          <p:cNvSpPr/>
          <p:nvPr/>
        </p:nvSpPr>
        <p:spPr>
          <a:xfrm>
            <a:off x="475488" y="2958425"/>
            <a:ext cx="8321040" cy="0"/>
          </a:xfrm>
          <a:prstGeom prst="line">
            <a:avLst/>
          </a:prstGeom>
          <a:noFill/>
          <a:ln w="5080">
            <a:solidFill>
              <a:srgbClr val="EEEEEE"/>
            </a:solidFill>
            <a:prstDash val="solid"/>
          </a:ln>
        </p:spPr>
        <p:txBody>
          <a:bodyPr/>
          <a:lstStyle/>
          <a:p>
            <a:endParaRPr lang="en-CA"/>
          </a:p>
        </p:txBody>
      </p:sp>
      <p:sp>
        <p:nvSpPr>
          <p:cNvPr id="66" name="Shape 64"/>
          <p:cNvSpPr/>
          <p:nvPr/>
        </p:nvSpPr>
        <p:spPr>
          <a:xfrm>
            <a:off x="475488" y="2556089"/>
            <a:ext cx="36576" cy="402336"/>
          </a:xfrm>
          <a:prstGeom prst="rect">
            <a:avLst/>
          </a:prstGeom>
          <a:solidFill>
            <a:srgbClr val="888888"/>
          </a:solidFill>
          <a:ln w="12700">
            <a:solidFill>
              <a:srgbClr val="888888"/>
            </a:solidFill>
            <a:prstDash val="solid"/>
          </a:ln>
        </p:spPr>
        <p:txBody>
          <a:bodyPr/>
          <a:lstStyle/>
          <a:p>
            <a:endParaRPr lang="en-CA"/>
          </a:p>
        </p:txBody>
      </p:sp>
      <p:sp>
        <p:nvSpPr>
          <p:cNvPr id="67" name="Text 65"/>
          <p:cNvSpPr/>
          <p:nvPr/>
        </p:nvSpPr>
        <p:spPr>
          <a:xfrm>
            <a:off x="603504" y="2556089"/>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Modes</a:t>
            </a:r>
            <a:endParaRPr lang="en-US" sz="900" dirty="0"/>
          </a:p>
        </p:txBody>
      </p:sp>
      <p:sp>
        <p:nvSpPr>
          <p:cNvPr id="68" name="Shape 66"/>
          <p:cNvSpPr/>
          <p:nvPr/>
        </p:nvSpPr>
        <p:spPr>
          <a:xfrm>
            <a:off x="1463040" y="2629241"/>
            <a:ext cx="0" cy="256032"/>
          </a:xfrm>
          <a:prstGeom prst="line">
            <a:avLst/>
          </a:prstGeom>
          <a:noFill/>
          <a:ln w="6350">
            <a:solidFill>
              <a:srgbClr val="EEEEEE"/>
            </a:solidFill>
            <a:prstDash val="solid"/>
          </a:ln>
        </p:spPr>
        <p:txBody>
          <a:bodyPr/>
          <a:lstStyle/>
          <a:p>
            <a:endParaRPr lang="en-CA"/>
          </a:p>
        </p:txBody>
      </p:sp>
      <p:sp>
        <p:nvSpPr>
          <p:cNvPr id="69" name="Text 67"/>
          <p:cNvSpPr/>
          <p:nvPr/>
        </p:nvSpPr>
        <p:spPr>
          <a:xfrm>
            <a:off x="1517904" y="2556089"/>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NIST SP 800-38A</a:t>
            </a:r>
            <a:endParaRPr lang="en-US" sz="750" dirty="0"/>
          </a:p>
        </p:txBody>
      </p:sp>
      <p:sp>
        <p:nvSpPr>
          <p:cNvPr id="70" name="Shape 68"/>
          <p:cNvSpPr/>
          <p:nvPr/>
        </p:nvSpPr>
        <p:spPr>
          <a:xfrm>
            <a:off x="2980944" y="2629241"/>
            <a:ext cx="0" cy="256032"/>
          </a:xfrm>
          <a:prstGeom prst="line">
            <a:avLst/>
          </a:prstGeom>
          <a:noFill/>
          <a:ln w="6350">
            <a:solidFill>
              <a:srgbClr val="EEEEEE"/>
            </a:solidFill>
            <a:prstDash val="solid"/>
          </a:ln>
        </p:spPr>
        <p:txBody>
          <a:bodyPr/>
          <a:lstStyle/>
          <a:p>
            <a:endParaRPr lang="en-CA"/>
          </a:p>
        </p:txBody>
      </p:sp>
      <p:sp>
        <p:nvSpPr>
          <p:cNvPr id="71" name="Text 69"/>
          <p:cNvSpPr/>
          <p:nvPr/>
        </p:nvSpPr>
        <p:spPr>
          <a:xfrm>
            <a:off x="3035808" y="2556089"/>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Un cas représentatif pour chaque mode opératoire : ECB, CBC et CTR</a:t>
            </a:r>
            <a:endParaRPr lang="en-US" sz="800" dirty="0"/>
          </a:p>
        </p:txBody>
      </p:sp>
      <p:sp>
        <p:nvSpPr>
          <p:cNvPr id="72" name="Shape 70"/>
          <p:cNvSpPr/>
          <p:nvPr/>
        </p:nvSpPr>
        <p:spPr>
          <a:xfrm>
            <a:off x="6510528" y="2613158"/>
            <a:ext cx="0" cy="256032"/>
          </a:xfrm>
          <a:prstGeom prst="line">
            <a:avLst/>
          </a:prstGeom>
          <a:noFill/>
          <a:ln w="6350">
            <a:solidFill>
              <a:srgbClr val="EEEEEE"/>
            </a:solidFill>
            <a:prstDash val="solid"/>
          </a:ln>
        </p:spPr>
        <p:txBody>
          <a:bodyPr/>
          <a:lstStyle/>
          <a:p>
            <a:endParaRPr lang="en-CA"/>
          </a:p>
        </p:txBody>
      </p:sp>
      <p:sp>
        <p:nvSpPr>
          <p:cNvPr id="73" name="Text 71"/>
          <p:cNvSpPr/>
          <p:nvPr/>
        </p:nvSpPr>
        <p:spPr>
          <a:xfrm>
            <a:off x="6547104" y="2540006"/>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6</a:t>
            </a:r>
            <a:endParaRPr lang="en-US" sz="1100" dirty="0"/>
          </a:p>
        </p:txBody>
      </p:sp>
      <p:sp>
        <p:nvSpPr>
          <p:cNvPr id="74" name="Shape 72"/>
          <p:cNvSpPr/>
          <p:nvPr/>
        </p:nvSpPr>
        <p:spPr>
          <a:xfrm>
            <a:off x="7242048" y="2613158"/>
            <a:ext cx="0" cy="256032"/>
          </a:xfrm>
          <a:prstGeom prst="line">
            <a:avLst/>
          </a:prstGeom>
          <a:noFill/>
          <a:ln w="6350">
            <a:solidFill>
              <a:srgbClr val="EEEEEE"/>
            </a:solidFill>
            <a:prstDash val="solid"/>
          </a:ln>
        </p:spPr>
        <p:txBody>
          <a:bodyPr/>
          <a:lstStyle/>
          <a:p>
            <a:endParaRPr lang="en-CA"/>
          </a:p>
        </p:txBody>
      </p:sp>
      <p:sp>
        <p:nvSpPr>
          <p:cNvPr id="75" name="Text 73"/>
          <p:cNvSpPr/>
          <p:nvPr/>
        </p:nvSpPr>
        <p:spPr>
          <a:xfrm>
            <a:off x="7278625" y="2556089"/>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76" name="Shape 74"/>
          <p:cNvSpPr/>
          <p:nvPr/>
        </p:nvSpPr>
        <p:spPr>
          <a:xfrm>
            <a:off x="475488" y="2958425"/>
            <a:ext cx="8321040" cy="402336"/>
          </a:xfrm>
          <a:prstGeom prst="rect">
            <a:avLst/>
          </a:prstGeom>
          <a:solidFill>
            <a:srgbClr val="FAFAFA"/>
          </a:solidFill>
          <a:ln w="12700">
            <a:solidFill>
              <a:srgbClr val="FAFAFA"/>
            </a:solidFill>
            <a:prstDash val="solid"/>
          </a:ln>
        </p:spPr>
        <p:txBody>
          <a:bodyPr/>
          <a:lstStyle/>
          <a:p>
            <a:endParaRPr lang="en-CA"/>
          </a:p>
        </p:txBody>
      </p:sp>
      <p:sp>
        <p:nvSpPr>
          <p:cNvPr id="77" name="Shape 75"/>
          <p:cNvSpPr/>
          <p:nvPr/>
        </p:nvSpPr>
        <p:spPr>
          <a:xfrm>
            <a:off x="475488" y="3360761"/>
            <a:ext cx="8321040" cy="0"/>
          </a:xfrm>
          <a:prstGeom prst="line">
            <a:avLst/>
          </a:prstGeom>
          <a:noFill/>
          <a:ln w="5080">
            <a:solidFill>
              <a:srgbClr val="EEEEEE"/>
            </a:solidFill>
            <a:prstDash val="solid"/>
          </a:ln>
        </p:spPr>
        <p:txBody>
          <a:bodyPr/>
          <a:lstStyle/>
          <a:p>
            <a:endParaRPr lang="en-CA"/>
          </a:p>
        </p:txBody>
      </p:sp>
      <p:sp>
        <p:nvSpPr>
          <p:cNvPr id="78" name="Shape 76"/>
          <p:cNvSpPr/>
          <p:nvPr/>
        </p:nvSpPr>
        <p:spPr>
          <a:xfrm>
            <a:off x="475488" y="2958425"/>
            <a:ext cx="36576" cy="402336"/>
          </a:xfrm>
          <a:prstGeom prst="rect">
            <a:avLst/>
          </a:prstGeom>
          <a:solidFill>
            <a:srgbClr val="888888"/>
          </a:solidFill>
          <a:ln w="12700">
            <a:solidFill>
              <a:srgbClr val="888888"/>
            </a:solidFill>
            <a:prstDash val="solid"/>
          </a:ln>
        </p:spPr>
        <p:txBody>
          <a:bodyPr/>
          <a:lstStyle/>
          <a:p>
            <a:endParaRPr lang="en-CA"/>
          </a:p>
        </p:txBody>
      </p:sp>
      <p:sp>
        <p:nvSpPr>
          <p:cNvPr id="79" name="Text 77"/>
          <p:cNvSpPr/>
          <p:nvPr/>
        </p:nvSpPr>
        <p:spPr>
          <a:xfrm>
            <a:off x="603504" y="2958425"/>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GCM</a:t>
            </a:r>
            <a:endParaRPr lang="en-US" sz="900" dirty="0"/>
          </a:p>
        </p:txBody>
      </p:sp>
      <p:sp>
        <p:nvSpPr>
          <p:cNvPr id="80" name="Shape 78"/>
          <p:cNvSpPr/>
          <p:nvPr/>
        </p:nvSpPr>
        <p:spPr>
          <a:xfrm>
            <a:off x="1463040" y="3031577"/>
            <a:ext cx="0" cy="256032"/>
          </a:xfrm>
          <a:prstGeom prst="line">
            <a:avLst/>
          </a:prstGeom>
          <a:noFill/>
          <a:ln w="6350">
            <a:solidFill>
              <a:srgbClr val="EEEEEE"/>
            </a:solidFill>
            <a:prstDash val="solid"/>
          </a:ln>
        </p:spPr>
        <p:txBody>
          <a:bodyPr/>
          <a:lstStyle/>
          <a:p>
            <a:endParaRPr lang="en-CA"/>
          </a:p>
        </p:txBody>
      </p:sp>
      <p:sp>
        <p:nvSpPr>
          <p:cNvPr id="81" name="Text 79"/>
          <p:cNvSpPr/>
          <p:nvPr/>
        </p:nvSpPr>
        <p:spPr>
          <a:xfrm>
            <a:off x="1517904" y="2958425"/>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NIST SP 800-38D</a:t>
            </a:r>
            <a:endParaRPr lang="en-US" sz="750" dirty="0"/>
          </a:p>
        </p:txBody>
      </p:sp>
      <p:sp>
        <p:nvSpPr>
          <p:cNvPr id="82" name="Shape 80"/>
          <p:cNvSpPr/>
          <p:nvPr/>
        </p:nvSpPr>
        <p:spPr>
          <a:xfrm>
            <a:off x="2980944" y="3031577"/>
            <a:ext cx="0" cy="256032"/>
          </a:xfrm>
          <a:prstGeom prst="line">
            <a:avLst/>
          </a:prstGeom>
          <a:noFill/>
          <a:ln w="6350">
            <a:solidFill>
              <a:srgbClr val="EEEEEE"/>
            </a:solidFill>
            <a:prstDash val="solid"/>
          </a:ln>
        </p:spPr>
        <p:txBody>
          <a:bodyPr/>
          <a:lstStyle/>
          <a:p>
            <a:endParaRPr lang="en-CA"/>
          </a:p>
        </p:txBody>
      </p:sp>
      <p:sp>
        <p:nvSpPr>
          <p:cNvPr id="83" name="Text 81"/>
          <p:cNvSpPr/>
          <p:nvPr/>
        </p:nvSpPr>
        <p:spPr>
          <a:xfrm>
            <a:off x="3035808" y="2958425"/>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Chiffrement authentifié, tag et vérification d'intégrité</a:t>
            </a:r>
            <a:endParaRPr lang="en-US" sz="800" dirty="0"/>
          </a:p>
        </p:txBody>
      </p:sp>
      <p:sp>
        <p:nvSpPr>
          <p:cNvPr id="84" name="Shape 82"/>
          <p:cNvSpPr/>
          <p:nvPr/>
        </p:nvSpPr>
        <p:spPr>
          <a:xfrm>
            <a:off x="6510528" y="3015494"/>
            <a:ext cx="0" cy="256032"/>
          </a:xfrm>
          <a:prstGeom prst="line">
            <a:avLst/>
          </a:prstGeom>
          <a:noFill/>
          <a:ln w="6350">
            <a:solidFill>
              <a:srgbClr val="EEEEEE"/>
            </a:solidFill>
            <a:prstDash val="solid"/>
          </a:ln>
        </p:spPr>
        <p:txBody>
          <a:bodyPr/>
          <a:lstStyle/>
          <a:p>
            <a:endParaRPr lang="en-CA"/>
          </a:p>
        </p:txBody>
      </p:sp>
      <p:sp>
        <p:nvSpPr>
          <p:cNvPr id="85" name="Text 83"/>
          <p:cNvSpPr/>
          <p:nvPr/>
        </p:nvSpPr>
        <p:spPr>
          <a:xfrm>
            <a:off x="6547104" y="2942342"/>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10</a:t>
            </a:r>
            <a:endParaRPr lang="en-US" sz="1100" dirty="0"/>
          </a:p>
        </p:txBody>
      </p:sp>
      <p:sp>
        <p:nvSpPr>
          <p:cNvPr id="86" name="Shape 84"/>
          <p:cNvSpPr/>
          <p:nvPr/>
        </p:nvSpPr>
        <p:spPr>
          <a:xfrm>
            <a:off x="7242048" y="3015494"/>
            <a:ext cx="0" cy="256032"/>
          </a:xfrm>
          <a:prstGeom prst="line">
            <a:avLst/>
          </a:prstGeom>
          <a:noFill/>
          <a:ln w="6350">
            <a:solidFill>
              <a:srgbClr val="EEEEEE"/>
            </a:solidFill>
            <a:prstDash val="solid"/>
          </a:ln>
        </p:spPr>
        <p:txBody>
          <a:bodyPr/>
          <a:lstStyle/>
          <a:p>
            <a:endParaRPr lang="en-CA"/>
          </a:p>
        </p:txBody>
      </p:sp>
      <p:sp>
        <p:nvSpPr>
          <p:cNvPr id="87" name="Text 85"/>
          <p:cNvSpPr/>
          <p:nvPr/>
        </p:nvSpPr>
        <p:spPr>
          <a:xfrm>
            <a:off x="7278625" y="2958425"/>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88" name="Shape 86"/>
          <p:cNvSpPr/>
          <p:nvPr/>
        </p:nvSpPr>
        <p:spPr>
          <a:xfrm>
            <a:off x="475488" y="3360761"/>
            <a:ext cx="8321040" cy="402336"/>
          </a:xfrm>
          <a:prstGeom prst="rect">
            <a:avLst/>
          </a:prstGeom>
          <a:solidFill>
            <a:srgbClr val="FFFFFF"/>
          </a:solidFill>
          <a:ln w="12700">
            <a:solidFill>
              <a:srgbClr val="FFFFFF"/>
            </a:solidFill>
            <a:prstDash val="solid"/>
          </a:ln>
        </p:spPr>
        <p:txBody>
          <a:bodyPr/>
          <a:lstStyle/>
          <a:p>
            <a:endParaRPr lang="en-CA"/>
          </a:p>
        </p:txBody>
      </p:sp>
      <p:sp>
        <p:nvSpPr>
          <p:cNvPr id="89" name="Shape 87"/>
          <p:cNvSpPr/>
          <p:nvPr/>
        </p:nvSpPr>
        <p:spPr>
          <a:xfrm>
            <a:off x="475488" y="3763097"/>
            <a:ext cx="8321040" cy="0"/>
          </a:xfrm>
          <a:prstGeom prst="line">
            <a:avLst/>
          </a:prstGeom>
          <a:noFill/>
          <a:ln w="5080">
            <a:solidFill>
              <a:srgbClr val="EEEEEE"/>
            </a:solidFill>
            <a:prstDash val="solid"/>
          </a:ln>
        </p:spPr>
        <p:txBody>
          <a:bodyPr/>
          <a:lstStyle/>
          <a:p>
            <a:endParaRPr lang="en-CA"/>
          </a:p>
        </p:txBody>
      </p:sp>
      <p:sp>
        <p:nvSpPr>
          <p:cNvPr id="90" name="Shape 88"/>
          <p:cNvSpPr/>
          <p:nvPr/>
        </p:nvSpPr>
        <p:spPr>
          <a:xfrm>
            <a:off x="475488" y="3360761"/>
            <a:ext cx="36576" cy="402336"/>
          </a:xfrm>
          <a:prstGeom prst="rect">
            <a:avLst/>
          </a:prstGeom>
          <a:solidFill>
            <a:srgbClr val="888888"/>
          </a:solidFill>
          <a:ln w="12700">
            <a:solidFill>
              <a:srgbClr val="888888"/>
            </a:solidFill>
            <a:prstDash val="solid"/>
          </a:ln>
        </p:spPr>
        <p:txBody>
          <a:bodyPr/>
          <a:lstStyle/>
          <a:p>
            <a:endParaRPr lang="en-CA"/>
          </a:p>
        </p:txBody>
      </p:sp>
      <p:sp>
        <p:nvSpPr>
          <p:cNvPr id="91" name="Text 89"/>
          <p:cNvSpPr/>
          <p:nvPr/>
        </p:nvSpPr>
        <p:spPr>
          <a:xfrm>
            <a:off x="603504" y="3360761"/>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ChaCha20</a:t>
            </a:r>
            <a:endParaRPr lang="en-US" sz="900" dirty="0"/>
          </a:p>
        </p:txBody>
      </p:sp>
      <p:sp>
        <p:nvSpPr>
          <p:cNvPr id="92" name="Shape 90"/>
          <p:cNvSpPr/>
          <p:nvPr/>
        </p:nvSpPr>
        <p:spPr>
          <a:xfrm>
            <a:off x="1463040" y="3433913"/>
            <a:ext cx="0" cy="256032"/>
          </a:xfrm>
          <a:prstGeom prst="line">
            <a:avLst/>
          </a:prstGeom>
          <a:noFill/>
          <a:ln w="6350">
            <a:solidFill>
              <a:srgbClr val="EEEEEE"/>
            </a:solidFill>
            <a:prstDash val="solid"/>
          </a:ln>
        </p:spPr>
        <p:txBody>
          <a:bodyPr/>
          <a:lstStyle/>
          <a:p>
            <a:endParaRPr lang="en-CA"/>
          </a:p>
        </p:txBody>
      </p:sp>
      <p:sp>
        <p:nvSpPr>
          <p:cNvPr id="93" name="Text 91"/>
          <p:cNvSpPr/>
          <p:nvPr/>
        </p:nvSpPr>
        <p:spPr>
          <a:xfrm>
            <a:off x="1517904" y="3360761"/>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ea typeface="Calibri" pitchFamily="34" charset="-122"/>
                <a:cs typeface="Calibri" pitchFamily="34" charset="-120"/>
              </a:rPr>
              <a:t>RFC 8439</a:t>
            </a:r>
            <a:endParaRPr lang="en-US" sz="750" dirty="0"/>
          </a:p>
        </p:txBody>
      </p:sp>
      <p:sp>
        <p:nvSpPr>
          <p:cNvPr id="94" name="Shape 92"/>
          <p:cNvSpPr/>
          <p:nvPr/>
        </p:nvSpPr>
        <p:spPr>
          <a:xfrm>
            <a:off x="2980944" y="3433913"/>
            <a:ext cx="0" cy="256032"/>
          </a:xfrm>
          <a:prstGeom prst="line">
            <a:avLst/>
          </a:prstGeom>
          <a:noFill/>
          <a:ln w="6350">
            <a:solidFill>
              <a:srgbClr val="EEEEEE"/>
            </a:solidFill>
            <a:prstDash val="solid"/>
          </a:ln>
        </p:spPr>
        <p:txBody>
          <a:bodyPr/>
          <a:lstStyle/>
          <a:p>
            <a:endParaRPr lang="en-CA"/>
          </a:p>
        </p:txBody>
      </p:sp>
      <p:sp>
        <p:nvSpPr>
          <p:cNvPr id="95" name="Text 93"/>
          <p:cNvSpPr/>
          <p:nvPr/>
        </p:nvSpPr>
        <p:spPr>
          <a:xfrm>
            <a:off x="3035808" y="3360761"/>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ea typeface="Calibri" pitchFamily="34" charset="-122"/>
                <a:cs typeface="Calibri" pitchFamily="34" charset="-120"/>
              </a:rPr>
              <a:t>Vecteur normatif RFC 8439 et validation via le wrapper</a:t>
            </a:r>
            <a:endParaRPr lang="en-US" sz="800" dirty="0"/>
          </a:p>
        </p:txBody>
      </p:sp>
      <p:sp>
        <p:nvSpPr>
          <p:cNvPr id="96" name="Shape 94"/>
          <p:cNvSpPr/>
          <p:nvPr/>
        </p:nvSpPr>
        <p:spPr>
          <a:xfrm>
            <a:off x="6510528" y="3417830"/>
            <a:ext cx="0" cy="256032"/>
          </a:xfrm>
          <a:prstGeom prst="line">
            <a:avLst/>
          </a:prstGeom>
          <a:noFill/>
          <a:ln w="6350">
            <a:solidFill>
              <a:srgbClr val="EEEEEE"/>
            </a:solidFill>
            <a:prstDash val="solid"/>
          </a:ln>
        </p:spPr>
        <p:txBody>
          <a:bodyPr/>
          <a:lstStyle/>
          <a:p>
            <a:endParaRPr lang="en-CA"/>
          </a:p>
        </p:txBody>
      </p:sp>
      <p:sp>
        <p:nvSpPr>
          <p:cNvPr id="97" name="Text 95"/>
          <p:cNvSpPr/>
          <p:nvPr/>
        </p:nvSpPr>
        <p:spPr>
          <a:xfrm>
            <a:off x="6547104" y="3344678"/>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6</a:t>
            </a:r>
            <a:endParaRPr lang="en-US" sz="1100" dirty="0"/>
          </a:p>
        </p:txBody>
      </p:sp>
      <p:sp>
        <p:nvSpPr>
          <p:cNvPr id="98" name="Shape 96"/>
          <p:cNvSpPr/>
          <p:nvPr/>
        </p:nvSpPr>
        <p:spPr>
          <a:xfrm>
            <a:off x="7242048" y="3417830"/>
            <a:ext cx="0" cy="256032"/>
          </a:xfrm>
          <a:prstGeom prst="line">
            <a:avLst/>
          </a:prstGeom>
          <a:noFill/>
          <a:ln w="6350">
            <a:solidFill>
              <a:srgbClr val="EEEEEE"/>
            </a:solidFill>
            <a:prstDash val="solid"/>
          </a:ln>
        </p:spPr>
        <p:txBody>
          <a:bodyPr/>
          <a:lstStyle/>
          <a:p>
            <a:endParaRPr lang="en-CA"/>
          </a:p>
        </p:txBody>
      </p:sp>
      <p:sp>
        <p:nvSpPr>
          <p:cNvPr id="99" name="Text 97"/>
          <p:cNvSpPr/>
          <p:nvPr/>
        </p:nvSpPr>
        <p:spPr>
          <a:xfrm>
            <a:off x="7278625" y="3360761"/>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100" name="Shape 98"/>
          <p:cNvSpPr/>
          <p:nvPr/>
        </p:nvSpPr>
        <p:spPr>
          <a:xfrm>
            <a:off x="475488" y="3763097"/>
            <a:ext cx="8321040" cy="402336"/>
          </a:xfrm>
          <a:prstGeom prst="rect">
            <a:avLst/>
          </a:prstGeom>
          <a:solidFill>
            <a:srgbClr val="FAFAFA"/>
          </a:solidFill>
          <a:ln w="12700">
            <a:solidFill>
              <a:srgbClr val="FAFAFA"/>
            </a:solidFill>
            <a:prstDash val="solid"/>
          </a:ln>
        </p:spPr>
        <p:txBody>
          <a:bodyPr/>
          <a:lstStyle/>
          <a:p>
            <a:endParaRPr lang="en-CA"/>
          </a:p>
        </p:txBody>
      </p:sp>
      <p:sp>
        <p:nvSpPr>
          <p:cNvPr id="101" name="Shape 99"/>
          <p:cNvSpPr/>
          <p:nvPr/>
        </p:nvSpPr>
        <p:spPr>
          <a:xfrm>
            <a:off x="475488" y="4165433"/>
            <a:ext cx="8321040" cy="0"/>
          </a:xfrm>
          <a:prstGeom prst="line">
            <a:avLst/>
          </a:prstGeom>
          <a:noFill/>
          <a:ln w="5080">
            <a:solidFill>
              <a:srgbClr val="EEEEEE"/>
            </a:solidFill>
            <a:prstDash val="solid"/>
          </a:ln>
        </p:spPr>
        <p:txBody>
          <a:bodyPr/>
          <a:lstStyle/>
          <a:p>
            <a:endParaRPr lang="en-CA"/>
          </a:p>
        </p:txBody>
      </p:sp>
      <p:sp>
        <p:nvSpPr>
          <p:cNvPr id="102" name="Shape 100"/>
          <p:cNvSpPr/>
          <p:nvPr/>
        </p:nvSpPr>
        <p:spPr>
          <a:xfrm>
            <a:off x="475488" y="3763097"/>
            <a:ext cx="36576" cy="402336"/>
          </a:xfrm>
          <a:prstGeom prst="rect">
            <a:avLst/>
          </a:prstGeom>
          <a:solidFill>
            <a:srgbClr val="888888"/>
          </a:solidFill>
          <a:ln w="12700">
            <a:solidFill>
              <a:srgbClr val="888888"/>
            </a:solidFill>
            <a:prstDash val="solid"/>
          </a:ln>
        </p:spPr>
        <p:txBody>
          <a:bodyPr/>
          <a:lstStyle/>
          <a:p>
            <a:endParaRPr lang="en-CA"/>
          </a:p>
        </p:txBody>
      </p:sp>
      <p:sp>
        <p:nvSpPr>
          <p:cNvPr id="103" name="Text 101"/>
          <p:cNvSpPr/>
          <p:nvPr/>
        </p:nvSpPr>
        <p:spPr>
          <a:xfrm>
            <a:off x="603504" y="3763097"/>
            <a:ext cx="822960" cy="402336"/>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cs typeface="Calibri" pitchFamily="34" charset="-120"/>
              </a:rPr>
              <a:t>Twofish</a:t>
            </a:r>
          </a:p>
        </p:txBody>
      </p:sp>
      <p:sp>
        <p:nvSpPr>
          <p:cNvPr id="104" name="Shape 102"/>
          <p:cNvSpPr/>
          <p:nvPr/>
        </p:nvSpPr>
        <p:spPr>
          <a:xfrm>
            <a:off x="1463040" y="3836249"/>
            <a:ext cx="0" cy="256032"/>
          </a:xfrm>
          <a:prstGeom prst="line">
            <a:avLst/>
          </a:prstGeom>
          <a:noFill/>
          <a:ln w="6350">
            <a:solidFill>
              <a:srgbClr val="EEEEEE"/>
            </a:solidFill>
            <a:prstDash val="solid"/>
          </a:ln>
        </p:spPr>
        <p:txBody>
          <a:bodyPr/>
          <a:lstStyle/>
          <a:p>
            <a:endParaRPr lang="en-CA"/>
          </a:p>
        </p:txBody>
      </p:sp>
      <p:sp>
        <p:nvSpPr>
          <p:cNvPr id="105" name="Text 103"/>
          <p:cNvSpPr/>
          <p:nvPr/>
        </p:nvSpPr>
        <p:spPr>
          <a:xfrm>
            <a:off x="1517904" y="3763097"/>
            <a:ext cx="1426464" cy="402336"/>
          </a:xfrm>
          <a:prstGeom prst="rect">
            <a:avLst/>
          </a:prstGeom>
          <a:noFill/>
          <a:ln/>
        </p:spPr>
        <p:txBody>
          <a:bodyPr wrap="square" lIns="0" tIns="0" rIns="0" bIns="0" rtlCol="0" anchor="ctr"/>
          <a:lstStyle/>
          <a:p>
            <a:pPr marL="0" indent="0">
              <a:buNone/>
            </a:pPr>
            <a:r>
              <a:rPr lang="en-US" sz="750" dirty="0">
                <a:solidFill>
                  <a:srgbClr val="555555"/>
                </a:solidFill>
                <a:latin typeface="Calibri" pitchFamily="34" charset="0"/>
                <a:cs typeface="Calibri" pitchFamily="34" charset="-120"/>
              </a:rPr>
              <a:t>Schneier et al.</a:t>
            </a:r>
          </a:p>
        </p:txBody>
      </p:sp>
      <p:sp>
        <p:nvSpPr>
          <p:cNvPr id="106" name="Shape 104"/>
          <p:cNvSpPr/>
          <p:nvPr/>
        </p:nvSpPr>
        <p:spPr>
          <a:xfrm>
            <a:off x="2980944" y="3836249"/>
            <a:ext cx="0" cy="256032"/>
          </a:xfrm>
          <a:prstGeom prst="line">
            <a:avLst/>
          </a:prstGeom>
          <a:noFill/>
          <a:ln w="6350">
            <a:solidFill>
              <a:srgbClr val="EEEEEE"/>
            </a:solidFill>
            <a:prstDash val="solid"/>
          </a:ln>
        </p:spPr>
        <p:txBody>
          <a:bodyPr/>
          <a:lstStyle/>
          <a:p>
            <a:endParaRPr lang="en-CA"/>
          </a:p>
        </p:txBody>
      </p:sp>
      <p:sp>
        <p:nvSpPr>
          <p:cNvPr id="107" name="Text 105"/>
          <p:cNvSpPr/>
          <p:nvPr/>
        </p:nvSpPr>
        <p:spPr>
          <a:xfrm>
            <a:off x="3035808" y="3763097"/>
            <a:ext cx="3895344" cy="402336"/>
          </a:xfrm>
          <a:prstGeom prst="rect">
            <a:avLst/>
          </a:prstGeom>
          <a:noFill/>
          <a:ln/>
        </p:spPr>
        <p:txBody>
          <a:bodyPr wrap="square" lIns="0" tIns="0" rIns="0" bIns="0" rtlCol="0" anchor="ctr"/>
          <a:lstStyle/>
          <a:p>
            <a:pPr marL="0" indent="0">
              <a:buNone/>
            </a:pPr>
            <a:r>
              <a:rPr lang="en-US" sz="800" dirty="0">
                <a:solidFill>
                  <a:srgbClr val="555555"/>
                </a:solidFill>
                <a:latin typeface="Calibri" pitchFamily="34" charset="0"/>
                <a:cs typeface="Calibri" pitchFamily="34" charset="-120"/>
              </a:rPr>
              <a:t>Un vecteur représentatif par famille : VK, VT et TBL</a:t>
            </a:r>
          </a:p>
        </p:txBody>
      </p:sp>
      <p:sp>
        <p:nvSpPr>
          <p:cNvPr id="108" name="Shape 106"/>
          <p:cNvSpPr/>
          <p:nvPr/>
        </p:nvSpPr>
        <p:spPr>
          <a:xfrm>
            <a:off x="6510528" y="3820166"/>
            <a:ext cx="0" cy="256032"/>
          </a:xfrm>
          <a:prstGeom prst="line">
            <a:avLst/>
          </a:prstGeom>
          <a:noFill/>
          <a:ln w="6350">
            <a:solidFill>
              <a:srgbClr val="EEEEEE"/>
            </a:solidFill>
            <a:prstDash val="solid"/>
          </a:ln>
        </p:spPr>
        <p:txBody>
          <a:bodyPr/>
          <a:lstStyle/>
          <a:p>
            <a:endParaRPr lang="en-CA"/>
          </a:p>
        </p:txBody>
      </p:sp>
      <p:sp>
        <p:nvSpPr>
          <p:cNvPr id="109" name="Text 107"/>
          <p:cNvSpPr/>
          <p:nvPr/>
        </p:nvSpPr>
        <p:spPr>
          <a:xfrm>
            <a:off x="6547104" y="3747014"/>
            <a:ext cx="658368" cy="402336"/>
          </a:xfrm>
          <a:prstGeom prst="rect">
            <a:avLst/>
          </a:prstGeom>
          <a:noFill/>
          <a:ln/>
        </p:spPr>
        <p:txBody>
          <a:bodyPr wrap="square" lIns="0" tIns="0" rIns="0" bIns="0" rtlCol="0" anchor="ctr"/>
          <a:lstStyle/>
          <a:p>
            <a:pPr marL="0" indent="0" algn="ctr">
              <a:buNone/>
            </a:pPr>
            <a:r>
              <a:rPr lang="en-US" sz="1100" b="1" dirty="0">
                <a:solidFill>
                  <a:srgbClr val="C9A84C"/>
                </a:solidFill>
                <a:latin typeface="Calibri" pitchFamily="34" charset="0"/>
                <a:ea typeface="Calibri" pitchFamily="34" charset="-122"/>
                <a:cs typeface="Calibri" pitchFamily="34" charset="-120"/>
              </a:rPr>
              <a:t>6</a:t>
            </a:r>
            <a:endParaRPr lang="en-US" sz="1100" dirty="0"/>
          </a:p>
        </p:txBody>
      </p:sp>
      <p:sp>
        <p:nvSpPr>
          <p:cNvPr id="110" name="Shape 108"/>
          <p:cNvSpPr/>
          <p:nvPr/>
        </p:nvSpPr>
        <p:spPr>
          <a:xfrm>
            <a:off x="7242048" y="3820166"/>
            <a:ext cx="0" cy="256032"/>
          </a:xfrm>
          <a:prstGeom prst="line">
            <a:avLst/>
          </a:prstGeom>
          <a:noFill/>
          <a:ln w="6350">
            <a:solidFill>
              <a:srgbClr val="EEEEEE"/>
            </a:solidFill>
            <a:prstDash val="solid"/>
          </a:ln>
        </p:spPr>
        <p:txBody>
          <a:bodyPr/>
          <a:lstStyle/>
          <a:p>
            <a:endParaRPr lang="en-CA"/>
          </a:p>
        </p:txBody>
      </p:sp>
      <p:sp>
        <p:nvSpPr>
          <p:cNvPr id="111" name="Text 109"/>
          <p:cNvSpPr/>
          <p:nvPr/>
        </p:nvSpPr>
        <p:spPr>
          <a:xfrm>
            <a:off x="7278625" y="3763097"/>
            <a:ext cx="1517903" cy="402336"/>
          </a:xfrm>
          <a:prstGeom prst="rect">
            <a:avLst/>
          </a:prstGeom>
          <a:noFill/>
          <a:ln/>
        </p:spPr>
        <p:txBody>
          <a:bodyPr wrap="square" lIns="0" tIns="0" rIns="0" bIns="0" rtlCol="0" anchor="ctr"/>
          <a:lstStyle/>
          <a:p>
            <a:pPr marL="0" indent="0" algn="ctr">
              <a:buNone/>
            </a:pPr>
            <a:r>
              <a:rPr lang="en-US" sz="850" b="1" dirty="0">
                <a:solidFill>
                  <a:srgbClr val="2A7A2A"/>
                </a:solidFill>
                <a:latin typeface="Calibri" pitchFamily="34" charset="0"/>
                <a:ea typeface="Calibri" pitchFamily="34" charset="-122"/>
                <a:cs typeface="Calibri" pitchFamily="34" charset="-120"/>
              </a:rPr>
              <a:t>✓  PASS</a:t>
            </a:r>
            <a:endParaRPr lang="en-US" sz="850" dirty="0"/>
          </a:p>
        </p:txBody>
      </p:sp>
      <p:sp>
        <p:nvSpPr>
          <p:cNvPr id="112" name="Shape 110"/>
          <p:cNvSpPr/>
          <p:nvPr/>
        </p:nvSpPr>
        <p:spPr>
          <a:xfrm>
            <a:off x="475488" y="4220297"/>
            <a:ext cx="8321040" cy="0"/>
          </a:xfrm>
          <a:prstGeom prst="line">
            <a:avLst/>
          </a:prstGeom>
          <a:noFill/>
          <a:ln w="12700">
            <a:solidFill>
              <a:srgbClr val="0A0A0A"/>
            </a:solidFill>
            <a:prstDash val="solid"/>
          </a:ln>
        </p:spPr>
        <p:txBody>
          <a:bodyPr/>
          <a:lstStyle/>
          <a:p>
            <a:endParaRPr lang="en-CA"/>
          </a:p>
        </p:txBody>
      </p:sp>
      <p:sp>
        <p:nvSpPr>
          <p:cNvPr id="113" name="Text 111"/>
          <p:cNvSpPr/>
          <p:nvPr/>
        </p:nvSpPr>
        <p:spPr>
          <a:xfrm>
            <a:off x="566928" y="4228728"/>
            <a:ext cx="6309360" cy="256032"/>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TOTAL</a:t>
            </a:r>
            <a:endParaRPr lang="en-US" sz="900" dirty="0"/>
          </a:p>
        </p:txBody>
      </p:sp>
      <p:sp>
        <p:nvSpPr>
          <p:cNvPr id="114" name="Text 112"/>
          <p:cNvSpPr/>
          <p:nvPr/>
        </p:nvSpPr>
        <p:spPr>
          <a:xfrm>
            <a:off x="6547104" y="4230965"/>
            <a:ext cx="658368" cy="256032"/>
          </a:xfrm>
          <a:prstGeom prst="rect">
            <a:avLst/>
          </a:prstGeom>
          <a:noFill/>
          <a:ln/>
        </p:spPr>
        <p:txBody>
          <a:bodyPr wrap="square" lIns="0" tIns="0" rIns="0" bIns="0" rtlCol="0" anchor="ctr"/>
          <a:lstStyle/>
          <a:p>
            <a:pPr marL="0" indent="0" algn="ctr">
              <a:buNone/>
            </a:pPr>
            <a:r>
              <a:rPr lang="en-US" sz="1300" b="1" dirty="0">
                <a:solidFill>
                  <a:srgbClr val="C9A84C"/>
                </a:solidFill>
                <a:latin typeface="Calibri" pitchFamily="34" charset="0"/>
                <a:ea typeface="Calibri" pitchFamily="34" charset="-122"/>
                <a:cs typeface="Calibri" pitchFamily="34" charset="-120"/>
              </a:rPr>
              <a:t>60</a:t>
            </a:r>
            <a:endParaRPr lang="en-US" sz="1300" dirty="0"/>
          </a:p>
        </p:txBody>
      </p:sp>
      <p:sp>
        <p:nvSpPr>
          <p:cNvPr id="115" name="Shape 113"/>
          <p:cNvSpPr/>
          <p:nvPr/>
        </p:nvSpPr>
        <p:spPr>
          <a:xfrm>
            <a:off x="7415323" y="4267541"/>
            <a:ext cx="1381205" cy="219456"/>
          </a:xfrm>
          <a:prstGeom prst="roundRect">
            <a:avLst>
              <a:gd name="adj" fmla="val 20833"/>
            </a:avLst>
          </a:prstGeom>
          <a:solidFill>
            <a:srgbClr val="F0FFF0"/>
          </a:solidFill>
          <a:ln w="10160">
            <a:solidFill>
              <a:srgbClr val="2A7A2A"/>
            </a:solidFill>
            <a:prstDash val="solid"/>
          </a:ln>
        </p:spPr>
        <p:txBody>
          <a:bodyPr/>
          <a:lstStyle/>
          <a:p>
            <a:pPr algn="ctr"/>
            <a:endParaRPr lang="en-CA"/>
          </a:p>
        </p:txBody>
      </p:sp>
      <p:sp>
        <p:nvSpPr>
          <p:cNvPr id="116" name="Text 114"/>
          <p:cNvSpPr/>
          <p:nvPr/>
        </p:nvSpPr>
        <p:spPr>
          <a:xfrm>
            <a:off x="7415322" y="4267541"/>
            <a:ext cx="1381205" cy="219456"/>
          </a:xfrm>
          <a:prstGeom prst="rect">
            <a:avLst/>
          </a:prstGeom>
          <a:noFill/>
          <a:ln/>
        </p:spPr>
        <p:txBody>
          <a:bodyPr wrap="square" lIns="0" tIns="0" rIns="0" bIns="0" rtlCol="0" anchor="ctr"/>
          <a:lstStyle/>
          <a:p>
            <a:pPr marL="0" indent="0" algn="ctr">
              <a:buNone/>
            </a:pPr>
            <a:r>
              <a:rPr lang="en-US" sz="800" b="1" dirty="0">
                <a:solidFill>
                  <a:srgbClr val="2A7A2A"/>
                </a:solidFill>
                <a:latin typeface="Calibri" pitchFamily="34" charset="0"/>
                <a:ea typeface="Calibri" pitchFamily="34" charset="-122"/>
                <a:cs typeface="Calibri" pitchFamily="34" charset="-120"/>
              </a:rPr>
              <a:t>100% PASS</a:t>
            </a:r>
            <a:endParaRPr lang="en-US" sz="800" dirty="0"/>
          </a:p>
        </p:txBody>
      </p:sp>
      <p:sp>
        <p:nvSpPr>
          <p:cNvPr id="117" name="Text 115"/>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29094" y="2176272"/>
            <a:ext cx="2230028" cy="2670046"/>
          </a:xfrm>
          <a:prstGeom prst="rect">
            <a:avLst/>
          </a:prstGeom>
          <a:noFill/>
          <a:ln/>
        </p:spPr>
        <p:txBody>
          <a:bodyPr wrap="square" lIns="0" tIns="0" rIns="0" bIns="0" rtlCol="0" anchor="ctr"/>
          <a:lstStyle/>
          <a:p>
            <a:pPr marL="0" indent="0">
              <a:buNone/>
            </a:pPr>
            <a:r>
              <a:rPr lang="en-US" sz="16000" b="1" dirty="0">
                <a:solidFill>
                  <a:srgbClr val="0A0A0A">
                    <a:alpha val="3000"/>
                  </a:srgbClr>
                </a:solidFill>
                <a:latin typeface="Calibri" pitchFamily="34" charset="0"/>
                <a:ea typeface="Calibri" pitchFamily="34" charset="-122"/>
                <a:cs typeface="Calibri" pitchFamily="34" charset="-120"/>
              </a:rPr>
              <a:t>04</a:t>
            </a:r>
            <a:endParaRPr lang="en-US" sz="16000" dirty="0"/>
          </a:p>
        </p:txBody>
      </p:sp>
      <p:sp>
        <p:nvSpPr>
          <p:cNvPr id="4" name="Text 2"/>
          <p:cNvSpPr/>
          <p:nvPr/>
        </p:nvSpPr>
        <p:spPr>
          <a:xfrm>
            <a:off x="475488" y="164592"/>
            <a:ext cx="73152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04  ·  GÉNÉRATION DES SORTIES EXPÉRIMENTALES</a:t>
            </a:r>
            <a:endParaRPr lang="en-US" sz="800" dirty="0"/>
          </a:p>
        </p:txBody>
      </p:sp>
      <p:sp>
        <p:nvSpPr>
          <p:cNvPr id="5" name="Text 3"/>
          <p:cNvSpPr/>
          <p:nvPr/>
        </p:nvSpPr>
        <p:spPr>
          <a:xfrm>
            <a:off x="475488" y="402336"/>
            <a:ext cx="2834640" cy="1371600"/>
          </a:xfrm>
          <a:prstGeom prst="rect">
            <a:avLst/>
          </a:prstGeom>
          <a:noFill/>
          <a:ln/>
        </p:spPr>
        <p:txBody>
          <a:bodyPr wrap="square" lIns="0" tIns="0" rIns="0" bIns="0" rtlCol="0" anchor="ctr"/>
          <a:lstStyle/>
          <a:p>
            <a:pPr marL="0" indent="0">
              <a:lnSpc>
                <a:spcPct val="115000"/>
              </a:lnSpc>
              <a:buNone/>
            </a:pPr>
            <a:r>
              <a:rPr lang="en-US" sz="2100" b="1" dirty="0">
                <a:solidFill>
                  <a:srgbClr val="0A0A0A"/>
                </a:solidFill>
                <a:latin typeface="Calibri" pitchFamily="34" charset="0"/>
                <a:ea typeface="Calibri" pitchFamily="34" charset="-122"/>
                <a:cs typeface="Calibri" pitchFamily="34" charset="-120"/>
              </a:rPr>
              <a:t>Génération et analyse
des </a:t>
            </a:r>
            <a:r>
              <a:rPr lang="en-US" sz="2100" b="1" dirty="0">
                <a:solidFill>
                  <a:srgbClr val="CFB260"/>
                </a:solidFill>
                <a:latin typeface="Calibri" pitchFamily="34" charset="0"/>
                <a:ea typeface="Calibri" pitchFamily="34" charset="-122"/>
                <a:cs typeface="Calibri" pitchFamily="34" charset="-120"/>
              </a:rPr>
              <a:t>sorties</a:t>
            </a:r>
            <a:r>
              <a:rPr lang="en-US" sz="2100" b="1" dirty="0">
                <a:solidFill>
                  <a:srgbClr val="0A0A0A"/>
                </a:solidFill>
                <a:latin typeface="Calibri" pitchFamily="34" charset="0"/>
                <a:ea typeface="Calibri" pitchFamily="34" charset="-122"/>
                <a:cs typeface="Calibri" pitchFamily="34" charset="-120"/>
              </a:rPr>
              <a:t>
</a:t>
            </a:r>
            <a:r>
              <a:rPr lang="en-US" sz="2100" b="1" dirty="0">
                <a:solidFill>
                  <a:srgbClr val="C9A84C"/>
                </a:solidFill>
                <a:latin typeface="Calibri" pitchFamily="34" charset="0"/>
                <a:ea typeface="Calibri" pitchFamily="34" charset="-122"/>
                <a:cs typeface="Calibri" pitchFamily="34" charset="-120"/>
              </a:rPr>
              <a:t>expérimentales.</a:t>
            </a:r>
            <a:endParaRPr lang="en-US" sz="2100" dirty="0"/>
          </a:p>
        </p:txBody>
      </p:sp>
      <p:sp>
        <p:nvSpPr>
          <p:cNvPr id="6" name="Shape 4"/>
          <p:cNvSpPr/>
          <p:nvPr/>
        </p:nvSpPr>
        <p:spPr>
          <a:xfrm>
            <a:off x="475488" y="1847088"/>
            <a:ext cx="329184" cy="0"/>
          </a:xfrm>
          <a:prstGeom prst="line">
            <a:avLst/>
          </a:prstGeom>
          <a:noFill/>
          <a:ln w="31750">
            <a:solidFill>
              <a:srgbClr val="C9A84C"/>
            </a:solidFill>
            <a:prstDash val="solid"/>
          </a:ln>
        </p:spPr>
        <p:txBody>
          <a:bodyPr/>
          <a:lstStyle/>
          <a:p>
            <a:endParaRPr lang="en-CA"/>
          </a:p>
        </p:txBody>
      </p:sp>
      <p:sp>
        <p:nvSpPr>
          <p:cNvPr id="7" name="Text 5"/>
          <p:cNvSpPr/>
          <p:nvPr/>
        </p:nvSpPr>
        <p:spPr>
          <a:xfrm>
            <a:off x="475488" y="1993392"/>
            <a:ext cx="2834640" cy="1005840"/>
          </a:xfrm>
          <a:prstGeom prst="rect">
            <a:avLst/>
          </a:prstGeom>
          <a:noFill/>
          <a:ln/>
        </p:spPr>
        <p:txBody>
          <a:bodyPr wrap="square" lIns="0" tIns="0" rIns="0" bIns="0" rtlCol="0" anchor="t"/>
          <a:lstStyle/>
          <a:p>
            <a:pPr marL="0" indent="0">
              <a:lnSpc>
                <a:spcPct val="150000"/>
              </a:lnSpc>
              <a:buNone/>
            </a:pPr>
            <a:r>
              <a:rPr lang="fr-FR" sz="900" dirty="0">
                <a:solidFill>
                  <a:srgbClr val="555555"/>
                </a:solidFill>
                <a:latin typeface="Calibri" pitchFamily="34" charset="0"/>
                <a:ea typeface="Calibri" pitchFamily="34" charset="-122"/>
                <a:cs typeface="Calibri" pitchFamily="34" charset="-120"/>
              </a:rPr>
              <a:t>Cette section montre comment les sorties sont produites et validées de bout en bout: génération des données, pipeline de graphiques, contrôle statistique IC95 (théorie puis application), puis validation cryptographique par l’effet d’avalanche.</a:t>
            </a:r>
            <a:endParaRPr lang="en-US" sz="900" dirty="0"/>
          </a:p>
        </p:txBody>
      </p:sp>
      <p:sp>
        <p:nvSpPr>
          <p:cNvPr id="9" name="Shape 7"/>
          <p:cNvSpPr/>
          <p:nvPr/>
        </p:nvSpPr>
        <p:spPr>
          <a:xfrm>
            <a:off x="3438144" y="402336"/>
            <a:ext cx="0" cy="4315968"/>
          </a:xfrm>
          <a:prstGeom prst="line">
            <a:avLst/>
          </a:prstGeom>
          <a:noFill/>
          <a:ln w="10160">
            <a:solidFill>
              <a:srgbClr val="E8E8E8"/>
            </a:solidFill>
            <a:prstDash val="solid"/>
          </a:ln>
        </p:spPr>
        <p:txBody>
          <a:bodyPr/>
          <a:lstStyle/>
          <a:p>
            <a:endParaRPr lang="en-CA"/>
          </a:p>
        </p:txBody>
      </p:sp>
      <p:sp>
        <p:nvSpPr>
          <p:cNvPr id="10" name="Shape 8"/>
          <p:cNvSpPr/>
          <p:nvPr/>
        </p:nvSpPr>
        <p:spPr>
          <a:xfrm>
            <a:off x="3675888" y="548640"/>
            <a:ext cx="219456" cy="219456"/>
          </a:xfrm>
          <a:prstGeom prst="ellipse">
            <a:avLst/>
          </a:prstGeom>
          <a:solidFill>
            <a:srgbClr val="0A0A0A"/>
          </a:solidFill>
          <a:ln w="12700">
            <a:solidFill>
              <a:srgbClr val="0A0A0A"/>
            </a:solidFill>
            <a:prstDash val="solid"/>
          </a:ln>
        </p:spPr>
        <p:txBody>
          <a:bodyPr/>
          <a:lstStyle/>
          <a:p>
            <a:endParaRPr lang="en-CA"/>
          </a:p>
        </p:txBody>
      </p:sp>
      <p:sp>
        <p:nvSpPr>
          <p:cNvPr id="11" name="Text 9"/>
          <p:cNvSpPr/>
          <p:nvPr/>
        </p:nvSpPr>
        <p:spPr>
          <a:xfrm>
            <a:off x="3675888" y="548640"/>
            <a:ext cx="219456" cy="219456"/>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1</a:t>
            </a:r>
            <a:endParaRPr lang="en-US" sz="800" dirty="0"/>
          </a:p>
        </p:txBody>
      </p:sp>
      <p:sp>
        <p:nvSpPr>
          <p:cNvPr id="12" name="Text 10"/>
          <p:cNvSpPr/>
          <p:nvPr/>
        </p:nvSpPr>
        <p:spPr>
          <a:xfrm>
            <a:off x="3968496" y="493776"/>
            <a:ext cx="4242816" cy="237744"/>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Pipeline de génération des données expérimentales</a:t>
            </a:r>
            <a:endParaRPr lang="en-US" sz="900" dirty="0"/>
          </a:p>
        </p:txBody>
      </p:sp>
      <p:sp>
        <p:nvSpPr>
          <p:cNvPr id="13" name="Text 11"/>
          <p:cNvSpPr/>
          <p:nvPr/>
        </p:nvSpPr>
        <p:spPr>
          <a:xfrm>
            <a:off x="3968496" y="749808"/>
            <a:ext cx="4242816" cy="402336"/>
          </a:xfrm>
          <a:prstGeom prst="rect">
            <a:avLst/>
          </a:prstGeom>
          <a:noFill/>
          <a:ln/>
        </p:spPr>
        <p:txBody>
          <a:bodyPr wrap="square" lIns="0" tIns="0" rIns="0" bIns="0" rtlCol="0" anchor="t"/>
          <a:lstStyle/>
          <a:p>
            <a:pPr marL="0" indent="0">
              <a:lnSpc>
                <a:spcPct val="130000"/>
              </a:lnSpc>
              <a:buNone/>
            </a:pPr>
            <a:r>
              <a:rPr lang="fr-FR" sz="750" dirty="0">
                <a:solidFill>
                  <a:srgbClr val="888888"/>
                </a:solidFill>
                <a:latin typeface="Calibri" pitchFamily="34" charset="0"/>
                <a:ea typeface="Calibri" pitchFamily="34" charset="-122"/>
                <a:cs typeface="Calibri" pitchFamily="34" charset="-120"/>
              </a:rPr>
              <a:t>Présente la chaîne de production des mesures et l’export CSV structuré</a:t>
            </a:r>
            <a:r>
              <a:rPr lang="en-US" sz="750" dirty="0">
                <a:solidFill>
                  <a:srgbClr val="888888"/>
                </a:solidFill>
                <a:latin typeface="Calibri" pitchFamily="34" charset="0"/>
                <a:ea typeface="Calibri" pitchFamily="34" charset="-122"/>
                <a:cs typeface="Calibri" pitchFamily="34" charset="-120"/>
              </a:rPr>
              <a:t>.</a:t>
            </a:r>
            <a:endParaRPr lang="en-US" sz="750" dirty="0"/>
          </a:p>
        </p:txBody>
      </p:sp>
      <p:sp>
        <p:nvSpPr>
          <p:cNvPr id="14" name="Shape 12"/>
          <p:cNvSpPr/>
          <p:nvPr/>
        </p:nvSpPr>
        <p:spPr>
          <a:xfrm>
            <a:off x="8284464" y="566928"/>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15" name="Text 13"/>
          <p:cNvSpPr/>
          <p:nvPr/>
        </p:nvSpPr>
        <p:spPr>
          <a:xfrm>
            <a:off x="8284464" y="566928"/>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04a</a:t>
            </a:r>
            <a:endParaRPr lang="en-US" sz="650" dirty="0"/>
          </a:p>
        </p:txBody>
      </p:sp>
      <p:sp>
        <p:nvSpPr>
          <p:cNvPr id="16" name="Shape 14"/>
          <p:cNvSpPr/>
          <p:nvPr/>
        </p:nvSpPr>
        <p:spPr>
          <a:xfrm>
            <a:off x="3968496" y="1298448"/>
            <a:ext cx="4736592" cy="0"/>
          </a:xfrm>
          <a:prstGeom prst="line">
            <a:avLst/>
          </a:prstGeom>
          <a:noFill/>
          <a:ln w="7620">
            <a:solidFill>
              <a:srgbClr val="F5F5F5"/>
            </a:solidFill>
            <a:prstDash val="solid"/>
          </a:ln>
        </p:spPr>
        <p:txBody>
          <a:bodyPr/>
          <a:lstStyle/>
          <a:p>
            <a:endParaRPr lang="en-CA"/>
          </a:p>
        </p:txBody>
      </p:sp>
      <p:sp>
        <p:nvSpPr>
          <p:cNvPr id="17" name="Shape 15"/>
          <p:cNvSpPr/>
          <p:nvPr/>
        </p:nvSpPr>
        <p:spPr>
          <a:xfrm>
            <a:off x="3675888" y="1389888"/>
            <a:ext cx="219456" cy="219456"/>
          </a:xfrm>
          <a:prstGeom prst="ellipse">
            <a:avLst/>
          </a:prstGeom>
          <a:solidFill>
            <a:srgbClr val="0A0A0A"/>
          </a:solidFill>
          <a:ln w="12700">
            <a:solidFill>
              <a:srgbClr val="0A0A0A"/>
            </a:solidFill>
            <a:prstDash val="solid"/>
          </a:ln>
        </p:spPr>
        <p:txBody>
          <a:bodyPr/>
          <a:lstStyle/>
          <a:p>
            <a:endParaRPr lang="en-CA"/>
          </a:p>
        </p:txBody>
      </p:sp>
      <p:sp>
        <p:nvSpPr>
          <p:cNvPr id="18" name="Text 16"/>
          <p:cNvSpPr/>
          <p:nvPr/>
        </p:nvSpPr>
        <p:spPr>
          <a:xfrm>
            <a:off x="3675888" y="1389888"/>
            <a:ext cx="219456" cy="219456"/>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2</a:t>
            </a:r>
            <a:endParaRPr lang="en-US" sz="800" dirty="0"/>
          </a:p>
        </p:txBody>
      </p:sp>
      <p:sp>
        <p:nvSpPr>
          <p:cNvPr id="19" name="Text 17"/>
          <p:cNvSpPr/>
          <p:nvPr/>
        </p:nvSpPr>
        <p:spPr>
          <a:xfrm>
            <a:off x="3968496" y="1335024"/>
            <a:ext cx="4242816" cy="237744"/>
          </a:xfrm>
          <a:prstGeom prst="rect">
            <a:avLst/>
          </a:prstGeom>
          <a:noFill/>
          <a:ln/>
        </p:spPr>
        <p:txBody>
          <a:bodyPr wrap="square" lIns="0" tIns="0" rIns="0" bIns="0" rtlCol="0" anchor="ctr"/>
          <a:lstStyle/>
          <a:p>
            <a:pPr marL="0" indent="0">
              <a:buNone/>
            </a:pPr>
            <a:r>
              <a:rPr lang="en-US" sz="900" b="1" dirty="0">
                <a:solidFill>
                  <a:srgbClr val="0A0A0A"/>
                </a:solidFill>
                <a:latin typeface="Calibri" pitchFamily="34" charset="0"/>
                <a:ea typeface="Calibri" pitchFamily="34" charset="-122"/>
                <a:cs typeface="Calibri" pitchFamily="34" charset="-120"/>
              </a:rPr>
              <a:t>Pipeline de génération des graphiques</a:t>
            </a:r>
            <a:endParaRPr lang="en-US" sz="900" dirty="0"/>
          </a:p>
        </p:txBody>
      </p:sp>
      <p:sp>
        <p:nvSpPr>
          <p:cNvPr id="20" name="Text 18"/>
          <p:cNvSpPr/>
          <p:nvPr/>
        </p:nvSpPr>
        <p:spPr>
          <a:xfrm>
            <a:off x="3968496" y="1591056"/>
            <a:ext cx="4242816" cy="402336"/>
          </a:xfrm>
          <a:prstGeom prst="rect">
            <a:avLst/>
          </a:prstGeom>
          <a:noFill/>
          <a:ln/>
        </p:spPr>
        <p:txBody>
          <a:bodyPr wrap="square" lIns="0" tIns="0" rIns="0" bIns="0" rtlCol="0" anchor="t"/>
          <a:lstStyle/>
          <a:p>
            <a:pPr marL="0" indent="0">
              <a:lnSpc>
                <a:spcPct val="130000"/>
              </a:lnSpc>
              <a:buNone/>
            </a:pPr>
            <a:r>
              <a:rPr lang="fr-FR" sz="750" dirty="0">
                <a:solidFill>
                  <a:srgbClr val="888888"/>
                </a:solidFill>
                <a:latin typeface="Calibri" pitchFamily="34" charset="0"/>
                <a:ea typeface="Calibri" pitchFamily="34" charset="-122"/>
                <a:cs typeface="Calibri" pitchFamily="34" charset="-120"/>
              </a:rPr>
              <a:t>Montre comment les CSV sont transformés en figures via préparation, construction et style commun.</a:t>
            </a:r>
            <a:endParaRPr lang="en-US" sz="750" dirty="0"/>
          </a:p>
        </p:txBody>
      </p:sp>
      <p:sp>
        <p:nvSpPr>
          <p:cNvPr id="21" name="Shape 19"/>
          <p:cNvSpPr/>
          <p:nvPr/>
        </p:nvSpPr>
        <p:spPr>
          <a:xfrm>
            <a:off x="8284464" y="1408176"/>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22" name="Text 20"/>
          <p:cNvSpPr/>
          <p:nvPr/>
        </p:nvSpPr>
        <p:spPr>
          <a:xfrm>
            <a:off x="8284464" y="1408176"/>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04b</a:t>
            </a:r>
            <a:endParaRPr lang="en-US" sz="650" dirty="0"/>
          </a:p>
        </p:txBody>
      </p:sp>
      <p:sp>
        <p:nvSpPr>
          <p:cNvPr id="23" name="Shape 21"/>
          <p:cNvSpPr/>
          <p:nvPr/>
        </p:nvSpPr>
        <p:spPr>
          <a:xfrm>
            <a:off x="3968496" y="2139696"/>
            <a:ext cx="4736592" cy="0"/>
          </a:xfrm>
          <a:prstGeom prst="line">
            <a:avLst/>
          </a:prstGeom>
          <a:noFill/>
          <a:ln w="7620">
            <a:solidFill>
              <a:srgbClr val="F5F5F5"/>
            </a:solidFill>
            <a:prstDash val="solid"/>
          </a:ln>
        </p:spPr>
        <p:txBody>
          <a:bodyPr/>
          <a:lstStyle/>
          <a:p>
            <a:endParaRPr lang="en-CA"/>
          </a:p>
        </p:txBody>
      </p:sp>
      <p:sp>
        <p:nvSpPr>
          <p:cNvPr id="24" name="Shape 22"/>
          <p:cNvSpPr/>
          <p:nvPr/>
        </p:nvSpPr>
        <p:spPr>
          <a:xfrm>
            <a:off x="3675888" y="2231136"/>
            <a:ext cx="219456" cy="219456"/>
          </a:xfrm>
          <a:prstGeom prst="ellipse">
            <a:avLst/>
          </a:prstGeom>
          <a:solidFill>
            <a:srgbClr val="0A0A0A"/>
          </a:solidFill>
          <a:ln w="12700">
            <a:solidFill>
              <a:srgbClr val="0A0A0A"/>
            </a:solidFill>
            <a:prstDash val="solid"/>
          </a:ln>
        </p:spPr>
        <p:txBody>
          <a:bodyPr/>
          <a:lstStyle/>
          <a:p>
            <a:endParaRPr lang="en-CA"/>
          </a:p>
        </p:txBody>
      </p:sp>
      <p:sp>
        <p:nvSpPr>
          <p:cNvPr id="25" name="Text 23"/>
          <p:cNvSpPr/>
          <p:nvPr/>
        </p:nvSpPr>
        <p:spPr>
          <a:xfrm>
            <a:off x="3675888" y="2231136"/>
            <a:ext cx="219456" cy="219456"/>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3</a:t>
            </a:r>
            <a:endParaRPr lang="en-US" sz="800" dirty="0"/>
          </a:p>
        </p:txBody>
      </p:sp>
      <p:sp>
        <p:nvSpPr>
          <p:cNvPr id="26" name="Text 24"/>
          <p:cNvSpPr/>
          <p:nvPr/>
        </p:nvSpPr>
        <p:spPr>
          <a:xfrm>
            <a:off x="3968496" y="2176272"/>
            <a:ext cx="4242816" cy="237744"/>
          </a:xfrm>
          <a:prstGeom prst="rect">
            <a:avLst/>
          </a:prstGeom>
          <a:noFill/>
          <a:ln/>
        </p:spPr>
        <p:txBody>
          <a:bodyPr wrap="square" lIns="0" tIns="0" rIns="0" bIns="0" rtlCol="0" anchor="ctr"/>
          <a:lstStyle/>
          <a:p>
            <a:pPr marL="0" indent="0">
              <a:buNone/>
            </a:pPr>
            <a:r>
              <a:rPr lang="fr-FR" sz="900" b="1" dirty="0">
                <a:solidFill>
                  <a:srgbClr val="0A0A0A"/>
                </a:solidFill>
                <a:latin typeface="Calibri" pitchFamily="34" charset="0"/>
                <a:ea typeface="Calibri" pitchFamily="34" charset="-122"/>
                <a:cs typeface="Calibri" pitchFamily="34" charset="-120"/>
              </a:rPr>
              <a:t> IC95 relatif : théorie et lecture pratique</a:t>
            </a:r>
            <a:endParaRPr lang="en-US" sz="900" dirty="0"/>
          </a:p>
        </p:txBody>
      </p:sp>
      <p:sp>
        <p:nvSpPr>
          <p:cNvPr id="27" name="Text 25"/>
          <p:cNvSpPr/>
          <p:nvPr/>
        </p:nvSpPr>
        <p:spPr>
          <a:xfrm>
            <a:off x="3968496" y="2432304"/>
            <a:ext cx="4242816" cy="402336"/>
          </a:xfrm>
          <a:prstGeom prst="rect">
            <a:avLst/>
          </a:prstGeom>
          <a:noFill/>
          <a:ln/>
        </p:spPr>
        <p:txBody>
          <a:bodyPr wrap="square" lIns="0" tIns="0" rIns="0" bIns="0" rtlCol="0" anchor="t"/>
          <a:lstStyle/>
          <a:p>
            <a:pPr marL="0" indent="0">
              <a:lnSpc>
                <a:spcPct val="130000"/>
              </a:lnSpc>
              <a:buNone/>
            </a:pPr>
            <a:r>
              <a:rPr lang="fr-FR" sz="750" dirty="0">
                <a:solidFill>
                  <a:srgbClr val="888888"/>
                </a:solidFill>
                <a:latin typeface="Calibri" pitchFamily="34" charset="0"/>
                <a:ea typeface="Calibri" pitchFamily="34" charset="-122"/>
                <a:cs typeface="Calibri" pitchFamily="34" charset="-120"/>
              </a:rPr>
              <a:t>Explique la formule, les paramètres statistiques et les repères d’interprétation.</a:t>
            </a:r>
            <a:endParaRPr lang="en-US" sz="750" dirty="0"/>
          </a:p>
        </p:txBody>
      </p:sp>
      <p:sp>
        <p:nvSpPr>
          <p:cNvPr id="28" name="Shape 26"/>
          <p:cNvSpPr/>
          <p:nvPr/>
        </p:nvSpPr>
        <p:spPr>
          <a:xfrm>
            <a:off x="8284464" y="2249424"/>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29" name="Text 27"/>
          <p:cNvSpPr/>
          <p:nvPr/>
        </p:nvSpPr>
        <p:spPr>
          <a:xfrm>
            <a:off x="8284464" y="2249424"/>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04c</a:t>
            </a:r>
            <a:endParaRPr lang="en-US" sz="650" dirty="0"/>
          </a:p>
        </p:txBody>
      </p:sp>
      <p:sp>
        <p:nvSpPr>
          <p:cNvPr id="30" name="Shape 28"/>
          <p:cNvSpPr/>
          <p:nvPr/>
        </p:nvSpPr>
        <p:spPr>
          <a:xfrm>
            <a:off x="3968496" y="2980944"/>
            <a:ext cx="4736592" cy="0"/>
          </a:xfrm>
          <a:prstGeom prst="line">
            <a:avLst/>
          </a:prstGeom>
          <a:noFill/>
          <a:ln w="7620">
            <a:solidFill>
              <a:srgbClr val="F5F5F5"/>
            </a:solidFill>
            <a:prstDash val="solid"/>
          </a:ln>
        </p:spPr>
        <p:txBody>
          <a:bodyPr/>
          <a:lstStyle/>
          <a:p>
            <a:endParaRPr lang="en-CA"/>
          </a:p>
        </p:txBody>
      </p:sp>
      <p:sp>
        <p:nvSpPr>
          <p:cNvPr id="31" name="Shape 29"/>
          <p:cNvSpPr/>
          <p:nvPr/>
        </p:nvSpPr>
        <p:spPr>
          <a:xfrm>
            <a:off x="3675888" y="3072384"/>
            <a:ext cx="219456" cy="219456"/>
          </a:xfrm>
          <a:prstGeom prst="ellipse">
            <a:avLst/>
          </a:prstGeom>
          <a:solidFill>
            <a:srgbClr val="0A0A0A"/>
          </a:solidFill>
          <a:ln w="12700">
            <a:solidFill>
              <a:srgbClr val="0A0A0A"/>
            </a:solidFill>
            <a:prstDash val="solid"/>
          </a:ln>
        </p:spPr>
        <p:txBody>
          <a:bodyPr/>
          <a:lstStyle/>
          <a:p>
            <a:endParaRPr lang="en-CA"/>
          </a:p>
        </p:txBody>
      </p:sp>
      <p:sp>
        <p:nvSpPr>
          <p:cNvPr id="32" name="Text 30"/>
          <p:cNvSpPr/>
          <p:nvPr/>
        </p:nvSpPr>
        <p:spPr>
          <a:xfrm>
            <a:off x="3675888" y="3072384"/>
            <a:ext cx="219456" cy="219456"/>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4</a:t>
            </a:r>
            <a:endParaRPr lang="en-US" sz="800" dirty="0"/>
          </a:p>
        </p:txBody>
      </p:sp>
      <p:sp>
        <p:nvSpPr>
          <p:cNvPr id="33" name="Text 31"/>
          <p:cNvSpPr/>
          <p:nvPr/>
        </p:nvSpPr>
        <p:spPr>
          <a:xfrm>
            <a:off x="3968496" y="3017520"/>
            <a:ext cx="4242816" cy="237744"/>
          </a:xfrm>
          <a:prstGeom prst="rect">
            <a:avLst/>
          </a:prstGeom>
          <a:noFill/>
          <a:ln/>
        </p:spPr>
        <p:txBody>
          <a:bodyPr wrap="square" lIns="0" tIns="0" rIns="0" bIns="0" rtlCol="0" anchor="ctr"/>
          <a:lstStyle/>
          <a:p>
            <a:pPr marL="0" indent="0">
              <a:buNone/>
            </a:pPr>
            <a:r>
              <a:rPr lang="fr-FR" sz="900" b="1" dirty="0">
                <a:solidFill>
                  <a:srgbClr val="0A0A0A"/>
                </a:solidFill>
                <a:latin typeface="Calibri" pitchFamily="34" charset="0"/>
                <a:ea typeface="Calibri" pitchFamily="34" charset="-122"/>
                <a:cs typeface="Calibri" pitchFamily="34" charset="-120"/>
              </a:rPr>
              <a:t>IC95 relatif : application des gates</a:t>
            </a:r>
            <a:endParaRPr lang="en-US" sz="900" dirty="0"/>
          </a:p>
        </p:txBody>
      </p:sp>
      <p:sp>
        <p:nvSpPr>
          <p:cNvPr id="34" name="Text 32"/>
          <p:cNvSpPr/>
          <p:nvPr/>
        </p:nvSpPr>
        <p:spPr>
          <a:xfrm>
            <a:off x="3968496" y="3273552"/>
            <a:ext cx="4242816" cy="402336"/>
          </a:xfrm>
          <a:prstGeom prst="rect">
            <a:avLst/>
          </a:prstGeom>
          <a:noFill/>
          <a:ln/>
        </p:spPr>
        <p:txBody>
          <a:bodyPr wrap="square" lIns="0" tIns="0" rIns="0" bIns="0" rtlCol="0" anchor="t"/>
          <a:lstStyle/>
          <a:p>
            <a:pPr marL="0" indent="0">
              <a:lnSpc>
                <a:spcPct val="130000"/>
              </a:lnSpc>
              <a:buNone/>
            </a:pPr>
            <a:r>
              <a:rPr lang="fr-FR" sz="750" dirty="0">
                <a:solidFill>
                  <a:srgbClr val="888888"/>
                </a:solidFill>
                <a:latin typeface="Calibri" pitchFamily="34" charset="0"/>
                <a:ea typeface="Calibri" pitchFamily="34" charset="-122"/>
                <a:cs typeface="Calibri" pitchFamily="34" charset="-120"/>
              </a:rPr>
              <a:t>Applique G1-G2-G3 sur les résultats réels et produit un verdict CI publier ou bloquer.</a:t>
            </a:r>
            <a:endParaRPr lang="en-US" sz="750" dirty="0"/>
          </a:p>
        </p:txBody>
      </p:sp>
      <p:sp>
        <p:nvSpPr>
          <p:cNvPr id="35" name="Shape 33"/>
          <p:cNvSpPr/>
          <p:nvPr/>
        </p:nvSpPr>
        <p:spPr>
          <a:xfrm>
            <a:off x="8284464" y="3090672"/>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36" name="Text 34"/>
          <p:cNvSpPr/>
          <p:nvPr/>
        </p:nvSpPr>
        <p:spPr>
          <a:xfrm>
            <a:off x="8284464" y="3090672"/>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04d</a:t>
            </a:r>
            <a:endParaRPr lang="en-US" sz="650" dirty="0"/>
          </a:p>
        </p:txBody>
      </p:sp>
      <p:sp>
        <p:nvSpPr>
          <p:cNvPr id="37" name="Shape 35"/>
          <p:cNvSpPr/>
          <p:nvPr/>
        </p:nvSpPr>
        <p:spPr>
          <a:xfrm>
            <a:off x="3968496" y="3822192"/>
            <a:ext cx="4736592" cy="0"/>
          </a:xfrm>
          <a:prstGeom prst="line">
            <a:avLst/>
          </a:prstGeom>
          <a:noFill/>
          <a:ln w="7620">
            <a:solidFill>
              <a:srgbClr val="F5F5F5"/>
            </a:solidFill>
            <a:prstDash val="solid"/>
          </a:ln>
        </p:spPr>
        <p:txBody>
          <a:bodyPr/>
          <a:lstStyle/>
          <a:p>
            <a:endParaRPr lang="en-CA"/>
          </a:p>
        </p:txBody>
      </p:sp>
      <p:sp>
        <p:nvSpPr>
          <p:cNvPr id="38" name="Shape 36"/>
          <p:cNvSpPr/>
          <p:nvPr/>
        </p:nvSpPr>
        <p:spPr>
          <a:xfrm>
            <a:off x="3675888" y="3913632"/>
            <a:ext cx="219456" cy="219456"/>
          </a:xfrm>
          <a:prstGeom prst="ellipse">
            <a:avLst/>
          </a:prstGeom>
          <a:solidFill>
            <a:srgbClr val="0A0A0A"/>
          </a:solidFill>
          <a:ln w="12700">
            <a:solidFill>
              <a:srgbClr val="0A0A0A"/>
            </a:solidFill>
            <a:prstDash val="solid"/>
          </a:ln>
        </p:spPr>
        <p:txBody>
          <a:bodyPr/>
          <a:lstStyle/>
          <a:p>
            <a:endParaRPr lang="en-CA"/>
          </a:p>
        </p:txBody>
      </p:sp>
      <p:sp>
        <p:nvSpPr>
          <p:cNvPr id="39" name="Text 37"/>
          <p:cNvSpPr/>
          <p:nvPr/>
        </p:nvSpPr>
        <p:spPr>
          <a:xfrm>
            <a:off x="3675888" y="3913632"/>
            <a:ext cx="219456" cy="219456"/>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5</a:t>
            </a:r>
            <a:endParaRPr lang="en-US" sz="800" dirty="0"/>
          </a:p>
        </p:txBody>
      </p:sp>
      <p:sp>
        <p:nvSpPr>
          <p:cNvPr id="40" name="Text 38"/>
          <p:cNvSpPr/>
          <p:nvPr/>
        </p:nvSpPr>
        <p:spPr>
          <a:xfrm>
            <a:off x="3968496" y="3858768"/>
            <a:ext cx="4242816" cy="237744"/>
          </a:xfrm>
          <a:prstGeom prst="rect">
            <a:avLst/>
          </a:prstGeom>
          <a:noFill/>
          <a:ln/>
        </p:spPr>
        <p:txBody>
          <a:bodyPr wrap="square" lIns="0" tIns="0" rIns="0" bIns="0" rtlCol="0" anchor="ctr"/>
          <a:lstStyle/>
          <a:p>
            <a:pPr marL="0" indent="0">
              <a:buNone/>
            </a:pPr>
            <a:r>
              <a:rPr lang="fr-FR" sz="900" b="1" dirty="0">
                <a:solidFill>
                  <a:srgbClr val="0A0A0A"/>
                </a:solidFill>
                <a:latin typeface="Calibri" pitchFamily="34" charset="0"/>
                <a:ea typeface="Calibri" pitchFamily="34" charset="-122"/>
                <a:cs typeface="Calibri" pitchFamily="34" charset="-120"/>
              </a:rPr>
              <a:t> Validation des résultats : effet d’avalanche</a:t>
            </a:r>
            <a:endParaRPr lang="en-US" sz="900" dirty="0"/>
          </a:p>
        </p:txBody>
      </p:sp>
      <p:sp>
        <p:nvSpPr>
          <p:cNvPr id="41" name="Text 39"/>
          <p:cNvSpPr/>
          <p:nvPr/>
        </p:nvSpPr>
        <p:spPr>
          <a:xfrm>
            <a:off x="3968496" y="4114800"/>
            <a:ext cx="4242816" cy="402336"/>
          </a:xfrm>
          <a:prstGeom prst="rect">
            <a:avLst/>
          </a:prstGeom>
          <a:noFill/>
          <a:ln/>
        </p:spPr>
        <p:txBody>
          <a:bodyPr wrap="square" lIns="0" tIns="0" rIns="0" bIns="0" rtlCol="0" anchor="t"/>
          <a:lstStyle/>
          <a:p>
            <a:pPr marL="0" indent="0">
              <a:lnSpc>
                <a:spcPct val="130000"/>
              </a:lnSpc>
              <a:buNone/>
            </a:pPr>
            <a:r>
              <a:rPr lang="fr-FR" sz="750" dirty="0">
                <a:solidFill>
                  <a:srgbClr val="888888"/>
                </a:solidFill>
                <a:latin typeface="Calibri" pitchFamily="34" charset="0"/>
                <a:ea typeface="Calibri" pitchFamily="34" charset="-122"/>
                <a:cs typeface="Calibri" pitchFamily="34" charset="-120"/>
              </a:rPr>
              <a:t>Vérifie la cohérence des résultats avec la littérature et la stabilité entre plateformes.</a:t>
            </a:r>
            <a:endParaRPr lang="en-US" sz="750" dirty="0"/>
          </a:p>
        </p:txBody>
      </p:sp>
      <p:sp>
        <p:nvSpPr>
          <p:cNvPr id="42" name="Shape 40"/>
          <p:cNvSpPr/>
          <p:nvPr/>
        </p:nvSpPr>
        <p:spPr>
          <a:xfrm>
            <a:off x="8284464" y="3931920"/>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43" name="Text 41"/>
          <p:cNvSpPr/>
          <p:nvPr/>
        </p:nvSpPr>
        <p:spPr>
          <a:xfrm>
            <a:off x="8284464" y="3931920"/>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04e</a:t>
            </a:r>
            <a:endParaRPr lang="en-US" sz="650" dirty="0"/>
          </a:p>
        </p:txBody>
      </p:sp>
      <p:sp>
        <p:nvSpPr>
          <p:cNvPr id="44" name="Text 42"/>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 name="Shape 17"/>
          <p:cNvSpPr/>
          <p:nvPr/>
        </p:nvSpPr>
        <p:spPr>
          <a:xfrm>
            <a:off x="326306" y="856463"/>
            <a:ext cx="2334183" cy="3129464"/>
          </a:xfrm>
          <a:prstGeom prst="roundRect">
            <a:avLst>
              <a:gd name="adj" fmla="val 3731"/>
            </a:avLst>
          </a:prstGeom>
          <a:solidFill>
            <a:srgbClr val="FAFAFA"/>
          </a:solidFill>
          <a:ln w="7620">
            <a:solidFill>
              <a:srgbClr val="E8E8E8"/>
            </a:solidFill>
            <a:prstDash val="solid"/>
          </a:ln>
        </p:spPr>
        <p:txBody>
          <a:bodyPr/>
          <a:lstStyle/>
          <a:p>
            <a:endParaRPr lang="en-CA"/>
          </a:p>
        </p:txBody>
      </p:sp>
      <p:sp>
        <p:nvSpPr>
          <p:cNvPr id="3" name="Text 1"/>
          <p:cNvSpPr/>
          <p:nvPr/>
        </p:nvSpPr>
        <p:spPr>
          <a:xfrm>
            <a:off x="475488" y="182880"/>
            <a:ext cx="4572000" cy="182880"/>
          </a:xfrm>
          <a:prstGeom prst="rect">
            <a:avLst/>
          </a:prstGeom>
          <a:noFill/>
          <a:ln/>
        </p:spPr>
        <p:txBody>
          <a:bodyPr wrap="square" lIns="0" tIns="0" rIns="0" bIns="0" rtlCol="0" anchor="ctr"/>
          <a:lstStyle/>
          <a:p>
            <a:r>
              <a:rPr lang="en-US" sz="800" b="1" kern="0" spc="200" dirty="0">
                <a:solidFill>
                  <a:srgbClr val="C0C0C0"/>
                </a:solidFill>
                <a:latin typeface="Calibri" pitchFamily="34" charset="0"/>
                <a:ea typeface="Calibri" pitchFamily="34" charset="-122"/>
                <a:cs typeface="Calibri" pitchFamily="34" charset="-120"/>
              </a:rPr>
              <a:t>04a  ·  GÉNÉRATION DES SORTIES EXPÉRIMENTALES</a:t>
            </a:r>
            <a:endParaRPr lang="en-US" sz="800" dirty="0"/>
          </a:p>
        </p:txBody>
      </p:sp>
      <p:sp>
        <p:nvSpPr>
          <p:cNvPr id="4" name="Text 2"/>
          <p:cNvSpPr/>
          <p:nvPr/>
        </p:nvSpPr>
        <p:spPr>
          <a:xfrm>
            <a:off x="475488" y="365760"/>
            <a:ext cx="6400800" cy="347472"/>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Pipeline de génération des </a:t>
            </a:r>
            <a:r>
              <a:rPr lang="fr-FR" sz="1500" b="1" dirty="0">
                <a:solidFill>
                  <a:srgbClr val="CFB260"/>
                </a:solidFill>
                <a:latin typeface="Calibri" pitchFamily="34" charset="0"/>
                <a:ea typeface="Calibri" pitchFamily="34" charset="-122"/>
                <a:cs typeface="Calibri" pitchFamily="34" charset="-120"/>
              </a:rPr>
              <a:t>données expérimentales</a:t>
            </a:r>
            <a:endParaRPr lang="en-US" sz="1500" dirty="0">
              <a:solidFill>
                <a:srgbClr val="CFB260"/>
              </a:solidFill>
            </a:endParaRPr>
          </a:p>
        </p:txBody>
      </p:sp>
      <p:sp>
        <p:nvSpPr>
          <p:cNvPr id="5" name="Shape 3"/>
          <p:cNvSpPr/>
          <p:nvPr/>
        </p:nvSpPr>
        <p:spPr>
          <a:xfrm>
            <a:off x="3329242" y="856463"/>
            <a:ext cx="2347467" cy="3120489"/>
          </a:xfrm>
          <a:prstGeom prst="roundRect">
            <a:avLst>
              <a:gd name="adj" fmla="val 3731"/>
            </a:avLst>
          </a:prstGeom>
          <a:solidFill>
            <a:srgbClr val="FAFAFA"/>
          </a:solidFill>
          <a:ln w="7620">
            <a:solidFill>
              <a:srgbClr val="E8E8E8"/>
            </a:solidFill>
            <a:prstDash val="solid"/>
          </a:ln>
        </p:spPr>
        <p:txBody>
          <a:bodyPr/>
          <a:lstStyle/>
          <a:p>
            <a:endParaRPr lang="en-CA"/>
          </a:p>
        </p:txBody>
      </p:sp>
      <p:sp>
        <p:nvSpPr>
          <p:cNvPr id="8" name="Text 6"/>
          <p:cNvSpPr/>
          <p:nvPr/>
        </p:nvSpPr>
        <p:spPr>
          <a:xfrm>
            <a:off x="439385" y="1387132"/>
            <a:ext cx="2194560" cy="274320"/>
          </a:xfrm>
          <a:prstGeom prst="rect">
            <a:avLst/>
          </a:prstGeom>
          <a:noFill/>
          <a:ln/>
        </p:spPr>
        <p:txBody>
          <a:bodyPr wrap="square" lIns="0" tIns="0" rIns="0" bIns="0" rtlCol="0" anchor="ctr"/>
          <a:lstStyle/>
          <a:p>
            <a:pPr marL="0" indent="0">
              <a:buNone/>
            </a:pPr>
            <a:r>
              <a:rPr lang="en-US" sz="950" b="1" dirty="0">
                <a:solidFill>
                  <a:srgbClr val="0A0A0A"/>
                </a:solidFill>
                <a:latin typeface="Courier New" pitchFamily="34" charset="0"/>
                <a:ea typeface="Courier New" pitchFamily="34" charset="-122"/>
                <a:cs typeface="Courier New" pitchFamily="34" charset="-120"/>
              </a:rPr>
              <a:t>experiment.py</a:t>
            </a:r>
            <a:endParaRPr lang="en-US" sz="950" dirty="0"/>
          </a:p>
        </p:txBody>
      </p:sp>
      <p:sp>
        <p:nvSpPr>
          <p:cNvPr id="9" name="Shape 7"/>
          <p:cNvSpPr/>
          <p:nvPr/>
        </p:nvSpPr>
        <p:spPr>
          <a:xfrm flipV="1">
            <a:off x="439385" y="1709926"/>
            <a:ext cx="2110902" cy="8119"/>
          </a:xfrm>
          <a:prstGeom prst="line">
            <a:avLst/>
          </a:prstGeom>
          <a:noFill/>
          <a:ln w="7620">
            <a:solidFill>
              <a:srgbClr val="F0F0F0"/>
            </a:solidFill>
            <a:prstDash val="solid"/>
          </a:ln>
        </p:spPr>
        <p:txBody>
          <a:bodyPr/>
          <a:lstStyle/>
          <a:p>
            <a:endParaRPr lang="en-CA"/>
          </a:p>
        </p:txBody>
      </p:sp>
      <p:sp>
        <p:nvSpPr>
          <p:cNvPr id="10" name="Text 8"/>
          <p:cNvSpPr/>
          <p:nvPr/>
        </p:nvSpPr>
        <p:spPr>
          <a:xfrm>
            <a:off x="439385" y="1826044"/>
            <a:ext cx="2194560" cy="219456"/>
          </a:xfrm>
          <a:prstGeom prst="rect">
            <a:avLst/>
          </a:prstGeom>
          <a:noFill/>
          <a:ln/>
        </p:spPr>
        <p:txBody>
          <a:bodyPr wrap="square" lIns="0" tIns="0" rIns="0" bIns="0" rtlCol="0" anchor="ctr"/>
          <a:lstStyle/>
          <a:p>
            <a:pPr marL="0" indent="0">
              <a:buNone/>
            </a:pPr>
            <a:r>
              <a:rPr lang="en-US" sz="850" b="1" dirty="0">
                <a:solidFill>
                  <a:srgbClr val="555555"/>
                </a:solidFill>
                <a:latin typeface="Courier New" pitchFamily="34" charset="0"/>
                <a:ea typeface="Courier New" pitchFamily="34" charset="-122"/>
                <a:cs typeface="Courier New" pitchFamily="34" charset="-120"/>
              </a:rPr>
              <a:t>EXPERIMENT_MATRIX</a:t>
            </a:r>
            <a:endParaRPr lang="en-US" sz="850" dirty="0"/>
          </a:p>
        </p:txBody>
      </p:sp>
      <p:sp>
        <p:nvSpPr>
          <p:cNvPr id="11" name="Text 9"/>
          <p:cNvSpPr/>
          <p:nvPr/>
        </p:nvSpPr>
        <p:spPr>
          <a:xfrm>
            <a:off x="439385" y="2045500"/>
            <a:ext cx="2194560" cy="182880"/>
          </a:xfrm>
          <a:prstGeom prst="rect">
            <a:avLst/>
          </a:prstGeom>
          <a:noFill/>
          <a:ln/>
        </p:spPr>
        <p:txBody>
          <a:bodyPr wrap="square" lIns="0" tIns="0" rIns="0" bIns="0" rtlCol="0" anchor="ctr"/>
          <a:lstStyle/>
          <a:p>
            <a:pPr marL="0" indent="0">
              <a:buNone/>
            </a:pPr>
            <a:r>
              <a:rPr lang="fr-FR" sz="750" dirty="0">
                <a:solidFill>
                  <a:srgbClr val="888888"/>
                </a:solidFill>
                <a:latin typeface="Calibri" pitchFamily="34" charset="0"/>
                <a:ea typeface="Calibri" pitchFamily="34" charset="-122"/>
                <a:cs typeface="Calibri" pitchFamily="34" charset="-120"/>
              </a:rPr>
              <a:t>combinaisons algo/mode/taille de clé</a:t>
            </a:r>
            <a:endParaRPr lang="en-US" sz="750" dirty="0"/>
          </a:p>
        </p:txBody>
      </p:sp>
      <p:sp>
        <p:nvSpPr>
          <p:cNvPr id="12" name="Text 10"/>
          <p:cNvSpPr/>
          <p:nvPr/>
        </p:nvSpPr>
        <p:spPr>
          <a:xfrm>
            <a:off x="439385" y="2319820"/>
            <a:ext cx="2194560" cy="219456"/>
          </a:xfrm>
          <a:prstGeom prst="rect">
            <a:avLst/>
          </a:prstGeom>
          <a:noFill/>
          <a:ln/>
        </p:spPr>
        <p:txBody>
          <a:bodyPr wrap="square" lIns="0" tIns="0" rIns="0" bIns="0" rtlCol="0" anchor="ctr"/>
          <a:lstStyle/>
          <a:p>
            <a:pPr marL="0" indent="0">
              <a:buNone/>
            </a:pPr>
            <a:r>
              <a:rPr lang="en-US" sz="850" b="1" dirty="0">
                <a:solidFill>
                  <a:srgbClr val="555555"/>
                </a:solidFill>
                <a:latin typeface="Courier New" pitchFamily="34" charset="0"/>
                <a:ea typeface="Courier New" pitchFamily="34" charset="-122"/>
                <a:cs typeface="Courier New" pitchFamily="34" charset="-120"/>
              </a:rPr>
              <a:t>MESSAGE_SIZES</a:t>
            </a:r>
            <a:endParaRPr lang="en-US" sz="850" dirty="0"/>
          </a:p>
        </p:txBody>
      </p:sp>
      <p:sp>
        <p:nvSpPr>
          <p:cNvPr id="13" name="Text 11"/>
          <p:cNvSpPr/>
          <p:nvPr/>
        </p:nvSpPr>
        <p:spPr>
          <a:xfrm>
            <a:off x="439385" y="2539276"/>
            <a:ext cx="2194560" cy="182880"/>
          </a:xfrm>
          <a:prstGeom prst="rect">
            <a:avLst/>
          </a:prstGeom>
          <a:noFill/>
          <a:ln/>
        </p:spPr>
        <p:txBody>
          <a:bodyPr wrap="square" lIns="0" tIns="0" rIns="0" bIns="0" rtlCol="0" anchor="ctr"/>
          <a:lstStyle/>
          <a:p>
            <a:pPr marL="0" indent="0">
              <a:buNone/>
            </a:pPr>
            <a:r>
              <a:rPr lang="fr-FR" sz="750" dirty="0">
                <a:solidFill>
                  <a:srgbClr val="888888"/>
                </a:solidFill>
                <a:latin typeface="Calibri" pitchFamily="34" charset="0"/>
                <a:ea typeface="Calibri" pitchFamily="34" charset="-122"/>
                <a:cs typeface="Calibri" pitchFamily="34" charset="-120"/>
              </a:rPr>
              <a:t>tailles de message testées (octets)</a:t>
            </a:r>
            <a:endParaRPr lang="en-US" sz="750" dirty="0"/>
          </a:p>
        </p:txBody>
      </p:sp>
      <p:sp>
        <p:nvSpPr>
          <p:cNvPr id="14" name="Text 12"/>
          <p:cNvSpPr/>
          <p:nvPr/>
        </p:nvSpPr>
        <p:spPr>
          <a:xfrm>
            <a:off x="439385" y="2813596"/>
            <a:ext cx="2194560" cy="219456"/>
          </a:xfrm>
          <a:prstGeom prst="rect">
            <a:avLst/>
          </a:prstGeom>
          <a:noFill/>
          <a:ln/>
        </p:spPr>
        <p:txBody>
          <a:bodyPr wrap="square" lIns="0" tIns="0" rIns="0" bIns="0" rtlCol="0" anchor="ctr"/>
          <a:lstStyle/>
          <a:p>
            <a:pPr marL="0" indent="0">
              <a:buNone/>
            </a:pPr>
            <a:r>
              <a:rPr lang="en-US" sz="850" b="1" dirty="0">
                <a:solidFill>
                  <a:srgbClr val="555555"/>
                </a:solidFill>
                <a:latin typeface="Courier New" pitchFamily="34" charset="0"/>
                <a:cs typeface="Courier New" pitchFamily="34" charset="-120"/>
              </a:rPr>
              <a:t>REPETITIONS = 100</a:t>
            </a:r>
          </a:p>
        </p:txBody>
      </p:sp>
      <p:sp>
        <p:nvSpPr>
          <p:cNvPr id="15" name="Text 13"/>
          <p:cNvSpPr/>
          <p:nvPr/>
        </p:nvSpPr>
        <p:spPr>
          <a:xfrm>
            <a:off x="2724912" y="2285999"/>
            <a:ext cx="548640" cy="182880"/>
          </a:xfrm>
          <a:prstGeom prst="rect">
            <a:avLst/>
          </a:prstGeom>
          <a:noFill/>
          <a:ln/>
        </p:spPr>
        <p:txBody>
          <a:bodyPr wrap="square" lIns="0" tIns="0" rIns="0" bIns="0" rtlCol="0" anchor="ctr"/>
          <a:lstStyle/>
          <a:p>
            <a:pPr marL="0" indent="0" algn="ctr">
              <a:buNone/>
            </a:pPr>
            <a:r>
              <a:rPr lang="en-US" sz="700" b="1" dirty="0">
                <a:solidFill>
                  <a:srgbClr val="C9A84C"/>
                </a:solidFill>
                <a:latin typeface="Calibri" pitchFamily="34" charset="0"/>
                <a:ea typeface="Calibri" pitchFamily="34" charset="-122"/>
                <a:cs typeface="Calibri" pitchFamily="34" charset="-120"/>
              </a:rPr>
              <a:t>instancie le contrôleur</a:t>
            </a:r>
            <a:endParaRPr lang="en-US" sz="700" dirty="0"/>
          </a:p>
        </p:txBody>
      </p:sp>
      <p:sp>
        <p:nvSpPr>
          <p:cNvPr id="22" name="Text 20"/>
          <p:cNvSpPr/>
          <p:nvPr/>
        </p:nvSpPr>
        <p:spPr>
          <a:xfrm>
            <a:off x="3474720" y="1380743"/>
            <a:ext cx="2194560" cy="274320"/>
          </a:xfrm>
          <a:prstGeom prst="rect">
            <a:avLst/>
          </a:prstGeom>
          <a:noFill/>
          <a:ln/>
        </p:spPr>
        <p:txBody>
          <a:bodyPr wrap="square" lIns="0" tIns="0" rIns="0" bIns="0" rtlCol="0" anchor="ctr"/>
          <a:lstStyle/>
          <a:p>
            <a:pPr marL="0" indent="0">
              <a:buNone/>
            </a:pPr>
            <a:r>
              <a:rPr lang="en-US" sz="950" b="1" dirty="0">
                <a:solidFill>
                  <a:srgbClr val="0A0A0A"/>
                </a:solidFill>
                <a:latin typeface="Courier New" pitchFamily="34" charset="0"/>
                <a:ea typeface="Courier New" pitchFamily="34" charset="-122"/>
                <a:cs typeface="Courier New" pitchFamily="34" charset="-120"/>
              </a:rPr>
              <a:t>ExperimentController</a:t>
            </a:r>
            <a:endParaRPr lang="en-US" sz="950" dirty="0"/>
          </a:p>
        </p:txBody>
      </p:sp>
      <p:sp>
        <p:nvSpPr>
          <p:cNvPr id="23" name="Shape 21"/>
          <p:cNvSpPr/>
          <p:nvPr/>
        </p:nvSpPr>
        <p:spPr>
          <a:xfrm flipV="1">
            <a:off x="3439444" y="1718045"/>
            <a:ext cx="2110901" cy="10496"/>
          </a:xfrm>
          <a:prstGeom prst="line">
            <a:avLst/>
          </a:prstGeom>
          <a:noFill/>
          <a:ln w="7620">
            <a:solidFill>
              <a:srgbClr val="F0F0F0"/>
            </a:solidFill>
            <a:prstDash val="solid"/>
          </a:ln>
        </p:spPr>
        <p:txBody>
          <a:bodyPr/>
          <a:lstStyle/>
          <a:p>
            <a:endParaRPr lang="en-CA"/>
          </a:p>
        </p:txBody>
      </p:sp>
      <p:sp>
        <p:nvSpPr>
          <p:cNvPr id="24" name="Text 22"/>
          <p:cNvSpPr/>
          <p:nvPr/>
        </p:nvSpPr>
        <p:spPr>
          <a:xfrm>
            <a:off x="3474720" y="1819655"/>
            <a:ext cx="2194560" cy="219456"/>
          </a:xfrm>
          <a:prstGeom prst="rect">
            <a:avLst/>
          </a:prstGeom>
          <a:noFill/>
          <a:ln/>
        </p:spPr>
        <p:txBody>
          <a:bodyPr wrap="square" lIns="0" tIns="0" rIns="0" bIns="0" rtlCol="0" anchor="ctr"/>
          <a:lstStyle/>
          <a:p>
            <a:pPr marL="0" indent="0">
              <a:buNone/>
            </a:pPr>
            <a:r>
              <a:rPr lang="en-US" sz="850" b="1" dirty="0">
                <a:solidFill>
                  <a:srgbClr val="555555"/>
                </a:solidFill>
                <a:latin typeface="Courier New" pitchFamily="34" charset="0"/>
                <a:ea typeface="Courier New" pitchFamily="34" charset="-122"/>
                <a:cs typeface="Courier New" pitchFamily="34" charset="-120"/>
              </a:rPr>
              <a:t>run_performance()</a:t>
            </a:r>
            <a:endParaRPr lang="en-US" sz="850" dirty="0"/>
          </a:p>
        </p:txBody>
      </p:sp>
      <p:sp>
        <p:nvSpPr>
          <p:cNvPr id="25" name="Text 23"/>
          <p:cNvSpPr/>
          <p:nvPr/>
        </p:nvSpPr>
        <p:spPr>
          <a:xfrm>
            <a:off x="3474720" y="2039111"/>
            <a:ext cx="2194560" cy="182880"/>
          </a:xfrm>
          <a:prstGeom prst="rect">
            <a:avLst/>
          </a:prstGeom>
          <a:noFill/>
          <a:ln/>
        </p:spPr>
        <p:txBody>
          <a:bodyPr wrap="square" lIns="0" tIns="0" rIns="0" bIns="0" rtlCol="0" anchor="ctr"/>
          <a:lstStyle/>
          <a:p>
            <a:pPr marL="0" indent="0">
              <a:buNone/>
            </a:pPr>
            <a:r>
              <a:rPr lang="en-US" sz="750" dirty="0">
                <a:solidFill>
                  <a:srgbClr val="888888"/>
                </a:solidFill>
                <a:latin typeface="Calibri" pitchFamily="34" charset="0"/>
                <a:ea typeface="Calibri" pitchFamily="34" charset="-122"/>
                <a:cs typeface="Calibri" pitchFamily="34" charset="-120"/>
              </a:rPr>
              <a:t>exécute l'algorithme</a:t>
            </a:r>
            <a:endParaRPr lang="en-US" sz="750" dirty="0"/>
          </a:p>
        </p:txBody>
      </p:sp>
      <p:sp>
        <p:nvSpPr>
          <p:cNvPr id="26" name="Text 24"/>
          <p:cNvSpPr/>
          <p:nvPr/>
        </p:nvSpPr>
        <p:spPr>
          <a:xfrm>
            <a:off x="3474720" y="2418851"/>
            <a:ext cx="2450592" cy="219456"/>
          </a:xfrm>
          <a:prstGeom prst="rect">
            <a:avLst/>
          </a:prstGeom>
          <a:noFill/>
          <a:ln/>
        </p:spPr>
        <p:txBody>
          <a:bodyPr wrap="square" lIns="0" tIns="0" rIns="0" bIns="0" rtlCol="0" anchor="ctr"/>
          <a:lstStyle/>
          <a:p>
            <a:pPr marL="0" indent="0">
              <a:buNone/>
            </a:pPr>
            <a:r>
              <a:rPr lang="fr-FR" sz="850" b="1" dirty="0">
                <a:solidFill>
                  <a:srgbClr val="555555"/>
                </a:solidFill>
                <a:latin typeface="Courier New" pitchFamily="34" charset="0"/>
                <a:cs typeface="Courier New" pitchFamily="34" charset="-120"/>
              </a:rPr>
              <a:t>100 répétitions par opération</a:t>
            </a:r>
            <a:endParaRPr lang="en-US" sz="850" b="1" dirty="0">
              <a:solidFill>
                <a:srgbClr val="555555"/>
              </a:solidFill>
              <a:latin typeface="Courier New" pitchFamily="34" charset="0"/>
              <a:cs typeface="Courier New" pitchFamily="34" charset="-120"/>
            </a:endParaRPr>
          </a:p>
        </p:txBody>
      </p:sp>
      <p:sp>
        <p:nvSpPr>
          <p:cNvPr id="27" name="Text 25"/>
          <p:cNvSpPr/>
          <p:nvPr/>
        </p:nvSpPr>
        <p:spPr>
          <a:xfrm>
            <a:off x="3474720" y="2629163"/>
            <a:ext cx="2194560" cy="182880"/>
          </a:xfrm>
          <a:prstGeom prst="rect">
            <a:avLst/>
          </a:prstGeom>
          <a:noFill/>
          <a:ln/>
        </p:spPr>
        <p:txBody>
          <a:bodyPr wrap="square" lIns="0" tIns="0" rIns="0" bIns="0" rtlCol="0" anchor="ctr"/>
          <a:lstStyle/>
          <a:p>
            <a:pPr marL="0" indent="0">
              <a:buNone/>
            </a:pPr>
            <a:r>
              <a:rPr lang="en-US" sz="750" dirty="0">
                <a:solidFill>
                  <a:srgbClr val="888888"/>
                </a:solidFill>
                <a:latin typeface="Calibri" pitchFamily="34" charset="0"/>
                <a:ea typeface="Calibri" pitchFamily="34" charset="-122"/>
                <a:cs typeface="Calibri" pitchFamily="34" charset="-120"/>
              </a:rPr>
              <a:t>chiffrement et déchiffrement chronométrés</a:t>
            </a:r>
            <a:endParaRPr lang="en-US" sz="750" dirty="0"/>
          </a:p>
        </p:txBody>
      </p:sp>
      <p:sp>
        <p:nvSpPr>
          <p:cNvPr id="28" name="Text 26"/>
          <p:cNvSpPr/>
          <p:nvPr/>
        </p:nvSpPr>
        <p:spPr>
          <a:xfrm>
            <a:off x="3474720" y="2903157"/>
            <a:ext cx="2194560" cy="219456"/>
          </a:xfrm>
          <a:prstGeom prst="rect">
            <a:avLst/>
          </a:prstGeom>
          <a:noFill/>
          <a:ln/>
        </p:spPr>
        <p:txBody>
          <a:bodyPr wrap="square" lIns="0" tIns="0" rIns="0" bIns="0" rtlCol="0" anchor="ctr"/>
          <a:lstStyle/>
          <a:p>
            <a:r>
              <a:rPr lang="en-US" sz="850" b="1" dirty="0">
                <a:solidFill>
                  <a:srgbClr val="555555"/>
                </a:solidFill>
                <a:latin typeface="Courier New" pitchFamily="34" charset="0"/>
                <a:cs typeface="Courier New" pitchFamily="34" charset="-120"/>
              </a:rPr>
              <a:t>IC95 calculé par configuration</a:t>
            </a:r>
          </a:p>
        </p:txBody>
      </p:sp>
      <p:sp>
        <p:nvSpPr>
          <p:cNvPr id="29" name="Text 27"/>
          <p:cNvSpPr/>
          <p:nvPr/>
        </p:nvSpPr>
        <p:spPr>
          <a:xfrm>
            <a:off x="5779008" y="2292925"/>
            <a:ext cx="548640" cy="182880"/>
          </a:xfrm>
          <a:prstGeom prst="rect">
            <a:avLst/>
          </a:prstGeom>
          <a:noFill/>
          <a:ln/>
        </p:spPr>
        <p:txBody>
          <a:bodyPr wrap="square" lIns="0" tIns="0" rIns="0" bIns="0" rtlCol="0" anchor="ctr"/>
          <a:lstStyle/>
          <a:p>
            <a:pPr algn="ctr"/>
            <a:r>
              <a:rPr lang="en-US" sz="700" b="1" dirty="0">
                <a:solidFill>
                  <a:srgbClr val="C9A84C"/>
                </a:solidFill>
                <a:latin typeface="Calibri" pitchFamily="34" charset="0"/>
                <a:ea typeface="Calibri" pitchFamily="34" charset="-122"/>
                <a:cs typeface="Calibri" pitchFamily="34" charset="-120"/>
              </a:rPr>
              <a:t>écrit le CSV</a:t>
            </a:r>
            <a:endParaRPr lang="en-US" sz="700" dirty="0"/>
          </a:p>
        </p:txBody>
      </p:sp>
      <p:sp>
        <p:nvSpPr>
          <p:cNvPr id="33" name="Shape 31"/>
          <p:cNvSpPr>
            <a:spLocks/>
          </p:cNvSpPr>
          <p:nvPr/>
        </p:nvSpPr>
        <p:spPr>
          <a:xfrm>
            <a:off x="6455665" y="852749"/>
            <a:ext cx="2450592" cy="3129464"/>
          </a:xfrm>
          <a:prstGeom prst="roundRect">
            <a:avLst>
              <a:gd name="adj" fmla="val 3731"/>
            </a:avLst>
          </a:prstGeom>
          <a:solidFill>
            <a:srgbClr val="FAFAFA"/>
          </a:solidFill>
          <a:ln w="7620">
            <a:solidFill>
              <a:srgbClr val="E8E8E8"/>
            </a:solidFill>
            <a:prstDash val="solid"/>
          </a:ln>
        </p:spPr>
        <p:txBody>
          <a:bodyPr/>
          <a:lstStyle/>
          <a:p>
            <a:endParaRPr lang="en-CA"/>
          </a:p>
        </p:txBody>
      </p:sp>
      <p:sp>
        <p:nvSpPr>
          <p:cNvPr id="37" name="Text 34"/>
          <p:cNvSpPr/>
          <p:nvPr/>
        </p:nvSpPr>
        <p:spPr>
          <a:xfrm>
            <a:off x="6547106" y="1380743"/>
            <a:ext cx="2194560" cy="274320"/>
          </a:xfrm>
          <a:prstGeom prst="rect">
            <a:avLst/>
          </a:prstGeom>
          <a:noFill/>
          <a:ln/>
        </p:spPr>
        <p:txBody>
          <a:bodyPr wrap="square" lIns="0" tIns="0" rIns="0" bIns="0" rtlCol="0" anchor="ctr"/>
          <a:lstStyle/>
          <a:p>
            <a:pPr marL="0" indent="0">
              <a:buNone/>
            </a:pPr>
            <a:r>
              <a:rPr lang="en-US" sz="950" b="1" dirty="0">
                <a:solidFill>
                  <a:srgbClr val="0A0A0A"/>
                </a:solidFill>
                <a:latin typeface="Courier New" pitchFamily="34" charset="0"/>
                <a:cs typeface="Courier New" pitchFamily="34" charset="-120"/>
              </a:rPr>
              <a:t>data/results/</a:t>
            </a:r>
          </a:p>
        </p:txBody>
      </p:sp>
      <p:sp>
        <p:nvSpPr>
          <p:cNvPr id="39" name="Text 36"/>
          <p:cNvSpPr/>
          <p:nvPr/>
        </p:nvSpPr>
        <p:spPr>
          <a:xfrm>
            <a:off x="6547106" y="1819655"/>
            <a:ext cx="2285998" cy="219456"/>
          </a:xfrm>
          <a:prstGeom prst="rect">
            <a:avLst/>
          </a:prstGeom>
          <a:noFill/>
          <a:ln/>
        </p:spPr>
        <p:txBody>
          <a:bodyPr wrap="square" lIns="0" tIns="0" rIns="0" bIns="0" rtlCol="0" anchor="ctr"/>
          <a:lstStyle/>
          <a:p>
            <a:pPr marL="0" indent="0">
              <a:buNone/>
            </a:pPr>
            <a:r>
              <a:rPr lang="en-US" sz="850" b="1" dirty="0">
                <a:solidFill>
                  <a:srgbClr val="555555"/>
                </a:solidFill>
                <a:latin typeface="Courier New" pitchFamily="34" charset="0"/>
                <a:cs typeface="Courier New" pitchFamily="34" charset="-120"/>
              </a:rPr>
              <a:t>plateforme_experienceN_YYYYMMDD.csv</a:t>
            </a:r>
          </a:p>
        </p:txBody>
      </p:sp>
      <p:sp>
        <p:nvSpPr>
          <p:cNvPr id="40" name="Text 37"/>
          <p:cNvSpPr/>
          <p:nvPr/>
        </p:nvSpPr>
        <p:spPr>
          <a:xfrm>
            <a:off x="6547106" y="2039111"/>
            <a:ext cx="2194560" cy="182880"/>
          </a:xfrm>
          <a:prstGeom prst="rect">
            <a:avLst/>
          </a:prstGeom>
          <a:noFill/>
          <a:ln/>
        </p:spPr>
        <p:txBody>
          <a:bodyPr wrap="square" lIns="0" tIns="0" rIns="0" bIns="0" rtlCol="0" anchor="ctr"/>
          <a:lstStyle/>
          <a:p>
            <a:pPr marL="0" indent="0">
              <a:buNone/>
            </a:pPr>
            <a:r>
              <a:rPr lang="en-US" sz="750" dirty="0">
                <a:solidFill>
                  <a:srgbClr val="888888"/>
                </a:solidFill>
                <a:latin typeface="Calibri" pitchFamily="34" charset="0"/>
                <a:cs typeface="Calibri" pitchFamily="34" charset="-120"/>
              </a:rPr>
              <a:t>horodaté, index N auto-</a:t>
            </a:r>
            <a:r>
              <a:rPr lang="en-US" sz="750" dirty="0" err="1">
                <a:solidFill>
                  <a:srgbClr val="888888"/>
                </a:solidFill>
                <a:latin typeface="Calibri" pitchFamily="34" charset="0"/>
                <a:cs typeface="Calibri" pitchFamily="34" charset="-120"/>
              </a:rPr>
              <a:t>incrémenté</a:t>
            </a:r>
            <a:endParaRPr lang="en-US" sz="750" dirty="0">
              <a:solidFill>
                <a:srgbClr val="888888"/>
              </a:solidFill>
              <a:latin typeface="Calibri" pitchFamily="34" charset="0"/>
              <a:cs typeface="Calibri" pitchFamily="34" charset="-120"/>
            </a:endParaRPr>
          </a:p>
        </p:txBody>
      </p:sp>
      <p:sp>
        <p:nvSpPr>
          <p:cNvPr id="42" name="Text 39"/>
          <p:cNvSpPr/>
          <p:nvPr/>
        </p:nvSpPr>
        <p:spPr>
          <a:xfrm>
            <a:off x="6562417" y="2377439"/>
            <a:ext cx="2194560" cy="310896"/>
          </a:xfrm>
          <a:prstGeom prst="rect">
            <a:avLst/>
          </a:prstGeom>
          <a:noFill/>
          <a:ln/>
        </p:spPr>
        <p:txBody>
          <a:bodyPr wrap="square" lIns="0" tIns="0" rIns="0" bIns="0" rtlCol="0" anchor="ctr"/>
          <a:lstStyle/>
          <a:p>
            <a:pPr indent="0">
              <a:buNone/>
            </a:pPr>
            <a:r>
              <a:rPr lang="en-US" sz="850" b="1" dirty="0">
                <a:solidFill>
                  <a:srgbClr val="555555"/>
                </a:solidFill>
                <a:latin typeface="Courier New" pitchFamily="34" charset="0"/>
                <a:cs typeface="Courier New" pitchFamily="34" charset="-120"/>
              </a:rPr>
              <a:t>155 enregistrements · 13 colonnes</a:t>
            </a:r>
          </a:p>
        </p:txBody>
      </p:sp>
      <p:sp>
        <p:nvSpPr>
          <p:cNvPr id="43" name="Text 40"/>
          <p:cNvSpPr/>
          <p:nvPr/>
        </p:nvSpPr>
        <p:spPr>
          <a:xfrm>
            <a:off x="201168" y="4298018"/>
            <a:ext cx="8229600" cy="237744"/>
          </a:xfrm>
          <a:prstGeom prst="rect">
            <a:avLst/>
          </a:prstGeom>
          <a:noFill/>
          <a:ln/>
        </p:spPr>
        <p:txBody>
          <a:bodyPr wrap="square" lIns="0" tIns="0" rIns="0" bIns="0" rtlCol="0" anchor="ctr"/>
          <a:lstStyle/>
          <a:p>
            <a:pPr marL="0" indent="0" algn="ctr">
              <a:buNone/>
            </a:pPr>
            <a:r>
              <a:rPr lang="fr-FR" sz="850" i="1" dirty="0">
                <a:solidFill>
                  <a:srgbClr val="C0C0C0"/>
                </a:solidFill>
                <a:latin typeface="Calibri" pitchFamily="34" charset="0"/>
                <a:ea typeface="Calibri" pitchFamily="34" charset="-122"/>
                <a:cs typeface="Calibri" pitchFamily="34" charset="-120"/>
              </a:rPr>
              <a:t>Un protocole identique sur les deux plateformes garantit la comparabilité des mesures exportées</a:t>
            </a:r>
            <a:r>
              <a:rPr lang="en-US" sz="850" i="1" dirty="0">
                <a:solidFill>
                  <a:srgbClr val="C0C0C0"/>
                </a:solidFill>
                <a:latin typeface="Calibri" pitchFamily="34" charset="0"/>
                <a:ea typeface="Calibri" pitchFamily="34" charset="-122"/>
                <a:cs typeface="Calibri" pitchFamily="34" charset="-120"/>
              </a:rPr>
              <a:t>.</a:t>
            </a:r>
            <a:endParaRPr lang="en-US" sz="850" dirty="0"/>
          </a:p>
        </p:txBody>
      </p:sp>
      <p:sp>
        <p:nvSpPr>
          <p:cNvPr id="44" name="Text 41"/>
          <p:cNvSpPr/>
          <p:nvPr/>
        </p:nvSpPr>
        <p:spPr>
          <a:xfrm>
            <a:off x="475488" y="4899041"/>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50" name="Shape 8">
            <a:extLst>
              <a:ext uri="{FF2B5EF4-FFF2-40B4-BE49-F238E27FC236}">
                <a16:creationId xmlns:a16="http://schemas.microsoft.com/office/drawing/2014/main" id="{D82A9ACA-2611-6BC3-6CEE-3B122341D5F4}"/>
              </a:ext>
            </a:extLst>
          </p:cNvPr>
          <p:cNvSpPr/>
          <p:nvPr/>
        </p:nvSpPr>
        <p:spPr>
          <a:xfrm>
            <a:off x="2724912" y="2542355"/>
            <a:ext cx="548640" cy="0"/>
          </a:xfrm>
          <a:prstGeom prst="line">
            <a:avLst/>
          </a:prstGeom>
          <a:noFill/>
          <a:ln w="19050">
            <a:solidFill>
              <a:srgbClr val="C9A84C"/>
            </a:solidFill>
            <a:prstDash val="solid"/>
            <a:tailEnd type="triangle"/>
          </a:ln>
        </p:spPr>
        <p:txBody>
          <a:bodyPr/>
          <a:lstStyle/>
          <a:p>
            <a:endParaRPr lang="en-CA"/>
          </a:p>
        </p:txBody>
      </p:sp>
      <p:pic>
        <p:nvPicPr>
          <p:cNvPr id="30" name="Picture 29">
            <a:extLst>
              <a:ext uri="{FF2B5EF4-FFF2-40B4-BE49-F238E27FC236}">
                <a16:creationId xmlns:a16="http://schemas.microsoft.com/office/drawing/2014/main" id="{070FF843-7F9A-DAB2-4FEF-04426EA686FD}"/>
              </a:ext>
            </a:extLst>
          </p:cNvPr>
          <p:cNvPicPr>
            <a:picLocks noChangeAspect="1"/>
          </p:cNvPicPr>
          <p:nvPr/>
        </p:nvPicPr>
        <p:blipFill>
          <a:blip r:embed="rId4">
            <a:alphaModFix amt="5000"/>
          </a:blip>
          <a:stretch>
            <a:fillRect/>
          </a:stretch>
        </p:blipFill>
        <p:spPr>
          <a:xfrm>
            <a:off x="1122722" y="3135490"/>
            <a:ext cx="671825" cy="671825"/>
          </a:xfrm>
          <a:prstGeom prst="rect">
            <a:avLst/>
          </a:prstGeom>
        </p:spPr>
      </p:pic>
      <p:pic>
        <p:nvPicPr>
          <p:cNvPr id="32" name="Picture 31">
            <a:extLst>
              <a:ext uri="{FF2B5EF4-FFF2-40B4-BE49-F238E27FC236}">
                <a16:creationId xmlns:a16="http://schemas.microsoft.com/office/drawing/2014/main" id="{58AAF622-8633-096B-A700-5D4F4F5B3088}"/>
              </a:ext>
            </a:extLst>
          </p:cNvPr>
          <p:cNvPicPr>
            <a:picLocks noChangeAspect="1"/>
          </p:cNvPicPr>
          <p:nvPr/>
        </p:nvPicPr>
        <p:blipFill>
          <a:blip r:embed="rId5">
            <a:alphaModFix amt="5000"/>
          </a:blip>
          <a:stretch>
            <a:fillRect/>
          </a:stretch>
        </p:blipFill>
        <p:spPr>
          <a:xfrm>
            <a:off x="4246245" y="3162096"/>
            <a:ext cx="651510" cy="651510"/>
          </a:xfrm>
          <a:prstGeom prst="rect">
            <a:avLst/>
          </a:prstGeom>
        </p:spPr>
      </p:pic>
      <p:sp>
        <p:nvSpPr>
          <p:cNvPr id="64" name="Shape 5">
            <a:extLst>
              <a:ext uri="{FF2B5EF4-FFF2-40B4-BE49-F238E27FC236}">
                <a16:creationId xmlns:a16="http://schemas.microsoft.com/office/drawing/2014/main" id="{23F09EFA-EE92-59FE-5731-4274D823DC93}"/>
              </a:ext>
            </a:extLst>
          </p:cNvPr>
          <p:cNvSpPr/>
          <p:nvPr/>
        </p:nvSpPr>
        <p:spPr>
          <a:xfrm>
            <a:off x="317577" y="863608"/>
            <a:ext cx="2334183" cy="84493"/>
          </a:xfrm>
          <a:prstGeom prst="rect">
            <a:avLst/>
          </a:prstGeom>
          <a:solidFill>
            <a:srgbClr val="888888"/>
          </a:solidFill>
          <a:ln w="12700">
            <a:solidFill>
              <a:srgbClr val="888888"/>
            </a:solidFill>
            <a:prstDash val="solid"/>
          </a:ln>
        </p:spPr>
        <p:txBody>
          <a:bodyPr/>
          <a:lstStyle/>
          <a:p>
            <a:endParaRPr lang="en-CA"/>
          </a:p>
        </p:txBody>
      </p:sp>
      <p:sp>
        <p:nvSpPr>
          <p:cNvPr id="66" name="Shape 5">
            <a:extLst>
              <a:ext uri="{FF2B5EF4-FFF2-40B4-BE49-F238E27FC236}">
                <a16:creationId xmlns:a16="http://schemas.microsoft.com/office/drawing/2014/main" id="{39D86F45-8F26-47BE-C413-9E0661BE7B7B}"/>
              </a:ext>
            </a:extLst>
          </p:cNvPr>
          <p:cNvSpPr/>
          <p:nvPr/>
        </p:nvSpPr>
        <p:spPr>
          <a:xfrm>
            <a:off x="3343097" y="863608"/>
            <a:ext cx="2322576" cy="85297"/>
          </a:xfrm>
          <a:prstGeom prst="rect">
            <a:avLst/>
          </a:prstGeom>
          <a:solidFill>
            <a:srgbClr val="888888"/>
          </a:solidFill>
          <a:ln w="12700">
            <a:solidFill>
              <a:srgbClr val="888888"/>
            </a:solidFill>
            <a:prstDash val="solid"/>
          </a:ln>
        </p:spPr>
        <p:txBody>
          <a:bodyPr/>
          <a:lstStyle/>
          <a:p>
            <a:endParaRPr lang="en-CA"/>
          </a:p>
        </p:txBody>
      </p:sp>
      <p:sp>
        <p:nvSpPr>
          <p:cNvPr id="68" name="Shape 3">
            <a:extLst>
              <a:ext uri="{FF2B5EF4-FFF2-40B4-BE49-F238E27FC236}">
                <a16:creationId xmlns:a16="http://schemas.microsoft.com/office/drawing/2014/main" id="{DE9587A4-159B-9C0E-4651-EABA8B8B856C}"/>
              </a:ext>
            </a:extLst>
          </p:cNvPr>
          <p:cNvSpPr/>
          <p:nvPr/>
        </p:nvSpPr>
        <p:spPr>
          <a:xfrm>
            <a:off x="300366" y="749808"/>
            <a:ext cx="8569313" cy="0"/>
          </a:xfrm>
          <a:prstGeom prst="line">
            <a:avLst/>
          </a:prstGeom>
          <a:noFill/>
          <a:ln w="10160">
            <a:solidFill>
              <a:srgbClr val="F0F0F0"/>
            </a:solidFill>
            <a:prstDash val="solid"/>
          </a:ln>
        </p:spPr>
        <p:txBody>
          <a:bodyPr/>
          <a:lstStyle/>
          <a:p>
            <a:endParaRPr lang="en-CA"/>
          </a:p>
        </p:txBody>
      </p:sp>
      <p:sp>
        <p:nvSpPr>
          <p:cNvPr id="76" name="Shape 5">
            <a:extLst>
              <a:ext uri="{FF2B5EF4-FFF2-40B4-BE49-F238E27FC236}">
                <a16:creationId xmlns:a16="http://schemas.microsoft.com/office/drawing/2014/main" id="{34A33669-3FED-0B44-1462-187024BB2894}"/>
              </a:ext>
            </a:extLst>
          </p:cNvPr>
          <p:cNvSpPr/>
          <p:nvPr/>
        </p:nvSpPr>
        <p:spPr>
          <a:xfrm>
            <a:off x="6455664" y="857219"/>
            <a:ext cx="2450592" cy="91686"/>
          </a:xfrm>
          <a:prstGeom prst="rect">
            <a:avLst/>
          </a:prstGeom>
          <a:solidFill>
            <a:srgbClr val="888888"/>
          </a:solidFill>
          <a:ln w="12700">
            <a:solidFill>
              <a:srgbClr val="888888"/>
            </a:solidFill>
            <a:prstDash val="solid"/>
          </a:ln>
        </p:spPr>
        <p:txBody>
          <a:bodyPr/>
          <a:lstStyle/>
          <a:p>
            <a:endParaRPr lang="en-CA"/>
          </a:p>
        </p:txBody>
      </p:sp>
      <p:sp>
        <p:nvSpPr>
          <p:cNvPr id="78" name="Shape 21">
            <a:extLst>
              <a:ext uri="{FF2B5EF4-FFF2-40B4-BE49-F238E27FC236}">
                <a16:creationId xmlns:a16="http://schemas.microsoft.com/office/drawing/2014/main" id="{64FC0F44-07D1-7AA0-D5D4-4C9AA55699DE}"/>
              </a:ext>
            </a:extLst>
          </p:cNvPr>
          <p:cNvSpPr/>
          <p:nvPr/>
        </p:nvSpPr>
        <p:spPr>
          <a:xfrm flipV="1">
            <a:off x="6562417" y="1709927"/>
            <a:ext cx="2194560" cy="18614"/>
          </a:xfrm>
          <a:prstGeom prst="line">
            <a:avLst/>
          </a:prstGeom>
          <a:noFill/>
          <a:ln w="7620">
            <a:solidFill>
              <a:srgbClr val="F0F0F0"/>
            </a:solidFill>
            <a:prstDash val="solid"/>
          </a:ln>
        </p:spPr>
        <p:txBody>
          <a:bodyPr/>
          <a:lstStyle/>
          <a:p>
            <a:endParaRPr lang="en-CA"/>
          </a:p>
        </p:txBody>
      </p:sp>
      <p:sp>
        <p:nvSpPr>
          <p:cNvPr id="80" name="Shape 8">
            <a:extLst>
              <a:ext uri="{FF2B5EF4-FFF2-40B4-BE49-F238E27FC236}">
                <a16:creationId xmlns:a16="http://schemas.microsoft.com/office/drawing/2014/main" id="{E8BFCDCE-A025-29E6-1665-727D5D0FF467}"/>
              </a:ext>
            </a:extLst>
          </p:cNvPr>
          <p:cNvSpPr/>
          <p:nvPr/>
        </p:nvSpPr>
        <p:spPr>
          <a:xfrm>
            <a:off x="5797296" y="2532887"/>
            <a:ext cx="548640" cy="0"/>
          </a:xfrm>
          <a:prstGeom prst="line">
            <a:avLst/>
          </a:prstGeom>
          <a:noFill/>
          <a:ln w="19050">
            <a:solidFill>
              <a:srgbClr val="C9A84C"/>
            </a:solidFill>
            <a:prstDash val="solid"/>
            <a:tailEnd type="triangle"/>
          </a:ln>
        </p:spPr>
        <p:txBody>
          <a:bodyPr/>
          <a:lstStyle/>
          <a:p>
            <a:endParaRPr lang="en-CA"/>
          </a:p>
        </p:txBody>
      </p:sp>
      <p:pic>
        <p:nvPicPr>
          <p:cNvPr id="82" name="Graphic 81" descr="Paper with solid fill">
            <a:extLst>
              <a:ext uri="{FF2B5EF4-FFF2-40B4-BE49-F238E27FC236}">
                <a16:creationId xmlns:a16="http://schemas.microsoft.com/office/drawing/2014/main" id="{F0A62D69-4A09-545B-1E7F-540E1CDF4852}"/>
              </a:ext>
            </a:extLst>
          </p:cNvPr>
          <p:cNvPicPr>
            <a:picLocks noChangeAspect="1"/>
          </p:cNvPicPr>
          <p:nvPr/>
        </p:nvPicPr>
        <p:blipFill>
          <a:blip>
            <a:alphaModFix amt="5000"/>
            <a:extLst>
              <a:ext uri="{96DAC541-7B7A-43D3-8B79-37D633B846F1}">
                <asvg:svgBlip xmlns:asvg="http://schemas.microsoft.com/office/drawing/2016/SVG/main" r:embed="rId6"/>
              </a:ext>
            </a:extLst>
          </a:blip>
          <a:stretch>
            <a:fillRect/>
          </a:stretch>
        </p:blipFill>
        <p:spPr>
          <a:xfrm>
            <a:off x="7456505" y="3126821"/>
            <a:ext cx="648404" cy="648404"/>
          </a:xfrm>
          <a:prstGeom prst="rect">
            <a:avLst/>
          </a:prstGeom>
        </p:spPr>
      </p:pic>
      <p:sp>
        <p:nvSpPr>
          <p:cNvPr id="84" name="Shape 7">
            <a:extLst>
              <a:ext uri="{FF2B5EF4-FFF2-40B4-BE49-F238E27FC236}">
                <a16:creationId xmlns:a16="http://schemas.microsoft.com/office/drawing/2014/main" id="{79304AA1-1706-73DC-50E1-C52FC0EC2F75}"/>
              </a:ext>
            </a:extLst>
          </p:cNvPr>
          <p:cNvSpPr/>
          <p:nvPr/>
        </p:nvSpPr>
        <p:spPr>
          <a:xfrm>
            <a:off x="439384" y="1041004"/>
            <a:ext cx="2110902" cy="219456"/>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70" name="Text 6">
            <a:extLst>
              <a:ext uri="{FF2B5EF4-FFF2-40B4-BE49-F238E27FC236}">
                <a16:creationId xmlns:a16="http://schemas.microsoft.com/office/drawing/2014/main" id="{DC0624BE-0B95-D88F-796E-6B99C4EB4217}"/>
              </a:ext>
            </a:extLst>
          </p:cNvPr>
          <p:cNvSpPr/>
          <p:nvPr/>
        </p:nvSpPr>
        <p:spPr>
          <a:xfrm>
            <a:off x="439385" y="1033272"/>
            <a:ext cx="2110901" cy="23589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cs typeface="Calibri" pitchFamily="34" charset="-120"/>
              </a:rPr>
              <a:t>Configure</a:t>
            </a:r>
          </a:p>
        </p:txBody>
      </p:sp>
      <p:sp>
        <p:nvSpPr>
          <p:cNvPr id="86" name="Shape 7">
            <a:extLst>
              <a:ext uri="{FF2B5EF4-FFF2-40B4-BE49-F238E27FC236}">
                <a16:creationId xmlns:a16="http://schemas.microsoft.com/office/drawing/2014/main" id="{0AE0F692-8451-147F-B0B4-F6275DBACC53}"/>
              </a:ext>
            </a:extLst>
          </p:cNvPr>
          <p:cNvSpPr/>
          <p:nvPr/>
        </p:nvSpPr>
        <p:spPr>
          <a:xfrm>
            <a:off x="3439444" y="1029048"/>
            <a:ext cx="2110901" cy="219456"/>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72" name="Text 6">
            <a:extLst>
              <a:ext uri="{FF2B5EF4-FFF2-40B4-BE49-F238E27FC236}">
                <a16:creationId xmlns:a16="http://schemas.microsoft.com/office/drawing/2014/main" id="{E1A6C5B6-BD56-21C3-0BC7-21983427655C}"/>
              </a:ext>
            </a:extLst>
          </p:cNvPr>
          <p:cNvSpPr/>
          <p:nvPr/>
        </p:nvSpPr>
        <p:spPr>
          <a:xfrm>
            <a:off x="3467290" y="1038914"/>
            <a:ext cx="2083055" cy="22154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cs typeface="Calibri" pitchFamily="34" charset="-120"/>
              </a:rPr>
              <a:t>Mesure</a:t>
            </a:r>
          </a:p>
        </p:txBody>
      </p:sp>
      <p:sp>
        <p:nvSpPr>
          <p:cNvPr id="88" name="Shape 7">
            <a:extLst>
              <a:ext uri="{FF2B5EF4-FFF2-40B4-BE49-F238E27FC236}">
                <a16:creationId xmlns:a16="http://schemas.microsoft.com/office/drawing/2014/main" id="{548E261B-80F8-6E96-71B8-C8526EAEC5C2}"/>
              </a:ext>
            </a:extLst>
          </p:cNvPr>
          <p:cNvSpPr/>
          <p:nvPr/>
        </p:nvSpPr>
        <p:spPr>
          <a:xfrm>
            <a:off x="6634654" y="1014814"/>
            <a:ext cx="2110901" cy="219456"/>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90" name="Text 6">
            <a:extLst>
              <a:ext uri="{FF2B5EF4-FFF2-40B4-BE49-F238E27FC236}">
                <a16:creationId xmlns:a16="http://schemas.microsoft.com/office/drawing/2014/main" id="{6C75E8DF-B588-D701-E88E-DDC45D2D01ED}"/>
              </a:ext>
            </a:extLst>
          </p:cNvPr>
          <p:cNvSpPr/>
          <p:nvPr/>
        </p:nvSpPr>
        <p:spPr>
          <a:xfrm>
            <a:off x="6634654" y="1011510"/>
            <a:ext cx="2107013" cy="22154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cs typeface="Calibri" pitchFamily="34" charset="-120"/>
              </a:rPr>
              <a:t>Exporte</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Shape 37">
            <a:extLst>
              <a:ext uri="{FF2B5EF4-FFF2-40B4-BE49-F238E27FC236}">
                <a16:creationId xmlns:a16="http://schemas.microsoft.com/office/drawing/2014/main" id="{B6E11190-EA80-A038-5604-D4C345AE24D7}"/>
              </a:ext>
            </a:extLst>
          </p:cNvPr>
          <p:cNvSpPr/>
          <p:nvPr/>
        </p:nvSpPr>
        <p:spPr>
          <a:xfrm>
            <a:off x="476560" y="1127780"/>
            <a:ext cx="1166362" cy="2796909"/>
          </a:xfrm>
          <a:prstGeom prst="roundRect">
            <a:avLst>
              <a:gd name="adj" fmla="val 6173"/>
            </a:avLst>
          </a:prstGeom>
          <a:solidFill>
            <a:srgbClr val="FAFAFA"/>
          </a:solidFill>
          <a:ln w="8890">
            <a:solidFill>
              <a:srgbClr val="E8E8E8"/>
            </a:solidFill>
            <a:prstDash val="solid"/>
          </a:ln>
        </p:spPr>
        <p:txBody>
          <a:bodyPr/>
          <a:lstStyle/>
          <a:p>
            <a:endParaRPr lang="en-CA" dirty="0"/>
          </a:p>
        </p:txBody>
      </p:sp>
      <p:sp>
        <p:nvSpPr>
          <p:cNvPr id="3" name="Text 1"/>
          <p:cNvSpPr/>
          <p:nvPr/>
        </p:nvSpPr>
        <p:spPr>
          <a:xfrm>
            <a:off x="475488" y="164592"/>
            <a:ext cx="73152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04b  ·  GÉNÉRATION DES SORTIES EXPÉRIMENTALES</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Pipeline de génération des </a:t>
            </a:r>
            <a:r>
              <a:rPr lang="fr-FR" sz="1500" b="1" dirty="0">
                <a:solidFill>
                  <a:srgbClr val="CFB260"/>
                </a:solidFill>
                <a:latin typeface="Calibri" pitchFamily="34" charset="0"/>
                <a:ea typeface="Calibri" pitchFamily="34" charset="-122"/>
                <a:cs typeface="Calibri" pitchFamily="34" charset="-120"/>
              </a:rPr>
              <a:t>sorties graphiques</a:t>
            </a:r>
            <a:endParaRPr lang="en-US" sz="1500" dirty="0">
              <a:solidFill>
                <a:srgbClr val="CFB260"/>
              </a:solidFill>
            </a:endParaRPr>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6" name="Shape 4"/>
          <p:cNvSpPr/>
          <p:nvPr/>
        </p:nvSpPr>
        <p:spPr>
          <a:xfrm>
            <a:off x="6211367" y="1116562"/>
            <a:ext cx="1171671" cy="2808125"/>
          </a:xfrm>
          <a:prstGeom prst="roundRect">
            <a:avLst>
              <a:gd name="adj" fmla="val 6173"/>
            </a:avLst>
          </a:prstGeom>
          <a:solidFill>
            <a:srgbClr val="FAFAFA"/>
          </a:solidFill>
          <a:ln w="8890">
            <a:solidFill>
              <a:srgbClr val="E8E8E8"/>
            </a:solidFill>
            <a:prstDash val="solid"/>
          </a:ln>
        </p:spPr>
        <p:txBody>
          <a:bodyPr/>
          <a:lstStyle/>
          <a:p>
            <a:endParaRPr lang="en-CA"/>
          </a:p>
        </p:txBody>
      </p:sp>
      <p:sp>
        <p:nvSpPr>
          <p:cNvPr id="7" name="Shape 5"/>
          <p:cNvSpPr/>
          <p:nvPr/>
        </p:nvSpPr>
        <p:spPr>
          <a:xfrm>
            <a:off x="476560" y="1127781"/>
            <a:ext cx="1162290" cy="91434"/>
          </a:xfrm>
          <a:prstGeom prst="rect">
            <a:avLst/>
          </a:prstGeom>
          <a:solidFill>
            <a:srgbClr val="888888"/>
          </a:solidFill>
          <a:ln w="12700">
            <a:solidFill>
              <a:srgbClr val="888888"/>
            </a:solidFill>
            <a:prstDash val="solid"/>
          </a:ln>
        </p:spPr>
        <p:txBody>
          <a:bodyPr/>
          <a:lstStyle/>
          <a:p>
            <a:endParaRPr lang="en-CA"/>
          </a:p>
        </p:txBody>
      </p:sp>
      <p:sp>
        <p:nvSpPr>
          <p:cNvPr id="9" name="Shape 7"/>
          <p:cNvSpPr/>
          <p:nvPr/>
        </p:nvSpPr>
        <p:spPr>
          <a:xfrm>
            <a:off x="641877" y="1301517"/>
            <a:ext cx="768096" cy="219456"/>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10" name="Text 8"/>
          <p:cNvSpPr/>
          <p:nvPr/>
        </p:nvSpPr>
        <p:spPr>
          <a:xfrm>
            <a:off x="631938" y="1301517"/>
            <a:ext cx="768096" cy="21945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cs typeface="Calibri" pitchFamily="34" charset="-120"/>
              </a:rPr>
              <a:t>Entrée</a:t>
            </a:r>
          </a:p>
        </p:txBody>
      </p:sp>
      <p:sp>
        <p:nvSpPr>
          <p:cNvPr id="11" name="Shape 9"/>
          <p:cNvSpPr/>
          <p:nvPr/>
        </p:nvSpPr>
        <p:spPr>
          <a:xfrm flipV="1">
            <a:off x="584226" y="2023000"/>
            <a:ext cx="895247" cy="0"/>
          </a:xfrm>
          <a:prstGeom prst="line">
            <a:avLst/>
          </a:prstGeom>
          <a:noFill/>
          <a:ln w="7620">
            <a:solidFill>
              <a:srgbClr val="EEEEEE"/>
            </a:solidFill>
            <a:prstDash val="solid"/>
          </a:ln>
        </p:spPr>
        <p:txBody>
          <a:bodyPr/>
          <a:lstStyle/>
          <a:p>
            <a:endParaRPr lang="en-CA"/>
          </a:p>
        </p:txBody>
      </p:sp>
      <p:sp>
        <p:nvSpPr>
          <p:cNvPr id="12" name="Text 10"/>
          <p:cNvSpPr/>
          <p:nvPr/>
        </p:nvSpPr>
        <p:spPr>
          <a:xfrm>
            <a:off x="476560" y="1696830"/>
            <a:ext cx="1166362" cy="274320"/>
          </a:xfrm>
          <a:prstGeom prst="rect">
            <a:avLst/>
          </a:prstGeom>
          <a:noFill/>
          <a:ln/>
        </p:spPr>
        <p:txBody>
          <a:bodyPr wrap="square" lIns="0" tIns="0" rIns="0" bIns="0" rtlCol="0" anchor="ctr"/>
          <a:lstStyle/>
          <a:p>
            <a:pPr marL="0" indent="0" algn="ctr">
              <a:buNone/>
            </a:pPr>
            <a:r>
              <a:rPr lang="en-US" sz="900" b="1" dirty="0">
                <a:latin typeface="Courier New" pitchFamily="34" charset="0"/>
                <a:ea typeface="Courier New" pitchFamily="34" charset="-122"/>
                <a:cs typeface="Courier New" pitchFamily="34" charset="-120"/>
              </a:rPr>
              <a:t>run_charts.py</a:t>
            </a:r>
            <a:endParaRPr lang="en-US" sz="900" dirty="0"/>
          </a:p>
        </p:txBody>
      </p:sp>
      <p:sp>
        <p:nvSpPr>
          <p:cNvPr id="13" name="Text 11"/>
          <p:cNvSpPr/>
          <p:nvPr/>
        </p:nvSpPr>
        <p:spPr>
          <a:xfrm>
            <a:off x="476559" y="2173921"/>
            <a:ext cx="1162291" cy="721190"/>
          </a:xfrm>
          <a:prstGeom prst="rect">
            <a:avLst/>
          </a:prstGeom>
          <a:noFill/>
          <a:ln/>
        </p:spPr>
        <p:txBody>
          <a:bodyPr wrap="square" lIns="0" tIns="0" rIns="0" bIns="0" rtlCol="0" anchor="t"/>
          <a:lstStyle/>
          <a:p>
            <a:pPr marL="0" indent="0" algn="ctr">
              <a:lnSpc>
                <a:spcPct val="130000"/>
              </a:lnSpc>
              <a:buNone/>
            </a:pPr>
            <a:r>
              <a:rPr lang="fr-FR" sz="750" dirty="0">
                <a:solidFill>
                  <a:srgbClr val="888888"/>
                </a:solidFill>
                <a:latin typeface="Calibri" pitchFamily="34" charset="0"/>
                <a:cs typeface="Calibri" pitchFamily="34" charset="-120"/>
              </a:rPr>
              <a:t> orchestre la génération complète ou ciblée par groupe (01-04)</a:t>
            </a:r>
            <a:endParaRPr lang="en-US" sz="750" dirty="0">
              <a:solidFill>
                <a:srgbClr val="888888"/>
              </a:solidFill>
              <a:latin typeface="Calibri" pitchFamily="34" charset="0"/>
              <a:cs typeface="Calibri" pitchFamily="34" charset="-120"/>
            </a:endParaRPr>
          </a:p>
        </p:txBody>
      </p:sp>
      <p:sp>
        <p:nvSpPr>
          <p:cNvPr id="15" name="Text 13"/>
          <p:cNvSpPr/>
          <p:nvPr/>
        </p:nvSpPr>
        <p:spPr>
          <a:xfrm>
            <a:off x="474668" y="3133852"/>
            <a:ext cx="1151236" cy="578334"/>
          </a:xfrm>
          <a:prstGeom prst="rect">
            <a:avLst/>
          </a:prstGeom>
          <a:noFill/>
          <a:ln/>
        </p:spPr>
        <p:txBody>
          <a:bodyPr wrap="square" lIns="0" tIns="0" rIns="0" bIns="0" rtlCol="0" anchor="t"/>
          <a:lstStyle/>
          <a:p>
            <a:pPr algn="ctr">
              <a:lnSpc>
                <a:spcPct val="145000"/>
              </a:lnSpc>
            </a:pPr>
            <a:r>
              <a:rPr lang="fr-FR" sz="750" dirty="0">
                <a:solidFill>
                  <a:srgbClr val="888888"/>
                </a:solidFill>
                <a:latin typeface="Calibri" pitchFamily="34" charset="0"/>
                <a:cs typeface="Calibri" pitchFamily="34" charset="-120"/>
              </a:rPr>
              <a:t>sélection de cible via TARGETS</a:t>
            </a:r>
          </a:p>
        </p:txBody>
      </p:sp>
      <p:sp>
        <p:nvSpPr>
          <p:cNvPr id="17" name="Shape 15"/>
          <p:cNvSpPr/>
          <p:nvPr/>
        </p:nvSpPr>
        <p:spPr>
          <a:xfrm>
            <a:off x="1895838" y="1125861"/>
            <a:ext cx="1162779" cy="2796909"/>
          </a:xfrm>
          <a:prstGeom prst="roundRect">
            <a:avLst>
              <a:gd name="adj" fmla="val 6173"/>
            </a:avLst>
          </a:prstGeom>
          <a:solidFill>
            <a:srgbClr val="FAFAFA"/>
          </a:solidFill>
          <a:ln w="8890">
            <a:solidFill>
              <a:srgbClr val="E8E8E8"/>
            </a:solidFill>
            <a:prstDash val="solid"/>
          </a:ln>
        </p:spPr>
        <p:txBody>
          <a:bodyPr/>
          <a:lstStyle/>
          <a:p>
            <a:endParaRPr lang="en-CA"/>
          </a:p>
        </p:txBody>
      </p:sp>
      <p:sp>
        <p:nvSpPr>
          <p:cNvPr id="20" name="Shape 18"/>
          <p:cNvSpPr/>
          <p:nvPr/>
        </p:nvSpPr>
        <p:spPr>
          <a:xfrm>
            <a:off x="2084652" y="1304170"/>
            <a:ext cx="768096" cy="219456"/>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21" name="Text 19"/>
          <p:cNvSpPr/>
          <p:nvPr/>
        </p:nvSpPr>
        <p:spPr>
          <a:xfrm>
            <a:off x="2084652" y="1304170"/>
            <a:ext cx="768096" cy="21945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ea typeface="Calibri" pitchFamily="34" charset="-122"/>
                <a:cs typeface="Calibri" pitchFamily="34" charset="-120"/>
              </a:rPr>
              <a:t>Préparation</a:t>
            </a:r>
            <a:endParaRPr lang="en-US" sz="750" dirty="0"/>
          </a:p>
        </p:txBody>
      </p:sp>
      <p:sp>
        <p:nvSpPr>
          <p:cNvPr id="23" name="Text 21"/>
          <p:cNvSpPr/>
          <p:nvPr/>
        </p:nvSpPr>
        <p:spPr>
          <a:xfrm>
            <a:off x="1898132" y="1688285"/>
            <a:ext cx="1162290" cy="292541"/>
          </a:xfrm>
          <a:prstGeom prst="rect">
            <a:avLst/>
          </a:prstGeom>
          <a:noFill/>
          <a:ln/>
        </p:spPr>
        <p:txBody>
          <a:bodyPr wrap="square" lIns="0" tIns="0" rIns="0" bIns="0" rtlCol="0" anchor="ctr"/>
          <a:lstStyle/>
          <a:p>
            <a:pPr marL="0" indent="0" algn="ctr">
              <a:buNone/>
            </a:pPr>
            <a:r>
              <a:rPr lang="en-US" sz="900" b="1" dirty="0">
                <a:solidFill>
                  <a:srgbClr val="0A0A0A"/>
                </a:solidFill>
                <a:latin typeface="Courier New" pitchFamily="34" charset="0"/>
                <a:ea typeface="Courier New" pitchFamily="34" charset="-122"/>
                <a:cs typeface="Courier New" pitchFamily="34" charset="-120"/>
              </a:rPr>
              <a:t>data_*.py</a:t>
            </a:r>
            <a:endParaRPr lang="en-US" sz="900" dirty="0"/>
          </a:p>
        </p:txBody>
      </p:sp>
      <p:sp>
        <p:nvSpPr>
          <p:cNvPr id="24" name="Text 22"/>
          <p:cNvSpPr/>
          <p:nvPr/>
        </p:nvSpPr>
        <p:spPr>
          <a:xfrm>
            <a:off x="1893500" y="2165376"/>
            <a:ext cx="1159633" cy="721190"/>
          </a:xfrm>
          <a:prstGeom prst="rect">
            <a:avLst/>
          </a:prstGeom>
          <a:noFill/>
          <a:ln/>
        </p:spPr>
        <p:txBody>
          <a:bodyPr wrap="square" lIns="0" tIns="0" rIns="0" bIns="0" rtlCol="0" anchor="t"/>
          <a:lstStyle/>
          <a:p>
            <a:pPr marL="0" indent="0" algn="ctr">
              <a:lnSpc>
                <a:spcPct val="130000"/>
              </a:lnSpc>
              <a:buNone/>
            </a:pPr>
            <a:r>
              <a:rPr lang="fr-FR" sz="750" dirty="0">
                <a:solidFill>
                  <a:srgbClr val="888888"/>
                </a:solidFill>
                <a:latin typeface="Calibri" pitchFamily="34" charset="0"/>
                <a:cs typeface="Calibri" pitchFamily="34" charset="-120"/>
              </a:rPr>
              <a:t>lit les CSV de résultats et normalise les données</a:t>
            </a:r>
            <a:endParaRPr lang="en-US" sz="750" dirty="0">
              <a:solidFill>
                <a:srgbClr val="888888"/>
              </a:solidFill>
              <a:latin typeface="Calibri" pitchFamily="34" charset="0"/>
              <a:cs typeface="Calibri" pitchFamily="34" charset="-120"/>
            </a:endParaRPr>
          </a:p>
        </p:txBody>
      </p:sp>
      <p:sp>
        <p:nvSpPr>
          <p:cNvPr id="26" name="Text 24"/>
          <p:cNvSpPr/>
          <p:nvPr/>
        </p:nvSpPr>
        <p:spPr>
          <a:xfrm>
            <a:off x="1898133" y="3130471"/>
            <a:ext cx="1157657" cy="641286"/>
          </a:xfrm>
          <a:prstGeom prst="rect">
            <a:avLst/>
          </a:prstGeom>
          <a:noFill/>
          <a:ln/>
        </p:spPr>
        <p:txBody>
          <a:bodyPr wrap="square" lIns="0" tIns="0" rIns="0" bIns="0" rtlCol="0" anchor="t"/>
          <a:lstStyle/>
          <a:p>
            <a:pPr marL="0" indent="0" algn="ctr">
              <a:lnSpc>
                <a:spcPct val="145000"/>
              </a:lnSpc>
              <a:buNone/>
            </a:pPr>
            <a:r>
              <a:rPr lang="fr-FR" sz="750" dirty="0">
                <a:solidFill>
                  <a:srgbClr val="888888"/>
                </a:solidFill>
                <a:latin typeface="Calibri" pitchFamily="34" charset="0"/>
                <a:cs typeface="Calibri" pitchFamily="34" charset="-120"/>
              </a:rPr>
              <a:t>prépare les données pour la construction des figures</a:t>
            </a:r>
            <a:endParaRPr lang="en-US" sz="750" dirty="0">
              <a:solidFill>
                <a:srgbClr val="888888"/>
              </a:solidFill>
              <a:latin typeface="Calibri" pitchFamily="34" charset="0"/>
              <a:cs typeface="Calibri" pitchFamily="34" charset="-120"/>
            </a:endParaRPr>
          </a:p>
        </p:txBody>
      </p:sp>
      <p:sp>
        <p:nvSpPr>
          <p:cNvPr id="27" name="Text 25"/>
          <p:cNvSpPr/>
          <p:nvPr/>
        </p:nvSpPr>
        <p:spPr>
          <a:xfrm>
            <a:off x="1645749" y="2379380"/>
            <a:ext cx="250089" cy="329184"/>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3311002" y="1124883"/>
            <a:ext cx="1172375" cy="2796909"/>
          </a:xfrm>
          <a:prstGeom prst="roundRect">
            <a:avLst>
              <a:gd name="adj" fmla="val 6173"/>
            </a:avLst>
          </a:prstGeom>
          <a:solidFill>
            <a:srgbClr val="FAFAFA"/>
          </a:solidFill>
          <a:ln w="8890">
            <a:solidFill>
              <a:srgbClr val="E8E8E8"/>
            </a:solidFill>
            <a:prstDash val="solid"/>
          </a:ln>
        </p:spPr>
        <p:txBody>
          <a:bodyPr/>
          <a:lstStyle/>
          <a:p>
            <a:endParaRPr lang="en-CA"/>
          </a:p>
        </p:txBody>
      </p:sp>
      <p:sp>
        <p:nvSpPr>
          <p:cNvPr id="31" name="Shape 29"/>
          <p:cNvSpPr/>
          <p:nvPr/>
        </p:nvSpPr>
        <p:spPr>
          <a:xfrm>
            <a:off x="3515268" y="1311872"/>
            <a:ext cx="768096" cy="220181"/>
          </a:xfrm>
          <a:prstGeom prst="roundRect">
            <a:avLst>
              <a:gd name="adj" fmla="val 20833"/>
            </a:avLst>
          </a:prstGeom>
          <a:solidFill>
            <a:srgbClr val="F0F0F0"/>
          </a:solidFill>
          <a:ln w="6350">
            <a:solidFill>
              <a:srgbClr val="E0E0E0"/>
            </a:solidFill>
            <a:prstDash val="solid"/>
          </a:ln>
        </p:spPr>
        <p:txBody>
          <a:bodyPr/>
          <a:lstStyle/>
          <a:p>
            <a:endParaRPr lang="en-CA"/>
          </a:p>
        </p:txBody>
      </p:sp>
      <p:sp>
        <p:nvSpPr>
          <p:cNvPr id="32" name="Text 30"/>
          <p:cNvSpPr/>
          <p:nvPr/>
        </p:nvSpPr>
        <p:spPr>
          <a:xfrm>
            <a:off x="3515268" y="1318329"/>
            <a:ext cx="768096" cy="215721"/>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ea typeface="Calibri" pitchFamily="34" charset="-122"/>
                <a:cs typeface="Calibri" pitchFamily="34" charset="-120"/>
              </a:rPr>
              <a:t>Construction</a:t>
            </a:r>
            <a:endParaRPr lang="en-US" sz="750" dirty="0"/>
          </a:p>
        </p:txBody>
      </p:sp>
      <p:sp>
        <p:nvSpPr>
          <p:cNvPr id="34" name="Text 32"/>
          <p:cNvSpPr/>
          <p:nvPr/>
        </p:nvSpPr>
        <p:spPr>
          <a:xfrm>
            <a:off x="3311002" y="1697925"/>
            <a:ext cx="1172375" cy="277826"/>
          </a:xfrm>
          <a:prstGeom prst="rect">
            <a:avLst/>
          </a:prstGeom>
          <a:noFill/>
          <a:ln/>
        </p:spPr>
        <p:txBody>
          <a:bodyPr wrap="square" lIns="0" tIns="0" rIns="0" bIns="0" rtlCol="0" anchor="ctr"/>
          <a:lstStyle/>
          <a:p>
            <a:pPr marL="0" indent="0" algn="ctr">
              <a:buNone/>
            </a:pPr>
            <a:r>
              <a:rPr lang="en-US" sz="900" b="1" dirty="0">
                <a:solidFill>
                  <a:srgbClr val="0A0A0A"/>
                </a:solidFill>
                <a:latin typeface="Courier New" pitchFamily="34" charset="0"/>
                <a:ea typeface="Courier New" pitchFamily="34" charset="-122"/>
                <a:cs typeface="Courier New" pitchFamily="34" charset="-120"/>
              </a:rPr>
              <a:t>build_*.py</a:t>
            </a:r>
            <a:endParaRPr lang="en-US" sz="900" dirty="0"/>
          </a:p>
        </p:txBody>
      </p:sp>
      <p:sp>
        <p:nvSpPr>
          <p:cNvPr id="35" name="Text 33"/>
          <p:cNvSpPr/>
          <p:nvPr/>
        </p:nvSpPr>
        <p:spPr>
          <a:xfrm>
            <a:off x="3313829" y="2171023"/>
            <a:ext cx="1169547" cy="730408"/>
          </a:xfrm>
          <a:prstGeom prst="rect">
            <a:avLst/>
          </a:prstGeom>
          <a:noFill/>
          <a:ln/>
        </p:spPr>
        <p:txBody>
          <a:bodyPr wrap="square" lIns="0" tIns="0" rIns="0" bIns="0" rtlCol="0" anchor="t"/>
          <a:lstStyle/>
          <a:p>
            <a:pPr algn="ctr">
              <a:lnSpc>
                <a:spcPct val="130000"/>
              </a:lnSpc>
            </a:pPr>
            <a:r>
              <a:rPr lang="fr-FR" sz="750" dirty="0">
                <a:solidFill>
                  <a:srgbClr val="888888"/>
                </a:solidFill>
                <a:latin typeface="Calibri" pitchFamily="34" charset="0"/>
                <a:cs typeface="Calibri" pitchFamily="34" charset="-120"/>
              </a:rPr>
              <a:t>construit les figures par thème (débit, avalanche, modes, synthèse)</a:t>
            </a:r>
            <a:endParaRPr lang="en-US" sz="750" dirty="0">
              <a:solidFill>
                <a:srgbClr val="888888"/>
              </a:solidFill>
              <a:latin typeface="Calibri" pitchFamily="34" charset="0"/>
              <a:cs typeface="Calibri" pitchFamily="34" charset="-120"/>
            </a:endParaRPr>
          </a:p>
        </p:txBody>
      </p:sp>
      <p:sp>
        <p:nvSpPr>
          <p:cNvPr id="37" name="Text 35"/>
          <p:cNvSpPr/>
          <p:nvPr/>
        </p:nvSpPr>
        <p:spPr>
          <a:xfrm>
            <a:off x="3311001" y="3150899"/>
            <a:ext cx="1164441" cy="630258"/>
          </a:xfrm>
          <a:prstGeom prst="rect">
            <a:avLst/>
          </a:prstGeom>
          <a:noFill/>
          <a:ln/>
        </p:spPr>
        <p:txBody>
          <a:bodyPr wrap="square" lIns="0" tIns="0" rIns="0" bIns="0" rtlCol="0" anchor="t"/>
          <a:lstStyle/>
          <a:p>
            <a:pPr algn="ctr">
              <a:lnSpc>
                <a:spcPct val="145000"/>
              </a:lnSpc>
            </a:pPr>
            <a:r>
              <a:rPr lang="fr-FR" sz="750" dirty="0">
                <a:solidFill>
                  <a:srgbClr val="888888"/>
                </a:solidFill>
                <a:latin typeface="Calibri" pitchFamily="34" charset="0"/>
                <a:cs typeface="Calibri" pitchFamily="34" charset="-120"/>
              </a:rPr>
              <a:t>génère les figures depuis les données normalisées</a:t>
            </a:r>
            <a:endParaRPr lang="en-US" sz="750" dirty="0">
              <a:solidFill>
                <a:srgbClr val="888888"/>
              </a:solidFill>
              <a:latin typeface="Calibri" pitchFamily="34" charset="0"/>
              <a:cs typeface="Calibri" pitchFamily="34" charset="-120"/>
            </a:endParaRPr>
          </a:p>
        </p:txBody>
      </p:sp>
      <p:sp>
        <p:nvSpPr>
          <p:cNvPr id="39" name="Shape 37"/>
          <p:cNvSpPr/>
          <p:nvPr/>
        </p:nvSpPr>
        <p:spPr>
          <a:xfrm>
            <a:off x="4749524" y="1132943"/>
            <a:ext cx="1174440" cy="2791745"/>
          </a:xfrm>
          <a:prstGeom prst="roundRect">
            <a:avLst>
              <a:gd name="adj" fmla="val 6173"/>
            </a:avLst>
          </a:prstGeom>
          <a:solidFill>
            <a:srgbClr val="FAFAFA"/>
          </a:solidFill>
          <a:ln w="8890">
            <a:solidFill>
              <a:srgbClr val="E8E8E8"/>
            </a:solidFill>
            <a:prstDash val="solid"/>
          </a:ln>
        </p:spPr>
        <p:txBody>
          <a:bodyPr/>
          <a:lstStyle/>
          <a:p>
            <a:endParaRPr lang="en-CA"/>
          </a:p>
        </p:txBody>
      </p:sp>
      <p:sp>
        <p:nvSpPr>
          <p:cNvPr id="42" name="Shape 40"/>
          <p:cNvSpPr/>
          <p:nvPr/>
        </p:nvSpPr>
        <p:spPr>
          <a:xfrm>
            <a:off x="4954024" y="1303863"/>
            <a:ext cx="768096" cy="223149"/>
          </a:xfrm>
          <a:prstGeom prst="roundRect">
            <a:avLst>
              <a:gd name="adj" fmla="val 20833"/>
            </a:avLst>
          </a:prstGeom>
          <a:solidFill>
            <a:srgbClr val="F0F0F0"/>
          </a:solidFill>
          <a:ln w="6350">
            <a:solidFill>
              <a:srgbClr val="E0E0E0"/>
            </a:solidFill>
            <a:prstDash val="solid"/>
          </a:ln>
        </p:spPr>
        <p:txBody>
          <a:bodyPr/>
          <a:lstStyle/>
          <a:p>
            <a:endParaRPr lang="en-CA" dirty="0"/>
          </a:p>
        </p:txBody>
      </p:sp>
      <p:sp>
        <p:nvSpPr>
          <p:cNvPr id="43" name="Text 41"/>
          <p:cNvSpPr/>
          <p:nvPr/>
        </p:nvSpPr>
        <p:spPr>
          <a:xfrm>
            <a:off x="4954024" y="1311251"/>
            <a:ext cx="768096" cy="223149"/>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ea typeface="Calibri" pitchFamily="34" charset="-122"/>
                <a:cs typeface="Calibri" pitchFamily="34" charset="-120"/>
              </a:rPr>
              <a:t>Style</a:t>
            </a:r>
            <a:endParaRPr lang="en-US" sz="750" dirty="0">
              <a:solidFill>
                <a:srgbClr val="888888"/>
              </a:solidFill>
            </a:endParaRPr>
          </a:p>
        </p:txBody>
      </p:sp>
      <p:sp>
        <p:nvSpPr>
          <p:cNvPr id="45" name="Text 43"/>
          <p:cNvSpPr/>
          <p:nvPr/>
        </p:nvSpPr>
        <p:spPr>
          <a:xfrm>
            <a:off x="4751329" y="1689918"/>
            <a:ext cx="1172636" cy="280704"/>
          </a:xfrm>
          <a:prstGeom prst="rect">
            <a:avLst/>
          </a:prstGeom>
          <a:noFill/>
          <a:ln/>
        </p:spPr>
        <p:txBody>
          <a:bodyPr wrap="square" lIns="0" tIns="0" rIns="0" bIns="0" rtlCol="0" anchor="ctr"/>
          <a:lstStyle/>
          <a:p>
            <a:pPr marL="0" indent="0" algn="ctr">
              <a:buNone/>
            </a:pPr>
            <a:r>
              <a:rPr lang="en-US" sz="900" b="1" dirty="0">
                <a:latin typeface="Courier New" pitchFamily="34" charset="0"/>
                <a:ea typeface="Courier New" pitchFamily="34" charset="-122"/>
                <a:cs typeface="Courier New" pitchFamily="34" charset="-120"/>
              </a:rPr>
              <a:t>style_charts.py</a:t>
            </a:r>
            <a:endParaRPr lang="en-US" sz="900" dirty="0"/>
          </a:p>
        </p:txBody>
      </p:sp>
      <p:sp>
        <p:nvSpPr>
          <p:cNvPr id="46" name="Text 44"/>
          <p:cNvSpPr/>
          <p:nvPr/>
        </p:nvSpPr>
        <p:spPr>
          <a:xfrm>
            <a:off x="4755599" y="2162129"/>
            <a:ext cx="1173056" cy="588069"/>
          </a:xfrm>
          <a:prstGeom prst="rect">
            <a:avLst/>
          </a:prstGeom>
          <a:noFill/>
          <a:ln/>
        </p:spPr>
        <p:txBody>
          <a:bodyPr wrap="square" lIns="0" tIns="0" rIns="0" bIns="0" rtlCol="0" anchor="t"/>
          <a:lstStyle/>
          <a:p>
            <a:pPr algn="ctr">
              <a:lnSpc>
                <a:spcPct val="145000"/>
              </a:lnSpc>
            </a:pPr>
            <a:r>
              <a:rPr lang="fr-FR" sz="750" dirty="0">
                <a:solidFill>
                  <a:srgbClr val="888888"/>
                </a:solidFill>
                <a:latin typeface="Calibri" pitchFamily="34" charset="0"/>
                <a:cs typeface="Calibri" pitchFamily="34" charset="-120"/>
              </a:rPr>
              <a:t>palette / axes / style global</a:t>
            </a:r>
          </a:p>
        </p:txBody>
      </p:sp>
      <p:sp>
        <p:nvSpPr>
          <p:cNvPr id="48" name="Text 46"/>
          <p:cNvSpPr/>
          <p:nvPr/>
        </p:nvSpPr>
        <p:spPr>
          <a:xfrm>
            <a:off x="4755600" y="3142892"/>
            <a:ext cx="1173056" cy="642876"/>
          </a:xfrm>
          <a:prstGeom prst="rect">
            <a:avLst/>
          </a:prstGeom>
          <a:noFill/>
          <a:ln/>
        </p:spPr>
        <p:txBody>
          <a:bodyPr wrap="square" lIns="0" tIns="0" rIns="0" bIns="0" rtlCol="0" anchor="t"/>
          <a:lstStyle/>
          <a:p>
            <a:pPr indent="0" algn="ctr">
              <a:lnSpc>
                <a:spcPct val="145000"/>
              </a:lnSpc>
              <a:buNone/>
            </a:pPr>
            <a:r>
              <a:rPr lang="fr-FR" sz="750" dirty="0">
                <a:solidFill>
                  <a:srgbClr val="888888"/>
                </a:solidFill>
                <a:latin typeface="Calibri" pitchFamily="34" charset="0"/>
                <a:cs typeface="Calibri" pitchFamily="34" charset="-120"/>
              </a:rPr>
              <a:t>applique un style commun à toutes les figures</a:t>
            </a:r>
            <a:endParaRPr lang="en-US" sz="750" dirty="0">
              <a:solidFill>
                <a:srgbClr val="888888"/>
              </a:solidFill>
              <a:latin typeface="Calibri" pitchFamily="34" charset="0"/>
              <a:cs typeface="Calibri" pitchFamily="34" charset="-120"/>
            </a:endParaRPr>
          </a:p>
        </p:txBody>
      </p:sp>
      <p:sp>
        <p:nvSpPr>
          <p:cNvPr id="50" name="Shape 48"/>
          <p:cNvSpPr/>
          <p:nvPr/>
        </p:nvSpPr>
        <p:spPr>
          <a:xfrm>
            <a:off x="7648194" y="1122160"/>
            <a:ext cx="1167582" cy="2799632"/>
          </a:xfrm>
          <a:prstGeom prst="roundRect">
            <a:avLst>
              <a:gd name="adj" fmla="val 6173"/>
            </a:avLst>
          </a:prstGeom>
          <a:solidFill>
            <a:srgbClr val="FAFAFA"/>
          </a:solidFill>
          <a:ln w="8890">
            <a:solidFill>
              <a:srgbClr val="E8E8E8"/>
            </a:solidFill>
            <a:prstDash val="solid"/>
          </a:ln>
        </p:spPr>
        <p:txBody>
          <a:bodyPr/>
          <a:lstStyle/>
          <a:p>
            <a:endParaRPr lang="en-CA" dirty="0"/>
          </a:p>
        </p:txBody>
      </p:sp>
      <p:sp>
        <p:nvSpPr>
          <p:cNvPr id="53" name="Shape 51"/>
          <p:cNvSpPr/>
          <p:nvPr/>
        </p:nvSpPr>
        <p:spPr>
          <a:xfrm>
            <a:off x="7841939" y="1302523"/>
            <a:ext cx="768096" cy="226844"/>
          </a:xfrm>
          <a:prstGeom prst="roundRect">
            <a:avLst>
              <a:gd name="adj" fmla="val 20833"/>
            </a:avLst>
          </a:prstGeom>
          <a:solidFill>
            <a:srgbClr val="F0F0F0"/>
          </a:solidFill>
          <a:ln w="6350">
            <a:solidFill>
              <a:srgbClr val="E0E0E0"/>
            </a:solidFill>
            <a:prstDash val="solid"/>
          </a:ln>
        </p:spPr>
        <p:txBody>
          <a:bodyPr/>
          <a:lstStyle/>
          <a:p>
            <a:endParaRPr lang="en-CA" dirty="0"/>
          </a:p>
        </p:txBody>
      </p:sp>
      <p:sp>
        <p:nvSpPr>
          <p:cNvPr id="54" name="Text 52"/>
          <p:cNvSpPr/>
          <p:nvPr/>
        </p:nvSpPr>
        <p:spPr>
          <a:xfrm>
            <a:off x="7841939" y="1300469"/>
            <a:ext cx="768096" cy="239964"/>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cs typeface="Calibri" pitchFamily="34" charset="-120"/>
              </a:rPr>
              <a:t>Export</a:t>
            </a:r>
            <a:endParaRPr lang="en-US" sz="750" dirty="0"/>
          </a:p>
        </p:txBody>
      </p:sp>
      <p:sp>
        <p:nvSpPr>
          <p:cNvPr id="56" name="Text 54"/>
          <p:cNvSpPr/>
          <p:nvPr/>
        </p:nvSpPr>
        <p:spPr>
          <a:xfrm>
            <a:off x="7653136" y="1736433"/>
            <a:ext cx="1162639" cy="240692"/>
          </a:xfrm>
          <a:prstGeom prst="rect">
            <a:avLst/>
          </a:prstGeom>
          <a:noFill/>
          <a:ln/>
        </p:spPr>
        <p:txBody>
          <a:bodyPr wrap="square" lIns="0" tIns="0" rIns="0" bIns="0" rtlCol="0" anchor="ctr"/>
          <a:lstStyle/>
          <a:p>
            <a:pPr marL="0" indent="0" algn="ctr">
              <a:buNone/>
            </a:pPr>
            <a:r>
              <a:rPr lang="en-US" sz="900" b="1" dirty="0">
                <a:latin typeface="Courier New" pitchFamily="34" charset="0"/>
                <a:ea typeface="Courier New" pitchFamily="34" charset="-122"/>
                <a:cs typeface="Courier New" pitchFamily="34" charset="-120"/>
              </a:rPr>
              <a:t>data/charts/</a:t>
            </a:r>
            <a:endParaRPr lang="en-US" sz="900" dirty="0"/>
          </a:p>
        </p:txBody>
      </p:sp>
      <p:sp>
        <p:nvSpPr>
          <p:cNvPr id="57" name="Text 55"/>
          <p:cNvSpPr/>
          <p:nvPr/>
        </p:nvSpPr>
        <p:spPr>
          <a:xfrm>
            <a:off x="7642190" y="2161675"/>
            <a:ext cx="1173586" cy="721189"/>
          </a:xfrm>
          <a:prstGeom prst="rect">
            <a:avLst/>
          </a:prstGeom>
          <a:noFill/>
          <a:ln/>
        </p:spPr>
        <p:txBody>
          <a:bodyPr wrap="square" lIns="0" tIns="0" rIns="0" bIns="0" rtlCol="0" anchor="t"/>
          <a:lstStyle/>
          <a:p>
            <a:pPr algn="ctr">
              <a:lnSpc>
                <a:spcPct val="145000"/>
              </a:lnSpc>
            </a:pPr>
            <a:r>
              <a:rPr lang="fr-FR" sz="750" dirty="0">
                <a:solidFill>
                  <a:srgbClr val="888888"/>
                </a:solidFill>
                <a:latin typeface="Calibri" pitchFamily="34" charset="0"/>
                <a:cs typeface="Calibri" pitchFamily="34" charset="-120"/>
              </a:rPr>
              <a:t>exporte vers les groupes cibles 01, 02, 03, 04</a:t>
            </a:r>
            <a:endParaRPr lang="en-US" sz="750" dirty="0">
              <a:solidFill>
                <a:srgbClr val="888888"/>
              </a:solidFill>
              <a:latin typeface="Calibri" pitchFamily="34" charset="0"/>
              <a:cs typeface="Calibri" pitchFamily="34" charset="-120"/>
            </a:endParaRPr>
          </a:p>
        </p:txBody>
      </p:sp>
      <p:sp>
        <p:nvSpPr>
          <p:cNvPr id="59" name="Text 57"/>
          <p:cNvSpPr/>
          <p:nvPr/>
        </p:nvSpPr>
        <p:spPr>
          <a:xfrm>
            <a:off x="7659854" y="3126770"/>
            <a:ext cx="1161926" cy="800497"/>
          </a:xfrm>
          <a:prstGeom prst="rect">
            <a:avLst/>
          </a:prstGeom>
          <a:noFill/>
          <a:ln/>
        </p:spPr>
        <p:txBody>
          <a:bodyPr wrap="square" lIns="0" tIns="0" rIns="0" bIns="0" rtlCol="0" anchor="t"/>
          <a:lstStyle/>
          <a:p>
            <a:pPr marL="0" indent="0" algn="ctr">
              <a:lnSpc>
                <a:spcPct val="145000"/>
              </a:lnSpc>
              <a:buNone/>
            </a:pPr>
            <a:r>
              <a:rPr lang="fr-FR" sz="750" dirty="0">
                <a:solidFill>
                  <a:srgbClr val="888888"/>
                </a:solidFill>
                <a:latin typeface="Calibri" pitchFamily="34" charset="0"/>
                <a:cs typeface="Calibri" pitchFamily="34" charset="-120"/>
              </a:rPr>
              <a:t>écrit les figures dans le dossier cible</a:t>
            </a:r>
            <a:endParaRPr lang="en-US" sz="750" dirty="0">
              <a:solidFill>
                <a:srgbClr val="888888"/>
              </a:solidFill>
              <a:latin typeface="Calibri" pitchFamily="34" charset="0"/>
              <a:cs typeface="Calibri" pitchFamily="34" charset="-120"/>
            </a:endParaRPr>
          </a:p>
        </p:txBody>
      </p:sp>
      <p:sp>
        <p:nvSpPr>
          <p:cNvPr id="60" name="Text 58"/>
          <p:cNvSpPr/>
          <p:nvPr/>
        </p:nvSpPr>
        <p:spPr>
          <a:xfrm>
            <a:off x="438912" y="4248946"/>
            <a:ext cx="8321040" cy="237744"/>
          </a:xfrm>
          <a:prstGeom prst="rect">
            <a:avLst/>
          </a:prstGeom>
          <a:noFill/>
          <a:ln/>
        </p:spPr>
        <p:txBody>
          <a:bodyPr wrap="square" lIns="0" tIns="0" rIns="0" bIns="0" rtlCol="0" anchor="ctr"/>
          <a:lstStyle/>
          <a:p>
            <a:pPr marL="0" indent="0" algn="ctr">
              <a:buNone/>
            </a:pPr>
            <a:r>
              <a:rPr lang="fr-FR" sz="850" i="1" dirty="0">
                <a:solidFill>
                  <a:srgbClr val="C0C0C0"/>
                </a:solidFill>
                <a:latin typeface="Calibri" pitchFamily="34" charset="0"/>
                <a:ea typeface="Calibri" pitchFamily="34" charset="-122"/>
                <a:cs typeface="Calibri" pitchFamily="34" charset="-120"/>
              </a:rPr>
              <a:t>commande unique, pipeline complet et export structuré</a:t>
            </a:r>
          </a:p>
        </p:txBody>
      </p:sp>
      <p:sp>
        <p:nvSpPr>
          <p:cNvPr id="61" name="Text 59"/>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90" name="Shape 40">
            <a:extLst>
              <a:ext uri="{FF2B5EF4-FFF2-40B4-BE49-F238E27FC236}">
                <a16:creationId xmlns:a16="http://schemas.microsoft.com/office/drawing/2014/main" id="{B0270E7E-4943-2199-9638-1332761627D3}"/>
              </a:ext>
            </a:extLst>
          </p:cNvPr>
          <p:cNvSpPr/>
          <p:nvPr/>
        </p:nvSpPr>
        <p:spPr>
          <a:xfrm>
            <a:off x="6428424" y="1310008"/>
            <a:ext cx="768096" cy="219456"/>
          </a:xfrm>
          <a:prstGeom prst="roundRect">
            <a:avLst>
              <a:gd name="adj" fmla="val 20833"/>
            </a:avLst>
          </a:prstGeom>
          <a:solidFill>
            <a:srgbClr val="F0F0F0"/>
          </a:solidFill>
          <a:ln w="6350">
            <a:solidFill>
              <a:srgbClr val="E0E0E0"/>
            </a:solidFill>
            <a:prstDash val="solid"/>
          </a:ln>
        </p:spPr>
        <p:txBody>
          <a:bodyPr/>
          <a:lstStyle/>
          <a:p>
            <a:endParaRPr lang="en-CA" dirty="0"/>
          </a:p>
        </p:txBody>
      </p:sp>
      <p:sp>
        <p:nvSpPr>
          <p:cNvPr id="92" name="Text 41">
            <a:extLst>
              <a:ext uri="{FF2B5EF4-FFF2-40B4-BE49-F238E27FC236}">
                <a16:creationId xmlns:a16="http://schemas.microsoft.com/office/drawing/2014/main" id="{23CC53B2-CAEC-76A1-CC86-C4DE05AF19EE}"/>
              </a:ext>
            </a:extLst>
          </p:cNvPr>
          <p:cNvSpPr/>
          <p:nvPr/>
        </p:nvSpPr>
        <p:spPr>
          <a:xfrm>
            <a:off x="6428424" y="1317396"/>
            <a:ext cx="768096" cy="219456"/>
          </a:xfrm>
          <a:prstGeom prst="rect">
            <a:avLst/>
          </a:prstGeom>
          <a:noFill/>
          <a:ln/>
        </p:spPr>
        <p:txBody>
          <a:bodyPr wrap="square" lIns="0" tIns="0" rIns="0" bIns="0" rtlCol="0" anchor="ctr"/>
          <a:lstStyle/>
          <a:p>
            <a:pPr marL="0" indent="0" algn="ctr">
              <a:buNone/>
            </a:pPr>
            <a:r>
              <a:rPr lang="en-US" sz="750" b="1" dirty="0">
                <a:solidFill>
                  <a:srgbClr val="888888"/>
                </a:solidFill>
                <a:latin typeface="Calibri" pitchFamily="34" charset="0"/>
                <a:ea typeface="Calibri" pitchFamily="34" charset="-122"/>
                <a:cs typeface="Calibri" pitchFamily="34" charset="-120"/>
              </a:rPr>
              <a:t>Chemins</a:t>
            </a:r>
            <a:endParaRPr lang="en-US" sz="750" dirty="0">
              <a:solidFill>
                <a:srgbClr val="888888"/>
              </a:solidFill>
            </a:endParaRPr>
          </a:p>
        </p:txBody>
      </p:sp>
      <p:sp>
        <p:nvSpPr>
          <p:cNvPr id="94" name="Text 43">
            <a:extLst>
              <a:ext uri="{FF2B5EF4-FFF2-40B4-BE49-F238E27FC236}">
                <a16:creationId xmlns:a16="http://schemas.microsoft.com/office/drawing/2014/main" id="{B5FE885B-B150-5330-45E7-9542A59D8C5A}"/>
              </a:ext>
            </a:extLst>
          </p:cNvPr>
          <p:cNvSpPr/>
          <p:nvPr/>
        </p:nvSpPr>
        <p:spPr>
          <a:xfrm>
            <a:off x="6211367" y="1719732"/>
            <a:ext cx="1166980" cy="258421"/>
          </a:xfrm>
          <a:prstGeom prst="rect">
            <a:avLst/>
          </a:prstGeom>
          <a:noFill/>
          <a:ln/>
        </p:spPr>
        <p:txBody>
          <a:bodyPr wrap="square" lIns="0" tIns="0" rIns="0" bIns="0" rtlCol="0" anchor="ctr"/>
          <a:lstStyle/>
          <a:p>
            <a:pPr marL="0" indent="0" algn="ctr">
              <a:buNone/>
            </a:pPr>
            <a:r>
              <a:rPr lang="en-US" sz="900" b="1" dirty="0">
                <a:latin typeface="Courier New" pitchFamily="34" charset="0"/>
                <a:ea typeface="Courier New" pitchFamily="34" charset="-122"/>
                <a:cs typeface="Courier New" pitchFamily="34" charset="-120"/>
              </a:rPr>
              <a:t>shared_paths.py</a:t>
            </a:r>
            <a:endParaRPr lang="en-US" sz="900" dirty="0"/>
          </a:p>
        </p:txBody>
      </p:sp>
      <p:sp>
        <p:nvSpPr>
          <p:cNvPr id="96" name="Text 44">
            <a:extLst>
              <a:ext uri="{FF2B5EF4-FFF2-40B4-BE49-F238E27FC236}">
                <a16:creationId xmlns:a16="http://schemas.microsoft.com/office/drawing/2014/main" id="{B50E569C-AD52-FD5A-0F23-1B43B7FB43A8}"/>
              </a:ext>
            </a:extLst>
          </p:cNvPr>
          <p:cNvSpPr/>
          <p:nvPr/>
        </p:nvSpPr>
        <p:spPr>
          <a:xfrm>
            <a:off x="6216057" y="2161033"/>
            <a:ext cx="1169277" cy="579120"/>
          </a:xfrm>
          <a:prstGeom prst="rect">
            <a:avLst/>
          </a:prstGeom>
          <a:noFill/>
          <a:ln/>
        </p:spPr>
        <p:txBody>
          <a:bodyPr wrap="square" lIns="0" tIns="0" rIns="0" bIns="0" rtlCol="0" anchor="t"/>
          <a:lstStyle/>
          <a:p>
            <a:pPr indent="0" algn="ctr">
              <a:lnSpc>
                <a:spcPct val="145000"/>
              </a:lnSpc>
              <a:buNone/>
            </a:pPr>
            <a:r>
              <a:rPr lang="fr-FR" sz="750" dirty="0">
                <a:solidFill>
                  <a:srgbClr val="888888"/>
                </a:solidFill>
                <a:latin typeface="Calibri" pitchFamily="34" charset="0"/>
                <a:cs typeface="Calibri" pitchFamily="34" charset="-120"/>
              </a:rPr>
              <a:t>centralise les chemins d’entrée et de sortie</a:t>
            </a:r>
            <a:endParaRPr lang="en-US" sz="750" dirty="0">
              <a:solidFill>
                <a:srgbClr val="888888"/>
              </a:solidFill>
              <a:latin typeface="Calibri" pitchFamily="34" charset="0"/>
              <a:cs typeface="Calibri" pitchFamily="34" charset="-120"/>
            </a:endParaRPr>
          </a:p>
        </p:txBody>
      </p:sp>
      <p:sp>
        <p:nvSpPr>
          <p:cNvPr id="98" name="Text 46">
            <a:extLst>
              <a:ext uri="{FF2B5EF4-FFF2-40B4-BE49-F238E27FC236}">
                <a16:creationId xmlns:a16="http://schemas.microsoft.com/office/drawing/2014/main" id="{12D3F11F-0CD5-A163-6547-BC99A6767593}"/>
              </a:ext>
            </a:extLst>
          </p:cNvPr>
          <p:cNvSpPr/>
          <p:nvPr/>
        </p:nvSpPr>
        <p:spPr>
          <a:xfrm>
            <a:off x="6225632" y="3142579"/>
            <a:ext cx="1159703" cy="739613"/>
          </a:xfrm>
          <a:prstGeom prst="rect">
            <a:avLst/>
          </a:prstGeom>
          <a:noFill/>
          <a:ln/>
        </p:spPr>
        <p:txBody>
          <a:bodyPr wrap="square" lIns="0" tIns="0" rIns="0" bIns="0" rtlCol="0" anchor="t"/>
          <a:lstStyle/>
          <a:p>
            <a:pPr algn="ctr">
              <a:lnSpc>
                <a:spcPct val="145000"/>
              </a:lnSpc>
            </a:pPr>
            <a:r>
              <a:rPr lang="fr-FR" sz="750" dirty="0">
                <a:solidFill>
                  <a:srgbClr val="888888"/>
                </a:solidFill>
                <a:latin typeface="Calibri" pitchFamily="34" charset="0"/>
                <a:cs typeface="Calibri" pitchFamily="34" charset="-120"/>
              </a:rPr>
              <a:t>crée automatiquement le dossier de sortie</a:t>
            </a:r>
            <a:endParaRPr lang="en-US" sz="750" dirty="0">
              <a:solidFill>
                <a:srgbClr val="888888"/>
              </a:solidFill>
              <a:latin typeface="Calibri" pitchFamily="34" charset="0"/>
              <a:cs typeface="Calibri" pitchFamily="34" charset="-120"/>
            </a:endParaRPr>
          </a:p>
        </p:txBody>
      </p:sp>
      <p:sp>
        <p:nvSpPr>
          <p:cNvPr id="30" name="Shape 5">
            <a:extLst>
              <a:ext uri="{FF2B5EF4-FFF2-40B4-BE49-F238E27FC236}">
                <a16:creationId xmlns:a16="http://schemas.microsoft.com/office/drawing/2014/main" id="{A67F076F-58C5-6F05-3317-52B85739BB39}"/>
              </a:ext>
            </a:extLst>
          </p:cNvPr>
          <p:cNvSpPr/>
          <p:nvPr/>
        </p:nvSpPr>
        <p:spPr>
          <a:xfrm>
            <a:off x="1893500" y="1124856"/>
            <a:ext cx="1162290" cy="91434"/>
          </a:xfrm>
          <a:prstGeom prst="rect">
            <a:avLst/>
          </a:prstGeom>
          <a:solidFill>
            <a:srgbClr val="888888"/>
          </a:solidFill>
          <a:ln w="12700">
            <a:solidFill>
              <a:srgbClr val="888888"/>
            </a:solidFill>
            <a:prstDash val="solid"/>
          </a:ln>
        </p:spPr>
        <p:txBody>
          <a:bodyPr/>
          <a:lstStyle/>
          <a:p>
            <a:endParaRPr lang="en-CA"/>
          </a:p>
        </p:txBody>
      </p:sp>
      <p:sp>
        <p:nvSpPr>
          <p:cNvPr id="41" name="Shape 9">
            <a:extLst>
              <a:ext uri="{FF2B5EF4-FFF2-40B4-BE49-F238E27FC236}">
                <a16:creationId xmlns:a16="http://schemas.microsoft.com/office/drawing/2014/main" id="{2499F1E1-7599-74B6-66C1-F2270D371349}"/>
              </a:ext>
            </a:extLst>
          </p:cNvPr>
          <p:cNvSpPr/>
          <p:nvPr/>
        </p:nvSpPr>
        <p:spPr>
          <a:xfrm flipV="1">
            <a:off x="2021076" y="1996725"/>
            <a:ext cx="895247" cy="0"/>
          </a:xfrm>
          <a:prstGeom prst="line">
            <a:avLst/>
          </a:prstGeom>
          <a:noFill/>
          <a:ln w="7620">
            <a:solidFill>
              <a:srgbClr val="EEEEEE"/>
            </a:solidFill>
            <a:prstDash val="solid"/>
          </a:ln>
        </p:spPr>
        <p:txBody>
          <a:bodyPr/>
          <a:lstStyle/>
          <a:p>
            <a:endParaRPr lang="en-CA"/>
          </a:p>
        </p:txBody>
      </p:sp>
      <p:sp>
        <p:nvSpPr>
          <p:cNvPr id="62" name="Shape 5">
            <a:extLst>
              <a:ext uri="{FF2B5EF4-FFF2-40B4-BE49-F238E27FC236}">
                <a16:creationId xmlns:a16="http://schemas.microsoft.com/office/drawing/2014/main" id="{7FAA8E04-E988-3141-5121-F60313716D4A}"/>
              </a:ext>
            </a:extLst>
          </p:cNvPr>
          <p:cNvSpPr/>
          <p:nvPr/>
        </p:nvSpPr>
        <p:spPr>
          <a:xfrm>
            <a:off x="3313830" y="1122332"/>
            <a:ext cx="1162290" cy="92603"/>
          </a:xfrm>
          <a:prstGeom prst="rect">
            <a:avLst/>
          </a:prstGeom>
          <a:solidFill>
            <a:srgbClr val="888888"/>
          </a:solidFill>
          <a:ln w="12700">
            <a:solidFill>
              <a:srgbClr val="888888"/>
            </a:solidFill>
            <a:prstDash val="solid"/>
          </a:ln>
        </p:spPr>
        <p:txBody>
          <a:bodyPr/>
          <a:lstStyle/>
          <a:p>
            <a:endParaRPr lang="en-CA"/>
          </a:p>
        </p:txBody>
      </p:sp>
      <p:sp>
        <p:nvSpPr>
          <p:cNvPr id="65" name="Shape 5">
            <a:extLst>
              <a:ext uri="{FF2B5EF4-FFF2-40B4-BE49-F238E27FC236}">
                <a16:creationId xmlns:a16="http://schemas.microsoft.com/office/drawing/2014/main" id="{F73C0DD0-AEEC-918B-AF1C-A1DEEBBF9C9D}"/>
              </a:ext>
            </a:extLst>
          </p:cNvPr>
          <p:cNvSpPr/>
          <p:nvPr/>
        </p:nvSpPr>
        <p:spPr>
          <a:xfrm>
            <a:off x="4755599" y="1123500"/>
            <a:ext cx="1162290" cy="92973"/>
          </a:xfrm>
          <a:prstGeom prst="rect">
            <a:avLst/>
          </a:prstGeom>
          <a:solidFill>
            <a:srgbClr val="888888"/>
          </a:solidFill>
          <a:ln w="12700">
            <a:solidFill>
              <a:srgbClr val="888888"/>
            </a:solidFill>
            <a:prstDash val="solid"/>
          </a:ln>
        </p:spPr>
        <p:txBody>
          <a:bodyPr/>
          <a:lstStyle/>
          <a:p>
            <a:endParaRPr lang="en-CA"/>
          </a:p>
        </p:txBody>
      </p:sp>
      <p:sp>
        <p:nvSpPr>
          <p:cNvPr id="67" name="Shape 5">
            <a:extLst>
              <a:ext uri="{FF2B5EF4-FFF2-40B4-BE49-F238E27FC236}">
                <a16:creationId xmlns:a16="http://schemas.microsoft.com/office/drawing/2014/main" id="{5A3F2966-1161-565D-AEA7-4388EE646533}"/>
              </a:ext>
            </a:extLst>
          </p:cNvPr>
          <p:cNvSpPr/>
          <p:nvPr/>
        </p:nvSpPr>
        <p:spPr>
          <a:xfrm>
            <a:off x="6216057" y="1116563"/>
            <a:ext cx="1162290" cy="91434"/>
          </a:xfrm>
          <a:prstGeom prst="rect">
            <a:avLst/>
          </a:prstGeom>
          <a:solidFill>
            <a:srgbClr val="888888"/>
          </a:solidFill>
          <a:ln w="12700">
            <a:solidFill>
              <a:srgbClr val="888888"/>
            </a:solidFill>
            <a:prstDash val="solid"/>
          </a:ln>
        </p:spPr>
        <p:txBody>
          <a:bodyPr/>
          <a:lstStyle/>
          <a:p>
            <a:endParaRPr lang="en-CA"/>
          </a:p>
        </p:txBody>
      </p:sp>
      <p:sp>
        <p:nvSpPr>
          <p:cNvPr id="70" name="Shape 5">
            <a:extLst>
              <a:ext uri="{FF2B5EF4-FFF2-40B4-BE49-F238E27FC236}">
                <a16:creationId xmlns:a16="http://schemas.microsoft.com/office/drawing/2014/main" id="{E7A56C45-3545-4638-813A-244B90223429}"/>
              </a:ext>
            </a:extLst>
          </p:cNvPr>
          <p:cNvSpPr/>
          <p:nvPr/>
        </p:nvSpPr>
        <p:spPr>
          <a:xfrm>
            <a:off x="7653136" y="1118902"/>
            <a:ext cx="1162290" cy="91434"/>
          </a:xfrm>
          <a:prstGeom prst="rect">
            <a:avLst/>
          </a:prstGeom>
          <a:solidFill>
            <a:srgbClr val="888888"/>
          </a:solidFill>
          <a:ln w="12700">
            <a:solidFill>
              <a:srgbClr val="888888"/>
            </a:solidFill>
            <a:prstDash val="solid"/>
          </a:ln>
        </p:spPr>
        <p:txBody>
          <a:bodyPr/>
          <a:lstStyle/>
          <a:p>
            <a:endParaRPr lang="en-CA"/>
          </a:p>
        </p:txBody>
      </p:sp>
      <p:sp>
        <p:nvSpPr>
          <p:cNvPr id="74" name="Shape 9">
            <a:extLst>
              <a:ext uri="{FF2B5EF4-FFF2-40B4-BE49-F238E27FC236}">
                <a16:creationId xmlns:a16="http://schemas.microsoft.com/office/drawing/2014/main" id="{793BEB8C-48BB-F4F3-B2BA-E7FE22416962}"/>
              </a:ext>
            </a:extLst>
          </p:cNvPr>
          <p:cNvSpPr/>
          <p:nvPr/>
        </p:nvSpPr>
        <p:spPr>
          <a:xfrm flipV="1">
            <a:off x="3454086" y="2002373"/>
            <a:ext cx="895247" cy="0"/>
          </a:xfrm>
          <a:prstGeom prst="line">
            <a:avLst/>
          </a:prstGeom>
          <a:noFill/>
          <a:ln w="7620">
            <a:solidFill>
              <a:srgbClr val="EEEEEE"/>
            </a:solidFill>
            <a:prstDash val="solid"/>
          </a:ln>
        </p:spPr>
        <p:txBody>
          <a:bodyPr/>
          <a:lstStyle/>
          <a:p>
            <a:endParaRPr lang="en-CA"/>
          </a:p>
        </p:txBody>
      </p:sp>
      <p:sp>
        <p:nvSpPr>
          <p:cNvPr id="78" name="Shape 9">
            <a:extLst>
              <a:ext uri="{FF2B5EF4-FFF2-40B4-BE49-F238E27FC236}">
                <a16:creationId xmlns:a16="http://schemas.microsoft.com/office/drawing/2014/main" id="{C6DEC417-0D49-702E-58FA-CAF4565A56FA}"/>
              </a:ext>
            </a:extLst>
          </p:cNvPr>
          <p:cNvSpPr/>
          <p:nvPr/>
        </p:nvSpPr>
        <p:spPr>
          <a:xfrm flipV="1">
            <a:off x="4869892" y="2005248"/>
            <a:ext cx="895247" cy="0"/>
          </a:xfrm>
          <a:prstGeom prst="line">
            <a:avLst/>
          </a:prstGeom>
          <a:noFill/>
          <a:ln w="7620">
            <a:solidFill>
              <a:srgbClr val="EEEEEE"/>
            </a:solidFill>
            <a:prstDash val="solid"/>
          </a:ln>
        </p:spPr>
        <p:txBody>
          <a:bodyPr/>
          <a:lstStyle/>
          <a:p>
            <a:endParaRPr lang="en-CA"/>
          </a:p>
        </p:txBody>
      </p:sp>
      <p:sp>
        <p:nvSpPr>
          <p:cNvPr id="80" name="Shape 9">
            <a:extLst>
              <a:ext uri="{FF2B5EF4-FFF2-40B4-BE49-F238E27FC236}">
                <a16:creationId xmlns:a16="http://schemas.microsoft.com/office/drawing/2014/main" id="{CABFAFF1-60AD-1FB1-6FAD-FF336396FF73}"/>
              </a:ext>
            </a:extLst>
          </p:cNvPr>
          <p:cNvSpPr/>
          <p:nvPr/>
        </p:nvSpPr>
        <p:spPr>
          <a:xfrm flipV="1">
            <a:off x="6360149" y="2004935"/>
            <a:ext cx="895247" cy="0"/>
          </a:xfrm>
          <a:prstGeom prst="line">
            <a:avLst/>
          </a:prstGeom>
          <a:noFill/>
          <a:ln w="7620">
            <a:solidFill>
              <a:srgbClr val="EEEEEE"/>
            </a:solidFill>
            <a:prstDash val="solid"/>
          </a:ln>
        </p:spPr>
        <p:txBody>
          <a:bodyPr/>
          <a:lstStyle/>
          <a:p>
            <a:endParaRPr lang="en-CA"/>
          </a:p>
        </p:txBody>
      </p:sp>
      <p:sp>
        <p:nvSpPr>
          <p:cNvPr id="83" name="Shape 9">
            <a:extLst>
              <a:ext uri="{FF2B5EF4-FFF2-40B4-BE49-F238E27FC236}">
                <a16:creationId xmlns:a16="http://schemas.microsoft.com/office/drawing/2014/main" id="{56C3F4DC-237B-DE80-34A5-B4EA4C40CB19}"/>
              </a:ext>
            </a:extLst>
          </p:cNvPr>
          <p:cNvSpPr/>
          <p:nvPr/>
        </p:nvSpPr>
        <p:spPr>
          <a:xfrm flipV="1">
            <a:off x="7802383" y="1993024"/>
            <a:ext cx="895247" cy="0"/>
          </a:xfrm>
          <a:prstGeom prst="line">
            <a:avLst/>
          </a:prstGeom>
          <a:noFill/>
          <a:ln w="7620">
            <a:solidFill>
              <a:srgbClr val="EEEEEE"/>
            </a:solidFill>
            <a:prstDash val="solid"/>
          </a:ln>
        </p:spPr>
        <p:txBody>
          <a:bodyPr/>
          <a:lstStyle/>
          <a:p>
            <a:endParaRPr lang="en-CA"/>
          </a:p>
        </p:txBody>
      </p:sp>
      <p:sp>
        <p:nvSpPr>
          <p:cNvPr id="87" name="Shape 9">
            <a:extLst>
              <a:ext uri="{FF2B5EF4-FFF2-40B4-BE49-F238E27FC236}">
                <a16:creationId xmlns:a16="http://schemas.microsoft.com/office/drawing/2014/main" id="{487087E9-4B7E-8FEE-4B96-88E4B4D330B0}"/>
              </a:ext>
            </a:extLst>
          </p:cNvPr>
          <p:cNvSpPr/>
          <p:nvPr/>
        </p:nvSpPr>
        <p:spPr>
          <a:xfrm flipV="1">
            <a:off x="584226" y="2956450"/>
            <a:ext cx="895247" cy="0"/>
          </a:xfrm>
          <a:prstGeom prst="line">
            <a:avLst/>
          </a:prstGeom>
          <a:noFill/>
          <a:ln w="7620">
            <a:solidFill>
              <a:srgbClr val="EEEEEE"/>
            </a:solidFill>
            <a:prstDash val="solid"/>
          </a:ln>
        </p:spPr>
        <p:txBody>
          <a:bodyPr/>
          <a:lstStyle/>
          <a:p>
            <a:endParaRPr lang="en-CA"/>
          </a:p>
        </p:txBody>
      </p:sp>
      <p:sp>
        <p:nvSpPr>
          <p:cNvPr id="91" name="Shape 9">
            <a:extLst>
              <a:ext uri="{FF2B5EF4-FFF2-40B4-BE49-F238E27FC236}">
                <a16:creationId xmlns:a16="http://schemas.microsoft.com/office/drawing/2014/main" id="{57DB751C-051D-863D-DE85-C6766D13D880}"/>
              </a:ext>
            </a:extLst>
          </p:cNvPr>
          <p:cNvSpPr/>
          <p:nvPr/>
        </p:nvSpPr>
        <p:spPr>
          <a:xfrm flipV="1">
            <a:off x="2029338" y="2950057"/>
            <a:ext cx="895247" cy="0"/>
          </a:xfrm>
          <a:prstGeom prst="line">
            <a:avLst/>
          </a:prstGeom>
          <a:noFill/>
          <a:ln w="7620">
            <a:solidFill>
              <a:srgbClr val="EEEEEE"/>
            </a:solidFill>
            <a:prstDash val="solid"/>
          </a:ln>
        </p:spPr>
        <p:txBody>
          <a:bodyPr/>
          <a:lstStyle/>
          <a:p>
            <a:endParaRPr lang="en-CA"/>
          </a:p>
        </p:txBody>
      </p:sp>
      <p:sp>
        <p:nvSpPr>
          <p:cNvPr id="95" name="Shape 9">
            <a:extLst>
              <a:ext uri="{FF2B5EF4-FFF2-40B4-BE49-F238E27FC236}">
                <a16:creationId xmlns:a16="http://schemas.microsoft.com/office/drawing/2014/main" id="{E3EA00E5-C40A-A639-50CB-F3C5013E3D67}"/>
              </a:ext>
            </a:extLst>
          </p:cNvPr>
          <p:cNvSpPr/>
          <p:nvPr/>
        </p:nvSpPr>
        <p:spPr>
          <a:xfrm flipV="1">
            <a:off x="3454086" y="2982249"/>
            <a:ext cx="895247" cy="0"/>
          </a:xfrm>
          <a:prstGeom prst="line">
            <a:avLst/>
          </a:prstGeom>
          <a:noFill/>
          <a:ln w="7620">
            <a:solidFill>
              <a:srgbClr val="EEEEEE"/>
            </a:solidFill>
            <a:prstDash val="solid"/>
          </a:ln>
        </p:spPr>
        <p:txBody>
          <a:bodyPr/>
          <a:lstStyle/>
          <a:p>
            <a:endParaRPr lang="en-CA"/>
          </a:p>
        </p:txBody>
      </p:sp>
      <p:sp>
        <p:nvSpPr>
          <p:cNvPr id="99" name="Shape 9">
            <a:extLst>
              <a:ext uri="{FF2B5EF4-FFF2-40B4-BE49-F238E27FC236}">
                <a16:creationId xmlns:a16="http://schemas.microsoft.com/office/drawing/2014/main" id="{3F509E69-8B26-7F91-3931-15EC19EEDAAD}"/>
              </a:ext>
            </a:extLst>
          </p:cNvPr>
          <p:cNvSpPr/>
          <p:nvPr/>
        </p:nvSpPr>
        <p:spPr>
          <a:xfrm flipV="1">
            <a:off x="4869892" y="2983953"/>
            <a:ext cx="895247" cy="0"/>
          </a:xfrm>
          <a:prstGeom prst="line">
            <a:avLst/>
          </a:prstGeom>
          <a:noFill/>
          <a:ln w="7620">
            <a:solidFill>
              <a:srgbClr val="EEEEEE"/>
            </a:solidFill>
            <a:prstDash val="solid"/>
          </a:ln>
        </p:spPr>
        <p:txBody>
          <a:bodyPr/>
          <a:lstStyle/>
          <a:p>
            <a:endParaRPr lang="en-CA"/>
          </a:p>
        </p:txBody>
      </p:sp>
      <p:sp>
        <p:nvSpPr>
          <p:cNvPr id="101" name="Shape 9">
            <a:extLst>
              <a:ext uri="{FF2B5EF4-FFF2-40B4-BE49-F238E27FC236}">
                <a16:creationId xmlns:a16="http://schemas.microsoft.com/office/drawing/2014/main" id="{4A38BD65-74F3-9568-02A1-BF024C50B053}"/>
              </a:ext>
            </a:extLst>
          </p:cNvPr>
          <p:cNvSpPr/>
          <p:nvPr/>
        </p:nvSpPr>
        <p:spPr>
          <a:xfrm flipV="1">
            <a:off x="6360149" y="2994680"/>
            <a:ext cx="895247" cy="0"/>
          </a:xfrm>
          <a:prstGeom prst="line">
            <a:avLst/>
          </a:prstGeom>
          <a:noFill/>
          <a:ln w="7620">
            <a:solidFill>
              <a:srgbClr val="EEEEEE"/>
            </a:solidFill>
            <a:prstDash val="solid"/>
          </a:ln>
        </p:spPr>
        <p:txBody>
          <a:bodyPr/>
          <a:lstStyle/>
          <a:p>
            <a:endParaRPr lang="en-CA"/>
          </a:p>
        </p:txBody>
      </p:sp>
      <p:sp>
        <p:nvSpPr>
          <p:cNvPr id="105" name="Shape 9">
            <a:extLst>
              <a:ext uri="{FF2B5EF4-FFF2-40B4-BE49-F238E27FC236}">
                <a16:creationId xmlns:a16="http://schemas.microsoft.com/office/drawing/2014/main" id="{05341B58-4974-97DE-4153-63294BD346B5}"/>
              </a:ext>
            </a:extLst>
          </p:cNvPr>
          <p:cNvSpPr/>
          <p:nvPr/>
        </p:nvSpPr>
        <p:spPr>
          <a:xfrm flipV="1">
            <a:off x="7802383" y="2988102"/>
            <a:ext cx="895247" cy="0"/>
          </a:xfrm>
          <a:prstGeom prst="line">
            <a:avLst/>
          </a:prstGeom>
          <a:noFill/>
          <a:ln w="7620">
            <a:solidFill>
              <a:srgbClr val="EEEEEE"/>
            </a:solidFill>
            <a:prstDash val="solid"/>
          </a:ln>
        </p:spPr>
        <p:txBody>
          <a:bodyPr/>
          <a:lstStyle/>
          <a:p>
            <a:endParaRPr lang="en-CA"/>
          </a:p>
        </p:txBody>
      </p:sp>
      <p:sp>
        <p:nvSpPr>
          <p:cNvPr id="113" name="Text 25">
            <a:extLst>
              <a:ext uri="{FF2B5EF4-FFF2-40B4-BE49-F238E27FC236}">
                <a16:creationId xmlns:a16="http://schemas.microsoft.com/office/drawing/2014/main" id="{C0A4F7AF-D610-653C-E3EC-F8F1ABAA530C}"/>
              </a:ext>
            </a:extLst>
          </p:cNvPr>
          <p:cNvSpPr/>
          <p:nvPr/>
        </p:nvSpPr>
        <p:spPr>
          <a:xfrm>
            <a:off x="3055790" y="2348581"/>
            <a:ext cx="250089" cy="329184"/>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115" name="Text 25">
            <a:extLst>
              <a:ext uri="{FF2B5EF4-FFF2-40B4-BE49-F238E27FC236}">
                <a16:creationId xmlns:a16="http://schemas.microsoft.com/office/drawing/2014/main" id="{32BCC4A6-86EA-AF10-EA1F-8DF0421B324A}"/>
              </a:ext>
            </a:extLst>
          </p:cNvPr>
          <p:cNvSpPr/>
          <p:nvPr/>
        </p:nvSpPr>
        <p:spPr>
          <a:xfrm>
            <a:off x="4491252" y="2336389"/>
            <a:ext cx="250089" cy="329184"/>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117" name="Text 25">
            <a:extLst>
              <a:ext uri="{FF2B5EF4-FFF2-40B4-BE49-F238E27FC236}">
                <a16:creationId xmlns:a16="http://schemas.microsoft.com/office/drawing/2014/main" id="{1F688114-0FD0-8F58-F616-2DB199E4EEA8}"/>
              </a:ext>
            </a:extLst>
          </p:cNvPr>
          <p:cNvSpPr/>
          <p:nvPr/>
        </p:nvSpPr>
        <p:spPr>
          <a:xfrm>
            <a:off x="5924194" y="2348581"/>
            <a:ext cx="250089" cy="329184"/>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
        <p:nvSpPr>
          <p:cNvPr id="119" name="Text 25">
            <a:extLst>
              <a:ext uri="{FF2B5EF4-FFF2-40B4-BE49-F238E27FC236}">
                <a16:creationId xmlns:a16="http://schemas.microsoft.com/office/drawing/2014/main" id="{B3BCCC02-6681-4406-F63B-9369EACF6404}"/>
              </a:ext>
            </a:extLst>
          </p:cNvPr>
          <p:cNvSpPr/>
          <p:nvPr/>
        </p:nvSpPr>
        <p:spPr>
          <a:xfrm>
            <a:off x="7385334" y="2340296"/>
            <a:ext cx="250089" cy="329184"/>
          </a:xfrm>
          <a:prstGeom prst="rect">
            <a:avLst/>
          </a:prstGeom>
          <a:noFill/>
          <a:ln/>
        </p:spPr>
        <p:txBody>
          <a:bodyPr wrap="square" lIns="0" tIns="0" rIns="0" bIns="0" rtlCol="0" anchor="ctr"/>
          <a:lstStyle/>
          <a:p>
            <a:pPr marL="0" indent="0" algn="ctr">
              <a:buNone/>
            </a:pPr>
            <a:r>
              <a:rPr lang="en-US" sz="1400" b="1" dirty="0">
                <a:solidFill>
                  <a:srgbClr val="C9A84C"/>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453044" y="1108156"/>
            <a:ext cx="3433156" cy="2174540"/>
          </a:xfrm>
          <a:prstGeom prst="roundRect">
            <a:avLst>
              <a:gd name="adj" fmla="val 1379"/>
            </a:avLst>
          </a:prstGeom>
          <a:solidFill>
            <a:srgbClr val="F8F8F8"/>
          </a:solidFill>
          <a:ln w="6350">
            <a:solidFill>
              <a:srgbClr val="EEEEEE"/>
            </a:solidFill>
            <a:prstDash val="solid"/>
          </a:ln>
        </p:spPr>
        <p:txBody>
          <a:bodyPr/>
          <a:lstStyle/>
          <a:p>
            <a:endParaRPr lang="en-CA"/>
          </a:p>
        </p:txBody>
      </p:sp>
      <p:sp>
        <p:nvSpPr>
          <p:cNvPr id="7" name="Text 4"/>
          <p:cNvSpPr/>
          <p:nvPr/>
        </p:nvSpPr>
        <p:spPr>
          <a:xfrm>
            <a:off x="453044" y="866881"/>
            <a:ext cx="1828800" cy="155448"/>
          </a:xfrm>
          <a:prstGeom prst="rect">
            <a:avLst/>
          </a:prstGeom>
          <a:noFill/>
          <a:ln/>
        </p:spPr>
        <p:txBody>
          <a:bodyPr wrap="square" lIns="0" tIns="0" rIns="0" bIns="0" rtlCol="0" anchor="ctr"/>
          <a:lstStyle/>
          <a:p>
            <a:pPr marL="0" indent="0">
              <a:buNone/>
            </a:pPr>
            <a:r>
              <a:rPr lang="en-US" sz="900" kern="0" spc="200" dirty="0">
                <a:solidFill>
                  <a:srgbClr val="BBBBBB"/>
                </a:solidFill>
              </a:rPr>
              <a:t>FORMULES</a:t>
            </a:r>
          </a:p>
        </p:txBody>
      </p:sp>
      <mc:AlternateContent xmlns:mc="http://schemas.openxmlformats.org/markup-compatibility/2006" xmlns:a14="http://schemas.microsoft.com/office/drawing/2010/main">
        <mc:Choice Requires="a14">
          <p:sp>
            <p:nvSpPr>
              <p:cNvPr id="8" name="Text 5"/>
              <p:cNvSpPr/>
              <p:nvPr/>
            </p:nvSpPr>
            <p:spPr>
              <a:xfrm>
                <a:off x="365760" y="1417320"/>
                <a:ext cx="3520440" cy="365760"/>
              </a:xfrm>
              <a:prstGeom prst="rect">
                <a:avLst/>
              </a:prstGeom>
              <a:noFill/>
              <a:ln/>
            </p:spPr>
            <p:txBody>
              <a:bodyPr wrap="square" lIns="0" tIns="0" rIns="0" bIns="0" rtlCol="0" anchor="ctr"/>
              <a:lstStyle/>
              <a:p>
                <a:pPr/>
                <a14:m>
                  <m:oMathPara xmlns:m="http://schemas.openxmlformats.org/officeDocument/2006/math">
                    <m:oMathParaPr>
                      <m:jc m:val="centerGroup"/>
                    </m:oMathParaPr>
                    <m:oMath xmlns:m="http://schemas.openxmlformats.org/officeDocument/2006/math">
                      <m:r>
                        <a:rPr lang="en-US" sz="900" b="1" i="1" dirty="0">
                          <a:solidFill>
                            <a:srgbClr val="1A1A1A"/>
                          </a:solidFill>
                          <a:latin typeface="Cambria Math" panose="02040503050406030204" pitchFamily="18" charset="0"/>
                        </a:rPr>
                        <m:t>𝑰𝑪</m:t>
                      </m:r>
                      <m:r>
                        <a:rPr lang="en-US" sz="900" b="1" i="1" dirty="0">
                          <a:solidFill>
                            <a:srgbClr val="1A1A1A"/>
                          </a:solidFill>
                          <a:latin typeface="Cambria Math" panose="02040503050406030204" pitchFamily="18" charset="0"/>
                        </a:rPr>
                        <m:t>𝟗𝟓</m:t>
                      </m:r>
                      <m:r>
                        <a:rPr lang="en-US" sz="900" b="1" i="1" dirty="0">
                          <a:solidFill>
                            <a:srgbClr val="1A1A1A"/>
                          </a:solidFill>
                          <a:latin typeface="Cambria Math" panose="02040503050406030204" pitchFamily="18" charset="0"/>
                        </a:rPr>
                        <m:t> (</m:t>
                      </m:r>
                      <m:r>
                        <a:rPr lang="en-US" sz="900" b="1" i="1" dirty="0">
                          <a:solidFill>
                            <a:srgbClr val="1A1A1A"/>
                          </a:solidFill>
                          <a:latin typeface="Cambria Math" panose="02040503050406030204" pitchFamily="18" charset="0"/>
                        </a:rPr>
                        <m:t>𝒏</m:t>
                      </m:r>
                      <m:r>
                        <a:rPr lang="en-US" sz="900" b="1" i="1" dirty="0">
                          <a:solidFill>
                            <a:srgbClr val="1A1A1A"/>
                          </a:solidFill>
                          <a:latin typeface="Cambria Math" panose="02040503050406030204" pitchFamily="18" charset="0"/>
                        </a:rPr>
                        <m:t>≥</m:t>
                      </m:r>
                      <m:r>
                        <a:rPr lang="en-US" sz="900" b="1" i="1" dirty="0">
                          <a:solidFill>
                            <a:srgbClr val="1A1A1A"/>
                          </a:solidFill>
                          <a:latin typeface="Cambria Math" panose="02040503050406030204" pitchFamily="18" charset="0"/>
                        </a:rPr>
                        <m:t>𝟑𝟎</m:t>
                      </m:r>
                      <m:r>
                        <a:rPr lang="en-US" sz="900" b="1" i="1" dirty="0">
                          <a:solidFill>
                            <a:srgbClr val="1A1A1A"/>
                          </a:solidFill>
                          <a:latin typeface="Cambria Math" panose="02040503050406030204" pitchFamily="18" charset="0"/>
                        </a:rPr>
                        <m:t>) ≈ </m:t>
                      </m:r>
                      <m:r>
                        <a:rPr lang="en-US" sz="900" b="1" i="1" dirty="0">
                          <a:solidFill>
                            <a:srgbClr val="1A1A1A"/>
                          </a:solidFill>
                          <a:latin typeface="Cambria Math" panose="02040503050406030204" pitchFamily="18" charset="0"/>
                        </a:rPr>
                        <m:t>𝟏</m:t>
                      </m:r>
                      <m:r>
                        <a:rPr lang="en-US" sz="900" b="1" i="1" dirty="0">
                          <a:solidFill>
                            <a:srgbClr val="1A1A1A"/>
                          </a:solidFill>
                          <a:latin typeface="Cambria Math" panose="02040503050406030204" pitchFamily="18" charset="0"/>
                        </a:rPr>
                        <m:t>,</m:t>
                      </m:r>
                      <m:r>
                        <a:rPr lang="en-US" sz="900" b="1" i="1" dirty="0">
                          <a:solidFill>
                            <a:srgbClr val="1A1A1A"/>
                          </a:solidFill>
                          <a:latin typeface="Cambria Math" panose="02040503050406030204" pitchFamily="18" charset="0"/>
                        </a:rPr>
                        <m:t>𝟗𝟔</m:t>
                      </m:r>
                      <m:r>
                        <a:rPr lang="en-US" sz="900" b="1" i="1" dirty="0">
                          <a:solidFill>
                            <a:srgbClr val="1A1A1A"/>
                          </a:solidFill>
                          <a:latin typeface="Cambria Math" panose="02040503050406030204" pitchFamily="18" charset="0"/>
                        </a:rPr>
                        <m:t> × </m:t>
                      </m:r>
                      <m:r>
                        <a:rPr lang="el-GR" sz="900" b="1" i="1" dirty="0" smtClean="0">
                          <a:solidFill>
                            <a:srgbClr val="1A1A1A"/>
                          </a:solidFill>
                          <a:latin typeface="Cambria Math" panose="02040503050406030204" pitchFamily="18" charset="0"/>
                        </a:rPr>
                        <m:t>𝝈</m:t>
                      </m:r>
                      <m:r>
                        <a:rPr lang="el-GR" sz="900" b="1" i="1" dirty="0" smtClean="0">
                          <a:solidFill>
                            <a:srgbClr val="1A1A1A"/>
                          </a:solidFill>
                          <a:latin typeface="Cambria Math" panose="02040503050406030204" pitchFamily="18" charset="0"/>
                        </a:rPr>
                        <m:t> </m:t>
                      </m:r>
                      <m:rad>
                        <m:radPr>
                          <m:degHide m:val="on"/>
                          <m:ctrlPr>
                            <a:rPr lang="el-GR" sz="900" b="1" i="1" dirty="0" smtClean="0">
                              <a:solidFill>
                                <a:srgbClr val="1A1A1A"/>
                              </a:solidFill>
                              <a:latin typeface="Cambria Math" panose="02040503050406030204" pitchFamily="18" charset="0"/>
                            </a:rPr>
                          </m:ctrlPr>
                        </m:radPr>
                        <m:deg/>
                        <m:e>
                          <m:r>
                            <a:rPr lang="fr-CA" sz="900" b="1" i="1" dirty="0" smtClean="0">
                              <a:solidFill>
                                <a:srgbClr val="1A1A1A"/>
                              </a:solidFill>
                              <a:latin typeface="Cambria Math" panose="02040503050406030204" pitchFamily="18" charset="0"/>
                            </a:rPr>
                            <m:t>𝒏</m:t>
                          </m:r>
                        </m:e>
                      </m:rad>
                    </m:oMath>
                  </m:oMathPara>
                </a14:m>
                <a:endParaRPr/>
              </a:p>
            </p:txBody>
          </p:sp>
        </mc:Choice>
        <mc:Fallback xmlns="">
          <p:sp>
            <p:nvSpPr>
              <p:cNvPr id="8" name="Text 5"/>
              <p:cNvSpPr>
                <a:spLocks noRot="1" noChangeAspect="1" noMove="1" noResize="1" noEditPoints="1" noAdjustHandles="1" noChangeArrowheads="1" noChangeShapeType="1" noTextEdit="1"/>
              </p:cNvSpPr>
              <p:nvPr/>
            </p:nvSpPr>
            <p:spPr>
              <a:xfrm>
                <a:off x="365760" y="1417320"/>
                <a:ext cx="3520440" cy="365760"/>
              </a:xfrm>
              <a:prstGeom prst="rect">
                <a:avLst/>
              </a:prstGeom>
              <a:blipFill>
                <a:blip r:embed="rId3"/>
                <a:stretch>
                  <a:fillRect/>
                </a:stretch>
              </a:blipFill>
              <a:ln/>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 name="Text 6"/>
              <p:cNvSpPr/>
              <p:nvPr/>
            </p:nvSpPr>
            <p:spPr>
              <a:xfrm>
                <a:off x="502920" y="1842274"/>
                <a:ext cx="3383280" cy="534439"/>
              </a:xfrm>
              <a:prstGeom prst="rect">
                <a:avLst/>
              </a:prstGeom>
              <a:noFill/>
              <a:ln/>
            </p:spPr>
            <p:txBody>
              <a:bodyPr wrap="square" lIns="0" tIns="0" rIns="0" bIns="0" rtlCol="0" anchor="ctr"/>
              <a:lstStyle/>
              <a:p>
                <a:pPr/>
                <a14:m>
                  <m:oMathPara xmlns:m="http://schemas.openxmlformats.org/officeDocument/2006/math">
                    <m:oMathParaPr>
                      <m:jc m:val="centerGroup"/>
                    </m:oMathParaPr>
                    <m:oMath xmlns:m="http://schemas.openxmlformats.org/officeDocument/2006/math">
                      <m:r>
                        <a:rPr lang="en-US" sz="900" b="1" i="1" dirty="0" smtClean="0">
                          <a:latin typeface="Cambria Math" panose="02040503050406030204" pitchFamily="18" charset="0"/>
                          <a:cs typeface="Courier New" pitchFamily="34" charset="-120"/>
                        </a:rPr>
                        <m:t>𝑰𝑪</m:t>
                      </m:r>
                      <m:r>
                        <a:rPr lang="en-US" sz="900" b="1" i="1" dirty="0" smtClean="0">
                          <a:latin typeface="Cambria Math" panose="02040503050406030204" pitchFamily="18" charset="0"/>
                          <a:cs typeface="Courier New" pitchFamily="34" charset="-120"/>
                        </a:rPr>
                        <m:t>𝟗𝟓</m:t>
                      </m:r>
                      <m:r>
                        <a:rPr lang="en-US" sz="900" b="1" i="1" dirty="0" smtClean="0">
                          <a:latin typeface="Cambria Math" panose="02040503050406030204" pitchFamily="18" charset="0"/>
                          <a:cs typeface="Courier New" pitchFamily="34" charset="-120"/>
                        </a:rPr>
                        <m:t> </m:t>
                      </m:r>
                      <m:r>
                        <a:rPr lang="en-US" sz="900" b="1" i="1" dirty="0" smtClean="0">
                          <a:latin typeface="Cambria Math" panose="02040503050406030204" pitchFamily="18" charset="0"/>
                          <a:cs typeface="Courier New" pitchFamily="34" charset="-120"/>
                        </a:rPr>
                        <m:t>𝒓𝒆𝒍𝒂𝒕𝒊𝒇</m:t>
                      </m:r>
                      <m:r>
                        <a:rPr lang="fr-CA" sz="900" b="1" i="1" dirty="0" smtClean="0">
                          <a:latin typeface="Cambria Math" panose="02040503050406030204" pitchFamily="18" charset="0"/>
                          <a:cs typeface="Courier New" pitchFamily="34" charset="-120"/>
                        </a:rPr>
                        <m:t> </m:t>
                      </m:r>
                      <m:d>
                        <m:dPr>
                          <m:ctrlPr>
                            <a:rPr lang="en-US" sz="900" b="1" i="1" dirty="0" smtClean="0">
                              <a:latin typeface="Cambria Math" panose="02040503050406030204" pitchFamily="18" charset="0"/>
                              <a:cs typeface="Courier New" pitchFamily="34" charset="-120"/>
                            </a:rPr>
                          </m:ctrlPr>
                        </m:dPr>
                        <m:e>
                          <m:r>
                            <a:rPr lang="en-US" sz="900" b="1" i="1" dirty="0" smtClean="0">
                              <a:latin typeface="Cambria Math" panose="02040503050406030204" pitchFamily="18" charset="0"/>
                              <a:cs typeface="Courier New" pitchFamily="34" charset="-120"/>
                            </a:rPr>
                            <m:t>%</m:t>
                          </m:r>
                        </m:e>
                      </m:d>
                      <m:r>
                        <a:rPr lang="en-US" sz="900" b="1" i="1" dirty="0" smtClean="0">
                          <a:latin typeface="Cambria Math" panose="02040503050406030204" pitchFamily="18" charset="0"/>
                          <a:cs typeface="Courier New" pitchFamily="34" charset="-120"/>
                        </a:rPr>
                        <m:t>= </m:t>
                      </m:r>
                      <m:f>
                        <m:fPr>
                          <m:ctrlPr>
                            <a:rPr lang="en-US" sz="900" b="1" i="1" dirty="0" smtClean="0">
                              <a:latin typeface="Cambria Math" panose="02040503050406030204" pitchFamily="18" charset="0"/>
                              <a:cs typeface="Courier New" pitchFamily="34" charset="-120"/>
                            </a:rPr>
                          </m:ctrlPr>
                        </m:fPr>
                        <m:num>
                          <m:r>
                            <a:rPr lang="en-US" sz="900" b="1" i="1" dirty="0">
                              <a:latin typeface="Cambria Math" panose="02040503050406030204" pitchFamily="18" charset="0"/>
                              <a:cs typeface="Courier New" pitchFamily="34" charset="-120"/>
                            </a:rPr>
                            <m:t>𝒄𝒊</m:t>
                          </m:r>
                          <m:r>
                            <a:rPr lang="en-US" sz="900" b="1" i="1" dirty="0">
                              <a:latin typeface="Cambria Math" panose="02040503050406030204" pitchFamily="18" charset="0"/>
                              <a:cs typeface="Courier New" pitchFamily="34" charset="-120"/>
                            </a:rPr>
                            <m:t>𝟗𝟓</m:t>
                          </m:r>
                          <m:r>
                            <a:rPr lang="en-US" sz="900" b="1" i="1" dirty="0">
                              <a:latin typeface="Cambria Math" panose="02040503050406030204" pitchFamily="18" charset="0"/>
                              <a:cs typeface="Courier New" pitchFamily="34" charset="-120"/>
                            </a:rPr>
                            <m:t>_</m:t>
                          </m:r>
                          <m:r>
                            <a:rPr lang="en-US" sz="900" b="1" i="1" dirty="0">
                              <a:latin typeface="Cambria Math" panose="02040503050406030204" pitchFamily="18" charset="0"/>
                              <a:cs typeface="Courier New" pitchFamily="34" charset="-120"/>
                            </a:rPr>
                            <m:t>𝒆𝒏𝒄𝒓𝒚𝒑𝒕</m:t>
                          </m:r>
                          <m:r>
                            <a:rPr lang="en-US" sz="900" b="1" i="1" dirty="0">
                              <a:latin typeface="Cambria Math" panose="02040503050406030204" pitchFamily="18" charset="0"/>
                              <a:cs typeface="Courier New" pitchFamily="34" charset="-120"/>
                            </a:rPr>
                            <m:t>_</m:t>
                          </m:r>
                          <m:r>
                            <a:rPr lang="en-US" sz="900" b="1" i="1" dirty="0">
                              <a:latin typeface="Cambria Math" panose="02040503050406030204" pitchFamily="18" charset="0"/>
                              <a:cs typeface="Courier New" pitchFamily="34" charset="-120"/>
                            </a:rPr>
                            <m:t>𝒎𝒃𝒑𝒔</m:t>
                          </m:r>
                        </m:num>
                        <m:den>
                          <m:r>
                            <a:rPr lang="en-US" sz="900" b="1" i="1" dirty="0">
                              <a:latin typeface="Cambria Math" panose="02040503050406030204" pitchFamily="18" charset="0"/>
                              <a:cs typeface="Courier New" pitchFamily="34" charset="-120"/>
                            </a:rPr>
                            <m:t>𝒕𝒉𝒓𝒐𝒖𝒈𝒉𝒑𝒖𝒕</m:t>
                          </m:r>
                          <m:r>
                            <a:rPr lang="en-US" sz="900" b="1" i="1" dirty="0">
                              <a:latin typeface="Cambria Math" panose="02040503050406030204" pitchFamily="18" charset="0"/>
                              <a:cs typeface="Courier New" pitchFamily="34" charset="-120"/>
                            </a:rPr>
                            <m:t>_</m:t>
                          </m:r>
                          <m:r>
                            <a:rPr lang="en-US" sz="900" b="1" i="1" dirty="0">
                              <a:latin typeface="Cambria Math" panose="02040503050406030204" pitchFamily="18" charset="0"/>
                              <a:cs typeface="Courier New" pitchFamily="34" charset="-120"/>
                            </a:rPr>
                            <m:t>𝒆𝒏𝒄𝒓𝒚𝒑𝒕</m:t>
                          </m:r>
                          <m:r>
                            <a:rPr lang="en-US" sz="900" b="1" i="1" dirty="0">
                              <a:latin typeface="Cambria Math" panose="02040503050406030204" pitchFamily="18" charset="0"/>
                              <a:cs typeface="Courier New" pitchFamily="34" charset="-120"/>
                            </a:rPr>
                            <m:t>_</m:t>
                          </m:r>
                          <m:r>
                            <a:rPr lang="en-US" sz="900" b="1" i="1" dirty="0">
                              <a:latin typeface="Cambria Math" panose="02040503050406030204" pitchFamily="18" charset="0"/>
                              <a:cs typeface="Courier New" pitchFamily="34" charset="-120"/>
                            </a:rPr>
                            <m:t>𝒎𝒃𝒑𝒔</m:t>
                          </m:r>
                        </m:den>
                      </m:f>
                      <m:r>
                        <a:rPr lang="en-US" sz="900" b="1" i="1" dirty="0">
                          <a:latin typeface="Cambria Math" panose="02040503050406030204" pitchFamily="18" charset="0"/>
                          <a:cs typeface="Courier New" pitchFamily="34" charset="-120"/>
                        </a:rPr>
                        <m:t> × </m:t>
                      </m:r>
                      <m:r>
                        <a:rPr lang="en-US" sz="900" b="1" i="1" dirty="0">
                          <a:latin typeface="Cambria Math" panose="02040503050406030204" pitchFamily="18" charset="0"/>
                          <a:cs typeface="Courier New" pitchFamily="34" charset="-120"/>
                        </a:rPr>
                        <m:t>𝟏𝟎𝟎</m:t>
                      </m:r>
                    </m:oMath>
                  </m:oMathPara>
                </a14:m>
                <a:endParaRPr/>
              </a:p>
            </p:txBody>
          </p:sp>
        </mc:Choice>
        <mc:Fallback xmlns="">
          <p:sp>
            <p:nvSpPr>
              <p:cNvPr id="9" name="Text 6"/>
              <p:cNvSpPr>
                <a:spLocks noRot="1" noChangeAspect="1" noMove="1" noResize="1" noEditPoints="1" noAdjustHandles="1" noChangeArrowheads="1" noChangeShapeType="1" noTextEdit="1"/>
              </p:cNvSpPr>
              <p:nvPr/>
            </p:nvSpPr>
            <p:spPr>
              <a:xfrm>
                <a:off x="502920" y="1842274"/>
                <a:ext cx="3383280" cy="534439"/>
              </a:xfrm>
              <a:prstGeom prst="rect">
                <a:avLst/>
              </a:prstGeom>
              <a:blipFill>
                <a:blip r:embed="rId4"/>
                <a:stretch>
                  <a:fillRect/>
                </a:stretch>
              </a:blipFill>
              <a:ln/>
            </p:spPr>
            <p:txBody>
              <a:bodyPr/>
              <a:lstStyle/>
              <a:p>
                <a:r>
                  <a:rPr lang="en-CA">
                    <a:noFill/>
                  </a:rPr>
                  <a:t> </a:t>
                </a:r>
              </a:p>
            </p:txBody>
          </p:sp>
        </mc:Fallback>
      </mc:AlternateContent>
      <p:sp>
        <p:nvSpPr>
          <p:cNvPr id="11" name="Text 8"/>
          <p:cNvSpPr/>
          <p:nvPr/>
        </p:nvSpPr>
        <p:spPr>
          <a:xfrm>
            <a:off x="595468" y="2754561"/>
            <a:ext cx="3291840" cy="201168"/>
          </a:xfrm>
          <a:prstGeom prst="rect">
            <a:avLst/>
          </a:prstGeom>
          <a:noFill/>
          <a:ln/>
        </p:spPr>
        <p:txBody>
          <a:bodyPr wrap="square" lIns="0" tIns="0" rIns="0" bIns="0" rtlCol="0" anchor="ctr"/>
          <a:lstStyle/>
          <a:p>
            <a:pPr marL="0" indent="0">
              <a:buNone/>
            </a:pPr>
            <a:r>
              <a:rPr lang="fr-FR" sz="1000" dirty="0">
                <a:solidFill>
                  <a:schemeClr val="tx1">
                    <a:lumMod val="50000"/>
                    <a:lumOff val="50000"/>
                  </a:schemeClr>
                </a:solidFill>
              </a:rPr>
              <a:t>Paramètres utilisés : n = 100 · confiance = 95 % · z = 1,96</a:t>
            </a:r>
            <a:endParaRPr lang="en-US" sz="1000" dirty="0">
              <a:solidFill>
                <a:schemeClr val="tx1">
                  <a:lumMod val="50000"/>
                  <a:lumOff val="50000"/>
                </a:schemeClr>
              </a:solidFill>
            </a:endParaRPr>
          </a:p>
        </p:txBody>
      </p:sp>
      <p:sp>
        <p:nvSpPr>
          <p:cNvPr id="13" name="Text 9"/>
          <p:cNvSpPr/>
          <p:nvPr/>
        </p:nvSpPr>
        <p:spPr>
          <a:xfrm>
            <a:off x="4110644" y="864871"/>
            <a:ext cx="1225296" cy="155448"/>
          </a:xfrm>
          <a:prstGeom prst="rect">
            <a:avLst/>
          </a:prstGeom>
          <a:noFill/>
          <a:ln/>
        </p:spPr>
        <p:txBody>
          <a:bodyPr wrap="square" lIns="0" tIns="0" rIns="0" bIns="0" rtlCol="0" anchor="ctr"/>
          <a:lstStyle/>
          <a:p>
            <a:pPr marL="0" indent="0">
              <a:buNone/>
            </a:pPr>
            <a:r>
              <a:rPr lang="en-US" sz="900" kern="0" spc="200" dirty="0">
                <a:solidFill>
                  <a:srgbClr val="BBBBBB"/>
                </a:solidFill>
              </a:rPr>
              <a:t>INTERPRÉTATION</a:t>
            </a:r>
            <a:endParaRPr lang="en-US" sz="900" dirty="0"/>
          </a:p>
        </p:txBody>
      </p:sp>
      <p:sp>
        <p:nvSpPr>
          <p:cNvPr id="14" name="Shape 10"/>
          <p:cNvSpPr/>
          <p:nvPr/>
        </p:nvSpPr>
        <p:spPr>
          <a:xfrm>
            <a:off x="4069080" y="1097280"/>
            <a:ext cx="4709160" cy="667512"/>
          </a:xfrm>
          <a:prstGeom prst="roundRect">
            <a:avLst>
              <a:gd name="adj" fmla="val 9589"/>
            </a:avLst>
          </a:prstGeom>
          <a:solidFill>
            <a:srgbClr val="F0FAF4"/>
          </a:solidFill>
          <a:ln w="6350">
            <a:solidFill>
              <a:srgbClr val="D6F3E5"/>
            </a:solidFill>
            <a:prstDash val="solid"/>
          </a:ln>
        </p:spPr>
        <p:txBody>
          <a:bodyPr/>
          <a:lstStyle/>
          <a:p>
            <a:endParaRPr lang="en-CA" sz="1400"/>
          </a:p>
        </p:txBody>
      </p:sp>
      <p:sp>
        <p:nvSpPr>
          <p:cNvPr id="15" name="Shape 11"/>
          <p:cNvSpPr/>
          <p:nvPr/>
        </p:nvSpPr>
        <p:spPr>
          <a:xfrm>
            <a:off x="4224528" y="1252728"/>
            <a:ext cx="347472" cy="347472"/>
          </a:xfrm>
          <a:prstGeom prst="ellipse">
            <a:avLst/>
          </a:prstGeom>
          <a:solidFill>
            <a:srgbClr val="D6F3E5"/>
          </a:solidFill>
          <a:ln w="12700">
            <a:solidFill>
              <a:srgbClr val="D6F3E5"/>
            </a:solidFill>
            <a:prstDash val="solid"/>
          </a:ln>
        </p:spPr>
        <p:txBody>
          <a:bodyPr/>
          <a:lstStyle/>
          <a:p>
            <a:endParaRPr lang="en-CA" sz="1400"/>
          </a:p>
        </p:txBody>
      </p:sp>
      <p:pic>
        <p:nvPicPr>
          <p:cNvPr id="16" name="Image 2" descr="preencoded.png"/>
          <p:cNvPicPr>
            <a:picLocks noChangeAspect="1"/>
          </p:cNvPicPr>
          <p:nvPr/>
        </p:nvPicPr>
        <p:blipFill>
          <a:blip r:embed="rId5">
            <a:alphaModFix amt="40000"/>
          </a:blip>
          <a:stretch>
            <a:fillRect/>
          </a:stretch>
        </p:blipFill>
        <p:spPr>
          <a:xfrm>
            <a:off x="4288536" y="1316736"/>
            <a:ext cx="219456" cy="219456"/>
          </a:xfrm>
          <a:prstGeom prst="rect">
            <a:avLst/>
          </a:prstGeom>
        </p:spPr>
      </p:pic>
      <p:sp>
        <p:nvSpPr>
          <p:cNvPr id="17" name="Text 12"/>
          <p:cNvSpPr/>
          <p:nvPr/>
        </p:nvSpPr>
        <p:spPr>
          <a:xfrm>
            <a:off x="4681728" y="1216152"/>
            <a:ext cx="749808" cy="411480"/>
          </a:xfrm>
          <a:prstGeom prst="rect">
            <a:avLst/>
          </a:prstGeom>
          <a:noFill/>
          <a:ln/>
        </p:spPr>
        <p:txBody>
          <a:bodyPr wrap="square" lIns="0" tIns="0" rIns="0" bIns="0" rtlCol="0" anchor="ctr"/>
          <a:lstStyle/>
          <a:p>
            <a:pPr marL="0" indent="0">
              <a:buNone/>
            </a:pPr>
            <a:r>
              <a:rPr lang="en-US" sz="1200" b="1" dirty="0">
                <a:solidFill>
                  <a:srgbClr val="0A0A0A"/>
                </a:solidFill>
              </a:rPr>
              <a:t>≤ 5 %</a:t>
            </a:r>
            <a:endParaRPr lang="en-US" sz="1200" dirty="0"/>
          </a:p>
        </p:txBody>
      </p:sp>
      <p:sp>
        <p:nvSpPr>
          <p:cNvPr id="18" name="Text 13"/>
          <p:cNvSpPr/>
          <p:nvPr/>
        </p:nvSpPr>
        <p:spPr>
          <a:xfrm>
            <a:off x="5335940" y="1197864"/>
            <a:ext cx="2473036" cy="457200"/>
          </a:xfrm>
          <a:prstGeom prst="rect">
            <a:avLst/>
          </a:prstGeom>
          <a:noFill/>
          <a:ln/>
        </p:spPr>
        <p:txBody>
          <a:bodyPr wrap="square" lIns="0" tIns="0" rIns="0" bIns="0" rtlCol="0" anchor="ctr"/>
          <a:lstStyle/>
          <a:p>
            <a:pPr marL="0" indent="0">
              <a:buNone/>
            </a:pPr>
            <a:r>
              <a:rPr lang="en-US" sz="1000" dirty="0">
                <a:solidFill>
                  <a:srgbClr val="666666"/>
                </a:solidFill>
              </a:rPr>
              <a:t>Variabilité faible — résultat fiable</a:t>
            </a:r>
            <a:endParaRPr lang="en-US" sz="1000" dirty="0"/>
          </a:p>
        </p:txBody>
      </p:sp>
      <p:sp>
        <p:nvSpPr>
          <p:cNvPr id="19" name="Shape 14"/>
          <p:cNvSpPr/>
          <p:nvPr/>
        </p:nvSpPr>
        <p:spPr>
          <a:xfrm>
            <a:off x="7927848" y="1298448"/>
            <a:ext cx="713232" cy="256032"/>
          </a:xfrm>
          <a:prstGeom prst="roundRect">
            <a:avLst>
              <a:gd name="adj" fmla="val 107143"/>
            </a:avLst>
          </a:prstGeom>
          <a:solidFill>
            <a:srgbClr val="D6F3E5"/>
          </a:solidFill>
          <a:ln w="12700">
            <a:solidFill>
              <a:srgbClr val="D6F3E5"/>
            </a:solidFill>
            <a:prstDash val="solid"/>
          </a:ln>
        </p:spPr>
        <p:txBody>
          <a:bodyPr/>
          <a:lstStyle/>
          <a:p>
            <a:endParaRPr lang="en-CA" sz="1400"/>
          </a:p>
        </p:txBody>
      </p:sp>
      <p:sp>
        <p:nvSpPr>
          <p:cNvPr id="20" name="Text 15"/>
          <p:cNvSpPr/>
          <p:nvPr/>
        </p:nvSpPr>
        <p:spPr>
          <a:xfrm>
            <a:off x="7955280" y="1298448"/>
            <a:ext cx="658368" cy="256032"/>
          </a:xfrm>
          <a:prstGeom prst="rect">
            <a:avLst/>
          </a:prstGeom>
          <a:noFill/>
          <a:ln/>
        </p:spPr>
        <p:txBody>
          <a:bodyPr wrap="square" lIns="0" tIns="0" rIns="0" bIns="0" rtlCol="0" anchor="ctr"/>
          <a:lstStyle/>
          <a:p>
            <a:pPr marL="0" indent="0" algn="ctr">
              <a:buNone/>
            </a:pPr>
            <a:r>
              <a:rPr lang="en-US" sz="800" b="1" dirty="0">
                <a:solidFill>
                  <a:srgbClr val="2E7D52"/>
                </a:solidFill>
              </a:rPr>
              <a:t>Très bon</a:t>
            </a:r>
            <a:endParaRPr lang="en-US" sz="800" dirty="0"/>
          </a:p>
        </p:txBody>
      </p:sp>
      <p:sp>
        <p:nvSpPr>
          <p:cNvPr id="21" name="Shape 16"/>
          <p:cNvSpPr/>
          <p:nvPr/>
        </p:nvSpPr>
        <p:spPr>
          <a:xfrm>
            <a:off x="4069080" y="1856232"/>
            <a:ext cx="4709160" cy="667512"/>
          </a:xfrm>
          <a:prstGeom prst="roundRect">
            <a:avLst>
              <a:gd name="adj" fmla="val 9589"/>
            </a:avLst>
          </a:prstGeom>
          <a:solidFill>
            <a:srgbClr val="FEF9EE"/>
          </a:solidFill>
          <a:ln w="6350">
            <a:solidFill>
              <a:srgbClr val="FDE8B4"/>
            </a:solidFill>
            <a:prstDash val="solid"/>
          </a:ln>
        </p:spPr>
        <p:txBody>
          <a:bodyPr/>
          <a:lstStyle/>
          <a:p>
            <a:endParaRPr lang="en-CA" sz="1400"/>
          </a:p>
        </p:txBody>
      </p:sp>
      <p:sp>
        <p:nvSpPr>
          <p:cNvPr id="22" name="Shape 17"/>
          <p:cNvSpPr/>
          <p:nvPr/>
        </p:nvSpPr>
        <p:spPr>
          <a:xfrm>
            <a:off x="4224528" y="2011680"/>
            <a:ext cx="347472" cy="347472"/>
          </a:xfrm>
          <a:prstGeom prst="ellipse">
            <a:avLst/>
          </a:prstGeom>
          <a:solidFill>
            <a:srgbClr val="FDE8B4"/>
          </a:solidFill>
          <a:ln w="12700">
            <a:solidFill>
              <a:srgbClr val="FDE8B4"/>
            </a:solidFill>
            <a:prstDash val="solid"/>
          </a:ln>
        </p:spPr>
        <p:txBody>
          <a:bodyPr/>
          <a:lstStyle/>
          <a:p>
            <a:endParaRPr lang="en-CA" sz="1400"/>
          </a:p>
        </p:txBody>
      </p:sp>
      <p:pic>
        <p:nvPicPr>
          <p:cNvPr id="23" name="Image 3" descr="preencoded.png"/>
          <p:cNvPicPr>
            <a:picLocks noChangeAspect="1"/>
          </p:cNvPicPr>
          <p:nvPr/>
        </p:nvPicPr>
        <p:blipFill>
          <a:blip r:embed="rId6">
            <a:alphaModFix amt="40000"/>
          </a:blip>
          <a:stretch>
            <a:fillRect/>
          </a:stretch>
        </p:blipFill>
        <p:spPr>
          <a:xfrm>
            <a:off x="4297680" y="2061972"/>
            <a:ext cx="205740" cy="205740"/>
          </a:xfrm>
          <a:prstGeom prst="rect">
            <a:avLst/>
          </a:prstGeom>
        </p:spPr>
      </p:pic>
      <p:sp>
        <p:nvSpPr>
          <p:cNvPr id="24" name="Text 18"/>
          <p:cNvSpPr/>
          <p:nvPr/>
        </p:nvSpPr>
        <p:spPr>
          <a:xfrm>
            <a:off x="4681728" y="1975104"/>
            <a:ext cx="749808" cy="411480"/>
          </a:xfrm>
          <a:prstGeom prst="rect">
            <a:avLst/>
          </a:prstGeom>
          <a:noFill/>
          <a:ln/>
        </p:spPr>
        <p:txBody>
          <a:bodyPr wrap="square" lIns="0" tIns="0" rIns="0" bIns="0" rtlCol="0" anchor="ctr"/>
          <a:lstStyle/>
          <a:p>
            <a:pPr marL="0" indent="0">
              <a:buNone/>
            </a:pPr>
            <a:r>
              <a:rPr lang="en-US" sz="1200" b="1" dirty="0">
                <a:solidFill>
                  <a:srgbClr val="0A0A0A"/>
                </a:solidFill>
              </a:rPr>
              <a:t>5–10 %</a:t>
            </a:r>
            <a:endParaRPr lang="en-US" sz="1200" dirty="0"/>
          </a:p>
        </p:txBody>
      </p:sp>
      <p:sp>
        <p:nvSpPr>
          <p:cNvPr id="25" name="Text 19"/>
          <p:cNvSpPr/>
          <p:nvPr/>
        </p:nvSpPr>
        <p:spPr>
          <a:xfrm>
            <a:off x="5335940" y="1956816"/>
            <a:ext cx="2555332" cy="457200"/>
          </a:xfrm>
          <a:prstGeom prst="rect">
            <a:avLst/>
          </a:prstGeom>
          <a:noFill/>
          <a:ln/>
        </p:spPr>
        <p:txBody>
          <a:bodyPr wrap="square" lIns="0" tIns="0" rIns="0" bIns="0" rtlCol="0" anchor="ctr"/>
          <a:lstStyle/>
          <a:p>
            <a:pPr marL="0" indent="0">
              <a:buNone/>
            </a:pPr>
            <a:r>
              <a:rPr lang="en-US" sz="1000" dirty="0">
                <a:solidFill>
                  <a:srgbClr val="666666"/>
                </a:solidFill>
              </a:rPr>
              <a:t>Variabilité modérée — interprétation prudente</a:t>
            </a:r>
            <a:endParaRPr lang="en-US" sz="1000" dirty="0"/>
          </a:p>
        </p:txBody>
      </p:sp>
      <p:sp>
        <p:nvSpPr>
          <p:cNvPr id="26" name="Shape 20"/>
          <p:cNvSpPr/>
          <p:nvPr/>
        </p:nvSpPr>
        <p:spPr>
          <a:xfrm>
            <a:off x="7927848" y="2057400"/>
            <a:ext cx="713232" cy="256032"/>
          </a:xfrm>
          <a:prstGeom prst="roundRect">
            <a:avLst>
              <a:gd name="adj" fmla="val 107143"/>
            </a:avLst>
          </a:prstGeom>
          <a:solidFill>
            <a:srgbClr val="FDE8B4"/>
          </a:solidFill>
          <a:ln w="12700">
            <a:solidFill>
              <a:srgbClr val="FDE8B4"/>
            </a:solidFill>
            <a:prstDash val="solid"/>
          </a:ln>
        </p:spPr>
        <p:txBody>
          <a:bodyPr/>
          <a:lstStyle/>
          <a:p>
            <a:endParaRPr lang="en-CA" sz="1400"/>
          </a:p>
        </p:txBody>
      </p:sp>
      <p:sp>
        <p:nvSpPr>
          <p:cNvPr id="27" name="Text 21"/>
          <p:cNvSpPr/>
          <p:nvPr/>
        </p:nvSpPr>
        <p:spPr>
          <a:xfrm>
            <a:off x="7927848" y="2057400"/>
            <a:ext cx="713232" cy="256032"/>
          </a:xfrm>
          <a:prstGeom prst="rect">
            <a:avLst/>
          </a:prstGeom>
          <a:noFill/>
          <a:ln/>
        </p:spPr>
        <p:txBody>
          <a:bodyPr wrap="square" lIns="0" tIns="0" rIns="0" bIns="0" rtlCol="0" anchor="ctr"/>
          <a:lstStyle/>
          <a:p>
            <a:pPr marL="0" indent="0" algn="ctr">
              <a:buNone/>
            </a:pPr>
            <a:r>
              <a:rPr lang="en-US" sz="800" b="1" dirty="0">
                <a:solidFill>
                  <a:srgbClr val="9A6B00"/>
                </a:solidFill>
              </a:rPr>
              <a:t>Acceptable</a:t>
            </a:r>
            <a:endParaRPr lang="en-US" sz="800" dirty="0"/>
          </a:p>
        </p:txBody>
      </p:sp>
      <p:sp>
        <p:nvSpPr>
          <p:cNvPr id="28" name="Shape 22"/>
          <p:cNvSpPr/>
          <p:nvPr/>
        </p:nvSpPr>
        <p:spPr>
          <a:xfrm>
            <a:off x="4069080" y="2615184"/>
            <a:ext cx="4709160" cy="667512"/>
          </a:xfrm>
          <a:prstGeom prst="roundRect">
            <a:avLst>
              <a:gd name="adj" fmla="val 9589"/>
            </a:avLst>
          </a:prstGeom>
          <a:solidFill>
            <a:srgbClr val="FEF0EE"/>
          </a:solidFill>
          <a:ln w="6350">
            <a:solidFill>
              <a:srgbClr val="FDDAD6"/>
            </a:solidFill>
            <a:prstDash val="solid"/>
          </a:ln>
        </p:spPr>
        <p:txBody>
          <a:bodyPr/>
          <a:lstStyle/>
          <a:p>
            <a:endParaRPr lang="en-CA" sz="1400"/>
          </a:p>
        </p:txBody>
      </p:sp>
      <p:sp>
        <p:nvSpPr>
          <p:cNvPr id="29" name="Shape 23"/>
          <p:cNvSpPr/>
          <p:nvPr/>
        </p:nvSpPr>
        <p:spPr>
          <a:xfrm>
            <a:off x="4224528" y="2770632"/>
            <a:ext cx="347472" cy="347472"/>
          </a:xfrm>
          <a:prstGeom prst="ellipse">
            <a:avLst/>
          </a:prstGeom>
          <a:solidFill>
            <a:srgbClr val="FDDAD6"/>
          </a:solidFill>
          <a:ln w="12700">
            <a:solidFill>
              <a:srgbClr val="FDDAD6"/>
            </a:solidFill>
            <a:prstDash val="solid"/>
          </a:ln>
        </p:spPr>
        <p:txBody>
          <a:bodyPr/>
          <a:lstStyle/>
          <a:p>
            <a:endParaRPr lang="en-CA" sz="1400"/>
          </a:p>
        </p:txBody>
      </p:sp>
      <p:pic>
        <p:nvPicPr>
          <p:cNvPr id="30" name="Image 4" descr="preencoded.png"/>
          <p:cNvPicPr>
            <a:picLocks noChangeAspect="1"/>
          </p:cNvPicPr>
          <p:nvPr/>
        </p:nvPicPr>
        <p:blipFill>
          <a:blip r:embed="rId7">
            <a:alphaModFix amt="40000"/>
          </a:blip>
          <a:stretch>
            <a:fillRect/>
          </a:stretch>
        </p:blipFill>
        <p:spPr>
          <a:xfrm>
            <a:off x="4288536" y="2834640"/>
            <a:ext cx="219456" cy="219456"/>
          </a:xfrm>
          <a:prstGeom prst="rect">
            <a:avLst/>
          </a:prstGeom>
        </p:spPr>
      </p:pic>
      <p:sp>
        <p:nvSpPr>
          <p:cNvPr id="31" name="Text 24"/>
          <p:cNvSpPr/>
          <p:nvPr/>
        </p:nvSpPr>
        <p:spPr>
          <a:xfrm>
            <a:off x="4681728" y="2734056"/>
            <a:ext cx="749808" cy="411480"/>
          </a:xfrm>
          <a:prstGeom prst="rect">
            <a:avLst/>
          </a:prstGeom>
          <a:noFill/>
          <a:ln/>
        </p:spPr>
        <p:txBody>
          <a:bodyPr wrap="square" lIns="0" tIns="0" rIns="0" bIns="0" rtlCol="0" anchor="ctr"/>
          <a:lstStyle/>
          <a:p>
            <a:pPr marL="0" indent="0">
              <a:buNone/>
            </a:pPr>
            <a:r>
              <a:rPr lang="en-US" sz="1200" b="1" dirty="0">
                <a:solidFill>
                  <a:srgbClr val="0A0A0A"/>
                </a:solidFill>
              </a:rPr>
              <a:t>&gt; 10 %</a:t>
            </a:r>
            <a:endParaRPr lang="en-US" sz="1200" dirty="0"/>
          </a:p>
        </p:txBody>
      </p:sp>
      <p:sp>
        <p:nvSpPr>
          <p:cNvPr id="32" name="Text 25"/>
          <p:cNvSpPr/>
          <p:nvPr/>
        </p:nvSpPr>
        <p:spPr>
          <a:xfrm>
            <a:off x="5335940" y="2715768"/>
            <a:ext cx="2473036" cy="457200"/>
          </a:xfrm>
          <a:prstGeom prst="rect">
            <a:avLst/>
          </a:prstGeom>
          <a:noFill/>
          <a:ln/>
        </p:spPr>
        <p:txBody>
          <a:bodyPr wrap="square" lIns="0" tIns="0" rIns="0" bIns="0" rtlCol="0" anchor="ctr"/>
          <a:lstStyle/>
          <a:p>
            <a:pPr marL="0" indent="0">
              <a:buNone/>
            </a:pPr>
            <a:r>
              <a:rPr lang="en-US" sz="1000" dirty="0">
                <a:solidFill>
                  <a:srgbClr val="666666"/>
                </a:solidFill>
              </a:rPr>
              <a:t>Variabilité élevée — investigation requise</a:t>
            </a:r>
            <a:endParaRPr lang="en-US" sz="1000" dirty="0"/>
          </a:p>
        </p:txBody>
      </p:sp>
      <p:sp>
        <p:nvSpPr>
          <p:cNvPr id="33" name="Shape 26"/>
          <p:cNvSpPr/>
          <p:nvPr/>
        </p:nvSpPr>
        <p:spPr>
          <a:xfrm>
            <a:off x="7932836" y="2798064"/>
            <a:ext cx="708244" cy="256032"/>
          </a:xfrm>
          <a:prstGeom prst="roundRect">
            <a:avLst>
              <a:gd name="adj" fmla="val 107143"/>
            </a:avLst>
          </a:prstGeom>
          <a:solidFill>
            <a:srgbClr val="FDDAD6"/>
          </a:solidFill>
          <a:ln w="12700">
            <a:solidFill>
              <a:srgbClr val="FDDAD6"/>
            </a:solidFill>
            <a:prstDash val="solid"/>
          </a:ln>
        </p:spPr>
        <p:txBody>
          <a:bodyPr/>
          <a:lstStyle/>
          <a:p>
            <a:endParaRPr lang="en-CA" sz="1400"/>
          </a:p>
        </p:txBody>
      </p:sp>
      <p:sp>
        <p:nvSpPr>
          <p:cNvPr id="34" name="Text 27"/>
          <p:cNvSpPr/>
          <p:nvPr/>
        </p:nvSpPr>
        <p:spPr>
          <a:xfrm>
            <a:off x="7909560" y="2794877"/>
            <a:ext cx="749808" cy="256032"/>
          </a:xfrm>
          <a:prstGeom prst="rect">
            <a:avLst/>
          </a:prstGeom>
          <a:noFill/>
          <a:ln/>
        </p:spPr>
        <p:txBody>
          <a:bodyPr wrap="square" lIns="0" tIns="0" rIns="0" bIns="0" rtlCol="0" anchor="ctr"/>
          <a:lstStyle/>
          <a:p>
            <a:pPr marL="0" indent="0" algn="ctr">
              <a:buNone/>
            </a:pPr>
            <a:r>
              <a:rPr lang="en-US" sz="800" b="1" dirty="0">
                <a:solidFill>
                  <a:srgbClr val="9A3020"/>
                </a:solidFill>
              </a:rPr>
              <a:t>Bruit élevé</a:t>
            </a:r>
            <a:endParaRPr lang="en-US" sz="800" dirty="0"/>
          </a:p>
        </p:txBody>
      </p:sp>
      <p:sp>
        <p:nvSpPr>
          <p:cNvPr id="35" name="Shape 28"/>
          <p:cNvSpPr/>
          <p:nvPr/>
        </p:nvSpPr>
        <p:spPr>
          <a:xfrm>
            <a:off x="548640" y="3813048"/>
            <a:ext cx="2633472" cy="576072"/>
          </a:xfrm>
          <a:prstGeom prst="roundRect">
            <a:avLst>
              <a:gd name="adj" fmla="val 9722"/>
            </a:avLst>
          </a:prstGeom>
          <a:solidFill>
            <a:srgbClr val="F8F8F8"/>
          </a:solidFill>
          <a:ln w="6350">
            <a:solidFill>
              <a:srgbClr val="EEEEEE"/>
            </a:solidFill>
            <a:prstDash val="solid"/>
          </a:ln>
        </p:spPr>
        <p:txBody>
          <a:bodyPr/>
          <a:lstStyle/>
          <a:p>
            <a:endParaRPr lang="en-CA"/>
          </a:p>
        </p:txBody>
      </p:sp>
      <p:pic>
        <p:nvPicPr>
          <p:cNvPr id="36" name="Image 5" descr="preencoded.png"/>
          <p:cNvPicPr>
            <a:picLocks noChangeAspect="1"/>
          </p:cNvPicPr>
          <p:nvPr/>
        </p:nvPicPr>
        <p:blipFill>
          <a:blip r:embed="rId8">
            <a:alphaModFix amt="50000"/>
          </a:blip>
          <a:stretch>
            <a:fillRect/>
          </a:stretch>
        </p:blipFill>
        <p:spPr>
          <a:xfrm>
            <a:off x="777240" y="3986784"/>
            <a:ext cx="219456" cy="219456"/>
          </a:xfrm>
          <a:prstGeom prst="rect">
            <a:avLst/>
          </a:prstGeom>
        </p:spPr>
      </p:pic>
      <p:sp>
        <p:nvSpPr>
          <p:cNvPr id="37" name="Text 29"/>
          <p:cNvSpPr/>
          <p:nvPr/>
        </p:nvSpPr>
        <p:spPr>
          <a:xfrm>
            <a:off x="548640" y="3959352"/>
            <a:ext cx="2633472" cy="201168"/>
          </a:xfrm>
          <a:prstGeom prst="rect">
            <a:avLst/>
          </a:prstGeom>
          <a:noFill/>
          <a:ln/>
        </p:spPr>
        <p:txBody>
          <a:bodyPr wrap="square" lIns="0" tIns="0" rIns="0" bIns="0" rtlCol="0" anchor="ctr"/>
          <a:lstStyle/>
          <a:p>
            <a:pPr marL="0" indent="0" algn="ctr">
              <a:buNone/>
            </a:pPr>
            <a:r>
              <a:rPr lang="en-US" sz="1400" b="1" dirty="0">
                <a:solidFill>
                  <a:srgbClr val="0A0A0A"/>
                </a:solidFill>
              </a:rPr>
              <a:t>100</a:t>
            </a:r>
            <a:endParaRPr lang="en-US" sz="1400" dirty="0"/>
          </a:p>
        </p:txBody>
      </p:sp>
      <p:sp>
        <p:nvSpPr>
          <p:cNvPr id="38" name="Text 30"/>
          <p:cNvSpPr/>
          <p:nvPr/>
        </p:nvSpPr>
        <p:spPr>
          <a:xfrm>
            <a:off x="548640" y="4160520"/>
            <a:ext cx="2633472" cy="146304"/>
          </a:xfrm>
          <a:prstGeom prst="rect">
            <a:avLst/>
          </a:prstGeom>
          <a:noFill/>
          <a:ln/>
        </p:spPr>
        <p:txBody>
          <a:bodyPr wrap="square" lIns="0" tIns="0" rIns="0" bIns="0" rtlCol="0" anchor="ctr"/>
          <a:lstStyle/>
          <a:p>
            <a:pPr marL="0" indent="0" algn="ctr">
              <a:buNone/>
            </a:pPr>
            <a:r>
              <a:rPr lang="en-US" sz="900" dirty="0">
                <a:solidFill>
                  <a:srgbClr val="999999"/>
                </a:solidFill>
              </a:rPr>
              <a:t>répétitions / configuration</a:t>
            </a:r>
            <a:endParaRPr lang="en-US" sz="900" dirty="0"/>
          </a:p>
        </p:txBody>
      </p:sp>
      <p:sp>
        <p:nvSpPr>
          <p:cNvPr id="39" name="Shape 31"/>
          <p:cNvSpPr/>
          <p:nvPr/>
        </p:nvSpPr>
        <p:spPr>
          <a:xfrm>
            <a:off x="3255264" y="3813048"/>
            <a:ext cx="2633472" cy="576072"/>
          </a:xfrm>
          <a:prstGeom prst="roundRect">
            <a:avLst>
              <a:gd name="adj" fmla="val 9722"/>
            </a:avLst>
          </a:prstGeom>
          <a:solidFill>
            <a:srgbClr val="F8F8F8"/>
          </a:solidFill>
          <a:ln w="6350">
            <a:solidFill>
              <a:srgbClr val="EEEEEE"/>
            </a:solidFill>
            <a:prstDash val="solid"/>
          </a:ln>
        </p:spPr>
        <p:txBody>
          <a:bodyPr/>
          <a:lstStyle/>
          <a:p>
            <a:endParaRPr lang="en-CA"/>
          </a:p>
        </p:txBody>
      </p:sp>
      <p:pic>
        <p:nvPicPr>
          <p:cNvPr id="40" name="Image 6" descr="preencoded.png"/>
          <p:cNvPicPr>
            <a:picLocks noChangeAspect="1"/>
          </p:cNvPicPr>
          <p:nvPr/>
        </p:nvPicPr>
        <p:blipFill>
          <a:blip r:embed="rId9">
            <a:alphaModFix amt="50000"/>
          </a:blip>
          <a:stretch>
            <a:fillRect/>
          </a:stretch>
        </p:blipFill>
        <p:spPr>
          <a:xfrm>
            <a:off x="3410712" y="3986784"/>
            <a:ext cx="219456" cy="219456"/>
          </a:xfrm>
          <a:prstGeom prst="rect">
            <a:avLst/>
          </a:prstGeom>
        </p:spPr>
      </p:pic>
      <p:sp>
        <p:nvSpPr>
          <p:cNvPr id="41" name="Text 32"/>
          <p:cNvSpPr/>
          <p:nvPr/>
        </p:nvSpPr>
        <p:spPr>
          <a:xfrm>
            <a:off x="3255264" y="3959352"/>
            <a:ext cx="2633472" cy="201168"/>
          </a:xfrm>
          <a:prstGeom prst="rect">
            <a:avLst/>
          </a:prstGeom>
          <a:noFill/>
          <a:ln/>
        </p:spPr>
        <p:txBody>
          <a:bodyPr wrap="square" lIns="0" tIns="0" rIns="0" bIns="0" rtlCol="0" anchor="ctr"/>
          <a:lstStyle/>
          <a:p>
            <a:pPr marL="0" indent="0" algn="ctr">
              <a:buNone/>
            </a:pPr>
            <a:r>
              <a:rPr lang="en-US" sz="1400" b="1" dirty="0">
                <a:solidFill>
                  <a:srgbClr val="0A0A0A"/>
                </a:solidFill>
              </a:rPr>
              <a:t>95 %</a:t>
            </a:r>
            <a:endParaRPr lang="en-US" sz="1400" dirty="0"/>
          </a:p>
        </p:txBody>
      </p:sp>
      <p:sp>
        <p:nvSpPr>
          <p:cNvPr id="42" name="Text 33"/>
          <p:cNvSpPr/>
          <p:nvPr/>
        </p:nvSpPr>
        <p:spPr>
          <a:xfrm>
            <a:off x="3255264" y="4160520"/>
            <a:ext cx="2633472" cy="146304"/>
          </a:xfrm>
          <a:prstGeom prst="rect">
            <a:avLst/>
          </a:prstGeom>
          <a:noFill/>
          <a:ln/>
        </p:spPr>
        <p:txBody>
          <a:bodyPr wrap="square" lIns="0" tIns="0" rIns="0" bIns="0" rtlCol="0" anchor="ctr"/>
          <a:lstStyle/>
          <a:p>
            <a:pPr marL="0" indent="0" algn="ctr">
              <a:buNone/>
            </a:pPr>
            <a:r>
              <a:rPr lang="en-US" sz="900" dirty="0">
                <a:solidFill>
                  <a:srgbClr val="999999"/>
                </a:solidFill>
              </a:rPr>
              <a:t>niveau de confiance</a:t>
            </a:r>
            <a:endParaRPr lang="en-US" sz="900" dirty="0"/>
          </a:p>
        </p:txBody>
      </p:sp>
      <p:sp>
        <p:nvSpPr>
          <p:cNvPr id="43" name="Shape 34"/>
          <p:cNvSpPr/>
          <p:nvPr/>
        </p:nvSpPr>
        <p:spPr>
          <a:xfrm>
            <a:off x="5961888" y="3813048"/>
            <a:ext cx="2633472" cy="576072"/>
          </a:xfrm>
          <a:prstGeom prst="roundRect">
            <a:avLst>
              <a:gd name="adj" fmla="val 9722"/>
            </a:avLst>
          </a:prstGeom>
          <a:solidFill>
            <a:srgbClr val="F8F8F8"/>
          </a:solidFill>
          <a:ln w="6350">
            <a:solidFill>
              <a:srgbClr val="EEEEEE"/>
            </a:solidFill>
            <a:prstDash val="solid"/>
          </a:ln>
        </p:spPr>
        <p:txBody>
          <a:bodyPr/>
          <a:lstStyle/>
          <a:p>
            <a:endParaRPr lang="en-CA"/>
          </a:p>
        </p:txBody>
      </p:sp>
      <p:pic>
        <p:nvPicPr>
          <p:cNvPr id="44" name="Image 7" descr="preencoded.png"/>
          <p:cNvPicPr>
            <a:picLocks noChangeAspect="1"/>
          </p:cNvPicPr>
          <p:nvPr/>
        </p:nvPicPr>
        <p:blipFill>
          <a:blip r:embed="rId10">
            <a:alphaModFix amt="50000"/>
          </a:blip>
          <a:stretch>
            <a:fillRect/>
          </a:stretch>
        </p:blipFill>
        <p:spPr>
          <a:xfrm>
            <a:off x="6146157" y="3993434"/>
            <a:ext cx="219456" cy="219456"/>
          </a:xfrm>
          <a:prstGeom prst="rect">
            <a:avLst/>
          </a:prstGeom>
        </p:spPr>
      </p:pic>
      <p:sp>
        <p:nvSpPr>
          <p:cNvPr id="45" name="Text 35"/>
          <p:cNvSpPr/>
          <p:nvPr/>
        </p:nvSpPr>
        <p:spPr>
          <a:xfrm>
            <a:off x="5961888" y="3959352"/>
            <a:ext cx="2633472" cy="201168"/>
          </a:xfrm>
          <a:prstGeom prst="rect">
            <a:avLst/>
          </a:prstGeom>
          <a:noFill/>
          <a:ln/>
        </p:spPr>
        <p:txBody>
          <a:bodyPr wrap="square" lIns="0" tIns="0" rIns="0" bIns="0" rtlCol="0" anchor="ctr"/>
          <a:lstStyle/>
          <a:p>
            <a:pPr marL="0" indent="0" algn="ctr">
              <a:buNone/>
            </a:pPr>
            <a:r>
              <a:rPr lang="en-US" sz="1400" b="1" dirty="0">
                <a:solidFill>
                  <a:srgbClr val="0A0A0A"/>
                </a:solidFill>
              </a:rPr>
              <a:t>1,96</a:t>
            </a:r>
            <a:endParaRPr lang="en-US" sz="1400" dirty="0"/>
          </a:p>
        </p:txBody>
      </p:sp>
      <p:sp>
        <p:nvSpPr>
          <p:cNvPr id="46" name="Text 36"/>
          <p:cNvSpPr/>
          <p:nvPr/>
        </p:nvSpPr>
        <p:spPr>
          <a:xfrm>
            <a:off x="5961888" y="4160520"/>
            <a:ext cx="2633472" cy="146304"/>
          </a:xfrm>
          <a:prstGeom prst="rect">
            <a:avLst/>
          </a:prstGeom>
          <a:noFill/>
          <a:ln/>
        </p:spPr>
        <p:txBody>
          <a:bodyPr wrap="square" lIns="0" tIns="0" rIns="0" bIns="0" rtlCol="0" anchor="ctr"/>
          <a:lstStyle/>
          <a:p>
            <a:pPr marL="0" indent="0" algn="ctr">
              <a:buNone/>
            </a:pPr>
            <a:r>
              <a:rPr lang="en-US" sz="900" dirty="0">
                <a:solidFill>
                  <a:srgbClr val="999999"/>
                </a:solidFill>
              </a:rPr>
              <a:t>Facteur z (approx. normale)</a:t>
            </a:r>
            <a:endParaRPr lang="en-US" sz="900" dirty="0"/>
          </a:p>
        </p:txBody>
      </p:sp>
      <p:sp>
        <p:nvSpPr>
          <p:cNvPr id="47" name="Text 37"/>
          <p:cNvSpPr/>
          <p:nvPr/>
        </p:nvSpPr>
        <p:spPr>
          <a:xfrm>
            <a:off x="0" y="4846320"/>
            <a:ext cx="9144000" cy="201168"/>
          </a:xfrm>
          <a:prstGeom prst="rect">
            <a:avLst/>
          </a:prstGeom>
          <a:noFill/>
          <a:ln/>
        </p:spPr>
        <p:txBody>
          <a:bodyPr wrap="square" lIns="0" tIns="0" rIns="0" bIns="0" rtlCol="0" anchor="ctr"/>
          <a:lstStyle/>
          <a:p>
            <a:pPr marL="0" indent="0" algn="ctr">
              <a:buNone/>
            </a:pPr>
            <a:r>
              <a:rPr lang="en-US" sz="850" b="1" kern="0" spc="120" dirty="0">
                <a:solidFill>
                  <a:srgbClr val="C9A84C"/>
                </a:solidFill>
              </a:rPr>
              <a:t>INF1430</a:t>
            </a:r>
            <a:r>
              <a:rPr lang="en-US" sz="850" kern="0" spc="120" dirty="0">
                <a:solidFill>
                  <a:srgbClr val="CCCCCC"/>
                </a:solidFill>
              </a:rPr>
              <a:t>  ·  Université TÉLUQ  ·  TN3  ·  Melissa Moya  ·  2026</a:t>
            </a:r>
            <a:endParaRPr lang="en-US" sz="850" dirty="0"/>
          </a:p>
        </p:txBody>
      </p:sp>
      <p:sp>
        <p:nvSpPr>
          <p:cNvPr id="49" name="Text 1">
            <a:extLst>
              <a:ext uri="{FF2B5EF4-FFF2-40B4-BE49-F238E27FC236}">
                <a16:creationId xmlns:a16="http://schemas.microsoft.com/office/drawing/2014/main" id="{EF0CC1D0-CD21-1CA7-C780-5DC2F47195CA}"/>
              </a:ext>
            </a:extLst>
          </p:cNvPr>
          <p:cNvSpPr/>
          <p:nvPr/>
        </p:nvSpPr>
        <p:spPr>
          <a:xfrm>
            <a:off x="453044" y="141940"/>
            <a:ext cx="73152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cs typeface="Calibri" pitchFamily="34" charset="-120"/>
              </a:rPr>
              <a:t>04c  ·  GÉNÉRATION DES SORTIES EXPÉRIMENTALES</a:t>
            </a:r>
          </a:p>
        </p:txBody>
      </p:sp>
      <p:sp>
        <p:nvSpPr>
          <p:cNvPr id="51" name="Text 2">
            <a:extLst>
              <a:ext uri="{FF2B5EF4-FFF2-40B4-BE49-F238E27FC236}">
                <a16:creationId xmlns:a16="http://schemas.microsoft.com/office/drawing/2014/main" id="{F5F91FE6-DD06-286E-3803-9FCBED3B4141}"/>
              </a:ext>
            </a:extLst>
          </p:cNvPr>
          <p:cNvSpPr/>
          <p:nvPr/>
        </p:nvSpPr>
        <p:spPr>
          <a:xfrm>
            <a:off x="453044" y="306532"/>
            <a:ext cx="8229600" cy="329184"/>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IC95 relatif : </a:t>
            </a:r>
            <a:r>
              <a:rPr lang="fr-FR" sz="1500" b="1" dirty="0">
                <a:solidFill>
                  <a:srgbClr val="CFB260"/>
                </a:solidFill>
                <a:latin typeface="Calibri" pitchFamily="34" charset="0"/>
                <a:ea typeface="Calibri" pitchFamily="34" charset="-122"/>
                <a:cs typeface="Calibri" pitchFamily="34" charset="-120"/>
              </a:rPr>
              <a:t>théorie et lecture pratique</a:t>
            </a:r>
          </a:p>
        </p:txBody>
      </p:sp>
      <p:sp>
        <p:nvSpPr>
          <p:cNvPr id="53" name="Shape 3">
            <a:extLst>
              <a:ext uri="{FF2B5EF4-FFF2-40B4-BE49-F238E27FC236}">
                <a16:creationId xmlns:a16="http://schemas.microsoft.com/office/drawing/2014/main" id="{4710ECB2-F26A-2960-B478-2E40FC5F7856}"/>
              </a:ext>
            </a:extLst>
          </p:cNvPr>
          <p:cNvSpPr/>
          <p:nvPr/>
        </p:nvSpPr>
        <p:spPr>
          <a:xfrm>
            <a:off x="453044" y="727156"/>
            <a:ext cx="8321040" cy="0"/>
          </a:xfrm>
          <a:prstGeom prst="line">
            <a:avLst/>
          </a:prstGeom>
          <a:noFill/>
          <a:ln w="10160">
            <a:solidFill>
              <a:srgbClr val="F0F0F0"/>
            </a:solidFill>
            <a:prstDash val="solid"/>
          </a:ln>
        </p:spPr>
        <p:txBody>
          <a:bodyPr/>
          <a:lstStyle/>
          <a:p>
            <a:endParaRPr lang="en-CA"/>
          </a:p>
        </p:txBody>
      </p:sp>
      <p:sp>
        <p:nvSpPr>
          <p:cNvPr id="55" name="Shape 9">
            <a:extLst>
              <a:ext uri="{FF2B5EF4-FFF2-40B4-BE49-F238E27FC236}">
                <a16:creationId xmlns:a16="http://schemas.microsoft.com/office/drawing/2014/main" id="{68F284E4-9EA0-4F59-FA27-178BD8BF0AEF}"/>
              </a:ext>
            </a:extLst>
          </p:cNvPr>
          <p:cNvSpPr/>
          <p:nvPr/>
        </p:nvSpPr>
        <p:spPr>
          <a:xfrm flipV="1">
            <a:off x="595468" y="2541859"/>
            <a:ext cx="3122953" cy="2771"/>
          </a:xfrm>
          <a:prstGeom prst="line">
            <a:avLst/>
          </a:prstGeom>
          <a:noFill/>
          <a:ln w="7620">
            <a:solidFill>
              <a:srgbClr val="EEEEEE"/>
            </a:solidFill>
            <a:prstDash val="solid"/>
          </a:ln>
        </p:spPr>
        <p:txBody>
          <a:bodyPr/>
          <a:lstStyle/>
          <a:p>
            <a:endParaRPr lang="en-CA"/>
          </a:p>
        </p:txBody>
      </p:sp>
      <p:sp>
        <p:nvSpPr>
          <p:cNvPr id="57" name="TextBox 56">
            <a:extLst>
              <a:ext uri="{FF2B5EF4-FFF2-40B4-BE49-F238E27FC236}">
                <a16:creationId xmlns:a16="http://schemas.microsoft.com/office/drawing/2014/main" id="{08E904CA-F216-00E2-32E2-96A57BFD1707}"/>
              </a:ext>
            </a:extLst>
          </p:cNvPr>
          <p:cNvSpPr txBox="1"/>
          <p:nvPr/>
        </p:nvSpPr>
        <p:spPr>
          <a:xfrm>
            <a:off x="6082145" y="3282696"/>
            <a:ext cx="2703303" cy="215444"/>
          </a:xfrm>
          <a:prstGeom prst="rect">
            <a:avLst/>
          </a:prstGeom>
          <a:noFill/>
        </p:spPr>
        <p:txBody>
          <a:bodyPr wrap="square">
            <a:spAutoFit/>
          </a:bodyPr>
          <a:lstStyle/>
          <a:p>
            <a:r>
              <a:rPr lang="en-CA" sz="600" b="0" i="1" dirty="0">
                <a:solidFill>
                  <a:schemeClr val="bg2">
                    <a:lumMod val="50000"/>
                  </a:schemeClr>
                </a:solidFill>
                <a:effectLst/>
                <a:latin typeface="Segoe WPC"/>
              </a:rPr>
              <a:t>* Seuils 5/10 % = repères de lecture; la décision CI vient des gates G1-G3</a:t>
            </a:r>
            <a:r>
              <a:rPr lang="en-CA" sz="800" b="0" i="0" dirty="0">
                <a:solidFill>
                  <a:srgbClr val="BBBEBF"/>
                </a:solidFill>
                <a:effectLst/>
                <a:latin typeface="Segoe WPC"/>
              </a:rPr>
              <a:t>.</a:t>
            </a:r>
            <a:endParaRPr lang="en-CA"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365760" y="841248"/>
            <a:ext cx="1897380" cy="594360"/>
          </a:xfrm>
          <a:prstGeom prst="roundRect">
            <a:avLst>
              <a:gd name="adj" fmla="val 12308"/>
            </a:avLst>
          </a:prstGeom>
          <a:solidFill>
            <a:srgbClr val="F5F5F5"/>
          </a:solidFill>
          <a:ln w="6350">
            <a:solidFill>
              <a:srgbClr val="E8E8E8"/>
            </a:solidFill>
            <a:prstDash val="solid"/>
          </a:ln>
        </p:spPr>
        <p:txBody>
          <a:bodyPr/>
          <a:lstStyle/>
          <a:p>
            <a:endParaRPr lang="en-CA"/>
          </a:p>
        </p:txBody>
      </p:sp>
      <p:sp>
        <p:nvSpPr>
          <p:cNvPr id="7" name="Text 4"/>
          <p:cNvSpPr/>
          <p:nvPr/>
        </p:nvSpPr>
        <p:spPr>
          <a:xfrm>
            <a:off x="365760" y="850393"/>
            <a:ext cx="1897380" cy="192023"/>
          </a:xfrm>
          <a:prstGeom prst="rect">
            <a:avLst/>
          </a:prstGeom>
          <a:noFill/>
          <a:ln/>
        </p:spPr>
        <p:txBody>
          <a:bodyPr wrap="square" lIns="0" tIns="0" rIns="0" bIns="0" rtlCol="0" anchor="ctr"/>
          <a:lstStyle/>
          <a:p>
            <a:pPr marL="0" indent="0" algn="ctr">
              <a:buNone/>
            </a:pPr>
            <a:r>
              <a:rPr lang="en-US" sz="850" kern="0" spc="100" dirty="0">
                <a:solidFill>
                  <a:srgbClr val="AAAAAA"/>
                </a:solidFill>
              </a:rPr>
              <a:t>MESURER</a:t>
            </a:r>
            <a:endParaRPr lang="en-US" sz="850" dirty="0"/>
          </a:p>
        </p:txBody>
      </p:sp>
      <p:sp>
        <p:nvSpPr>
          <p:cNvPr id="8" name="Text 5"/>
          <p:cNvSpPr/>
          <p:nvPr/>
        </p:nvSpPr>
        <p:spPr>
          <a:xfrm>
            <a:off x="365760" y="1124712"/>
            <a:ext cx="1897380" cy="301752"/>
          </a:xfrm>
          <a:prstGeom prst="rect">
            <a:avLst/>
          </a:prstGeom>
          <a:noFill/>
          <a:ln/>
        </p:spPr>
        <p:txBody>
          <a:bodyPr wrap="square" lIns="0" tIns="0" rIns="0" bIns="0" rtlCol="0" anchor="ctr"/>
          <a:lstStyle/>
          <a:p>
            <a:pPr marL="0" indent="0" algn="ctr">
              <a:buNone/>
            </a:pPr>
            <a:r>
              <a:rPr lang="en-US" sz="1100" b="1" dirty="0">
                <a:solidFill>
                  <a:srgbClr val="555555"/>
                </a:solidFill>
              </a:rPr>
              <a:t>100 rép. / config</a:t>
            </a:r>
            <a:endParaRPr lang="en-US" sz="1100" dirty="0"/>
          </a:p>
        </p:txBody>
      </p:sp>
      <p:sp>
        <p:nvSpPr>
          <p:cNvPr id="9" name="Text 6"/>
          <p:cNvSpPr/>
          <p:nvPr/>
        </p:nvSpPr>
        <p:spPr>
          <a:xfrm>
            <a:off x="2263140" y="987552"/>
            <a:ext cx="274320" cy="292608"/>
          </a:xfrm>
          <a:prstGeom prst="rect">
            <a:avLst/>
          </a:prstGeom>
          <a:noFill/>
          <a:ln/>
        </p:spPr>
        <p:txBody>
          <a:bodyPr wrap="square" lIns="0" tIns="0" rIns="0" bIns="0" rtlCol="0" anchor="ctr"/>
          <a:lstStyle/>
          <a:p>
            <a:pPr marL="0" indent="0" algn="ctr">
              <a:buNone/>
            </a:pPr>
            <a:r>
              <a:rPr lang="en-US" sz="1400" dirty="0">
                <a:solidFill>
                  <a:srgbClr val="CCCCCC"/>
                </a:solidFill>
              </a:rPr>
              <a:t>→</a:t>
            </a:r>
            <a:endParaRPr lang="en-US" sz="1400" dirty="0"/>
          </a:p>
        </p:txBody>
      </p:sp>
      <p:sp>
        <p:nvSpPr>
          <p:cNvPr id="10" name="Shape 7"/>
          <p:cNvSpPr/>
          <p:nvPr/>
        </p:nvSpPr>
        <p:spPr>
          <a:xfrm>
            <a:off x="2537460" y="841248"/>
            <a:ext cx="1897380" cy="594360"/>
          </a:xfrm>
          <a:prstGeom prst="roundRect">
            <a:avLst>
              <a:gd name="adj" fmla="val 12308"/>
            </a:avLst>
          </a:prstGeom>
          <a:solidFill>
            <a:srgbClr val="F5F5F5"/>
          </a:solidFill>
          <a:ln w="6350">
            <a:solidFill>
              <a:srgbClr val="E8E8E8"/>
            </a:solidFill>
            <a:prstDash val="solid"/>
          </a:ln>
        </p:spPr>
        <p:txBody>
          <a:bodyPr/>
          <a:lstStyle/>
          <a:p>
            <a:endParaRPr lang="en-CA"/>
          </a:p>
        </p:txBody>
      </p:sp>
      <p:sp>
        <p:nvSpPr>
          <p:cNvPr id="12" name="Text 8"/>
          <p:cNvSpPr/>
          <p:nvPr/>
        </p:nvSpPr>
        <p:spPr>
          <a:xfrm>
            <a:off x="2537460" y="850393"/>
            <a:ext cx="1897380" cy="219456"/>
          </a:xfrm>
          <a:prstGeom prst="rect">
            <a:avLst/>
          </a:prstGeom>
          <a:noFill/>
          <a:ln/>
        </p:spPr>
        <p:txBody>
          <a:bodyPr wrap="square" lIns="0" tIns="0" rIns="0" bIns="0" rtlCol="0" anchor="ctr"/>
          <a:lstStyle/>
          <a:p>
            <a:pPr marL="0" indent="0" algn="ctr">
              <a:buNone/>
            </a:pPr>
            <a:r>
              <a:rPr lang="en-US" sz="850" kern="0" spc="100" dirty="0">
                <a:solidFill>
                  <a:srgbClr val="AAAAAA"/>
                </a:solidFill>
              </a:rPr>
              <a:t>CALCULER</a:t>
            </a:r>
            <a:endParaRPr lang="en-US" sz="850" dirty="0"/>
          </a:p>
        </p:txBody>
      </p:sp>
      <p:sp>
        <p:nvSpPr>
          <p:cNvPr id="13" name="Text 9"/>
          <p:cNvSpPr/>
          <p:nvPr/>
        </p:nvSpPr>
        <p:spPr>
          <a:xfrm>
            <a:off x="2537460" y="1133856"/>
            <a:ext cx="1897380" cy="283462"/>
          </a:xfrm>
          <a:prstGeom prst="rect">
            <a:avLst/>
          </a:prstGeom>
          <a:noFill/>
          <a:ln/>
        </p:spPr>
        <p:txBody>
          <a:bodyPr wrap="square" lIns="0" tIns="0" rIns="0" bIns="0" rtlCol="0" anchor="ctr"/>
          <a:lstStyle/>
          <a:p>
            <a:pPr algn="ctr"/>
            <a:r>
              <a:rPr lang="en-US" sz="1100" b="1" dirty="0">
                <a:solidFill>
                  <a:srgbClr val="555555"/>
                </a:solidFill>
              </a:rPr>
              <a:t>IC95 relatif (%)</a:t>
            </a:r>
          </a:p>
        </p:txBody>
      </p:sp>
      <p:sp>
        <p:nvSpPr>
          <p:cNvPr id="14" name="Text 10"/>
          <p:cNvSpPr/>
          <p:nvPr/>
        </p:nvSpPr>
        <p:spPr>
          <a:xfrm>
            <a:off x="4434840" y="987552"/>
            <a:ext cx="274320" cy="292608"/>
          </a:xfrm>
          <a:prstGeom prst="rect">
            <a:avLst/>
          </a:prstGeom>
          <a:noFill/>
          <a:ln/>
        </p:spPr>
        <p:txBody>
          <a:bodyPr wrap="square" lIns="0" tIns="0" rIns="0" bIns="0" rtlCol="0" anchor="ctr"/>
          <a:lstStyle/>
          <a:p>
            <a:pPr marL="0" indent="0" algn="ctr">
              <a:buNone/>
            </a:pPr>
            <a:r>
              <a:rPr lang="en-US" sz="1400" dirty="0">
                <a:solidFill>
                  <a:srgbClr val="CCCCCC"/>
                </a:solidFill>
              </a:rPr>
              <a:t>→</a:t>
            </a:r>
            <a:endParaRPr lang="en-US" sz="1400" dirty="0"/>
          </a:p>
        </p:txBody>
      </p:sp>
      <p:sp>
        <p:nvSpPr>
          <p:cNvPr id="15" name="Shape 11"/>
          <p:cNvSpPr/>
          <p:nvPr/>
        </p:nvSpPr>
        <p:spPr>
          <a:xfrm>
            <a:off x="4709160" y="841248"/>
            <a:ext cx="1897380" cy="594360"/>
          </a:xfrm>
          <a:prstGeom prst="roundRect">
            <a:avLst>
              <a:gd name="adj" fmla="val 12308"/>
            </a:avLst>
          </a:prstGeom>
          <a:solidFill>
            <a:srgbClr val="FFFBF0"/>
          </a:solidFill>
          <a:ln w="12700">
            <a:solidFill>
              <a:srgbClr val="EDD98A"/>
            </a:solidFill>
            <a:prstDash val="solid"/>
          </a:ln>
        </p:spPr>
        <p:txBody>
          <a:bodyPr/>
          <a:lstStyle/>
          <a:p>
            <a:endParaRPr lang="en-CA"/>
          </a:p>
        </p:txBody>
      </p:sp>
      <p:sp>
        <p:nvSpPr>
          <p:cNvPr id="17" name="Text 12"/>
          <p:cNvSpPr/>
          <p:nvPr/>
        </p:nvSpPr>
        <p:spPr>
          <a:xfrm>
            <a:off x="4709160" y="840625"/>
            <a:ext cx="1897380" cy="229223"/>
          </a:xfrm>
          <a:prstGeom prst="rect">
            <a:avLst/>
          </a:prstGeom>
          <a:noFill/>
          <a:ln/>
        </p:spPr>
        <p:txBody>
          <a:bodyPr wrap="square" lIns="0" tIns="0" rIns="0" bIns="0" rtlCol="0" anchor="ctr"/>
          <a:lstStyle/>
          <a:p>
            <a:pPr marL="0" indent="0" algn="ctr">
              <a:buNone/>
            </a:pPr>
            <a:r>
              <a:rPr lang="en-US" sz="850" kern="0" spc="100" dirty="0">
                <a:solidFill>
                  <a:srgbClr val="C9A84C"/>
                </a:solidFill>
              </a:rPr>
              <a:t>VÉRIFIER — 3 GATES</a:t>
            </a:r>
            <a:endParaRPr lang="en-US" sz="850" dirty="0"/>
          </a:p>
        </p:txBody>
      </p:sp>
      <p:sp>
        <p:nvSpPr>
          <p:cNvPr id="18" name="Text 13"/>
          <p:cNvSpPr/>
          <p:nvPr/>
        </p:nvSpPr>
        <p:spPr>
          <a:xfrm>
            <a:off x="4709160" y="1133855"/>
            <a:ext cx="1897380" cy="283463"/>
          </a:xfrm>
          <a:prstGeom prst="rect">
            <a:avLst/>
          </a:prstGeom>
          <a:noFill/>
          <a:ln/>
        </p:spPr>
        <p:txBody>
          <a:bodyPr wrap="square" lIns="0" tIns="0" rIns="0" bIns="0" rtlCol="0" anchor="ctr"/>
          <a:lstStyle/>
          <a:p>
            <a:pPr indent="0" algn="ctr">
              <a:buNone/>
            </a:pPr>
            <a:r>
              <a:rPr lang="en-US" sz="1100" b="1" dirty="0">
                <a:solidFill>
                  <a:srgbClr val="555555"/>
                </a:solidFill>
              </a:rPr>
              <a:t>G1  ·  G2  ·  G3</a:t>
            </a:r>
          </a:p>
        </p:txBody>
      </p:sp>
      <p:sp>
        <p:nvSpPr>
          <p:cNvPr id="19" name="Text 14"/>
          <p:cNvSpPr/>
          <p:nvPr/>
        </p:nvSpPr>
        <p:spPr>
          <a:xfrm>
            <a:off x="6606540" y="987552"/>
            <a:ext cx="274320" cy="292608"/>
          </a:xfrm>
          <a:prstGeom prst="rect">
            <a:avLst/>
          </a:prstGeom>
          <a:noFill/>
          <a:ln/>
        </p:spPr>
        <p:txBody>
          <a:bodyPr wrap="square" lIns="0" tIns="0" rIns="0" bIns="0" rtlCol="0" anchor="ctr"/>
          <a:lstStyle/>
          <a:p>
            <a:pPr marL="0" indent="0" algn="ctr">
              <a:buNone/>
            </a:pPr>
            <a:r>
              <a:rPr lang="en-US" sz="1400" dirty="0">
                <a:solidFill>
                  <a:srgbClr val="CCCCCC"/>
                </a:solidFill>
              </a:rPr>
              <a:t>→</a:t>
            </a:r>
            <a:endParaRPr lang="en-US" sz="1400" dirty="0"/>
          </a:p>
        </p:txBody>
      </p:sp>
      <p:sp>
        <p:nvSpPr>
          <p:cNvPr id="20" name="Shape 15"/>
          <p:cNvSpPr/>
          <p:nvPr/>
        </p:nvSpPr>
        <p:spPr>
          <a:xfrm>
            <a:off x="6880860" y="841248"/>
            <a:ext cx="1897380" cy="594360"/>
          </a:xfrm>
          <a:prstGeom prst="roundRect">
            <a:avLst>
              <a:gd name="adj" fmla="val 12308"/>
            </a:avLst>
          </a:prstGeom>
          <a:solidFill>
            <a:srgbClr val="F5F5F5"/>
          </a:solidFill>
          <a:ln w="6350">
            <a:solidFill>
              <a:srgbClr val="E8E8E8"/>
            </a:solidFill>
            <a:prstDash val="solid"/>
          </a:ln>
        </p:spPr>
        <p:txBody>
          <a:bodyPr/>
          <a:lstStyle/>
          <a:p>
            <a:endParaRPr lang="en-CA"/>
          </a:p>
        </p:txBody>
      </p:sp>
      <p:sp>
        <p:nvSpPr>
          <p:cNvPr id="22" name="Text 16"/>
          <p:cNvSpPr/>
          <p:nvPr/>
        </p:nvSpPr>
        <p:spPr>
          <a:xfrm>
            <a:off x="6880860" y="840625"/>
            <a:ext cx="1897380" cy="229223"/>
          </a:xfrm>
          <a:prstGeom prst="rect">
            <a:avLst/>
          </a:prstGeom>
          <a:noFill/>
          <a:ln/>
        </p:spPr>
        <p:txBody>
          <a:bodyPr wrap="square" lIns="0" tIns="0" rIns="0" bIns="0" rtlCol="0" anchor="ctr"/>
          <a:lstStyle/>
          <a:p>
            <a:pPr marL="0" indent="0" algn="ctr">
              <a:buNone/>
            </a:pPr>
            <a:r>
              <a:rPr lang="en-US" sz="850" kern="0" spc="100" dirty="0">
                <a:solidFill>
                  <a:srgbClr val="AAAAAA"/>
                </a:solidFill>
              </a:rPr>
              <a:t>DÉCIDER</a:t>
            </a:r>
            <a:endParaRPr lang="en-US" sz="850" dirty="0"/>
          </a:p>
        </p:txBody>
      </p:sp>
      <p:sp>
        <p:nvSpPr>
          <p:cNvPr id="23" name="Text 17"/>
          <p:cNvSpPr/>
          <p:nvPr/>
        </p:nvSpPr>
        <p:spPr>
          <a:xfrm>
            <a:off x="6880860" y="1133856"/>
            <a:ext cx="1897380" cy="283462"/>
          </a:xfrm>
          <a:prstGeom prst="rect">
            <a:avLst/>
          </a:prstGeom>
          <a:noFill/>
          <a:ln/>
        </p:spPr>
        <p:txBody>
          <a:bodyPr wrap="square" lIns="0" tIns="0" rIns="0" bIns="0" rtlCol="0" anchor="ctr"/>
          <a:lstStyle/>
          <a:p>
            <a:pPr algn="ctr"/>
            <a:r>
              <a:rPr lang="fr-FR" sz="900" b="1" dirty="0">
                <a:solidFill>
                  <a:srgbClr val="555555"/>
                </a:solidFill>
              </a:rPr>
              <a:t>PASS: publication des artefacts</a:t>
            </a:r>
          </a:p>
          <a:p>
            <a:pPr algn="ctr"/>
            <a:r>
              <a:rPr lang="fr-FR" sz="900" b="1" dirty="0">
                <a:solidFill>
                  <a:srgbClr val="555555"/>
                </a:solidFill>
              </a:rPr>
              <a:t> FAIL: blocage de la CI</a:t>
            </a:r>
            <a:endParaRPr lang="en-US" sz="900" b="1" dirty="0">
              <a:solidFill>
                <a:srgbClr val="555555"/>
              </a:solidFill>
            </a:endParaRPr>
          </a:p>
        </p:txBody>
      </p:sp>
      <p:sp>
        <p:nvSpPr>
          <p:cNvPr id="24" name="Shape 18"/>
          <p:cNvSpPr/>
          <p:nvPr/>
        </p:nvSpPr>
        <p:spPr>
          <a:xfrm>
            <a:off x="365760" y="1628879"/>
            <a:ext cx="2731008" cy="2286000"/>
          </a:xfrm>
          <a:prstGeom prst="roundRect">
            <a:avLst>
              <a:gd name="adj" fmla="val 1600"/>
            </a:avLst>
          </a:prstGeom>
          <a:solidFill>
            <a:srgbClr val="F9F9F9"/>
          </a:solidFill>
          <a:ln w="6350">
            <a:solidFill>
              <a:srgbClr val="E8E8E8"/>
            </a:solidFill>
            <a:prstDash val="solid"/>
          </a:ln>
        </p:spPr>
        <p:txBody>
          <a:bodyPr/>
          <a:lstStyle/>
          <a:p>
            <a:endParaRPr lang="en-CA"/>
          </a:p>
        </p:txBody>
      </p:sp>
      <p:pic>
        <p:nvPicPr>
          <p:cNvPr id="26" name="Image 4" descr="preencoded.png"/>
          <p:cNvPicPr>
            <a:picLocks noChangeAspect="1"/>
          </p:cNvPicPr>
          <p:nvPr/>
        </p:nvPicPr>
        <p:blipFill>
          <a:blip r:embed="rId3">
            <a:alphaModFix amt="20000"/>
          </a:blip>
          <a:stretch>
            <a:fillRect/>
          </a:stretch>
        </p:blipFill>
        <p:spPr>
          <a:xfrm>
            <a:off x="2310314" y="1769363"/>
            <a:ext cx="555152" cy="555152"/>
          </a:xfrm>
          <a:prstGeom prst="rect">
            <a:avLst/>
          </a:prstGeom>
        </p:spPr>
      </p:pic>
      <p:sp>
        <p:nvSpPr>
          <p:cNvPr id="27" name="Shape 20"/>
          <p:cNvSpPr/>
          <p:nvPr/>
        </p:nvSpPr>
        <p:spPr>
          <a:xfrm>
            <a:off x="446532" y="1739992"/>
            <a:ext cx="292608" cy="237744"/>
          </a:xfrm>
          <a:prstGeom prst="roundRect">
            <a:avLst>
              <a:gd name="adj" fmla="val 57692"/>
            </a:avLst>
          </a:prstGeom>
          <a:solidFill>
            <a:srgbClr val="EEEEEE"/>
          </a:solidFill>
          <a:ln w="12700">
            <a:solidFill>
              <a:srgbClr val="EEEEEE"/>
            </a:solidFill>
            <a:prstDash val="solid"/>
          </a:ln>
        </p:spPr>
        <p:txBody>
          <a:bodyPr/>
          <a:lstStyle/>
          <a:p>
            <a:endParaRPr lang="en-CA"/>
          </a:p>
        </p:txBody>
      </p:sp>
      <p:sp>
        <p:nvSpPr>
          <p:cNvPr id="28" name="Text 21"/>
          <p:cNvSpPr/>
          <p:nvPr/>
        </p:nvSpPr>
        <p:spPr>
          <a:xfrm>
            <a:off x="446532" y="1739992"/>
            <a:ext cx="292608" cy="237744"/>
          </a:xfrm>
          <a:prstGeom prst="rect">
            <a:avLst/>
          </a:prstGeom>
          <a:noFill/>
          <a:ln/>
        </p:spPr>
        <p:txBody>
          <a:bodyPr wrap="square" lIns="0" tIns="0" rIns="0" bIns="0" rtlCol="0" anchor="ctr"/>
          <a:lstStyle/>
          <a:p>
            <a:pPr marL="0" indent="0" algn="ctr">
              <a:buNone/>
            </a:pPr>
            <a:r>
              <a:rPr lang="en-US" sz="1000" b="1" dirty="0">
                <a:solidFill>
                  <a:srgbClr val="888888"/>
                </a:solidFill>
              </a:rPr>
              <a:t>G1</a:t>
            </a:r>
            <a:endParaRPr lang="en-US" sz="1000" dirty="0"/>
          </a:p>
        </p:txBody>
      </p:sp>
      <p:sp>
        <p:nvSpPr>
          <p:cNvPr id="29" name="Text 22"/>
          <p:cNvSpPr/>
          <p:nvPr/>
        </p:nvSpPr>
        <p:spPr>
          <a:xfrm>
            <a:off x="502920" y="2332967"/>
            <a:ext cx="2502408" cy="347472"/>
          </a:xfrm>
          <a:prstGeom prst="rect">
            <a:avLst/>
          </a:prstGeom>
          <a:noFill/>
          <a:ln/>
        </p:spPr>
        <p:txBody>
          <a:bodyPr wrap="square" lIns="0" tIns="0" rIns="0" bIns="0" rtlCol="0" anchor="ctr"/>
          <a:lstStyle/>
          <a:p>
            <a:pPr marL="0" indent="0">
              <a:buNone/>
            </a:pPr>
            <a:r>
              <a:rPr lang="en-US" sz="1200" b="1" dirty="0">
                <a:solidFill>
                  <a:srgbClr val="0A0A0A"/>
                </a:solidFill>
              </a:rPr>
              <a:t>Répétitions minimales</a:t>
            </a:r>
            <a:endParaRPr lang="en-US" sz="1200" dirty="0"/>
          </a:p>
        </p:txBody>
      </p:sp>
      <p:sp>
        <p:nvSpPr>
          <p:cNvPr id="30" name="Text 23"/>
          <p:cNvSpPr/>
          <p:nvPr/>
        </p:nvSpPr>
        <p:spPr>
          <a:xfrm>
            <a:off x="502920" y="2707871"/>
            <a:ext cx="2593848" cy="658368"/>
          </a:xfrm>
          <a:prstGeom prst="rect">
            <a:avLst/>
          </a:prstGeom>
          <a:noFill/>
          <a:ln/>
        </p:spPr>
        <p:txBody>
          <a:bodyPr wrap="square" lIns="0" tIns="0" rIns="0" bIns="0" rtlCol="0" anchor="ctr"/>
          <a:lstStyle/>
          <a:p>
            <a:pPr marL="0" indent="0">
              <a:buNone/>
            </a:pPr>
            <a:r>
              <a:rPr lang="fr-FR" sz="1050" dirty="0">
                <a:solidFill>
                  <a:srgbClr val="888888"/>
                </a:solidFill>
              </a:rPr>
              <a:t>Chaque configuration doit avoir au moins 100 répétitions</a:t>
            </a:r>
          </a:p>
        </p:txBody>
      </p:sp>
      <p:sp>
        <p:nvSpPr>
          <p:cNvPr id="31" name="Shape 24"/>
          <p:cNvSpPr/>
          <p:nvPr/>
        </p:nvSpPr>
        <p:spPr>
          <a:xfrm>
            <a:off x="502920" y="3430247"/>
            <a:ext cx="2456688" cy="9144"/>
          </a:xfrm>
          <a:prstGeom prst="rect">
            <a:avLst/>
          </a:prstGeom>
          <a:solidFill>
            <a:srgbClr val="E0E0E0"/>
          </a:solidFill>
          <a:ln w="12700">
            <a:solidFill>
              <a:srgbClr val="E0E0E0"/>
            </a:solidFill>
            <a:prstDash val="solid"/>
          </a:ln>
        </p:spPr>
        <p:txBody>
          <a:bodyPr/>
          <a:lstStyle/>
          <a:p>
            <a:endParaRPr lang="en-CA"/>
          </a:p>
        </p:txBody>
      </p:sp>
      <p:pic>
        <p:nvPicPr>
          <p:cNvPr id="32" name="Image 5" descr="preencoded.png"/>
          <p:cNvPicPr>
            <a:picLocks noChangeAspect="1"/>
          </p:cNvPicPr>
          <p:nvPr/>
        </p:nvPicPr>
        <p:blipFill>
          <a:blip r:embed="rId4"/>
          <a:stretch>
            <a:fillRect/>
          </a:stretch>
        </p:blipFill>
        <p:spPr>
          <a:xfrm>
            <a:off x="502920" y="3549119"/>
            <a:ext cx="201168" cy="201168"/>
          </a:xfrm>
          <a:prstGeom prst="rect">
            <a:avLst/>
          </a:prstGeom>
        </p:spPr>
      </p:pic>
      <p:sp>
        <p:nvSpPr>
          <p:cNvPr id="33" name="Text 25"/>
          <p:cNvSpPr/>
          <p:nvPr/>
        </p:nvSpPr>
        <p:spPr>
          <a:xfrm>
            <a:off x="758952" y="3530831"/>
            <a:ext cx="2228088" cy="274320"/>
          </a:xfrm>
          <a:prstGeom prst="rect">
            <a:avLst/>
          </a:prstGeom>
          <a:noFill/>
          <a:ln/>
        </p:spPr>
        <p:txBody>
          <a:bodyPr wrap="square" lIns="0" tIns="0" rIns="0" bIns="0" rtlCol="0" anchor="ctr"/>
          <a:lstStyle/>
          <a:p>
            <a:pPr marL="0" indent="0">
              <a:buNone/>
            </a:pPr>
            <a:r>
              <a:rPr lang="en-US" sz="1500" b="1" dirty="0">
                <a:solidFill>
                  <a:srgbClr val="2E7D52"/>
                </a:solidFill>
              </a:rPr>
              <a:t>PASS (100%)</a:t>
            </a:r>
            <a:endParaRPr lang="en-US" sz="1500" dirty="0"/>
          </a:p>
        </p:txBody>
      </p:sp>
      <p:sp>
        <p:nvSpPr>
          <p:cNvPr id="34" name="Shape 26"/>
          <p:cNvSpPr/>
          <p:nvPr/>
        </p:nvSpPr>
        <p:spPr>
          <a:xfrm>
            <a:off x="3206496" y="1628879"/>
            <a:ext cx="2731008" cy="2286000"/>
          </a:xfrm>
          <a:prstGeom prst="roundRect">
            <a:avLst>
              <a:gd name="adj" fmla="val 1600"/>
            </a:avLst>
          </a:prstGeom>
          <a:solidFill>
            <a:srgbClr val="F9F9F9"/>
          </a:solidFill>
          <a:ln w="6350">
            <a:solidFill>
              <a:srgbClr val="E8E8E8"/>
            </a:solidFill>
            <a:prstDash val="solid"/>
          </a:ln>
        </p:spPr>
        <p:txBody>
          <a:bodyPr/>
          <a:lstStyle/>
          <a:p>
            <a:endParaRPr lang="en-CA"/>
          </a:p>
        </p:txBody>
      </p:sp>
      <p:sp>
        <p:nvSpPr>
          <p:cNvPr id="37" name="Shape 28"/>
          <p:cNvSpPr/>
          <p:nvPr/>
        </p:nvSpPr>
        <p:spPr>
          <a:xfrm>
            <a:off x="3343656" y="1729740"/>
            <a:ext cx="292608" cy="237744"/>
          </a:xfrm>
          <a:prstGeom prst="roundRect">
            <a:avLst>
              <a:gd name="adj" fmla="val 57692"/>
            </a:avLst>
          </a:prstGeom>
          <a:solidFill>
            <a:srgbClr val="EEEEEE"/>
          </a:solidFill>
          <a:ln w="12700">
            <a:solidFill>
              <a:srgbClr val="EEEEEE"/>
            </a:solidFill>
            <a:prstDash val="solid"/>
          </a:ln>
        </p:spPr>
        <p:txBody>
          <a:bodyPr/>
          <a:lstStyle/>
          <a:p>
            <a:endParaRPr lang="en-CA"/>
          </a:p>
        </p:txBody>
      </p:sp>
      <p:sp>
        <p:nvSpPr>
          <p:cNvPr id="38" name="Text 29"/>
          <p:cNvSpPr/>
          <p:nvPr/>
        </p:nvSpPr>
        <p:spPr>
          <a:xfrm>
            <a:off x="3343656" y="1729740"/>
            <a:ext cx="292608" cy="237744"/>
          </a:xfrm>
          <a:prstGeom prst="rect">
            <a:avLst/>
          </a:prstGeom>
          <a:noFill/>
          <a:ln/>
        </p:spPr>
        <p:txBody>
          <a:bodyPr wrap="square" lIns="0" tIns="0" rIns="0" bIns="0" rtlCol="0" anchor="ctr"/>
          <a:lstStyle/>
          <a:p>
            <a:pPr marL="0" indent="0" algn="ctr">
              <a:buNone/>
            </a:pPr>
            <a:r>
              <a:rPr lang="en-US" sz="1000" b="1" dirty="0">
                <a:solidFill>
                  <a:srgbClr val="888888"/>
                </a:solidFill>
              </a:rPr>
              <a:t>G2</a:t>
            </a:r>
            <a:endParaRPr lang="en-US" sz="1000" dirty="0"/>
          </a:p>
        </p:txBody>
      </p:sp>
      <p:sp>
        <p:nvSpPr>
          <p:cNvPr id="39" name="Text 30"/>
          <p:cNvSpPr/>
          <p:nvPr/>
        </p:nvSpPr>
        <p:spPr>
          <a:xfrm>
            <a:off x="3343656" y="2332967"/>
            <a:ext cx="2502408" cy="347472"/>
          </a:xfrm>
          <a:prstGeom prst="rect">
            <a:avLst/>
          </a:prstGeom>
          <a:noFill/>
          <a:ln/>
        </p:spPr>
        <p:txBody>
          <a:bodyPr wrap="square" lIns="0" tIns="0" rIns="0" bIns="0" rtlCol="0" anchor="ctr"/>
          <a:lstStyle/>
          <a:p>
            <a:pPr marL="0" indent="0">
              <a:buNone/>
            </a:pPr>
            <a:r>
              <a:rPr lang="en-US" sz="1200" b="1" dirty="0">
                <a:solidFill>
                  <a:srgbClr val="0A0A0A"/>
                </a:solidFill>
              </a:rPr>
              <a:t>Stabilité grands messages</a:t>
            </a:r>
            <a:endParaRPr lang="en-US" sz="1200" dirty="0"/>
          </a:p>
        </p:txBody>
      </p:sp>
      <p:sp>
        <p:nvSpPr>
          <p:cNvPr id="40" name="Text 31"/>
          <p:cNvSpPr/>
          <p:nvPr/>
        </p:nvSpPr>
        <p:spPr>
          <a:xfrm>
            <a:off x="3343656" y="2707871"/>
            <a:ext cx="2593848" cy="658368"/>
          </a:xfrm>
          <a:prstGeom prst="rect">
            <a:avLst/>
          </a:prstGeom>
          <a:noFill/>
          <a:ln/>
        </p:spPr>
        <p:txBody>
          <a:bodyPr wrap="square" lIns="0" tIns="0" rIns="0" bIns="0" rtlCol="0" anchor="ctr"/>
          <a:lstStyle/>
          <a:p>
            <a:pPr marL="0" indent="0">
              <a:buNone/>
            </a:pPr>
            <a:r>
              <a:rPr lang="fr-FR" sz="1050" dirty="0">
                <a:solidFill>
                  <a:srgbClr val="888888"/>
                </a:solidFill>
              </a:rPr>
              <a:t>Au moins 90 % des configurations (msg ≥ 1024) doivent passer le seuil IC95 relatif</a:t>
            </a:r>
            <a:endParaRPr lang="en-US" sz="1050" dirty="0"/>
          </a:p>
        </p:txBody>
      </p:sp>
      <p:sp>
        <p:nvSpPr>
          <p:cNvPr id="41" name="Shape 32"/>
          <p:cNvSpPr/>
          <p:nvPr/>
        </p:nvSpPr>
        <p:spPr>
          <a:xfrm>
            <a:off x="3343656" y="3430247"/>
            <a:ext cx="2456688" cy="9144"/>
          </a:xfrm>
          <a:prstGeom prst="rect">
            <a:avLst/>
          </a:prstGeom>
          <a:solidFill>
            <a:srgbClr val="E0E0E0"/>
          </a:solidFill>
          <a:ln w="12700">
            <a:solidFill>
              <a:srgbClr val="E0E0E0"/>
            </a:solidFill>
            <a:prstDash val="solid"/>
          </a:ln>
        </p:spPr>
        <p:txBody>
          <a:bodyPr/>
          <a:lstStyle/>
          <a:p>
            <a:endParaRPr lang="en-CA"/>
          </a:p>
        </p:txBody>
      </p:sp>
      <p:pic>
        <p:nvPicPr>
          <p:cNvPr id="42" name="Image 7" descr="preencoded.png"/>
          <p:cNvPicPr>
            <a:picLocks noChangeAspect="1"/>
          </p:cNvPicPr>
          <p:nvPr/>
        </p:nvPicPr>
        <p:blipFill>
          <a:blip r:embed="rId4"/>
          <a:stretch>
            <a:fillRect/>
          </a:stretch>
        </p:blipFill>
        <p:spPr>
          <a:xfrm>
            <a:off x="3343656" y="3549119"/>
            <a:ext cx="201168" cy="201168"/>
          </a:xfrm>
          <a:prstGeom prst="rect">
            <a:avLst/>
          </a:prstGeom>
        </p:spPr>
      </p:pic>
      <p:sp>
        <p:nvSpPr>
          <p:cNvPr id="43" name="Text 33"/>
          <p:cNvSpPr/>
          <p:nvPr/>
        </p:nvSpPr>
        <p:spPr>
          <a:xfrm>
            <a:off x="3599688" y="3530831"/>
            <a:ext cx="2228088" cy="274320"/>
          </a:xfrm>
          <a:prstGeom prst="rect">
            <a:avLst/>
          </a:prstGeom>
          <a:noFill/>
          <a:ln/>
        </p:spPr>
        <p:txBody>
          <a:bodyPr wrap="square" lIns="0" tIns="0" rIns="0" bIns="0" rtlCol="0" anchor="ctr"/>
          <a:lstStyle/>
          <a:p>
            <a:pPr marL="0" indent="0">
              <a:buNone/>
            </a:pPr>
            <a:r>
              <a:rPr lang="en-US" sz="1500" b="1" dirty="0">
                <a:solidFill>
                  <a:srgbClr val="2E7D52"/>
                </a:solidFill>
              </a:rPr>
              <a:t>91,4 %</a:t>
            </a:r>
            <a:endParaRPr lang="en-US" sz="1500" dirty="0"/>
          </a:p>
        </p:txBody>
      </p:sp>
      <p:sp>
        <p:nvSpPr>
          <p:cNvPr id="44" name="Shape 34"/>
          <p:cNvSpPr/>
          <p:nvPr/>
        </p:nvSpPr>
        <p:spPr>
          <a:xfrm>
            <a:off x="6047232" y="1628879"/>
            <a:ext cx="2731008" cy="2286000"/>
          </a:xfrm>
          <a:prstGeom prst="roundRect">
            <a:avLst>
              <a:gd name="adj" fmla="val 1600"/>
            </a:avLst>
          </a:prstGeom>
          <a:solidFill>
            <a:srgbClr val="F9F9F9"/>
          </a:solidFill>
          <a:ln w="6350">
            <a:solidFill>
              <a:srgbClr val="E8E8E8"/>
            </a:solidFill>
            <a:prstDash val="solid"/>
          </a:ln>
        </p:spPr>
        <p:txBody>
          <a:bodyPr/>
          <a:lstStyle/>
          <a:p>
            <a:endParaRPr lang="en-CA"/>
          </a:p>
        </p:txBody>
      </p:sp>
      <p:sp>
        <p:nvSpPr>
          <p:cNvPr id="47" name="Shape 36"/>
          <p:cNvSpPr/>
          <p:nvPr/>
        </p:nvSpPr>
        <p:spPr>
          <a:xfrm>
            <a:off x="6183837" y="1739992"/>
            <a:ext cx="292608" cy="237744"/>
          </a:xfrm>
          <a:prstGeom prst="roundRect">
            <a:avLst>
              <a:gd name="adj" fmla="val 57692"/>
            </a:avLst>
          </a:prstGeom>
          <a:solidFill>
            <a:srgbClr val="EEEEEE"/>
          </a:solidFill>
          <a:ln w="12700">
            <a:solidFill>
              <a:srgbClr val="EEEEEE"/>
            </a:solidFill>
            <a:prstDash val="solid"/>
          </a:ln>
        </p:spPr>
        <p:txBody>
          <a:bodyPr/>
          <a:lstStyle/>
          <a:p>
            <a:endParaRPr lang="en-CA"/>
          </a:p>
        </p:txBody>
      </p:sp>
      <p:sp>
        <p:nvSpPr>
          <p:cNvPr id="48" name="Text 37"/>
          <p:cNvSpPr/>
          <p:nvPr/>
        </p:nvSpPr>
        <p:spPr>
          <a:xfrm>
            <a:off x="6183837" y="1739992"/>
            <a:ext cx="292608" cy="237744"/>
          </a:xfrm>
          <a:prstGeom prst="rect">
            <a:avLst/>
          </a:prstGeom>
          <a:noFill/>
          <a:ln/>
        </p:spPr>
        <p:txBody>
          <a:bodyPr wrap="square" lIns="0" tIns="0" rIns="0" bIns="0" rtlCol="0" anchor="ctr"/>
          <a:lstStyle/>
          <a:p>
            <a:pPr marL="0" indent="0" algn="ctr">
              <a:buNone/>
            </a:pPr>
            <a:r>
              <a:rPr lang="en-US" sz="1000" b="1" dirty="0">
                <a:solidFill>
                  <a:srgbClr val="888888"/>
                </a:solidFill>
              </a:rPr>
              <a:t>G3</a:t>
            </a:r>
            <a:endParaRPr lang="en-US" sz="1000" dirty="0"/>
          </a:p>
        </p:txBody>
      </p:sp>
      <p:sp>
        <p:nvSpPr>
          <p:cNvPr id="49" name="Text 38"/>
          <p:cNvSpPr/>
          <p:nvPr/>
        </p:nvSpPr>
        <p:spPr>
          <a:xfrm>
            <a:off x="6184392" y="2332967"/>
            <a:ext cx="2502408" cy="347472"/>
          </a:xfrm>
          <a:prstGeom prst="rect">
            <a:avLst/>
          </a:prstGeom>
          <a:noFill/>
          <a:ln/>
        </p:spPr>
        <p:txBody>
          <a:bodyPr wrap="square" lIns="0" tIns="0" rIns="0" bIns="0" rtlCol="0" anchor="ctr"/>
          <a:lstStyle/>
          <a:p>
            <a:pPr marL="0" indent="0">
              <a:buNone/>
            </a:pPr>
            <a:r>
              <a:rPr lang="en-US" sz="1200" b="1" dirty="0">
                <a:solidFill>
                  <a:srgbClr val="0A0A0A"/>
                </a:solidFill>
              </a:rPr>
              <a:t>Outliers IC95 relatif</a:t>
            </a:r>
            <a:endParaRPr lang="en-US" sz="1200" dirty="0"/>
          </a:p>
        </p:txBody>
      </p:sp>
      <p:sp>
        <p:nvSpPr>
          <p:cNvPr id="50" name="Text 39"/>
          <p:cNvSpPr/>
          <p:nvPr/>
        </p:nvSpPr>
        <p:spPr>
          <a:xfrm>
            <a:off x="6184392" y="2707871"/>
            <a:ext cx="2502408" cy="658368"/>
          </a:xfrm>
          <a:prstGeom prst="rect">
            <a:avLst/>
          </a:prstGeom>
          <a:noFill/>
          <a:ln/>
        </p:spPr>
        <p:txBody>
          <a:bodyPr wrap="square" lIns="0" tIns="0" rIns="0" bIns="0" rtlCol="0" anchor="ctr"/>
          <a:lstStyle/>
          <a:p>
            <a:pPr marL="0" indent="0">
              <a:buNone/>
            </a:pPr>
            <a:r>
              <a:rPr lang="fr-FR" sz="1050" dirty="0">
                <a:solidFill>
                  <a:srgbClr val="888888"/>
                </a:solidFill>
              </a:rPr>
              <a:t>Le nombre de configurations avec IC95 relatif &gt; 20 % doit être ≤ 20</a:t>
            </a:r>
            <a:endParaRPr lang="en-US" sz="1050" dirty="0"/>
          </a:p>
        </p:txBody>
      </p:sp>
      <p:sp>
        <p:nvSpPr>
          <p:cNvPr id="51" name="Shape 40"/>
          <p:cNvSpPr/>
          <p:nvPr/>
        </p:nvSpPr>
        <p:spPr>
          <a:xfrm>
            <a:off x="6184392" y="3430247"/>
            <a:ext cx="2456688" cy="9144"/>
          </a:xfrm>
          <a:prstGeom prst="rect">
            <a:avLst/>
          </a:prstGeom>
          <a:solidFill>
            <a:srgbClr val="E0E0E0"/>
          </a:solidFill>
          <a:ln w="12700">
            <a:solidFill>
              <a:srgbClr val="E0E0E0"/>
            </a:solidFill>
            <a:prstDash val="solid"/>
          </a:ln>
        </p:spPr>
        <p:txBody>
          <a:bodyPr/>
          <a:lstStyle/>
          <a:p>
            <a:endParaRPr lang="en-CA"/>
          </a:p>
        </p:txBody>
      </p:sp>
      <p:pic>
        <p:nvPicPr>
          <p:cNvPr id="52" name="Image 9" descr="preencoded.png"/>
          <p:cNvPicPr>
            <a:picLocks noChangeAspect="1"/>
          </p:cNvPicPr>
          <p:nvPr/>
        </p:nvPicPr>
        <p:blipFill>
          <a:blip r:embed="rId4"/>
          <a:stretch>
            <a:fillRect/>
          </a:stretch>
        </p:blipFill>
        <p:spPr>
          <a:xfrm>
            <a:off x="6184392" y="3549119"/>
            <a:ext cx="201168" cy="201168"/>
          </a:xfrm>
          <a:prstGeom prst="rect">
            <a:avLst/>
          </a:prstGeom>
        </p:spPr>
      </p:pic>
      <p:sp>
        <p:nvSpPr>
          <p:cNvPr id="53" name="Text 41"/>
          <p:cNvSpPr/>
          <p:nvPr/>
        </p:nvSpPr>
        <p:spPr>
          <a:xfrm>
            <a:off x="6440424" y="3530831"/>
            <a:ext cx="2228088" cy="274320"/>
          </a:xfrm>
          <a:prstGeom prst="rect">
            <a:avLst/>
          </a:prstGeom>
          <a:noFill/>
          <a:ln/>
        </p:spPr>
        <p:txBody>
          <a:bodyPr wrap="square" lIns="0" tIns="0" rIns="0" bIns="0" rtlCol="0" anchor="ctr"/>
          <a:lstStyle/>
          <a:p>
            <a:pPr marL="0" indent="0">
              <a:buNone/>
            </a:pPr>
            <a:r>
              <a:rPr lang="en-US" sz="1500" b="1" dirty="0">
                <a:solidFill>
                  <a:srgbClr val="2E7D52"/>
                </a:solidFill>
              </a:rPr>
              <a:t>7 configs</a:t>
            </a:r>
            <a:endParaRPr lang="en-US" sz="1500" dirty="0"/>
          </a:p>
        </p:txBody>
      </p:sp>
      <p:sp>
        <p:nvSpPr>
          <p:cNvPr id="54" name="Shape 42"/>
          <p:cNvSpPr/>
          <p:nvPr/>
        </p:nvSpPr>
        <p:spPr>
          <a:xfrm>
            <a:off x="2269374" y="4141539"/>
            <a:ext cx="4605251" cy="457200"/>
          </a:xfrm>
          <a:prstGeom prst="roundRect">
            <a:avLst>
              <a:gd name="adj" fmla="val 14000"/>
            </a:avLst>
          </a:prstGeom>
          <a:solidFill>
            <a:srgbClr val="F0FAF4"/>
          </a:solidFill>
          <a:ln w="19050">
            <a:solidFill>
              <a:srgbClr val="4CAF82"/>
            </a:solidFill>
            <a:prstDash val="solid"/>
          </a:ln>
        </p:spPr>
        <p:txBody>
          <a:bodyPr/>
          <a:lstStyle/>
          <a:p>
            <a:endParaRPr lang="en-CA"/>
          </a:p>
        </p:txBody>
      </p:sp>
      <p:pic>
        <p:nvPicPr>
          <p:cNvPr id="55" name="Image 10" descr="preencoded.png"/>
          <p:cNvPicPr>
            <a:picLocks noChangeAspect="1"/>
          </p:cNvPicPr>
          <p:nvPr/>
        </p:nvPicPr>
        <p:blipFill>
          <a:blip r:embed="rId5"/>
          <a:stretch>
            <a:fillRect/>
          </a:stretch>
        </p:blipFill>
        <p:spPr>
          <a:xfrm>
            <a:off x="2692908" y="4228754"/>
            <a:ext cx="292608" cy="292608"/>
          </a:xfrm>
          <a:prstGeom prst="rect">
            <a:avLst/>
          </a:prstGeom>
        </p:spPr>
      </p:pic>
      <p:sp>
        <p:nvSpPr>
          <p:cNvPr id="56" name="Text 43"/>
          <p:cNvSpPr/>
          <p:nvPr/>
        </p:nvSpPr>
        <p:spPr>
          <a:xfrm>
            <a:off x="2932176" y="4201322"/>
            <a:ext cx="822960" cy="347472"/>
          </a:xfrm>
          <a:prstGeom prst="rect">
            <a:avLst/>
          </a:prstGeom>
          <a:noFill/>
          <a:ln/>
        </p:spPr>
        <p:txBody>
          <a:bodyPr wrap="square" lIns="0" tIns="0" rIns="0" bIns="0" rtlCol="0" anchor="ctr"/>
          <a:lstStyle/>
          <a:p>
            <a:pPr marL="0" indent="0" algn="ctr">
              <a:buNone/>
            </a:pPr>
            <a:r>
              <a:rPr lang="en-US" sz="1600" b="1" dirty="0">
                <a:solidFill>
                  <a:srgbClr val="2E7D52"/>
                </a:solidFill>
              </a:rPr>
              <a:t>PASS</a:t>
            </a:r>
            <a:endParaRPr lang="en-US" sz="1600" dirty="0"/>
          </a:p>
        </p:txBody>
      </p:sp>
      <p:sp>
        <p:nvSpPr>
          <p:cNvPr id="57" name="Text 44"/>
          <p:cNvSpPr/>
          <p:nvPr/>
        </p:nvSpPr>
        <p:spPr>
          <a:xfrm>
            <a:off x="3442855" y="4214691"/>
            <a:ext cx="3431770" cy="310896"/>
          </a:xfrm>
          <a:prstGeom prst="rect">
            <a:avLst/>
          </a:prstGeom>
          <a:noFill/>
          <a:ln/>
        </p:spPr>
        <p:txBody>
          <a:bodyPr wrap="square" lIns="0" tIns="0" rIns="0" bIns="0" rtlCol="0" anchor="ctr"/>
          <a:lstStyle/>
          <a:p>
            <a:pPr marL="0" indent="0" algn="ctr">
              <a:buNone/>
            </a:pPr>
            <a:r>
              <a:rPr lang="fr-FR" sz="1150" dirty="0">
                <a:solidFill>
                  <a:srgbClr val="4CAF82"/>
                </a:solidFill>
              </a:rPr>
              <a:t>3/3 gates validés · publication CI autorisée</a:t>
            </a:r>
            <a:endParaRPr lang="en-US" sz="1150" dirty="0"/>
          </a:p>
        </p:txBody>
      </p:sp>
      <p:sp>
        <p:nvSpPr>
          <p:cNvPr id="58" name="Text 45"/>
          <p:cNvSpPr/>
          <p:nvPr/>
        </p:nvSpPr>
        <p:spPr>
          <a:xfrm>
            <a:off x="0" y="4846320"/>
            <a:ext cx="9144000" cy="201168"/>
          </a:xfrm>
          <a:prstGeom prst="rect">
            <a:avLst/>
          </a:prstGeom>
          <a:noFill/>
          <a:ln/>
        </p:spPr>
        <p:txBody>
          <a:bodyPr wrap="square" lIns="0" tIns="0" rIns="0" bIns="0" rtlCol="0" anchor="ctr"/>
          <a:lstStyle/>
          <a:p>
            <a:pPr marL="0" indent="0" algn="ctr">
              <a:buNone/>
            </a:pPr>
            <a:r>
              <a:rPr lang="en-US" sz="850" b="1" kern="0" spc="120" dirty="0">
                <a:solidFill>
                  <a:srgbClr val="C9A84C"/>
                </a:solidFill>
              </a:rPr>
              <a:t>INF1430</a:t>
            </a:r>
            <a:r>
              <a:rPr lang="en-US" sz="850" kern="0" spc="120" dirty="0">
                <a:solidFill>
                  <a:srgbClr val="CCCCCC"/>
                </a:solidFill>
              </a:rPr>
              <a:t>  ·  Université TÉLUQ  ·  TN3  ·  Melissa Moya  ·  2026</a:t>
            </a:r>
            <a:endParaRPr lang="en-US" sz="850" dirty="0"/>
          </a:p>
        </p:txBody>
      </p:sp>
      <p:sp>
        <p:nvSpPr>
          <p:cNvPr id="60" name="Text 1">
            <a:extLst>
              <a:ext uri="{FF2B5EF4-FFF2-40B4-BE49-F238E27FC236}">
                <a16:creationId xmlns:a16="http://schemas.microsoft.com/office/drawing/2014/main" id="{34034981-8127-BAA9-5911-FA87E185EDB3}"/>
              </a:ext>
            </a:extLst>
          </p:cNvPr>
          <p:cNvSpPr/>
          <p:nvPr/>
        </p:nvSpPr>
        <p:spPr>
          <a:xfrm>
            <a:off x="453044" y="164591"/>
            <a:ext cx="73152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04d  ·  GÉNÉRATION DES SORTIES EXPÉRIMENTALES</a:t>
            </a:r>
            <a:endParaRPr lang="en-US" sz="800" dirty="0"/>
          </a:p>
        </p:txBody>
      </p:sp>
      <p:sp>
        <p:nvSpPr>
          <p:cNvPr id="62" name="Text 2">
            <a:extLst>
              <a:ext uri="{FF2B5EF4-FFF2-40B4-BE49-F238E27FC236}">
                <a16:creationId xmlns:a16="http://schemas.microsoft.com/office/drawing/2014/main" id="{4AA5BFDC-F30B-E5A1-2741-A910D9EBB212}"/>
              </a:ext>
            </a:extLst>
          </p:cNvPr>
          <p:cNvSpPr/>
          <p:nvPr/>
        </p:nvSpPr>
        <p:spPr>
          <a:xfrm>
            <a:off x="453044" y="329183"/>
            <a:ext cx="8229600" cy="329184"/>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IC95 relatif : </a:t>
            </a:r>
            <a:r>
              <a:rPr lang="fr-FR" sz="1500" b="1" dirty="0">
                <a:solidFill>
                  <a:srgbClr val="CFB260"/>
                </a:solidFill>
                <a:latin typeface="Calibri" pitchFamily="34" charset="0"/>
                <a:ea typeface="Calibri" pitchFamily="34" charset="-122"/>
                <a:cs typeface="Calibri" pitchFamily="34" charset="-120"/>
              </a:rPr>
              <a:t>application des gates</a:t>
            </a:r>
          </a:p>
        </p:txBody>
      </p:sp>
      <p:pic>
        <p:nvPicPr>
          <p:cNvPr id="68" name="Picture 67">
            <a:extLst>
              <a:ext uri="{FF2B5EF4-FFF2-40B4-BE49-F238E27FC236}">
                <a16:creationId xmlns:a16="http://schemas.microsoft.com/office/drawing/2014/main" id="{7E70C93D-0316-5699-17AC-E969E411414E}"/>
              </a:ext>
            </a:extLst>
          </p:cNvPr>
          <p:cNvPicPr>
            <a:picLocks noChangeAspect="1"/>
          </p:cNvPicPr>
          <p:nvPr/>
        </p:nvPicPr>
        <p:blipFill>
          <a:blip r:embed="rId6">
            <a:alphaModFix amt="10000"/>
          </a:blip>
          <a:stretch>
            <a:fillRect/>
          </a:stretch>
        </p:blipFill>
        <p:spPr>
          <a:xfrm>
            <a:off x="7933487" y="1691232"/>
            <a:ext cx="735025" cy="735025"/>
          </a:xfrm>
          <a:prstGeom prst="rect">
            <a:avLst/>
          </a:prstGeom>
        </p:spPr>
      </p:pic>
      <p:pic>
        <p:nvPicPr>
          <p:cNvPr id="70" name="Picture 69">
            <a:extLst>
              <a:ext uri="{FF2B5EF4-FFF2-40B4-BE49-F238E27FC236}">
                <a16:creationId xmlns:a16="http://schemas.microsoft.com/office/drawing/2014/main" id="{EFFE1549-F118-03FA-49B7-3A0FF13AC1A4}"/>
              </a:ext>
            </a:extLst>
          </p:cNvPr>
          <p:cNvPicPr>
            <a:picLocks noChangeAspect="1"/>
          </p:cNvPicPr>
          <p:nvPr/>
        </p:nvPicPr>
        <p:blipFill>
          <a:blip r:embed="rId7">
            <a:alphaModFix amt="10000"/>
          </a:blip>
          <a:stretch>
            <a:fillRect/>
          </a:stretch>
        </p:blipFill>
        <p:spPr>
          <a:xfrm>
            <a:off x="5123159" y="1764515"/>
            <a:ext cx="548993" cy="56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82880"/>
            <a:ext cx="5486400" cy="182880"/>
          </a:xfrm>
          <a:prstGeom prst="rect">
            <a:avLst/>
          </a:prstGeom>
          <a:noFill/>
          <a:ln/>
        </p:spPr>
        <p:txBody>
          <a:bodyPr wrap="square" lIns="0" tIns="0" rIns="0" bIns="0" rtlCol="0" anchor="ctr"/>
          <a:lstStyle/>
          <a:p>
            <a:r>
              <a:rPr lang="fr-FR" sz="800" b="1" kern="0" spc="200" dirty="0">
                <a:solidFill>
                  <a:srgbClr val="C0C0C0"/>
                </a:solidFill>
                <a:latin typeface="Calibri" pitchFamily="34" charset="0"/>
                <a:ea typeface="Calibri" pitchFamily="34" charset="-122"/>
                <a:cs typeface="Calibri" pitchFamily="34" charset="-120"/>
              </a:rPr>
              <a:t>04e  ·  GÉNÉRATION DES SORTIES EXPÉRIMENTALES</a:t>
            </a:r>
          </a:p>
        </p:txBody>
      </p:sp>
      <p:sp>
        <p:nvSpPr>
          <p:cNvPr id="4" name="Text 2"/>
          <p:cNvSpPr/>
          <p:nvPr/>
        </p:nvSpPr>
        <p:spPr>
          <a:xfrm>
            <a:off x="475488" y="347472"/>
            <a:ext cx="6729984" cy="329184"/>
          </a:xfrm>
          <a:prstGeom prst="rect">
            <a:avLst/>
          </a:prstGeom>
          <a:noFill/>
          <a:ln/>
        </p:spPr>
        <p:txBody>
          <a:bodyPr wrap="square" lIns="0" tIns="0" rIns="0" bIns="0" rtlCol="0" anchor="ctr"/>
          <a:lstStyle/>
          <a:p>
            <a:r>
              <a:rPr lang="fr-FR" sz="1500" b="1" dirty="0">
                <a:solidFill>
                  <a:srgbClr val="0A0A0A"/>
                </a:solidFill>
                <a:latin typeface="Calibri" pitchFamily="34" charset="0"/>
                <a:ea typeface="Calibri" pitchFamily="34" charset="-122"/>
                <a:cs typeface="Calibri" pitchFamily="34" charset="-120"/>
              </a:rPr>
              <a:t>Validation des résultats : </a:t>
            </a:r>
            <a:r>
              <a:rPr lang="fr-FR" sz="1500" b="1" dirty="0">
                <a:solidFill>
                  <a:srgbClr val="CFB260"/>
                </a:solidFill>
                <a:latin typeface="Calibri" pitchFamily="34" charset="0"/>
                <a:ea typeface="Calibri" pitchFamily="34" charset="-122"/>
                <a:cs typeface="Calibri" pitchFamily="34" charset="-120"/>
              </a:rPr>
              <a:t>effet d'avalanche</a:t>
            </a:r>
            <a:endParaRPr lang="en-US" sz="1500" dirty="0">
              <a:solidFill>
                <a:srgbClr val="CFB260"/>
              </a:solidFill>
            </a:endParaRPr>
          </a:p>
        </p:txBody>
      </p:sp>
      <p:sp>
        <p:nvSpPr>
          <p:cNvPr id="11" name="Shape 9"/>
          <p:cNvSpPr/>
          <p:nvPr/>
        </p:nvSpPr>
        <p:spPr>
          <a:xfrm>
            <a:off x="475488" y="3553565"/>
            <a:ext cx="2651760" cy="849551"/>
          </a:xfrm>
          <a:prstGeom prst="roundRect">
            <a:avLst>
              <a:gd name="adj" fmla="val 9756"/>
            </a:avLst>
          </a:prstGeom>
          <a:solidFill>
            <a:srgbClr val="FAFAFA"/>
          </a:solidFill>
          <a:ln w="6350">
            <a:solidFill>
              <a:srgbClr val="EEEEEE"/>
            </a:solidFill>
            <a:prstDash val="solid"/>
          </a:ln>
        </p:spPr>
        <p:txBody>
          <a:bodyPr/>
          <a:lstStyle/>
          <a:p>
            <a:endParaRPr lang="en-CA"/>
          </a:p>
        </p:txBody>
      </p:sp>
      <p:sp>
        <p:nvSpPr>
          <p:cNvPr id="12" name="Text 10"/>
          <p:cNvSpPr/>
          <p:nvPr/>
        </p:nvSpPr>
        <p:spPr>
          <a:xfrm>
            <a:off x="603504" y="3645005"/>
            <a:ext cx="2395728" cy="219456"/>
          </a:xfrm>
          <a:prstGeom prst="rect">
            <a:avLst/>
          </a:prstGeom>
          <a:noFill/>
          <a:ln/>
        </p:spPr>
        <p:txBody>
          <a:bodyPr wrap="square" lIns="0" tIns="0" rIns="0" bIns="0" rtlCol="0" anchor="ctr"/>
          <a:lstStyle/>
          <a:p>
            <a:r>
              <a:rPr lang="en-US" sz="900" b="1" dirty="0">
                <a:solidFill>
                  <a:srgbClr val="0A0A0A"/>
                </a:solidFill>
                <a:latin typeface="Calibri" pitchFamily="34" charset="0"/>
                <a:ea typeface="Calibri" pitchFamily="34" charset="-122"/>
                <a:cs typeface="Calibri" pitchFamily="34" charset="-120"/>
              </a:rPr>
              <a:t>Référence théorique (~50%)</a:t>
            </a:r>
            <a:endParaRPr lang="en-US" sz="900" dirty="0"/>
          </a:p>
        </p:txBody>
      </p:sp>
      <p:sp>
        <p:nvSpPr>
          <p:cNvPr id="13" name="Text 11"/>
          <p:cNvSpPr/>
          <p:nvPr/>
        </p:nvSpPr>
        <p:spPr>
          <a:xfrm>
            <a:off x="603504" y="3923581"/>
            <a:ext cx="2395728" cy="420624"/>
          </a:xfrm>
          <a:prstGeom prst="rect">
            <a:avLst/>
          </a:prstGeom>
          <a:noFill/>
          <a:ln/>
        </p:spPr>
        <p:txBody>
          <a:bodyPr wrap="square" lIns="0" tIns="0" rIns="0" bIns="0" rtlCol="0" anchor="t"/>
          <a:lstStyle/>
          <a:p>
            <a:pPr>
              <a:lnSpc>
                <a:spcPct val="130000"/>
              </a:lnSpc>
            </a:pPr>
            <a:r>
              <a:rPr lang="fr-FR" sz="750" dirty="0">
                <a:solidFill>
                  <a:srgbClr val="555555"/>
                </a:solidFill>
                <a:latin typeface="Calibri" pitchFamily="34" charset="0"/>
                <a:ea typeface="Calibri" pitchFamily="34" charset="-122"/>
                <a:cs typeface="Calibri" pitchFamily="34" charset="-120"/>
              </a:rPr>
              <a:t>AES, DES, 3DES et Twofish convergent vers 50% (écart moyen &lt; 0,1 point), conforme aux critères de diffusion classiques.</a:t>
            </a:r>
            <a:endParaRPr lang="en-US" sz="750" dirty="0"/>
          </a:p>
        </p:txBody>
      </p:sp>
      <p:sp>
        <p:nvSpPr>
          <p:cNvPr id="15" name="Shape 13"/>
          <p:cNvSpPr/>
          <p:nvPr/>
        </p:nvSpPr>
        <p:spPr>
          <a:xfrm>
            <a:off x="3310128" y="3553565"/>
            <a:ext cx="2651760" cy="849551"/>
          </a:xfrm>
          <a:prstGeom prst="roundRect">
            <a:avLst>
              <a:gd name="adj" fmla="val 9756"/>
            </a:avLst>
          </a:prstGeom>
          <a:solidFill>
            <a:srgbClr val="FAFAFA"/>
          </a:solidFill>
          <a:ln w="6350">
            <a:solidFill>
              <a:srgbClr val="EEEEEE"/>
            </a:solidFill>
            <a:prstDash val="solid"/>
          </a:ln>
        </p:spPr>
        <p:txBody>
          <a:bodyPr/>
          <a:lstStyle/>
          <a:p>
            <a:endParaRPr lang="en-CA"/>
          </a:p>
        </p:txBody>
      </p:sp>
      <p:sp>
        <p:nvSpPr>
          <p:cNvPr id="16" name="Text 14"/>
          <p:cNvSpPr/>
          <p:nvPr/>
        </p:nvSpPr>
        <p:spPr>
          <a:xfrm>
            <a:off x="3438144" y="3645005"/>
            <a:ext cx="2395728" cy="219456"/>
          </a:xfrm>
          <a:prstGeom prst="rect">
            <a:avLst/>
          </a:prstGeom>
          <a:noFill/>
          <a:ln/>
        </p:spPr>
        <p:txBody>
          <a:bodyPr wrap="square" lIns="0" tIns="0" rIns="0" bIns="0" rtlCol="0" anchor="ctr"/>
          <a:lstStyle/>
          <a:p>
            <a:r>
              <a:rPr lang="fr-FR" sz="900" b="1" dirty="0">
                <a:solidFill>
                  <a:srgbClr val="0A0A0A"/>
                </a:solidFill>
                <a:latin typeface="Calibri" pitchFamily="34" charset="0"/>
                <a:ea typeface="Calibri" pitchFamily="34" charset="-122"/>
                <a:cs typeface="Calibri" pitchFamily="34" charset="-120"/>
              </a:rPr>
              <a:t>Robustesse inter-plateformes</a:t>
            </a:r>
            <a:endParaRPr lang="en-US" sz="900" dirty="0"/>
          </a:p>
        </p:txBody>
      </p:sp>
      <p:sp>
        <p:nvSpPr>
          <p:cNvPr id="17" name="Text 15"/>
          <p:cNvSpPr/>
          <p:nvPr/>
        </p:nvSpPr>
        <p:spPr>
          <a:xfrm>
            <a:off x="3438144" y="3864461"/>
            <a:ext cx="2395728" cy="420624"/>
          </a:xfrm>
          <a:prstGeom prst="rect">
            <a:avLst/>
          </a:prstGeom>
          <a:noFill/>
          <a:ln/>
        </p:spPr>
        <p:txBody>
          <a:bodyPr wrap="square" lIns="0" tIns="0" rIns="0" bIns="0" rtlCol="0" anchor="t"/>
          <a:lstStyle/>
          <a:p>
            <a:pPr>
              <a:lnSpc>
                <a:spcPct val="130000"/>
              </a:lnSpc>
            </a:pPr>
            <a:r>
              <a:rPr lang="fr-FR" sz="750" dirty="0">
                <a:solidFill>
                  <a:srgbClr val="555555"/>
                </a:solidFill>
                <a:latin typeface="Calibri" pitchFamily="34" charset="0"/>
                <a:ea typeface="Calibri" pitchFamily="34" charset="-122"/>
                <a:cs typeface="Calibri" pitchFamily="34" charset="-120"/>
              </a:rPr>
              <a:t>Sur les chiffrements par blocs, l’écart x86/ARM est négligeable, ce qui confirme une stabilité inter-plateformes élevée.</a:t>
            </a:r>
            <a:endParaRPr lang="en-US" sz="750" dirty="0"/>
          </a:p>
        </p:txBody>
      </p:sp>
      <p:sp>
        <p:nvSpPr>
          <p:cNvPr id="19" name="Shape 17"/>
          <p:cNvSpPr/>
          <p:nvPr/>
        </p:nvSpPr>
        <p:spPr>
          <a:xfrm>
            <a:off x="6144768" y="3553565"/>
            <a:ext cx="2651760" cy="849551"/>
          </a:xfrm>
          <a:prstGeom prst="roundRect">
            <a:avLst>
              <a:gd name="adj" fmla="val 9756"/>
            </a:avLst>
          </a:prstGeom>
          <a:solidFill>
            <a:srgbClr val="FAFAFA"/>
          </a:solidFill>
          <a:ln w="6350">
            <a:solidFill>
              <a:srgbClr val="EEEEEE"/>
            </a:solidFill>
            <a:prstDash val="solid"/>
          </a:ln>
        </p:spPr>
        <p:txBody>
          <a:bodyPr/>
          <a:lstStyle/>
          <a:p>
            <a:endParaRPr lang="en-CA"/>
          </a:p>
        </p:txBody>
      </p:sp>
      <p:sp>
        <p:nvSpPr>
          <p:cNvPr id="20" name="Text 18"/>
          <p:cNvSpPr/>
          <p:nvPr/>
        </p:nvSpPr>
        <p:spPr>
          <a:xfrm>
            <a:off x="6272784" y="3645005"/>
            <a:ext cx="2395728" cy="219456"/>
          </a:xfrm>
          <a:prstGeom prst="rect">
            <a:avLst/>
          </a:prstGeom>
          <a:noFill/>
          <a:ln/>
        </p:spPr>
        <p:txBody>
          <a:bodyPr wrap="square" lIns="0" tIns="0" rIns="0" bIns="0" rtlCol="0" anchor="ctr"/>
          <a:lstStyle/>
          <a:p>
            <a:r>
              <a:rPr lang="fr-FR" sz="900" b="1" dirty="0">
                <a:solidFill>
                  <a:srgbClr val="0A0A0A"/>
                </a:solidFill>
                <a:latin typeface="Calibri" pitchFamily="34" charset="0"/>
                <a:ea typeface="Calibri" pitchFamily="34" charset="-122"/>
                <a:cs typeface="Calibri" pitchFamily="34" charset="-120"/>
              </a:rPr>
              <a:t>Profil ChaCha20 (ARX)</a:t>
            </a:r>
            <a:endParaRPr lang="en-US" sz="900" dirty="0"/>
          </a:p>
        </p:txBody>
      </p:sp>
      <p:sp>
        <p:nvSpPr>
          <p:cNvPr id="21" name="Text 19"/>
          <p:cNvSpPr/>
          <p:nvPr/>
        </p:nvSpPr>
        <p:spPr>
          <a:xfrm>
            <a:off x="6272784" y="3864461"/>
            <a:ext cx="2395728" cy="420624"/>
          </a:xfrm>
          <a:prstGeom prst="rect">
            <a:avLst/>
          </a:prstGeom>
          <a:noFill/>
          <a:ln/>
        </p:spPr>
        <p:txBody>
          <a:bodyPr wrap="square" lIns="0" tIns="0" rIns="0" bIns="0" rtlCol="0" anchor="t"/>
          <a:lstStyle/>
          <a:p>
            <a:pPr>
              <a:lnSpc>
                <a:spcPct val="130000"/>
              </a:lnSpc>
            </a:pPr>
            <a:r>
              <a:rPr lang="fr-FR" sz="750" dirty="0">
                <a:solidFill>
                  <a:srgbClr val="555555"/>
                </a:solidFill>
                <a:latin typeface="Calibri" pitchFamily="34" charset="0"/>
                <a:ea typeface="Calibri" pitchFamily="34" charset="-122"/>
                <a:cs typeface="Calibri" pitchFamily="34" charset="-120"/>
              </a:rPr>
              <a:t>ChaCha20 est mesuré autour de 59,4-59,5% sur les deux plateformes. Ce profil plus élevé est cohérent avec une diffusion ARX et reste stable entre x86 et ARM.</a:t>
            </a:r>
            <a:endParaRPr lang="en-US" sz="750" dirty="0"/>
          </a:p>
        </p:txBody>
      </p:sp>
      <p:sp>
        <p:nvSpPr>
          <p:cNvPr id="22" name="Text 20"/>
          <p:cNvSpPr/>
          <p:nvPr/>
        </p:nvSpPr>
        <p:spPr>
          <a:xfrm>
            <a:off x="475488" y="4860036"/>
            <a:ext cx="8229600" cy="201168"/>
          </a:xfrm>
          <a:prstGeom prst="rect">
            <a:avLst/>
          </a:prstGeom>
          <a:noFill/>
          <a:ln/>
        </p:spPr>
        <p:txBody>
          <a:bodyPr wrap="square" lIns="0" tIns="0" rIns="0" bIns="0" rtlCol="0" anchor="ctr"/>
          <a:lstStyle/>
          <a:p>
            <a:pPr algn="ct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pic>
        <p:nvPicPr>
          <p:cNvPr id="6" name="Picture 5">
            <a:extLst>
              <a:ext uri="{FF2B5EF4-FFF2-40B4-BE49-F238E27FC236}">
                <a16:creationId xmlns:a16="http://schemas.microsoft.com/office/drawing/2014/main" id="{D5830CDE-14F7-DAA9-5D05-7184C419897B}"/>
              </a:ext>
            </a:extLst>
          </p:cNvPr>
          <p:cNvPicPr>
            <a:picLocks noChangeAspect="1"/>
          </p:cNvPicPr>
          <p:nvPr/>
        </p:nvPicPr>
        <p:blipFill>
          <a:blip r:embed="rId3"/>
          <a:stretch>
            <a:fillRect/>
          </a:stretch>
        </p:blipFill>
        <p:spPr>
          <a:xfrm>
            <a:off x="2441641" y="1152603"/>
            <a:ext cx="4185617" cy="2304440"/>
          </a:xfrm>
          <a:prstGeom prst="rect">
            <a:avLst/>
          </a:prstGeom>
        </p:spPr>
      </p:pic>
      <p:sp>
        <p:nvSpPr>
          <p:cNvPr id="26" name="TextBox 25">
            <a:extLst>
              <a:ext uri="{FF2B5EF4-FFF2-40B4-BE49-F238E27FC236}">
                <a16:creationId xmlns:a16="http://schemas.microsoft.com/office/drawing/2014/main" id="{F9A258E7-9689-6D10-D32D-EB635EB043DD}"/>
              </a:ext>
            </a:extLst>
          </p:cNvPr>
          <p:cNvSpPr txBox="1"/>
          <p:nvPr/>
        </p:nvSpPr>
        <p:spPr>
          <a:xfrm>
            <a:off x="231094" y="4494556"/>
            <a:ext cx="8321040" cy="338554"/>
          </a:xfrm>
          <a:prstGeom prst="rect">
            <a:avLst/>
          </a:prstGeom>
          <a:noFill/>
        </p:spPr>
        <p:txBody>
          <a:bodyPr wrap="square">
            <a:spAutoFit/>
          </a:bodyPr>
          <a:lstStyle/>
          <a:p>
            <a:pPr algn="ctr"/>
            <a:r>
              <a:rPr lang="fr-FR" sz="800" i="1" dirty="0">
                <a:solidFill>
                  <a:srgbClr val="CCCCCC"/>
                </a:solidFill>
                <a:latin typeface="Calibri" pitchFamily="34" charset="0"/>
                <a:cs typeface="Calibri" pitchFamily="34" charset="-120"/>
              </a:rPr>
              <a:t>Interprétation: cohérence théorique + stabilité inter-plateformes = résultats crédibles.</a:t>
            </a:r>
            <a:endParaRPr lang="en-CA" sz="800" i="1" dirty="0">
              <a:solidFill>
                <a:srgbClr val="CCCCCC"/>
              </a:solidFill>
              <a:latin typeface="Calibri" pitchFamily="34" charset="0"/>
              <a:cs typeface="Calibri" pitchFamily="34" charset="-120"/>
            </a:endParaRPr>
          </a:p>
          <a:p>
            <a:pPr algn="ctr"/>
            <a:r>
              <a:rPr lang="fr-FR" sz="800" i="1" dirty="0">
                <a:solidFill>
                  <a:srgbClr val="CCCCCC"/>
                </a:solidFill>
                <a:latin typeface="Calibri" pitchFamily="34" charset="0"/>
                <a:cs typeface="Calibri" pitchFamily="34" charset="-120"/>
              </a:rPr>
              <a:t>Références: Paar &amp; Pelzl, Understanding Cryptography (2010), section 3.3; RFC 8439 (ChaCha20)</a:t>
            </a:r>
          </a:p>
        </p:txBody>
      </p:sp>
      <p:sp>
        <p:nvSpPr>
          <p:cNvPr id="28" name="TextBox 27">
            <a:extLst>
              <a:ext uri="{FF2B5EF4-FFF2-40B4-BE49-F238E27FC236}">
                <a16:creationId xmlns:a16="http://schemas.microsoft.com/office/drawing/2014/main" id="{6C3709F3-8F83-E57D-56D1-8653A9B9237C}"/>
              </a:ext>
            </a:extLst>
          </p:cNvPr>
          <p:cNvSpPr txBox="1"/>
          <p:nvPr/>
        </p:nvSpPr>
        <p:spPr>
          <a:xfrm>
            <a:off x="411480" y="636691"/>
            <a:ext cx="8321040" cy="486352"/>
          </a:xfrm>
          <a:prstGeom prst="rect">
            <a:avLst/>
          </a:prstGeom>
          <a:noFill/>
        </p:spPr>
        <p:txBody>
          <a:bodyPr wrap="square">
            <a:spAutoFit/>
          </a:bodyPr>
          <a:lstStyle/>
          <a:p>
            <a:pPr>
              <a:lnSpc>
                <a:spcPct val="150000"/>
              </a:lnSpc>
            </a:pPr>
            <a:r>
              <a:rPr lang="fr-FR" sz="900" dirty="0">
                <a:solidFill>
                  <a:schemeClr val="bg1">
                    <a:lumMod val="50000"/>
                  </a:schemeClr>
                </a:solidFill>
                <a:latin typeface="Calibri" pitchFamily="34" charset="0"/>
                <a:cs typeface="Calibri" pitchFamily="34" charset="-120"/>
              </a:rPr>
              <a:t>Ce graphique vérifie la cohérence expérimentale avec la littérature: les block ciphers doivent converger vers ~50% d’effet d’avalanche, et les résultats doivent rester stables entre x86 et ARM. Nos mesures respectent ces deux critères.</a:t>
            </a:r>
            <a:endParaRPr lang="en-CA" sz="900" dirty="0">
              <a:solidFill>
                <a:schemeClr val="bg1">
                  <a:lumMod val="50000"/>
                </a:schemeClr>
              </a:solidFill>
              <a:latin typeface="Calibri" pitchFamily="34" charset="0"/>
              <a:cs typeface="Calibri" pitchFamily="34" charset="-12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0" y="1911096"/>
            <a:ext cx="3602736" cy="3200400"/>
          </a:xfrm>
          <a:prstGeom prst="rect">
            <a:avLst/>
          </a:prstGeom>
          <a:noFill/>
          <a:ln/>
        </p:spPr>
        <p:txBody>
          <a:bodyPr wrap="square" lIns="0" tIns="0" rIns="0" bIns="0" rtlCol="0" anchor="ctr"/>
          <a:lstStyle/>
          <a:p>
            <a:pPr marL="0" indent="0">
              <a:buNone/>
            </a:pPr>
            <a:r>
              <a:rPr lang="en-US" sz="16000" b="1" dirty="0">
                <a:solidFill>
                  <a:srgbClr val="0A0A0A">
                    <a:alpha val="3000"/>
                  </a:srgbClr>
                </a:solidFill>
                <a:latin typeface="Calibri" pitchFamily="34" charset="0"/>
                <a:ea typeface="Calibri" pitchFamily="34" charset="-122"/>
                <a:cs typeface="Calibri" pitchFamily="34" charset="-120"/>
              </a:rPr>
              <a:t>05</a:t>
            </a:r>
            <a:endParaRPr lang="en-US" sz="16000" dirty="0"/>
          </a:p>
        </p:txBody>
      </p:sp>
      <p:sp>
        <p:nvSpPr>
          <p:cNvPr id="4" name="Text 2"/>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05  ·  SYNTHÈSE ET DÉMONSTRATION</a:t>
            </a:r>
            <a:endParaRPr lang="en-US" sz="800" dirty="0"/>
          </a:p>
        </p:txBody>
      </p:sp>
      <p:sp>
        <p:nvSpPr>
          <p:cNvPr id="5" name="Text 3"/>
          <p:cNvSpPr/>
          <p:nvPr/>
        </p:nvSpPr>
        <p:spPr>
          <a:xfrm>
            <a:off x="475488" y="402336"/>
            <a:ext cx="2834640" cy="1371600"/>
          </a:xfrm>
          <a:prstGeom prst="rect">
            <a:avLst/>
          </a:prstGeom>
          <a:noFill/>
          <a:ln/>
        </p:spPr>
        <p:txBody>
          <a:bodyPr wrap="square" lIns="0" tIns="0" rIns="0" bIns="0" rtlCol="0" anchor="ctr"/>
          <a:lstStyle/>
          <a:p>
            <a:pPr marL="0" indent="0">
              <a:lnSpc>
                <a:spcPct val="110000"/>
              </a:lnSpc>
              <a:buNone/>
            </a:pPr>
            <a:r>
              <a:rPr lang="en-US" sz="2100" b="1" dirty="0">
                <a:solidFill>
                  <a:srgbClr val="0A0A0A"/>
                </a:solidFill>
                <a:latin typeface="Calibri" pitchFamily="34" charset="0"/>
                <a:ea typeface="Calibri" pitchFamily="34" charset="-122"/>
                <a:cs typeface="Calibri" pitchFamily="34" charset="-120"/>
              </a:rPr>
              <a:t>Synthèse</a:t>
            </a:r>
            <a:endParaRPr lang="en-US" sz="2100" dirty="0"/>
          </a:p>
          <a:p>
            <a:pPr marL="0" indent="0">
              <a:lnSpc>
                <a:spcPct val="110000"/>
              </a:lnSpc>
              <a:buNone/>
            </a:pPr>
            <a:r>
              <a:rPr lang="en-US" sz="2100" b="1" dirty="0">
                <a:solidFill>
                  <a:srgbClr val="0A0A0A"/>
                </a:solidFill>
                <a:latin typeface="Calibri" pitchFamily="34" charset="0"/>
                <a:ea typeface="Calibri" pitchFamily="34" charset="-122"/>
                <a:cs typeface="Calibri" pitchFamily="34" charset="-120"/>
              </a:rPr>
              <a:t>et </a:t>
            </a:r>
            <a:r>
              <a:rPr lang="en-US" sz="2100" b="1" dirty="0">
                <a:solidFill>
                  <a:srgbClr val="C9A84C"/>
                </a:solidFill>
                <a:latin typeface="Calibri" pitchFamily="34" charset="0"/>
                <a:ea typeface="Calibri" pitchFamily="34" charset="-122"/>
                <a:cs typeface="Calibri" pitchFamily="34" charset="-120"/>
              </a:rPr>
              <a:t>démonstration</a:t>
            </a:r>
            <a:endParaRPr lang="en-US" sz="2100" dirty="0"/>
          </a:p>
        </p:txBody>
      </p:sp>
      <p:sp>
        <p:nvSpPr>
          <p:cNvPr id="6" name="Shape 4"/>
          <p:cNvSpPr/>
          <p:nvPr/>
        </p:nvSpPr>
        <p:spPr>
          <a:xfrm>
            <a:off x="475488" y="1847088"/>
            <a:ext cx="329184" cy="0"/>
          </a:xfrm>
          <a:prstGeom prst="line">
            <a:avLst/>
          </a:prstGeom>
          <a:noFill/>
          <a:ln w="31750">
            <a:solidFill>
              <a:srgbClr val="C9A84C"/>
            </a:solidFill>
            <a:prstDash val="solid"/>
          </a:ln>
        </p:spPr>
        <p:txBody>
          <a:bodyPr/>
          <a:lstStyle/>
          <a:p>
            <a:endParaRPr lang="en-CA"/>
          </a:p>
        </p:txBody>
      </p:sp>
      <p:sp>
        <p:nvSpPr>
          <p:cNvPr id="7" name="Text 5"/>
          <p:cNvSpPr/>
          <p:nvPr/>
        </p:nvSpPr>
        <p:spPr>
          <a:xfrm>
            <a:off x="475488" y="1993392"/>
            <a:ext cx="2834640" cy="1481328"/>
          </a:xfrm>
          <a:prstGeom prst="rect">
            <a:avLst/>
          </a:prstGeom>
          <a:noFill/>
          <a:ln/>
        </p:spPr>
        <p:txBody>
          <a:bodyPr wrap="square" lIns="0" tIns="0" rIns="0" bIns="0" rtlCol="0" anchor="t"/>
          <a:lstStyle/>
          <a:p>
            <a:pPr marL="0" indent="0">
              <a:lnSpc>
                <a:spcPct val="150000"/>
              </a:lnSpc>
              <a:buNone/>
            </a:pPr>
            <a:r>
              <a:rPr lang="en-US" sz="900" dirty="0">
                <a:solidFill>
                  <a:srgbClr val="555555"/>
                </a:solidFill>
                <a:latin typeface="Calibri" pitchFamily="34" charset="0"/>
                <a:ea typeface="Calibri" pitchFamily="34" charset="-122"/>
                <a:cs typeface="Calibri" pitchFamily="34" charset="-120"/>
              </a:rPr>
              <a:t>Cette section présente la démonstration finale de fiabilité du pipeline expérimental.</a:t>
            </a:r>
            <a:endParaRPr lang="en-US" sz="900" dirty="0"/>
          </a:p>
          <a:p>
            <a:pPr marL="0" indent="0">
              <a:lnSpc>
                <a:spcPct val="150000"/>
              </a:lnSpc>
              <a:buNone/>
            </a:pPr>
            <a:endParaRPr lang="en-US" sz="900" dirty="0"/>
          </a:p>
          <a:p>
            <a:pPr marL="0" indent="0">
              <a:lnSpc>
                <a:spcPct val="150000"/>
              </a:lnSpc>
              <a:buNone/>
            </a:pPr>
            <a:r>
              <a:rPr lang="en-US" sz="900" dirty="0">
                <a:solidFill>
                  <a:srgbClr val="555555"/>
                </a:solidFill>
                <a:latin typeface="Calibri" pitchFamily="34" charset="0"/>
                <a:ea typeface="Calibri" pitchFamily="34" charset="-122"/>
                <a:cs typeface="Calibri" pitchFamily="34" charset="-120"/>
              </a:rPr>
              <a:t>Validation logicielle complète, chaîne d'exécution, preuve de reproductibilité et conclusion. Les résultats sont techniquement validés, traçables et directement exploitables pour l'analyse finale (TN4).</a:t>
            </a:r>
            <a:endParaRPr lang="en-US" sz="900" dirty="0"/>
          </a:p>
        </p:txBody>
      </p:sp>
      <p:sp>
        <p:nvSpPr>
          <p:cNvPr id="8" name="Shape 6"/>
          <p:cNvSpPr/>
          <p:nvPr/>
        </p:nvSpPr>
        <p:spPr>
          <a:xfrm>
            <a:off x="3438144" y="402336"/>
            <a:ext cx="0" cy="4315968"/>
          </a:xfrm>
          <a:prstGeom prst="line">
            <a:avLst/>
          </a:prstGeom>
          <a:noFill/>
          <a:ln w="10160">
            <a:solidFill>
              <a:srgbClr val="E8E8E8"/>
            </a:solidFill>
            <a:prstDash val="solid"/>
          </a:ln>
        </p:spPr>
        <p:txBody>
          <a:bodyPr/>
          <a:lstStyle/>
          <a:p>
            <a:endParaRPr lang="en-CA"/>
          </a:p>
        </p:txBody>
      </p:sp>
      <p:sp>
        <p:nvSpPr>
          <p:cNvPr id="9" name="Shape 7"/>
          <p:cNvSpPr/>
          <p:nvPr/>
        </p:nvSpPr>
        <p:spPr>
          <a:xfrm>
            <a:off x="3675888" y="585216"/>
            <a:ext cx="237744" cy="237744"/>
          </a:xfrm>
          <a:prstGeom prst="ellipse">
            <a:avLst/>
          </a:prstGeom>
          <a:solidFill>
            <a:srgbClr val="0A0A0A"/>
          </a:solidFill>
          <a:ln w="12700">
            <a:solidFill>
              <a:srgbClr val="0A0A0A"/>
            </a:solidFill>
            <a:prstDash val="solid"/>
          </a:ln>
        </p:spPr>
        <p:txBody>
          <a:bodyPr/>
          <a:lstStyle/>
          <a:p>
            <a:endParaRPr lang="en-CA"/>
          </a:p>
        </p:txBody>
      </p:sp>
      <p:sp>
        <p:nvSpPr>
          <p:cNvPr id="10" name="Text 8"/>
          <p:cNvSpPr/>
          <p:nvPr/>
        </p:nvSpPr>
        <p:spPr>
          <a:xfrm>
            <a:off x="3675888" y="585216"/>
            <a:ext cx="237744" cy="237744"/>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1</a:t>
            </a:r>
            <a:endParaRPr lang="en-US" sz="900" dirty="0"/>
          </a:p>
        </p:txBody>
      </p:sp>
      <p:sp>
        <p:nvSpPr>
          <p:cNvPr id="11" name="Text 9"/>
          <p:cNvSpPr/>
          <p:nvPr/>
        </p:nvSpPr>
        <p:spPr>
          <a:xfrm>
            <a:off x="3986784" y="548640"/>
            <a:ext cx="4242816" cy="237744"/>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Validation complète du pipeline expérimental</a:t>
            </a:r>
            <a:endParaRPr lang="en-US" sz="950" dirty="0"/>
          </a:p>
        </p:txBody>
      </p:sp>
      <p:sp>
        <p:nvSpPr>
          <p:cNvPr id="12" name="Text 10"/>
          <p:cNvSpPr/>
          <p:nvPr/>
        </p:nvSpPr>
        <p:spPr>
          <a:xfrm>
            <a:off x="3986784" y="822960"/>
            <a:ext cx="4242816" cy="512064"/>
          </a:xfrm>
          <a:prstGeom prst="rect">
            <a:avLst/>
          </a:prstGeom>
          <a:noFill/>
          <a:ln/>
        </p:spPr>
        <p:txBody>
          <a:bodyPr wrap="square" lIns="0" tIns="0" rIns="0" bIns="0" rtlCol="0" anchor="t"/>
          <a:lstStyle/>
          <a:p>
            <a:pPr marL="0" indent="0">
              <a:lnSpc>
                <a:spcPct val="135000"/>
              </a:lnSpc>
              <a:buNone/>
            </a:pPr>
            <a:r>
              <a:rPr lang="en-US" sz="750" dirty="0">
                <a:solidFill>
                  <a:srgbClr val="888888"/>
                </a:solidFill>
                <a:latin typeface="Calibri" pitchFamily="34" charset="0"/>
                <a:ea typeface="Calibri" pitchFamily="34" charset="-122"/>
                <a:cs typeface="Calibri" pitchFamily="34" charset="-120"/>
              </a:rPr>
              <a:t>Contrôles logiciels, cryptographiques et statistiques — le pipeline respecte l'ensemble des critères de validation.</a:t>
            </a:r>
            <a:endParaRPr lang="en-US" sz="750" dirty="0"/>
          </a:p>
        </p:txBody>
      </p:sp>
      <p:sp>
        <p:nvSpPr>
          <p:cNvPr id="13" name="Shape 11"/>
          <p:cNvSpPr/>
          <p:nvPr/>
        </p:nvSpPr>
        <p:spPr>
          <a:xfrm>
            <a:off x="8284464" y="603504"/>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14" name="Text 12"/>
          <p:cNvSpPr/>
          <p:nvPr/>
        </p:nvSpPr>
        <p:spPr>
          <a:xfrm>
            <a:off x="8284464" y="603504"/>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05a</a:t>
            </a:r>
            <a:endParaRPr lang="en-US" sz="650" dirty="0"/>
          </a:p>
        </p:txBody>
      </p:sp>
      <p:sp>
        <p:nvSpPr>
          <p:cNvPr id="15" name="Shape 13"/>
          <p:cNvSpPr/>
          <p:nvPr/>
        </p:nvSpPr>
        <p:spPr>
          <a:xfrm>
            <a:off x="3986784" y="1481328"/>
            <a:ext cx="4718304" cy="0"/>
          </a:xfrm>
          <a:prstGeom prst="line">
            <a:avLst/>
          </a:prstGeom>
          <a:noFill/>
          <a:ln w="7620">
            <a:solidFill>
              <a:srgbClr val="F5F5F5"/>
            </a:solidFill>
            <a:prstDash val="solid"/>
          </a:ln>
        </p:spPr>
        <p:txBody>
          <a:bodyPr/>
          <a:lstStyle/>
          <a:p>
            <a:endParaRPr lang="en-CA"/>
          </a:p>
        </p:txBody>
      </p:sp>
      <p:sp>
        <p:nvSpPr>
          <p:cNvPr id="16" name="Shape 14"/>
          <p:cNvSpPr/>
          <p:nvPr/>
        </p:nvSpPr>
        <p:spPr>
          <a:xfrm>
            <a:off x="3675888" y="1572768"/>
            <a:ext cx="237744" cy="237744"/>
          </a:xfrm>
          <a:prstGeom prst="ellipse">
            <a:avLst/>
          </a:prstGeom>
          <a:solidFill>
            <a:srgbClr val="0A0A0A"/>
          </a:solidFill>
          <a:ln w="12700">
            <a:solidFill>
              <a:srgbClr val="0A0A0A"/>
            </a:solidFill>
            <a:prstDash val="solid"/>
          </a:ln>
        </p:spPr>
        <p:txBody>
          <a:bodyPr/>
          <a:lstStyle/>
          <a:p>
            <a:endParaRPr lang="en-CA"/>
          </a:p>
        </p:txBody>
      </p:sp>
      <p:sp>
        <p:nvSpPr>
          <p:cNvPr id="17" name="Text 15"/>
          <p:cNvSpPr/>
          <p:nvPr/>
        </p:nvSpPr>
        <p:spPr>
          <a:xfrm>
            <a:off x="3675888" y="1572768"/>
            <a:ext cx="237744" cy="237744"/>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2</a:t>
            </a:r>
            <a:endParaRPr lang="en-US" sz="900" dirty="0"/>
          </a:p>
        </p:txBody>
      </p:sp>
      <p:sp>
        <p:nvSpPr>
          <p:cNvPr id="18" name="Text 16"/>
          <p:cNvSpPr/>
          <p:nvPr/>
        </p:nvSpPr>
        <p:spPr>
          <a:xfrm>
            <a:off x="3986784" y="1536192"/>
            <a:ext cx="4242816" cy="237744"/>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Scripts d'exécution</a:t>
            </a:r>
            <a:endParaRPr lang="en-US" sz="950" dirty="0"/>
          </a:p>
        </p:txBody>
      </p:sp>
      <p:sp>
        <p:nvSpPr>
          <p:cNvPr id="19" name="Text 17"/>
          <p:cNvSpPr/>
          <p:nvPr/>
        </p:nvSpPr>
        <p:spPr>
          <a:xfrm>
            <a:off x="3986784" y="1810512"/>
            <a:ext cx="4242816" cy="512064"/>
          </a:xfrm>
          <a:prstGeom prst="rect">
            <a:avLst/>
          </a:prstGeom>
          <a:noFill/>
          <a:ln/>
        </p:spPr>
        <p:txBody>
          <a:bodyPr wrap="square" lIns="0" tIns="0" rIns="0" bIns="0" rtlCol="0" anchor="t"/>
          <a:lstStyle/>
          <a:p>
            <a:pPr marL="0" indent="0">
              <a:lnSpc>
                <a:spcPct val="135000"/>
              </a:lnSpc>
              <a:buNone/>
            </a:pPr>
            <a:r>
              <a:rPr lang="en-US" sz="750" dirty="0">
                <a:solidFill>
                  <a:srgbClr val="888888"/>
                </a:solidFill>
                <a:latin typeface="Calibri" pitchFamily="34" charset="0"/>
                <a:ea typeface="Calibri" pitchFamily="34" charset="-122"/>
                <a:cs typeface="Calibri" pitchFamily="34" charset="-120"/>
              </a:rPr>
              <a:t>Chaîne d'exécution cohérente, de la validation jusqu'à la génération des artefacts.</a:t>
            </a:r>
            <a:endParaRPr lang="en-US" sz="750" dirty="0"/>
          </a:p>
        </p:txBody>
      </p:sp>
      <p:sp>
        <p:nvSpPr>
          <p:cNvPr id="20" name="Shape 18"/>
          <p:cNvSpPr/>
          <p:nvPr/>
        </p:nvSpPr>
        <p:spPr>
          <a:xfrm>
            <a:off x="8284464" y="1591056"/>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21" name="Text 19"/>
          <p:cNvSpPr/>
          <p:nvPr/>
        </p:nvSpPr>
        <p:spPr>
          <a:xfrm>
            <a:off x="8284464" y="1591056"/>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05b</a:t>
            </a:r>
            <a:endParaRPr lang="en-US" sz="650" dirty="0"/>
          </a:p>
        </p:txBody>
      </p:sp>
      <p:sp>
        <p:nvSpPr>
          <p:cNvPr id="22" name="Shape 20"/>
          <p:cNvSpPr/>
          <p:nvPr/>
        </p:nvSpPr>
        <p:spPr>
          <a:xfrm>
            <a:off x="3986784" y="2468880"/>
            <a:ext cx="4718304" cy="0"/>
          </a:xfrm>
          <a:prstGeom prst="line">
            <a:avLst/>
          </a:prstGeom>
          <a:noFill/>
          <a:ln w="7620">
            <a:solidFill>
              <a:srgbClr val="F5F5F5"/>
            </a:solidFill>
            <a:prstDash val="solid"/>
          </a:ln>
        </p:spPr>
        <p:txBody>
          <a:bodyPr/>
          <a:lstStyle/>
          <a:p>
            <a:endParaRPr lang="en-CA"/>
          </a:p>
        </p:txBody>
      </p:sp>
      <p:sp>
        <p:nvSpPr>
          <p:cNvPr id="23" name="Shape 21"/>
          <p:cNvSpPr/>
          <p:nvPr/>
        </p:nvSpPr>
        <p:spPr>
          <a:xfrm>
            <a:off x="3675888" y="2560320"/>
            <a:ext cx="237744" cy="237744"/>
          </a:xfrm>
          <a:prstGeom prst="ellipse">
            <a:avLst/>
          </a:prstGeom>
          <a:solidFill>
            <a:srgbClr val="0A0A0A"/>
          </a:solidFill>
          <a:ln w="12700">
            <a:solidFill>
              <a:srgbClr val="0A0A0A"/>
            </a:solidFill>
            <a:prstDash val="solid"/>
          </a:ln>
        </p:spPr>
        <p:txBody>
          <a:bodyPr/>
          <a:lstStyle/>
          <a:p>
            <a:endParaRPr lang="en-CA"/>
          </a:p>
        </p:txBody>
      </p:sp>
      <p:sp>
        <p:nvSpPr>
          <p:cNvPr id="24" name="Text 22"/>
          <p:cNvSpPr/>
          <p:nvPr/>
        </p:nvSpPr>
        <p:spPr>
          <a:xfrm>
            <a:off x="3675888" y="2560320"/>
            <a:ext cx="237744" cy="237744"/>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3986784" y="2523744"/>
            <a:ext cx="4242816" cy="237744"/>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Preuve et reproductibilité des résultats</a:t>
            </a:r>
            <a:endParaRPr lang="en-US" sz="950" dirty="0"/>
          </a:p>
        </p:txBody>
      </p:sp>
      <p:sp>
        <p:nvSpPr>
          <p:cNvPr id="26" name="Text 24"/>
          <p:cNvSpPr/>
          <p:nvPr/>
        </p:nvSpPr>
        <p:spPr>
          <a:xfrm>
            <a:off x="3986784" y="2798064"/>
            <a:ext cx="4242816" cy="512064"/>
          </a:xfrm>
          <a:prstGeom prst="rect">
            <a:avLst/>
          </a:prstGeom>
          <a:noFill/>
          <a:ln/>
        </p:spPr>
        <p:txBody>
          <a:bodyPr wrap="square" lIns="0" tIns="0" rIns="0" bIns="0" rtlCol="0" anchor="t"/>
          <a:lstStyle/>
          <a:p>
            <a:pPr marL="0" indent="0">
              <a:lnSpc>
                <a:spcPct val="135000"/>
              </a:lnSpc>
              <a:buNone/>
            </a:pPr>
            <a:r>
              <a:rPr lang="en-US" sz="750" dirty="0">
                <a:solidFill>
                  <a:srgbClr val="888888"/>
                </a:solidFill>
                <a:latin typeface="Calibri" pitchFamily="34" charset="0"/>
                <a:ea typeface="Calibri" pitchFamily="34" charset="-122"/>
                <a:cs typeface="Calibri" pitchFamily="34" charset="-120"/>
              </a:rPr>
              <a:t>Protocole formalisé et dossier de preuves liant les résultats au commit soumis — traçabilité vérifiée.</a:t>
            </a:r>
            <a:endParaRPr lang="en-US" sz="750" dirty="0"/>
          </a:p>
        </p:txBody>
      </p:sp>
      <p:sp>
        <p:nvSpPr>
          <p:cNvPr id="27" name="Shape 25"/>
          <p:cNvSpPr/>
          <p:nvPr/>
        </p:nvSpPr>
        <p:spPr>
          <a:xfrm>
            <a:off x="8284464" y="2578608"/>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28" name="Text 26"/>
          <p:cNvSpPr/>
          <p:nvPr/>
        </p:nvSpPr>
        <p:spPr>
          <a:xfrm>
            <a:off x="8284464" y="2578608"/>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05c</a:t>
            </a:r>
            <a:endParaRPr lang="en-US" sz="650" dirty="0"/>
          </a:p>
        </p:txBody>
      </p:sp>
      <p:sp>
        <p:nvSpPr>
          <p:cNvPr id="29" name="Shape 27"/>
          <p:cNvSpPr/>
          <p:nvPr/>
        </p:nvSpPr>
        <p:spPr>
          <a:xfrm>
            <a:off x="3986784" y="3456432"/>
            <a:ext cx="4718304" cy="0"/>
          </a:xfrm>
          <a:prstGeom prst="line">
            <a:avLst/>
          </a:prstGeom>
          <a:noFill/>
          <a:ln w="7620">
            <a:solidFill>
              <a:srgbClr val="F5F5F5"/>
            </a:solidFill>
            <a:prstDash val="solid"/>
          </a:ln>
        </p:spPr>
        <p:txBody>
          <a:bodyPr/>
          <a:lstStyle/>
          <a:p>
            <a:endParaRPr lang="en-CA"/>
          </a:p>
        </p:txBody>
      </p:sp>
      <p:sp>
        <p:nvSpPr>
          <p:cNvPr id="30" name="Shape 28"/>
          <p:cNvSpPr/>
          <p:nvPr/>
        </p:nvSpPr>
        <p:spPr>
          <a:xfrm>
            <a:off x="3675888" y="3547872"/>
            <a:ext cx="237744" cy="237744"/>
          </a:xfrm>
          <a:prstGeom prst="ellipse">
            <a:avLst/>
          </a:prstGeom>
          <a:solidFill>
            <a:srgbClr val="0A0A0A"/>
          </a:solidFill>
          <a:ln w="12700">
            <a:solidFill>
              <a:srgbClr val="0A0A0A"/>
            </a:solidFill>
            <a:prstDash val="solid"/>
          </a:ln>
        </p:spPr>
        <p:txBody>
          <a:bodyPr/>
          <a:lstStyle/>
          <a:p>
            <a:endParaRPr lang="en-CA"/>
          </a:p>
        </p:txBody>
      </p:sp>
      <p:sp>
        <p:nvSpPr>
          <p:cNvPr id="31" name="Text 29"/>
          <p:cNvSpPr/>
          <p:nvPr/>
        </p:nvSpPr>
        <p:spPr>
          <a:xfrm>
            <a:off x="3675888" y="3547872"/>
            <a:ext cx="237744" cy="237744"/>
          </a:xfrm>
          <a:prstGeom prst="rect">
            <a:avLst/>
          </a:prstGeom>
          <a:noFill/>
          <a:ln/>
        </p:spPr>
        <p:txBody>
          <a:bodyPr wrap="square" lIns="0" tIns="0" rIns="0" bIns="0" rtlCol="0" anchor="ctr"/>
          <a:lstStyle/>
          <a:p>
            <a:pPr marL="0" indent="0" algn="ctr">
              <a:buNone/>
            </a:pPr>
            <a:r>
              <a:rPr lang="en-US" sz="900" b="1" dirty="0">
                <a:solidFill>
                  <a:srgbClr val="C9A84C"/>
                </a:solidFill>
                <a:latin typeface="Calibri" pitchFamily="34" charset="0"/>
                <a:ea typeface="Calibri" pitchFamily="34" charset="-122"/>
                <a:cs typeface="Calibri" pitchFamily="34" charset="-120"/>
              </a:rPr>
              <a:t>4</a:t>
            </a:r>
            <a:endParaRPr lang="en-US" sz="900" dirty="0"/>
          </a:p>
        </p:txBody>
      </p:sp>
      <p:sp>
        <p:nvSpPr>
          <p:cNvPr id="32" name="Text 30"/>
          <p:cNvSpPr/>
          <p:nvPr/>
        </p:nvSpPr>
        <p:spPr>
          <a:xfrm>
            <a:off x="3986784" y="3511296"/>
            <a:ext cx="4242816" cy="237744"/>
          </a:xfrm>
          <a:prstGeom prst="rect">
            <a:avLst/>
          </a:prstGeom>
          <a:noFill/>
          <a:ln/>
        </p:spPr>
        <p:txBody>
          <a:bodyPr wrap="square" lIns="0" tIns="0" rIns="0" bIns="0" rtlCol="0" anchor="ctr"/>
          <a:lstStyle/>
          <a:p>
            <a:pPr marL="0" indent="0">
              <a:buNone/>
            </a:pPr>
            <a:r>
              <a:rPr lang="en-US" sz="950" b="1" dirty="0">
                <a:solidFill>
                  <a:srgbClr val="0A0A0A"/>
                </a:solidFill>
                <a:latin typeface="Calibri" pitchFamily="34" charset="0"/>
                <a:ea typeface="Calibri" pitchFamily="34" charset="-122"/>
                <a:cs typeface="Calibri" pitchFamily="34" charset="-120"/>
              </a:rPr>
              <a:t>Conclusion générale</a:t>
            </a:r>
            <a:endParaRPr lang="en-US" sz="950" dirty="0"/>
          </a:p>
        </p:txBody>
      </p:sp>
      <p:sp>
        <p:nvSpPr>
          <p:cNvPr id="33" name="Text 31"/>
          <p:cNvSpPr/>
          <p:nvPr/>
        </p:nvSpPr>
        <p:spPr>
          <a:xfrm>
            <a:off x="3986784" y="3785616"/>
            <a:ext cx="4242816" cy="512064"/>
          </a:xfrm>
          <a:prstGeom prst="rect">
            <a:avLst/>
          </a:prstGeom>
          <a:noFill/>
          <a:ln/>
        </p:spPr>
        <p:txBody>
          <a:bodyPr wrap="square" lIns="0" tIns="0" rIns="0" bIns="0" rtlCol="0" anchor="t"/>
          <a:lstStyle/>
          <a:p>
            <a:pPr marL="0" indent="0">
              <a:lnSpc>
                <a:spcPct val="135000"/>
              </a:lnSpc>
              <a:buNone/>
            </a:pPr>
            <a:r>
              <a:rPr lang="en-US" sz="750" dirty="0">
                <a:solidFill>
                  <a:srgbClr val="888888"/>
                </a:solidFill>
                <a:latin typeface="Calibri" pitchFamily="34" charset="0"/>
                <a:ea typeface="Calibri" pitchFamily="34" charset="-122"/>
                <a:cs typeface="Calibri" pitchFamily="34" charset="-120"/>
              </a:rPr>
              <a:t>L'ensemble des validations confirme que les résultats sont robustes et prêts pour l'analyse TN4.</a:t>
            </a:r>
            <a:endParaRPr lang="en-US" sz="750" dirty="0"/>
          </a:p>
        </p:txBody>
      </p:sp>
      <p:sp>
        <p:nvSpPr>
          <p:cNvPr id="34" name="Shape 32"/>
          <p:cNvSpPr/>
          <p:nvPr/>
        </p:nvSpPr>
        <p:spPr>
          <a:xfrm>
            <a:off x="8284464" y="3566160"/>
            <a:ext cx="420624" cy="164592"/>
          </a:xfrm>
          <a:prstGeom prst="roundRect">
            <a:avLst>
              <a:gd name="adj" fmla="val 22222"/>
            </a:avLst>
          </a:prstGeom>
          <a:solidFill>
            <a:srgbClr val="F2F2F2"/>
          </a:solidFill>
          <a:ln w="7620">
            <a:solidFill>
              <a:srgbClr val="E0E0E0"/>
            </a:solidFill>
            <a:prstDash val="solid"/>
          </a:ln>
        </p:spPr>
        <p:txBody>
          <a:bodyPr/>
          <a:lstStyle/>
          <a:p>
            <a:endParaRPr lang="en-CA"/>
          </a:p>
        </p:txBody>
      </p:sp>
      <p:sp>
        <p:nvSpPr>
          <p:cNvPr id="35" name="Text 33"/>
          <p:cNvSpPr/>
          <p:nvPr/>
        </p:nvSpPr>
        <p:spPr>
          <a:xfrm>
            <a:off x="8284464" y="3566160"/>
            <a:ext cx="420624" cy="164592"/>
          </a:xfrm>
          <a:prstGeom prst="rect">
            <a:avLst/>
          </a:prstGeom>
          <a:noFill/>
          <a:ln/>
        </p:spPr>
        <p:txBody>
          <a:bodyPr wrap="square" lIns="0" tIns="0" rIns="0" bIns="0" rtlCol="0" anchor="ctr"/>
          <a:lstStyle/>
          <a:p>
            <a:pPr marL="0" indent="0" algn="ctr">
              <a:buNone/>
            </a:pPr>
            <a:r>
              <a:rPr lang="en-US" sz="650" b="1" dirty="0">
                <a:solidFill>
                  <a:srgbClr val="888888"/>
                </a:solidFill>
                <a:latin typeface="Calibri" pitchFamily="34" charset="0"/>
                <a:ea typeface="Calibri" pitchFamily="34" charset="-122"/>
                <a:cs typeface="Calibri" pitchFamily="34" charset="-120"/>
              </a:rPr>
              <a:t>05d</a:t>
            </a:r>
            <a:endParaRPr lang="en-US" sz="650" dirty="0"/>
          </a:p>
        </p:txBody>
      </p:sp>
      <p:sp>
        <p:nvSpPr>
          <p:cNvPr id="36" name="Text 34"/>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05a  ·  SYNTHÈSE ET DÉMONSTRATION</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fr-FR" sz="1500" b="1" dirty="0">
                <a:solidFill>
                  <a:srgbClr val="0A0A0A"/>
                </a:solidFill>
                <a:latin typeface="Calibri" pitchFamily="34" charset="0"/>
                <a:ea typeface="Calibri" pitchFamily="34" charset="-122"/>
                <a:cs typeface="Calibri" pitchFamily="34" charset="-120"/>
              </a:rPr>
              <a:t>Validation complète du pipeline expérimental</a:t>
            </a:r>
            <a:endParaRPr lang="en-US" sz="1500" dirty="0"/>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6" name="Text 4"/>
          <p:cNvSpPr/>
          <p:nvPr/>
        </p:nvSpPr>
        <p:spPr>
          <a:xfrm>
            <a:off x="1773937" y="914550"/>
            <a:ext cx="1280160" cy="438912"/>
          </a:xfrm>
          <a:prstGeom prst="rect">
            <a:avLst/>
          </a:prstGeom>
          <a:noFill/>
          <a:ln/>
        </p:spPr>
        <p:txBody>
          <a:bodyPr wrap="square" lIns="0" tIns="0" rIns="0" bIns="0" rtlCol="0" anchor="ctr"/>
          <a:lstStyle/>
          <a:p>
            <a:pPr marL="0" indent="0">
              <a:buNone/>
            </a:pPr>
            <a:r>
              <a:rPr lang="en-US" sz="2600" b="1" dirty="0">
                <a:solidFill>
                  <a:srgbClr val="C9A84C"/>
                </a:solidFill>
                <a:latin typeface="Calibri" pitchFamily="34" charset="0"/>
                <a:cs typeface="Calibri" pitchFamily="34" charset="-120"/>
              </a:rPr>
              <a:t>120</a:t>
            </a:r>
            <a:endParaRPr lang="en-US" sz="2600" dirty="0"/>
          </a:p>
        </p:txBody>
      </p:sp>
      <p:sp>
        <p:nvSpPr>
          <p:cNvPr id="7" name="Text 5"/>
          <p:cNvSpPr/>
          <p:nvPr/>
        </p:nvSpPr>
        <p:spPr>
          <a:xfrm>
            <a:off x="2431196" y="1025655"/>
            <a:ext cx="1956816" cy="310896"/>
          </a:xfrm>
          <a:prstGeom prst="rect">
            <a:avLst/>
          </a:prstGeom>
          <a:noFill/>
          <a:ln/>
        </p:spPr>
        <p:txBody>
          <a:bodyPr wrap="square" lIns="0" tIns="0" rIns="0" bIns="0" rtlCol="0" anchor="ctr"/>
          <a:lstStyle/>
          <a:p>
            <a:pPr marL="0" indent="0">
              <a:buNone/>
            </a:pPr>
            <a:r>
              <a:rPr lang="en-US" sz="900" dirty="0">
                <a:solidFill>
                  <a:srgbClr val="555555"/>
                </a:solidFill>
                <a:latin typeface="Calibri" pitchFamily="34" charset="0"/>
                <a:ea typeface="Calibri" pitchFamily="34" charset="-122"/>
                <a:cs typeface="Calibri" pitchFamily="34" charset="-120"/>
              </a:rPr>
              <a:t>tests exécutés</a:t>
            </a:r>
            <a:endParaRPr lang="en-US" sz="900" dirty="0"/>
          </a:p>
        </p:txBody>
      </p:sp>
      <p:sp>
        <p:nvSpPr>
          <p:cNvPr id="8" name="Text 6"/>
          <p:cNvSpPr/>
          <p:nvPr/>
        </p:nvSpPr>
        <p:spPr>
          <a:xfrm>
            <a:off x="5300611" y="882034"/>
            <a:ext cx="2511483" cy="438912"/>
          </a:xfrm>
          <a:prstGeom prst="rect">
            <a:avLst/>
          </a:prstGeom>
          <a:noFill/>
          <a:ln/>
        </p:spPr>
        <p:txBody>
          <a:bodyPr wrap="square" lIns="0" tIns="0" rIns="0" bIns="0" rtlCol="0" anchor="ctr"/>
          <a:lstStyle/>
          <a:p>
            <a:pPr marL="0" indent="0">
              <a:buNone/>
            </a:pPr>
            <a:r>
              <a:rPr lang="en-US" sz="2600" b="1" dirty="0">
                <a:solidFill>
                  <a:srgbClr val="C9A84C"/>
                </a:solidFill>
                <a:latin typeface="Calibri" pitchFamily="34" charset="0"/>
                <a:ea typeface="Calibri" pitchFamily="34" charset="-122"/>
                <a:cs typeface="Calibri" pitchFamily="34" charset="-120"/>
              </a:rPr>
              <a:t>100%</a:t>
            </a:r>
            <a:endParaRPr lang="en-US" sz="2600" dirty="0"/>
          </a:p>
        </p:txBody>
      </p:sp>
      <p:sp>
        <p:nvSpPr>
          <p:cNvPr id="9" name="Text 7"/>
          <p:cNvSpPr/>
          <p:nvPr/>
        </p:nvSpPr>
        <p:spPr>
          <a:xfrm>
            <a:off x="6186332" y="970601"/>
            <a:ext cx="1956816" cy="310896"/>
          </a:xfrm>
          <a:prstGeom prst="rect">
            <a:avLst/>
          </a:prstGeom>
          <a:noFill/>
          <a:ln/>
        </p:spPr>
        <p:txBody>
          <a:bodyPr wrap="square" lIns="0" tIns="0" rIns="0" bIns="0" rtlCol="0" anchor="ctr"/>
          <a:lstStyle/>
          <a:p>
            <a:pPr marL="0" indent="0">
              <a:lnSpc>
                <a:spcPct val="130000"/>
              </a:lnSpc>
              <a:buNone/>
            </a:pPr>
            <a:r>
              <a:rPr lang="en-US" sz="900" dirty="0">
                <a:solidFill>
                  <a:srgbClr val="555555"/>
                </a:solidFill>
                <a:latin typeface="Calibri" pitchFamily="34" charset="0"/>
                <a:ea typeface="Calibri" pitchFamily="34" charset="-122"/>
                <a:cs typeface="Calibri" pitchFamily="34" charset="-120"/>
              </a:rPr>
              <a:t>couverture lignes + branches</a:t>
            </a:r>
            <a:endParaRPr lang="en-US" sz="900" dirty="0"/>
          </a:p>
        </p:txBody>
      </p:sp>
      <p:sp>
        <p:nvSpPr>
          <p:cNvPr id="10" name="Text 8"/>
          <p:cNvSpPr/>
          <p:nvPr/>
        </p:nvSpPr>
        <p:spPr>
          <a:xfrm>
            <a:off x="908302" y="1457582"/>
            <a:ext cx="6527985" cy="274320"/>
          </a:xfrm>
          <a:prstGeom prst="rect">
            <a:avLst/>
          </a:prstGeom>
          <a:noFill/>
          <a:ln/>
        </p:spPr>
        <p:txBody>
          <a:bodyPr wrap="square" lIns="0" tIns="0" rIns="0" bIns="0" rtlCol="0" anchor="ctr"/>
          <a:lstStyle/>
          <a:p>
            <a:pPr marL="0" indent="0" algn="ctr">
              <a:buNone/>
            </a:pPr>
            <a:r>
              <a:rPr lang="fr-FR" sz="800" i="1" dirty="0">
                <a:solidFill>
                  <a:srgbClr val="888888"/>
                </a:solidFill>
                <a:latin typeface="Calibri" pitchFamily="34" charset="0"/>
                <a:ea typeface="Calibri" pitchFamily="34" charset="-122"/>
                <a:cs typeface="Calibri" pitchFamily="34" charset="-120"/>
              </a:rPr>
              <a:t>Seuil appliqué automatiquement par pytest, avec échec CI si la couverture lignes ou branches descend sous 100%</a:t>
            </a:r>
            <a:endParaRPr lang="en-US" sz="800" dirty="0"/>
          </a:p>
        </p:txBody>
      </p:sp>
      <p:sp>
        <p:nvSpPr>
          <p:cNvPr id="11" name="Shape 9"/>
          <p:cNvSpPr/>
          <p:nvPr/>
        </p:nvSpPr>
        <p:spPr>
          <a:xfrm>
            <a:off x="1565009" y="4150260"/>
            <a:ext cx="6013983" cy="422575"/>
          </a:xfrm>
          <a:prstGeom prst="roundRect">
            <a:avLst>
              <a:gd name="adj" fmla="val 10714"/>
            </a:avLst>
          </a:prstGeom>
          <a:solidFill>
            <a:srgbClr val="FFFBF0"/>
          </a:solidFill>
          <a:ln w="10160">
            <a:solidFill>
              <a:srgbClr val="C9A84C"/>
            </a:solidFill>
            <a:prstDash val="solid"/>
          </a:ln>
        </p:spPr>
        <p:txBody>
          <a:bodyPr/>
          <a:lstStyle/>
          <a:p>
            <a:endParaRPr lang="en-CA" sz="2000"/>
          </a:p>
        </p:txBody>
      </p:sp>
      <p:sp>
        <p:nvSpPr>
          <p:cNvPr id="12" name="Text 10"/>
          <p:cNvSpPr/>
          <p:nvPr/>
        </p:nvSpPr>
        <p:spPr>
          <a:xfrm>
            <a:off x="1565008" y="4150260"/>
            <a:ext cx="6013983" cy="422575"/>
          </a:xfrm>
          <a:prstGeom prst="rect">
            <a:avLst/>
          </a:prstGeom>
          <a:noFill/>
          <a:ln/>
        </p:spPr>
        <p:txBody>
          <a:bodyPr wrap="square" lIns="0" tIns="0" rIns="0" bIns="0" rtlCol="0" anchor="ctr"/>
          <a:lstStyle/>
          <a:p>
            <a:pPr marL="0" indent="0" algn="ctr">
              <a:lnSpc>
                <a:spcPct val="130000"/>
              </a:lnSpc>
              <a:buNone/>
            </a:pPr>
            <a:r>
              <a:rPr lang="fr-FR" sz="800" dirty="0">
                <a:solidFill>
                  <a:srgbClr val="B8942A"/>
                </a:solidFill>
                <a:latin typeface="Calibri" pitchFamily="34" charset="0"/>
                <a:ea typeface="Calibri" pitchFamily="34" charset="-122"/>
                <a:cs typeface="Calibri" pitchFamily="34" charset="-120"/>
              </a:rPr>
              <a:t>Les critères de validation logicielle sont satisfaits et le pipeline est techniquement prêt pour l’analyse TN4.</a:t>
            </a:r>
            <a:endParaRPr lang="en-US" sz="800" dirty="0"/>
          </a:p>
        </p:txBody>
      </p:sp>
      <p:sp>
        <p:nvSpPr>
          <p:cNvPr id="14" name="Text 12"/>
          <p:cNvSpPr/>
          <p:nvPr/>
        </p:nvSpPr>
        <p:spPr>
          <a:xfrm>
            <a:off x="5502472" y="1949341"/>
            <a:ext cx="2834640" cy="182880"/>
          </a:xfrm>
          <a:prstGeom prst="rect">
            <a:avLst/>
          </a:prstGeom>
          <a:noFill/>
          <a:ln/>
        </p:spPr>
        <p:txBody>
          <a:bodyPr wrap="square" lIns="0" tIns="0" rIns="0" bIns="0" rtlCol="0" anchor="ctr"/>
          <a:lstStyle/>
          <a:p>
            <a:pPr marL="0" indent="0">
              <a:buNone/>
            </a:pPr>
            <a:r>
              <a:rPr lang="en-US" sz="800" b="1" kern="0" spc="150" dirty="0">
                <a:solidFill>
                  <a:srgbClr val="C0C0C0"/>
                </a:solidFill>
                <a:latin typeface="Calibri" pitchFamily="34" charset="0"/>
                <a:ea typeface="Calibri" pitchFamily="34" charset="-122"/>
                <a:cs typeface="Calibri" pitchFamily="34" charset="-120"/>
              </a:rPr>
              <a:t>CE QUE ÇA GARANTIT</a:t>
            </a:r>
            <a:endParaRPr lang="en-US" sz="800" dirty="0"/>
          </a:p>
        </p:txBody>
      </p:sp>
      <p:sp>
        <p:nvSpPr>
          <p:cNvPr id="15" name="Shape 13"/>
          <p:cNvSpPr/>
          <p:nvPr/>
        </p:nvSpPr>
        <p:spPr>
          <a:xfrm>
            <a:off x="5539049" y="2307862"/>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16" name="Text 14"/>
          <p:cNvSpPr/>
          <p:nvPr/>
        </p:nvSpPr>
        <p:spPr>
          <a:xfrm>
            <a:off x="5685352" y="2168797"/>
            <a:ext cx="2651760" cy="310896"/>
          </a:xfrm>
          <a:prstGeom prst="rect">
            <a:avLst/>
          </a:prstGeom>
          <a:noFill/>
          <a:ln/>
        </p:spPr>
        <p:txBody>
          <a:bodyPr wrap="square" lIns="0" tIns="0" rIns="0" bIns="0" rtlCol="0" anchor="ctr"/>
          <a:lstStyle/>
          <a:p>
            <a:pPr marL="0" indent="0">
              <a:lnSpc>
                <a:spcPct val="120000"/>
              </a:lnSpc>
              <a:buNone/>
            </a:pPr>
            <a:r>
              <a:rPr lang="fr-FR" sz="900" dirty="0">
                <a:solidFill>
                  <a:srgbClr val="555555"/>
                </a:solidFill>
                <a:latin typeface="Calibri" pitchFamily="34" charset="0"/>
                <a:ea typeface="Calibri" pitchFamily="34" charset="-122"/>
                <a:cs typeface="Calibri" pitchFamily="34" charset="-120"/>
              </a:rPr>
              <a:t>Cœur logiciel validé par tests automatisés</a:t>
            </a:r>
            <a:endParaRPr lang="en-US" sz="900" dirty="0"/>
          </a:p>
        </p:txBody>
      </p:sp>
      <p:sp>
        <p:nvSpPr>
          <p:cNvPr id="18" name="Text 16"/>
          <p:cNvSpPr/>
          <p:nvPr/>
        </p:nvSpPr>
        <p:spPr>
          <a:xfrm>
            <a:off x="5685352" y="2497981"/>
            <a:ext cx="3172136" cy="310896"/>
          </a:xfrm>
          <a:prstGeom prst="rect">
            <a:avLst/>
          </a:prstGeom>
          <a:noFill/>
          <a:ln/>
        </p:spPr>
        <p:txBody>
          <a:bodyPr wrap="square" lIns="0" tIns="0" rIns="0" bIns="0" rtlCol="0" anchor="ctr"/>
          <a:lstStyle/>
          <a:p>
            <a:pPr marL="0" indent="0">
              <a:lnSpc>
                <a:spcPct val="120000"/>
              </a:lnSpc>
              <a:buNone/>
            </a:pPr>
            <a:r>
              <a:rPr lang="fr-FR" sz="900" dirty="0">
                <a:solidFill>
                  <a:srgbClr val="555555"/>
                </a:solidFill>
                <a:latin typeface="Calibri" pitchFamily="34" charset="0"/>
                <a:ea typeface="Calibri" pitchFamily="34" charset="-122"/>
                <a:cs typeface="Calibri" pitchFamily="34" charset="-120"/>
              </a:rPr>
              <a:t>Conformité crypto validée par KAT</a:t>
            </a:r>
            <a:endParaRPr lang="en-US" sz="900" dirty="0"/>
          </a:p>
        </p:txBody>
      </p:sp>
      <p:sp>
        <p:nvSpPr>
          <p:cNvPr id="20" name="Text 18"/>
          <p:cNvSpPr/>
          <p:nvPr/>
        </p:nvSpPr>
        <p:spPr>
          <a:xfrm>
            <a:off x="5685352" y="2827165"/>
            <a:ext cx="2958776" cy="310896"/>
          </a:xfrm>
          <a:prstGeom prst="rect">
            <a:avLst/>
          </a:prstGeom>
          <a:noFill/>
          <a:ln/>
        </p:spPr>
        <p:txBody>
          <a:bodyPr wrap="square" lIns="0" tIns="0" rIns="0" bIns="0" rtlCol="0" anchor="ctr"/>
          <a:lstStyle/>
          <a:p>
            <a:pPr marL="0" indent="0">
              <a:lnSpc>
                <a:spcPct val="120000"/>
              </a:lnSpc>
              <a:buNone/>
            </a:pPr>
            <a:r>
              <a:rPr lang="fr-FR" sz="900" dirty="0">
                <a:solidFill>
                  <a:srgbClr val="555555"/>
                </a:solidFill>
                <a:latin typeface="Calibri" pitchFamily="34" charset="0"/>
                <a:ea typeface="Calibri" pitchFamily="34" charset="-122"/>
                <a:cs typeface="Calibri" pitchFamily="34" charset="-120"/>
              </a:rPr>
              <a:t>Contrôles statistiques IC95 validés avec gates qualité validées</a:t>
            </a:r>
            <a:endParaRPr lang="en-US" sz="900" dirty="0"/>
          </a:p>
        </p:txBody>
      </p:sp>
      <p:sp>
        <p:nvSpPr>
          <p:cNvPr id="22" name="Text 20"/>
          <p:cNvSpPr/>
          <p:nvPr/>
        </p:nvSpPr>
        <p:spPr>
          <a:xfrm>
            <a:off x="5685352" y="3156349"/>
            <a:ext cx="2651760" cy="310896"/>
          </a:xfrm>
          <a:prstGeom prst="rect">
            <a:avLst/>
          </a:prstGeom>
          <a:noFill/>
          <a:ln/>
        </p:spPr>
        <p:txBody>
          <a:bodyPr wrap="square" lIns="0" tIns="0" rIns="0" bIns="0" rtlCol="0" anchor="ctr"/>
          <a:lstStyle/>
          <a:p>
            <a:pPr marL="0" indent="0">
              <a:lnSpc>
                <a:spcPct val="120000"/>
              </a:lnSpc>
              <a:buNone/>
            </a:pPr>
            <a:r>
              <a:rPr lang="fr-FR" sz="900" dirty="0">
                <a:solidFill>
                  <a:srgbClr val="555555"/>
                </a:solidFill>
                <a:latin typeface="Calibri" pitchFamily="34" charset="0"/>
                <a:ea typeface="Calibri" pitchFamily="34" charset="-122"/>
                <a:cs typeface="Calibri" pitchFamily="34" charset="-120"/>
              </a:rPr>
              <a:t>Régressions bloquées automatiquement en CI</a:t>
            </a:r>
            <a:endParaRPr lang="en-US" sz="900" dirty="0"/>
          </a:p>
        </p:txBody>
      </p:sp>
      <p:sp>
        <p:nvSpPr>
          <p:cNvPr id="66" name="Text 64"/>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68" name="Shape 13">
            <a:extLst>
              <a:ext uri="{FF2B5EF4-FFF2-40B4-BE49-F238E27FC236}">
                <a16:creationId xmlns:a16="http://schemas.microsoft.com/office/drawing/2014/main" id="{830E238F-ECA8-D74B-4B2D-99DC511E2D04}"/>
              </a:ext>
            </a:extLst>
          </p:cNvPr>
          <p:cNvSpPr/>
          <p:nvPr/>
        </p:nvSpPr>
        <p:spPr>
          <a:xfrm>
            <a:off x="5539048" y="2633426"/>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70" name="Shape 13">
            <a:extLst>
              <a:ext uri="{FF2B5EF4-FFF2-40B4-BE49-F238E27FC236}">
                <a16:creationId xmlns:a16="http://schemas.microsoft.com/office/drawing/2014/main" id="{AE9427D4-F2C8-04B5-8C31-048CD53B8357}"/>
              </a:ext>
            </a:extLst>
          </p:cNvPr>
          <p:cNvSpPr/>
          <p:nvPr/>
        </p:nvSpPr>
        <p:spPr>
          <a:xfrm>
            <a:off x="5539049" y="2960895"/>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72" name="Shape 13">
            <a:extLst>
              <a:ext uri="{FF2B5EF4-FFF2-40B4-BE49-F238E27FC236}">
                <a16:creationId xmlns:a16="http://schemas.microsoft.com/office/drawing/2014/main" id="{C0B7AB81-16FA-8269-17A4-F7D65D608DBC}"/>
              </a:ext>
            </a:extLst>
          </p:cNvPr>
          <p:cNvSpPr/>
          <p:nvPr/>
        </p:nvSpPr>
        <p:spPr>
          <a:xfrm>
            <a:off x="5539049" y="3286459"/>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82" name="Text 12">
            <a:extLst>
              <a:ext uri="{FF2B5EF4-FFF2-40B4-BE49-F238E27FC236}">
                <a16:creationId xmlns:a16="http://schemas.microsoft.com/office/drawing/2014/main" id="{8A11941D-1710-14F3-42C2-88A78FC4D3E4}"/>
              </a:ext>
            </a:extLst>
          </p:cNvPr>
          <p:cNvSpPr/>
          <p:nvPr/>
        </p:nvSpPr>
        <p:spPr>
          <a:xfrm>
            <a:off x="1737360" y="1969289"/>
            <a:ext cx="2834640" cy="182880"/>
          </a:xfrm>
          <a:prstGeom prst="rect">
            <a:avLst/>
          </a:prstGeom>
          <a:noFill/>
          <a:ln/>
        </p:spPr>
        <p:txBody>
          <a:bodyPr wrap="square" lIns="0" tIns="0" rIns="0" bIns="0" rtlCol="0" anchor="ctr"/>
          <a:lstStyle/>
          <a:p>
            <a:pPr marL="0" indent="0">
              <a:buNone/>
            </a:pPr>
            <a:r>
              <a:rPr lang="en-US" sz="800" b="1" kern="0" spc="150" dirty="0">
                <a:solidFill>
                  <a:srgbClr val="C0C0C0"/>
                </a:solidFill>
                <a:latin typeface="Calibri" pitchFamily="34" charset="0"/>
                <a:ea typeface="Calibri" pitchFamily="34" charset="-122"/>
                <a:cs typeface="Calibri" pitchFamily="34" charset="-120"/>
              </a:rPr>
              <a:t>PÉRIMÈTRE COUVERT</a:t>
            </a:r>
            <a:endParaRPr lang="en-US" sz="800" dirty="0"/>
          </a:p>
        </p:txBody>
      </p:sp>
      <p:sp>
        <p:nvSpPr>
          <p:cNvPr id="84" name="Shape 13">
            <a:extLst>
              <a:ext uri="{FF2B5EF4-FFF2-40B4-BE49-F238E27FC236}">
                <a16:creationId xmlns:a16="http://schemas.microsoft.com/office/drawing/2014/main" id="{3FA54580-8FCB-6EC6-59F0-E0757EF3B1E0}"/>
              </a:ext>
            </a:extLst>
          </p:cNvPr>
          <p:cNvSpPr/>
          <p:nvPr/>
        </p:nvSpPr>
        <p:spPr>
          <a:xfrm>
            <a:off x="1773937" y="2327810"/>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86" name="Text 14">
            <a:extLst>
              <a:ext uri="{FF2B5EF4-FFF2-40B4-BE49-F238E27FC236}">
                <a16:creationId xmlns:a16="http://schemas.microsoft.com/office/drawing/2014/main" id="{F1F556A5-9D8E-DD7C-4BC2-D0AB0F7F1F7C}"/>
              </a:ext>
            </a:extLst>
          </p:cNvPr>
          <p:cNvSpPr/>
          <p:nvPr/>
        </p:nvSpPr>
        <p:spPr>
          <a:xfrm>
            <a:off x="1920240" y="2188745"/>
            <a:ext cx="2651760" cy="310896"/>
          </a:xfrm>
          <a:prstGeom prst="rect">
            <a:avLst/>
          </a:prstGeom>
          <a:noFill/>
          <a:ln/>
        </p:spPr>
        <p:txBody>
          <a:bodyPr wrap="square" lIns="0" tIns="0" rIns="0" bIns="0" rtlCol="0" anchor="ctr"/>
          <a:lstStyle/>
          <a:p>
            <a:pPr marL="0" indent="0">
              <a:lnSpc>
                <a:spcPct val="120000"/>
              </a:lnSpc>
              <a:buNone/>
            </a:pPr>
            <a:r>
              <a:rPr lang="en-US" sz="900" dirty="0">
                <a:solidFill>
                  <a:srgbClr val="555555"/>
                </a:solidFill>
                <a:latin typeface="Calibri" pitchFamily="34" charset="0"/>
                <a:ea typeface="Calibri" pitchFamily="34" charset="-122"/>
                <a:cs typeface="Calibri" pitchFamily="34" charset="-120"/>
              </a:rPr>
              <a:t>domain</a:t>
            </a:r>
            <a:endParaRPr lang="en-US" sz="900" dirty="0"/>
          </a:p>
        </p:txBody>
      </p:sp>
      <p:sp>
        <p:nvSpPr>
          <p:cNvPr id="88" name="Text 16">
            <a:extLst>
              <a:ext uri="{FF2B5EF4-FFF2-40B4-BE49-F238E27FC236}">
                <a16:creationId xmlns:a16="http://schemas.microsoft.com/office/drawing/2014/main" id="{CB112607-FDA6-8DFE-400A-F524A9ECDD16}"/>
              </a:ext>
            </a:extLst>
          </p:cNvPr>
          <p:cNvSpPr/>
          <p:nvPr/>
        </p:nvSpPr>
        <p:spPr>
          <a:xfrm>
            <a:off x="1920240" y="2517929"/>
            <a:ext cx="2651760" cy="310896"/>
          </a:xfrm>
          <a:prstGeom prst="rect">
            <a:avLst/>
          </a:prstGeom>
          <a:noFill/>
          <a:ln/>
        </p:spPr>
        <p:txBody>
          <a:bodyPr wrap="square" lIns="0" tIns="0" rIns="0" bIns="0" rtlCol="0" anchor="ctr"/>
          <a:lstStyle/>
          <a:p>
            <a:pPr marL="0" indent="0">
              <a:lnSpc>
                <a:spcPct val="120000"/>
              </a:lnSpc>
              <a:buNone/>
            </a:pPr>
            <a:r>
              <a:rPr lang="en-US" sz="900" dirty="0">
                <a:solidFill>
                  <a:srgbClr val="555555"/>
                </a:solidFill>
                <a:latin typeface="Calibri" pitchFamily="34" charset="0"/>
                <a:ea typeface="Calibri" pitchFamily="34" charset="-122"/>
                <a:cs typeface="Calibri" pitchFamily="34" charset="-120"/>
              </a:rPr>
              <a:t>application</a:t>
            </a:r>
            <a:endParaRPr lang="en-US" sz="900" dirty="0"/>
          </a:p>
        </p:txBody>
      </p:sp>
      <p:sp>
        <p:nvSpPr>
          <p:cNvPr id="90" name="Text 18">
            <a:extLst>
              <a:ext uri="{FF2B5EF4-FFF2-40B4-BE49-F238E27FC236}">
                <a16:creationId xmlns:a16="http://schemas.microsoft.com/office/drawing/2014/main" id="{CD0A970E-AF69-CDC5-5FC8-E7E9E9E4008C}"/>
              </a:ext>
            </a:extLst>
          </p:cNvPr>
          <p:cNvSpPr/>
          <p:nvPr/>
        </p:nvSpPr>
        <p:spPr>
          <a:xfrm>
            <a:off x="1920240" y="2847113"/>
            <a:ext cx="2651760" cy="310896"/>
          </a:xfrm>
          <a:prstGeom prst="rect">
            <a:avLst/>
          </a:prstGeom>
          <a:noFill/>
          <a:ln/>
        </p:spPr>
        <p:txBody>
          <a:bodyPr wrap="square" lIns="0" tIns="0" rIns="0" bIns="0" rtlCol="0" anchor="ctr"/>
          <a:lstStyle/>
          <a:p>
            <a:pPr marL="0" indent="0">
              <a:lnSpc>
                <a:spcPct val="120000"/>
              </a:lnSpc>
              <a:buNone/>
            </a:pPr>
            <a:r>
              <a:rPr lang="en-US" sz="900" dirty="0">
                <a:solidFill>
                  <a:srgbClr val="555555"/>
                </a:solidFill>
                <a:latin typeface="Calibri" pitchFamily="34" charset="0"/>
                <a:ea typeface="Calibri" pitchFamily="34" charset="-122"/>
                <a:cs typeface="Calibri" pitchFamily="34" charset="-120"/>
              </a:rPr>
              <a:t>validation</a:t>
            </a:r>
            <a:endParaRPr lang="en-US" sz="900" dirty="0"/>
          </a:p>
        </p:txBody>
      </p:sp>
      <p:sp>
        <p:nvSpPr>
          <p:cNvPr id="92" name="Text 20">
            <a:extLst>
              <a:ext uri="{FF2B5EF4-FFF2-40B4-BE49-F238E27FC236}">
                <a16:creationId xmlns:a16="http://schemas.microsoft.com/office/drawing/2014/main" id="{74300C77-F176-A889-3CA2-B589BEB94CB6}"/>
              </a:ext>
            </a:extLst>
          </p:cNvPr>
          <p:cNvSpPr/>
          <p:nvPr/>
        </p:nvSpPr>
        <p:spPr>
          <a:xfrm>
            <a:off x="1920240" y="3176297"/>
            <a:ext cx="1021913" cy="310896"/>
          </a:xfrm>
          <a:prstGeom prst="rect">
            <a:avLst/>
          </a:prstGeom>
          <a:noFill/>
          <a:ln/>
        </p:spPr>
        <p:txBody>
          <a:bodyPr wrap="square" lIns="0" tIns="0" rIns="0" bIns="0" rtlCol="0" anchor="ctr"/>
          <a:lstStyle/>
          <a:p>
            <a:pPr marL="0" indent="0">
              <a:lnSpc>
                <a:spcPct val="120000"/>
              </a:lnSpc>
              <a:buNone/>
            </a:pPr>
            <a:r>
              <a:rPr lang="en-US" sz="900" dirty="0">
                <a:solidFill>
                  <a:srgbClr val="555555"/>
                </a:solidFill>
                <a:latin typeface="Calibri" pitchFamily="34" charset="0"/>
                <a:ea typeface="Calibri" pitchFamily="34" charset="-122"/>
                <a:cs typeface="Calibri" pitchFamily="34" charset="-120"/>
              </a:rPr>
              <a:t>scripts/audit</a:t>
            </a:r>
            <a:endParaRPr lang="en-US" sz="900" dirty="0"/>
          </a:p>
        </p:txBody>
      </p:sp>
      <p:sp>
        <p:nvSpPr>
          <p:cNvPr id="94" name="Shape 13">
            <a:extLst>
              <a:ext uri="{FF2B5EF4-FFF2-40B4-BE49-F238E27FC236}">
                <a16:creationId xmlns:a16="http://schemas.microsoft.com/office/drawing/2014/main" id="{55D8FD66-A3E5-4845-D36C-A794C65EB478}"/>
              </a:ext>
            </a:extLst>
          </p:cNvPr>
          <p:cNvSpPr/>
          <p:nvPr/>
        </p:nvSpPr>
        <p:spPr>
          <a:xfrm>
            <a:off x="1773936" y="2653374"/>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96" name="Shape 13">
            <a:extLst>
              <a:ext uri="{FF2B5EF4-FFF2-40B4-BE49-F238E27FC236}">
                <a16:creationId xmlns:a16="http://schemas.microsoft.com/office/drawing/2014/main" id="{1AD1A755-306B-892C-5C89-89D2622DCEFB}"/>
              </a:ext>
            </a:extLst>
          </p:cNvPr>
          <p:cNvSpPr/>
          <p:nvPr/>
        </p:nvSpPr>
        <p:spPr>
          <a:xfrm>
            <a:off x="1773937" y="2980843"/>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98" name="Shape 13">
            <a:extLst>
              <a:ext uri="{FF2B5EF4-FFF2-40B4-BE49-F238E27FC236}">
                <a16:creationId xmlns:a16="http://schemas.microsoft.com/office/drawing/2014/main" id="{9F30B72E-4E07-6063-73B8-F14537FF4239}"/>
              </a:ext>
            </a:extLst>
          </p:cNvPr>
          <p:cNvSpPr/>
          <p:nvPr/>
        </p:nvSpPr>
        <p:spPr>
          <a:xfrm>
            <a:off x="1773937" y="3306407"/>
            <a:ext cx="54864" cy="55721"/>
          </a:xfrm>
          <a:prstGeom prst="ellipse">
            <a:avLst/>
          </a:prstGeom>
          <a:solidFill>
            <a:srgbClr val="C9A84C"/>
          </a:solidFill>
          <a:ln w="12700">
            <a:solidFill>
              <a:srgbClr val="C9A84C"/>
            </a:solidFill>
            <a:prstDash val="solid"/>
          </a:ln>
        </p:spPr>
        <p:txBody>
          <a:bodyPr/>
          <a:lstStyle/>
          <a:p>
            <a:endParaRPr lang="en-CA" sz="2000"/>
          </a:p>
        </p:txBody>
      </p:sp>
      <p:sp>
        <p:nvSpPr>
          <p:cNvPr id="100" name="Shape 3">
            <a:extLst>
              <a:ext uri="{FF2B5EF4-FFF2-40B4-BE49-F238E27FC236}">
                <a16:creationId xmlns:a16="http://schemas.microsoft.com/office/drawing/2014/main" id="{AB2245EB-4394-3110-BE5D-2030033C4245}"/>
              </a:ext>
            </a:extLst>
          </p:cNvPr>
          <p:cNvSpPr/>
          <p:nvPr/>
        </p:nvSpPr>
        <p:spPr>
          <a:xfrm>
            <a:off x="475488" y="1781971"/>
            <a:ext cx="8321040" cy="0"/>
          </a:xfrm>
          <a:prstGeom prst="line">
            <a:avLst/>
          </a:prstGeom>
          <a:noFill/>
          <a:ln w="10160">
            <a:solidFill>
              <a:srgbClr val="F0F0F0"/>
            </a:solidFill>
            <a:prstDash val="solid"/>
          </a:ln>
        </p:spPr>
        <p:txBody>
          <a:bodyPr/>
          <a:lstStyle/>
          <a:p>
            <a:endParaRPr lang="en-CA"/>
          </a:p>
        </p:txBody>
      </p:sp>
      <p:pic>
        <p:nvPicPr>
          <p:cNvPr id="102" name="Picture 101">
            <a:extLst>
              <a:ext uri="{FF2B5EF4-FFF2-40B4-BE49-F238E27FC236}">
                <a16:creationId xmlns:a16="http://schemas.microsoft.com/office/drawing/2014/main" id="{559A9B4C-E879-A883-CAC0-10CECC96B10B}"/>
              </a:ext>
            </a:extLst>
          </p:cNvPr>
          <p:cNvPicPr>
            <a:picLocks noChangeAspect="1"/>
          </p:cNvPicPr>
          <p:nvPr/>
        </p:nvPicPr>
        <p:blipFill>
          <a:blip r:embed="rId3">
            <a:alphaModFix amt="15000"/>
          </a:blip>
          <a:stretch>
            <a:fillRect/>
          </a:stretch>
        </p:blipFill>
        <p:spPr>
          <a:xfrm>
            <a:off x="714958" y="2322621"/>
            <a:ext cx="733051" cy="733051"/>
          </a:xfrm>
          <a:prstGeom prst="rect">
            <a:avLst/>
          </a:prstGeom>
        </p:spPr>
      </p:pic>
      <p:pic>
        <p:nvPicPr>
          <p:cNvPr id="104" name="Picture 103">
            <a:extLst>
              <a:ext uri="{FF2B5EF4-FFF2-40B4-BE49-F238E27FC236}">
                <a16:creationId xmlns:a16="http://schemas.microsoft.com/office/drawing/2014/main" id="{C8481A54-E505-5CB7-6910-BC4C84025D48}"/>
              </a:ext>
            </a:extLst>
          </p:cNvPr>
          <p:cNvPicPr>
            <a:picLocks noChangeAspect="1"/>
          </p:cNvPicPr>
          <p:nvPr/>
        </p:nvPicPr>
        <p:blipFill>
          <a:blip r:embed="rId4">
            <a:alphaModFix amt="15000"/>
          </a:blip>
          <a:stretch>
            <a:fillRect/>
          </a:stretch>
        </p:blipFill>
        <p:spPr>
          <a:xfrm>
            <a:off x="4622570" y="2327810"/>
            <a:ext cx="678041" cy="678041"/>
          </a:xfrm>
          <a:prstGeom prst="rect">
            <a:avLst/>
          </a:prstGeom>
        </p:spPr>
      </p:pic>
      <p:sp>
        <p:nvSpPr>
          <p:cNvPr id="106" name="Text 20">
            <a:extLst>
              <a:ext uri="{FF2B5EF4-FFF2-40B4-BE49-F238E27FC236}">
                <a16:creationId xmlns:a16="http://schemas.microsoft.com/office/drawing/2014/main" id="{F118AF2B-A440-0FF9-D785-FE13DF562E1D}"/>
              </a:ext>
            </a:extLst>
          </p:cNvPr>
          <p:cNvSpPr/>
          <p:nvPr/>
        </p:nvSpPr>
        <p:spPr>
          <a:xfrm>
            <a:off x="1920239" y="3481291"/>
            <a:ext cx="2834640" cy="310896"/>
          </a:xfrm>
          <a:prstGeom prst="rect">
            <a:avLst/>
          </a:prstGeom>
          <a:noFill/>
          <a:ln/>
        </p:spPr>
        <p:txBody>
          <a:bodyPr wrap="square" lIns="0" tIns="0" rIns="0" bIns="0" rtlCol="0" anchor="ctr"/>
          <a:lstStyle/>
          <a:p>
            <a:pPr marL="0" indent="0">
              <a:lnSpc>
                <a:spcPct val="120000"/>
              </a:lnSpc>
              <a:buNone/>
            </a:pPr>
            <a:r>
              <a:rPr lang="fr-FR" sz="900" dirty="0">
                <a:solidFill>
                  <a:srgbClr val="555555"/>
                </a:solidFill>
                <a:latin typeface="Calibri" pitchFamily="34" charset="0"/>
                <a:ea typeface="Calibri" pitchFamily="34" charset="-122"/>
                <a:cs typeface="Calibri" pitchFamily="34" charset="-120"/>
              </a:rPr>
              <a:t>tests différentiels contre des implémentations de référence</a:t>
            </a:r>
            <a:endParaRPr lang="en-US" sz="900" dirty="0"/>
          </a:p>
        </p:txBody>
      </p:sp>
      <p:sp>
        <p:nvSpPr>
          <p:cNvPr id="108" name="Shape 13">
            <a:extLst>
              <a:ext uri="{FF2B5EF4-FFF2-40B4-BE49-F238E27FC236}">
                <a16:creationId xmlns:a16="http://schemas.microsoft.com/office/drawing/2014/main" id="{8492F6A6-6D77-179F-57A6-BDFE26E49EFD}"/>
              </a:ext>
            </a:extLst>
          </p:cNvPr>
          <p:cNvSpPr/>
          <p:nvPr/>
        </p:nvSpPr>
        <p:spPr>
          <a:xfrm>
            <a:off x="1773936" y="3611401"/>
            <a:ext cx="54864" cy="55721"/>
          </a:xfrm>
          <a:prstGeom prst="ellipse">
            <a:avLst/>
          </a:prstGeom>
          <a:solidFill>
            <a:srgbClr val="C9A84C"/>
          </a:solidFill>
          <a:ln w="12700">
            <a:solidFill>
              <a:srgbClr val="C9A84C"/>
            </a:solidFill>
            <a:prstDash val="solid"/>
          </a:ln>
        </p:spPr>
        <p:txBody>
          <a:bodyPr/>
          <a:lstStyle/>
          <a:p>
            <a:endParaRPr lang="en-CA" sz="2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75488" y="164592"/>
            <a:ext cx="6400800" cy="182880"/>
          </a:xfrm>
          <a:prstGeom prst="rect">
            <a:avLst/>
          </a:prstGeom>
          <a:noFill/>
          <a:ln/>
        </p:spPr>
        <p:txBody>
          <a:bodyPr wrap="square" lIns="0" tIns="0" rIns="0" bIns="0" rtlCol="0" anchor="ctr"/>
          <a:lstStyle/>
          <a:p>
            <a:r>
              <a:rPr lang="en-US" sz="800" b="1" kern="0" spc="200" dirty="0">
                <a:solidFill>
                  <a:srgbClr val="C0C0C0"/>
                </a:solidFill>
                <a:latin typeface="Calibri" pitchFamily="34" charset="0"/>
                <a:ea typeface="Calibri" pitchFamily="34" charset="-122"/>
                <a:cs typeface="Calibri" pitchFamily="34" charset="-120"/>
              </a:rPr>
              <a:t>05b  ·  SYNTHÈSE ET DÉMONSTRATION</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fr-FR" sz="1500" b="1" dirty="0">
                <a:solidFill>
                  <a:srgbClr val="CFB260"/>
                </a:solidFill>
                <a:latin typeface="Calibri" pitchFamily="34" charset="0"/>
                <a:ea typeface="Calibri" pitchFamily="34" charset="-122"/>
                <a:cs typeface="Calibri" pitchFamily="34" charset="-120"/>
              </a:rPr>
              <a:t>Scripts</a:t>
            </a:r>
            <a:r>
              <a:rPr lang="fr-FR" sz="1500" b="1" dirty="0">
                <a:solidFill>
                  <a:srgbClr val="0A0A0A"/>
                </a:solidFill>
                <a:latin typeface="Calibri" pitchFamily="34" charset="0"/>
                <a:ea typeface="Calibri" pitchFamily="34" charset="-122"/>
                <a:cs typeface="Calibri" pitchFamily="34" charset="-120"/>
              </a:rPr>
              <a:t> d’exécution</a:t>
            </a:r>
            <a:endParaRPr lang="en-US" sz="1500" dirty="0">
              <a:solidFill>
                <a:srgbClr val="CFB260"/>
              </a:solidFill>
            </a:endParaRPr>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6" name="Shape 4"/>
          <p:cNvSpPr/>
          <p:nvPr/>
        </p:nvSpPr>
        <p:spPr>
          <a:xfrm>
            <a:off x="475488" y="841248"/>
            <a:ext cx="8321040" cy="1188720"/>
          </a:xfrm>
          <a:prstGeom prst="roundRect">
            <a:avLst>
              <a:gd name="adj" fmla="val 7692"/>
            </a:avLst>
          </a:prstGeom>
          <a:solidFill>
            <a:srgbClr val="FAFAFA"/>
          </a:solidFill>
          <a:ln w="7620">
            <a:solidFill>
              <a:srgbClr val="EEEEEE"/>
            </a:solidFill>
            <a:prstDash val="solid"/>
          </a:ln>
        </p:spPr>
        <p:txBody>
          <a:bodyPr/>
          <a:lstStyle/>
          <a:p>
            <a:endParaRPr lang="en-CA"/>
          </a:p>
        </p:txBody>
      </p:sp>
      <p:sp>
        <p:nvSpPr>
          <p:cNvPr id="7" name="Text 5"/>
          <p:cNvSpPr/>
          <p:nvPr/>
        </p:nvSpPr>
        <p:spPr>
          <a:xfrm>
            <a:off x="509450" y="987552"/>
            <a:ext cx="1020208" cy="1133856"/>
          </a:xfrm>
          <a:prstGeom prst="rect">
            <a:avLst/>
          </a:prstGeom>
          <a:noFill/>
          <a:ln/>
        </p:spPr>
        <p:txBody>
          <a:bodyPr wrap="square" lIns="0" tIns="0" rIns="0" bIns="0" rtlCol="0" anchor="ctr"/>
          <a:lstStyle/>
          <a:p>
            <a:pPr marL="0" indent="0" algn="ctr">
              <a:buNone/>
            </a:pPr>
            <a:r>
              <a:rPr lang="en-US" sz="5400" b="1" dirty="0">
                <a:solidFill>
                  <a:srgbClr val="0A0A0A">
                    <a:alpha val="12000"/>
                  </a:srgbClr>
                </a:solidFill>
                <a:latin typeface="Calibri" pitchFamily="34" charset="0"/>
                <a:ea typeface="Calibri" pitchFamily="34" charset="-122"/>
                <a:cs typeface="Calibri" pitchFamily="34" charset="-120"/>
              </a:rPr>
              <a:t>01</a:t>
            </a:r>
            <a:endParaRPr lang="en-US" sz="5400" dirty="0"/>
          </a:p>
        </p:txBody>
      </p:sp>
      <p:sp>
        <p:nvSpPr>
          <p:cNvPr id="8" name="Shape 6"/>
          <p:cNvSpPr/>
          <p:nvPr/>
        </p:nvSpPr>
        <p:spPr>
          <a:xfrm>
            <a:off x="475488" y="841248"/>
            <a:ext cx="54864" cy="1188720"/>
          </a:xfrm>
          <a:prstGeom prst="rect">
            <a:avLst/>
          </a:prstGeom>
          <a:solidFill>
            <a:srgbClr val="0A0A0A"/>
          </a:solidFill>
          <a:ln w="12700">
            <a:solidFill>
              <a:srgbClr val="0A0A0A"/>
            </a:solidFill>
            <a:prstDash val="solid"/>
          </a:ln>
        </p:spPr>
        <p:txBody>
          <a:bodyPr/>
          <a:lstStyle/>
          <a:p>
            <a:endParaRPr lang="en-CA"/>
          </a:p>
        </p:txBody>
      </p:sp>
      <p:sp>
        <p:nvSpPr>
          <p:cNvPr id="9" name="Shape 7"/>
          <p:cNvSpPr/>
          <p:nvPr/>
        </p:nvSpPr>
        <p:spPr>
          <a:xfrm>
            <a:off x="694944" y="950976"/>
            <a:ext cx="658368" cy="219456"/>
          </a:xfrm>
          <a:prstGeom prst="roundRect">
            <a:avLst>
              <a:gd name="adj" fmla="val 20833"/>
            </a:avLst>
          </a:prstGeom>
          <a:solidFill>
            <a:srgbClr val="EEEEEE"/>
          </a:solidFill>
          <a:ln w="6350">
            <a:solidFill>
              <a:srgbClr val="E0E0E0"/>
            </a:solidFill>
            <a:prstDash val="solid"/>
          </a:ln>
        </p:spPr>
        <p:txBody>
          <a:bodyPr/>
          <a:lstStyle/>
          <a:p>
            <a:endParaRPr lang="en-CA"/>
          </a:p>
        </p:txBody>
      </p:sp>
      <p:sp>
        <p:nvSpPr>
          <p:cNvPr id="10" name="Text 8"/>
          <p:cNvSpPr/>
          <p:nvPr/>
        </p:nvSpPr>
        <p:spPr>
          <a:xfrm>
            <a:off x="694944" y="950976"/>
            <a:ext cx="658368" cy="219456"/>
          </a:xfrm>
          <a:prstGeom prst="rect">
            <a:avLst/>
          </a:prstGeom>
          <a:noFill/>
          <a:ln/>
        </p:spPr>
        <p:txBody>
          <a:bodyPr wrap="square" lIns="0" tIns="0" rIns="0" bIns="0" rtlCol="0" anchor="ctr"/>
          <a:lstStyle/>
          <a:p>
            <a:pPr marL="0" indent="0" algn="ctr">
              <a:buNone/>
            </a:pPr>
            <a:r>
              <a:rPr lang="en-US" sz="650" b="1" kern="0" spc="80" dirty="0">
                <a:solidFill>
                  <a:srgbClr val="888888"/>
                </a:solidFill>
                <a:latin typeface="Calibri" pitchFamily="34" charset="0"/>
                <a:ea typeface="Calibri" pitchFamily="34" charset="-122"/>
                <a:cs typeface="Calibri" pitchFamily="34" charset="-120"/>
              </a:rPr>
              <a:t>VALIDE</a:t>
            </a:r>
            <a:endParaRPr lang="en-US" sz="650" dirty="0"/>
          </a:p>
        </p:txBody>
      </p:sp>
      <p:sp>
        <p:nvSpPr>
          <p:cNvPr id="11" name="Text 9"/>
          <p:cNvSpPr/>
          <p:nvPr/>
        </p:nvSpPr>
        <p:spPr>
          <a:xfrm>
            <a:off x="1572768" y="1316736"/>
            <a:ext cx="3840480" cy="347472"/>
          </a:xfrm>
          <a:prstGeom prst="rect">
            <a:avLst/>
          </a:prstGeom>
          <a:noFill/>
          <a:ln/>
        </p:spPr>
        <p:txBody>
          <a:bodyPr wrap="square" lIns="0" tIns="0" rIns="0" bIns="0" rtlCol="0" anchor="ctr"/>
          <a:lstStyle/>
          <a:p>
            <a:pPr marL="0" indent="0">
              <a:buNone/>
            </a:pPr>
            <a:r>
              <a:rPr lang="en-US" sz="1100" b="1" dirty="0">
                <a:solidFill>
                  <a:srgbClr val="0A0A0A"/>
                </a:solidFill>
                <a:latin typeface="Courier New" pitchFamily="34" charset="0"/>
                <a:ea typeface="Courier New" pitchFamily="34" charset="-122"/>
                <a:cs typeface="Courier New" pitchFamily="34" charset="-120"/>
              </a:rPr>
              <a:t>python scripts/run_kat.py</a:t>
            </a:r>
            <a:endParaRPr lang="en-US" sz="1100" dirty="0"/>
          </a:p>
        </p:txBody>
      </p:sp>
      <p:sp>
        <p:nvSpPr>
          <p:cNvPr id="12" name="Shape 10"/>
          <p:cNvSpPr/>
          <p:nvPr/>
        </p:nvSpPr>
        <p:spPr>
          <a:xfrm>
            <a:off x="5166360" y="982980"/>
            <a:ext cx="0" cy="896112"/>
          </a:xfrm>
          <a:prstGeom prst="line">
            <a:avLst/>
          </a:prstGeom>
          <a:noFill/>
          <a:ln w="7620">
            <a:solidFill>
              <a:srgbClr val="EEEEEE"/>
            </a:solidFill>
            <a:prstDash val="solid"/>
          </a:ln>
        </p:spPr>
        <p:txBody>
          <a:bodyPr/>
          <a:lstStyle/>
          <a:p>
            <a:endParaRPr lang="en-CA"/>
          </a:p>
        </p:txBody>
      </p:sp>
      <p:sp>
        <p:nvSpPr>
          <p:cNvPr id="13" name="Text 11"/>
          <p:cNvSpPr/>
          <p:nvPr/>
        </p:nvSpPr>
        <p:spPr>
          <a:xfrm>
            <a:off x="5312664" y="836676"/>
            <a:ext cx="3392424" cy="1188720"/>
          </a:xfrm>
          <a:prstGeom prst="rect">
            <a:avLst/>
          </a:prstGeom>
          <a:noFill/>
          <a:ln/>
        </p:spPr>
        <p:txBody>
          <a:bodyPr wrap="square" lIns="0" tIns="0" rIns="0" bIns="0" rtlCol="0" anchor="ctr"/>
          <a:lstStyle/>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Exécute les suites KAT</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Vérifie la conformité des implémentations</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Un PASS complet valide la base cryptographique</a:t>
            </a:r>
            <a:endParaRPr lang="en-US" sz="800" dirty="0"/>
          </a:p>
        </p:txBody>
      </p:sp>
      <p:sp>
        <p:nvSpPr>
          <p:cNvPr id="14" name="Shape 12"/>
          <p:cNvSpPr/>
          <p:nvPr/>
        </p:nvSpPr>
        <p:spPr>
          <a:xfrm>
            <a:off x="475488" y="2084832"/>
            <a:ext cx="8321040" cy="1188720"/>
          </a:xfrm>
          <a:prstGeom prst="roundRect">
            <a:avLst>
              <a:gd name="adj" fmla="val 7692"/>
            </a:avLst>
          </a:prstGeom>
          <a:solidFill>
            <a:srgbClr val="FAFAFA"/>
          </a:solidFill>
          <a:ln w="7620">
            <a:solidFill>
              <a:srgbClr val="EEEEEE"/>
            </a:solidFill>
            <a:prstDash val="solid"/>
          </a:ln>
        </p:spPr>
        <p:txBody>
          <a:bodyPr/>
          <a:lstStyle/>
          <a:p>
            <a:endParaRPr lang="en-CA"/>
          </a:p>
        </p:txBody>
      </p:sp>
      <p:sp>
        <p:nvSpPr>
          <p:cNvPr id="15" name="Text 13"/>
          <p:cNvSpPr/>
          <p:nvPr/>
        </p:nvSpPr>
        <p:spPr>
          <a:xfrm>
            <a:off x="475488" y="2299716"/>
            <a:ext cx="1097280" cy="1060704"/>
          </a:xfrm>
          <a:prstGeom prst="rect">
            <a:avLst/>
          </a:prstGeom>
          <a:noFill/>
          <a:ln/>
        </p:spPr>
        <p:txBody>
          <a:bodyPr wrap="square" lIns="0" tIns="0" rIns="0" bIns="0" rtlCol="0" anchor="ctr"/>
          <a:lstStyle/>
          <a:p>
            <a:pPr marL="0" indent="0" algn="ctr">
              <a:buNone/>
            </a:pPr>
            <a:r>
              <a:rPr lang="en-US" sz="6000" b="1" dirty="0">
                <a:solidFill>
                  <a:srgbClr val="CCCCCC">
                    <a:alpha val="12000"/>
                  </a:srgbClr>
                </a:solidFill>
                <a:latin typeface="Calibri" pitchFamily="34" charset="0"/>
                <a:ea typeface="Calibri" pitchFamily="34" charset="-122"/>
                <a:cs typeface="Calibri" pitchFamily="34" charset="-120"/>
              </a:rPr>
              <a:t>02</a:t>
            </a:r>
            <a:endParaRPr lang="en-US" sz="7200" dirty="0"/>
          </a:p>
        </p:txBody>
      </p:sp>
      <p:sp>
        <p:nvSpPr>
          <p:cNvPr id="16" name="Shape 14"/>
          <p:cNvSpPr/>
          <p:nvPr/>
        </p:nvSpPr>
        <p:spPr>
          <a:xfrm>
            <a:off x="475488" y="2084832"/>
            <a:ext cx="54864" cy="1188720"/>
          </a:xfrm>
          <a:prstGeom prst="rect">
            <a:avLst/>
          </a:prstGeom>
          <a:solidFill>
            <a:srgbClr val="888888"/>
          </a:solidFill>
          <a:ln w="12700">
            <a:solidFill>
              <a:srgbClr val="888888"/>
            </a:solidFill>
            <a:prstDash val="solid"/>
          </a:ln>
        </p:spPr>
        <p:txBody>
          <a:bodyPr/>
          <a:lstStyle/>
          <a:p>
            <a:endParaRPr lang="en-CA"/>
          </a:p>
        </p:txBody>
      </p:sp>
      <p:sp>
        <p:nvSpPr>
          <p:cNvPr id="17" name="Shape 15"/>
          <p:cNvSpPr/>
          <p:nvPr/>
        </p:nvSpPr>
        <p:spPr>
          <a:xfrm>
            <a:off x="694944" y="2194560"/>
            <a:ext cx="658368" cy="219456"/>
          </a:xfrm>
          <a:prstGeom prst="roundRect">
            <a:avLst>
              <a:gd name="adj" fmla="val 20833"/>
            </a:avLst>
          </a:prstGeom>
          <a:solidFill>
            <a:srgbClr val="EEEEEE"/>
          </a:solidFill>
          <a:ln w="6350">
            <a:solidFill>
              <a:srgbClr val="E0E0E0"/>
            </a:solidFill>
            <a:prstDash val="solid"/>
          </a:ln>
        </p:spPr>
        <p:txBody>
          <a:bodyPr/>
          <a:lstStyle/>
          <a:p>
            <a:endParaRPr lang="en-CA"/>
          </a:p>
        </p:txBody>
      </p:sp>
      <p:sp>
        <p:nvSpPr>
          <p:cNvPr id="18" name="Text 16"/>
          <p:cNvSpPr/>
          <p:nvPr/>
        </p:nvSpPr>
        <p:spPr>
          <a:xfrm>
            <a:off x="694944" y="2194560"/>
            <a:ext cx="658368" cy="219456"/>
          </a:xfrm>
          <a:prstGeom prst="rect">
            <a:avLst/>
          </a:prstGeom>
          <a:noFill/>
          <a:ln/>
        </p:spPr>
        <p:txBody>
          <a:bodyPr wrap="square" lIns="0" tIns="0" rIns="0" bIns="0" rtlCol="0" anchor="ctr"/>
          <a:lstStyle/>
          <a:p>
            <a:pPr marL="0" indent="0" algn="ctr">
              <a:buNone/>
            </a:pPr>
            <a:r>
              <a:rPr lang="en-US" sz="650" b="1" kern="0" spc="80" dirty="0">
                <a:solidFill>
                  <a:srgbClr val="888888"/>
                </a:solidFill>
                <a:latin typeface="Calibri" pitchFamily="34" charset="0"/>
                <a:ea typeface="Calibri" pitchFamily="34" charset="-122"/>
                <a:cs typeface="Calibri" pitchFamily="34" charset="-120"/>
              </a:rPr>
              <a:t>MESURE</a:t>
            </a:r>
            <a:endParaRPr lang="en-US" sz="650" dirty="0"/>
          </a:p>
        </p:txBody>
      </p:sp>
      <p:sp>
        <p:nvSpPr>
          <p:cNvPr id="19" name="Text 17"/>
          <p:cNvSpPr/>
          <p:nvPr/>
        </p:nvSpPr>
        <p:spPr>
          <a:xfrm>
            <a:off x="1529658" y="2596896"/>
            <a:ext cx="3840480" cy="347472"/>
          </a:xfrm>
          <a:prstGeom prst="rect">
            <a:avLst/>
          </a:prstGeom>
          <a:noFill/>
          <a:ln/>
        </p:spPr>
        <p:txBody>
          <a:bodyPr wrap="square" lIns="0" tIns="0" rIns="0" bIns="0" rtlCol="0" anchor="ctr"/>
          <a:lstStyle/>
          <a:p>
            <a:pPr marL="0" indent="0">
              <a:buNone/>
            </a:pPr>
            <a:r>
              <a:rPr lang="en-US" sz="1100" b="1" dirty="0">
                <a:solidFill>
                  <a:srgbClr val="0A0A0A"/>
                </a:solidFill>
                <a:latin typeface="Courier New" pitchFamily="34" charset="0"/>
                <a:ea typeface="Courier New" pitchFamily="34" charset="-122"/>
                <a:cs typeface="Courier New" pitchFamily="34" charset="-120"/>
              </a:rPr>
              <a:t>python scripts/experiment.py</a:t>
            </a:r>
            <a:endParaRPr lang="en-US" sz="1100" dirty="0"/>
          </a:p>
        </p:txBody>
      </p:sp>
      <p:sp>
        <p:nvSpPr>
          <p:cNvPr id="20" name="Shape 18"/>
          <p:cNvSpPr/>
          <p:nvPr/>
        </p:nvSpPr>
        <p:spPr>
          <a:xfrm>
            <a:off x="5166360" y="2226564"/>
            <a:ext cx="0" cy="896112"/>
          </a:xfrm>
          <a:prstGeom prst="line">
            <a:avLst/>
          </a:prstGeom>
          <a:noFill/>
          <a:ln w="7620">
            <a:solidFill>
              <a:srgbClr val="EEEEEE"/>
            </a:solidFill>
            <a:prstDash val="solid"/>
          </a:ln>
        </p:spPr>
        <p:txBody>
          <a:bodyPr/>
          <a:lstStyle/>
          <a:p>
            <a:endParaRPr lang="en-CA"/>
          </a:p>
        </p:txBody>
      </p:sp>
      <p:sp>
        <p:nvSpPr>
          <p:cNvPr id="21" name="Text 19"/>
          <p:cNvSpPr/>
          <p:nvPr/>
        </p:nvSpPr>
        <p:spPr>
          <a:xfrm>
            <a:off x="5312664" y="2080260"/>
            <a:ext cx="3392424" cy="1188720"/>
          </a:xfrm>
          <a:prstGeom prst="rect">
            <a:avLst/>
          </a:prstGeom>
          <a:noFill/>
          <a:ln/>
        </p:spPr>
        <p:txBody>
          <a:bodyPr wrap="square" lIns="0" tIns="0" rIns="0" bIns="0" rtlCol="0" anchor="ctr"/>
          <a:lstStyle/>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Lance la matrice expérimentale</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Mesure toutes les configurations</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ea typeface="Calibri" pitchFamily="34" charset="-122"/>
                <a:cs typeface="Calibri" pitchFamily="34" charset="-120"/>
              </a:rPr>
              <a:t>Exporte les CSV horodatés dans data/results/</a:t>
            </a:r>
            <a:endParaRPr lang="en-US" sz="800" dirty="0"/>
          </a:p>
        </p:txBody>
      </p:sp>
      <p:sp>
        <p:nvSpPr>
          <p:cNvPr id="22" name="Shape 20"/>
          <p:cNvSpPr/>
          <p:nvPr/>
        </p:nvSpPr>
        <p:spPr>
          <a:xfrm>
            <a:off x="475488" y="3316778"/>
            <a:ext cx="8321040" cy="1188720"/>
          </a:xfrm>
          <a:prstGeom prst="roundRect">
            <a:avLst>
              <a:gd name="adj" fmla="val 7692"/>
            </a:avLst>
          </a:prstGeom>
          <a:solidFill>
            <a:srgbClr val="FAFAFA"/>
          </a:solidFill>
          <a:ln w="7620">
            <a:solidFill>
              <a:srgbClr val="EEEEEE"/>
            </a:solidFill>
            <a:prstDash val="solid"/>
          </a:ln>
        </p:spPr>
        <p:txBody>
          <a:bodyPr/>
          <a:lstStyle/>
          <a:p>
            <a:endParaRPr lang="en-CA"/>
          </a:p>
        </p:txBody>
      </p:sp>
      <p:sp>
        <p:nvSpPr>
          <p:cNvPr id="23" name="Text 21"/>
          <p:cNvSpPr/>
          <p:nvPr/>
        </p:nvSpPr>
        <p:spPr>
          <a:xfrm>
            <a:off x="534922" y="3438144"/>
            <a:ext cx="969263" cy="1156716"/>
          </a:xfrm>
          <a:prstGeom prst="rect">
            <a:avLst/>
          </a:prstGeom>
          <a:noFill/>
          <a:ln/>
        </p:spPr>
        <p:txBody>
          <a:bodyPr wrap="square" lIns="0" tIns="0" rIns="0" bIns="0" rtlCol="0" anchor="ctr"/>
          <a:lstStyle/>
          <a:p>
            <a:pPr marL="0" indent="0" algn="ctr">
              <a:buNone/>
            </a:pPr>
            <a:r>
              <a:rPr lang="en-US" sz="5400" b="1" dirty="0">
                <a:solidFill>
                  <a:srgbClr val="C9A84C">
                    <a:alpha val="12000"/>
                  </a:srgbClr>
                </a:solidFill>
                <a:latin typeface="Calibri" pitchFamily="34" charset="0"/>
                <a:ea typeface="Calibri" pitchFamily="34" charset="-122"/>
                <a:cs typeface="Calibri" pitchFamily="34" charset="-120"/>
              </a:rPr>
              <a:t>03</a:t>
            </a:r>
            <a:endParaRPr lang="en-US" sz="7200" dirty="0"/>
          </a:p>
        </p:txBody>
      </p:sp>
      <p:sp>
        <p:nvSpPr>
          <p:cNvPr id="24" name="Shape 22"/>
          <p:cNvSpPr/>
          <p:nvPr/>
        </p:nvSpPr>
        <p:spPr>
          <a:xfrm>
            <a:off x="475488" y="3328416"/>
            <a:ext cx="54864" cy="1188720"/>
          </a:xfrm>
          <a:prstGeom prst="rect">
            <a:avLst/>
          </a:prstGeom>
          <a:solidFill>
            <a:srgbClr val="C9A84C"/>
          </a:solidFill>
          <a:ln w="12700">
            <a:solidFill>
              <a:srgbClr val="C9A84C"/>
            </a:solidFill>
            <a:prstDash val="solid"/>
          </a:ln>
        </p:spPr>
        <p:txBody>
          <a:bodyPr/>
          <a:lstStyle/>
          <a:p>
            <a:endParaRPr lang="en-CA"/>
          </a:p>
        </p:txBody>
      </p:sp>
      <p:sp>
        <p:nvSpPr>
          <p:cNvPr id="25" name="Shape 23"/>
          <p:cNvSpPr/>
          <p:nvPr/>
        </p:nvSpPr>
        <p:spPr>
          <a:xfrm>
            <a:off x="694944" y="3438144"/>
            <a:ext cx="658368" cy="219456"/>
          </a:xfrm>
          <a:prstGeom prst="roundRect">
            <a:avLst>
              <a:gd name="adj" fmla="val 20833"/>
            </a:avLst>
          </a:prstGeom>
          <a:solidFill>
            <a:srgbClr val="EEEEEE"/>
          </a:solidFill>
          <a:ln w="6350">
            <a:solidFill>
              <a:srgbClr val="E0E0E0"/>
            </a:solidFill>
            <a:prstDash val="solid"/>
          </a:ln>
        </p:spPr>
        <p:txBody>
          <a:bodyPr/>
          <a:lstStyle/>
          <a:p>
            <a:endParaRPr lang="en-CA"/>
          </a:p>
        </p:txBody>
      </p:sp>
      <p:sp>
        <p:nvSpPr>
          <p:cNvPr id="26" name="Text 24"/>
          <p:cNvSpPr/>
          <p:nvPr/>
        </p:nvSpPr>
        <p:spPr>
          <a:xfrm>
            <a:off x="694944" y="3438144"/>
            <a:ext cx="658368" cy="219456"/>
          </a:xfrm>
          <a:prstGeom prst="rect">
            <a:avLst/>
          </a:prstGeom>
          <a:noFill/>
          <a:ln/>
        </p:spPr>
        <p:txBody>
          <a:bodyPr wrap="square" lIns="0" tIns="0" rIns="0" bIns="0" rtlCol="0" anchor="ctr"/>
          <a:lstStyle/>
          <a:p>
            <a:pPr marL="0" indent="0" algn="ctr">
              <a:buNone/>
            </a:pPr>
            <a:r>
              <a:rPr lang="en-US" sz="650" b="1" kern="0" spc="80" dirty="0">
                <a:solidFill>
                  <a:srgbClr val="888888"/>
                </a:solidFill>
                <a:latin typeface="Calibri" pitchFamily="34" charset="0"/>
                <a:cs typeface="Calibri" pitchFamily="34" charset="-120"/>
              </a:rPr>
              <a:t>GÉNÈRE</a:t>
            </a:r>
          </a:p>
        </p:txBody>
      </p:sp>
      <p:sp>
        <p:nvSpPr>
          <p:cNvPr id="27" name="Text 25"/>
          <p:cNvSpPr/>
          <p:nvPr/>
        </p:nvSpPr>
        <p:spPr>
          <a:xfrm>
            <a:off x="1481328" y="3815542"/>
            <a:ext cx="3840480" cy="347472"/>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python scripts/run_charts.py</a:t>
            </a:r>
            <a:endParaRPr lang="en-US" sz="1100" dirty="0"/>
          </a:p>
        </p:txBody>
      </p:sp>
      <p:sp>
        <p:nvSpPr>
          <p:cNvPr id="28" name="Shape 26"/>
          <p:cNvSpPr/>
          <p:nvPr/>
        </p:nvSpPr>
        <p:spPr>
          <a:xfrm>
            <a:off x="5166360" y="3470148"/>
            <a:ext cx="0" cy="896112"/>
          </a:xfrm>
          <a:prstGeom prst="line">
            <a:avLst/>
          </a:prstGeom>
          <a:noFill/>
          <a:ln w="7620">
            <a:solidFill>
              <a:srgbClr val="EEEEEE"/>
            </a:solidFill>
            <a:prstDash val="solid"/>
          </a:ln>
        </p:spPr>
        <p:txBody>
          <a:bodyPr/>
          <a:lstStyle/>
          <a:p>
            <a:endParaRPr lang="en-CA"/>
          </a:p>
        </p:txBody>
      </p:sp>
      <p:sp>
        <p:nvSpPr>
          <p:cNvPr id="29" name="Text 27"/>
          <p:cNvSpPr/>
          <p:nvPr/>
        </p:nvSpPr>
        <p:spPr>
          <a:xfrm>
            <a:off x="5312664" y="3323844"/>
            <a:ext cx="3392424" cy="1188720"/>
          </a:xfrm>
          <a:prstGeom prst="rect">
            <a:avLst/>
          </a:prstGeom>
          <a:noFill/>
          <a:ln/>
        </p:spPr>
        <p:txBody>
          <a:bodyPr wrap="square" lIns="0" tIns="0" rIns="0" bIns="0" rtlCol="0" anchor="ctr"/>
          <a:lstStyle/>
          <a:p>
            <a:pPr marL="171450" indent="-171450">
              <a:lnSpc>
                <a:spcPct val="200000"/>
              </a:lnSpc>
              <a:buFont typeface="Arial" panose="020B0604020202020204" pitchFamily="34" charset="0"/>
              <a:buChar char="•"/>
            </a:pPr>
            <a:r>
              <a:rPr lang="fr-FR" sz="800" dirty="0">
                <a:solidFill>
                  <a:srgbClr val="555555"/>
                </a:solidFill>
                <a:latin typeface="Calibri" pitchFamily="34" charset="0"/>
                <a:cs typeface="Calibri" pitchFamily="34" charset="-120"/>
              </a:rPr>
              <a:t>Lit les CSV de data/results/</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cs typeface="Calibri" pitchFamily="34" charset="-120"/>
              </a:rPr>
              <a:t>Génère les figures via les modules build_*</a:t>
            </a:r>
          </a:p>
          <a:p>
            <a:pPr marL="171450" indent="-171450">
              <a:lnSpc>
                <a:spcPct val="200000"/>
              </a:lnSpc>
              <a:buFont typeface="Arial" panose="020B0604020202020204" pitchFamily="34" charset="0"/>
              <a:buChar char="•"/>
            </a:pPr>
            <a:r>
              <a:rPr lang="fr-FR" sz="800" dirty="0">
                <a:solidFill>
                  <a:srgbClr val="555555"/>
                </a:solidFill>
                <a:latin typeface="Calibri" pitchFamily="34" charset="0"/>
                <a:cs typeface="Calibri" pitchFamily="34" charset="-120"/>
              </a:rPr>
              <a:t>Exporte les graphiques dans data/charts/</a:t>
            </a:r>
            <a:endParaRPr lang="en-US" sz="800" dirty="0">
              <a:solidFill>
                <a:srgbClr val="555555"/>
              </a:solidFill>
              <a:latin typeface="Calibri" pitchFamily="34" charset="0"/>
              <a:cs typeface="Calibri" pitchFamily="34" charset="-120"/>
            </a:endParaRPr>
          </a:p>
        </p:txBody>
      </p:sp>
      <p:sp>
        <p:nvSpPr>
          <p:cNvPr id="33" name="Text 31"/>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39" name="TextBox 38">
            <a:extLst>
              <a:ext uri="{FF2B5EF4-FFF2-40B4-BE49-F238E27FC236}">
                <a16:creationId xmlns:a16="http://schemas.microsoft.com/office/drawing/2014/main" id="{854FE409-3515-30BE-9170-EB4028788800}"/>
              </a:ext>
            </a:extLst>
          </p:cNvPr>
          <p:cNvSpPr txBox="1"/>
          <p:nvPr/>
        </p:nvSpPr>
        <p:spPr>
          <a:xfrm>
            <a:off x="5854654" y="522726"/>
            <a:ext cx="3108129" cy="215444"/>
          </a:xfrm>
          <a:prstGeom prst="rect">
            <a:avLst/>
          </a:prstGeom>
          <a:noFill/>
        </p:spPr>
        <p:txBody>
          <a:bodyPr wrap="square">
            <a:spAutoFit/>
          </a:bodyPr>
          <a:lstStyle/>
          <a:p>
            <a:r>
              <a:rPr lang="fr-FR" sz="800" i="1" dirty="0">
                <a:solidFill>
                  <a:srgbClr val="CBCBCB"/>
                </a:solidFill>
                <a:latin typeface="Calibri" pitchFamily="34" charset="0"/>
                <a:cs typeface="Calibri" pitchFamily="34" charset="-120"/>
              </a:rPr>
              <a:t> À exécuter depuis crypto-</a:t>
            </a:r>
            <a:r>
              <a:rPr lang="fr-FR" sz="800" i="1" dirty="0" err="1">
                <a:solidFill>
                  <a:srgbClr val="CBCBCB"/>
                </a:solidFill>
                <a:latin typeface="Calibri" pitchFamily="34" charset="0"/>
                <a:cs typeface="Calibri" pitchFamily="34" charset="-120"/>
              </a:rPr>
              <a:t>experiments</a:t>
            </a:r>
            <a:r>
              <a:rPr lang="fr-FR" sz="800" i="1" dirty="0">
                <a:solidFill>
                  <a:srgbClr val="CBCBCB"/>
                </a:solidFill>
                <a:latin typeface="Calibri" pitchFamily="34" charset="0"/>
                <a:cs typeface="Calibri" pitchFamily="34" charset="-120"/>
              </a:rPr>
              <a:t> (environnement virtuel activé)</a:t>
            </a:r>
            <a:endParaRPr lang="en-CA" sz="800" i="1" dirty="0">
              <a:solidFill>
                <a:srgbClr val="CBCBCB"/>
              </a:solidFill>
              <a:latin typeface="Calibri" pitchFamily="34" charset="0"/>
              <a:cs typeface="Calibri" pitchFamily="34" charset="-120"/>
            </a:endParaRPr>
          </a:p>
        </p:txBody>
      </p:sp>
      <p:pic>
        <p:nvPicPr>
          <p:cNvPr id="41" name="Graphic 40" descr="Video camera with solid fill">
            <a:extLst>
              <a:ext uri="{FF2B5EF4-FFF2-40B4-BE49-F238E27FC236}">
                <a16:creationId xmlns:a16="http://schemas.microsoft.com/office/drawing/2014/main" id="{521C089D-0633-583D-881B-890B48033F9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83730" y="89924"/>
            <a:ext cx="430857" cy="430857"/>
          </a:xfrm>
          <a:prstGeom prst="rect">
            <a:avLst/>
          </a:prstGeom>
        </p:spPr>
      </p:pic>
      <p:sp>
        <p:nvSpPr>
          <p:cNvPr id="43" name="Text 15">
            <a:extLst>
              <a:ext uri="{FF2B5EF4-FFF2-40B4-BE49-F238E27FC236}">
                <a16:creationId xmlns:a16="http://schemas.microsoft.com/office/drawing/2014/main" id="{26065212-E60C-816B-A586-3B975A57AF00}"/>
              </a:ext>
            </a:extLst>
          </p:cNvPr>
          <p:cNvSpPr/>
          <p:nvPr/>
        </p:nvSpPr>
        <p:spPr>
          <a:xfrm>
            <a:off x="7713129" y="249382"/>
            <a:ext cx="1249654" cy="205231"/>
          </a:xfrm>
          <a:prstGeom prst="rect">
            <a:avLst/>
          </a:prstGeom>
          <a:noFill/>
          <a:ln/>
        </p:spPr>
        <p:txBody>
          <a:bodyPr wrap="square" lIns="0" tIns="0" rIns="0" bIns="0" rtlCol="0" anchor="ctr"/>
          <a:lstStyle/>
          <a:p>
            <a:pPr marL="0" indent="0">
              <a:buNone/>
            </a:pPr>
            <a:r>
              <a:rPr lang="en-US" sz="1300" b="1" u="sng" dirty="0">
                <a:solidFill>
                  <a:srgbClr val="888888"/>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Démo complète</a:t>
            </a:r>
            <a:endParaRPr lang="en-US" sz="1300" u="sng" dirty="0">
              <a:solidFill>
                <a:srgbClr val="888888"/>
              </a:solidFill>
            </a:endParaRPr>
          </a:p>
        </p:txBody>
      </p:sp>
      <p:sp>
        <p:nvSpPr>
          <p:cNvPr id="45" name="TextBox 44">
            <a:extLst>
              <a:ext uri="{FF2B5EF4-FFF2-40B4-BE49-F238E27FC236}">
                <a16:creationId xmlns:a16="http://schemas.microsoft.com/office/drawing/2014/main" id="{AF1BC207-DB40-ED97-E11C-CE8213CAA75D}"/>
              </a:ext>
            </a:extLst>
          </p:cNvPr>
          <p:cNvSpPr txBox="1"/>
          <p:nvPr/>
        </p:nvSpPr>
        <p:spPr>
          <a:xfrm>
            <a:off x="475489" y="4519803"/>
            <a:ext cx="8321040" cy="223138"/>
          </a:xfrm>
          <a:prstGeom prst="rect">
            <a:avLst/>
          </a:prstGeom>
          <a:noFill/>
        </p:spPr>
        <p:txBody>
          <a:bodyPr wrap="square">
            <a:spAutoFit/>
          </a:bodyPr>
          <a:lstStyle/>
          <a:p>
            <a:pPr algn="ctr"/>
            <a:r>
              <a:rPr lang="fr-FR" sz="850" i="1" dirty="0">
                <a:solidFill>
                  <a:srgbClr val="C0C0C0"/>
                </a:solidFill>
                <a:latin typeface="Calibri" pitchFamily="34" charset="0"/>
                <a:cs typeface="Calibri" pitchFamily="34" charset="-120"/>
              </a:rPr>
              <a:t>Validation statistique complémentaire: IC95 et gates appliqués après le benchmark (CI)</a:t>
            </a:r>
            <a:endParaRPr lang="en-CA" sz="850" i="1" dirty="0">
              <a:solidFill>
                <a:srgbClr val="C0C0C0"/>
              </a:solidFill>
              <a:latin typeface="Calibri" pitchFamily="34" charset="0"/>
              <a:cs typeface="Calibri" pitchFamily="34" charset="-12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5029200" cy="0"/>
          </a:xfrm>
          <a:prstGeom prst="line">
            <a:avLst/>
          </a:prstGeom>
          <a:noFill/>
          <a:ln w="31750">
            <a:solidFill>
              <a:srgbClr val="C9A84C"/>
            </a:solidFill>
            <a:prstDash val="solid"/>
          </a:ln>
        </p:spPr>
        <p:txBody>
          <a:bodyPr/>
          <a:lstStyle/>
          <a:p>
            <a:endParaRPr lang="en-CA"/>
          </a:p>
        </p:txBody>
      </p:sp>
      <p:sp>
        <p:nvSpPr>
          <p:cNvPr id="3" name="Text 1"/>
          <p:cNvSpPr/>
          <p:nvPr/>
        </p:nvSpPr>
        <p:spPr>
          <a:xfrm>
            <a:off x="475488" y="164592"/>
            <a:ext cx="6400800" cy="182880"/>
          </a:xfrm>
          <a:prstGeom prst="rect">
            <a:avLst/>
          </a:prstGeom>
          <a:noFill/>
          <a:ln/>
        </p:spPr>
        <p:txBody>
          <a:bodyPr wrap="square" lIns="0" tIns="0" rIns="0" bIns="0" rtlCol="0" anchor="ctr"/>
          <a:lstStyle/>
          <a:p>
            <a:pPr marL="0" indent="0">
              <a:buNone/>
            </a:pPr>
            <a:r>
              <a:rPr lang="en-US" sz="800" b="1" kern="0" spc="200" dirty="0">
                <a:solidFill>
                  <a:srgbClr val="C0C0C0"/>
                </a:solidFill>
                <a:latin typeface="Calibri" pitchFamily="34" charset="0"/>
                <a:ea typeface="Calibri" pitchFamily="34" charset="-122"/>
                <a:cs typeface="Calibri" pitchFamily="34" charset="-120"/>
              </a:rPr>
              <a:t>05c  ·  SYNTHÈSE ET DÉMONSTRATION</a:t>
            </a:r>
            <a:endParaRPr lang="en-US" sz="800" dirty="0"/>
          </a:p>
        </p:txBody>
      </p:sp>
      <p:sp>
        <p:nvSpPr>
          <p:cNvPr id="4" name="Text 2"/>
          <p:cNvSpPr/>
          <p:nvPr/>
        </p:nvSpPr>
        <p:spPr>
          <a:xfrm>
            <a:off x="475488" y="329184"/>
            <a:ext cx="8229600" cy="329184"/>
          </a:xfrm>
          <a:prstGeom prst="rect">
            <a:avLst/>
          </a:prstGeom>
          <a:noFill/>
          <a:ln/>
        </p:spPr>
        <p:txBody>
          <a:bodyPr wrap="square" lIns="0" tIns="0" rIns="0" bIns="0" rtlCol="0" anchor="ctr"/>
          <a:lstStyle/>
          <a:p>
            <a:pPr marL="0" indent="0">
              <a:buNone/>
            </a:pPr>
            <a:r>
              <a:rPr lang="en-US" sz="1500" b="1" dirty="0">
                <a:solidFill>
                  <a:srgbClr val="0A0A0A"/>
                </a:solidFill>
                <a:latin typeface="Calibri" pitchFamily="34" charset="0"/>
                <a:ea typeface="Calibri" pitchFamily="34" charset="-122"/>
                <a:cs typeface="Calibri" pitchFamily="34" charset="-120"/>
              </a:rPr>
              <a:t>Preuve et </a:t>
            </a:r>
            <a:r>
              <a:rPr lang="en-US" sz="1500" b="1" dirty="0">
                <a:solidFill>
                  <a:srgbClr val="C9A84C"/>
                </a:solidFill>
                <a:latin typeface="Calibri" pitchFamily="34" charset="0"/>
                <a:ea typeface="Calibri" pitchFamily="34" charset="-122"/>
                <a:cs typeface="Calibri" pitchFamily="34" charset="-120"/>
              </a:rPr>
              <a:t>reproductibilité des résultats</a:t>
            </a:r>
            <a:endParaRPr lang="en-US" sz="1500" dirty="0"/>
          </a:p>
        </p:txBody>
      </p:sp>
      <p:sp>
        <p:nvSpPr>
          <p:cNvPr id="5" name="Shape 3"/>
          <p:cNvSpPr/>
          <p:nvPr/>
        </p:nvSpPr>
        <p:spPr>
          <a:xfrm>
            <a:off x="475488" y="749808"/>
            <a:ext cx="8321040" cy="0"/>
          </a:xfrm>
          <a:prstGeom prst="line">
            <a:avLst/>
          </a:prstGeom>
          <a:noFill/>
          <a:ln w="10160">
            <a:solidFill>
              <a:srgbClr val="F0F0F0"/>
            </a:solidFill>
            <a:prstDash val="solid"/>
          </a:ln>
        </p:spPr>
        <p:txBody>
          <a:bodyPr/>
          <a:lstStyle/>
          <a:p>
            <a:endParaRPr lang="en-CA"/>
          </a:p>
        </p:txBody>
      </p:sp>
      <p:sp>
        <p:nvSpPr>
          <p:cNvPr id="6" name="Shape 4"/>
          <p:cNvSpPr/>
          <p:nvPr/>
        </p:nvSpPr>
        <p:spPr>
          <a:xfrm>
            <a:off x="475488" y="877824"/>
            <a:ext cx="3886200" cy="1353312"/>
          </a:xfrm>
          <a:prstGeom prst="roundRect">
            <a:avLst>
              <a:gd name="adj" fmla="val 6757"/>
            </a:avLst>
          </a:prstGeom>
          <a:solidFill>
            <a:srgbClr val="FAFAFA"/>
          </a:solidFill>
          <a:ln w="7620">
            <a:solidFill>
              <a:srgbClr val="EEEEEE"/>
            </a:solidFill>
            <a:prstDash val="solid"/>
          </a:ln>
        </p:spPr>
        <p:txBody>
          <a:bodyPr/>
          <a:lstStyle/>
          <a:p>
            <a:endParaRPr lang="en-CA"/>
          </a:p>
        </p:txBody>
      </p:sp>
      <p:sp>
        <p:nvSpPr>
          <p:cNvPr id="7" name="Shape 5"/>
          <p:cNvSpPr/>
          <p:nvPr/>
        </p:nvSpPr>
        <p:spPr>
          <a:xfrm>
            <a:off x="475488" y="877824"/>
            <a:ext cx="3886200" cy="45720"/>
          </a:xfrm>
          <a:prstGeom prst="rect">
            <a:avLst/>
          </a:prstGeom>
          <a:solidFill>
            <a:srgbClr val="888888"/>
          </a:solidFill>
          <a:ln w="12700">
            <a:solidFill>
              <a:srgbClr val="888888"/>
            </a:solidFill>
            <a:prstDash val="solid"/>
          </a:ln>
        </p:spPr>
        <p:txBody>
          <a:bodyPr/>
          <a:lstStyle/>
          <a:p>
            <a:endParaRPr lang="en-CA"/>
          </a:p>
        </p:txBody>
      </p:sp>
      <p:sp>
        <p:nvSpPr>
          <p:cNvPr id="8" name="Text 6"/>
          <p:cNvSpPr/>
          <p:nvPr/>
        </p:nvSpPr>
        <p:spPr>
          <a:xfrm>
            <a:off x="548640" y="1014984"/>
            <a:ext cx="365760" cy="201168"/>
          </a:xfrm>
          <a:prstGeom prst="rect">
            <a:avLst/>
          </a:prstGeom>
          <a:noFill/>
          <a:ln/>
        </p:spPr>
        <p:txBody>
          <a:bodyPr wrap="square" lIns="0" tIns="0" rIns="0" bIns="0" rtlCol="0" anchor="ctr"/>
          <a:lstStyle/>
          <a:p>
            <a:pPr marL="0" indent="0">
              <a:buNone/>
            </a:pPr>
            <a:r>
              <a:rPr lang="en-US" sz="2400" b="1" dirty="0">
                <a:solidFill>
                  <a:srgbClr val="DDDDDD"/>
                </a:solidFill>
                <a:latin typeface="Calibri" pitchFamily="34" charset="0"/>
                <a:ea typeface="Calibri" pitchFamily="34" charset="-122"/>
                <a:cs typeface="Calibri" pitchFamily="34" charset="-120"/>
              </a:rPr>
              <a:t>01</a:t>
            </a:r>
            <a:endParaRPr lang="en-US" sz="2400" dirty="0"/>
          </a:p>
        </p:txBody>
      </p:sp>
      <p:sp>
        <p:nvSpPr>
          <p:cNvPr id="9" name="Text 7"/>
          <p:cNvSpPr/>
          <p:nvPr/>
        </p:nvSpPr>
        <p:spPr>
          <a:xfrm>
            <a:off x="914400" y="950976"/>
            <a:ext cx="3337560" cy="237744"/>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Protocole de validation formalisé</a:t>
            </a:r>
            <a:endParaRPr lang="en-US" sz="1000" dirty="0"/>
          </a:p>
        </p:txBody>
      </p:sp>
      <p:sp>
        <p:nvSpPr>
          <p:cNvPr id="10" name="Shape 8"/>
          <p:cNvSpPr/>
          <p:nvPr/>
        </p:nvSpPr>
        <p:spPr>
          <a:xfrm>
            <a:off x="914400" y="1207008"/>
            <a:ext cx="3337560" cy="182880"/>
          </a:xfrm>
          <a:prstGeom prst="roundRect">
            <a:avLst>
              <a:gd name="adj" fmla="val 20000"/>
            </a:avLst>
          </a:prstGeom>
          <a:solidFill>
            <a:srgbClr val="F0F0F0"/>
          </a:solidFill>
          <a:ln w="5080">
            <a:solidFill>
              <a:srgbClr val="E0E0E0"/>
            </a:solidFill>
            <a:prstDash val="solid"/>
          </a:ln>
        </p:spPr>
        <p:txBody>
          <a:bodyPr/>
          <a:lstStyle/>
          <a:p>
            <a:endParaRPr lang="en-CA"/>
          </a:p>
        </p:txBody>
      </p:sp>
      <p:sp>
        <p:nvSpPr>
          <p:cNvPr id="11" name="Text 9"/>
          <p:cNvSpPr/>
          <p:nvPr/>
        </p:nvSpPr>
        <p:spPr>
          <a:xfrm>
            <a:off x="950976" y="1207008"/>
            <a:ext cx="3264408" cy="182880"/>
          </a:xfrm>
          <a:prstGeom prst="rect">
            <a:avLst/>
          </a:prstGeom>
          <a:noFill/>
          <a:ln/>
        </p:spPr>
        <p:txBody>
          <a:bodyPr wrap="square" lIns="0" tIns="0" rIns="0" bIns="0" rtlCol="0" anchor="ctr"/>
          <a:lstStyle/>
          <a:p>
            <a:pPr marL="0" indent="0">
              <a:buNone/>
            </a:pPr>
            <a:r>
              <a:rPr lang="en-US" sz="750" b="1" dirty="0">
                <a:solidFill>
                  <a:srgbClr val="888888"/>
                </a:solidFill>
                <a:latin typeface="Courier New" pitchFamily="34" charset="0"/>
                <a:ea typeface="Courier New" pitchFamily="34" charset="-122"/>
                <a:cs typeface="Courier New" pitchFamily="34" charset="-120"/>
              </a:rPr>
              <a:t>INF1430-TN4-validation-proof-protocol.md</a:t>
            </a:r>
            <a:endParaRPr lang="en-US" sz="750" dirty="0"/>
          </a:p>
        </p:txBody>
      </p:sp>
      <p:sp>
        <p:nvSpPr>
          <p:cNvPr id="12" name="Text 10" descr="été"/>
          <p:cNvSpPr/>
          <p:nvPr/>
        </p:nvSpPr>
        <p:spPr>
          <a:xfrm>
            <a:off x="585216" y="1444752"/>
            <a:ext cx="3666744" cy="694944"/>
          </a:xfrm>
          <a:prstGeom prst="rect">
            <a:avLst/>
          </a:prstGeom>
          <a:noFill/>
          <a:ln/>
        </p:spPr>
        <p:txBody>
          <a:bodyPr wrap="square" lIns="0" tIns="0" rIns="0" bIns="0" rtlCol="0" anchor="t"/>
          <a:lstStyle/>
          <a:p>
            <a:pPr>
              <a:lnSpc>
                <a:spcPct val="140000"/>
              </a:lnSpc>
            </a:pPr>
            <a:r>
              <a:rPr lang="fr-FR" sz="850" dirty="0">
                <a:solidFill>
                  <a:srgbClr val="555555"/>
                </a:solidFill>
                <a:latin typeface="Calibri" pitchFamily="34" charset="0"/>
                <a:ea typeface="Calibri" pitchFamily="34" charset="-122"/>
                <a:cs typeface="Calibri" pitchFamily="34" charset="-120"/>
              </a:rPr>
              <a:t>Une étape supplémentaire vers la préparation TN4 a été franchi, avec des résultats appuyés par un protocole reproductible et un dossier de preuves lié au commit soumis.</a:t>
            </a:r>
            <a:endParaRPr lang="en-US" sz="850" dirty="0"/>
          </a:p>
        </p:txBody>
      </p:sp>
      <p:sp>
        <p:nvSpPr>
          <p:cNvPr id="13" name="Shape 11"/>
          <p:cNvSpPr/>
          <p:nvPr/>
        </p:nvSpPr>
        <p:spPr>
          <a:xfrm>
            <a:off x="4453128" y="877824"/>
            <a:ext cx="3886200" cy="1353312"/>
          </a:xfrm>
          <a:prstGeom prst="roundRect">
            <a:avLst>
              <a:gd name="adj" fmla="val 6757"/>
            </a:avLst>
          </a:prstGeom>
          <a:solidFill>
            <a:srgbClr val="FAFAFA"/>
          </a:solidFill>
          <a:ln w="7620">
            <a:solidFill>
              <a:srgbClr val="EEEEEE"/>
            </a:solidFill>
            <a:prstDash val="solid"/>
          </a:ln>
        </p:spPr>
        <p:txBody>
          <a:bodyPr/>
          <a:lstStyle/>
          <a:p>
            <a:endParaRPr lang="en-CA"/>
          </a:p>
        </p:txBody>
      </p:sp>
      <p:sp>
        <p:nvSpPr>
          <p:cNvPr id="14" name="Shape 12"/>
          <p:cNvSpPr/>
          <p:nvPr/>
        </p:nvSpPr>
        <p:spPr>
          <a:xfrm>
            <a:off x="4453128" y="877824"/>
            <a:ext cx="3886200" cy="45720"/>
          </a:xfrm>
          <a:prstGeom prst="rect">
            <a:avLst/>
          </a:prstGeom>
          <a:solidFill>
            <a:srgbClr val="888888"/>
          </a:solidFill>
          <a:ln w="12700">
            <a:solidFill>
              <a:srgbClr val="888888"/>
            </a:solidFill>
            <a:prstDash val="solid"/>
          </a:ln>
        </p:spPr>
        <p:txBody>
          <a:bodyPr/>
          <a:lstStyle/>
          <a:p>
            <a:endParaRPr lang="en-CA"/>
          </a:p>
        </p:txBody>
      </p:sp>
      <p:sp>
        <p:nvSpPr>
          <p:cNvPr id="15" name="Text 13"/>
          <p:cNvSpPr/>
          <p:nvPr/>
        </p:nvSpPr>
        <p:spPr>
          <a:xfrm>
            <a:off x="4520184" y="1005840"/>
            <a:ext cx="417576" cy="201168"/>
          </a:xfrm>
          <a:prstGeom prst="rect">
            <a:avLst/>
          </a:prstGeom>
          <a:noFill/>
          <a:ln/>
        </p:spPr>
        <p:txBody>
          <a:bodyPr wrap="square" lIns="0" tIns="0" rIns="0" bIns="0" rtlCol="0" anchor="ctr"/>
          <a:lstStyle/>
          <a:p>
            <a:r>
              <a:rPr lang="en-US" sz="2400" b="1" dirty="0">
                <a:solidFill>
                  <a:srgbClr val="DDDDDD"/>
                </a:solidFill>
                <a:latin typeface="Calibri" pitchFamily="34" charset="0"/>
                <a:cs typeface="Calibri" pitchFamily="34" charset="-120"/>
              </a:rPr>
              <a:t>02</a:t>
            </a:r>
          </a:p>
        </p:txBody>
      </p:sp>
      <p:sp>
        <p:nvSpPr>
          <p:cNvPr id="16" name="Text 14"/>
          <p:cNvSpPr/>
          <p:nvPr/>
        </p:nvSpPr>
        <p:spPr>
          <a:xfrm>
            <a:off x="4892040" y="950976"/>
            <a:ext cx="3337560" cy="237744"/>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Générateur de bundle automatisé</a:t>
            </a:r>
            <a:endParaRPr lang="en-US" sz="1000" dirty="0"/>
          </a:p>
        </p:txBody>
      </p:sp>
      <p:sp>
        <p:nvSpPr>
          <p:cNvPr id="17" name="Shape 15"/>
          <p:cNvSpPr/>
          <p:nvPr/>
        </p:nvSpPr>
        <p:spPr>
          <a:xfrm>
            <a:off x="4892040" y="1207008"/>
            <a:ext cx="3337560" cy="182880"/>
          </a:xfrm>
          <a:prstGeom prst="roundRect">
            <a:avLst>
              <a:gd name="adj" fmla="val 20000"/>
            </a:avLst>
          </a:prstGeom>
          <a:solidFill>
            <a:srgbClr val="F0F0F0"/>
          </a:solidFill>
          <a:ln w="5080">
            <a:solidFill>
              <a:srgbClr val="E0E0E0"/>
            </a:solidFill>
            <a:prstDash val="solid"/>
          </a:ln>
        </p:spPr>
        <p:txBody>
          <a:bodyPr/>
          <a:lstStyle/>
          <a:p>
            <a:endParaRPr lang="en-CA"/>
          </a:p>
        </p:txBody>
      </p:sp>
      <p:sp>
        <p:nvSpPr>
          <p:cNvPr id="18" name="Text 16"/>
          <p:cNvSpPr/>
          <p:nvPr/>
        </p:nvSpPr>
        <p:spPr>
          <a:xfrm>
            <a:off x="4928616" y="1207008"/>
            <a:ext cx="3264408" cy="182880"/>
          </a:xfrm>
          <a:prstGeom prst="rect">
            <a:avLst/>
          </a:prstGeom>
          <a:noFill/>
          <a:ln/>
        </p:spPr>
        <p:txBody>
          <a:bodyPr wrap="square" lIns="0" tIns="0" rIns="0" bIns="0" rtlCol="0" anchor="ctr"/>
          <a:lstStyle/>
          <a:p>
            <a:pPr marL="0" indent="0">
              <a:buNone/>
            </a:pPr>
            <a:r>
              <a:rPr lang="en-US" sz="750" b="1" dirty="0">
                <a:solidFill>
                  <a:srgbClr val="888888"/>
                </a:solidFill>
                <a:latin typeface="Courier New" pitchFamily="34" charset="0"/>
                <a:ea typeface="Courier New" pitchFamily="34" charset="-122"/>
                <a:cs typeface="Courier New" pitchFamily="34" charset="-120"/>
              </a:rPr>
              <a:t>audit_bundle.py</a:t>
            </a:r>
            <a:endParaRPr lang="en-US" sz="750" dirty="0"/>
          </a:p>
        </p:txBody>
      </p:sp>
      <p:sp>
        <p:nvSpPr>
          <p:cNvPr id="19" name="Text 17"/>
          <p:cNvSpPr/>
          <p:nvPr/>
        </p:nvSpPr>
        <p:spPr>
          <a:xfrm>
            <a:off x="4562856" y="1444752"/>
            <a:ext cx="3666744" cy="694944"/>
          </a:xfrm>
          <a:prstGeom prst="rect">
            <a:avLst/>
          </a:prstGeom>
          <a:noFill/>
          <a:ln/>
        </p:spPr>
        <p:txBody>
          <a:bodyPr wrap="square" lIns="0" tIns="0" rIns="0" bIns="0" rtlCol="0" anchor="t"/>
          <a:lstStyle/>
          <a:p>
            <a:pPr marL="0" indent="0">
              <a:lnSpc>
                <a:spcPct val="140000"/>
              </a:lnSpc>
              <a:buNone/>
            </a:pPr>
            <a:r>
              <a:rPr lang="fr-FR" sz="850" dirty="0">
                <a:solidFill>
                  <a:srgbClr val="555555"/>
                </a:solidFill>
                <a:latin typeface="Calibri" pitchFamily="34" charset="0"/>
                <a:ea typeface="Calibri" pitchFamily="34" charset="-122"/>
                <a:cs typeface="Calibri" pitchFamily="34" charset="-120"/>
              </a:rPr>
              <a:t>Le script de génération de preuves capture automatiquement les journaux d’exécution, les artefacts et le hachage du commit au moment de la génération.</a:t>
            </a:r>
            <a:endParaRPr lang="en-US" sz="850" dirty="0"/>
          </a:p>
        </p:txBody>
      </p:sp>
      <p:sp>
        <p:nvSpPr>
          <p:cNvPr id="20" name="Shape 18"/>
          <p:cNvSpPr/>
          <p:nvPr/>
        </p:nvSpPr>
        <p:spPr>
          <a:xfrm>
            <a:off x="475488" y="2322576"/>
            <a:ext cx="3886200" cy="1353312"/>
          </a:xfrm>
          <a:prstGeom prst="roundRect">
            <a:avLst>
              <a:gd name="adj" fmla="val 6757"/>
            </a:avLst>
          </a:prstGeom>
          <a:solidFill>
            <a:srgbClr val="FAFAFA"/>
          </a:solidFill>
          <a:ln w="7620">
            <a:solidFill>
              <a:srgbClr val="EEEEEE"/>
            </a:solidFill>
            <a:prstDash val="solid"/>
          </a:ln>
        </p:spPr>
        <p:txBody>
          <a:bodyPr/>
          <a:lstStyle/>
          <a:p>
            <a:endParaRPr lang="en-CA"/>
          </a:p>
        </p:txBody>
      </p:sp>
      <p:sp>
        <p:nvSpPr>
          <p:cNvPr id="21" name="Shape 19"/>
          <p:cNvSpPr/>
          <p:nvPr/>
        </p:nvSpPr>
        <p:spPr>
          <a:xfrm>
            <a:off x="475488" y="2322576"/>
            <a:ext cx="3886200" cy="45720"/>
          </a:xfrm>
          <a:prstGeom prst="rect">
            <a:avLst/>
          </a:prstGeom>
          <a:solidFill>
            <a:srgbClr val="888888"/>
          </a:solidFill>
          <a:ln w="12700">
            <a:solidFill>
              <a:srgbClr val="888888"/>
            </a:solidFill>
            <a:prstDash val="solid"/>
          </a:ln>
        </p:spPr>
        <p:txBody>
          <a:bodyPr/>
          <a:lstStyle/>
          <a:p>
            <a:endParaRPr lang="en-CA"/>
          </a:p>
        </p:txBody>
      </p:sp>
      <p:sp>
        <p:nvSpPr>
          <p:cNvPr id="22" name="Text 20"/>
          <p:cNvSpPr/>
          <p:nvPr/>
        </p:nvSpPr>
        <p:spPr>
          <a:xfrm>
            <a:off x="548640" y="2450592"/>
            <a:ext cx="365760" cy="201168"/>
          </a:xfrm>
          <a:prstGeom prst="rect">
            <a:avLst/>
          </a:prstGeom>
          <a:noFill/>
          <a:ln/>
        </p:spPr>
        <p:txBody>
          <a:bodyPr wrap="square" lIns="0" tIns="0" rIns="0" bIns="0" rtlCol="0" anchor="ctr"/>
          <a:lstStyle/>
          <a:p>
            <a:r>
              <a:rPr lang="en-US" sz="2400" b="1" dirty="0">
                <a:solidFill>
                  <a:srgbClr val="DDDDDD"/>
                </a:solidFill>
                <a:latin typeface="Calibri" pitchFamily="34" charset="0"/>
                <a:cs typeface="Calibri" pitchFamily="34" charset="-120"/>
              </a:rPr>
              <a:t>03</a:t>
            </a:r>
          </a:p>
        </p:txBody>
      </p:sp>
      <p:sp>
        <p:nvSpPr>
          <p:cNvPr id="23" name="Text 21"/>
          <p:cNvSpPr/>
          <p:nvPr/>
        </p:nvSpPr>
        <p:spPr>
          <a:xfrm>
            <a:off x="914400" y="2395728"/>
            <a:ext cx="3337560" cy="237744"/>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ea typeface="Calibri" pitchFamily="34" charset="-122"/>
                <a:cs typeface="Calibri" pitchFamily="34" charset="-120"/>
              </a:rPr>
              <a:t>Dossier de preuves généré et vérifié</a:t>
            </a:r>
            <a:endParaRPr lang="en-US" sz="1000" dirty="0"/>
          </a:p>
        </p:txBody>
      </p:sp>
      <p:sp>
        <p:nvSpPr>
          <p:cNvPr id="24" name="Text 22"/>
          <p:cNvSpPr/>
          <p:nvPr/>
        </p:nvSpPr>
        <p:spPr>
          <a:xfrm>
            <a:off x="585216" y="2688336"/>
            <a:ext cx="3666744" cy="877824"/>
          </a:xfrm>
          <a:prstGeom prst="rect">
            <a:avLst/>
          </a:prstGeom>
          <a:noFill/>
          <a:ln/>
        </p:spPr>
        <p:txBody>
          <a:bodyPr wrap="square" lIns="0" tIns="0" rIns="0" bIns="0" rtlCol="0" anchor="t"/>
          <a:lstStyle/>
          <a:p>
            <a:pPr marL="0" indent="0">
              <a:lnSpc>
                <a:spcPct val="140000"/>
              </a:lnSpc>
              <a:buNone/>
            </a:pPr>
            <a:r>
              <a:rPr lang="fr-FR" sz="850" dirty="0">
                <a:solidFill>
                  <a:srgbClr val="555555"/>
                </a:solidFill>
                <a:latin typeface="Calibri" pitchFamily="34" charset="0"/>
                <a:ea typeface="Calibri" pitchFamily="34" charset="-122"/>
                <a:cs typeface="Calibri" pitchFamily="34" charset="-120"/>
              </a:rPr>
              <a:t>Le dossier de preuves final a été généré avec succès. Le hachage du manifeste correspond exactement à celui du commit soumis, avec intégrité confirmée.</a:t>
            </a:r>
            <a:endParaRPr lang="en-US" sz="850" dirty="0"/>
          </a:p>
        </p:txBody>
      </p:sp>
      <p:sp>
        <p:nvSpPr>
          <p:cNvPr id="25" name="Shape 23"/>
          <p:cNvSpPr/>
          <p:nvPr/>
        </p:nvSpPr>
        <p:spPr>
          <a:xfrm>
            <a:off x="4453128" y="2322576"/>
            <a:ext cx="3886200" cy="1353312"/>
          </a:xfrm>
          <a:prstGeom prst="roundRect">
            <a:avLst>
              <a:gd name="adj" fmla="val 6757"/>
            </a:avLst>
          </a:prstGeom>
          <a:solidFill>
            <a:srgbClr val="FAFAFA"/>
          </a:solidFill>
          <a:ln w="7620">
            <a:solidFill>
              <a:srgbClr val="EEEEEE"/>
            </a:solidFill>
            <a:prstDash val="solid"/>
          </a:ln>
        </p:spPr>
        <p:txBody>
          <a:bodyPr/>
          <a:lstStyle/>
          <a:p>
            <a:endParaRPr lang="en-CA"/>
          </a:p>
        </p:txBody>
      </p:sp>
      <p:sp>
        <p:nvSpPr>
          <p:cNvPr id="26" name="Shape 24"/>
          <p:cNvSpPr/>
          <p:nvPr/>
        </p:nvSpPr>
        <p:spPr>
          <a:xfrm>
            <a:off x="4453128" y="2322576"/>
            <a:ext cx="3886200" cy="45720"/>
          </a:xfrm>
          <a:prstGeom prst="rect">
            <a:avLst/>
          </a:prstGeom>
          <a:solidFill>
            <a:srgbClr val="888888"/>
          </a:solidFill>
          <a:ln w="12700">
            <a:solidFill>
              <a:srgbClr val="888888"/>
            </a:solidFill>
            <a:prstDash val="solid"/>
          </a:ln>
        </p:spPr>
        <p:txBody>
          <a:bodyPr/>
          <a:lstStyle/>
          <a:p>
            <a:endParaRPr lang="en-CA"/>
          </a:p>
        </p:txBody>
      </p:sp>
      <p:sp>
        <p:nvSpPr>
          <p:cNvPr id="27" name="Text 25"/>
          <p:cNvSpPr/>
          <p:nvPr/>
        </p:nvSpPr>
        <p:spPr>
          <a:xfrm>
            <a:off x="4517136" y="2423160"/>
            <a:ext cx="374904" cy="201168"/>
          </a:xfrm>
          <a:prstGeom prst="rect">
            <a:avLst/>
          </a:prstGeom>
          <a:noFill/>
          <a:ln/>
        </p:spPr>
        <p:txBody>
          <a:bodyPr wrap="square" lIns="0" tIns="0" rIns="0" bIns="0" rtlCol="0" anchor="ctr"/>
          <a:lstStyle/>
          <a:p>
            <a:r>
              <a:rPr lang="en-US" sz="2400" b="1" dirty="0">
                <a:solidFill>
                  <a:srgbClr val="DDDDDD"/>
                </a:solidFill>
                <a:latin typeface="Calibri" pitchFamily="34" charset="0"/>
                <a:cs typeface="Calibri" pitchFamily="34" charset="-120"/>
              </a:rPr>
              <a:t>04</a:t>
            </a:r>
          </a:p>
        </p:txBody>
      </p:sp>
      <p:sp>
        <p:nvSpPr>
          <p:cNvPr id="28" name="Text 26"/>
          <p:cNvSpPr/>
          <p:nvPr/>
        </p:nvSpPr>
        <p:spPr>
          <a:xfrm>
            <a:off x="4892040" y="2395728"/>
            <a:ext cx="3337560" cy="237744"/>
          </a:xfrm>
          <a:prstGeom prst="rect">
            <a:avLst/>
          </a:prstGeom>
          <a:noFill/>
          <a:ln/>
        </p:spPr>
        <p:txBody>
          <a:bodyPr wrap="square" lIns="0" tIns="0" rIns="0" bIns="0" rtlCol="0" anchor="ctr"/>
          <a:lstStyle/>
          <a:p>
            <a:pPr marL="0" indent="0">
              <a:buNone/>
            </a:pPr>
            <a:r>
              <a:rPr lang="en-US" sz="1000" b="1" dirty="0">
                <a:solidFill>
                  <a:srgbClr val="0A0A0A"/>
                </a:solidFill>
                <a:latin typeface="Calibri" pitchFamily="34" charset="0"/>
                <a:cs typeface="Calibri" pitchFamily="34" charset="-120"/>
              </a:rPr>
              <a:t>Validation finale réussie</a:t>
            </a:r>
          </a:p>
        </p:txBody>
      </p:sp>
      <p:sp>
        <p:nvSpPr>
          <p:cNvPr id="38" name="Shape 36"/>
          <p:cNvSpPr/>
          <p:nvPr/>
        </p:nvSpPr>
        <p:spPr>
          <a:xfrm>
            <a:off x="475488" y="3848848"/>
            <a:ext cx="7863840" cy="438912"/>
          </a:xfrm>
          <a:prstGeom prst="roundRect">
            <a:avLst>
              <a:gd name="adj" fmla="val 16667"/>
            </a:avLst>
          </a:prstGeom>
          <a:solidFill>
            <a:srgbClr val="FAFAFA"/>
          </a:solidFill>
          <a:ln w="7620">
            <a:solidFill>
              <a:srgbClr val="EEEEEE"/>
            </a:solidFill>
            <a:prstDash val="solid"/>
          </a:ln>
        </p:spPr>
        <p:txBody>
          <a:bodyPr/>
          <a:lstStyle/>
          <a:p>
            <a:endParaRPr lang="en-CA"/>
          </a:p>
        </p:txBody>
      </p:sp>
      <p:sp>
        <p:nvSpPr>
          <p:cNvPr id="40" name="Text 38"/>
          <p:cNvSpPr/>
          <p:nvPr/>
        </p:nvSpPr>
        <p:spPr>
          <a:xfrm>
            <a:off x="1057072" y="3845993"/>
            <a:ext cx="6945549" cy="438912"/>
          </a:xfrm>
          <a:prstGeom prst="rect">
            <a:avLst/>
          </a:prstGeom>
          <a:noFill/>
          <a:ln>
            <a:noFill/>
          </a:ln>
        </p:spPr>
        <p:txBody>
          <a:bodyPr wrap="square" lIns="0" tIns="0" rIns="0" bIns="0" rtlCol="0" anchor="ctr"/>
          <a:lstStyle/>
          <a:p>
            <a:pPr marL="0" indent="0" algn="ctr">
              <a:buNone/>
            </a:pPr>
            <a:r>
              <a:rPr lang="fr-FR" sz="850" dirty="0">
                <a:solidFill>
                  <a:srgbClr val="555555"/>
                </a:solidFill>
                <a:latin typeface="Calibri" pitchFamily="34" charset="0"/>
                <a:cs typeface="Calibri" pitchFamily="34" charset="-120"/>
              </a:rPr>
              <a:t>Maturité du processus : Les fichiers de référence Twofish (ECB_VK/VT/TBL) sont protégés par des fichiers .sha256 et le CI vérifie l'intégrité des données de test avant chaque exécution KAT.</a:t>
            </a:r>
            <a:endParaRPr lang="en-US" sz="850" dirty="0">
              <a:solidFill>
                <a:srgbClr val="555555"/>
              </a:solidFill>
              <a:latin typeface="Calibri" pitchFamily="34" charset="0"/>
              <a:cs typeface="Calibri" pitchFamily="34" charset="-120"/>
            </a:endParaRPr>
          </a:p>
        </p:txBody>
      </p:sp>
      <p:sp>
        <p:nvSpPr>
          <p:cNvPr id="41" name="Text 39"/>
          <p:cNvSpPr/>
          <p:nvPr/>
        </p:nvSpPr>
        <p:spPr>
          <a:xfrm>
            <a:off x="475488" y="4773168"/>
            <a:ext cx="8229600" cy="201168"/>
          </a:xfrm>
          <a:prstGeom prst="rect">
            <a:avLst/>
          </a:prstGeom>
          <a:noFill/>
          <a:ln/>
        </p:spPr>
        <p:txBody>
          <a:bodyPr wrap="square" lIns="0" tIns="0" rIns="0" bIns="0" rtlCol="0" anchor="ctr"/>
          <a:lstStyle/>
          <a:p>
            <a:pPr marL="0" indent="0" algn="ctr">
              <a:buNone/>
            </a:pP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sp>
        <p:nvSpPr>
          <p:cNvPr id="43" name="Text 17">
            <a:extLst>
              <a:ext uri="{FF2B5EF4-FFF2-40B4-BE49-F238E27FC236}">
                <a16:creationId xmlns:a16="http://schemas.microsoft.com/office/drawing/2014/main" id="{A6B58103-1A00-C2C8-4756-8BB60218AEA4}"/>
              </a:ext>
            </a:extLst>
          </p:cNvPr>
          <p:cNvSpPr/>
          <p:nvPr/>
        </p:nvSpPr>
        <p:spPr>
          <a:xfrm>
            <a:off x="4562856" y="2770632"/>
            <a:ext cx="3666744" cy="694944"/>
          </a:xfrm>
          <a:prstGeom prst="rect">
            <a:avLst/>
          </a:prstGeom>
          <a:noFill/>
          <a:ln/>
        </p:spPr>
        <p:txBody>
          <a:bodyPr wrap="square" lIns="0" tIns="0" rIns="0" bIns="0" rtlCol="0" anchor="t"/>
          <a:lstStyle/>
          <a:p>
            <a:pPr marL="0" indent="0">
              <a:lnSpc>
                <a:spcPct val="140000"/>
              </a:lnSpc>
              <a:buNone/>
            </a:pPr>
            <a:r>
              <a:rPr lang="fr-FR" sz="850" dirty="0">
                <a:solidFill>
                  <a:srgbClr val="555555"/>
                </a:solidFill>
                <a:latin typeface="Calibri" pitchFamily="34" charset="0"/>
                <a:ea typeface="Calibri" pitchFamily="34" charset="-122"/>
                <a:cs typeface="Calibri" pitchFamily="34" charset="-120"/>
              </a:rPr>
              <a:t>Les trois contrôles exécutés dans le dossier de preuves sont conformes: pytest sans échec, KAT entièrement validé et audit IC95 validé.</a:t>
            </a:r>
          </a:p>
        </p:txBody>
      </p:sp>
      <p:sp>
        <p:nvSpPr>
          <p:cNvPr id="30" name="Text 38">
            <a:extLst>
              <a:ext uri="{FF2B5EF4-FFF2-40B4-BE49-F238E27FC236}">
                <a16:creationId xmlns:a16="http://schemas.microsoft.com/office/drawing/2014/main" id="{BE2FF194-3DA6-E0FE-E207-24F7199490E4}"/>
              </a:ext>
            </a:extLst>
          </p:cNvPr>
          <p:cNvSpPr/>
          <p:nvPr/>
        </p:nvSpPr>
        <p:spPr>
          <a:xfrm>
            <a:off x="521208" y="4448071"/>
            <a:ext cx="7863840" cy="310897"/>
          </a:xfrm>
          <a:prstGeom prst="rect">
            <a:avLst/>
          </a:prstGeom>
          <a:noFill/>
          <a:ln/>
        </p:spPr>
        <p:txBody>
          <a:bodyPr wrap="square" lIns="0" tIns="0" rIns="0" bIns="0" rtlCol="0" anchor="ctr"/>
          <a:lstStyle/>
          <a:p>
            <a:pPr marL="0" indent="0" algn="ctr">
              <a:buNone/>
            </a:pPr>
            <a:r>
              <a:rPr lang="fr-FR" sz="850" i="1" dirty="0">
                <a:solidFill>
                  <a:srgbClr val="C0C0C0"/>
                </a:solidFill>
                <a:latin typeface="Calibri" pitchFamily="34" charset="0"/>
                <a:cs typeface="Calibri" pitchFamily="34" charset="-120"/>
              </a:rPr>
              <a:t>Les résultats sont maintenant traçables et reproductibles, avec une preuve liée au commit soumis</a:t>
            </a:r>
            <a:endParaRPr lang="en-US" sz="850" i="1" dirty="0">
              <a:solidFill>
                <a:srgbClr val="C0C0C0"/>
              </a:solidFill>
              <a:latin typeface="Calibri" pitchFamily="34" charset="0"/>
              <a:cs typeface="Calibri" pitchFamily="34" charset="-120"/>
            </a:endParaRPr>
          </a:p>
        </p:txBody>
      </p:sp>
      <p:pic>
        <p:nvPicPr>
          <p:cNvPr id="32" name="Picture 31">
            <a:extLst>
              <a:ext uri="{FF2B5EF4-FFF2-40B4-BE49-F238E27FC236}">
                <a16:creationId xmlns:a16="http://schemas.microsoft.com/office/drawing/2014/main" id="{5C7843B4-89E9-4D4C-0C1D-CF0E26B8C8A1}"/>
              </a:ext>
            </a:extLst>
          </p:cNvPr>
          <p:cNvPicPr>
            <a:picLocks noChangeAspect="1"/>
          </p:cNvPicPr>
          <p:nvPr/>
        </p:nvPicPr>
        <p:blipFill>
          <a:blip r:embed="rId3"/>
          <a:stretch>
            <a:fillRect/>
          </a:stretch>
        </p:blipFill>
        <p:spPr>
          <a:xfrm>
            <a:off x="539496" y="3882375"/>
            <a:ext cx="396240" cy="396240"/>
          </a:xfrm>
          <a:prstGeom prst="rect">
            <a:avLst/>
          </a:prstGeom>
        </p:spPr>
      </p:pic>
      <p:sp>
        <p:nvSpPr>
          <p:cNvPr id="34" name="Shape 24">
            <a:extLst>
              <a:ext uri="{FF2B5EF4-FFF2-40B4-BE49-F238E27FC236}">
                <a16:creationId xmlns:a16="http://schemas.microsoft.com/office/drawing/2014/main" id="{CAAEC96B-6873-A3FE-7561-50E2FA9B6D8A}"/>
              </a:ext>
            </a:extLst>
          </p:cNvPr>
          <p:cNvSpPr/>
          <p:nvPr/>
        </p:nvSpPr>
        <p:spPr>
          <a:xfrm>
            <a:off x="475488" y="3807992"/>
            <a:ext cx="7863840" cy="45720"/>
          </a:xfrm>
          <a:prstGeom prst="rect">
            <a:avLst/>
          </a:prstGeom>
          <a:solidFill>
            <a:srgbClr val="888888"/>
          </a:solidFill>
          <a:ln w="12700">
            <a:solidFill>
              <a:srgbClr val="888888"/>
            </a:solidFill>
            <a:prstDash val="solid"/>
          </a:ln>
        </p:spPr>
        <p:txBody>
          <a:bodyPr/>
          <a:lstStyle/>
          <a:p>
            <a:endParaRPr lang="en-CA"/>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23178" y="932688"/>
            <a:ext cx="2376055" cy="2743200"/>
          </a:xfrm>
          <a:prstGeom prst="rect">
            <a:avLst/>
          </a:prstGeom>
          <a:noFill/>
          <a:ln/>
        </p:spPr>
        <p:txBody>
          <a:bodyPr wrap="square" lIns="0" tIns="0" rIns="0" bIns="0" rtlCol="0" anchor="ctr"/>
          <a:lstStyle/>
          <a:p>
            <a:r>
              <a:rPr lang="en-US" sz="12000" b="1" dirty="0">
                <a:solidFill>
                  <a:srgbClr val="0A0A0A">
                    <a:alpha val="3000"/>
                  </a:srgbClr>
                </a:solidFill>
                <a:latin typeface="Calibri" pitchFamily="34" charset="0"/>
                <a:ea typeface="Calibri" pitchFamily="34" charset="-122"/>
                <a:cs typeface="Calibri" pitchFamily="34" charset="-120"/>
              </a:rPr>
              <a:t>FIN</a:t>
            </a:r>
            <a:endParaRPr lang="en-US" sz="12000" dirty="0"/>
          </a:p>
        </p:txBody>
      </p:sp>
      <p:sp>
        <p:nvSpPr>
          <p:cNvPr id="4" name="Text 2"/>
          <p:cNvSpPr/>
          <p:nvPr/>
        </p:nvSpPr>
        <p:spPr>
          <a:xfrm>
            <a:off x="475488" y="164592"/>
            <a:ext cx="6400800" cy="182880"/>
          </a:xfrm>
          <a:prstGeom prst="rect">
            <a:avLst/>
          </a:prstGeom>
          <a:noFill/>
          <a:ln/>
        </p:spPr>
        <p:txBody>
          <a:bodyPr wrap="square" lIns="0" tIns="0" rIns="0" bIns="0" rtlCol="0" anchor="ctr"/>
          <a:lstStyle/>
          <a:p>
            <a:r>
              <a:rPr lang="en-US" sz="800" b="1" kern="0" spc="200" dirty="0">
                <a:solidFill>
                  <a:srgbClr val="C0C0C0"/>
                </a:solidFill>
                <a:latin typeface="Calibri" pitchFamily="34" charset="0"/>
                <a:ea typeface="Calibri" pitchFamily="34" charset="-122"/>
                <a:cs typeface="Calibri" pitchFamily="34" charset="-120"/>
              </a:rPr>
              <a:t>05d  ·  SYNTHÈSE ET DÉMONSTRATION</a:t>
            </a:r>
            <a:endParaRPr lang="en-US" sz="800" dirty="0"/>
          </a:p>
        </p:txBody>
      </p:sp>
      <p:sp>
        <p:nvSpPr>
          <p:cNvPr id="5" name="Text 3"/>
          <p:cNvSpPr/>
          <p:nvPr/>
        </p:nvSpPr>
        <p:spPr>
          <a:xfrm>
            <a:off x="475488" y="329184"/>
            <a:ext cx="8229600" cy="329184"/>
          </a:xfrm>
          <a:prstGeom prst="rect">
            <a:avLst/>
          </a:prstGeom>
          <a:noFill/>
          <a:ln/>
        </p:spPr>
        <p:txBody>
          <a:bodyPr wrap="square" lIns="0" tIns="0" rIns="0" bIns="0" rtlCol="0" anchor="ctr"/>
          <a:lstStyle/>
          <a:p>
            <a:r>
              <a:rPr lang="en-US" sz="1500" b="1" dirty="0">
                <a:solidFill>
                  <a:srgbClr val="0A0A0A"/>
                </a:solidFill>
                <a:latin typeface="Calibri" pitchFamily="34" charset="0"/>
                <a:ea typeface="Calibri" pitchFamily="34" charset="-122"/>
                <a:cs typeface="Calibri" pitchFamily="34" charset="-120"/>
              </a:rPr>
              <a:t>Conclusion </a:t>
            </a:r>
            <a:r>
              <a:rPr lang="en-US" sz="1500" b="1" dirty="0">
                <a:solidFill>
                  <a:srgbClr val="C9A84C"/>
                </a:solidFill>
                <a:latin typeface="Calibri" pitchFamily="34" charset="0"/>
                <a:ea typeface="Calibri" pitchFamily="34" charset="-122"/>
                <a:cs typeface="Calibri" pitchFamily="34" charset="-120"/>
              </a:rPr>
              <a:t>générale</a:t>
            </a:r>
            <a:endParaRPr lang="en-US" sz="1500" dirty="0"/>
          </a:p>
        </p:txBody>
      </p:sp>
      <p:sp>
        <p:nvSpPr>
          <p:cNvPr id="7" name="Shape 5"/>
          <p:cNvSpPr/>
          <p:nvPr/>
        </p:nvSpPr>
        <p:spPr>
          <a:xfrm flipH="1">
            <a:off x="510143" y="1042610"/>
            <a:ext cx="45719" cy="2413627"/>
          </a:xfrm>
          <a:prstGeom prst="rect">
            <a:avLst/>
          </a:prstGeom>
          <a:solidFill>
            <a:srgbClr val="C9A84C"/>
          </a:solidFill>
          <a:ln w="12700">
            <a:solidFill>
              <a:srgbClr val="C9A84C"/>
            </a:solidFill>
            <a:prstDash val="solid"/>
          </a:ln>
        </p:spPr>
        <p:txBody>
          <a:bodyPr/>
          <a:lstStyle/>
          <a:p>
            <a:endParaRPr lang="en-CA"/>
          </a:p>
        </p:txBody>
      </p:sp>
      <p:sp>
        <p:nvSpPr>
          <p:cNvPr id="8" name="Text 6"/>
          <p:cNvSpPr/>
          <p:nvPr/>
        </p:nvSpPr>
        <p:spPr>
          <a:xfrm>
            <a:off x="731520" y="914400"/>
            <a:ext cx="7863840" cy="1207008"/>
          </a:xfrm>
          <a:prstGeom prst="rect">
            <a:avLst/>
          </a:prstGeom>
          <a:noFill/>
          <a:ln/>
        </p:spPr>
        <p:txBody>
          <a:bodyPr wrap="square" lIns="0" tIns="0" rIns="0" bIns="0" rtlCol="0" anchor="ctr"/>
          <a:lstStyle/>
          <a:p>
            <a:pPr>
              <a:lnSpc>
                <a:spcPct val="160000"/>
              </a:lnSpc>
            </a:pPr>
            <a:r>
              <a:rPr lang="fr-FR" sz="1300" b="1" dirty="0">
                <a:solidFill>
                  <a:srgbClr val="0A0A0A"/>
                </a:solidFill>
                <a:latin typeface="Calibri" pitchFamily="34" charset="0"/>
                <a:ea typeface="Calibri" pitchFamily="34" charset="-122"/>
                <a:cs typeface="Calibri" pitchFamily="34" charset="-120"/>
              </a:rPr>
              <a:t>Le système est opérationnel sur x86 et ARM et validé par tests + KAT (AES, DES/3DES, ChaCha20, modes, Twofish). Avec un protocole identique sur les deux plateformes, les mesures génèrent des artefacts comparables et reproductibles; les conclusions sont robustes dans le périmètre testé.</a:t>
            </a:r>
            <a:endParaRPr lang="en-US" sz="1300" dirty="0"/>
          </a:p>
        </p:txBody>
      </p:sp>
      <p:sp>
        <p:nvSpPr>
          <p:cNvPr id="9" name="Shape 7"/>
          <p:cNvSpPr/>
          <p:nvPr/>
        </p:nvSpPr>
        <p:spPr>
          <a:xfrm>
            <a:off x="731520" y="2352538"/>
            <a:ext cx="7863840" cy="0"/>
          </a:xfrm>
          <a:prstGeom prst="line">
            <a:avLst/>
          </a:prstGeom>
          <a:noFill/>
          <a:ln w="10160">
            <a:solidFill>
              <a:srgbClr val="EEEEEE"/>
            </a:solidFill>
            <a:prstDash val="solid"/>
          </a:ln>
        </p:spPr>
        <p:txBody>
          <a:bodyPr/>
          <a:lstStyle/>
          <a:p>
            <a:endParaRPr lang="en-CA"/>
          </a:p>
        </p:txBody>
      </p:sp>
      <p:sp>
        <p:nvSpPr>
          <p:cNvPr id="10" name="Text 8"/>
          <p:cNvSpPr/>
          <p:nvPr/>
        </p:nvSpPr>
        <p:spPr>
          <a:xfrm>
            <a:off x="731520" y="2249424"/>
            <a:ext cx="7863840" cy="1207008"/>
          </a:xfrm>
          <a:prstGeom prst="rect">
            <a:avLst/>
          </a:prstGeom>
          <a:noFill/>
          <a:ln/>
        </p:spPr>
        <p:txBody>
          <a:bodyPr wrap="square" lIns="0" tIns="0" rIns="0" bIns="0" rtlCol="0" anchor="ctr"/>
          <a:lstStyle/>
          <a:p>
            <a:pPr>
              <a:lnSpc>
                <a:spcPct val="160000"/>
              </a:lnSpc>
            </a:pPr>
            <a:r>
              <a:rPr lang="fr-FR" sz="1200" i="1" dirty="0">
                <a:solidFill>
                  <a:srgbClr val="555555"/>
                </a:solidFill>
                <a:latin typeface="Calibri" pitchFamily="34" charset="0"/>
                <a:ea typeface="Calibri" pitchFamily="34" charset="-122"/>
                <a:cs typeface="Calibri" pitchFamily="34" charset="-120"/>
              </a:rPr>
              <a:t>De la validation cryptographique à la mesure comparative, le protocole reste identique entre x86 et ARM, et les résultats sont reproductibles.</a:t>
            </a:r>
            <a:endParaRPr lang="en-US" sz="1200" dirty="0"/>
          </a:p>
        </p:txBody>
      </p:sp>
      <p:sp>
        <p:nvSpPr>
          <p:cNvPr id="11" name="Shape 9"/>
          <p:cNvSpPr>
            <a:spLocks noGrp="1" noRot="1" noMove="1" noResize="1" noEditPoints="1" noAdjustHandles="1" noChangeArrowheads="1" noChangeShapeType="1"/>
          </p:cNvSpPr>
          <p:nvPr/>
        </p:nvSpPr>
        <p:spPr>
          <a:xfrm>
            <a:off x="475487" y="3950208"/>
            <a:ext cx="2706623" cy="676656"/>
          </a:xfrm>
          <a:prstGeom prst="roundRect">
            <a:avLst>
              <a:gd name="adj" fmla="val 16000"/>
            </a:avLst>
          </a:prstGeom>
          <a:solidFill>
            <a:srgbClr val="FFFBF0"/>
          </a:solidFill>
          <a:ln w="10160">
            <a:solidFill>
              <a:srgbClr val="C9A84C"/>
            </a:solidFill>
            <a:prstDash val="solid"/>
          </a:ln>
        </p:spPr>
        <p:txBody>
          <a:bodyPr/>
          <a:lstStyle/>
          <a:p>
            <a:endParaRPr lang="en-CA"/>
          </a:p>
        </p:txBody>
      </p:sp>
      <p:sp>
        <p:nvSpPr>
          <p:cNvPr id="12" name="Text 10"/>
          <p:cNvSpPr/>
          <p:nvPr/>
        </p:nvSpPr>
        <p:spPr>
          <a:xfrm>
            <a:off x="792968" y="4045447"/>
            <a:ext cx="2306913" cy="457200"/>
          </a:xfrm>
          <a:prstGeom prst="rect">
            <a:avLst/>
          </a:prstGeom>
          <a:noFill/>
          <a:ln/>
        </p:spPr>
        <p:txBody>
          <a:bodyPr wrap="square" lIns="0" tIns="0" rIns="0" bIns="0" rtlCol="0" anchor="ctr"/>
          <a:lstStyle/>
          <a:p>
            <a:r>
              <a:rPr lang="fr-FR" sz="850" b="1" dirty="0">
                <a:solidFill>
                  <a:srgbClr val="0A0A0A"/>
                </a:solidFill>
                <a:latin typeface="Calibri" pitchFamily="34" charset="0"/>
                <a:ea typeface="Calibri" pitchFamily="34" charset="-122"/>
                <a:cs typeface="Calibri" pitchFamily="34" charset="-120"/>
              </a:rPr>
              <a:t>Validation démontrée  </a:t>
            </a:r>
          </a:p>
          <a:p>
            <a:r>
              <a:rPr lang="fr-FR" sz="850" i="1" dirty="0">
                <a:solidFill>
                  <a:srgbClr val="0A0A0A"/>
                </a:solidFill>
                <a:latin typeface="Calibri" pitchFamily="34" charset="0"/>
                <a:ea typeface="Calibri" pitchFamily="34" charset="-122"/>
                <a:cs typeface="Calibri" pitchFamily="34" charset="-120"/>
              </a:rPr>
              <a:t>Même socle de tests et KAT sur x86 et ARM; exécution validée.</a:t>
            </a:r>
            <a:endParaRPr lang="en-US" sz="850" i="1" dirty="0"/>
          </a:p>
        </p:txBody>
      </p:sp>
      <p:sp>
        <p:nvSpPr>
          <p:cNvPr id="13" name="Shape 11"/>
          <p:cNvSpPr/>
          <p:nvPr/>
        </p:nvSpPr>
        <p:spPr>
          <a:xfrm>
            <a:off x="3310127" y="3950208"/>
            <a:ext cx="2706623" cy="676656"/>
          </a:xfrm>
          <a:prstGeom prst="roundRect">
            <a:avLst>
              <a:gd name="adj" fmla="val 16000"/>
            </a:avLst>
          </a:prstGeom>
          <a:solidFill>
            <a:srgbClr val="FFFBF0"/>
          </a:solidFill>
          <a:ln w="10160">
            <a:solidFill>
              <a:srgbClr val="C9A84C"/>
            </a:solidFill>
            <a:prstDash val="solid"/>
          </a:ln>
        </p:spPr>
        <p:txBody>
          <a:bodyPr/>
          <a:lstStyle/>
          <a:p>
            <a:endParaRPr lang="en-CA"/>
          </a:p>
        </p:txBody>
      </p:sp>
      <p:sp>
        <p:nvSpPr>
          <p:cNvPr id="14" name="Text 12"/>
          <p:cNvSpPr/>
          <p:nvPr/>
        </p:nvSpPr>
        <p:spPr>
          <a:xfrm>
            <a:off x="3633993" y="4032504"/>
            <a:ext cx="2297379" cy="457200"/>
          </a:xfrm>
          <a:prstGeom prst="rect">
            <a:avLst/>
          </a:prstGeom>
          <a:noFill/>
          <a:ln/>
        </p:spPr>
        <p:txBody>
          <a:bodyPr wrap="square" lIns="0" tIns="0" rIns="0" bIns="0" rtlCol="0" anchor="ctr"/>
          <a:lstStyle/>
          <a:p>
            <a:r>
              <a:rPr lang="fr-FR" sz="850" b="1" dirty="0">
                <a:solidFill>
                  <a:srgbClr val="0A0A0A"/>
                </a:solidFill>
                <a:latin typeface="Calibri" pitchFamily="34" charset="0"/>
                <a:cs typeface="Calibri" pitchFamily="34" charset="-120"/>
              </a:rPr>
              <a:t>Mesures reproductibles</a:t>
            </a:r>
          </a:p>
          <a:p>
            <a:r>
              <a:rPr lang="fr-FR" sz="850" i="1" dirty="0">
                <a:solidFill>
                  <a:srgbClr val="0A0A0A"/>
                </a:solidFill>
                <a:latin typeface="Calibri" pitchFamily="34" charset="0"/>
                <a:cs typeface="Calibri" pitchFamily="34" charset="-120"/>
              </a:rPr>
              <a:t>Même protocole, mêmes paramètres, mêmes scripts sur x86 et ARM.</a:t>
            </a:r>
            <a:endParaRPr lang="en-US" sz="850" i="1" dirty="0">
              <a:solidFill>
                <a:srgbClr val="0A0A0A"/>
              </a:solidFill>
              <a:latin typeface="Calibri" pitchFamily="34" charset="0"/>
              <a:cs typeface="Calibri" pitchFamily="34" charset="-120"/>
            </a:endParaRPr>
          </a:p>
        </p:txBody>
      </p:sp>
      <p:sp>
        <p:nvSpPr>
          <p:cNvPr id="15" name="Shape 13"/>
          <p:cNvSpPr/>
          <p:nvPr/>
        </p:nvSpPr>
        <p:spPr>
          <a:xfrm>
            <a:off x="6144768" y="3942172"/>
            <a:ext cx="2651760" cy="676656"/>
          </a:xfrm>
          <a:prstGeom prst="roundRect">
            <a:avLst>
              <a:gd name="adj" fmla="val 16000"/>
            </a:avLst>
          </a:prstGeom>
          <a:solidFill>
            <a:srgbClr val="FFFBF0"/>
          </a:solidFill>
          <a:ln w="10160">
            <a:solidFill>
              <a:srgbClr val="C9A84C"/>
            </a:solidFill>
            <a:prstDash val="solid"/>
          </a:ln>
        </p:spPr>
        <p:txBody>
          <a:bodyPr/>
          <a:lstStyle/>
          <a:p>
            <a:endParaRPr lang="en-CA"/>
          </a:p>
        </p:txBody>
      </p:sp>
      <p:sp>
        <p:nvSpPr>
          <p:cNvPr id="16" name="Text 14"/>
          <p:cNvSpPr/>
          <p:nvPr/>
        </p:nvSpPr>
        <p:spPr>
          <a:xfrm>
            <a:off x="6472136" y="4039985"/>
            <a:ext cx="2232951" cy="457200"/>
          </a:xfrm>
          <a:prstGeom prst="rect">
            <a:avLst/>
          </a:prstGeom>
          <a:noFill/>
          <a:ln/>
        </p:spPr>
        <p:txBody>
          <a:bodyPr wrap="square" lIns="0" tIns="0" rIns="0" bIns="0" rtlCol="0" anchor="ctr"/>
          <a:lstStyle/>
          <a:p>
            <a:r>
              <a:rPr lang="fr-FR" sz="850" b="1" dirty="0">
                <a:solidFill>
                  <a:srgbClr val="0A0A0A"/>
                </a:solidFill>
                <a:latin typeface="Calibri" pitchFamily="34" charset="0"/>
                <a:ea typeface="Calibri" pitchFamily="34" charset="-122"/>
                <a:cs typeface="Calibri" pitchFamily="34" charset="-120"/>
              </a:rPr>
              <a:t>Prêt pour l'analyse</a:t>
            </a:r>
          </a:p>
          <a:p>
            <a:r>
              <a:rPr lang="fr-FR" sz="850" i="1" dirty="0">
                <a:solidFill>
                  <a:srgbClr val="0A0A0A"/>
                </a:solidFill>
                <a:latin typeface="Calibri" pitchFamily="34" charset="0"/>
                <a:ea typeface="Calibri" pitchFamily="34" charset="-122"/>
                <a:cs typeface="Calibri" pitchFamily="34" charset="-120"/>
              </a:rPr>
              <a:t>Les sorties alimentent directement le pipeline de génération des figures.</a:t>
            </a:r>
            <a:endParaRPr lang="en-US" sz="850" i="1" dirty="0"/>
          </a:p>
        </p:txBody>
      </p:sp>
      <p:sp>
        <p:nvSpPr>
          <p:cNvPr id="17" name="Text 15"/>
          <p:cNvSpPr/>
          <p:nvPr/>
        </p:nvSpPr>
        <p:spPr>
          <a:xfrm>
            <a:off x="475488" y="4773168"/>
            <a:ext cx="8229600" cy="201168"/>
          </a:xfrm>
          <a:prstGeom prst="rect">
            <a:avLst/>
          </a:prstGeom>
          <a:noFill/>
          <a:ln/>
        </p:spPr>
        <p:txBody>
          <a:bodyPr wrap="square" lIns="0" tIns="0" rIns="0" bIns="0" rtlCol="0" anchor="ctr"/>
          <a:lstStyle/>
          <a:p>
            <a:pPr algn="ctr"/>
            <a:r>
              <a:rPr lang="en-US" sz="800" b="1" dirty="0">
                <a:solidFill>
                  <a:srgbClr val="C9A84C"/>
                </a:solidFill>
                <a:latin typeface="Calibri" pitchFamily="34" charset="0"/>
                <a:ea typeface="Calibri" pitchFamily="34" charset="-122"/>
                <a:cs typeface="Calibri" pitchFamily="34" charset="-120"/>
              </a:rPr>
              <a:t>INF1430</a:t>
            </a:r>
            <a:r>
              <a:rPr lang="en-US" sz="800" dirty="0">
                <a:solidFill>
                  <a:srgbClr val="CCCCCC"/>
                </a:solidFill>
                <a:latin typeface="Calibri" pitchFamily="34" charset="0"/>
                <a:ea typeface="Calibri" pitchFamily="34" charset="-122"/>
                <a:cs typeface="Calibri" pitchFamily="34" charset="-120"/>
              </a:rPr>
              <a:t>  ·  Université TÉLUQ  ·  TN3  ·  Melissa Moya  ·  2026</a:t>
            </a:r>
            <a:endParaRPr lang="en-US" sz="800" dirty="0"/>
          </a:p>
        </p:txBody>
      </p:sp>
      <p:pic>
        <p:nvPicPr>
          <p:cNvPr id="19" name="Picture 18">
            <a:extLst>
              <a:ext uri="{FF2B5EF4-FFF2-40B4-BE49-F238E27FC236}">
                <a16:creationId xmlns:a16="http://schemas.microsoft.com/office/drawing/2014/main" id="{D6A6D7B7-3E8B-9765-2311-4A352C15A5DB}"/>
              </a:ext>
            </a:extLst>
          </p:cNvPr>
          <p:cNvPicPr>
            <a:picLocks noChangeAspect="1"/>
          </p:cNvPicPr>
          <p:nvPr/>
        </p:nvPicPr>
        <p:blipFill>
          <a:blip r:embed="rId3">
            <a:alphaModFix amt="5000"/>
          </a:blip>
          <a:stretch>
            <a:fillRect/>
          </a:stretch>
        </p:blipFill>
        <p:spPr>
          <a:xfrm>
            <a:off x="6053328" y="1078992"/>
            <a:ext cx="2743200" cy="2743200"/>
          </a:xfrm>
          <a:prstGeom prst="rect">
            <a:avLst/>
          </a:prstGeom>
        </p:spPr>
      </p:pic>
      <p:sp>
        <p:nvSpPr>
          <p:cNvPr id="18" name="TextBox 17">
            <a:extLst>
              <a:ext uri="{FF2B5EF4-FFF2-40B4-BE49-F238E27FC236}">
                <a16:creationId xmlns:a16="http://schemas.microsoft.com/office/drawing/2014/main" id="{1EA714FE-0EFE-0363-3D88-9AB3C49786D6}"/>
              </a:ext>
            </a:extLst>
          </p:cNvPr>
          <p:cNvSpPr txBox="1"/>
          <p:nvPr/>
        </p:nvSpPr>
        <p:spPr>
          <a:xfrm>
            <a:off x="502920" y="4149535"/>
            <a:ext cx="358302" cy="223138"/>
          </a:xfrm>
          <a:prstGeom prst="rect">
            <a:avLst/>
          </a:prstGeom>
          <a:noFill/>
        </p:spPr>
        <p:txBody>
          <a:bodyPr wrap="square">
            <a:spAutoFit/>
          </a:bodyPr>
          <a:lstStyle/>
          <a:p>
            <a:r>
              <a:rPr lang="en-US" sz="850" b="1" dirty="0">
                <a:solidFill>
                  <a:srgbClr val="C9A84C"/>
                </a:solidFill>
                <a:latin typeface="Calibri" pitchFamily="34" charset="0"/>
                <a:ea typeface="Calibri" pitchFamily="34" charset="-122"/>
                <a:cs typeface="Calibri" pitchFamily="34" charset="-120"/>
              </a:rPr>
              <a:t>✓ </a:t>
            </a:r>
            <a:endParaRPr lang="en-CA" dirty="0"/>
          </a:p>
        </p:txBody>
      </p:sp>
      <p:sp>
        <p:nvSpPr>
          <p:cNvPr id="25" name="TextBox 24">
            <a:extLst>
              <a:ext uri="{FF2B5EF4-FFF2-40B4-BE49-F238E27FC236}">
                <a16:creationId xmlns:a16="http://schemas.microsoft.com/office/drawing/2014/main" id="{06322940-9960-6B7F-82A4-DEF472DE1C32}"/>
              </a:ext>
            </a:extLst>
          </p:cNvPr>
          <p:cNvSpPr txBox="1"/>
          <p:nvPr/>
        </p:nvSpPr>
        <p:spPr>
          <a:xfrm>
            <a:off x="6201545" y="4157016"/>
            <a:ext cx="358302" cy="223138"/>
          </a:xfrm>
          <a:prstGeom prst="rect">
            <a:avLst/>
          </a:prstGeom>
          <a:noFill/>
        </p:spPr>
        <p:txBody>
          <a:bodyPr wrap="square">
            <a:spAutoFit/>
          </a:bodyPr>
          <a:lstStyle/>
          <a:p>
            <a:r>
              <a:rPr lang="en-US" sz="850" b="1" dirty="0">
                <a:solidFill>
                  <a:srgbClr val="C9A84C"/>
                </a:solidFill>
                <a:latin typeface="Calibri" pitchFamily="34" charset="0"/>
                <a:ea typeface="Calibri" pitchFamily="34" charset="-122"/>
                <a:cs typeface="Calibri" pitchFamily="34" charset="-120"/>
              </a:rPr>
              <a:t>✓ </a:t>
            </a:r>
            <a:endParaRPr lang="en-CA" dirty="0"/>
          </a:p>
        </p:txBody>
      </p:sp>
      <p:sp>
        <p:nvSpPr>
          <p:cNvPr id="27" name="TextBox 26">
            <a:extLst>
              <a:ext uri="{FF2B5EF4-FFF2-40B4-BE49-F238E27FC236}">
                <a16:creationId xmlns:a16="http://schemas.microsoft.com/office/drawing/2014/main" id="{7B5A9E0B-9165-A0BA-262B-78ECB3CEC796}"/>
              </a:ext>
            </a:extLst>
          </p:cNvPr>
          <p:cNvSpPr txBox="1"/>
          <p:nvPr/>
        </p:nvSpPr>
        <p:spPr>
          <a:xfrm>
            <a:off x="3326824" y="4157016"/>
            <a:ext cx="358302" cy="223138"/>
          </a:xfrm>
          <a:prstGeom prst="rect">
            <a:avLst/>
          </a:prstGeom>
          <a:noFill/>
        </p:spPr>
        <p:txBody>
          <a:bodyPr wrap="square">
            <a:spAutoFit/>
          </a:bodyPr>
          <a:lstStyle/>
          <a:p>
            <a:r>
              <a:rPr lang="en-US" sz="850" b="1" dirty="0">
                <a:solidFill>
                  <a:srgbClr val="C9A84C"/>
                </a:solidFill>
                <a:latin typeface="Calibri" pitchFamily="34" charset="0"/>
                <a:ea typeface="Calibri" pitchFamily="34" charset="-122"/>
                <a:cs typeface="Calibri" pitchFamily="34" charset="-120"/>
              </a:rPr>
              <a:t>✓ </a:t>
            </a:r>
            <a:endParaRPr lang="en-CA"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34708</TotalTime>
  <Words>4650</Words>
  <Application>Microsoft Office PowerPoint</Application>
  <PresentationFormat>On-screen Show (16:9)</PresentationFormat>
  <Paragraphs>807</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Cambria Math</vt:lpstr>
      <vt:lpstr>Courier New</vt:lpstr>
      <vt:lpstr>Segoe WPC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Melissa Moya-Dery</cp:lastModifiedBy>
  <cp:revision>100</cp:revision>
  <dcterms:created xsi:type="dcterms:W3CDTF">2026-06-28T20:11:50Z</dcterms:created>
  <dcterms:modified xsi:type="dcterms:W3CDTF">2026-07-24T02:00:31Z</dcterms:modified>
</cp:coreProperties>
</file>