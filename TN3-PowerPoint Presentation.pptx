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5" r:id="rId10"/>
    <p:sldId id="266" r:id="rId11"/>
    <p:sldId id="264"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157" autoAdjust="0"/>
  </p:normalViewPr>
  <p:slideViewPr>
    <p:cSldViewPr snapToGrid="0">
      <p:cViewPr varScale="1">
        <p:scale>
          <a:sx n="59" d="100"/>
          <a:sy n="59" d="100"/>
        </p:scale>
        <p:origin x="161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356D6E-2D80-4BA0-9010-54ABD58984DA}" type="datetimeFigureOut">
              <a:rPr lang="en-CA" smtClean="0"/>
              <a:t>2026-06-12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69AAED-48F1-4EF1-BEB3-28F1C704C21F}" type="slidenum">
              <a:rPr lang="en-CA" smtClean="0"/>
              <a:t>‹#›</a:t>
            </a:fld>
            <a:endParaRPr lang="en-CA"/>
          </a:p>
        </p:txBody>
      </p:sp>
    </p:spTree>
    <p:extLst>
      <p:ext uri="{BB962C8B-B14F-4D97-AF65-F5344CB8AC3E}">
        <p14:creationId xmlns:p14="http://schemas.microsoft.com/office/powerpoint/2010/main" val="20380487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vscode-file://vscode-app/c:/Users/MoyaM/AppData/Local/Programs/Microsoft%20VS%20Code/6928394f91/resources/app/out/vs/code/electron-browser/workbench/workbench.html"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Background:</a:t>
            </a:r>
            <a:r>
              <a:rPr lang="en-CA" sz="1200" b="0" i="0" kern="1200" dirty="0">
                <a:solidFill>
                  <a:schemeClr val="tx1"/>
                </a:solidFill>
                <a:effectLst/>
                <a:latin typeface="+mn-lt"/>
                <a:ea typeface="+mn-ea"/>
                <a:cs typeface="+mn-cs"/>
              </a:rPr>
              <a:t> dark background (navy or near-black) — cryptography/tech aesthetic, also makes text pop</a:t>
            </a:r>
          </a:p>
          <a:p>
            <a:r>
              <a:rPr lang="en-CA" sz="1200" b="1" i="0" kern="1200" dirty="0">
                <a:solidFill>
                  <a:schemeClr val="tx1"/>
                </a:solidFill>
                <a:effectLst/>
                <a:latin typeface="+mn-lt"/>
                <a:ea typeface="+mn-ea"/>
                <a:cs typeface="+mn-cs"/>
              </a:rPr>
              <a:t>Accent image:</a:t>
            </a:r>
            <a:r>
              <a:rPr lang="en-CA" sz="1200" b="0" i="0" kern="1200" dirty="0">
                <a:solidFill>
                  <a:schemeClr val="tx1"/>
                </a:solidFill>
                <a:effectLst/>
                <a:latin typeface="+mn-lt"/>
                <a:ea typeface="+mn-ea"/>
                <a:cs typeface="+mn-cs"/>
              </a:rPr>
              <a:t> a subtle split graphic — left side a CPU/chip (x86), right side a Raspberry Pi board, separated by a vs or a vertical dividing line</a:t>
            </a:r>
          </a:p>
          <a:p>
            <a:r>
              <a:rPr lang="en-CA" sz="1200" b="1" i="0" kern="1200" dirty="0">
                <a:solidFill>
                  <a:schemeClr val="tx1"/>
                </a:solidFill>
                <a:effectLst/>
                <a:latin typeface="+mn-lt"/>
                <a:ea typeface="+mn-ea"/>
                <a:cs typeface="+mn-cs"/>
              </a:rPr>
              <a:t>Optional:</a:t>
            </a:r>
            <a:r>
              <a:rPr lang="en-CA" sz="1200" b="0" i="0" kern="1200" dirty="0">
                <a:solidFill>
                  <a:schemeClr val="tx1"/>
                </a:solidFill>
                <a:effectLst/>
                <a:latin typeface="+mn-lt"/>
                <a:ea typeface="+mn-ea"/>
                <a:cs typeface="+mn-cs"/>
              </a:rPr>
              <a:t> a faint binary/hex pattern in the background (not distracting, just texture)</a:t>
            </a:r>
          </a:p>
          <a:p>
            <a:r>
              <a:rPr lang="en-CA" sz="1200" b="1" i="0" kern="1200" dirty="0">
                <a:solidFill>
                  <a:schemeClr val="tx1"/>
                </a:solidFill>
                <a:effectLst/>
                <a:latin typeface="+mn-lt"/>
                <a:ea typeface="+mn-ea"/>
                <a:cs typeface="+mn-cs"/>
              </a:rPr>
              <a:t>Font:</a:t>
            </a:r>
            <a:r>
              <a:rPr lang="en-CA" sz="1200" b="0" i="0" kern="1200" dirty="0">
                <a:solidFill>
                  <a:schemeClr val="tx1"/>
                </a:solidFill>
                <a:effectLst/>
                <a:latin typeface="+mn-lt"/>
                <a:ea typeface="+mn-ea"/>
                <a:cs typeface="+mn-cs"/>
              </a:rPr>
              <a:t> clean sans-serif (Calibri, Inter, or Montserrat) — nothing fancy, this is a technical presentation</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a:t>
            </a:fld>
            <a:endParaRPr lang="en-CA"/>
          </a:p>
        </p:txBody>
      </p:sp>
    </p:spTree>
    <p:extLst>
      <p:ext uri="{BB962C8B-B14F-4D97-AF65-F5344CB8AC3E}">
        <p14:creationId xmlns:p14="http://schemas.microsoft.com/office/powerpoint/2010/main" val="2867219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Visual suggestions</a:t>
            </a:r>
          </a:p>
          <a:p>
            <a:r>
              <a:rPr lang="en-CA" sz="1200" b="0" i="0" kern="1200" dirty="0">
                <a:solidFill>
                  <a:schemeClr val="tx1"/>
                </a:solidFill>
                <a:effectLst/>
                <a:latin typeface="+mn-lt"/>
                <a:ea typeface="+mn-ea"/>
                <a:cs typeface="+mn-cs"/>
              </a:rPr>
              <a:t>Each item on its own line with a number or subtle icon (lock 🔒, chart 📊, etc. — but keep it minimal)</a:t>
            </a:r>
          </a:p>
          <a:p>
            <a:r>
              <a:rPr lang="en-CA" sz="1200" b="1" i="0" kern="1200" dirty="0">
                <a:solidFill>
                  <a:schemeClr val="tx1"/>
                </a:solidFill>
                <a:effectLst/>
                <a:latin typeface="+mn-lt"/>
                <a:ea typeface="+mn-ea"/>
                <a:cs typeface="+mn-cs"/>
              </a:rPr>
              <a:t>Highlight the current section</a:t>
            </a:r>
            <a:r>
              <a:rPr lang="en-CA" sz="1200" b="0" i="0" kern="1200" dirty="0">
                <a:solidFill>
                  <a:schemeClr val="tx1"/>
                </a:solidFill>
                <a:effectLst/>
                <a:latin typeface="+mn-lt"/>
                <a:ea typeface="+mn-ea"/>
                <a:cs typeface="+mn-cs"/>
              </a:rPr>
              <a:t> as you progress through the presentation — either change the color of the active item or use a simple arrow/indicator. This keeps the audience oriented</a:t>
            </a:r>
          </a:p>
          <a:p>
            <a:r>
              <a:rPr lang="en-CA" sz="1200" b="0" i="0" kern="1200" dirty="0">
                <a:solidFill>
                  <a:schemeClr val="tx1"/>
                </a:solidFill>
                <a:effectLst/>
                <a:latin typeface="+mn-lt"/>
                <a:ea typeface="+mn-ea"/>
                <a:cs typeface="+mn-cs"/>
              </a:rPr>
              <a:t>No sub-bullets here — this is just the map, not the territory</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2</a:t>
            </a:fld>
            <a:endParaRPr lang="en-CA"/>
          </a:p>
        </p:txBody>
      </p:sp>
    </p:spTree>
    <p:extLst>
      <p:ext uri="{BB962C8B-B14F-4D97-AF65-F5344CB8AC3E}">
        <p14:creationId xmlns:p14="http://schemas.microsoft.com/office/powerpoint/2010/main" val="41181906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3 — Nature du </a:t>
            </a:r>
            <a:r>
              <a:rPr lang="en-CA" sz="1200" b="1" i="0" kern="1200" dirty="0" err="1">
                <a:solidFill>
                  <a:schemeClr val="tx1"/>
                </a:solidFill>
                <a:effectLst/>
                <a:latin typeface="+mn-lt"/>
                <a:ea typeface="+mn-ea"/>
                <a:cs typeface="+mn-cs"/>
              </a:rPr>
              <a:t>système</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Nature du </a:t>
            </a:r>
            <a:r>
              <a:rPr lang="en-CA" sz="1200" b="0" i="0" kern="1200" dirty="0" err="1">
                <a:solidFill>
                  <a:schemeClr val="tx1"/>
                </a:solidFill>
                <a:effectLst/>
                <a:latin typeface="+mn-lt"/>
                <a:ea typeface="+mn-ea"/>
                <a:cs typeface="+mn-cs"/>
              </a:rPr>
              <a:t>système</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Left side — 3 key bullets (short, punchy):</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Moteur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expérimental</a:t>
            </a:r>
            <a:r>
              <a:rPr lang="en-CA" sz="1200" b="0" i="0" kern="1200" dirty="0">
                <a:solidFill>
                  <a:schemeClr val="tx1"/>
                </a:solidFill>
                <a:effectLst/>
                <a:latin typeface="+mn-lt"/>
                <a:ea typeface="+mn-ea"/>
                <a:cs typeface="+mn-cs"/>
              </a:rPr>
              <a:t> — pas </a:t>
            </a:r>
            <a:r>
              <a:rPr lang="en-CA" sz="1200" b="0" i="0" kern="1200" dirty="0" err="1">
                <a:solidFill>
                  <a:schemeClr val="tx1"/>
                </a:solidFill>
                <a:effectLst/>
                <a:latin typeface="+mn-lt"/>
                <a:ea typeface="+mn-ea"/>
                <a:cs typeface="+mn-cs"/>
              </a:rPr>
              <a:t>une</a:t>
            </a:r>
            <a:r>
              <a:rPr lang="en-CA" sz="1200" b="0" i="0" kern="1200" dirty="0">
                <a:solidFill>
                  <a:schemeClr val="tx1"/>
                </a:solidFill>
                <a:effectLst/>
                <a:latin typeface="+mn-lt"/>
                <a:ea typeface="+mn-ea"/>
                <a:cs typeface="+mn-cs"/>
              </a:rPr>
              <a:t> application </a:t>
            </a:r>
            <a:r>
              <a:rPr lang="en-CA" sz="1200" b="0" i="0" kern="1200" dirty="0" err="1">
                <a:solidFill>
                  <a:schemeClr val="tx1"/>
                </a:solidFill>
                <a:effectLst/>
                <a:latin typeface="+mn-lt"/>
                <a:ea typeface="+mn-ea"/>
                <a:cs typeface="+mn-cs"/>
              </a:rPr>
              <a:t>utilisateur</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Aucune</a:t>
            </a:r>
            <a:r>
              <a:rPr lang="en-CA" sz="1200" b="0" i="0" kern="1200" dirty="0">
                <a:solidFill>
                  <a:schemeClr val="tx1"/>
                </a:solidFill>
                <a:effectLst/>
                <a:latin typeface="+mn-lt"/>
                <a:ea typeface="+mn-ea"/>
                <a:cs typeface="+mn-cs"/>
              </a:rPr>
              <a:t> interface </a:t>
            </a:r>
            <a:r>
              <a:rPr lang="en-CA" sz="1200" b="0" i="0" kern="1200" dirty="0" err="1">
                <a:solidFill>
                  <a:schemeClr val="tx1"/>
                </a:solidFill>
                <a:effectLst/>
                <a:latin typeface="+mn-lt"/>
                <a:ea typeface="+mn-ea"/>
                <a:cs typeface="+mn-cs"/>
              </a:rPr>
              <a:t>graphique</a:t>
            </a:r>
            <a:r>
              <a:rPr lang="en-CA" sz="1200" b="0" i="0" kern="1200" dirty="0">
                <a:solidFill>
                  <a:schemeClr val="tx1"/>
                </a:solidFill>
                <a:effectLst/>
                <a:latin typeface="+mn-lt"/>
                <a:ea typeface="+mn-ea"/>
                <a:cs typeface="+mn-cs"/>
              </a:rPr>
              <a:t> : entrée = </a:t>
            </a:r>
            <a:r>
              <a:rPr lang="en-CA" sz="1200" b="0" i="0" kern="1200" dirty="0" err="1">
                <a:solidFill>
                  <a:schemeClr val="tx1"/>
                </a:solidFill>
                <a:effectLst/>
                <a:latin typeface="+mn-lt"/>
                <a:ea typeface="+mn-ea"/>
                <a:cs typeface="+mn-cs"/>
              </a:rPr>
              <a:t>paramètres</a:t>
            </a:r>
            <a:r>
              <a:rPr lang="en-CA" sz="1200" b="0" i="0" kern="1200" dirty="0">
                <a:solidFill>
                  <a:schemeClr val="tx1"/>
                </a:solidFill>
                <a:effectLst/>
                <a:latin typeface="+mn-lt"/>
                <a:ea typeface="+mn-ea"/>
                <a:cs typeface="+mn-cs"/>
              </a:rPr>
              <a:t>, sortie = CSV</a:t>
            </a:r>
          </a:p>
          <a:p>
            <a:r>
              <a:rPr lang="en-CA" sz="1200" b="0" i="0" kern="1200" dirty="0" err="1">
                <a:solidFill>
                  <a:schemeClr val="tx1"/>
                </a:solidFill>
                <a:effectLst/>
                <a:latin typeface="+mn-lt"/>
                <a:ea typeface="+mn-ea"/>
                <a:cs typeface="+mn-cs"/>
              </a:rPr>
              <a:t>Conçu</a:t>
            </a:r>
            <a:r>
              <a:rPr lang="en-CA" sz="1200" b="0" i="0" kern="1200" dirty="0">
                <a:solidFill>
                  <a:schemeClr val="tx1"/>
                </a:solidFill>
                <a:effectLst/>
                <a:latin typeface="+mn-lt"/>
                <a:ea typeface="+mn-ea"/>
                <a:cs typeface="+mn-cs"/>
              </a:rPr>
              <a:t> pour </a:t>
            </a:r>
            <a:r>
              <a:rPr lang="en-CA" sz="1200" b="0" i="0" kern="1200" dirty="0" err="1">
                <a:solidFill>
                  <a:schemeClr val="tx1"/>
                </a:solidFill>
                <a:effectLst/>
                <a:latin typeface="+mn-lt"/>
                <a:ea typeface="+mn-ea"/>
                <a:cs typeface="+mn-cs"/>
              </a:rPr>
              <a:t>isoler</a:t>
            </a:r>
            <a:r>
              <a:rPr lang="en-CA" sz="1200" b="0" i="0" kern="1200" dirty="0">
                <a:solidFill>
                  <a:schemeClr val="tx1"/>
                </a:solidFill>
                <a:effectLst/>
                <a:latin typeface="+mn-lt"/>
                <a:ea typeface="+mn-ea"/>
                <a:cs typeface="+mn-cs"/>
              </a:rPr>
              <a:t> la variable </a:t>
            </a:r>
            <a:r>
              <a:rPr lang="en-CA" sz="1200" b="0" i="0" kern="1200" dirty="0" err="1">
                <a:solidFill>
                  <a:schemeClr val="tx1"/>
                </a:solidFill>
                <a:effectLst/>
                <a:latin typeface="+mn-lt"/>
                <a:ea typeface="+mn-ea"/>
                <a:cs typeface="+mn-cs"/>
              </a:rPr>
              <a:t>matérielle</a:t>
            </a:r>
            <a:r>
              <a:rPr lang="en-CA" sz="1200" b="0" i="0" kern="1200" dirty="0">
                <a:solidFill>
                  <a:schemeClr val="tx1"/>
                </a:solidFill>
                <a:effectLst/>
                <a:latin typeface="+mn-lt"/>
                <a:ea typeface="+mn-ea"/>
                <a:cs typeface="+mn-cs"/>
              </a:rPr>
              <a:t> entre </a:t>
            </a:r>
            <a:r>
              <a:rPr lang="en-CA" sz="1200" b="0" i="0" kern="1200" dirty="0" err="1">
                <a:solidFill>
                  <a:schemeClr val="tx1"/>
                </a:solidFill>
                <a:effectLst/>
                <a:latin typeface="+mn-lt"/>
                <a:ea typeface="+mn-ea"/>
                <a:cs typeface="+mn-cs"/>
              </a:rPr>
              <a:t>plateformes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Right side — architecture diagram (layered, vertical):</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banner — addresses FB1 directly (small text, highlighted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La </a:t>
            </a:r>
            <a:r>
              <a:rPr lang="en-CA" sz="1200" b="0" i="0" kern="1200" dirty="0" err="1">
                <a:solidFill>
                  <a:schemeClr val="tx1"/>
                </a:solidFill>
                <a:effectLst/>
                <a:latin typeface="+mn-lt"/>
                <a:ea typeface="+mn-ea"/>
                <a:cs typeface="+mn-cs"/>
              </a:rPr>
              <a:t>répétabilité</a:t>
            </a:r>
            <a:r>
              <a:rPr lang="en-CA" sz="1200" b="0" i="0" kern="1200" dirty="0">
                <a:solidFill>
                  <a:schemeClr val="tx1"/>
                </a:solidFill>
                <a:effectLst/>
                <a:latin typeface="+mn-lt"/>
                <a:ea typeface="+mn-ea"/>
                <a:cs typeface="+mn-cs"/>
              </a:rPr>
              <a:t> est </a:t>
            </a:r>
            <a:r>
              <a:rPr lang="en-CA" sz="1200" b="0" i="0" kern="1200" dirty="0" err="1">
                <a:solidFill>
                  <a:schemeClr val="tx1"/>
                </a:solidFill>
                <a:effectLst/>
                <a:latin typeface="+mn-lt"/>
                <a:ea typeface="+mn-ea"/>
                <a:cs typeface="+mn-cs"/>
              </a:rPr>
              <a:t>garantie</a:t>
            </a:r>
            <a:r>
              <a:rPr lang="en-CA" sz="1200" b="0" i="0" kern="1200" dirty="0">
                <a:solidFill>
                  <a:schemeClr val="tx1"/>
                </a:solidFill>
                <a:effectLst/>
                <a:latin typeface="+mn-lt"/>
                <a:ea typeface="+mn-ea"/>
                <a:cs typeface="+mn-cs"/>
              </a:rPr>
              <a:t> par </a:t>
            </a:r>
            <a:r>
              <a:rPr lang="en-CA" sz="1200" b="0" i="0" kern="1200" dirty="0" err="1">
                <a:solidFill>
                  <a:schemeClr val="tx1"/>
                </a:solidFill>
                <a:effectLst/>
                <a:latin typeface="+mn-lt"/>
                <a:ea typeface="+mn-ea"/>
                <a:cs typeface="+mn-cs"/>
              </a:rPr>
              <a:t>l'indépendance</a:t>
            </a:r>
            <a:r>
              <a:rPr lang="en-CA" sz="1200" b="0" i="0" kern="1200" dirty="0">
                <a:solidFill>
                  <a:schemeClr val="tx1"/>
                </a:solidFill>
                <a:effectLst/>
                <a:latin typeface="+mn-lt"/>
                <a:ea typeface="+mn-ea"/>
                <a:cs typeface="+mn-cs"/>
              </a:rPr>
              <a:t> des primitives : </a:t>
            </a:r>
            <a:r>
              <a:rPr lang="en-CA" sz="1200" b="0" i="0" kern="1200" dirty="0" err="1">
                <a:solidFill>
                  <a:schemeClr val="tx1"/>
                </a:solidFill>
                <a:effectLst/>
                <a:latin typeface="+mn-lt"/>
                <a:ea typeface="+mn-ea"/>
                <a:cs typeface="+mn-cs"/>
              </a:rPr>
              <a:t>PyCryptodome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délègue</a:t>
            </a:r>
            <a:r>
              <a:rPr lang="en-CA" sz="1200" b="0" i="0" kern="1200" dirty="0">
                <a:solidFill>
                  <a:schemeClr val="tx1"/>
                </a:solidFill>
                <a:effectLst/>
                <a:latin typeface="+mn-lt"/>
                <a:ea typeface="+mn-ea"/>
                <a:cs typeface="+mn-cs"/>
              </a:rPr>
              <a:t> aux </a:t>
            </a:r>
            <a:r>
              <a:rPr lang="en-CA" sz="1200" b="0" i="0" kern="1200" dirty="0" err="1">
                <a:solidFill>
                  <a:schemeClr val="tx1"/>
                </a:solidFill>
                <a:effectLst/>
                <a:latin typeface="+mn-lt"/>
                <a:ea typeface="+mn-ea"/>
                <a:cs typeface="+mn-cs"/>
              </a:rPr>
              <a:t>mêmes</a:t>
            </a:r>
            <a:r>
              <a:rPr lang="en-CA" sz="1200" b="0" i="0" kern="1200" dirty="0">
                <a:solidFill>
                  <a:schemeClr val="tx1"/>
                </a:solidFill>
                <a:effectLst/>
                <a:latin typeface="+mn-lt"/>
                <a:ea typeface="+mn-ea"/>
                <a:cs typeface="+mn-cs"/>
              </a:rPr>
              <a:t> routines C </a:t>
            </a:r>
            <a:r>
              <a:rPr lang="en-CA" sz="1200" b="0" i="0" kern="1200" dirty="0" err="1">
                <a:solidFill>
                  <a:schemeClr val="tx1"/>
                </a:solidFill>
                <a:effectLst/>
                <a:latin typeface="+mn-lt"/>
                <a:ea typeface="+mn-ea"/>
                <a:cs typeface="+mn-cs"/>
              </a:rPr>
              <a:t>compilées</a:t>
            </a:r>
            <a:r>
              <a:rPr lang="en-CA" sz="1200" b="0" i="0" kern="1200" dirty="0">
                <a:solidFill>
                  <a:schemeClr val="tx1"/>
                </a:solidFill>
                <a:effectLst/>
                <a:latin typeface="+mn-lt"/>
                <a:ea typeface="+mn-ea"/>
                <a:cs typeface="+mn-cs"/>
              </a:rPr>
              <a:t> sur les deux OS — les octets </a:t>
            </a:r>
            <a:r>
              <a:rPr lang="en-CA" sz="1200" b="0" i="0" kern="1200" dirty="0" err="1">
                <a:solidFill>
                  <a:schemeClr val="tx1"/>
                </a:solidFill>
                <a:effectLst/>
                <a:latin typeface="+mn-lt"/>
                <a:ea typeface="+mn-ea"/>
                <a:cs typeface="+mn-cs"/>
              </a:rPr>
              <a:t>sont</a:t>
            </a:r>
            <a:r>
              <a:rPr lang="en-CA" sz="1200" b="0" i="0" kern="1200" dirty="0">
                <a:solidFill>
                  <a:schemeClr val="tx1"/>
                </a:solidFill>
                <a:effectLst/>
                <a:latin typeface="+mn-lt"/>
                <a:ea typeface="+mn-ea"/>
                <a:cs typeface="+mn-cs"/>
              </a:rPr>
              <a:t> des octets.</a:t>
            </a:r>
          </a:p>
          <a:p>
            <a:br>
              <a:rPr lang="en-CA" dirty="0"/>
            </a:br>
            <a:endParaRPr lang="en-CA" dirty="0"/>
          </a:p>
          <a:p>
            <a:r>
              <a:rPr lang="en-CA" sz="1200" b="1" i="0" kern="1200" dirty="0">
                <a:solidFill>
                  <a:schemeClr val="tx1"/>
                </a:solidFill>
                <a:effectLst/>
                <a:latin typeface="+mn-lt"/>
                <a:ea typeface="+mn-ea"/>
                <a:cs typeface="+mn-cs"/>
              </a:rPr>
              <a:t>Video 1 cue</a:t>
            </a:r>
          </a:p>
          <a:p>
            <a:r>
              <a:rPr lang="en-CA" sz="1200" b="0" i="0" kern="1200" dirty="0">
                <a:solidFill>
                  <a:schemeClr val="tx1"/>
                </a:solidFill>
                <a:effectLst/>
                <a:latin typeface="+mn-lt"/>
                <a:ea typeface="+mn-ea"/>
                <a:cs typeface="+mn-cs"/>
              </a:rPr>
              <a:t>Put a small </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1</a:t>
            </a:r>
            <a:r>
              <a:rPr lang="en-CA" sz="1200" b="0" i="0" kern="1200" dirty="0">
                <a:solidFill>
                  <a:schemeClr val="tx1"/>
                </a:solidFill>
                <a:effectLst/>
                <a:latin typeface="+mn-lt"/>
                <a:ea typeface="+mn-ea"/>
                <a:cs typeface="+mn-cs"/>
              </a:rPr>
              <a:t> indicator in a corner of the slide. This is where you pause and play the video walkthrough of the repo in VS Code — showing the actual folder structure, opening EncryptionEngine.py, explaining the layer separation in your own words.</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paste the full architecture text from the TN2 report — 3 bullets max</a:t>
            </a:r>
          </a:p>
          <a:p>
            <a:r>
              <a:rPr lang="en-CA" sz="1200" b="0" i="0" kern="1200" dirty="0">
                <a:solidFill>
                  <a:schemeClr val="tx1"/>
                </a:solidFill>
                <a:effectLst/>
                <a:latin typeface="+mn-lt"/>
                <a:ea typeface="+mn-ea"/>
                <a:cs typeface="+mn-cs"/>
              </a:rPr>
              <a:t>Don't explain every class — the video does that</a:t>
            </a:r>
          </a:p>
          <a:p>
            <a:r>
              <a:rPr lang="en-CA" sz="1200" b="0" i="0" kern="1200" dirty="0">
                <a:solidFill>
                  <a:schemeClr val="tx1"/>
                </a:solidFill>
                <a:effectLst/>
                <a:latin typeface="+mn-lt"/>
                <a:ea typeface="+mn-ea"/>
                <a:cs typeface="+mn-cs"/>
              </a:rPr>
              <a:t>The FB1 response should be </a:t>
            </a:r>
            <a:r>
              <a:rPr lang="en-CA" sz="1200" b="1" i="0" kern="1200" dirty="0">
                <a:solidFill>
                  <a:schemeClr val="tx1"/>
                </a:solidFill>
                <a:effectLst/>
                <a:latin typeface="+mn-lt"/>
                <a:ea typeface="+mn-ea"/>
                <a:cs typeface="+mn-cs"/>
              </a:rPr>
              <a:t>visible but compact</a:t>
            </a:r>
            <a:r>
              <a:rPr lang="en-CA" sz="1200" b="0" i="0" kern="1200" dirty="0">
                <a:solidFill>
                  <a:schemeClr val="tx1"/>
                </a:solidFill>
                <a:effectLst/>
                <a:latin typeface="+mn-lt"/>
                <a:ea typeface="+mn-ea"/>
                <a:cs typeface="+mn-cs"/>
              </a:rPr>
              <a:t> — one sentence in a callout box is enough</a:t>
            </a:r>
          </a:p>
          <a:p>
            <a:br>
              <a:rPr lang="en-CA" dirty="0"/>
            </a:br>
            <a:endParaRPr lang="en-CA" dirty="0"/>
          </a:p>
          <a:p>
            <a:r>
              <a:rPr lang="en-CA" sz="1200" b="0" i="0" kern="1200" dirty="0">
                <a:solidFill>
                  <a:schemeClr val="tx1"/>
                </a:solidFill>
                <a:effectLst/>
                <a:latin typeface="+mn-lt"/>
                <a:ea typeface="+mn-ea"/>
                <a:cs typeface="+mn-cs"/>
              </a:rPr>
              <a:t>The diagram is the hero of this slide — it communicates the whole design at a glance.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3</a:t>
            </a:fld>
            <a:endParaRPr lang="en-CA"/>
          </a:p>
        </p:txBody>
      </p:sp>
    </p:spTree>
    <p:extLst>
      <p:ext uri="{BB962C8B-B14F-4D97-AF65-F5344CB8AC3E}">
        <p14:creationId xmlns:p14="http://schemas.microsoft.com/office/powerpoint/2010/main" val="3164150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4 — </a:t>
            </a:r>
            <a:r>
              <a:rPr lang="en-CA" sz="1200" b="1" i="0" kern="1200" dirty="0" err="1">
                <a:solidFill>
                  <a:schemeClr val="tx1"/>
                </a:solidFill>
                <a:effectLst/>
                <a:latin typeface="+mn-lt"/>
                <a:ea typeface="+mn-ea"/>
                <a:cs typeface="+mn-cs"/>
              </a:rPr>
              <a:t>Protocole</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expérimental</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Protocole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expérimental</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Top — platform comparison table (2 columns):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Laptop x86Raspberry PiCPUIntel/AMD x86-64ARM Cortex-</a:t>
            </a:r>
            <a:r>
              <a:rPr lang="en-CA" sz="1200" b="0" i="0" kern="1200" dirty="0" err="1">
                <a:solidFill>
                  <a:schemeClr val="tx1"/>
                </a:solidFill>
                <a:effectLst/>
                <a:latin typeface="+mn-lt"/>
                <a:ea typeface="+mn-ea"/>
                <a:cs typeface="+mn-cs"/>
              </a:rPr>
              <a:t>AOSWindows</a:t>
            </a:r>
            <a:r>
              <a:rPr lang="en-CA" sz="1200" b="0" i="0" kern="1200" dirty="0">
                <a:solidFill>
                  <a:schemeClr val="tx1"/>
                </a:solidFill>
                <a:effectLst/>
                <a:latin typeface="+mn-lt"/>
                <a:ea typeface="+mn-ea"/>
                <a:cs typeface="+mn-cs"/>
              </a:rPr>
              <a:t> 11Raspberry Pi OSAES-NI✅ Oui❌ NonRAM~16 GB4 </a:t>
            </a:r>
            <a:r>
              <a:rPr lang="en-CA" sz="1200" b="0" i="0" kern="1200" dirty="0" err="1">
                <a:solidFill>
                  <a:schemeClr val="tx1"/>
                </a:solidFill>
                <a:effectLst/>
                <a:latin typeface="+mn-lt"/>
                <a:ea typeface="+mn-ea"/>
                <a:cs typeface="+mn-cs"/>
              </a:rPr>
              <a:t>GBContexteMultitâcheMinimaliste</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Middle — experiment parameters (3 bullets):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5 </a:t>
            </a:r>
            <a:r>
              <a:rPr lang="en-CA" sz="1200" b="1" i="0" kern="1200" dirty="0" err="1">
                <a:solidFill>
                  <a:schemeClr val="tx1"/>
                </a:solidFill>
                <a:effectLst/>
                <a:latin typeface="+mn-lt"/>
                <a:ea typeface="+mn-ea"/>
                <a:cs typeface="+mn-cs"/>
              </a:rPr>
              <a:t>algorithmes</a:t>
            </a:r>
            <a:r>
              <a:rPr lang="en-CA" sz="1200" b="0" i="0" kern="1200" dirty="0">
                <a:solidFill>
                  <a:schemeClr val="tx1"/>
                </a:solidFill>
                <a:effectLst/>
                <a:latin typeface="+mn-lt"/>
                <a:ea typeface="+mn-ea"/>
                <a:cs typeface="+mn-cs"/>
              </a:rPr>
              <a:t> : AES, DES, 3DES,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ChaCha20</a:t>
            </a:r>
          </a:p>
          <a:p>
            <a:r>
              <a:rPr lang="en-CA" sz="1200" b="1" i="0" kern="1200" dirty="0" err="1">
                <a:solidFill>
                  <a:schemeClr val="tx1"/>
                </a:solidFill>
                <a:effectLst/>
                <a:latin typeface="+mn-lt"/>
                <a:ea typeface="+mn-ea"/>
                <a:cs typeface="+mn-cs"/>
              </a:rPr>
              <a:t>Tailles</a:t>
            </a:r>
            <a:r>
              <a:rPr lang="en-CA" sz="1200" b="1" i="0" kern="1200" dirty="0">
                <a:solidFill>
                  <a:schemeClr val="tx1"/>
                </a:solidFill>
                <a:effectLst/>
                <a:latin typeface="+mn-lt"/>
                <a:ea typeface="+mn-ea"/>
                <a:cs typeface="+mn-cs"/>
              </a:rPr>
              <a:t> de message</a:t>
            </a:r>
            <a:r>
              <a:rPr lang="en-CA" sz="1200" b="0" i="0" kern="1200" dirty="0">
                <a:solidFill>
                  <a:schemeClr val="tx1"/>
                </a:solidFill>
                <a:effectLst/>
                <a:latin typeface="+mn-lt"/>
                <a:ea typeface="+mn-ea"/>
                <a:cs typeface="+mn-cs"/>
              </a:rPr>
              <a:t> : 64 B → 16 384 B (8 </a:t>
            </a:r>
            <a:r>
              <a:rPr lang="en-CA" sz="1200" b="0" i="0" kern="1200" dirty="0" err="1">
                <a:solidFill>
                  <a:schemeClr val="tx1"/>
                </a:solidFill>
                <a:effectLst/>
                <a:latin typeface="+mn-lt"/>
                <a:ea typeface="+mn-ea"/>
                <a:cs typeface="+mn-cs"/>
              </a:rPr>
              <a:t>paliers</a:t>
            </a:r>
            <a:r>
              <a:rPr lang="en-CA" sz="1200" b="0" i="0" kern="1200" dirty="0">
                <a:solidFill>
                  <a:schemeClr val="tx1"/>
                </a:solidFill>
                <a:effectLst/>
                <a:latin typeface="+mn-lt"/>
                <a:ea typeface="+mn-ea"/>
                <a:cs typeface="+mn-cs"/>
              </a:rPr>
              <a:t>)</a:t>
            </a:r>
          </a:p>
          <a:p>
            <a:r>
              <a:rPr lang="en-CA" sz="1200" b="1" i="0" kern="1200" dirty="0">
                <a:solidFill>
                  <a:schemeClr val="tx1"/>
                </a:solidFill>
                <a:effectLst/>
                <a:latin typeface="+mn-lt"/>
                <a:ea typeface="+mn-ea"/>
                <a:cs typeface="+mn-cs"/>
              </a:rPr>
              <a:t>n = 100 </a:t>
            </a:r>
            <a:r>
              <a:rPr lang="en-CA" sz="1200" b="1" i="0" kern="1200" dirty="0" err="1">
                <a:solidFill>
                  <a:schemeClr val="tx1"/>
                </a:solidFill>
                <a:effectLst/>
                <a:latin typeface="+mn-lt"/>
                <a:ea typeface="+mn-ea"/>
                <a:cs typeface="+mn-cs"/>
              </a:rPr>
              <a:t>répétitions</a:t>
            </a:r>
            <a:r>
              <a:rPr lang="en-CA" sz="1200" b="0" i="0" kern="1200" dirty="0">
                <a:solidFill>
                  <a:schemeClr val="tx1"/>
                </a:solidFill>
                <a:effectLst/>
                <a:latin typeface="+mn-lt"/>
                <a:ea typeface="+mn-ea"/>
                <a:cs typeface="+mn-cs"/>
              </a:rPr>
              <a:t> par configuration → CI95 = 1.96 × σ/√n</a:t>
            </a:r>
          </a:p>
          <a:p>
            <a:r>
              <a:rPr lang="en-CA" sz="1200" b="1" i="0" kern="1200" dirty="0">
                <a:solidFill>
                  <a:schemeClr val="tx1"/>
                </a:solidFill>
                <a:effectLst/>
                <a:latin typeface="+mn-lt"/>
                <a:ea typeface="+mn-ea"/>
                <a:cs typeface="+mn-cs"/>
              </a:rPr>
              <a:t>Bottom banner — addresses FB2 (callout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n = 100 a </a:t>
            </a:r>
            <a:r>
              <a:rPr lang="en-CA" sz="1200" b="0" i="0" kern="1200" dirty="0" err="1">
                <a:solidFill>
                  <a:schemeClr val="tx1"/>
                </a:solidFill>
                <a:effectLst/>
                <a:latin typeface="+mn-lt"/>
                <a:ea typeface="+mn-ea"/>
                <a:cs typeface="+mn-cs"/>
              </a:rPr>
              <a:t>été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choisi</a:t>
            </a:r>
            <a:r>
              <a:rPr lang="en-CA" sz="1200" b="0" i="0" kern="1200" dirty="0">
                <a:solidFill>
                  <a:schemeClr val="tx1"/>
                </a:solidFill>
                <a:effectLst/>
                <a:latin typeface="+mn-lt"/>
                <a:ea typeface="+mn-ea"/>
                <a:cs typeface="+mn-cs"/>
              </a:rPr>
              <a:t> au </a:t>
            </a:r>
            <a:r>
              <a:rPr lang="en-CA" sz="1200" b="0" i="0" kern="1200" dirty="0" err="1">
                <a:solidFill>
                  <a:schemeClr val="tx1"/>
                </a:solidFill>
                <a:effectLst/>
                <a:latin typeface="+mn-lt"/>
                <a:ea typeface="+mn-ea"/>
                <a:cs typeface="+mn-cs"/>
              </a:rPr>
              <a:t>seuil</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où</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l'IC</a:t>
            </a:r>
            <a:r>
              <a:rPr lang="en-CA" sz="1200" b="0" i="0" kern="1200" dirty="0">
                <a:solidFill>
                  <a:schemeClr val="tx1"/>
                </a:solidFill>
                <a:effectLst/>
                <a:latin typeface="+mn-lt"/>
                <a:ea typeface="+mn-ea"/>
                <a:cs typeface="+mn-cs"/>
              </a:rPr>
              <a:t> à 95 % se stabilise — au-</a:t>
            </a:r>
            <a:r>
              <a:rPr lang="en-CA" sz="1200" b="0" i="0" kern="1200" dirty="0" err="1">
                <a:solidFill>
                  <a:schemeClr val="tx1"/>
                </a:solidFill>
                <a:effectLst/>
                <a:latin typeface="+mn-lt"/>
                <a:ea typeface="+mn-ea"/>
                <a:cs typeface="+mn-cs"/>
              </a:rPr>
              <a:t>delà</a:t>
            </a:r>
            <a:r>
              <a:rPr lang="en-CA" sz="1200" b="0" i="0" kern="1200" dirty="0">
                <a:solidFill>
                  <a:schemeClr val="tx1"/>
                </a:solidFill>
                <a:effectLst/>
                <a:latin typeface="+mn-lt"/>
                <a:ea typeface="+mn-ea"/>
                <a:cs typeface="+mn-cs"/>
              </a:rPr>
              <a:t>, le gain de </a:t>
            </a:r>
            <a:r>
              <a:rPr lang="en-CA" sz="1200" b="0" i="0" kern="1200" dirty="0" err="1">
                <a:solidFill>
                  <a:schemeClr val="tx1"/>
                </a:solidFill>
                <a:effectLst/>
                <a:latin typeface="+mn-lt"/>
                <a:ea typeface="+mn-ea"/>
                <a:cs typeface="+mn-cs"/>
              </a:rPr>
              <a:t>précision</a:t>
            </a:r>
            <a:r>
              <a:rPr lang="en-CA" sz="1200" b="0" i="0" kern="1200" dirty="0">
                <a:solidFill>
                  <a:schemeClr val="tx1"/>
                </a:solidFill>
                <a:effectLst/>
                <a:latin typeface="+mn-lt"/>
                <a:ea typeface="+mn-ea"/>
                <a:cs typeface="+mn-cs"/>
              </a:rPr>
              <a:t> est marginal par rapport au </a:t>
            </a:r>
            <a:r>
              <a:rPr lang="en-CA" sz="1200" b="0" i="0" kern="1200" dirty="0" err="1">
                <a:solidFill>
                  <a:schemeClr val="tx1"/>
                </a:solidFill>
                <a:effectLst/>
                <a:latin typeface="+mn-lt"/>
                <a:ea typeface="+mn-ea"/>
                <a:cs typeface="+mn-cs"/>
              </a:rPr>
              <a:t>coût</a:t>
            </a:r>
            <a:r>
              <a:rPr lang="en-CA" sz="1200" b="0" i="0" kern="1200" dirty="0">
                <a:solidFill>
                  <a:schemeClr val="tx1"/>
                </a:solidFill>
                <a:effectLst/>
                <a:latin typeface="+mn-lt"/>
                <a:ea typeface="+mn-ea"/>
                <a:cs typeface="+mn-cs"/>
              </a:rPr>
              <a:t> CPU.</a:t>
            </a:r>
          </a:p>
          <a:p>
            <a:br>
              <a:rPr lang="en-CA" dirty="0"/>
            </a:br>
            <a:endParaRPr lang="en-CA" dirty="0"/>
          </a:p>
          <a:p>
            <a:r>
              <a:rPr lang="en-CA" sz="1200" b="1" i="0" kern="1200" dirty="0">
                <a:solidFill>
                  <a:schemeClr val="tx1"/>
                </a:solidFill>
                <a:effectLst/>
                <a:latin typeface="+mn-lt"/>
                <a:ea typeface="+mn-ea"/>
                <a:cs typeface="+mn-cs"/>
              </a:rPr>
              <a:t>Visual suggestions</a:t>
            </a:r>
          </a:p>
          <a:p>
            <a:r>
              <a:rPr lang="en-CA" sz="1200" b="0" i="0" kern="1200" dirty="0">
                <a:solidFill>
                  <a:schemeClr val="tx1"/>
                </a:solidFill>
                <a:effectLst/>
                <a:latin typeface="+mn-lt"/>
                <a:ea typeface="+mn-ea"/>
                <a:cs typeface="+mn-cs"/>
              </a:rPr>
              <a:t>The </a:t>
            </a:r>
            <a:r>
              <a:rPr lang="en-CA" sz="1200" b="1" i="0" kern="1200" dirty="0">
                <a:solidFill>
                  <a:schemeClr val="tx1"/>
                </a:solidFill>
                <a:effectLst/>
                <a:latin typeface="+mn-lt"/>
                <a:ea typeface="+mn-ea"/>
                <a:cs typeface="+mn-cs"/>
              </a:rPr>
              <a:t>AES-NI row</a:t>
            </a:r>
            <a:r>
              <a:rPr lang="en-CA" sz="1200" b="0" i="0" kern="1200" dirty="0">
                <a:solidFill>
                  <a:schemeClr val="tx1"/>
                </a:solidFill>
                <a:effectLst/>
                <a:latin typeface="+mn-lt"/>
                <a:ea typeface="+mn-ea"/>
                <a:cs typeface="+mn-cs"/>
              </a:rPr>
              <a:t> in the table should be visually striking — green checkmark vs red X, this single difference explains the biggest result of the whole project</a:t>
            </a:r>
          </a:p>
          <a:p>
            <a:r>
              <a:rPr lang="en-CA" sz="1200" b="0" i="0" kern="1200" dirty="0">
                <a:solidFill>
                  <a:schemeClr val="tx1"/>
                </a:solidFill>
                <a:effectLst/>
                <a:latin typeface="+mn-lt"/>
                <a:ea typeface="+mn-ea"/>
                <a:cs typeface="+mn-cs"/>
              </a:rPr>
              <a:t>Put the CI95 formula in a small styled box — it signals statistical rigor without being overwhelming</a:t>
            </a:r>
          </a:p>
          <a:p>
            <a:r>
              <a:rPr lang="en-CA" sz="1200" b="0" i="0" kern="1200" dirty="0">
                <a:solidFill>
                  <a:schemeClr val="tx1"/>
                </a:solidFill>
                <a:effectLst/>
                <a:latin typeface="+mn-lt"/>
                <a:ea typeface="+mn-ea"/>
                <a:cs typeface="+mn-cs"/>
              </a:rPr>
              <a:t>If you have the CI95 convergence graph (showing the interval stabilizing around n=80-100), put it as a </a:t>
            </a:r>
            <a:r>
              <a:rPr lang="en-CA" sz="1200" b="1" i="0" kern="1200" dirty="0">
                <a:solidFill>
                  <a:schemeClr val="tx1"/>
                </a:solidFill>
                <a:effectLst/>
                <a:latin typeface="+mn-lt"/>
                <a:ea typeface="+mn-ea"/>
                <a:cs typeface="+mn-cs"/>
              </a:rPr>
              <a:t>small inset chart</a:t>
            </a:r>
            <a:r>
              <a:rPr lang="en-CA" sz="1200" b="0" i="0" kern="1200" dirty="0">
                <a:solidFill>
                  <a:schemeClr val="tx1"/>
                </a:solidFill>
                <a:effectLst/>
                <a:latin typeface="+mn-lt"/>
                <a:ea typeface="+mn-ea"/>
                <a:cs typeface="+mn-cs"/>
              </a:rPr>
              <a:t> in the bottom right corner</a:t>
            </a:r>
          </a:p>
          <a:p>
            <a:br>
              <a:rPr lang="en-CA" dirty="0"/>
            </a:br>
            <a:endParaRPr lang="en-CA" dirty="0"/>
          </a:p>
          <a:p>
            <a:r>
              <a:rPr lang="en-CA" sz="1200" b="1" i="0" kern="1200" dirty="0">
                <a:solidFill>
                  <a:schemeClr val="tx1"/>
                </a:solidFill>
                <a:effectLst/>
                <a:latin typeface="+mn-lt"/>
                <a:ea typeface="+mn-ea"/>
                <a:cs typeface="+mn-cs"/>
              </a:rPr>
              <a:t>Video 2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2</a:t>
            </a:r>
            <a:r>
              <a:rPr lang="en-CA" sz="1200" b="0" i="0" kern="1200" dirty="0">
                <a:solidFill>
                  <a:schemeClr val="tx1"/>
                </a:solidFill>
                <a:effectLst/>
                <a:latin typeface="+mn-lt"/>
                <a:ea typeface="+mn-ea"/>
                <a:cs typeface="+mn-cs"/>
              </a:rPr>
              <a:t> indicator on this slide. The video shows experiment.py actually running in the terminal, the CSV appearing, and you explaining verbally what n=100 means and how you measured the confidence interval.</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list every single message size — "64 B → 16 384 B (8 </a:t>
            </a:r>
            <a:r>
              <a:rPr lang="en-CA" sz="1200" b="0" i="0" kern="1200" dirty="0" err="1">
                <a:solidFill>
                  <a:schemeClr val="tx1"/>
                </a:solidFill>
                <a:effectLst/>
                <a:latin typeface="+mn-lt"/>
                <a:ea typeface="+mn-ea"/>
                <a:cs typeface="+mn-cs"/>
              </a:rPr>
              <a:t>paliers</a:t>
            </a:r>
            <a:r>
              <a:rPr lang="en-CA" sz="1200" b="0" i="0" kern="1200" dirty="0">
                <a:solidFill>
                  <a:schemeClr val="tx1"/>
                </a:solidFill>
                <a:effectLst/>
                <a:latin typeface="+mn-lt"/>
                <a:ea typeface="+mn-ea"/>
                <a:cs typeface="+mn-cs"/>
              </a:rPr>
              <a:t>)" is enough</a:t>
            </a:r>
          </a:p>
          <a:p>
            <a:r>
              <a:rPr lang="en-CA" sz="1200" b="0" i="0" kern="1200" dirty="0">
                <a:solidFill>
                  <a:schemeClr val="tx1"/>
                </a:solidFill>
                <a:effectLst/>
                <a:latin typeface="+mn-lt"/>
                <a:ea typeface="+mn-ea"/>
                <a:cs typeface="+mn-cs"/>
              </a:rPr>
              <a:t>Don't explain the full CI95 math on the slide — one formula, the rest is in the video</a:t>
            </a:r>
          </a:p>
          <a:p>
            <a:r>
              <a:rPr lang="en-CA" sz="1200" b="0" i="0" kern="1200" dirty="0">
                <a:solidFill>
                  <a:schemeClr val="tx1"/>
                </a:solidFill>
                <a:effectLst/>
                <a:latin typeface="+mn-lt"/>
                <a:ea typeface="+mn-ea"/>
                <a:cs typeface="+mn-cs"/>
              </a:rPr>
              <a:t>Don't put both platform photos AND the table — pick one visual anchor (the table wins)</a:t>
            </a:r>
          </a:p>
          <a:p>
            <a:br>
              <a:rPr lang="en-CA" dirty="0"/>
            </a:br>
            <a:endParaRPr lang="en-CA" dirty="0"/>
          </a:p>
          <a:p>
            <a:r>
              <a:rPr lang="en-CA" sz="1200" b="0" i="0" kern="1200" dirty="0">
                <a:solidFill>
                  <a:schemeClr val="tx1"/>
                </a:solidFill>
                <a:effectLst/>
                <a:latin typeface="+mn-lt"/>
                <a:ea typeface="+mn-ea"/>
                <a:cs typeface="+mn-cs"/>
              </a:rPr>
              <a:t>This slide answers "how did you do it" before the audience sees any results. The AES-NI row in the table is the setup for the payoff on slide 8.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4</a:t>
            </a:fld>
            <a:endParaRPr lang="en-CA"/>
          </a:p>
        </p:txBody>
      </p:sp>
    </p:spTree>
    <p:extLst>
      <p:ext uri="{BB962C8B-B14F-4D97-AF65-F5344CB8AC3E}">
        <p14:creationId xmlns:p14="http://schemas.microsoft.com/office/powerpoint/2010/main" val="699580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Visual suggestions</a:t>
            </a:r>
          </a:p>
          <a:p>
            <a:r>
              <a:rPr lang="en-CA" sz="1200" b="0" i="0" kern="1200" dirty="0">
                <a:solidFill>
                  <a:schemeClr val="tx1"/>
                </a:solidFill>
                <a:effectLst/>
                <a:latin typeface="+mn-lt"/>
                <a:ea typeface="+mn-ea"/>
                <a:cs typeface="+mn-cs"/>
              </a:rPr>
              <a:t>Color the </a:t>
            </a:r>
            <a:r>
              <a:rPr lang="en-CA" sz="1200" b="1" i="0" kern="1200" dirty="0">
                <a:solidFill>
                  <a:schemeClr val="tx1"/>
                </a:solidFill>
                <a:effectLst/>
                <a:latin typeface="+mn-lt"/>
                <a:ea typeface="+mn-ea"/>
                <a:cs typeface="+mn-cs"/>
              </a:rPr>
              <a:t>Python column green</a:t>
            </a:r>
            <a:r>
              <a:rPr lang="en-CA" sz="1200" b="0" i="0" kern="1200" dirty="0">
                <a:solidFill>
                  <a:schemeClr val="tx1"/>
                </a:solidFill>
                <a:effectLst/>
                <a:latin typeface="+mn-lt"/>
                <a:ea typeface="+mn-ea"/>
                <a:cs typeface="+mn-cs"/>
              </a:rPr>
              <a:t> — make it clear this is the justified winner</a:t>
            </a:r>
          </a:p>
          <a:p>
            <a:r>
              <a:rPr lang="en-CA" sz="1200" b="0" i="0" kern="1200" dirty="0">
                <a:solidFill>
                  <a:schemeClr val="tx1"/>
                </a:solidFill>
                <a:effectLst/>
                <a:latin typeface="+mn-lt"/>
                <a:ea typeface="+mn-ea"/>
                <a:cs typeface="+mn-cs"/>
              </a:rPr>
              <a:t>The two callout boxes should look like </a:t>
            </a:r>
            <a:r>
              <a:rPr lang="en-CA" sz="1200" b="1" i="0" kern="1200" dirty="0">
                <a:solidFill>
                  <a:schemeClr val="tx1"/>
                </a:solidFill>
                <a:effectLst/>
                <a:latin typeface="+mn-lt"/>
                <a:ea typeface="+mn-ea"/>
                <a:cs typeface="+mn-cs"/>
              </a:rPr>
              <a:t>direct responses</a:t>
            </a:r>
            <a:r>
              <a:rPr lang="en-CA" sz="1200" b="0" i="0" kern="1200" dirty="0">
                <a:solidFill>
                  <a:schemeClr val="tx1"/>
                </a:solidFill>
                <a:effectLst/>
                <a:latin typeface="+mn-lt"/>
                <a:ea typeface="+mn-ea"/>
                <a:cs typeface="+mn-cs"/>
              </a:rPr>
              <a:t> — maybe label them "Réponse au feedback prof" with a distinct color</a:t>
            </a:r>
          </a:p>
          <a:p>
            <a:r>
              <a:rPr lang="en-CA" sz="1200" b="0" i="0" kern="1200" dirty="0">
                <a:solidFill>
                  <a:schemeClr val="tx1"/>
                </a:solidFill>
                <a:effectLst/>
                <a:latin typeface="+mn-lt"/>
                <a:ea typeface="+mn-ea"/>
                <a:cs typeface="+mn-cs"/>
              </a:rPr>
              <a:t>Keep the table compact — 5 rows is the max before it gets hard to read on a slide</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No code snippets on this slide — the table makes the point</a:t>
            </a:r>
          </a:p>
          <a:p>
            <a:r>
              <a:rPr lang="en-CA" sz="1200" b="0" i="0" kern="1200" dirty="0">
                <a:solidFill>
                  <a:schemeClr val="tx1"/>
                </a:solidFill>
                <a:effectLst/>
                <a:latin typeface="+mn-lt"/>
                <a:ea typeface="+mn-ea"/>
                <a:cs typeface="+mn-cs"/>
              </a:rPr>
              <a:t>Don't over-defend Python — acknowledge C++'s advantage (raw performance), then pivot to why that's not what you were measuring</a:t>
            </a:r>
          </a:p>
          <a:p>
            <a:r>
              <a:rPr lang="en-CA" sz="1200" b="0" i="0" kern="1200" dirty="0">
                <a:solidFill>
                  <a:schemeClr val="tx1"/>
                </a:solidFill>
                <a:effectLst/>
                <a:latin typeface="+mn-lt"/>
                <a:ea typeface="+mn-ea"/>
                <a:cs typeface="+mn-cs"/>
              </a:rPr>
              <a:t>No video for this slide — it's short and self-explanatory</a:t>
            </a:r>
          </a:p>
          <a:p>
            <a:br>
              <a:rPr lang="en-CA" dirty="0"/>
            </a:br>
            <a:endParaRPr lang="en-CA" dirty="0"/>
          </a:p>
          <a:p>
            <a:r>
              <a:rPr lang="en-CA" sz="1200" b="0" i="0" kern="1200" dirty="0">
                <a:solidFill>
                  <a:schemeClr val="tx1"/>
                </a:solidFill>
                <a:effectLst/>
                <a:latin typeface="+mn-lt"/>
                <a:ea typeface="+mn-ea"/>
                <a:cs typeface="+mn-cs"/>
              </a:rPr>
              <a:t>This slide is essentially a direct conversation with the teacher's feedback — acknowledge the critique, give the reasoned answer, move on.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5</a:t>
            </a:fld>
            <a:endParaRPr lang="en-CA"/>
          </a:p>
        </p:txBody>
      </p:sp>
    </p:spTree>
    <p:extLst>
      <p:ext uri="{BB962C8B-B14F-4D97-AF65-F5344CB8AC3E}">
        <p14:creationId xmlns:p14="http://schemas.microsoft.com/office/powerpoint/2010/main" val="19083872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Visual suggestions</a:t>
            </a:r>
          </a:p>
          <a:p>
            <a:r>
              <a:rPr lang="en-CA" sz="1200" b="0" i="0" kern="1200" dirty="0">
                <a:solidFill>
                  <a:schemeClr val="tx1"/>
                </a:solidFill>
                <a:effectLst/>
                <a:latin typeface="+mn-lt"/>
                <a:ea typeface="+mn-ea"/>
                <a:cs typeface="+mn-cs"/>
              </a:rPr>
              <a:t>Every row should be </a:t>
            </a:r>
            <a:r>
              <a:rPr lang="en-CA" sz="1200" b="1" i="0" kern="1200" dirty="0">
                <a:solidFill>
                  <a:schemeClr val="tx1"/>
                </a:solidFill>
                <a:effectLst/>
                <a:latin typeface="+mn-lt"/>
                <a:ea typeface="+mn-ea"/>
                <a:cs typeface="+mn-cs"/>
              </a:rPr>
              <a:t>green with a checkmark</a:t>
            </a:r>
            <a:r>
              <a:rPr lang="en-CA" sz="1200" b="0" i="0" kern="1200" dirty="0">
                <a:solidFill>
                  <a:schemeClr val="tx1"/>
                </a:solidFill>
                <a:effectLst/>
                <a:latin typeface="+mn-lt"/>
                <a:ea typeface="+mn-ea"/>
                <a:cs typeface="+mn-cs"/>
              </a:rPr>
              <a:t> — full pass, make it visually satisfying</a:t>
            </a:r>
          </a:p>
          <a:p>
            <a:r>
              <a:rPr lang="en-CA" sz="1200" b="0" i="0" kern="1200" dirty="0">
                <a:solidFill>
                  <a:schemeClr val="tx1"/>
                </a:solidFill>
                <a:effectLst/>
                <a:latin typeface="+mn-lt"/>
                <a:ea typeface="+mn-ea"/>
                <a:cs typeface="+mn-cs"/>
              </a:rPr>
              <a:t>The NIST reference column signals academic rigor without needing explanation</a:t>
            </a:r>
          </a:p>
          <a:p>
            <a:r>
              <a:rPr lang="en-CA" sz="1200" b="0" i="0" kern="1200" dirty="0">
                <a:solidFill>
                  <a:schemeClr val="tx1"/>
                </a:solidFill>
                <a:effectLst/>
                <a:latin typeface="+mn-lt"/>
                <a:ea typeface="+mn-ea"/>
                <a:cs typeface="+mn-cs"/>
              </a:rPr>
              <a:t>The bottom statement acts as a </a:t>
            </a:r>
            <a:r>
              <a:rPr lang="en-CA" sz="1200" b="1" i="0" kern="1200" dirty="0">
                <a:solidFill>
                  <a:schemeClr val="tx1"/>
                </a:solidFill>
                <a:effectLst/>
                <a:latin typeface="+mn-lt"/>
                <a:ea typeface="+mn-ea"/>
                <a:cs typeface="+mn-cs"/>
              </a:rPr>
              <a:t>bridge to the results slides</a:t>
            </a:r>
            <a:r>
              <a:rPr lang="en-CA" sz="1200" b="0" i="0" kern="1200" dirty="0">
                <a:solidFill>
                  <a:schemeClr val="tx1"/>
                </a:solidFill>
                <a:effectLst/>
                <a:latin typeface="+mn-lt"/>
                <a:ea typeface="+mn-ea"/>
                <a:cs typeface="+mn-cs"/>
              </a:rPr>
              <a:t> — it earns the right to present performance data</a:t>
            </a:r>
          </a:p>
          <a:p>
            <a:br>
              <a:rPr lang="en-CA" dirty="0"/>
            </a:br>
            <a:endParaRPr lang="en-CA" dirty="0"/>
          </a:p>
          <a:p>
            <a:r>
              <a:rPr lang="en-CA" sz="1200" b="1" i="0" kern="1200" dirty="0">
                <a:solidFill>
                  <a:schemeClr val="tx1"/>
                </a:solidFill>
                <a:effectLst/>
                <a:latin typeface="+mn-lt"/>
                <a:ea typeface="+mn-ea"/>
                <a:cs typeface="+mn-cs"/>
              </a:rPr>
              <a:t>Video 3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3</a:t>
            </a:r>
            <a:r>
              <a:rPr lang="en-CA" sz="1200" b="0" i="0" kern="1200" dirty="0">
                <a:solidFill>
                  <a:schemeClr val="tx1"/>
                </a:solidFill>
                <a:effectLst/>
                <a:latin typeface="+mn-lt"/>
                <a:ea typeface="+mn-ea"/>
                <a:cs typeface="+mn-cs"/>
              </a:rPr>
              <a:t> on this slide. You run run_kat.py live in the terminal, the green PASS lines scroll by, and you explain what a KAT is in plain language — "I give the algorithm a known input, I check that the output matches exactly what NIST says it should be. If it doesn't match, every performance number after this is meaningless."</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explain how KAT works in detail on the slide — that's the video's job</a:t>
            </a:r>
          </a:p>
          <a:p>
            <a:r>
              <a:rPr lang="en-CA" sz="1200" b="0" i="0" kern="1200" dirty="0">
                <a:solidFill>
                  <a:schemeClr val="tx1"/>
                </a:solidFill>
                <a:effectLst/>
                <a:latin typeface="+mn-lt"/>
                <a:ea typeface="+mn-ea"/>
                <a:cs typeface="+mn-cs"/>
              </a:rPr>
              <a:t>Don't add a FAIL row "for completeness" — there are none, don't invent drama</a:t>
            </a:r>
          </a:p>
          <a:p>
            <a:r>
              <a:rPr lang="en-CA" sz="1200" b="0" i="0" kern="1200" dirty="0">
                <a:solidFill>
                  <a:schemeClr val="tx1"/>
                </a:solidFill>
                <a:effectLst/>
                <a:latin typeface="+mn-lt"/>
                <a:ea typeface="+mn-ea"/>
                <a:cs typeface="+mn-cs"/>
              </a:rPr>
              <a:t>Don't list every single test vector — the reference column is enough</a:t>
            </a:r>
          </a:p>
          <a:p>
            <a:br>
              <a:rPr lang="en-CA" dirty="0"/>
            </a:br>
            <a:endParaRPr lang="en-CA" dirty="0"/>
          </a:p>
          <a:p>
            <a:r>
              <a:rPr lang="en-CA" sz="1200" b="0" i="0" kern="1200" dirty="0">
                <a:solidFill>
                  <a:schemeClr val="tx1"/>
                </a:solidFill>
                <a:effectLst/>
                <a:latin typeface="+mn-lt"/>
                <a:ea typeface="+mn-ea"/>
                <a:cs typeface="+mn-cs"/>
              </a:rPr>
              <a:t>This slide is short but critical — it's the credibility gate. Everything after this is built on the fact that you proved correctness first.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6</a:t>
            </a:fld>
            <a:endParaRPr lang="en-CA"/>
          </a:p>
        </p:txBody>
      </p:sp>
    </p:spTree>
    <p:extLst>
      <p:ext uri="{BB962C8B-B14F-4D97-AF65-F5344CB8AC3E}">
        <p14:creationId xmlns:p14="http://schemas.microsoft.com/office/powerpoint/2010/main" val="407927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Visual suggestions</a:t>
            </a:r>
          </a:p>
          <a:p>
            <a:r>
              <a:rPr lang="en-CA" sz="1200" b="0" i="0" kern="1200" dirty="0">
                <a:solidFill>
                  <a:schemeClr val="tx1"/>
                </a:solidFill>
                <a:effectLst/>
                <a:latin typeface="+mn-lt"/>
                <a:ea typeface="+mn-ea"/>
                <a:cs typeface="+mn-cs"/>
              </a:rPr>
              <a:t>The </a:t>
            </a:r>
            <a:r>
              <a:rPr lang="en-CA" sz="1200" b="1" i="0" kern="1200" dirty="0">
                <a:solidFill>
                  <a:schemeClr val="tx1"/>
                </a:solidFill>
                <a:effectLst/>
                <a:latin typeface="+mn-lt"/>
                <a:ea typeface="+mn-ea"/>
                <a:cs typeface="+mn-cs"/>
              </a:rPr>
              <a:t>AES-NI box</a:t>
            </a:r>
            <a:r>
              <a:rPr lang="en-CA" sz="1200" b="0" i="0" kern="1200" dirty="0">
                <a:solidFill>
                  <a:schemeClr val="tx1"/>
                </a:solidFill>
                <a:effectLst/>
                <a:latin typeface="+mn-lt"/>
                <a:ea typeface="+mn-ea"/>
                <a:cs typeface="+mn-cs"/>
              </a:rPr>
              <a:t> should visually "pop" — this is the key insight that connects the theory to your results, use a bright accent color (orange or gold)</a:t>
            </a:r>
          </a:p>
          <a:p>
            <a:r>
              <a:rPr lang="en-CA" sz="1200" b="0" i="0" kern="1200" dirty="0">
                <a:solidFill>
                  <a:schemeClr val="tx1"/>
                </a:solidFill>
                <a:effectLst/>
                <a:latin typeface="+mn-lt"/>
                <a:ea typeface="+mn-ea"/>
                <a:cs typeface="+mn-cs"/>
              </a:rPr>
              <a:t>The round diagram doesn't need to show all 10 tours — one iteration with "× 10" is cleaner</a:t>
            </a:r>
          </a:p>
          <a:p>
            <a:r>
              <a:rPr lang="en-CA" sz="1200" b="0" i="0" kern="1200" dirty="0">
                <a:solidFill>
                  <a:schemeClr val="tx1"/>
                </a:solidFill>
                <a:effectLst/>
                <a:latin typeface="+mn-lt"/>
                <a:ea typeface="+mn-ea"/>
                <a:cs typeface="+mn-cs"/>
              </a:rPr>
              <a:t>Keep the left bullets </a:t>
            </a:r>
            <a:r>
              <a:rPr lang="en-CA" sz="1200" b="1" i="0" kern="1200" dirty="0">
                <a:solidFill>
                  <a:schemeClr val="tx1"/>
                </a:solidFill>
                <a:effectLst/>
                <a:latin typeface="+mn-lt"/>
                <a:ea typeface="+mn-ea"/>
                <a:cs typeface="+mn-cs"/>
              </a:rPr>
              <a:t>very short</a:t>
            </a:r>
            <a:r>
              <a:rPr lang="en-CA" sz="1200" b="0" i="0" kern="1200" dirty="0">
                <a:solidFill>
                  <a:schemeClr val="tx1"/>
                </a:solidFill>
                <a:effectLst/>
                <a:latin typeface="+mn-lt"/>
                <a:ea typeface="+mn-ea"/>
                <a:cs typeface="+mn-cs"/>
              </a:rPr>
              <a:t> — the video goes deep, the slide stays light</a:t>
            </a:r>
          </a:p>
          <a:p>
            <a:br>
              <a:rPr lang="en-CA" dirty="0"/>
            </a:br>
            <a:endParaRPr lang="en-CA" dirty="0"/>
          </a:p>
          <a:p>
            <a:r>
              <a:rPr lang="en-CA" sz="1200" b="1" i="0" kern="1200" dirty="0">
                <a:solidFill>
                  <a:schemeClr val="tx1"/>
                </a:solidFill>
                <a:effectLst/>
                <a:latin typeface="+mn-lt"/>
                <a:ea typeface="+mn-ea"/>
                <a:cs typeface="+mn-cs"/>
              </a:rPr>
              <a:t>Video 4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4</a:t>
            </a:r>
            <a:r>
              <a:rPr lang="en-CA" sz="1200" b="0" i="0" kern="1200" dirty="0">
                <a:solidFill>
                  <a:schemeClr val="tx1"/>
                </a:solidFill>
                <a:effectLst/>
                <a:latin typeface="+mn-lt"/>
                <a:ea typeface="+mn-ea"/>
                <a:cs typeface="+mn-cs"/>
              </a:rPr>
              <a:t> on this slide. This is your theory deep-dive — explain each of the 4 steps of a round in plain language, show what AES-NI actually is (a CPU instruction, not magic), and set up the "punchline" that the 5.58× gap on the next slide comes entirely from this one hardware feature.</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show the actual S-Box lookup table — too dense for a slide</a:t>
            </a:r>
          </a:p>
          <a:p>
            <a:r>
              <a:rPr lang="en-CA" sz="1200" b="0" i="0" kern="1200" dirty="0">
                <a:solidFill>
                  <a:schemeClr val="tx1"/>
                </a:solidFill>
                <a:effectLst/>
                <a:latin typeface="+mn-lt"/>
                <a:ea typeface="+mn-ea"/>
                <a:cs typeface="+mn-cs"/>
              </a:rPr>
              <a:t>Don't explain GF(2⁸) Galois field math — one sentence max ("</a:t>
            </a:r>
            <a:r>
              <a:rPr lang="en-CA" sz="1200" b="0" i="0" kern="1200" dirty="0" err="1">
                <a:solidFill>
                  <a:schemeClr val="tx1"/>
                </a:solidFill>
                <a:effectLst/>
                <a:latin typeface="+mn-lt"/>
                <a:ea typeface="+mn-ea"/>
                <a:cs typeface="+mn-cs"/>
              </a:rPr>
              <a:t>MixColumns</a:t>
            </a:r>
            <a:r>
              <a:rPr lang="en-CA" sz="1200" b="0" i="0" kern="1200" dirty="0">
                <a:solidFill>
                  <a:schemeClr val="tx1"/>
                </a:solidFill>
                <a:effectLst/>
                <a:latin typeface="+mn-lt"/>
                <a:ea typeface="+mn-ea"/>
                <a:cs typeface="+mn-cs"/>
              </a:rPr>
              <a:t> mixes bytes using field arithmetic")</a:t>
            </a:r>
          </a:p>
          <a:p>
            <a:r>
              <a:rPr lang="en-CA" sz="1200" b="0" i="0" kern="1200" dirty="0">
                <a:solidFill>
                  <a:schemeClr val="tx1"/>
                </a:solidFill>
                <a:effectLst/>
                <a:latin typeface="+mn-lt"/>
                <a:ea typeface="+mn-ea"/>
                <a:cs typeface="+mn-cs"/>
              </a:rPr>
              <a:t>Don't put the results here — that's slide 8, keep theory and data separate</a:t>
            </a:r>
          </a:p>
          <a:p>
            <a:br>
              <a:rPr lang="en-CA" dirty="0"/>
            </a:br>
            <a:endParaRPr lang="en-CA" dirty="0"/>
          </a:p>
          <a:p>
            <a:r>
              <a:rPr lang="en-CA" sz="1200" b="0" i="0" kern="1200" dirty="0">
                <a:solidFill>
                  <a:schemeClr val="tx1"/>
                </a:solidFill>
                <a:effectLst/>
                <a:latin typeface="+mn-lt"/>
                <a:ea typeface="+mn-ea"/>
                <a:cs typeface="+mn-cs"/>
              </a:rPr>
              <a:t>The AES-NI callout is the bridge between "here's how it works" and "here's why our numbers look the way they do.</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7</a:t>
            </a:fld>
            <a:endParaRPr lang="en-CA"/>
          </a:p>
        </p:txBody>
      </p:sp>
    </p:spTree>
    <p:extLst>
      <p:ext uri="{BB962C8B-B14F-4D97-AF65-F5344CB8AC3E}">
        <p14:creationId xmlns:p14="http://schemas.microsoft.com/office/powerpoint/2010/main" val="3111908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Video 5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5</a:t>
            </a:r>
            <a:r>
              <a:rPr lang="en-CA" sz="1200" b="0" i="0" kern="1200" dirty="0">
                <a:solidFill>
                  <a:schemeClr val="tx1"/>
                </a:solidFill>
                <a:effectLst/>
                <a:latin typeface="+mn-lt"/>
                <a:ea typeface="+mn-ea"/>
                <a:cs typeface="+mn-cs"/>
              </a:rPr>
              <a:t> Walk through both charts — "look at how AES dominates on x86, now look at the ratio chart — 4.1× is not a normal CPU speed difference, that's a hardware instruction doing the work." Then explain the CBC story: why is encryption 10× slower than decryption on the same algorithm?</a:t>
            </a:r>
          </a:p>
          <a:p>
            <a:br>
              <a:rPr lang="en-CA" dirty="0"/>
            </a:br>
            <a:r>
              <a:rPr lang="en-CA" sz="1200" b="1" i="0" kern="1200" dirty="0">
                <a:solidFill>
                  <a:schemeClr val="tx1"/>
                </a:solidFill>
                <a:effectLst/>
                <a:latin typeface="+mn-lt"/>
                <a:ea typeface="+mn-ea"/>
                <a:cs typeface="+mn-cs"/>
              </a:rPr>
              <a:t>Slide 8a — AES : </a:t>
            </a:r>
            <a:r>
              <a:rPr lang="en-CA" sz="1200" b="1" i="0" kern="1200" dirty="0" err="1">
                <a:solidFill>
                  <a:schemeClr val="tx1"/>
                </a:solidFill>
                <a:effectLst/>
                <a:latin typeface="+mn-lt"/>
                <a:ea typeface="+mn-ea"/>
                <a:cs typeface="+mn-cs"/>
              </a:rPr>
              <a:t>Débit</a:t>
            </a:r>
            <a:r>
              <a:rPr lang="en-CA" sz="1200" b="1" i="0" kern="1200" dirty="0">
                <a:solidFill>
                  <a:schemeClr val="tx1"/>
                </a:solidFill>
                <a:effectLst/>
                <a:latin typeface="+mn-lt"/>
                <a:ea typeface="+mn-ea"/>
                <a:cs typeface="+mn-cs"/>
              </a:rPr>
              <a:t> global (cmp1)</a:t>
            </a: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cmp1_throughput_all.png</a:t>
            </a:r>
            <a:r>
              <a:rPr lang="en-CA" sz="1200" b="0" i="0" kern="1200" dirty="0">
                <a:solidFill>
                  <a:schemeClr val="tx1"/>
                </a:solidFill>
                <a:effectLst/>
                <a:latin typeface="+mn-lt"/>
                <a:ea typeface="+mn-ea"/>
                <a:cs typeface="+mn-cs"/>
              </a:rPr>
              <a:t> — full width</a:t>
            </a:r>
          </a:p>
          <a:p>
            <a:r>
              <a:rPr lang="en-CA" sz="1200" b="1" i="0" kern="1200" dirty="0">
                <a:solidFill>
                  <a:schemeClr val="tx1"/>
                </a:solidFill>
                <a:effectLst/>
                <a:latin typeface="+mn-lt"/>
                <a:ea typeface="+mn-ea"/>
                <a:cs typeface="+mn-cs"/>
              </a:rPr>
              <a:t>3 bullet takeaways (right side or bottom strip):</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AES x86 domine tout — </a:t>
            </a:r>
            <a:r>
              <a:rPr lang="en-CA" sz="1200" b="1" i="0" kern="1200" dirty="0">
                <a:solidFill>
                  <a:schemeClr val="tx1"/>
                </a:solidFill>
                <a:effectLst/>
                <a:latin typeface="+mn-lt"/>
                <a:ea typeface="+mn-ea"/>
                <a:cs typeface="+mn-cs"/>
              </a:rPr>
              <a:t>163 MB/s</a:t>
            </a:r>
            <a:r>
              <a:rPr lang="en-CA" sz="1200" b="0" i="0" kern="1200" dirty="0">
                <a:solidFill>
                  <a:schemeClr val="tx1"/>
                </a:solidFill>
                <a:effectLst/>
                <a:latin typeface="+mn-lt"/>
                <a:ea typeface="+mn-ea"/>
                <a:cs typeface="+mn-cs"/>
              </a:rPr>
              <a:t> vs 74 MB/s sur Pi</a:t>
            </a:r>
          </a:p>
          <a:p>
            <a:r>
              <a:rPr lang="en-CA" sz="1200" b="0" i="0" kern="1200" dirty="0">
                <a:solidFill>
                  <a:schemeClr val="tx1"/>
                </a:solidFill>
                <a:effectLst/>
                <a:latin typeface="+mn-lt"/>
                <a:ea typeface="+mn-ea"/>
                <a:cs typeface="+mn-cs"/>
              </a:rPr>
              <a:t>ChaCha20 est </a:t>
            </a:r>
            <a:r>
              <a:rPr lang="en-CA" sz="1200" b="1" i="0" kern="1200" dirty="0">
                <a:solidFill>
                  <a:schemeClr val="tx1"/>
                </a:solidFill>
                <a:effectLst/>
                <a:latin typeface="+mn-lt"/>
                <a:ea typeface="+mn-ea"/>
                <a:cs typeface="+mn-cs"/>
              </a:rPr>
              <a:t>2ème</a:t>
            </a:r>
            <a:r>
              <a:rPr lang="en-CA" sz="1200" b="0" i="0" kern="1200" dirty="0">
                <a:solidFill>
                  <a:schemeClr val="tx1"/>
                </a:solidFill>
                <a:effectLst/>
                <a:latin typeface="+mn-lt"/>
                <a:ea typeface="+mn-ea"/>
                <a:cs typeface="+mn-cs"/>
              </a:rPr>
              <a:t> sur x86 malgré </a:t>
            </a:r>
            <a:r>
              <a:rPr lang="en-CA" sz="1200" b="0" i="0" kern="1200" dirty="0" err="1">
                <a:solidFill>
                  <a:schemeClr val="tx1"/>
                </a:solidFill>
                <a:effectLst/>
                <a:latin typeface="+mn-lt"/>
                <a:ea typeface="+mn-ea"/>
                <a:cs typeface="+mn-cs"/>
              </a:rPr>
              <a:t>l'absence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d'accélération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dédiée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et 3DES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queue — </a:t>
            </a:r>
            <a:r>
              <a:rPr lang="en-CA" sz="1200" b="0" i="0" kern="1200" dirty="0" err="1">
                <a:solidFill>
                  <a:schemeClr val="tx1"/>
                </a:solidFill>
                <a:effectLst/>
                <a:latin typeface="+mn-lt"/>
                <a:ea typeface="+mn-ea"/>
                <a:cs typeface="+mn-cs"/>
              </a:rPr>
              <a:t>lents</a:t>
            </a:r>
            <a:r>
              <a:rPr lang="en-CA" sz="1200" b="0" i="0" kern="1200" dirty="0">
                <a:solidFill>
                  <a:schemeClr val="tx1"/>
                </a:solidFill>
                <a:effectLst/>
                <a:latin typeface="+mn-lt"/>
                <a:ea typeface="+mn-ea"/>
                <a:cs typeface="+mn-cs"/>
              </a:rPr>
              <a:t> sur les deux </a:t>
            </a:r>
            <a:r>
              <a:rPr lang="en-CA" sz="1200" b="0" i="0" kern="1200" dirty="0" err="1">
                <a:solidFill>
                  <a:schemeClr val="tx1"/>
                </a:solidFill>
                <a:effectLst/>
                <a:latin typeface="+mn-lt"/>
                <a:ea typeface="+mn-ea"/>
                <a:cs typeface="+mn-cs"/>
              </a:rPr>
              <a:t>plateformes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callout:</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L'écart</a:t>
            </a:r>
            <a:r>
              <a:rPr lang="en-CA" sz="1200" b="0" i="0" kern="1200" dirty="0">
                <a:solidFill>
                  <a:schemeClr val="tx1"/>
                </a:solidFill>
                <a:effectLst/>
                <a:latin typeface="+mn-lt"/>
                <a:ea typeface="+mn-ea"/>
                <a:cs typeface="+mn-cs"/>
              </a:rPr>
              <a:t> AES x86/Pi </a:t>
            </a:r>
            <a:r>
              <a:rPr lang="en-CA" sz="1200" b="0" i="0" kern="1200" dirty="0" err="1">
                <a:solidFill>
                  <a:schemeClr val="tx1"/>
                </a:solidFill>
                <a:effectLst/>
                <a:latin typeface="+mn-lt"/>
                <a:ea typeface="+mn-ea"/>
                <a:cs typeface="+mn-cs"/>
              </a:rPr>
              <a:t>n'est</a:t>
            </a:r>
            <a:r>
              <a:rPr lang="en-CA" sz="1200" b="0" i="0" kern="1200" dirty="0">
                <a:solidFill>
                  <a:schemeClr val="tx1"/>
                </a:solidFill>
                <a:effectLst/>
                <a:latin typeface="+mn-lt"/>
                <a:ea typeface="+mn-ea"/>
                <a:cs typeface="+mn-cs"/>
              </a:rPr>
              <a:t> pas </a:t>
            </a:r>
            <a:r>
              <a:rPr lang="en-CA" sz="1200" b="0" i="0" kern="1200" dirty="0" err="1">
                <a:solidFill>
                  <a:schemeClr val="tx1"/>
                </a:solidFill>
                <a:effectLst/>
                <a:latin typeface="+mn-lt"/>
                <a:ea typeface="+mn-ea"/>
                <a:cs typeface="+mn-cs"/>
              </a:rPr>
              <a:t>dû</a:t>
            </a:r>
            <a:r>
              <a:rPr lang="en-CA" sz="1200" b="0" i="0" kern="1200" dirty="0">
                <a:solidFill>
                  <a:schemeClr val="tx1"/>
                </a:solidFill>
                <a:effectLst/>
                <a:latin typeface="+mn-lt"/>
                <a:ea typeface="+mn-ea"/>
                <a:cs typeface="+mn-cs"/>
              </a:rPr>
              <a:t> à la </a:t>
            </a:r>
            <a:r>
              <a:rPr lang="en-CA" sz="1200" b="0" i="0" kern="1200" dirty="0" err="1">
                <a:solidFill>
                  <a:schemeClr val="tx1"/>
                </a:solidFill>
                <a:effectLst/>
                <a:latin typeface="+mn-lt"/>
                <a:ea typeface="+mn-ea"/>
                <a:cs typeface="+mn-cs"/>
              </a:rPr>
              <a:t>vitesse</a:t>
            </a:r>
            <a:r>
              <a:rPr lang="en-CA" sz="1200" b="0" i="0" kern="1200" dirty="0">
                <a:solidFill>
                  <a:schemeClr val="tx1"/>
                </a:solidFill>
                <a:effectLst/>
                <a:latin typeface="+mn-lt"/>
                <a:ea typeface="+mn-ea"/>
                <a:cs typeface="+mn-cs"/>
              </a:rPr>
              <a:t> du CPU — </a:t>
            </a:r>
            <a:r>
              <a:rPr lang="en-CA" sz="1200" b="0" i="0" kern="1200" dirty="0" err="1">
                <a:solidFill>
                  <a:schemeClr val="tx1"/>
                </a:solidFill>
                <a:effectLst/>
                <a:latin typeface="+mn-lt"/>
                <a:ea typeface="+mn-ea"/>
                <a:cs typeface="+mn-cs"/>
              </a:rPr>
              <a:t>c'est</a:t>
            </a:r>
            <a:r>
              <a:rPr lang="en-CA" sz="1200" b="0" i="0" kern="1200" dirty="0">
                <a:solidFill>
                  <a:schemeClr val="tx1"/>
                </a:solidFill>
                <a:effectLst/>
                <a:latin typeface="+mn-lt"/>
                <a:ea typeface="+mn-ea"/>
                <a:cs typeface="+mn-cs"/>
              </a:rPr>
              <a:t> AES-NI. (slide </a:t>
            </a:r>
            <a:r>
              <a:rPr lang="en-CA" sz="1200" b="0" i="0" kern="1200" dirty="0" err="1">
                <a:solidFill>
                  <a:schemeClr val="tx1"/>
                </a:solidFill>
                <a:effectLst/>
                <a:latin typeface="+mn-lt"/>
                <a:ea typeface="+mn-ea"/>
                <a:cs typeface="+mn-cs"/>
              </a:rPr>
              <a:t>suivant</a:t>
            </a:r>
            <a:r>
              <a:rPr lang="en-CA" sz="1200" b="0" i="0" kern="1200" dirty="0">
                <a:solidFill>
                  <a:schemeClr val="tx1"/>
                </a:solidFill>
                <a:effectLst/>
                <a:latin typeface="+mn-lt"/>
                <a:ea typeface="+mn-ea"/>
                <a:cs typeface="+mn-cs"/>
              </a:rPr>
              <a:t>)</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8</a:t>
            </a:fld>
            <a:endParaRPr lang="en-CA"/>
          </a:p>
        </p:txBody>
      </p:sp>
    </p:spTree>
    <p:extLst>
      <p:ext uri="{BB962C8B-B14F-4D97-AF65-F5344CB8AC3E}">
        <p14:creationId xmlns:p14="http://schemas.microsoft.com/office/powerpoint/2010/main" val="1173712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3B476-358F-B3A6-CCB2-05B21967F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FE83D7-85C7-87FC-6163-CAB02486E4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564A86-DE5A-DC00-9B1D-D813A8FA3C4D}"/>
              </a:ext>
            </a:extLst>
          </p:cNvPr>
          <p:cNvSpPr>
            <a:spLocks noGrp="1"/>
          </p:cNvSpPr>
          <p:nvPr>
            <p:ph type="body" idx="1"/>
          </p:nvPr>
        </p:nvSpPr>
        <p:spPr/>
        <p:txBody>
          <a:bodyPr/>
          <a:lstStyle/>
          <a:p>
            <a:r>
              <a:rPr lang="en-CA" sz="1200" b="1" i="0" kern="1200" dirty="0">
                <a:solidFill>
                  <a:schemeClr val="tx1"/>
                </a:solidFill>
                <a:effectLst/>
                <a:latin typeface="+mn-lt"/>
                <a:ea typeface="+mn-ea"/>
                <a:cs typeface="+mn-cs"/>
              </a:rPr>
              <a:t>Slide 8b — AES : </a:t>
            </a:r>
            <a:r>
              <a:rPr lang="en-CA" sz="1200" b="1" i="0" kern="1200" dirty="0" err="1">
                <a:solidFill>
                  <a:schemeClr val="tx1"/>
                </a:solidFill>
                <a:effectLst/>
                <a:latin typeface="+mn-lt"/>
                <a:ea typeface="+mn-ea"/>
                <a:cs typeface="+mn-cs"/>
              </a:rPr>
              <a:t>L'écart</a:t>
            </a:r>
            <a:r>
              <a:rPr lang="en-CA" sz="1200" b="1" i="0" kern="1200" dirty="0">
                <a:solidFill>
                  <a:schemeClr val="tx1"/>
                </a:solidFill>
                <a:effectLst/>
                <a:latin typeface="+mn-lt"/>
                <a:ea typeface="+mn-ea"/>
                <a:cs typeface="+mn-cs"/>
              </a:rPr>
              <a:t> x86/Pi </a:t>
            </a:r>
            <a:r>
              <a:rPr lang="en-CA" sz="1200" b="1" i="0" kern="1200" dirty="0" err="1">
                <a:solidFill>
                  <a:schemeClr val="tx1"/>
                </a:solidFill>
                <a:effectLst/>
                <a:latin typeface="+mn-lt"/>
                <a:ea typeface="+mn-ea"/>
                <a:cs typeface="+mn-cs"/>
              </a:rPr>
              <a:t>expliqué</a:t>
            </a:r>
            <a:r>
              <a:rPr lang="en-CA" sz="1200" b="1" i="0" kern="1200" dirty="0">
                <a:solidFill>
                  <a:schemeClr val="tx1"/>
                </a:solidFill>
                <a:effectLst/>
                <a:latin typeface="+mn-lt"/>
                <a:ea typeface="+mn-ea"/>
                <a:cs typeface="+mn-cs"/>
              </a:rPr>
              <a:t> (cmp2)</a:t>
            </a: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cmp2_speedup_ratio.png</a:t>
            </a:r>
            <a:r>
              <a:rPr lang="en-CA" sz="1200" b="0" i="0" kern="1200" dirty="0">
                <a:solidFill>
                  <a:schemeClr val="tx1"/>
                </a:solidFill>
                <a:effectLst/>
                <a:latin typeface="+mn-lt"/>
                <a:ea typeface="+mn-ea"/>
                <a:cs typeface="+mn-cs"/>
              </a:rPr>
              <a:t> — full width</a:t>
            </a:r>
          </a:p>
          <a:p>
            <a:r>
              <a:rPr lang="en-CA" sz="1200" b="1" i="0" kern="1200" dirty="0">
                <a:solidFill>
                  <a:schemeClr val="tx1"/>
                </a:solidFill>
                <a:effectLst/>
                <a:latin typeface="+mn-lt"/>
                <a:ea typeface="+mn-ea"/>
                <a:cs typeface="+mn-cs"/>
              </a:rPr>
              <a:t>3 bullet takeaways: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AES = ratio </a:t>
            </a:r>
            <a:r>
              <a:rPr lang="en-CA" sz="1200" b="1" i="0" kern="1200" dirty="0">
                <a:solidFill>
                  <a:schemeClr val="tx1"/>
                </a:solidFill>
                <a:effectLst/>
                <a:latin typeface="+mn-lt"/>
                <a:ea typeface="+mn-ea"/>
                <a:cs typeface="+mn-cs"/>
              </a:rPr>
              <a:t>4.1×</a:t>
            </a:r>
            <a:r>
              <a:rPr lang="en-CA" sz="1200" b="0" i="0" kern="1200" dirty="0">
                <a:solidFill>
                  <a:schemeClr val="tx1"/>
                </a:solidFill>
                <a:effectLst/>
                <a:latin typeface="+mn-lt"/>
                <a:ea typeface="+mn-ea"/>
                <a:cs typeface="+mn-cs"/>
              </a:rPr>
              <a:t> — le plus grand </a:t>
            </a:r>
            <a:r>
              <a:rPr lang="en-CA" sz="1200" b="0" i="0" kern="1200" dirty="0" err="1">
                <a:solidFill>
                  <a:schemeClr val="tx1"/>
                </a:solidFill>
                <a:effectLst/>
                <a:latin typeface="+mn-lt"/>
                <a:ea typeface="+mn-ea"/>
                <a:cs typeface="+mn-cs"/>
              </a:rPr>
              <a:t>écart</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tous</a:t>
            </a:r>
            <a:r>
              <a:rPr lang="en-CA" sz="1200" b="0" i="0" kern="1200" dirty="0">
                <a:solidFill>
                  <a:schemeClr val="tx1"/>
                </a:solidFill>
                <a:effectLst/>
                <a:latin typeface="+mn-lt"/>
                <a:ea typeface="+mn-ea"/>
                <a:cs typeface="+mn-cs"/>
              </a:rPr>
              <a:t> les </a:t>
            </a:r>
            <a:r>
              <a:rPr lang="en-CA" sz="1200" b="0" i="0" kern="1200" dirty="0" err="1">
                <a:solidFill>
                  <a:schemeClr val="tx1"/>
                </a:solidFill>
                <a:effectLst/>
                <a:latin typeface="+mn-lt"/>
                <a:ea typeface="+mn-ea"/>
                <a:cs typeface="+mn-cs"/>
              </a:rPr>
              <a:t>algorithmes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ChaCha20 = ratio </a:t>
            </a:r>
            <a:r>
              <a:rPr lang="en-CA" sz="1200" b="1" i="0" kern="1200" dirty="0">
                <a:solidFill>
                  <a:schemeClr val="tx1"/>
                </a:solidFill>
                <a:effectLst/>
                <a:latin typeface="+mn-lt"/>
                <a:ea typeface="+mn-ea"/>
                <a:cs typeface="+mn-cs"/>
              </a:rPr>
              <a:t>1.6×</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presque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équitable</a:t>
            </a:r>
            <a:r>
              <a:rPr lang="en-CA" sz="1200" b="0" i="0" kern="1200" dirty="0">
                <a:solidFill>
                  <a:schemeClr val="tx1"/>
                </a:solidFill>
                <a:effectLst/>
                <a:latin typeface="+mn-lt"/>
                <a:ea typeface="+mn-ea"/>
                <a:cs typeface="+mn-cs"/>
              </a:rPr>
              <a:t> entre </a:t>
            </a:r>
            <a:r>
              <a:rPr lang="en-CA" sz="1200" b="0" i="0" kern="1200" dirty="0" err="1">
                <a:solidFill>
                  <a:schemeClr val="tx1"/>
                </a:solidFill>
                <a:effectLst/>
                <a:latin typeface="+mn-lt"/>
                <a:ea typeface="+mn-ea"/>
                <a:cs typeface="+mn-cs"/>
              </a:rPr>
              <a:t>plateformes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3DES = ratio </a:t>
            </a:r>
            <a:r>
              <a:rPr lang="en-CA" sz="1200" b="1" i="0" kern="1200" dirty="0">
                <a:solidFill>
                  <a:schemeClr val="tx1"/>
                </a:solidFill>
                <a:effectLst/>
                <a:latin typeface="+mn-lt"/>
                <a:ea typeface="+mn-ea"/>
                <a:cs typeface="+mn-cs"/>
              </a:rPr>
              <a:t>1.27×</a:t>
            </a:r>
            <a:r>
              <a:rPr lang="en-CA" sz="1200" b="0" i="0" kern="1200" dirty="0">
                <a:solidFill>
                  <a:schemeClr val="tx1"/>
                </a:solidFill>
                <a:effectLst/>
                <a:latin typeface="+mn-lt"/>
                <a:ea typeface="+mn-ea"/>
                <a:cs typeface="+mn-cs"/>
              </a:rPr>
              <a:t> — lent </a:t>
            </a:r>
            <a:r>
              <a:rPr lang="en-CA" sz="1200" b="0" i="0" kern="1200" dirty="0" err="1">
                <a:solidFill>
                  <a:schemeClr val="tx1"/>
                </a:solidFill>
                <a:effectLst/>
                <a:latin typeface="+mn-lt"/>
                <a:ea typeface="+mn-ea"/>
                <a:cs typeface="+mn-cs"/>
              </a:rPr>
              <a:t>partout</a:t>
            </a:r>
            <a:r>
              <a:rPr lang="en-CA" sz="1200" b="0" i="0" kern="1200" dirty="0">
                <a:solidFill>
                  <a:schemeClr val="tx1"/>
                </a:solidFill>
                <a:effectLst/>
                <a:latin typeface="+mn-lt"/>
                <a:ea typeface="+mn-ea"/>
                <a:cs typeface="+mn-cs"/>
              </a:rPr>
              <a:t>, rien à </a:t>
            </a:r>
            <a:r>
              <a:rPr lang="en-CA" sz="1200" b="0" i="0" kern="1200" dirty="0" err="1">
                <a:solidFill>
                  <a:schemeClr val="tx1"/>
                </a:solidFill>
                <a:effectLst/>
                <a:latin typeface="+mn-lt"/>
                <a:ea typeface="+mn-ea"/>
                <a:cs typeface="+mn-cs"/>
              </a:rPr>
              <a:t>accélérer</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callout (highlighted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AES-NI sur x86 = 1 tour </a:t>
            </a:r>
            <a:r>
              <a:rPr lang="en-CA" sz="1200" b="0" i="0" kern="1200" dirty="0" err="1">
                <a:solidFill>
                  <a:schemeClr val="tx1"/>
                </a:solidFill>
                <a:effectLst/>
                <a:latin typeface="+mn-lt"/>
                <a:ea typeface="+mn-ea"/>
                <a:cs typeface="+mn-cs"/>
              </a:rPr>
              <a:t>complet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1 cycle CPU. Sans </a:t>
            </a:r>
            <a:r>
              <a:rPr lang="en-CA" sz="1200" b="0" i="0" kern="1200" dirty="0" err="1">
                <a:solidFill>
                  <a:schemeClr val="tx1"/>
                </a:solidFill>
                <a:effectLst/>
                <a:latin typeface="+mn-lt"/>
                <a:ea typeface="+mn-ea"/>
                <a:cs typeface="+mn-cs"/>
              </a:rPr>
              <a:t>ça</a:t>
            </a:r>
            <a:r>
              <a:rPr lang="en-CA" sz="1200" b="0" i="0" kern="1200" dirty="0">
                <a:solidFill>
                  <a:schemeClr val="tx1"/>
                </a:solidFill>
                <a:effectLst/>
                <a:latin typeface="+mn-lt"/>
                <a:ea typeface="+mn-ea"/>
                <a:cs typeface="+mn-cs"/>
              </a:rPr>
              <a:t>, le Pi fait le </a:t>
            </a:r>
            <a:r>
              <a:rPr lang="en-CA" sz="1200" b="0" i="0" kern="1200" dirty="0" err="1">
                <a:solidFill>
                  <a:schemeClr val="tx1"/>
                </a:solidFill>
                <a:effectLst/>
                <a:latin typeface="+mn-lt"/>
                <a:ea typeface="+mn-ea"/>
                <a:cs typeface="+mn-cs"/>
              </a:rPr>
              <a:t>même</a:t>
            </a:r>
            <a:r>
              <a:rPr lang="en-CA" sz="1200" b="0" i="0" kern="1200" dirty="0">
                <a:solidFill>
                  <a:schemeClr val="tx1"/>
                </a:solidFill>
                <a:effectLst/>
                <a:latin typeface="+mn-lt"/>
                <a:ea typeface="+mn-ea"/>
                <a:cs typeface="+mn-cs"/>
              </a:rPr>
              <a:t> travail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logiciel</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pur</a:t>
            </a:r>
            <a:r>
              <a:rPr lang="en-CA" sz="1200" b="0" i="0" kern="1200" dirty="0">
                <a:solidFill>
                  <a:schemeClr val="tx1"/>
                </a:solidFill>
                <a:effectLst/>
                <a:latin typeface="+mn-lt"/>
                <a:ea typeface="+mn-ea"/>
                <a:cs typeface="+mn-cs"/>
              </a:rPr>
              <a:t> → 4× plus lent.</a:t>
            </a:r>
          </a:p>
          <a:p>
            <a:br>
              <a:rPr lang="en-CA" dirty="0"/>
            </a:br>
            <a:endParaRPr lang="en-CA" dirty="0"/>
          </a:p>
        </p:txBody>
      </p:sp>
      <p:sp>
        <p:nvSpPr>
          <p:cNvPr id="4" name="Slide Number Placeholder 3">
            <a:extLst>
              <a:ext uri="{FF2B5EF4-FFF2-40B4-BE49-F238E27FC236}">
                <a16:creationId xmlns:a16="http://schemas.microsoft.com/office/drawing/2014/main" id="{82C30156-C45A-C658-7DD1-7D0445F2F29A}"/>
              </a:ext>
            </a:extLst>
          </p:cNvPr>
          <p:cNvSpPr>
            <a:spLocks noGrp="1"/>
          </p:cNvSpPr>
          <p:nvPr>
            <p:ph type="sldNum" sz="quarter" idx="5"/>
          </p:nvPr>
        </p:nvSpPr>
        <p:spPr/>
        <p:txBody>
          <a:bodyPr/>
          <a:lstStyle/>
          <a:p>
            <a:fld id="{E469AAED-48F1-4EF1-BEB3-28F1C704C21F}" type="slidenum">
              <a:rPr lang="en-CA" smtClean="0"/>
              <a:t>9</a:t>
            </a:fld>
            <a:endParaRPr lang="en-CA"/>
          </a:p>
        </p:txBody>
      </p:sp>
    </p:spTree>
    <p:extLst>
      <p:ext uri="{BB962C8B-B14F-4D97-AF65-F5344CB8AC3E}">
        <p14:creationId xmlns:p14="http://schemas.microsoft.com/office/powerpoint/2010/main" val="8377913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D62F4-F328-3341-CC8C-5FCEA201C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E03EC5-325D-19AD-903F-527F812D6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E3ABAE-E4F7-FC9E-7DAA-4C2C78969870}"/>
              </a:ext>
            </a:extLst>
          </p:cNvPr>
          <p:cNvSpPr>
            <a:spLocks noGrp="1"/>
          </p:cNvSpPr>
          <p:nvPr>
            <p:ph type="body" idx="1"/>
          </p:nvPr>
        </p:nvSpPr>
        <p:spPr/>
        <p:txBody>
          <a:bodyPr/>
          <a:lstStyle/>
          <a:p>
            <a:r>
              <a:rPr lang="en-CA" sz="1200" b="1" i="0" kern="1200" dirty="0">
                <a:solidFill>
                  <a:schemeClr val="tx1"/>
                </a:solidFill>
                <a:effectLst/>
                <a:latin typeface="+mn-lt"/>
                <a:ea typeface="+mn-ea"/>
                <a:cs typeface="+mn-cs"/>
              </a:rPr>
              <a:t>Slide 8c — AES : Le </a:t>
            </a:r>
            <a:r>
              <a:rPr lang="en-CA" sz="1200" b="1" i="0" kern="1200" dirty="0" err="1">
                <a:solidFill>
                  <a:schemeClr val="tx1"/>
                </a:solidFill>
                <a:effectLst/>
                <a:latin typeface="+mn-lt"/>
                <a:ea typeface="+mn-ea"/>
                <a:cs typeface="+mn-cs"/>
              </a:rPr>
              <a:t>piège</a:t>
            </a:r>
            <a:r>
              <a:rPr lang="en-CA" sz="1200" b="1" i="0" kern="1200" dirty="0">
                <a:solidFill>
                  <a:schemeClr val="tx1"/>
                </a:solidFill>
                <a:effectLst/>
                <a:latin typeface="+mn-lt"/>
                <a:ea typeface="+mn-ea"/>
                <a:cs typeface="+mn-cs"/>
              </a:rPr>
              <a:t> des modes (fig3)</a:t>
            </a: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fig3_aes_mode_comparison.png</a:t>
            </a:r>
            <a:r>
              <a:rPr lang="en-CA" sz="1200" b="0" i="0" kern="1200" dirty="0">
                <a:solidFill>
                  <a:schemeClr val="tx1"/>
                </a:solidFill>
                <a:effectLst/>
                <a:latin typeface="+mn-lt"/>
                <a:ea typeface="+mn-ea"/>
                <a:cs typeface="+mn-cs"/>
              </a:rPr>
              <a:t> — full width</a:t>
            </a:r>
          </a:p>
          <a:p>
            <a:r>
              <a:rPr lang="en-CA" sz="1200" b="1" i="0" kern="1200" dirty="0">
                <a:solidFill>
                  <a:schemeClr val="tx1"/>
                </a:solidFill>
                <a:effectLst/>
                <a:latin typeface="+mn-lt"/>
                <a:ea typeface="+mn-ea"/>
                <a:cs typeface="+mn-cs"/>
              </a:rPr>
              <a:t>3 bullet takeaways: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ECB = 162 MB/s </a:t>
            </a:r>
            <a:r>
              <a:rPr lang="en-CA" sz="1200" b="0" i="0" kern="1200" dirty="0" err="1">
                <a:solidFill>
                  <a:schemeClr val="tx1"/>
                </a:solidFill>
                <a:effectLst/>
                <a:latin typeface="+mn-lt"/>
                <a:ea typeface="+mn-ea"/>
                <a:cs typeface="+mn-cs"/>
              </a:rPr>
              <a:t>mais</a:t>
            </a:r>
            <a:r>
              <a:rPr lang="en-CA" sz="1200" b="0"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cryptographiquement</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cassé</a:t>
            </a:r>
            <a:r>
              <a:rPr lang="en-CA" sz="1200" b="0" i="0" kern="1200" dirty="0">
                <a:solidFill>
                  <a:schemeClr val="tx1"/>
                </a:solidFill>
                <a:effectLst/>
                <a:latin typeface="+mn-lt"/>
                <a:ea typeface="+mn-ea"/>
                <a:cs typeface="+mn-cs"/>
              </a:rPr>
              <a:t> (slide 12)</a:t>
            </a:r>
          </a:p>
          <a:p>
            <a:r>
              <a:rPr lang="en-CA" sz="1200" b="0" i="0" kern="1200" dirty="0">
                <a:solidFill>
                  <a:schemeClr val="tx1"/>
                </a:solidFill>
                <a:effectLst/>
                <a:latin typeface="+mn-lt"/>
                <a:ea typeface="+mn-ea"/>
                <a:cs typeface="+mn-cs"/>
              </a:rPr>
              <a:t>GCM = </a:t>
            </a:r>
            <a:r>
              <a:rPr lang="en-CA" sz="1200" b="0" i="0" kern="1200" dirty="0" err="1">
                <a:solidFill>
                  <a:schemeClr val="tx1"/>
                </a:solidFill>
                <a:effectLst/>
                <a:latin typeface="+mn-lt"/>
                <a:ea typeface="+mn-ea"/>
                <a:cs typeface="+mn-cs"/>
              </a:rPr>
              <a:t>recommandation</a:t>
            </a:r>
            <a:r>
              <a:rPr lang="en-CA" sz="1200" b="0" i="0" kern="1200" dirty="0">
                <a:solidFill>
                  <a:schemeClr val="tx1"/>
                </a:solidFill>
                <a:effectLst/>
                <a:latin typeface="+mn-lt"/>
                <a:ea typeface="+mn-ea"/>
                <a:cs typeface="+mn-cs"/>
              </a:rPr>
              <a:t> 2026 — </a:t>
            </a:r>
            <a:r>
              <a:rPr lang="en-CA" sz="1200" b="0" i="0" kern="1200" dirty="0" err="1">
                <a:solidFill>
                  <a:schemeClr val="tx1"/>
                </a:solidFill>
                <a:effectLst/>
                <a:latin typeface="+mn-lt"/>
                <a:ea typeface="+mn-ea"/>
                <a:cs typeface="+mn-cs"/>
              </a:rPr>
              <a:t>confidentialité</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authentification</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CBC </a:t>
            </a:r>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 </a:t>
            </a:r>
            <a:r>
              <a:rPr lang="en-CA" sz="1200" b="1" i="0" kern="1200" dirty="0">
                <a:solidFill>
                  <a:schemeClr val="tx1"/>
                </a:solidFill>
                <a:effectLst/>
                <a:latin typeface="+mn-lt"/>
                <a:ea typeface="+mn-ea"/>
                <a:cs typeface="+mn-cs"/>
              </a:rPr>
              <a:t>0.73 MB/s</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séquentiel</a:t>
            </a:r>
            <a:r>
              <a:rPr lang="en-CA" sz="1200" b="0" i="0" kern="1200" dirty="0">
                <a:solidFill>
                  <a:schemeClr val="tx1"/>
                </a:solidFill>
                <a:effectLst/>
                <a:latin typeface="+mn-lt"/>
                <a:ea typeface="+mn-ea"/>
                <a:cs typeface="+mn-cs"/>
              </a:rPr>
              <a:t>, non </a:t>
            </a:r>
            <a:r>
              <a:rPr lang="en-CA" sz="1200" b="0" i="0" kern="1200" dirty="0" err="1">
                <a:solidFill>
                  <a:schemeClr val="tx1"/>
                </a:solidFill>
                <a:effectLst/>
                <a:latin typeface="+mn-lt"/>
                <a:ea typeface="+mn-ea"/>
                <a:cs typeface="+mn-cs"/>
              </a:rPr>
              <a:t>parallélisable</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callout (red/warning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CBC est </a:t>
            </a:r>
            <a:r>
              <a:rPr lang="en-CA" sz="1200" b="1" i="0" kern="1200" dirty="0">
                <a:solidFill>
                  <a:schemeClr val="tx1"/>
                </a:solidFill>
                <a:effectLst/>
                <a:latin typeface="+mn-lt"/>
                <a:ea typeface="+mn-ea"/>
                <a:cs typeface="+mn-cs"/>
              </a:rPr>
              <a:t>223× plus lent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qu'ECB</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Pression de performance → </a:t>
            </a:r>
            <a:r>
              <a:rPr lang="en-CA" sz="1200" b="0" i="0" kern="1200" dirty="0" err="1">
                <a:solidFill>
                  <a:schemeClr val="tx1"/>
                </a:solidFill>
                <a:effectLst/>
                <a:latin typeface="+mn-lt"/>
                <a:ea typeface="+mn-ea"/>
                <a:cs typeface="+mn-cs"/>
              </a:rPr>
              <a:t>risque</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régressions</a:t>
            </a:r>
            <a:r>
              <a:rPr lang="en-CA" sz="1200" b="0" i="0" kern="1200" dirty="0">
                <a:solidFill>
                  <a:schemeClr val="tx1"/>
                </a:solidFill>
                <a:effectLst/>
                <a:latin typeface="+mn-lt"/>
                <a:ea typeface="+mn-ea"/>
                <a:cs typeface="+mn-cs"/>
              </a:rPr>
              <a:t> de sécurité chez les </a:t>
            </a:r>
            <a:r>
              <a:rPr lang="en-CA" sz="1200" b="0" i="0" kern="1200" dirty="0" err="1">
                <a:solidFill>
                  <a:schemeClr val="tx1"/>
                </a:solidFill>
                <a:effectLst/>
                <a:latin typeface="+mn-lt"/>
                <a:ea typeface="+mn-ea"/>
                <a:cs typeface="+mn-cs"/>
              </a:rPr>
              <a:t>développeurs</a:t>
            </a:r>
            <a:r>
              <a:rPr lang="en-CA" sz="1200" b="0" i="0" kern="1200" dirty="0">
                <a:solidFill>
                  <a:schemeClr val="tx1"/>
                </a:solidFill>
                <a:effectLst/>
                <a:latin typeface="+mn-lt"/>
                <a:ea typeface="+mn-ea"/>
                <a:cs typeface="+mn-cs"/>
              </a:rPr>
              <a:t> non </a:t>
            </a:r>
            <a:r>
              <a:rPr lang="en-CA" sz="1200" b="0" i="0" kern="1200" dirty="0" err="1">
                <a:solidFill>
                  <a:schemeClr val="tx1"/>
                </a:solidFill>
                <a:effectLst/>
                <a:latin typeface="+mn-lt"/>
                <a:ea typeface="+mn-ea"/>
                <a:cs typeface="+mn-cs"/>
              </a:rPr>
              <a:t>avertis</a:t>
            </a:r>
            <a:r>
              <a:rPr lang="en-CA" sz="1200" b="0" i="0" kern="1200" dirty="0">
                <a:solidFill>
                  <a:schemeClr val="tx1"/>
                </a:solidFill>
                <a:effectLst/>
                <a:latin typeface="+mn-lt"/>
                <a:ea typeface="+mn-ea"/>
                <a:cs typeface="+mn-cs"/>
              </a:rPr>
              <a:t>.</a:t>
            </a:r>
          </a:p>
          <a:p>
            <a:endParaRPr lang="en-CA" dirty="0"/>
          </a:p>
        </p:txBody>
      </p:sp>
      <p:sp>
        <p:nvSpPr>
          <p:cNvPr id="4" name="Slide Number Placeholder 3">
            <a:extLst>
              <a:ext uri="{FF2B5EF4-FFF2-40B4-BE49-F238E27FC236}">
                <a16:creationId xmlns:a16="http://schemas.microsoft.com/office/drawing/2014/main" id="{CF5B8570-89A6-E374-DCC4-B692116B62D2}"/>
              </a:ext>
            </a:extLst>
          </p:cNvPr>
          <p:cNvSpPr>
            <a:spLocks noGrp="1"/>
          </p:cNvSpPr>
          <p:nvPr>
            <p:ph type="sldNum" sz="quarter" idx="5"/>
          </p:nvPr>
        </p:nvSpPr>
        <p:spPr/>
        <p:txBody>
          <a:bodyPr/>
          <a:lstStyle/>
          <a:p>
            <a:fld id="{E469AAED-48F1-4EF1-BEB3-28F1C704C21F}" type="slidenum">
              <a:rPr lang="en-CA" smtClean="0"/>
              <a:t>10</a:t>
            </a:fld>
            <a:endParaRPr lang="en-CA"/>
          </a:p>
        </p:txBody>
      </p:sp>
    </p:spTree>
    <p:extLst>
      <p:ext uri="{BB962C8B-B14F-4D97-AF65-F5344CB8AC3E}">
        <p14:creationId xmlns:p14="http://schemas.microsoft.com/office/powerpoint/2010/main" val="4236202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9 — ChaCha20 : Comment </a:t>
            </a:r>
            <a:r>
              <a:rPr lang="en-CA" sz="1200" b="1" i="0" kern="1200" dirty="0" err="1">
                <a:solidFill>
                  <a:schemeClr val="tx1"/>
                </a:solidFill>
                <a:effectLst/>
                <a:latin typeface="+mn-lt"/>
                <a:ea typeface="+mn-ea"/>
                <a:cs typeface="+mn-cs"/>
              </a:rPr>
              <a:t>ça</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marche</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ChaCha20 — </a:t>
            </a:r>
            <a:r>
              <a:rPr lang="en-CA" sz="1200" b="0" i="0" kern="1200" dirty="0" err="1">
                <a:solidFill>
                  <a:schemeClr val="tx1"/>
                </a:solidFill>
                <a:effectLst/>
                <a:latin typeface="+mn-lt"/>
                <a:ea typeface="+mn-ea"/>
                <a:cs typeface="+mn-cs"/>
              </a:rPr>
              <a:t>Conçu</a:t>
            </a:r>
            <a:r>
              <a:rPr lang="en-CA" sz="1200" b="0" i="0" kern="1200" dirty="0">
                <a:solidFill>
                  <a:schemeClr val="tx1"/>
                </a:solidFill>
                <a:effectLst/>
                <a:latin typeface="+mn-lt"/>
                <a:ea typeface="+mn-ea"/>
                <a:cs typeface="+mn-cs"/>
              </a:rPr>
              <a:t> pour le </a:t>
            </a:r>
            <a:r>
              <a:rPr lang="en-CA" sz="1200" b="0" i="0" kern="1200" dirty="0" err="1">
                <a:solidFill>
                  <a:schemeClr val="tx1"/>
                </a:solidFill>
                <a:effectLst/>
                <a:latin typeface="+mn-lt"/>
                <a:ea typeface="+mn-ea"/>
                <a:cs typeface="+mn-cs"/>
              </a:rPr>
              <a:t>logiciel</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pur</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Left side — 4 key facts (bullets):</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de </a:t>
            </a:r>
            <a:r>
              <a:rPr lang="en-CA" sz="1200" b="1" i="0" kern="1200" dirty="0">
                <a:solidFill>
                  <a:schemeClr val="tx1"/>
                </a:solidFill>
                <a:effectLst/>
                <a:latin typeface="+mn-lt"/>
                <a:ea typeface="+mn-ea"/>
                <a:cs typeface="+mn-cs"/>
              </a:rPr>
              <a:t>flux</a:t>
            </a:r>
            <a:r>
              <a:rPr lang="en-CA" sz="1200" b="0" i="0" kern="1200" dirty="0">
                <a:solidFill>
                  <a:schemeClr val="tx1"/>
                </a:solidFill>
                <a:effectLst/>
                <a:latin typeface="+mn-lt"/>
                <a:ea typeface="+mn-ea"/>
                <a:cs typeface="+mn-cs"/>
              </a:rPr>
              <a:t> (stream cipher) — pas de blocs</a:t>
            </a:r>
          </a:p>
          <a:p>
            <a:r>
              <a:rPr lang="en-CA" sz="1200" b="0" i="0" kern="1200" dirty="0">
                <a:solidFill>
                  <a:schemeClr val="tx1"/>
                </a:solidFill>
                <a:effectLst/>
                <a:latin typeface="+mn-lt"/>
                <a:ea typeface="+mn-ea"/>
                <a:cs typeface="+mn-cs"/>
              </a:rPr>
              <a:t>Clé : </a:t>
            </a:r>
            <a:r>
              <a:rPr lang="en-CA" sz="1200" b="1" i="0" kern="1200" dirty="0">
                <a:solidFill>
                  <a:schemeClr val="tx1"/>
                </a:solidFill>
                <a:effectLst/>
                <a:latin typeface="+mn-lt"/>
                <a:ea typeface="+mn-ea"/>
                <a:cs typeface="+mn-cs"/>
              </a:rPr>
              <a:t>256 bits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uniquement</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Repose sur des </a:t>
            </a:r>
            <a:r>
              <a:rPr lang="en-CA" sz="1200" b="0" i="0" kern="1200" dirty="0" err="1">
                <a:solidFill>
                  <a:schemeClr val="tx1"/>
                </a:solidFill>
                <a:effectLst/>
                <a:latin typeface="+mn-lt"/>
                <a:ea typeface="+mn-ea"/>
                <a:cs typeface="+mn-cs"/>
              </a:rPr>
              <a:t>opérations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ARX</a:t>
            </a:r>
            <a:r>
              <a:rPr lang="en-CA" sz="1200" b="0" i="0" kern="1200" dirty="0">
                <a:solidFill>
                  <a:schemeClr val="tx1"/>
                </a:solidFill>
                <a:effectLst/>
                <a:latin typeface="+mn-lt"/>
                <a:ea typeface="+mn-ea"/>
                <a:cs typeface="+mn-cs"/>
              </a:rPr>
              <a:t> : Addition, Rotation, XOR</a:t>
            </a:r>
          </a:p>
          <a:p>
            <a:r>
              <a:rPr lang="en-CA" sz="1200" b="0" i="0" kern="1200" dirty="0" err="1">
                <a:solidFill>
                  <a:schemeClr val="tx1"/>
                </a:solidFill>
                <a:effectLst/>
                <a:latin typeface="+mn-lt"/>
                <a:ea typeface="+mn-ea"/>
                <a:cs typeface="+mn-cs"/>
              </a:rPr>
              <a:t>Conçu</a:t>
            </a:r>
            <a:r>
              <a:rPr lang="en-CA" sz="1200" b="0" i="0" kern="1200" dirty="0">
                <a:solidFill>
                  <a:schemeClr val="tx1"/>
                </a:solidFill>
                <a:effectLst/>
                <a:latin typeface="+mn-lt"/>
                <a:ea typeface="+mn-ea"/>
                <a:cs typeface="+mn-cs"/>
              </a:rPr>
              <a:t> par Daniel J. Bernstein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2008</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optimisé</a:t>
            </a:r>
            <a:r>
              <a:rPr lang="en-CA" sz="1200" b="0" i="0" kern="1200" dirty="0">
                <a:solidFill>
                  <a:schemeClr val="tx1"/>
                </a:solidFill>
                <a:effectLst/>
                <a:latin typeface="+mn-lt"/>
                <a:ea typeface="+mn-ea"/>
                <a:cs typeface="+mn-cs"/>
              </a:rPr>
              <a:t> pour ARM et x86 sans instructions </a:t>
            </a:r>
            <a:r>
              <a:rPr lang="en-CA" sz="1200" b="0" i="0" kern="1200" dirty="0" err="1">
                <a:solidFill>
                  <a:schemeClr val="tx1"/>
                </a:solidFill>
                <a:effectLst/>
                <a:latin typeface="+mn-lt"/>
                <a:ea typeface="+mn-ea"/>
                <a:cs typeface="+mn-cs"/>
              </a:rPr>
              <a:t>dédiées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Center — ARX diagram (simple, visual):</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Right side — contrast box vs AES: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AESChaCha20OpérationsS-Box (table lookup)ARX (</a:t>
            </a:r>
            <a:r>
              <a:rPr lang="en-CA" sz="1200" b="0" i="0" kern="1200" dirty="0" err="1">
                <a:solidFill>
                  <a:schemeClr val="tx1"/>
                </a:solidFill>
                <a:effectLst/>
                <a:latin typeface="+mn-lt"/>
                <a:ea typeface="+mn-ea"/>
                <a:cs typeface="+mn-cs"/>
              </a:rPr>
              <a:t>opérations</a:t>
            </a:r>
            <a:r>
              <a:rPr lang="en-CA" sz="1200" b="0" i="0" kern="1200" dirty="0">
                <a:solidFill>
                  <a:schemeClr val="tx1"/>
                </a:solidFill>
                <a:effectLst/>
                <a:latin typeface="+mn-lt"/>
                <a:ea typeface="+mn-ea"/>
                <a:cs typeface="+mn-cs"/>
              </a:rPr>
              <a:t> natives)</a:t>
            </a:r>
            <a:r>
              <a:rPr lang="en-CA" sz="1200" b="0" i="0" kern="1200" dirty="0" err="1">
                <a:solidFill>
                  <a:schemeClr val="tx1"/>
                </a:solidFill>
                <a:effectLst/>
                <a:latin typeface="+mn-lt"/>
                <a:ea typeface="+mn-ea"/>
                <a:cs typeface="+mn-cs"/>
              </a:rPr>
              <a:t>Accélération</a:t>
            </a:r>
            <a:r>
              <a:rPr lang="en-CA" sz="1200" b="0" i="0" kern="1200" dirty="0">
                <a:solidFill>
                  <a:schemeClr val="tx1"/>
                </a:solidFill>
                <a:effectLst/>
                <a:latin typeface="+mn-lt"/>
                <a:ea typeface="+mn-ea"/>
                <a:cs typeface="+mn-cs"/>
              </a:rPr>
              <a:t> HWAES-NI </a:t>
            </a:r>
            <a:r>
              <a:rPr lang="en-CA" sz="1200" b="0" i="0" kern="1200" dirty="0" err="1">
                <a:solidFill>
                  <a:schemeClr val="tx1"/>
                </a:solidFill>
                <a:effectLst/>
                <a:latin typeface="+mn-lt"/>
                <a:ea typeface="+mn-ea"/>
                <a:cs typeface="+mn-cs"/>
              </a:rPr>
              <a:t>requisAucune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nécessaireVulnérabilité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cachePossible</a:t>
            </a:r>
            <a:r>
              <a:rPr lang="en-CA" sz="1200" b="0" i="0" kern="1200" dirty="0">
                <a:solidFill>
                  <a:schemeClr val="tx1"/>
                </a:solidFill>
                <a:effectLst/>
                <a:latin typeface="+mn-lt"/>
                <a:ea typeface="+mn-ea"/>
                <a:cs typeface="+mn-cs"/>
              </a:rPr>
              <a:t> (timing)Constant-time par </a:t>
            </a:r>
            <a:r>
              <a:rPr lang="en-CA" sz="1200" b="0" i="0" kern="1200" dirty="0" err="1">
                <a:solidFill>
                  <a:schemeClr val="tx1"/>
                </a:solidFill>
                <a:effectLst/>
                <a:latin typeface="+mn-lt"/>
                <a:ea typeface="+mn-ea"/>
                <a:cs typeface="+mn-cs"/>
              </a:rPr>
              <a:t>designARM</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performancePénalisé</a:t>
            </a:r>
            <a:r>
              <a:rPr lang="en-CA" sz="1200" b="0" i="0" kern="1200" dirty="0">
                <a:solidFill>
                  <a:schemeClr val="tx1"/>
                </a:solidFill>
                <a:effectLst/>
                <a:latin typeface="+mn-lt"/>
                <a:ea typeface="+mn-ea"/>
                <a:cs typeface="+mn-cs"/>
              </a:rPr>
              <a:t> sans </a:t>
            </a:r>
            <a:r>
              <a:rPr lang="en-CA" sz="1200" b="0" i="0" kern="1200" dirty="0" err="1">
                <a:solidFill>
                  <a:schemeClr val="tx1"/>
                </a:solidFill>
                <a:effectLst/>
                <a:latin typeface="+mn-lt"/>
                <a:ea typeface="+mn-ea"/>
                <a:cs typeface="+mn-cs"/>
              </a:rPr>
              <a:t>NINatif</a:t>
            </a:r>
            <a:r>
              <a:rPr lang="en-CA" sz="1200" b="0" i="0" kern="1200" dirty="0">
                <a:solidFill>
                  <a:schemeClr val="tx1"/>
                </a:solidFill>
                <a:effectLst/>
                <a:latin typeface="+mn-lt"/>
                <a:ea typeface="+mn-ea"/>
                <a:cs typeface="+mn-cs"/>
              </a:rPr>
              <a:t> et </a:t>
            </a:r>
            <a:r>
              <a:rPr lang="en-CA" sz="1200" b="0" i="0" kern="1200" dirty="0" err="1">
                <a:solidFill>
                  <a:schemeClr val="tx1"/>
                </a:solidFill>
                <a:effectLst/>
                <a:latin typeface="+mn-lt"/>
                <a:ea typeface="+mn-ea"/>
                <a:cs typeface="+mn-cs"/>
              </a:rPr>
              <a:t>efficace</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The ARX box should be in your slide accent color with the 3 operations listed distinctly — this is the core concept, make it stand out</a:t>
            </a:r>
          </a:p>
          <a:p>
            <a:r>
              <a:rPr lang="en-CA" sz="1200" b="0" i="0" kern="1200" dirty="0">
                <a:solidFill>
                  <a:schemeClr val="tx1"/>
                </a:solidFill>
                <a:effectLst/>
                <a:latin typeface="+mn-lt"/>
                <a:ea typeface="+mn-ea"/>
                <a:cs typeface="+mn-cs"/>
              </a:rPr>
              <a:t>The contrast table makes the "why ChaCha20 exists" argument immediately clear — it was literally designed to fix AES's ARM problem</a:t>
            </a:r>
          </a:p>
          <a:p>
            <a:br>
              <a:rPr lang="en-CA" dirty="0"/>
            </a:br>
            <a:endParaRPr lang="en-CA" dirty="0"/>
          </a:p>
          <a:p>
            <a:r>
              <a:rPr lang="en-CA" sz="1200" b="1" i="0" kern="1200" dirty="0">
                <a:solidFill>
                  <a:schemeClr val="tx1"/>
                </a:solidFill>
                <a:effectLst/>
                <a:latin typeface="+mn-lt"/>
                <a:ea typeface="+mn-ea"/>
                <a:cs typeface="+mn-cs"/>
              </a:rPr>
              <a:t>Video 6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6</a:t>
            </a:r>
            <a:r>
              <a:rPr lang="en-CA" sz="1200" b="0" i="0" kern="1200" dirty="0">
                <a:solidFill>
                  <a:schemeClr val="tx1"/>
                </a:solidFill>
                <a:effectLst/>
                <a:latin typeface="+mn-lt"/>
                <a:ea typeface="+mn-ea"/>
                <a:cs typeface="+mn-cs"/>
              </a:rPr>
              <a:t> on this slide. Explain in your own words: "AES needs a lookup table called the S-Box — on hardware without AES-NI, reading that table can leak timing information. ChaCha20 only uses add, rotate, XOR — every CPU does those in exactly one cycle, always the same time, no table needed. That's why it's the default on Android and in TLS 1.3 on mobile."</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show the full 4×4 state matrix with hex values — too dense</a:t>
            </a:r>
          </a:p>
          <a:p>
            <a:r>
              <a:rPr lang="en-CA" sz="1200" b="0" i="0" kern="1200" dirty="0">
                <a:solidFill>
                  <a:schemeClr val="tx1"/>
                </a:solidFill>
                <a:effectLst/>
                <a:latin typeface="+mn-lt"/>
                <a:ea typeface="+mn-ea"/>
                <a:cs typeface="+mn-cs"/>
              </a:rPr>
              <a:t>Don't explain Poly1305 here — that's authentication, separate concern</a:t>
            </a:r>
          </a:p>
          <a:p>
            <a:r>
              <a:rPr lang="en-CA" sz="1200" b="0" i="0" kern="1200" dirty="0">
                <a:solidFill>
                  <a:schemeClr val="tx1"/>
                </a:solidFill>
                <a:effectLst/>
                <a:latin typeface="+mn-lt"/>
                <a:ea typeface="+mn-ea"/>
                <a:cs typeface="+mn-cs"/>
              </a:rPr>
              <a:t>Keep the ARX diagram simple — the concept is the point, not the full spec</a:t>
            </a:r>
          </a:p>
          <a:p>
            <a:br>
              <a:rPr lang="en-CA" dirty="0"/>
            </a:br>
            <a:endParaRPr lang="en-CA" dirty="0"/>
          </a:p>
          <a:p>
            <a:r>
              <a:rPr lang="en-CA" sz="1200" b="0" i="0" kern="1200" dirty="0">
                <a:solidFill>
                  <a:schemeClr val="tx1"/>
                </a:solidFill>
                <a:effectLst/>
                <a:latin typeface="+mn-lt"/>
                <a:ea typeface="+mn-ea"/>
                <a:cs typeface="+mn-cs"/>
              </a:rPr>
              <a:t>The contrast table is the key visual — it answers "why does this algorithm exist?"</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12</a:t>
            </a:fld>
            <a:endParaRPr lang="en-CA"/>
          </a:p>
        </p:txBody>
      </p:sp>
    </p:spTree>
    <p:extLst>
      <p:ext uri="{BB962C8B-B14F-4D97-AF65-F5344CB8AC3E}">
        <p14:creationId xmlns:p14="http://schemas.microsoft.com/office/powerpoint/2010/main" val="275030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10 — ChaCha20 : </a:t>
            </a:r>
            <a:r>
              <a:rPr lang="en-CA" sz="1200" b="1" i="0" kern="1200" dirty="0" err="1">
                <a:solidFill>
                  <a:schemeClr val="tx1"/>
                </a:solidFill>
                <a:effectLst/>
                <a:latin typeface="+mn-lt"/>
                <a:ea typeface="+mn-ea"/>
                <a:cs typeface="+mn-cs"/>
              </a:rPr>
              <a:t>Résultats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ChaCha20 — </a:t>
            </a:r>
            <a:r>
              <a:rPr lang="en-CA" sz="1200" b="0" i="0" kern="1200" dirty="0" err="1">
                <a:solidFill>
                  <a:schemeClr val="tx1"/>
                </a:solidFill>
                <a:effectLst/>
                <a:latin typeface="+mn-lt"/>
                <a:ea typeface="+mn-ea"/>
                <a:cs typeface="+mn-cs"/>
              </a:rPr>
              <a:t>L'algorithme</a:t>
            </a:r>
            <a:r>
              <a:rPr lang="en-CA" sz="1200" b="0" i="0" kern="1200" dirty="0">
                <a:solidFill>
                  <a:schemeClr val="tx1"/>
                </a:solidFill>
                <a:effectLst/>
                <a:latin typeface="+mn-lt"/>
                <a:ea typeface="+mn-ea"/>
                <a:cs typeface="+mn-cs"/>
              </a:rPr>
              <a:t> qui refuse </a:t>
            </a:r>
            <a:r>
              <a:rPr lang="en-CA" sz="1200" b="0" i="0" kern="1200" dirty="0" err="1">
                <a:solidFill>
                  <a:schemeClr val="tx1"/>
                </a:solidFill>
                <a:effectLst/>
                <a:latin typeface="+mn-lt"/>
                <a:ea typeface="+mn-ea"/>
                <a:cs typeface="+mn-cs"/>
              </a:rPr>
              <a:t>l'inégalité</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plateformes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cmp5_chacha20.png</a:t>
            </a:r>
            <a:r>
              <a:rPr lang="en-CA" sz="1200" b="0" i="0" kern="1200" dirty="0">
                <a:solidFill>
                  <a:schemeClr val="tx1"/>
                </a:solidFill>
                <a:effectLst/>
                <a:latin typeface="+mn-lt"/>
                <a:ea typeface="+mn-ea"/>
                <a:cs typeface="+mn-cs"/>
              </a:rPr>
              <a:t> — large, centered, takes ~60% of the slide</a:t>
            </a:r>
          </a:p>
          <a:p>
            <a:r>
              <a:rPr lang="en-CA" sz="1200" b="1" i="0" kern="1200" dirty="0">
                <a:solidFill>
                  <a:schemeClr val="tx1"/>
                </a:solidFill>
                <a:effectLst/>
                <a:latin typeface="+mn-lt"/>
                <a:ea typeface="+mn-ea"/>
                <a:cs typeface="+mn-cs"/>
              </a:rPr>
              <a:t>3 bullet takeaways (below or beside chart):</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x86 : </a:t>
            </a:r>
            <a:r>
              <a:rPr lang="en-CA" sz="1200" b="1" i="0" kern="1200" dirty="0">
                <a:solidFill>
                  <a:schemeClr val="tx1"/>
                </a:solidFill>
                <a:effectLst/>
                <a:latin typeface="+mn-lt"/>
                <a:ea typeface="+mn-ea"/>
                <a:cs typeface="+mn-cs"/>
              </a:rPr>
              <a:t>114 MB/s</a:t>
            </a:r>
            <a:r>
              <a:rPr lang="en-CA" sz="1200" b="0" i="0" kern="1200" dirty="0">
                <a:solidFill>
                  <a:schemeClr val="tx1"/>
                </a:solidFill>
                <a:effectLst/>
                <a:latin typeface="+mn-lt"/>
                <a:ea typeface="+mn-ea"/>
                <a:cs typeface="+mn-cs"/>
              </a:rPr>
              <a:t> — Pi : </a:t>
            </a:r>
            <a:r>
              <a:rPr lang="en-CA" sz="1200" b="1" i="0" kern="1200" dirty="0">
                <a:solidFill>
                  <a:schemeClr val="tx1"/>
                </a:solidFill>
                <a:effectLst/>
                <a:latin typeface="+mn-lt"/>
                <a:ea typeface="+mn-ea"/>
                <a:cs typeface="+mn-cs"/>
              </a:rPr>
              <a:t>61 MB/s</a:t>
            </a:r>
            <a:r>
              <a:rPr lang="en-CA" sz="1200" b="0" i="0" kern="1200" dirty="0">
                <a:solidFill>
                  <a:schemeClr val="tx1"/>
                </a:solidFill>
                <a:effectLst/>
                <a:latin typeface="+mn-lt"/>
                <a:ea typeface="+mn-ea"/>
                <a:cs typeface="+mn-cs"/>
              </a:rPr>
              <a:t> → ratio </a:t>
            </a:r>
            <a:r>
              <a:rPr lang="en-CA" sz="1200" b="1" i="0" kern="1200" dirty="0">
                <a:solidFill>
                  <a:schemeClr val="tx1"/>
                </a:solidFill>
                <a:effectLst/>
                <a:latin typeface="+mn-lt"/>
                <a:ea typeface="+mn-ea"/>
                <a:cs typeface="+mn-cs"/>
              </a:rPr>
              <a:t>1.87×</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seulement</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Pour </a:t>
            </a:r>
            <a:r>
              <a:rPr lang="en-CA" sz="1200" b="0" i="0" kern="1200" dirty="0" err="1">
                <a:solidFill>
                  <a:schemeClr val="tx1"/>
                </a:solidFill>
                <a:effectLst/>
                <a:latin typeface="+mn-lt"/>
                <a:ea typeface="+mn-ea"/>
                <a:cs typeface="+mn-cs"/>
              </a:rPr>
              <a:t>comparaison</a:t>
            </a:r>
            <a:r>
              <a:rPr lang="en-CA" sz="1200" b="0" i="0" kern="1200" dirty="0">
                <a:solidFill>
                  <a:schemeClr val="tx1"/>
                </a:solidFill>
                <a:effectLst/>
                <a:latin typeface="+mn-lt"/>
                <a:ea typeface="+mn-ea"/>
                <a:cs typeface="+mn-cs"/>
              </a:rPr>
              <a:t> : AES a un ratio de </a:t>
            </a:r>
            <a:r>
              <a:rPr lang="en-CA" sz="1200" b="1" i="0" kern="1200" dirty="0">
                <a:solidFill>
                  <a:schemeClr val="tx1"/>
                </a:solidFill>
                <a:effectLst/>
                <a:latin typeface="+mn-lt"/>
                <a:ea typeface="+mn-ea"/>
                <a:cs typeface="+mn-cs"/>
              </a:rPr>
              <a:t>4.1×</a:t>
            </a:r>
            <a:r>
              <a:rPr lang="en-CA" sz="1200" b="0" i="0" kern="1200" dirty="0">
                <a:solidFill>
                  <a:schemeClr val="tx1"/>
                </a:solidFill>
                <a:effectLst/>
                <a:latin typeface="+mn-lt"/>
                <a:ea typeface="+mn-ea"/>
                <a:cs typeface="+mn-cs"/>
              </a:rPr>
              <a:t> — ChaCha20 est 2× plus </a:t>
            </a:r>
            <a:r>
              <a:rPr lang="en-CA" sz="1200" b="0" i="0" kern="1200" dirty="0" err="1">
                <a:solidFill>
                  <a:schemeClr val="tx1"/>
                </a:solidFill>
                <a:effectLst/>
                <a:latin typeface="+mn-lt"/>
                <a:ea typeface="+mn-ea"/>
                <a:cs typeface="+mn-cs"/>
              </a:rPr>
              <a:t>équitable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Les </a:t>
            </a:r>
            <a:r>
              <a:rPr lang="en-CA" sz="1200" b="0" i="0" kern="1200" dirty="0" err="1">
                <a:solidFill>
                  <a:schemeClr val="tx1"/>
                </a:solidFill>
                <a:effectLst/>
                <a:latin typeface="+mn-lt"/>
                <a:ea typeface="+mn-ea"/>
                <a:cs typeface="+mn-cs"/>
              </a:rPr>
              <a:t>courbes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convergent</a:t>
            </a:r>
            <a:r>
              <a:rPr lang="en-CA" sz="1200" b="0" i="0" kern="1200" dirty="0">
                <a:solidFill>
                  <a:schemeClr val="tx1"/>
                </a:solidFill>
                <a:effectLst/>
                <a:latin typeface="+mn-lt"/>
                <a:ea typeface="+mn-ea"/>
                <a:cs typeface="+mn-cs"/>
              </a:rPr>
              <a:t> à </a:t>
            </a:r>
            <a:r>
              <a:rPr lang="en-CA" sz="1200" b="0" i="0" kern="1200" dirty="0" err="1">
                <a:solidFill>
                  <a:schemeClr val="tx1"/>
                </a:solidFill>
                <a:effectLst/>
                <a:latin typeface="+mn-lt"/>
                <a:ea typeface="+mn-ea"/>
                <a:cs typeface="+mn-cs"/>
              </a:rPr>
              <a:t>partir</a:t>
            </a:r>
            <a:r>
              <a:rPr lang="en-CA" sz="1200" b="0" i="0" kern="1200" dirty="0">
                <a:solidFill>
                  <a:schemeClr val="tx1"/>
                </a:solidFill>
                <a:effectLst/>
                <a:latin typeface="+mn-lt"/>
                <a:ea typeface="+mn-ea"/>
                <a:cs typeface="+mn-cs"/>
              </a:rPr>
              <a:t> de 4096 octets → le Pi </a:t>
            </a:r>
            <a:r>
              <a:rPr lang="en-CA" sz="1200" b="0" i="0" kern="1200" dirty="0" err="1">
                <a:solidFill>
                  <a:schemeClr val="tx1"/>
                </a:solidFill>
                <a:effectLst/>
                <a:latin typeface="+mn-lt"/>
                <a:ea typeface="+mn-ea"/>
                <a:cs typeface="+mn-cs"/>
              </a:rPr>
              <a:t>exploite</a:t>
            </a:r>
            <a:r>
              <a:rPr lang="en-CA" sz="1200" b="0" i="0" kern="1200" dirty="0">
                <a:solidFill>
                  <a:schemeClr val="tx1"/>
                </a:solidFill>
                <a:effectLst/>
                <a:latin typeface="+mn-lt"/>
                <a:ea typeface="+mn-ea"/>
                <a:cs typeface="+mn-cs"/>
              </a:rPr>
              <a:t> bien son pipeline ARM sur ARX</a:t>
            </a:r>
          </a:p>
          <a:p>
            <a:r>
              <a:rPr lang="en-CA" sz="1200" b="1" i="0" kern="1200" dirty="0">
                <a:solidFill>
                  <a:schemeClr val="tx1"/>
                </a:solidFill>
                <a:effectLst/>
                <a:latin typeface="+mn-lt"/>
                <a:ea typeface="+mn-ea"/>
                <a:cs typeface="+mn-cs"/>
              </a:rPr>
              <a:t>Bottom callout (highlighted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Sur Pi, ChaCha20 (61 MB/s) </a:t>
            </a:r>
            <a:r>
              <a:rPr lang="en-CA" sz="1200" b="0" i="0" kern="1200" dirty="0" err="1">
                <a:solidFill>
                  <a:schemeClr val="tx1"/>
                </a:solidFill>
                <a:effectLst/>
                <a:latin typeface="+mn-lt"/>
                <a:ea typeface="+mn-ea"/>
                <a:cs typeface="+mn-cs"/>
              </a:rPr>
              <a:t>surpasse</a:t>
            </a:r>
            <a:r>
              <a:rPr lang="en-CA" sz="1200" b="0" i="0" kern="1200" dirty="0">
                <a:solidFill>
                  <a:schemeClr val="tx1"/>
                </a:solidFill>
                <a:effectLst/>
                <a:latin typeface="+mn-lt"/>
                <a:ea typeface="+mn-ea"/>
                <a:cs typeface="+mn-cs"/>
              </a:rPr>
              <a:t> AES-GCM sur Pi (6.4 MB/s) par un </a:t>
            </a:r>
            <a:r>
              <a:rPr lang="en-CA" sz="1200" b="0" i="0" kern="1200" dirty="0" err="1">
                <a:solidFill>
                  <a:schemeClr val="tx1"/>
                </a:solidFill>
                <a:effectLst/>
                <a:latin typeface="+mn-lt"/>
                <a:ea typeface="+mn-ea"/>
                <a:cs typeface="+mn-cs"/>
              </a:rPr>
              <a:t>facteur</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9.5×</a:t>
            </a:r>
            <a:r>
              <a:rPr lang="en-CA" sz="1200" b="0" i="0" kern="1200" dirty="0">
                <a:solidFill>
                  <a:schemeClr val="tx1"/>
                </a:solidFill>
                <a:effectLst/>
                <a:latin typeface="+mn-lt"/>
                <a:ea typeface="+mn-ea"/>
                <a:cs typeface="+mn-cs"/>
              </a:rPr>
              <a:t> — pour tout </a:t>
            </a:r>
            <a:r>
              <a:rPr lang="en-CA" sz="1200" b="0" i="0" kern="1200" dirty="0" err="1">
                <a:solidFill>
                  <a:schemeClr val="tx1"/>
                </a:solidFill>
                <a:effectLst/>
                <a:latin typeface="+mn-lt"/>
                <a:ea typeface="+mn-ea"/>
                <a:cs typeface="+mn-cs"/>
              </a:rPr>
              <a:t>déploiement</a:t>
            </a:r>
            <a:r>
              <a:rPr lang="en-CA" sz="1200" b="0" i="0" kern="1200" dirty="0">
                <a:solidFill>
                  <a:schemeClr val="tx1"/>
                </a:solidFill>
                <a:effectLst/>
                <a:latin typeface="+mn-lt"/>
                <a:ea typeface="+mn-ea"/>
                <a:cs typeface="+mn-cs"/>
              </a:rPr>
              <a:t> IoT </a:t>
            </a:r>
            <a:r>
              <a:rPr lang="en-CA" sz="1200" b="0" i="0" kern="1200" dirty="0" err="1">
                <a:solidFill>
                  <a:schemeClr val="tx1"/>
                </a:solidFill>
                <a:effectLst/>
                <a:latin typeface="+mn-lt"/>
                <a:ea typeface="+mn-ea"/>
                <a:cs typeface="+mn-cs"/>
              </a:rPr>
              <a:t>ou</a:t>
            </a:r>
            <a:r>
              <a:rPr lang="en-CA" sz="1200" b="0" i="0" kern="1200" dirty="0">
                <a:solidFill>
                  <a:schemeClr val="tx1"/>
                </a:solidFill>
                <a:effectLst/>
                <a:latin typeface="+mn-lt"/>
                <a:ea typeface="+mn-ea"/>
                <a:cs typeface="+mn-cs"/>
              </a:rPr>
              <a:t> mobile, ChaCha20 est le choix </a:t>
            </a:r>
            <a:r>
              <a:rPr lang="en-CA" sz="1200" b="0" i="0" kern="1200" dirty="0" err="1">
                <a:solidFill>
                  <a:schemeClr val="tx1"/>
                </a:solidFill>
                <a:effectLst/>
                <a:latin typeface="+mn-lt"/>
                <a:ea typeface="+mn-ea"/>
                <a:cs typeface="+mn-cs"/>
              </a:rPr>
              <a:t>évident</a:t>
            </a:r>
            <a:r>
              <a:rPr lang="en-CA" sz="1200" b="0" i="0" kern="1200" dirty="0">
                <a:solidFill>
                  <a:schemeClr val="tx1"/>
                </a:solidFill>
                <a:effectLst/>
                <a:latin typeface="+mn-lt"/>
                <a:ea typeface="+mn-ea"/>
                <a:cs typeface="+mn-cs"/>
              </a:rPr>
              <a:t>.</a:t>
            </a: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Annotate directly on the chart the </a:t>
            </a:r>
            <a:r>
              <a:rPr lang="en-CA" sz="1200" b="1" i="0" kern="1200" dirty="0">
                <a:solidFill>
                  <a:schemeClr val="tx1"/>
                </a:solidFill>
                <a:effectLst/>
                <a:latin typeface="+mn-lt"/>
                <a:ea typeface="+mn-ea"/>
                <a:cs typeface="+mn-cs"/>
              </a:rPr>
              <a:t>1.87× gap</a:t>
            </a:r>
            <a:r>
              <a:rPr lang="en-CA" sz="1200" b="0" i="0" kern="1200" dirty="0">
                <a:solidFill>
                  <a:schemeClr val="tx1"/>
                </a:solidFill>
                <a:effectLst/>
                <a:latin typeface="+mn-lt"/>
                <a:ea typeface="+mn-ea"/>
                <a:cs typeface="+mn-cs"/>
              </a:rPr>
              <a:t> with an arrow between the two lines at the rightmost data point</a:t>
            </a:r>
          </a:p>
          <a:p>
            <a:r>
              <a:rPr lang="en-CA" sz="1200" b="0" i="0" kern="1200" dirty="0">
                <a:solidFill>
                  <a:schemeClr val="tx1"/>
                </a:solidFill>
                <a:effectLst/>
                <a:latin typeface="+mn-lt"/>
                <a:ea typeface="+mn-ea"/>
                <a:cs typeface="+mn-cs"/>
              </a:rPr>
              <a:t>Add a small badge: "TLS 1.3 sur mobile = ChaCha20-Poly1305" — connects the academic result to real-world practice</a:t>
            </a:r>
          </a:p>
          <a:p>
            <a:br>
              <a:rPr lang="en-CA" dirty="0"/>
            </a:br>
            <a:endParaRPr lang="en-CA" dirty="0"/>
          </a:p>
          <a:p>
            <a:r>
              <a:rPr lang="en-CA" sz="1200" b="1" i="0" kern="1200" dirty="0">
                <a:solidFill>
                  <a:schemeClr val="tx1"/>
                </a:solidFill>
                <a:effectLst/>
                <a:latin typeface="+mn-lt"/>
                <a:ea typeface="+mn-ea"/>
                <a:cs typeface="+mn-cs"/>
              </a:rPr>
              <a:t>Video 7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7</a:t>
            </a:r>
            <a:r>
              <a:rPr lang="en-CA" sz="1200" b="0" i="0" kern="1200" dirty="0">
                <a:solidFill>
                  <a:schemeClr val="tx1"/>
                </a:solidFill>
                <a:effectLst/>
                <a:latin typeface="+mn-lt"/>
                <a:ea typeface="+mn-ea"/>
                <a:cs typeface="+mn-cs"/>
              </a:rPr>
              <a:t> on this slide. "Look at this chart — the gap between x86 and Pi barely opens compared to AES. This is by design. Bernstein built this for exactly this situation — a world where not every device has dedicated crypto hardware. That's why your Android phone and every TLS 1.3 connection on mobile uses ChaCha20."</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compare raw MB/s numbers against AES-ECB directly — ECB is unfair since it has no authentication</a:t>
            </a:r>
          </a:p>
          <a:p>
            <a:r>
              <a:rPr lang="en-CA" sz="1200" b="0" i="0" kern="1200" dirty="0">
                <a:solidFill>
                  <a:schemeClr val="tx1"/>
                </a:solidFill>
                <a:effectLst/>
                <a:latin typeface="+mn-lt"/>
                <a:ea typeface="+mn-ea"/>
                <a:cs typeface="+mn-cs"/>
              </a:rPr>
              <a:t>Don't mention Poly1305 unless you have a dedicated slide for it — keep focus on ChaCha20 performance</a:t>
            </a:r>
          </a:p>
          <a:p>
            <a:r>
              <a:rPr lang="en-CA" sz="1200" b="0" i="0" kern="1200" dirty="0">
                <a:solidFill>
                  <a:schemeClr val="tx1"/>
                </a:solidFill>
                <a:effectLst/>
                <a:latin typeface="+mn-lt"/>
                <a:ea typeface="+mn-ea"/>
                <a:cs typeface="+mn-cs"/>
              </a:rPr>
              <a:t>Don't put both cmp3 and cmp5 — cmp5 is more focused and cleaner for this story</a:t>
            </a:r>
          </a:p>
          <a:p>
            <a:br>
              <a:rPr lang="en-CA" dirty="0"/>
            </a:br>
            <a:endParaRPr lang="en-CA" dirty="0"/>
          </a:p>
          <a:p>
            <a:r>
              <a:rPr lang="en-CA" sz="1200" b="0" i="0" kern="1200" dirty="0">
                <a:solidFill>
                  <a:schemeClr val="tx1"/>
                </a:solidFill>
                <a:effectLst/>
                <a:latin typeface="+mn-lt"/>
                <a:ea typeface="+mn-ea"/>
                <a:cs typeface="+mn-cs"/>
              </a:rPr>
              <a:t>The "9.5× faster than AES-GCM on Pi" callout is the punchline — it reframes ChaCha20 not as a weak alternative to AES but as the dominant choice on ARM.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13</a:t>
            </a:fld>
            <a:endParaRPr lang="en-CA"/>
          </a:p>
        </p:txBody>
      </p:sp>
    </p:spTree>
    <p:extLst>
      <p:ext uri="{BB962C8B-B14F-4D97-AF65-F5344CB8AC3E}">
        <p14:creationId xmlns:p14="http://schemas.microsoft.com/office/powerpoint/2010/main" val="28494192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11 — DES / 3DES / </a:t>
            </a:r>
            <a:r>
              <a:rPr lang="en-CA" sz="1200" b="1" i="0" kern="1200" dirty="0" err="1">
                <a:solidFill>
                  <a:schemeClr val="tx1"/>
                </a:solidFill>
                <a:effectLst/>
                <a:latin typeface="+mn-lt"/>
                <a:ea typeface="+mn-ea"/>
                <a:cs typeface="+mn-cs"/>
              </a:rPr>
              <a:t>Twofish</a:t>
            </a:r>
            <a:r>
              <a:rPr lang="en-CA" sz="1200" b="1" i="0" kern="1200" dirty="0">
                <a:solidFill>
                  <a:schemeClr val="tx1"/>
                </a:solidFill>
                <a:effectLst/>
                <a:latin typeface="+mn-lt"/>
                <a:ea typeface="+mn-ea"/>
                <a:cs typeface="+mn-cs"/>
              </a:rPr>
              <a:t> : Les </a:t>
            </a:r>
            <a:r>
              <a:rPr lang="en-CA" sz="1200" b="1" i="0" kern="1200" dirty="0" err="1">
                <a:solidFill>
                  <a:schemeClr val="tx1"/>
                </a:solidFill>
                <a:effectLst/>
                <a:latin typeface="+mn-lt"/>
                <a:ea typeface="+mn-ea"/>
                <a:cs typeface="+mn-cs"/>
              </a:rPr>
              <a:t>perdants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DES, 3DES,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Pourquoi</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ils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ont</a:t>
            </a:r>
            <a:r>
              <a:rPr lang="en-CA" sz="1200" b="0" i="0" kern="1200" dirty="0">
                <a:solidFill>
                  <a:schemeClr val="tx1"/>
                </a:solidFill>
                <a:effectLst/>
                <a:latin typeface="+mn-lt"/>
                <a:ea typeface="+mn-ea"/>
                <a:cs typeface="+mn-cs"/>
              </a:rPr>
              <a:t> perdu</a:t>
            </a:r>
          </a:p>
          <a:p>
            <a:r>
              <a:rPr lang="en-CA" sz="1200" b="1" i="0" kern="1200" dirty="0">
                <a:solidFill>
                  <a:schemeClr val="tx1"/>
                </a:solidFill>
                <a:effectLst/>
                <a:latin typeface="+mn-lt"/>
                <a:ea typeface="+mn-ea"/>
                <a:cs typeface="+mn-cs"/>
              </a:rPr>
              <a:t>Main element — 3-column layout, one per algorithm:</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DES</a:t>
            </a:r>
            <a:r>
              <a:rPr lang="en-CA" sz="1200" b="0" i="0" kern="1200" dirty="0">
                <a:solidFill>
                  <a:schemeClr val="tx1"/>
                </a:solidFill>
                <a:effectLst/>
                <a:latin typeface="+mn-lt"/>
                <a:ea typeface="+mn-ea"/>
                <a:cs typeface="+mn-cs"/>
              </a:rPr>
              <a:t> 🔴</a:t>
            </a:r>
          </a:p>
          <a:p>
            <a:r>
              <a:rPr lang="en-CA" sz="1200" b="0" i="0" kern="1200" dirty="0">
                <a:solidFill>
                  <a:schemeClr val="tx1"/>
                </a:solidFill>
                <a:effectLst/>
                <a:latin typeface="+mn-lt"/>
                <a:ea typeface="+mn-ea"/>
                <a:cs typeface="+mn-cs"/>
              </a:rPr>
              <a:t>40.7 MB/s (x86) / 18.3 MB/s (Pi)</a:t>
            </a:r>
          </a:p>
          <a:p>
            <a:r>
              <a:rPr lang="en-CA" sz="1200" b="0" i="0" kern="1200" dirty="0">
                <a:solidFill>
                  <a:schemeClr val="tx1"/>
                </a:solidFill>
                <a:effectLst/>
                <a:latin typeface="+mn-lt"/>
                <a:ea typeface="+mn-ea"/>
                <a:cs typeface="+mn-cs"/>
              </a:rPr>
              <a:t>Clé : </a:t>
            </a:r>
            <a:r>
              <a:rPr lang="en-CA" sz="1200" b="1" i="0" kern="1200" dirty="0">
                <a:solidFill>
                  <a:schemeClr val="tx1"/>
                </a:solidFill>
                <a:effectLst/>
                <a:latin typeface="+mn-lt"/>
                <a:ea typeface="+mn-ea"/>
                <a:cs typeface="+mn-cs"/>
              </a:rPr>
              <a:t>56 bits </a:t>
            </a:r>
            <a:r>
              <a:rPr lang="en-CA" sz="1200" b="1" i="0" kern="1200" dirty="0" err="1">
                <a:solidFill>
                  <a:schemeClr val="tx1"/>
                </a:solidFill>
                <a:effectLst/>
                <a:latin typeface="+mn-lt"/>
                <a:ea typeface="+mn-ea"/>
                <a:cs typeface="+mn-cs"/>
              </a:rPr>
              <a:t>effectifs</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Cassé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22 </a:t>
            </a:r>
            <a:r>
              <a:rPr lang="en-CA" sz="1200" b="1" i="0" kern="1200" dirty="0" err="1">
                <a:solidFill>
                  <a:schemeClr val="tx1"/>
                </a:solidFill>
                <a:effectLst/>
                <a:latin typeface="+mn-lt"/>
                <a:ea typeface="+mn-ea"/>
                <a:cs typeface="+mn-cs"/>
              </a:rPr>
              <a:t>heures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1998 (EFF DES Cracker)</a:t>
            </a:r>
          </a:p>
          <a:p>
            <a:r>
              <a:rPr lang="en-CA" sz="1200" b="0" i="0" kern="1200" dirty="0" err="1">
                <a:solidFill>
                  <a:schemeClr val="tx1"/>
                </a:solidFill>
                <a:effectLst/>
                <a:latin typeface="+mn-lt"/>
                <a:ea typeface="+mn-ea"/>
                <a:cs typeface="+mn-cs"/>
              </a:rPr>
              <a:t>Aucune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accélération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matérielle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nulle</a:t>
            </a:r>
            <a:r>
              <a:rPr lang="en-CA" sz="1200" b="0" i="0" kern="1200" dirty="0">
                <a:solidFill>
                  <a:schemeClr val="tx1"/>
                </a:solidFill>
                <a:effectLst/>
                <a:latin typeface="+mn-lt"/>
                <a:ea typeface="+mn-ea"/>
                <a:cs typeface="+mn-cs"/>
              </a:rPr>
              <a:t> part</a:t>
            </a:r>
          </a:p>
          <a:p>
            <a:r>
              <a:rPr lang="en-CA" sz="1200" b="0" i="0" kern="1200" dirty="0">
                <a:solidFill>
                  <a:schemeClr val="tx1"/>
                </a:solidFill>
                <a:effectLst/>
                <a:latin typeface="+mn-lt"/>
                <a:ea typeface="+mn-ea"/>
                <a:cs typeface="+mn-cs"/>
              </a:rPr>
              <a:t>Verdict : </a:t>
            </a:r>
            <a:r>
              <a:rPr lang="en-CA" sz="1200" b="1" i="0" kern="1200" dirty="0">
                <a:solidFill>
                  <a:schemeClr val="tx1"/>
                </a:solidFill>
                <a:effectLst/>
                <a:latin typeface="+mn-lt"/>
                <a:ea typeface="+mn-ea"/>
                <a:cs typeface="+mn-cs"/>
              </a:rPr>
              <a:t>mort </a:t>
            </a:r>
            <a:r>
              <a:rPr lang="en-CA" sz="1200" b="1" i="0" kern="1200" dirty="0" err="1">
                <a:solidFill>
                  <a:schemeClr val="tx1"/>
                </a:solidFill>
                <a:effectLst/>
                <a:latin typeface="+mn-lt"/>
                <a:ea typeface="+mn-ea"/>
                <a:cs typeface="+mn-cs"/>
              </a:rPr>
              <a:t>depuis</a:t>
            </a:r>
            <a:r>
              <a:rPr lang="en-CA" sz="1200" b="1" i="0" kern="1200" dirty="0">
                <a:solidFill>
                  <a:schemeClr val="tx1"/>
                </a:solidFill>
                <a:effectLst/>
                <a:latin typeface="+mn-lt"/>
                <a:ea typeface="+mn-ea"/>
                <a:cs typeface="+mn-cs"/>
              </a:rPr>
              <a:t> 1998, </a:t>
            </a:r>
            <a:r>
              <a:rPr lang="en-CA" sz="1200" b="1" i="0" kern="1200" dirty="0" err="1">
                <a:solidFill>
                  <a:schemeClr val="tx1"/>
                </a:solidFill>
                <a:effectLst/>
                <a:latin typeface="+mn-lt"/>
                <a:ea typeface="+mn-ea"/>
                <a:cs typeface="+mn-cs"/>
              </a:rPr>
              <a:t>présent</a:t>
            </a:r>
            <a:r>
              <a:rPr lang="en-CA" sz="1200" b="1" i="0" kern="1200" dirty="0">
                <a:solidFill>
                  <a:schemeClr val="tx1"/>
                </a:solidFill>
                <a:effectLst/>
                <a:latin typeface="+mn-lt"/>
                <a:ea typeface="+mn-ea"/>
                <a:cs typeface="+mn-cs"/>
              </a:rPr>
              <a:t> pour </a:t>
            </a:r>
            <a:r>
              <a:rPr lang="en-CA" sz="1200" b="1" i="0" kern="1200" dirty="0" err="1">
                <a:solidFill>
                  <a:schemeClr val="tx1"/>
                </a:solidFill>
                <a:effectLst/>
                <a:latin typeface="+mn-lt"/>
                <a:ea typeface="+mn-ea"/>
                <a:cs typeface="+mn-cs"/>
              </a:rPr>
              <a:t>comparaison</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historique</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3DES</a:t>
            </a:r>
            <a:r>
              <a:rPr lang="en-CA" sz="1200" b="0" i="0" kern="1200" dirty="0">
                <a:solidFill>
                  <a:schemeClr val="tx1"/>
                </a:solidFill>
                <a:effectLst/>
                <a:latin typeface="+mn-lt"/>
                <a:ea typeface="+mn-ea"/>
                <a:cs typeface="+mn-cs"/>
              </a:rPr>
              <a:t> 🟠</a:t>
            </a:r>
          </a:p>
          <a:p>
            <a:r>
              <a:rPr lang="en-CA" sz="1200" b="0" i="0" kern="1200" dirty="0">
                <a:solidFill>
                  <a:schemeClr val="tx1"/>
                </a:solidFill>
                <a:effectLst/>
                <a:latin typeface="+mn-lt"/>
                <a:ea typeface="+mn-ea"/>
                <a:cs typeface="+mn-cs"/>
              </a:rPr>
              <a:t>12.3 MB/s (x86) / 7.5 MB/s (Pi)</a:t>
            </a:r>
          </a:p>
          <a:p>
            <a:r>
              <a:rPr lang="en-CA" sz="1200" b="0" i="0" kern="1200" dirty="0">
                <a:solidFill>
                  <a:schemeClr val="tx1"/>
                </a:solidFill>
                <a:effectLst/>
                <a:latin typeface="+mn-lt"/>
                <a:ea typeface="+mn-ea"/>
                <a:cs typeface="+mn-cs"/>
              </a:rPr>
              <a:t>Triple application de DES → </a:t>
            </a:r>
            <a:r>
              <a:rPr lang="en-CA" sz="1200" b="1" i="0" kern="1200" dirty="0">
                <a:solidFill>
                  <a:schemeClr val="tx1"/>
                </a:solidFill>
                <a:effectLst/>
                <a:latin typeface="+mn-lt"/>
                <a:ea typeface="+mn-ea"/>
                <a:cs typeface="+mn-cs"/>
              </a:rPr>
              <a:t>3× plus lent</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Sécurité effective : 112 bits — </a:t>
            </a:r>
            <a:r>
              <a:rPr lang="en-CA" sz="1200" b="0" i="0" kern="1200" dirty="0" err="1">
                <a:solidFill>
                  <a:schemeClr val="tx1"/>
                </a:solidFill>
                <a:effectLst/>
                <a:latin typeface="+mn-lt"/>
                <a:ea typeface="+mn-ea"/>
                <a:cs typeface="+mn-cs"/>
              </a:rPr>
              <a:t>coût</a:t>
            </a:r>
            <a:r>
              <a:rPr lang="en-CA" sz="1200" b="0" i="0" kern="1200" dirty="0">
                <a:solidFill>
                  <a:schemeClr val="tx1"/>
                </a:solidFill>
                <a:effectLst/>
                <a:latin typeface="+mn-lt"/>
                <a:ea typeface="+mn-ea"/>
                <a:cs typeface="+mn-cs"/>
              </a:rPr>
              <a:t> : 3 passes </a:t>
            </a:r>
            <a:r>
              <a:rPr lang="en-CA" sz="1200" b="0" i="0" kern="1200" dirty="0" err="1">
                <a:solidFill>
                  <a:schemeClr val="tx1"/>
                </a:solidFill>
                <a:effectLst/>
                <a:latin typeface="+mn-lt"/>
                <a:ea typeface="+mn-ea"/>
                <a:cs typeface="+mn-cs"/>
              </a:rPr>
              <a:t>séquentielles</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Déprécié</a:t>
            </a:r>
            <a:r>
              <a:rPr lang="en-CA" sz="1200" b="0" i="0" kern="1200" dirty="0">
                <a:solidFill>
                  <a:schemeClr val="tx1"/>
                </a:solidFill>
                <a:effectLst/>
                <a:latin typeface="+mn-lt"/>
                <a:ea typeface="+mn-ea"/>
                <a:cs typeface="+mn-cs"/>
              </a:rPr>
              <a:t> NIST </a:t>
            </a:r>
            <a:r>
              <a:rPr lang="en-CA" sz="1200" b="1" i="0" kern="1200" dirty="0">
                <a:solidFill>
                  <a:schemeClr val="tx1"/>
                </a:solidFill>
                <a:effectLst/>
                <a:latin typeface="+mn-lt"/>
                <a:ea typeface="+mn-ea"/>
                <a:cs typeface="+mn-cs"/>
              </a:rPr>
              <a:t>2017</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interdit</a:t>
            </a:r>
            <a:r>
              <a:rPr lang="en-CA" sz="1200" b="0" i="0" kern="1200" dirty="0">
                <a:solidFill>
                  <a:schemeClr val="tx1"/>
                </a:solidFill>
                <a:effectLst/>
                <a:latin typeface="+mn-lt"/>
                <a:ea typeface="+mn-ea"/>
                <a:cs typeface="+mn-cs"/>
              </a:rPr>
              <a:t> nouveaux </a:t>
            </a:r>
            <a:r>
              <a:rPr lang="en-CA" sz="1200" b="0" i="0" kern="1200" dirty="0" err="1">
                <a:solidFill>
                  <a:schemeClr val="tx1"/>
                </a:solidFill>
                <a:effectLst/>
                <a:latin typeface="+mn-lt"/>
                <a:ea typeface="+mn-ea"/>
                <a:cs typeface="+mn-cs"/>
              </a:rPr>
              <a:t>systèmes</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2023</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Verdict : </a:t>
            </a:r>
            <a:r>
              <a:rPr lang="en-CA" sz="1200" b="1" i="0" kern="1200" dirty="0">
                <a:solidFill>
                  <a:schemeClr val="tx1"/>
                </a:solidFill>
                <a:effectLst/>
                <a:latin typeface="+mn-lt"/>
                <a:ea typeface="+mn-ea"/>
                <a:cs typeface="+mn-cs"/>
              </a:rPr>
              <a:t>le </a:t>
            </a:r>
            <a:r>
              <a:rPr lang="en-CA" sz="1200" b="1" i="0" kern="1200" dirty="0" err="1">
                <a:solidFill>
                  <a:schemeClr val="tx1"/>
                </a:solidFill>
                <a:effectLst/>
                <a:latin typeface="+mn-lt"/>
                <a:ea typeface="+mn-ea"/>
                <a:cs typeface="+mn-cs"/>
              </a:rPr>
              <a:t>pire</a:t>
            </a:r>
            <a:r>
              <a:rPr lang="en-CA" sz="1200" b="1" i="0" kern="1200" dirty="0">
                <a:solidFill>
                  <a:schemeClr val="tx1"/>
                </a:solidFill>
                <a:effectLst/>
                <a:latin typeface="+mn-lt"/>
                <a:ea typeface="+mn-ea"/>
                <a:cs typeface="+mn-cs"/>
              </a:rPr>
              <a:t> des deux </a:t>
            </a:r>
            <a:r>
              <a:rPr lang="en-CA" sz="1200" b="1" i="0" kern="1200" dirty="0" err="1">
                <a:solidFill>
                  <a:schemeClr val="tx1"/>
                </a:solidFill>
                <a:effectLst/>
                <a:latin typeface="+mn-lt"/>
                <a:ea typeface="+mn-ea"/>
                <a:cs typeface="+mn-cs"/>
              </a:rPr>
              <a:t>mondes</a:t>
            </a:r>
            <a:r>
              <a:rPr lang="en-CA" sz="1200" b="1" i="0" kern="1200" dirty="0">
                <a:solidFill>
                  <a:schemeClr val="tx1"/>
                </a:solidFill>
                <a:effectLst/>
                <a:latin typeface="+mn-lt"/>
                <a:ea typeface="+mn-ea"/>
                <a:cs typeface="+mn-cs"/>
              </a:rPr>
              <a:t> — lent ET </a:t>
            </a:r>
            <a:r>
              <a:rPr lang="en-CA" sz="1200" b="1" i="0" kern="1200" dirty="0" err="1">
                <a:solidFill>
                  <a:schemeClr val="tx1"/>
                </a:solidFill>
                <a:effectLst/>
                <a:latin typeface="+mn-lt"/>
                <a:ea typeface="+mn-ea"/>
                <a:cs typeface="+mn-cs"/>
              </a:rPr>
              <a:t>faiblement</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sécurisé</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a:t>
            </a:r>
          </a:p>
          <a:p>
            <a:r>
              <a:rPr lang="en-CA" sz="1200" b="1" i="0" kern="1200" dirty="0">
                <a:solidFill>
                  <a:schemeClr val="tx1"/>
                </a:solidFill>
                <a:effectLst/>
                <a:latin typeface="+mn-lt"/>
                <a:ea typeface="+mn-ea"/>
                <a:cs typeface="+mn-cs"/>
              </a:rPr>
              <a:t>2.82 MB/s</a:t>
            </a:r>
            <a:r>
              <a:rPr lang="en-CA" sz="1200" b="0" i="0" kern="1200" dirty="0">
                <a:solidFill>
                  <a:schemeClr val="tx1"/>
                </a:solidFill>
                <a:effectLst/>
                <a:latin typeface="+mn-lt"/>
                <a:ea typeface="+mn-ea"/>
                <a:cs typeface="+mn-cs"/>
              </a:rPr>
              <a:t> (x86) / 1.29 MB/s (Pi)</a:t>
            </a:r>
          </a:p>
          <a:p>
            <a:r>
              <a:rPr lang="en-CA" sz="1200" b="0" i="0" kern="1200" dirty="0" err="1">
                <a:solidFill>
                  <a:schemeClr val="tx1"/>
                </a:solidFill>
                <a:effectLst/>
                <a:latin typeface="+mn-lt"/>
                <a:ea typeface="+mn-ea"/>
                <a:cs typeface="+mn-cs"/>
              </a:rPr>
              <a:t>Finaliste</a:t>
            </a:r>
            <a:r>
              <a:rPr lang="en-CA" sz="1200" b="0" i="0" kern="1200" dirty="0">
                <a:solidFill>
                  <a:schemeClr val="tx1"/>
                </a:solidFill>
                <a:effectLst/>
                <a:latin typeface="+mn-lt"/>
                <a:ea typeface="+mn-ea"/>
                <a:cs typeface="+mn-cs"/>
              </a:rPr>
              <a:t> AES Contest 1998 — </a:t>
            </a:r>
            <a:r>
              <a:rPr lang="en-CA" sz="1200" b="1" i="0" kern="1200" dirty="0">
                <a:solidFill>
                  <a:schemeClr val="tx1"/>
                </a:solidFill>
                <a:effectLst/>
                <a:latin typeface="+mn-lt"/>
                <a:ea typeface="+mn-ea"/>
                <a:cs typeface="+mn-cs"/>
              </a:rPr>
              <a:t>perdu </a:t>
            </a:r>
            <a:r>
              <a:rPr lang="en-CA" sz="1200" b="1" i="0" kern="1200" dirty="0" err="1">
                <a:solidFill>
                  <a:schemeClr val="tx1"/>
                </a:solidFill>
                <a:effectLst/>
                <a:latin typeface="+mn-lt"/>
                <a:ea typeface="+mn-ea"/>
                <a:cs typeface="+mn-cs"/>
              </a:rPr>
              <a:t>contre</a:t>
            </a:r>
            <a:r>
              <a:rPr lang="en-CA" sz="1200" b="1" i="0" kern="1200" dirty="0">
                <a:solidFill>
                  <a:schemeClr val="tx1"/>
                </a:solidFill>
                <a:effectLst/>
                <a:latin typeface="+mn-lt"/>
                <a:ea typeface="+mn-ea"/>
                <a:cs typeface="+mn-cs"/>
              </a:rPr>
              <a:t> Rijndael</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Key schedule </a:t>
            </a:r>
            <a:r>
              <a:rPr lang="en-CA" sz="1200" b="0" i="0" kern="1200" dirty="0" err="1">
                <a:solidFill>
                  <a:schemeClr val="tx1"/>
                </a:solidFill>
                <a:effectLst/>
                <a:latin typeface="+mn-lt"/>
                <a:ea typeface="+mn-ea"/>
                <a:cs typeface="+mn-cs"/>
              </a:rPr>
              <a:t>complexe</a:t>
            </a:r>
            <a:r>
              <a:rPr lang="en-CA" sz="1200" b="0" i="0" kern="1200" dirty="0">
                <a:solidFill>
                  <a:schemeClr val="tx1"/>
                </a:solidFill>
                <a:effectLst/>
                <a:latin typeface="+mn-lt"/>
                <a:ea typeface="+mn-ea"/>
                <a:cs typeface="+mn-cs"/>
              </a:rPr>
              <a:t>, MDS matrices, permutations </a:t>
            </a:r>
            <a:r>
              <a:rPr lang="en-CA" sz="1200" b="0" i="0" kern="1200" dirty="0" err="1">
                <a:solidFill>
                  <a:schemeClr val="tx1"/>
                </a:solidFill>
                <a:effectLst/>
                <a:latin typeface="+mn-lt"/>
                <a:ea typeface="+mn-ea"/>
                <a:cs typeface="+mn-cs"/>
              </a:rPr>
              <a:t>dépendantes</a:t>
            </a:r>
            <a:r>
              <a:rPr lang="en-CA" sz="1200" b="0" i="0" kern="1200" dirty="0">
                <a:solidFill>
                  <a:schemeClr val="tx1"/>
                </a:solidFill>
                <a:effectLst/>
                <a:latin typeface="+mn-lt"/>
                <a:ea typeface="+mn-ea"/>
                <a:cs typeface="+mn-cs"/>
              </a:rPr>
              <a:t> de la </a:t>
            </a:r>
            <a:r>
              <a:rPr lang="en-CA" sz="1200" b="0" i="0" kern="1200" dirty="0" err="1">
                <a:solidFill>
                  <a:schemeClr val="tx1"/>
                </a:solidFill>
                <a:effectLst/>
                <a:latin typeface="+mn-lt"/>
                <a:ea typeface="+mn-ea"/>
                <a:cs typeface="+mn-cs"/>
              </a:rPr>
              <a:t>clé</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AES est </a:t>
            </a:r>
            <a:r>
              <a:rPr lang="en-CA" sz="1200" b="1" i="0" kern="1200" dirty="0">
                <a:solidFill>
                  <a:schemeClr val="tx1"/>
                </a:solidFill>
                <a:effectLst/>
                <a:latin typeface="+mn-lt"/>
                <a:ea typeface="+mn-ea"/>
                <a:cs typeface="+mn-cs"/>
              </a:rPr>
              <a:t>147× plus </a:t>
            </a:r>
            <a:r>
              <a:rPr lang="en-CA" sz="1200" b="1" i="0" kern="1200" dirty="0" err="1">
                <a:solidFill>
                  <a:schemeClr val="tx1"/>
                </a:solidFill>
                <a:effectLst/>
                <a:latin typeface="+mn-lt"/>
                <a:ea typeface="+mn-ea"/>
                <a:cs typeface="+mn-cs"/>
              </a:rPr>
              <a:t>rapide</a:t>
            </a:r>
            <a:r>
              <a:rPr lang="en-CA" sz="1200" b="0" i="0" kern="1200" dirty="0">
                <a:solidFill>
                  <a:schemeClr val="tx1"/>
                </a:solidFill>
                <a:effectLst/>
                <a:latin typeface="+mn-lt"/>
                <a:ea typeface="+mn-ea"/>
                <a:cs typeface="+mn-cs"/>
              </a:rPr>
              <a:t> sur x86</a:t>
            </a:r>
          </a:p>
          <a:p>
            <a:r>
              <a:rPr lang="en-CA" sz="1200" b="0" i="0" kern="1200" dirty="0">
                <a:solidFill>
                  <a:schemeClr val="tx1"/>
                </a:solidFill>
                <a:effectLst/>
                <a:latin typeface="+mn-lt"/>
                <a:ea typeface="+mn-ea"/>
                <a:cs typeface="+mn-cs"/>
              </a:rPr>
              <a:t>Verdict : </a:t>
            </a:r>
            <a:r>
              <a:rPr lang="en-CA" sz="1200" b="1" i="0" kern="1200" dirty="0">
                <a:solidFill>
                  <a:schemeClr val="tx1"/>
                </a:solidFill>
                <a:effectLst/>
                <a:latin typeface="+mn-lt"/>
                <a:ea typeface="+mn-ea"/>
                <a:cs typeface="+mn-cs"/>
              </a:rPr>
              <a:t>trop </a:t>
            </a:r>
            <a:r>
              <a:rPr lang="en-CA" sz="1200" b="1" i="0" kern="1200" dirty="0" err="1">
                <a:solidFill>
                  <a:schemeClr val="tx1"/>
                </a:solidFill>
                <a:effectLst/>
                <a:latin typeface="+mn-lt"/>
                <a:ea typeface="+mn-ea"/>
                <a:cs typeface="+mn-cs"/>
              </a:rPr>
              <a:t>complexe</a:t>
            </a:r>
            <a:r>
              <a:rPr lang="en-CA" sz="1200" b="1" i="0" kern="1200" dirty="0">
                <a:solidFill>
                  <a:schemeClr val="tx1"/>
                </a:solidFill>
                <a:effectLst/>
                <a:latin typeface="+mn-lt"/>
                <a:ea typeface="+mn-ea"/>
                <a:cs typeface="+mn-cs"/>
              </a:rPr>
              <a:t>, jamais </a:t>
            </a:r>
            <a:r>
              <a:rPr lang="en-CA" sz="1200" b="1" i="0" kern="1200" dirty="0" err="1">
                <a:solidFill>
                  <a:schemeClr val="tx1"/>
                </a:solidFill>
                <a:effectLst/>
                <a:latin typeface="+mn-lt"/>
                <a:ea typeface="+mn-ea"/>
                <a:cs typeface="+mn-cs"/>
              </a:rPr>
              <a:t>adopté</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industriellement</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Each column gets a </a:t>
            </a:r>
            <a:r>
              <a:rPr lang="en-CA" sz="1200" b="1" i="0" kern="1200" dirty="0">
                <a:solidFill>
                  <a:schemeClr val="tx1"/>
                </a:solidFill>
                <a:effectLst/>
                <a:latin typeface="+mn-lt"/>
                <a:ea typeface="+mn-ea"/>
                <a:cs typeface="+mn-cs"/>
              </a:rPr>
              <a:t>colored header</a:t>
            </a:r>
            <a:r>
              <a:rPr lang="en-CA" sz="1200" b="0" i="0" kern="1200" dirty="0">
                <a:solidFill>
                  <a:schemeClr val="tx1"/>
                </a:solidFill>
                <a:effectLst/>
                <a:latin typeface="+mn-lt"/>
                <a:ea typeface="+mn-ea"/>
                <a:cs typeface="+mn-cs"/>
              </a:rPr>
              <a:t> matching the algorithm's chart color (pink for DES, purple for 3DES, green for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Add a small </a:t>
            </a:r>
            <a:r>
              <a:rPr lang="en-CA" sz="1200" b="1" i="0" kern="1200" dirty="0">
                <a:solidFill>
                  <a:schemeClr val="tx1"/>
                </a:solidFill>
                <a:effectLst/>
                <a:latin typeface="+mn-lt"/>
                <a:ea typeface="+mn-ea"/>
                <a:cs typeface="+mn-cs"/>
              </a:rPr>
              <a:t>red/orange warning badge</a:t>
            </a:r>
            <a:r>
              <a:rPr lang="en-CA" sz="1200" b="0" i="0" kern="1200" dirty="0">
                <a:solidFill>
                  <a:schemeClr val="tx1"/>
                </a:solidFill>
                <a:effectLst/>
                <a:latin typeface="+mn-lt"/>
                <a:ea typeface="+mn-ea"/>
                <a:cs typeface="+mn-cs"/>
              </a:rPr>
              <a:t> under each: "⚠️ </a:t>
            </a:r>
            <a:r>
              <a:rPr lang="en-CA" sz="1200" b="0" i="0" kern="1200" dirty="0" err="1">
                <a:solidFill>
                  <a:schemeClr val="tx1"/>
                </a:solidFill>
                <a:effectLst/>
                <a:latin typeface="+mn-lt"/>
                <a:ea typeface="+mn-ea"/>
                <a:cs typeface="+mn-cs"/>
              </a:rPr>
              <a:t>Déprécié</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Interdit</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Obsolète</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Keep the performance numbers big and visible — 2.82 MB/s for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is shocking next to 163 MB/s for AES</a:t>
            </a:r>
          </a:p>
          <a:p>
            <a:br>
              <a:rPr lang="en-CA" dirty="0"/>
            </a:br>
            <a:endParaRPr lang="en-CA" dirty="0"/>
          </a:p>
          <a:p>
            <a:r>
              <a:rPr lang="en-CA" sz="1200" b="1" i="0" kern="1200" dirty="0">
                <a:solidFill>
                  <a:schemeClr val="tx1"/>
                </a:solidFill>
                <a:effectLst/>
                <a:latin typeface="+mn-lt"/>
                <a:ea typeface="+mn-ea"/>
                <a:cs typeface="+mn-cs"/>
              </a:rPr>
              <a:t>Video 8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8</a:t>
            </a:r>
            <a:r>
              <a:rPr lang="en-CA" sz="1200" b="0" i="0" kern="1200" dirty="0">
                <a:solidFill>
                  <a:schemeClr val="tx1"/>
                </a:solidFill>
                <a:effectLst/>
                <a:latin typeface="+mn-lt"/>
                <a:ea typeface="+mn-ea"/>
                <a:cs typeface="+mn-cs"/>
              </a:rPr>
              <a:t> on this slide. Keep it punchy: "DES — dead since 1998, your laptop can brute force it in hours. 3DES — they tried to fix it by running it three times, now it's three times slower and still not good enough.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 fascinating algorithm, lost the AES competition fair and square, 147 times slower than the winner. These are here so we understand why AES won."</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go deep on the cryptanalysis of each — one sentence verdict per algo is enough</a:t>
            </a:r>
          </a:p>
          <a:p>
            <a:r>
              <a:rPr lang="en-CA" sz="1200" b="0" i="0" kern="1200" dirty="0">
                <a:solidFill>
                  <a:schemeClr val="tx1"/>
                </a:solidFill>
                <a:effectLst/>
                <a:latin typeface="+mn-lt"/>
                <a:ea typeface="+mn-ea"/>
                <a:cs typeface="+mn-cs"/>
              </a:rPr>
              <a:t>Don't show all the mode comparisons for these — ECB only, the story is simple</a:t>
            </a:r>
          </a:p>
          <a:p>
            <a:r>
              <a:rPr lang="en-CA" sz="1200" b="0" i="0" kern="1200" dirty="0">
                <a:solidFill>
                  <a:schemeClr val="tx1"/>
                </a:solidFill>
                <a:effectLst/>
                <a:latin typeface="+mn-lt"/>
                <a:ea typeface="+mn-ea"/>
                <a:cs typeface="+mn-cs"/>
              </a:rPr>
              <a:t>Don't apologize for including them — they're essential historical context and make AES's dominance legible</a:t>
            </a:r>
          </a:p>
          <a:p>
            <a:br>
              <a:rPr lang="en-CA" dirty="0"/>
            </a:br>
            <a:endParaRPr lang="en-CA" dirty="0"/>
          </a:p>
          <a:p>
            <a:r>
              <a:rPr lang="en-CA" sz="1200" b="0" i="0" kern="1200" dirty="0">
                <a:solidFill>
                  <a:schemeClr val="tx1"/>
                </a:solidFill>
                <a:effectLst/>
                <a:latin typeface="+mn-lt"/>
                <a:ea typeface="+mn-ea"/>
                <a:cs typeface="+mn-cs"/>
              </a:rPr>
              <a:t>Three algorithms, three verdicts, one slide. The contrast with AES (163 MB/s) vs </a:t>
            </a:r>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(2.82 MB/s) makes the point without needing explanation. </a:t>
            </a:r>
          </a:p>
          <a:p>
            <a:endParaRPr lang="en-CA" dirty="0"/>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14</a:t>
            </a:fld>
            <a:endParaRPr lang="en-CA"/>
          </a:p>
        </p:txBody>
      </p:sp>
    </p:spTree>
    <p:extLst>
      <p:ext uri="{BB962C8B-B14F-4D97-AF65-F5344CB8AC3E}">
        <p14:creationId xmlns:p14="http://schemas.microsoft.com/office/powerpoint/2010/main" val="25577401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12 — </a:t>
            </a:r>
            <a:r>
              <a:rPr lang="en-CA" sz="1200" b="1" i="0" kern="1200" dirty="0" err="1">
                <a:solidFill>
                  <a:schemeClr val="tx1"/>
                </a:solidFill>
                <a:effectLst/>
                <a:latin typeface="+mn-lt"/>
                <a:ea typeface="+mn-ea"/>
                <a:cs typeface="+mn-cs"/>
              </a:rPr>
              <a:t>Vulnérabilité</a:t>
            </a:r>
            <a:r>
              <a:rPr lang="en-CA" sz="1200" b="1" i="0" kern="1200" dirty="0">
                <a:solidFill>
                  <a:schemeClr val="tx1"/>
                </a:solidFill>
                <a:effectLst/>
                <a:latin typeface="+mn-lt"/>
                <a:ea typeface="+mn-ea"/>
                <a:cs typeface="+mn-cs"/>
              </a:rPr>
              <a:t> ECB</a:t>
            </a: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ECB — Le mode le plus </a:t>
            </a:r>
            <a:r>
              <a:rPr lang="en-CA" sz="1200" b="0" i="0" kern="1200" dirty="0" err="1">
                <a:solidFill>
                  <a:schemeClr val="tx1"/>
                </a:solidFill>
                <a:effectLst/>
                <a:latin typeface="+mn-lt"/>
                <a:ea typeface="+mn-ea"/>
                <a:cs typeface="+mn-cs"/>
              </a:rPr>
              <a:t>rapide</a:t>
            </a:r>
            <a:r>
              <a:rPr lang="en-CA" sz="1200" b="0" i="0" kern="1200" dirty="0">
                <a:solidFill>
                  <a:schemeClr val="tx1"/>
                </a:solidFill>
                <a:effectLst/>
                <a:latin typeface="+mn-lt"/>
                <a:ea typeface="+mn-ea"/>
                <a:cs typeface="+mn-cs"/>
              </a:rPr>
              <a:t> est le plus </a:t>
            </a:r>
            <a:r>
              <a:rPr lang="en-CA" sz="1200" b="0" i="0" kern="1200" dirty="0" err="1">
                <a:solidFill>
                  <a:schemeClr val="tx1"/>
                </a:solidFill>
                <a:effectLst/>
                <a:latin typeface="+mn-lt"/>
                <a:ea typeface="+mn-ea"/>
                <a:cs typeface="+mn-cs"/>
              </a:rPr>
              <a:t>dangereux</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fig8_ecb_vulnerability.png — full width, this IS the slide</a:t>
            </a:r>
          </a:p>
          <a:p>
            <a:r>
              <a:rPr lang="en-CA" sz="1200" b="1" i="0" kern="1200" dirty="0">
                <a:solidFill>
                  <a:schemeClr val="tx1"/>
                </a:solidFill>
                <a:effectLst/>
                <a:latin typeface="+mn-lt"/>
                <a:ea typeface="+mn-ea"/>
                <a:cs typeface="+mn-cs"/>
              </a:rPr>
              <a:t>3 bullet takeaways (below the image):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ECB chiffre </a:t>
            </a:r>
            <a:r>
              <a:rPr lang="en-CA" sz="1200" b="0" i="0" kern="1200" dirty="0" err="1">
                <a:solidFill>
                  <a:schemeClr val="tx1"/>
                </a:solidFill>
                <a:effectLst/>
                <a:latin typeface="+mn-lt"/>
                <a:ea typeface="+mn-ea"/>
                <a:cs typeface="+mn-cs"/>
              </a:rPr>
              <a:t>chaque</a:t>
            </a:r>
            <a:r>
              <a:rPr lang="en-CA" sz="1200" b="0" i="0" kern="1200" dirty="0">
                <a:solidFill>
                  <a:schemeClr val="tx1"/>
                </a:solidFill>
                <a:effectLst/>
                <a:latin typeface="+mn-lt"/>
                <a:ea typeface="+mn-ea"/>
                <a:cs typeface="+mn-cs"/>
              </a:rPr>
              <a:t> bloc </a:t>
            </a:r>
            <a:r>
              <a:rPr lang="en-CA" sz="1200" b="1" i="0" kern="1200" dirty="0" err="1">
                <a:solidFill>
                  <a:schemeClr val="tx1"/>
                </a:solidFill>
                <a:effectLst/>
                <a:latin typeface="+mn-lt"/>
                <a:ea typeface="+mn-ea"/>
                <a:cs typeface="+mn-cs"/>
              </a:rPr>
              <a:t>indépendamment</a:t>
            </a:r>
            <a:r>
              <a:rPr lang="en-CA" sz="1200" b="0" i="0" kern="1200" dirty="0">
                <a:solidFill>
                  <a:schemeClr val="tx1"/>
                </a:solidFill>
                <a:effectLst/>
                <a:latin typeface="+mn-lt"/>
                <a:ea typeface="+mn-ea"/>
                <a:cs typeface="+mn-cs"/>
              </a:rPr>
              <a:t> avec la </a:t>
            </a:r>
            <a:r>
              <a:rPr lang="en-CA" sz="1200" b="0" i="0" kern="1200" dirty="0" err="1">
                <a:solidFill>
                  <a:schemeClr val="tx1"/>
                </a:solidFill>
                <a:effectLst/>
                <a:latin typeface="+mn-lt"/>
                <a:ea typeface="+mn-ea"/>
                <a:cs typeface="+mn-cs"/>
              </a:rPr>
              <a:t>même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clé</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Deux blocs de plaintext </a:t>
            </a:r>
            <a:r>
              <a:rPr lang="en-CA" sz="1200" b="0" i="0" kern="1200" dirty="0" err="1">
                <a:solidFill>
                  <a:schemeClr val="tx1"/>
                </a:solidFill>
                <a:effectLst/>
                <a:latin typeface="+mn-lt"/>
                <a:ea typeface="+mn-ea"/>
                <a:cs typeface="+mn-cs"/>
              </a:rPr>
              <a:t>identiques</a:t>
            </a:r>
            <a:r>
              <a:rPr lang="en-CA" sz="1200" b="0" i="0" kern="1200" dirty="0">
                <a:solidFill>
                  <a:schemeClr val="tx1"/>
                </a:solidFill>
                <a:effectLst/>
                <a:latin typeface="+mn-lt"/>
                <a:ea typeface="+mn-ea"/>
                <a:cs typeface="+mn-cs"/>
              </a:rPr>
              <a:t> → </a:t>
            </a:r>
            <a:r>
              <a:rPr lang="en-CA" sz="1200" b="1" i="0" kern="1200" dirty="0">
                <a:solidFill>
                  <a:schemeClr val="tx1"/>
                </a:solidFill>
                <a:effectLst/>
                <a:latin typeface="+mn-lt"/>
                <a:ea typeface="+mn-ea"/>
                <a:cs typeface="+mn-cs"/>
              </a:rPr>
              <a:t>deux blocs de ciphertext </a:t>
            </a:r>
            <a:r>
              <a:rPr lang="en-CA" sz="1200" b="1" i="0" kern="1200" dirty="0" err="1">
                <a:solidFill>
                  <a:schemeClr val="tx1"/>
                </a:solidFill>
                <a:effectLst/>
                <a:latin typeface="+mn-lt"/>
                <a:ea typeface="+mn-ea"/>
                <a:cs typeface="+mn-cs"/>
              </a:rPr>
              <a:t>identiques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Les patterns </a:t>
            </a:r>
            <a:r>
              <a:rPr lang="en-CA" sz="1200" b="0" i="0" kern="1200" dirty="0" err="1">
                <a:solidFill>
                  <a:schemeClr val="tx1"/>
                </a:solidFill>
                <a:effectLst/>
                <a:latin typeface="+mn-lt"/>
                <a:ea typeface="+mn-ea"/>
                <a:cs typeface="+mn-cs"/>
              </a:rPr>
              <a:t>structurels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survivent</a:t>
            </a:r>
            <a:r>
              <a:rPr lang="en-CA" sz="1200" b="0" i="0" kern="1200" dirty="0">
                <a:solidFill>
                  <a:schemeClr val="tx1"/>
                </a:solidFill>
                <a:effectLst/>
                <a:latin typeface="+mn-lt"/>
                <a:ea typeface="+mn-ea"/>
                <a:cs typeface="+mn-cs"/>
              </a:rPr>
              <a:t> au </a:t>
            </a:r>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 un </a:t>
            </a:r>
            <a:r>
              <a:rPr lang="en-CA" sz="1200" b="0" i="0" kern="1200" dirty="0" err="1">
                <a:solidFill>
                  <a:schemeClr val="tx1"/>
                </a:solidFill>
                <a:effectLst/>
                <a:latin typeface="+mn-lt"/>
                <a:ea typeface="+mn-ea"/>
                <a:cs typeface="+mn-cs"/>
              </a:rPr>
              <a:t>observateur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peut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inférer</a:t>
            </a:r>
            <a:r>
              <a:rPr lang="en-CA" sz="1200" b="0" i="0" kern="1200" dirty="0">
                <a:solidFill>
                  <a:schemeClr val="tx1"/>
                </a:solidFill>
                <a:effectLst/>
                <a:latin typeface="+mn-lt"/>
                <a:ea typeface="+mn-ea"/>
                <a:cs typeface="+mn-cs"/>
              </a:rPr>
              <a:t> le </a:t>
            </a:r>
            <a:r>
              <a:rPr lang="en-CA" sz="1200" b="0" i="0" kern="1200" dirty="0" err="1">
                <a:solidFill>
                  <a:schemeClr val="tx1"/>
                </a:solidFill>
                <a:effectLst/>
                <a:latin typeface="+mn-lt"/>
                <a:ea typeface="+mn-ea"/>
                <a:cs typeface="+mn-cs"/>
              </a:rPr>
              <a:t>contenu</a:t>
            </a:r>
            <a:r>
              <a:rPr lang="en-CA" sz="1200" b="0" i="0" kern="1200" dirty="0">
                <a:solidFill>
                  <a:schemeClr val="tx1"/>
                </a:solidFill>
                <a:effectLst/>
                <a:latin typeface="+mn-lt"/>
                <a:ea typeface="+mn-ea"/>
                <a:cs typeface="+mn-cs"/>
              </a:rPr>
              <a:t> </a:t>
            </a:r>
            <a:r>
              <a:rPr lang="en-CA" sz="1200" b="1" i="0" kern="1200" dirty="0">
                <a:solidFill>
                  <a:schemeClr val="tx1"/>
                </a:solidFill>
                <a:effectLst/>
                <a:latin typeface="+mn-lt"/>
                <a:ea typeface="+mn-ea"/>
                <a:cs typeface="+mn-cs"/>
              </a:rPr>
              <a:t>sans jamais </a:t>
            </a:r>
            <a:r>
              <a:rPr lang="en-CA" sz="1200" b="1" i="0" kern="1200" dirty="0" err="1">
                <a:solidFill>
                  <a:schemeClr val="tx1"/>
                </a:solidFill>
                <a:effectLst/>
                <a:latin typeface="+mn-lt"/>
                <a:ea typeface="+mn-ea"/>
                <a:cs typeface="+mn-cs"/>
              </a:rPr>
              <a:t>casser</a:t>
            </a:r>
            <a:r>
              <a:rPr lang="en-CA" sz="1200" b="1" i="0" kern="1200" dirty="0">
                <a:solidFill>
                  <a:schemeClr val="tx1"/>
                </a:solidFill>
                <a:effectLst/>
                <a:latin typeface="+mn-lt"/>
                <a:ea typeface="+mn-ea"/>
                <a:cs typeface="+mn-cs"/>
              </a:rPr>
              <a:t> la </a:t>
            </a:r>
            <a:r>
              <a:rPr lang="en-CA" sz="1200" b="1" i="0" kern="1200" dirty="0" err="1">
                <a:solidFill>
                  <a:schemeClr val="tx1"/>
                </a:solidFill>
                <a:effectLst/>
                <a:latin typeface="+mn-lt"/>
                <a:ea typeface="+mn-ea"/>
                <a:cs typeface="+mn-cs"/>
              </a:rPr>
              <a:t>clé</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callout (red warning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ECB = 162 MB/s — le </a:t>
            </a:r>
            <a:r>
              <a:rPr lang="en-CA" sz="1200" b="0" i="0" kern="1200" dirty="0" err="1">
                <a:solidFill>
                  <a:schemeClr val="tx1"/>
                </a:solidFill>
                <a:effectLst/>
                <a:latin typeface="+mn-lt"/>
                <a:ea typeface="+mn-ea"/>
                <a:cs typeface="+mn-cs"/>
              </a:rPr>
              <a:t>résultat</a:t>
            </a:r>
            <a:r>
              <a:rPr lang="en-CA" sz="1200" b="0" i="0" kern="1200" dirty="0">
                <a:solidFill>
                  <a:schemeClr val="tx1"/>
                </a:solidFill>
                <a:effectLst/>
                <a:latin typeface="+mn-lt"/>
                <a:ea typeface="+mn-ea"/>
                <a:cs typeface="+mn-cs"/>
              </a:rPr>
              <a:t> le plus </a:t>
            </a:r>
            <a:r>
              <a:rPr lang="en-CA" sz="1200" b="0" i="0" kern="1200" dirty="0" err="1">
                <a:solidFill>
                  <a:schemeClr val="tx1"/>
                </a:solidFill>
                <a:effectLst/>
                <a:latin typeface="+mn-lt"/>
                <a:ea typeface="+mn-ea"/>
                <a:cs typeface="+mn-cs"/>
              </a:rPr>
              <a:t>élevé</a:t>
            </a:r>
            <a:r>
              <a:rPr lang="en-CA" sz="1200" b="0" i="0" kern="1200" dirty="0">
                <a:solidFill>
                  <a:schemeClr val="tx1"/>
                </a:solidFill>
                <a:effectLst/>
                <a:latin typeface="+mn-lt"/>
                <a:ea typeface="+mn-ea"/>
                <a:cs typeface="+mn-cs"/>
              </a:rPr>
              <a:t> du benchmark. </a:t>
            </a:r>
            <a:r>
              <a:rPr lang="en-CA" sz="1200" b="0" i="0" kern="1200" dirty="0" err="1">
                <a:solidFill>
                  <a:schemeClr val="tx1"/>
                </a:solidFill>
                <a:effectLst/>
                <a:latin typeface="+mn-lt"/>
                <a:ea typeface="+mn-ea"/>
                <a:cs typeface="+mn-cs"/>
              </a:rPr>
              <a:t>C'est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aussi</a:t>
            </a:r>
            <a:r>
              <a:rPr lang="en-CA" sz="1200" b="0" i="0" kern="1200" dirty="0">
                <a:solidFill>
                  <a:schemeClr val="tx1"/>
                </a:solidFill>
                <a:effectLst/>
                <a:latin typeface="+mn-lt"/>
                <a:ea typeface="+mn-ea"/>
                <a:cs typeface="+mn-cs"/>
              </a:rPr>
              <a:t> le seul mode </a:t>
            </a:r>
            <a:r>
              <a:rPr lang="en-CA" sz="1200" b="1" i="0" kern="1200" dirty="0" err="1">
                <a:solidFill>
                  <a:schemeClr val="tx1"/>
                </a:solidFill>
                <a:effectLst/>
                <a:latin typeface="+mn-lt"/>
                <a:ea typeface="+mn-ea"/>
                <a:cs typeface="+mn-cs"/>
              </a:rPr>
              <a:t>cryptographiquement</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cassé</a:t>
            </a:r>
            <a:r>
              <a:rPr lang="en-CA" sz="1200" b="0" i="0" kern="1200" dirty="0">
                <a:solidFill>
                  <a:schemeClr val="tx1"/>
                </a:solidFill>
                <a:effectLst/>
                <a:latin typeface="+mn-lt"/>
                <a:ea typeface="+mn-ea"/>
                <a:cs typeface="+mn-cs"/>
              </a:rPr>
              <a:t>. Optimiser sans </a:t>
            </a:r>
            <a:r>
              <a:rPr lang="en-CA" sz="1200" b="0" i="0" kern="1200" dirty="0" err="1">
                <a:solidFill>
                  <a:schemeClr val="tx1"/>
                </a:solidFill>
                <a:effectLst/>
                <a:latin typeface="+mn-lt"/>
                <a:ea typeface="+mn-ea"/>
                <a:cs typeface="+mn-cs"/>
              </a:rPr>
              <a:t>comprendre</a:t>
            </a:r>
            <a:r>
              <a:rPr lang="en-CA" sz="1200" b="0" i="0" kern="1200" dirty="0">
                <a:solidFill>
                  <a:schemeClr val="tx1"/>
                </a:solidFill>
                <a:effectLst/>
                <a:latin typeface="+mn-lt"/>
                <a:ea typeface="+mn-ea"/>
                <a:cs typeface="+mn-cs"/>
              </a:rPr>
              <a:t> la sécurité est </a:t>
            </a:r>
            <a:r>
              <a:rPr lang="en-CA" sz="1200" b="0" i="0" kern="1200" dirty="0" err="1">
                <a:solidFill>
                  <a:schemeClr val="tx1"/>
                </a:solidFill>
                <a:effectLst/>
                <a:latin typeface="+mn-lt"/>
                <a:ea typeface="+mn-ea"/>
                <a:cs typeface="+mn-cs"/>
              </a:rPr>
              <a:t>une</a:t>
            </a:r>
            <a:r>
              <a:rPr lang="en-CA" sz="1200" b="0" i="0" kern="1200" dirty="0">
                <a:solidFill>
                  <a:schemeClr val="tx1"/>
                </a:solidFill>
                <a:effectLst/>
                <a:latin typeface="+mn-lt"/>
                <a:ea typeface="+mn-ea"/>
                <a:cs typeface="+mn-cs"/>
              </a:rPr>
              <a:t> faute </a:t>
            </a:r>
            <a:r>
              <a:rPr lang="en-CA" sz="1200" b="0" i="0" kern="1200" dirty="0" err="1">
                <a:solidFill>
                  <a:schemeClr val="tx1"/>
                </a:solidFill>
                <a:effectLst/>
                <a:latin typeface="+mn-lt"/>
                <a:ea typeface="+mn-ea"/>
                <a:cs typeface="+mn-cs"/>
              </a:rPr>
              <a:t>professionnelle</a:t>
            </a:r>
            <a:r>
              <a:rPr lang="en-CA" sz="1200" b="0" i="0" kern="1200" dirty="0">
                <a:solidFill>
                  <a:schemeClr val="tx1"/>
                </a:solidFill>
                <a:effectLst/>
                <a:latin typeface="+mn-lt"/>
                <a:ea typeface="+mn-ea"/>
                <a:cs typeface="+mn-cs"/>
              </a:rPr>
              <a:t>.</a:t>
            </a:r>
          </a:p>
          <a:p>
            <a:br>
              <a:rPr lang="en-CA" dirty="0"/>
            </a:br>
            <a:endParaRPr lang="en-CA" dirty="0"/>
          </a:p>
          <a:p>
            <a:r>
              <a:rPr lang="en-CA" sz="1200" b="1" i="0" kern="1200" dirty="0">
                <a:solidFill>
                  <a:schemeClr val="tx1"/>
                </a:solidFill>
                <a:effectLst/>
                <a:latin typeface="+mn-lt"/>
                <a:ea typeface="+mn-ea"/>
                <a:cs typeface="+mn-cs"/>
              </a:rPr>
              <a:t>Video 9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9</a:t>
            </a:r>
            <a:r>
              <a:rPr lang="en-CA" sz="1200" b="0" i="0" kern="1200" dirty="0">
                <a:solidFill>
                  <a:schemeClr val="tx1"/>
                </a:solidFill>
                <a:effectLst/>
                <a:latin typeface="+mn-lt"/>
                <a:ea typeface="+mn-ea"/>
                <a:cs typeface="+mn-cs"/>
              </a:rPr>
              <a:t> on this slide. Run </a:t>
            </a:r>
            <a:r>
              <a:rPr lang="en-CA" sz="1200" b="0" i="0" kern="1200" dirty="0">
                <a:solidFill>
                  <a:schemeClr val="tx1"/>
                </a:solidFill>
                <a:effectLst/>
                <a:latin typeface="+mn-lt"/>
                <a:ea typeface="+mn-ea"/>
                <a:cs typeface="+mn-cs"/>
                <a:hlinkClick r:id="rId3"/>
              </a:rPr>
              <a:t>ecb_visual_vulnerability.py</a:t>
            </a:r>
            <a:r>
              <a:rPr lang="en-CA" sz="1200" b="0" i="0" kern="1200" dirty="0">
                <a:solidFill>
                  <a:schemeClr val="tx1"/>
                </a:solidFill>
                <a:effectLst/>
                <a:latin typeface="+mn-lt"/>
                <a:ea typeface="+mn-ea"/>
                <a:cs typeface="+mn-cs"/>
              </a:rPr>
              <a:t> live in the terminal, watch the image appear, then explain: "Every block of identical pixels encrypts to the same ciphertext block. You don't need to break the key — the structure of the data is still visible. This is why ECB is banned in any serious security context."</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explain how to fix ECB — that's already covered in the modes slide (8c)</a:t>
            </a:r>
          </a:p>
          <a:p>
            <a:r>
              <a:rPr lang="en-CA" sz="1200" b="0" i="0" kern="1200" dirty="0">
                <a:solidFill>
                  <a:schemeClr val="tx1"/>
                </a:solidFill>
                <a:effectLst/>
                <a:latin typeface="+mn-lt"/>
                <a:ea typeface="+mn-ea"/>
                <a:cs typeface="+mn-cs"/>
              </a:rPr>
              <a:t>Don't put performance numbers here — the point is purely about security, not speed</a:t>
            </a:r>
          </a:p>
          <a:p>
            <a:r>
              <a:rPr lang="en-CA" sz="1200" b="0" i="0" kern="1200" dirty="0">
                <a:solidFill>
                  <a:schemeClr val="tx1"/>
                </a:solidFill>
                <a:effectLst/>
                <a:latin typeface="+mn-lt"/>
                <a:ea typeface="+mn-ea"/>
                <a:cs typeface="+mn-cs"/>
              </a:rPr>
              <a:t>Let the image do the talking — minimize text, maximize visual</a:t>
            </a:r>
          </a:p>
          <a:p>
            <a:br>
              <a:rPr lang="en-CA" dirty="0"/>
            </a:br>
            <a:endParaRPr lang="en-CA" dirty="0"/>
          </a:p>
          <a:p>
            <a:r>
              <a:rPr lang="en-CA" sz="1200" b="0" i="0" kern="1200" dirty="0">
                <a:solidFill>
                  <a:schemeClr val="tx1"/>
                </a:solidFill>
                <a:effectLst/>
                <a:latin typeface="+mn-lt"/>
                <a:ea typeface="+mn-ea"/>
                <a:cs typeface="+mn-cs"/>
              </a:rPr>
              <a:t>The three-panel image is self-explanatory — original shapes → ECB stripes (structure preserved) → CBC noise (properly hidden). </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15</a:t>
            </a:fld>
            <a:endParaRPr lang="en-CA"/>
          </a:p>
        </p:txBody>
      </p:sp>
    </p:spTree>
    <p:extLst>
      <p:ext uri="{BB962C8B-B14F-4D97-AF65-F5344CB8AC3E}">
        <p14:creationId xmlns:p14="http://schemas.microsoft.com/office/powerpoint/2010/main" val="1503250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13 — </a:t>
            </a:r>
            <a:r>
              <a:rPr lang="en-CA" sz="1200" b="1" i="0" kern="1200" dirty="0" err="1">
                <a:solidFill>
                  <a:schemeClr val="tx1"/>
                </a:solidFill>
                <a:effectLst/>
                <a:latin typeface="+mn-lt"/>
                <a:ea typeface="+mn-ea"/>
                <a:cs typeface="+mn-cs"/>
              </a:rPr>
              <a:t>Effet</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d'avalanche</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Effet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d'avalanche</a:t>
            </a:r>
            <a:r>
              <a:rPr lang="en-CA" sz="1200" b="0" i="0" kern="1200" dirty="0">
                <a:solidFill>
                  <a:schemeClr val="tx1"/>
                </a:solidFill>
                <a:effectLst/>
                <a:latin typeface="+mn-lt"/>
                <a:ea typeface="+mn-ea"/>
                <a:cs typeface="+mn-cs"/>
              </a:rPr>
              <a:t> — La santé </a:t>
            </a:r>
            <a:r>
              <a:rPr lang="en-CA" sz="1200" b="0" i="0" kern="1200" dirty="0" err="1">
                <a:solidFill>
                  <a:schemeClr val="tx1"/>
                </a:solidFill>
                <a:effectLst/>
                <a:latin typeface="+mn-lt"/>
                <a:ea typeface="+mn-ea"/>
                <a:cs typeface="+mn-cs"/>
              </a:rPr>
              <a:t>cryptographique</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algorithmes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Left side — what is it? (2 bullets):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Modifier </a:t>
            </a:r>
            <a:r>
              <a:rPr lang="en-CA" sz="1200" b="1" i="0" kern="1200" dirty="0">
                <a:solidFill>
                  <a:schemeClr val="tx1"/>
                </a:solidFill>
                <a:effectLst/>
                <a:latin typeface="+mn-lt"/>
                <a:ea typeface="+mn-ea"/>
                <a:cs typeface="+mn-cs"/>
              </a:rPr>
              <a:t>1 bit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entrée doit changer ~</a:t>
            </a:r>
            <a:r>
              <a:rPr lang="en-CA" sz="1200" b="1" i="0" kern="1200" dirty="0">
                <a:solidFill>
                  <a:schemeClr val="tx1"/>
                </a:solidFill>
                <a:effectLst/>
                <a:latin typeface="+mn-lt"/>
                <a:ea typeface="+mn-ea"/>
                <a:cs typeface="+mn-cs"/>
              </a:rPr>
              <a:t>50%</a:t>
            </a:r>
            <a:r>
              <a:rPr lang="en-CA" sz="1200" b="0" i="0" kern="1200" dirty="0">
                <a:solidFill>
                  <a:schemeClr val="tx1"/>
                </a:solidFill>
                <a:effectLst/>
                <a:latin typeface="+mn-lt"/>
                <a:ea typeface="+mn-ea"/>
                <a:cs typeface="+mn-cs"/>
              </a:rPr>
              <a:t> des bits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sortie</a:t>
            </a:r>
          </a:p>
          <a:p>
            <a:r>
              <a:rPr lang="en-CA" sz="1200" b="0" i="0" kern="1200" dirty="0" err="1">
                <a:solidFill>
                  <a:schemeClr val="tx1"/>
                </a:solidFill>
                <a:effectLst/>
                <a:latin typeface="+mn-lt"/>
                <a:ea typeface="+mn-ea"/>
                <a:cs typeface="+mn-cs"/>
              </a:rPr>
              <a:t>Idéal</a:t>
            </a:r>
            <a:r>
              <a:rPr lang="en-CA" sz="1200" b="0" i="0" kern="1200" dirty="0">
                <a:solidFill>
                  <a:schemeClr val="tx1"/>
                </a:solidFill>
                <a:effectLst/>
                <a:latin typeface="+mn-lt"/>
                <a:ea typeface="+mn-ea"/>
                <a:cs typeface="+mn-cs"/>
              </a:rPr>
              <a:t> = 0.500 — trop bas = diffusion </a:t>
            </a:r>
            <a:r>
              <a:rPr lang="en-CA" sz="1200" b="0" i="0" kern="1200" dirty="0" err="1">
                <a:solidFill>
                  <a:schemeClr val="tx1"/>
                </a:solidFill>
                <a:effectLst/>
                <a:latin typeface="+mn-lt"/>
                <a:ea typeface="+mn-ea"/>
                <a:cs typeface="+mn-cs"/>
              </a:rPr>
              <a:t>faible</a:t>
            </a:r>
            <a:r>
              <a:rPr lang="en-CA" sz="1200" b="0" i="0" kern="1200" dirty="0">
                <a:solidFill>
                  <a:schemeClr val="tx1"/>
                </a:solidFill>
                <a:effectLst/>
                <a:latin typeface="+mn-lt"/>
                <a:ea typeface="+mn-ea"/>
                <a:cs typeface="+mn-cs"/>
              </a:rPr>
              <a:t>, trop haut = </a:t>
            </a:r>
            <a:r>
              <a:rPr lang="en-CA" sz="1200" b="0" i="0" kern="1200" dirty="0" err="1">
                <a:solidFill>
                  <a:schemeClr val="tx1"/>
                </a:solidFill>
                <a:effectLst/>
                <a:latin typeface="+mn-lt"/>
                <a:ea typeface="+mn-ea"/>
                <a:cs typeface="+mn-cs"/>
              </a:rPr>
              <a:t>anomalie</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mesure</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Center — 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cmp4_avalanche.png</a:t>
            </a:r>
            <a:r>
              <a:rPr lang="en-CA" sz="1200" b="0" i="0" kern="1200" dirty="0">
                <a:solidFill>
                  <a:schemeClr val="tx1"/>
                </a:solidFill>
                <a:effectLst/>
                <a:latin typeface="+mn-lt"/>
                <a:ea typeface="+mn-ea"/>
                <a:cs typeface="+mn-cs"/>
              </a:rPr>
              <a:t> — large</a:t>
            </a:r>
          </a:p>
          <a:p>
            <a:r>
              <a:rPr lang="en-CA" sz="1200" b="1" i="0" kern="1200" dirty="0">
                <a:solidFill>
                  <a:schemeClr val="tx1"/>
                </a:solidFill>
                <a:effectLst/>
                <a:latin typeface="+mn-lt"/>
                <a:ea typeface="+mn-ea"/>
                <a:cs typeface="+mn-cs"/>
              </a:rPr>
              <a:t>Right side — verdict table: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AlgorithmeScoreVerdictAES0.4997✅ Parfait3DES0.5004✅ ExcellentTwofish0.5004✅ ExcellentDES0.4982✅ AcceptableChaCha20</a:t>
            </a:r>
            <a:r>
              <a:rPr lang="en-CA" sz="1200" b="1" i="0" kern="1200" dirty="0">
                <a:solidFill>
                  <a:schemeClr val="tx1"/>
                </a:solidFill>
                <a:effectLst/>
                <a:latin typeface="+mn-lt"/>
                <a:ea typeface="+mn-ea"/>
                <a:cs typeface="+mn-cs"/>
              </a:rPr>
              <a:t>0.5948</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Anomalie</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callout (amber box — for ChaCha20):</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ChaCha20 à 0.594 </a:t>
            </a:r>
            <a:r>
              <a:rPr lang="en-CA" sz="1200" b="0" i="0" kern="1200" dirty="0" err="1">
                <a:solidFill>
                  <a:schemeClr val="tx1"/>
                </a:solidFill>
                <a:effectLst/>
                <a:latin typeface="+mn-lt"/>
                <a:ea typeface="+mn-ea"/>
                <a:cs typeface="+mn-cs"/>
              </a:rPr>
              <a:t>n'est</a:t>
            </a:r>
            <a:r>
              <a:rPr lang="en-CA" sz="1200" b="0" i="0" kern="1200" dirty="0">
                <a:solidFill>
                  <a:schemeClr val="tx1"/>
                </a:solidFill>
                <a:effectLst/>
                <a:latin typeface="+mn-lt"/>
                <a:ea typeface="+mn-ea"/>
                <a:cs typeface="+mn-cs"/>
              </a:rPr>
              <a:t> pas </a:t>
            </a:r>
            <a:r>
              <a:rPr lang="en-CA" sz="1200" b="0" i="0" kern="1200" dirty="0" err="1">
                <a:solidFill>
                  <a:schemeClr val="tx1"/>
                </a:solidFill>
                <a:effectLst/>
                <a:latin typeface="+mn-lt"/>
                <a:ea typeface="+mn-ea"/>
                <a:cs typeface="+mn-cs"/>
              </a:rPr>
              <a:t>une</a:t>
            </a:r>
            <a:r>
              <a:rPr lang="en-CA" sz="1200" b="0" i="0" kern="1200" dirty="0">
                <a:solidFill>
                  <a:schemeClr val="tx1"/>
                </a:solidFill>
                <a:effectLst/>
                <a:latin typeface="+mn-lt"/>
                <a:ea typeface="+mn-ea"/>
                <a:cs typeface="+mn-cs"/>
              </a:rPr>
              <a:t> faille — </a:t>
            </a:r>
            <a:r>
              <a:rPr lang="en-CA" sz="1200" b="0" i="0" kern="1200" dirty="0" err="1">
                <a:solidFill>
                  <a:schemeClr val="tx1"/>
                </a:solidFill>
                <a:effectLst/>
                <a:latin typeface="+mn-lt"/>
                <a:ea typeface="+mn-ea"/>
                <a:cs typeface="+mn-cs"/>
              </a:rPr>
              <a:t>c'est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une</a:t>
            </a:r>
            <a:r>
              <a:rPr lang="en-CA" sz="1200" b="0"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limite</a:t>
            </a:r>
            <a:r>
              <a:rPr lang="en-CA" sz="1200" b="1" i="0" kern="1200" dirty="0">
                <a:solidFill>
                  <a:schemeClr val="tx1"/>
                </a:solidFill>
                <a:effectLst/>
                <a:latin typeface="+mn-lt"/>
                <a:ea typeface="+mn-ea"/>
                <a:cs typeface="+mn-cs"/>
              </a:rPr>
              <a:t> de </a:t>
            </a:r>
            <a:r>
              <a:rPr lang="en-CA" sz="1200" b="1" i="0" kern="1200" dirty="0" err="1">
                <a:solidFill>
                  <a:schemeClr val="tx1"/>
                </a:solidFill>
                <a:effectLst/>
                <a:latin typeface="+mn-lt"/>
                <a:ea typeface="+mn-ea"/>
                <a:cs typeface="+mn-cs"/>
              </a:rPr>
              <a:t>méthodologie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L'avalanche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mesure</a:t>
            </a:r>
            <a:r>
              <a:rPr lang="en-CA" sz="1200" b="0" i="0" kern="1200" dirty="0">
                <a:solidFill>
                  <a:schemeClr val="tx1"/>
                </a:solidFill>
                <a:effectLst/>
                <a:latin typeface="+mn-lt"/>
                <a:ea typeface="+mn-ea"/>
                <a:cs typeface="+mn-cs"/>
              </a:rPr>
              <a:t> la diffusion d'un </a:t>
            </a:r>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par blocs. ChaCha20 est un </a:t>
            </a:r>
            <a:r>
              <a:rPr lang="en-CA" sz="1200" b="0" i="0" kern="1200" dirty="0" err="1">
                <a:solidFill>
                  <a:schemeClr val="tx1"/>
                </a:solidFill>
                <a:effectLst/>
                <a:latin typeface="+mn-lt"/>
                <a:ea typeface="+mn-ea"/>
                <a:cs typeface="+mn-cs"/>
              </a:rPr>
              <a:t>chiffrement</a:t>
            </a:r>
            <a:r>
              <a:rPr lang="en-CA" sz="1200" b="0" i="0" kern="1200" dirty="0">
                <a:solidFill>
                  <a:schemeClr val="tx1"/>
                </a:solidFill>
                <a:effectLst/>
                <a:latin typeface="+mn-lt"/>
                <a:ea typeface="+mn-ea"/>
                <a:cs typeface="+mn-cs"/>
              </a:rPr>
              <a:t> de flux : son keystream est </a:t>
            </a:r>
            <a:r>
              <a:rPr lang="en-CA" sz="1200" b="0" i="0" kern="1200" dirty="0" err="1">
                <a:solidFill>
                  <a:schemeClr val="tx1"/>
                </a:solidFill>
                <a:effectLst/>
                <a:latin typeface="+mn-lt"/>
                <a:ea typeface="+mn-ea"/>
                <a:cs typeface="+mn-cs"/>
              </a:rPr>
              <a:t>calculé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indépendamment</a:t>
            </a:r>
            <a:r>
              <a:rPr lang="en-CA" sz="1200" b="0" i="0" kern="1200" dirty="0">
                <a:solidFill>
                  <a:schemeClr val="tx1"/>
                </a:solidFill>
                <a:effectLst/>
                <a:latin typeface="+mn-lt"/>
                <a:ea typeface="+mn-ea"/>
                <a:cs typeface="+mn-cs"/>
              </a:rPr>
              <a:t> du plaintext, le XOR final </a:t>
            </a:r>
            <a:r>
              <a:rPr lang="en-CA" sz="1200" b="0" i="0" kern="1200" dirty="0" err="1">
                <a:solidFill>
                  <a:schemeClr val="tx1"/>
                </a:solidFill>
                <a:effectLst/>
                <a:latin typeface="+mn-lt"/>
                <a:ea typeface="+mn-ea"/>
                <a:cs typeface="+mn-cs"/>
              </a:rPr>
              <a:t>produit</a:t>
            </a:r>
            <a:r>
              <a:rPr lang="en-CA" sz="1200" b="0" i="0" kern="1200" dirty="0">
                <a:solidFill>
                  <a:schemeClr val="tx1"/>
                </a:solidFill>
                <a:effectLst/>
                <a:latin typeface="+mn-lt"/>
                <a:ea typeface="+mn-ea"/>
                <a:cs typeface="+mn-cs"/>
              </a:rPr>
              <a:t> un score </a:t>
            </a:r>
            <a:r>
              <a:rPr lang="en-CA" sz="1200" b="0" i="0" kern="1200" dirty="0" err="1">
                <a:solidFill>
                  <a:schemeClr val="tx1"/>
                </a:solidFill>
                <a:effectLst/>
                <a:latin typeface="+mn-lt"/>
                <a:ea typeface="+mn-ea"/>
                <a:cs typeface="+mn-cs"/>
              </a:rPr>
              <a:t>naturellement</a:t>
            </a:r>
            <a:r>
              <a:rPr lang="en-CA" sz="1200" b="0" i="0" kern="1200" dirty="0">
                <a:solidFill>
                  <a:schemeClr val="tx1"/>
                </a:solidFill>
                <a:effectLst/>
                <a:latin typeface="+mn-lt"/>
                <a:ea typeface="+mn-ea"/>
                <a:cs typeface="+mn-cs"/>
              </a:rPr>
              <a:t> plus </a:t>
            </a:r>
            <a:r>
              <a:rPr lang="en-CA" sz="1200" b="0" i="0" kern="1200" dirty="0" err="1">
                <a:solidFill>
                  <a:schemeClr val="tx1"/>
                </a:solidFill>
                <a:effectLst/>
                <a:latin typeface="+mn-lt"/>
                <a:ea typeface="+mn-ea"/>
                <a:cs typeface="+mn-cs"/>
              </a:rPr>
              <a:t>élevé</a:t>
            </a:r>
            <a:r>
              <a:rPr lang="en-CA" sz="1200" b="0" i="0" kern="1200" dirty="0">
                <a:solidFill>
                  <a:schemeClr val="tx1"/>
                </a:solidFill>
                <a:effectLst/>
                <a:latin typeface="+mn-lt"/>
                <a:ea typeface="+mn-ea"/>
                <a:cs typeface="+mn-cs"/>
              </a:rPr>
              <a:t>. La </a:t>
            </a:r>
            <a:r>
              <a:rPr lang="en-CA" sz="1200" b="0" i="0" kern="1200" dirty="0" err="1">
                <a:solidFill>
                  <a:schemeClr val="tx1"/>
                </a:solidFill>
                <a:effectLst/>
                <a:latin typeface="+mn-lt"/>
                <a:ea typeface="+mn-ea"/>
                <a:cs typeface="+mn-cs"/>
              </a:rPr>
              <a:t>métrique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n'est</a:t>
            </a:r>
            <a:r>
              <a:rPr lang="en-CA" sz="1200" b="0" i="0" kern="1200" dirty="0">
                <a:solidFill>
                  <a:schemeClr val="tx1"/>
                </a:solidFill>
                <a:effectLst/>
                <a:latin typeface="+mn-lt"/>
                <a:ea typeface="+mn-ea"/>
                <a:cs typeface="+mn-cs"/>
              </a:rPr>
              <a:t> pas </a:t>
            </a:r>
            <a:r>
              <a:rPr lang="en-CA" sz="1200" b="0" i="0" kern="1200" dirty="0" err="1">
                <a:solidFill>
                  <a:schemeClr val="tx1"/>
                </a:solidFill>
                <a:effectLst/>
                <a:latin typeface="+mn-lt"/>
                <a:ea typeface="+mn-ea"/>
                <a:cs typeface="+mn-cs"/>
              </a:rPr>
              <a:t>directement</a:t>
            </a:r>
            <a:r>
              <a:rPr lang="en-CA" sz="1200" b="0" i="0" kern="1200" dirty="0">
                <a:solidFill>
                  <a:schemeClr val="tx1"/>
                </a:solidFill>
                <a:effectLst/>
                <a:latin typeface="+mn-lt"/>
                <a:ea typeface="+mn-ea"/>
                <a:cs typeface="+mn-cs"/>
              </a:rPr>
              <a:t> transposable.</a:t>
            </a: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The 0.500 dashed reference line on the chart is the hero — everything should cluster around it except ChaCha20</a:t>
            </a:r>
          </a:p>
          <a:p>
            <a:r>
              <a:rPr lang="en-CA" sz="1200" b="0" i="0" kern="1200" dirty="0">
                <a:solidFill>
                  <a:schemeClr val="tx1"/>
                </a:solidFill>
                <a:effectLst/>
                <a:latin typeface="+mn-lt"/>
                <a:ea typeface="+mn-ea"/>
                <a:cs typeface="+mn-cs"/>
              </a:rPr>
              <a:t>ChaCha20's bar sticking above the others is instantly visible and creates a natural "wait, what?" moment for the audience — let it breathe, then explain it</a:t>
            </a:r>
          </a:p>
          <a:p>
            <a:r>
              <a:rPr lang="en-CA" sz="1200" b="0" i="0" kern="1200" dirty="0">
                <a:solidFill>
                  <a:schemeClr val="tx1"/>
                </a:solidFill>
                <a:effectLst/>
                <a:latin typeface="+mn-lt"/>
                <a:ea typeface="+mn-ea"/>
                <a:cs typeface="+mn-cs"/>
              </a:rPr>
              <a:t>Color the ChaCha20 row in the table amber/yellow to match the callout</a:t>
            </a:r>
          </a:p>
          <a:p>
            <a:br>
              <a:rPr lang="en-CA" dirty="0"/>
            </a:br>
            <a:endParaRPr lang="en-CA" dirty="0"/>
          </a:p>
          <a:p>
            <a:r>
              <a:rPr lang="en-CA" sz="1200" b="1" i="0" kern="1200" dirty="0">
                <a:solidFill>
                  <a:schemeClr val="tx1"/>
                </a:solidFill>
                <a:effectLst/>
                <a:latin typeface="+mn-lt"/>
                <a:ea typeface="+mn-ea"/>
                <a:cs typeface="+mn-cs"/>
              </a:rPr>
              <a:t>Video 10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10</a:t>
            </a:r>
            <a:r>
              <a:rPr lang="en-CA" sz="1200" b="0" i="0" kern="1200" dirty="0">
                <a:solidFill>
                  <a:schemeClr val="tx1"/>
                </a:solidFill>
                <a:effectLst/>
                <a:latin typeface="+mn-lt"/>
                <a:ea typeface="+mn-ea"/>
                <a:cs typeface="+mn-cs"/>
              </a:rPr>
              <a:t> on this slide. "Imagine you have a locked box — you change one digit of the combination. Does the inside look completely different? That's what we're measuring. For AES, changing one input bit scrambles exactly half the output bits — the mathematical ideal. DES is close. Then there's ChaCha20 at 0.594 — but that's not a flaw, it's a measurement mismatch."</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put the key avalanche (fig4b) here — that's the next slide</a:t>
            </a:r>
          </a:p>
          <a:p>
            <a:r>
              <a:rPr lang="en-CA" sz="1200" b="0" i="0" kern="1200" dirty="0">
                <a:solidFill>
                  <a:schemeClr val="tx1"/>
                </a:solidFill>
                <a:effectLst/>
                <a:latin typeface="+mn-lt"/>
                <a:ea typeface="+mn-ea"/>
                <a:cs typeface="+mn-cs"/>
              </a:rPr>
              <a:t>Don't dismiss ChaCha20's score without explaining why — the audience will spot it and wonder</a:t>
            </a:r>
          </a:p>
          <a:p>
            <a:r>
              <a:rPr lang="en-CA" sz="1200" b="0" i="0" kern="1200" dirty="0">
                <a:solidFill>
                  <a:schemeClr val="tx1"/>
                </a:solidFill>
                <a:effectLst/>
                <a:latin typeface="+mn-lt"/>
                <a:ea typeface="+mn-ea"/>
                <a:cs typeface="+mn-cs"/>
              </a:rPr>
              <a:t>Don't show raw per-configuration numbers — the averaged chart tells the story cleanly</a:t>
            </a:r>
          </a:p>
          <a:p>
            <a:br>
              <a:rPr lang="en-CA" dirty="0"/>
            </a:br>
            <a:endParaRPr lang="en-CA" dirty="0"/>
          </a:p>
          <a:p>
            <a:r>
              <a:rPr lang="en-CA" sz="1200" b="0" i="0" kern="1200" dirty="0">
                <a:solidFill>
                  <a:schemeClr val="tx1"/>
                </a:solidFill>
                <a:effectLst/>
                <a:latin typeface="+mn-lt"/>
                <a:ea typeface="+mn-ea"/>
                <a:cs typeface="+mn-cs"/>
              </a:rPr>
              <a:t>The ChaCha20 anomaly is the most interesting moment on this slide — it looks like a problem but it's actually a lesson about measurement methodology.</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16</a:t>
            </a:fld>
            <a:endParaRPr lang="en-CA"/>
          </a:p>
        </p:txBody>
      </p:sp>
    </p:spTree>
    <p:extLst>
      <p:ext uri="{BB962C8B-B14F-4D97-AF65-F5344CB8AC3E}">
        <p14:creationId xmlns:p14="http://schemas.microsoft.com/office/powerpoint/2010/main" val="2680602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14 — </a:t>
            </a:r>
            <a:r>
              <a:rPr lang="en-CA" sz="1200" b="1" i="0" kern="1200" dirty="0" err="1">
                <a:solidFill>
                  <a:schemeClr val="tx1"/>
                </a:solidFill>
                <a:effectLst/>
                <a:latin typeface="+mn-lt"/>
                <a:ea typeface="+mn-ea"/>
                <a:cs typeface="+mn-cs"/>
              </a:rPr>
              <a:t>Sensibilité</a:t>
            </a:r>
            <a:r>
              <a:rPr lang="en-CA" sz="1200" b="1" i="0" kern="1200" dirty="0">
                <a:solidFill>
                  <a:schemeClr val="tx1"/>
                </a:solidFill>
                <a:effectLst/>
                <a:latin typeface="+mn-lt"/>
                <a:ea typeface="+mn-ea"/>
                <a:cs typeface="+mn-cs"/>
              </a:rPr>
              <a:t> aux </a:t>
            </a:r>
            <a:r>
              <a:rPr lang="en-CA" sz="1200" b="1" i="0" kern="1200" dirty="0" err="1">
                <a:solidFill>
                  <a:schemeClr val="tx1"/>
                </a:solidFill>
                <a:effectLst/>
                <a:latin typeface="+mn-lt"/>
                <a:ea typeface="+mn-ea"/>
                <a:cs typeface="+mn-cs"/>
              </a:rPr>
              <a:t>clés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Sensibilité</a:t>
            </a:r>
            <a:r>
              <a:rPr lang="en-CA" sz="1200" b="0" i="0" kern="1200" dirty="0">
                <a:solidFill>
                  <a:schemeClr val="tx1"/>
                </a:solidFill>
                <a:effectLst/>
                <a:latin typeface="+mn-lt"/>
                <a:ea typeface="+mn-ea"/>
                <a:cs typeface="+mn-cs"/>
              </a:rPr>
              <a:t> aux </a:t>
            </a:r>
            <a:r>
              <a:rPr lang="en-CA" sz="1200" b="0" i="0" kern="1200" dirty="0" err="1">
                <a:solidFill>
                  <a:schemeClr val="tx1"/>
                </a:solidFill>
                <a:effectLst/>
                <a:latin typeface="+mn-lt"/>
                <a:ea typeface="+mn-ea"/>
                <a:cs typeface="+mn-cs"/>
              </a:rPr>
              <a:t>clés</a:t>
            </a:r>
            <a:r>
              <a:rPr lang="en-CA" sz="1200" b="0" i="0" kern="1200" dirty="0">
                <a:solidFill>
                  <a:schemeClr val="tx1"/>
                </a:solidFill>
                <a:effectLst/>
                <a:latin typeface="+mn-lt"/>
                <a:ea typeface="+mn-ea"/>
                <a:cs typeface="+mn-cs"/>
              </a:rPr>
              <a:t> — Quand changer un bit de </a:t>
            </a:r>
            <a:r>
              <a:rPr lang="en-CA" sz="1200" b="0" i="0" kern="1200" dirty="0" err="1">
                <a:solidFill>
                  <a:schemeClr val="tx1"/>
                </a:solidFill>
                <a:effectLst/>
                <a:latin typeface="+mn-lt"/>
                <a:ea typeface="+mn-ea"/>
                <a:cs typeface="+mn-cs"/>
              </a:rPr>
              <a:t>clé</a:t>
            </a:r>
            <a:r>
              <a:rPr lang="en-CA" sz="1200" b="0" i="0" kern="1200" dirty="0">
                <a:solidFill>
                  <a:schemeClr val="tx1"/>
                </a:solidFill>
                <a:effectLst/>
                <a:latin typeface="+mn-lt"/>
                <a:ea typeface="+mn-ea"/>
                <a:cs typeface="+mn-cs"/>
              </a:rPr>
              <a:t> ne </a:t>
            </a:r>
            <a:r>
              <a:rPr lang="en-CA" sz="1200" b="0" i="0" kern="1200" dirty="0" err="1">
                <a:solidFill>
                  <a:schemeClr val="tx1"/>
                </a:solidFill>
                <a:effectLst/>
                <a:latin typeface="+mn-lt"/>
                <a:ea typeface="+mn-ea"/>
                <a:cs typeface="+mn-cs"/>
              </a:rPr>
              <a:t>suffit</a:t>
            </a:r>
            <a:r>
              <a:rPr lang="en-CA" sz="1200" b="0" i="0" kern="1200" dirty="0">
                <a:solidFill>
                  <a:schemeClr val="tx1"/>
                </a:solidFill>
                <a:effectLst/>
                <a:latin typeface="+mn-lt"/>
                <a:ea typeface="+mn-ea"/>
                <a:cs typeface="+mn-cs"/>
              </a:rPr>
              <a:t> pas</a:t>
            </a:r>
          </a:p>
          <a:p>
            <a:r>
              <a:rPr lang="en-CA" sz="1200" b="1" i="0" kern="1200" dirty="0">
                <a:solidFill>
                  <a:schemeClr val="tx1"/>
                </a:solidFill>
                <a:effectLst/>
                <a:latin typeface="+mn-lt"/>
                <a:ea typeface="+mn-ea"/>
                <a:cs typeface="+mn-cs"/>
              </a:rPr>
              <a:t>Left side — what is it? (2 bullets):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Modifier </a:t>
            </a:r>
            <a:r>
              <a:rPr lang="en-CA" sz="1200" b="1" i="0" kern="1200" dirty="0">
                <a:solidFill>
                  <a:schemeClr val="tx1"/>
                </a:solidFill>
                <a:effectLst/>
                <a:latin typeface="+mn-lt"/>
                <a:ea typeface="+mn-ea"/>
                <a:cs typeface="+mn-cs"/>
              </a:rPr>
              <a:t>1 bit de la </a:t>
            </a:r>
            <a:r>
              <a:rPr lang="en-CA" sz="1200" b="1" i="0" kern="1200" dirty="0" err="1">
                <a:solidFill>
                  <a:schemeClr val="tx1"/>
                </a:solidFill>
                <a:effectLst/>
                <a:latin typeface="+mn-lt"/>
                <a:ea typeface="+mn-ea"/>
                <a:cs typeface="+mn-cs"/>
              </a:rPr>
              <a:t>clé</a:t>
            </a:r>
            <a:r>
              <a:rPr lang="en-CA" sz="1200" b="0" i="0" kern="1200" dirty="0">
                <a:solidFill>
                  <a:schemeClr val="tx1"/>
                </a:solidFill>
                <a:effectLst/>
                <a:latin typeface="+mn-lt"/>
                <a:ea typeface="+mn-ea"/>
                <a:cs typeface="+mn-cs"/>
              </a:rPr>
              <a:t> doit </a:t>
            </a:r>
            <a:r>
              <a:rPr lang="en-CA" sz="1200" b="0" i="0" kern="1200" dirty="0" err="1">
                <a:solidFill>
                  <a:schemeClr val="tx1"/>
                </a:solidFill>
                <a:effectLst/>
                <a:latin typeface="+mn-lt"/>
                <a:ea typeface="+mn-ea"/>
                <a:cs typeface="+mn-cs"/>
              </a:rPr>
              <a:t>aussi</a:t>
            </a:r>
            <a:r>
              <a:rPr lang="en-CA" sz="1200" b="0" i="0" kern="1200" dirty="0">
                <a:solidFill>
                  <a:schemeClr val="tx1"/>
                </a:solidFill>
                <a:effectLst/>
                <a:latin typeface="+mn-lt"/>
                <a:ea typeface="+mn-ea"/>
                <a:cs typeface="+mn-cs"/>
              </a:rPr>
              <a:t> changer ~</a:t>
            </a:r>
            <a:r>
              <a:rPr lang="en-CA" sz="1200" b="1" i="0" kern="1200" dirty="0">
                <a:solidFill>
                  <a:schemeClr val="tx1"/>
                </a:solidFill>
                <a:effectLst/>
                <a:latin typeface="+mn-lt"/>
                <a:ea typeface="+mn-ea"/>
                <a:cs typeface="+mn-cs"/>
              </a:rPr>
              <a:t>50%</a:t>
            </a:r>
            <a:r>
              <a:rPr lang="en-CA" sz="1200" b="0" i="0" kern="1200" dirty="0">
                <a:solidFill>
                  <a:schemeClr val="tx1"/>
                </a:solidFill>
                <a:effectLst/>
                <a:latin typeface="+mn-lt"/>
                <a:ea typeface="+mn-ea"/>
                <a:cs typeface="+mn-cs"/>
              </a:rPr>
              <a:t> des bits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sortie</a:t>
            </a:r>
          </a:p>
          <a:p>
            <a:r>
              <a:rPr lang="en-CA" sz="1200" b="0" i="0" kern="1200" dirty="0" err="1">
                <a:solidFill>
                  <a:schemeClr val="tx1"/>
                </a:solidFill>
                <a:effectLst/>
                <a:latin typeface="+mn-lt"/>
                <a:ea typeface="+mn-ea"/>
                <a:cs typeface="+mn-cs"/>
              </a:rPr>
              <a:t>Mesure</a:t>
            </a:r>
            <a:r>
              <a:rPr lang="en-CA" sz="1200" b="0" i="0" kern="1200" dirty="0">
                <a:solidFill>
                  <a:schemeClr val="tx1"/>
                </a:solidFill>
                <a:effectLst/>
                <a:latin typeface="+mn-lt"/>
                <a:ea typeface="+mn-ea"/>
                <a:cs typeface="+mn-cs"/>
              </a:rPr>
              <a:t> la </a:t>
            </a:r>
            <a:r>
              <a:rPr lang="en-CA" sz="1200" b="0" i="0" kern="1200" dirty="0" err="1">
                <a:solidFill>
                  <a:schemeClr val="tx1"/>
                </a:solidFill>
                <a:effectLst/>
                <a:latin typeface="+mn-lt"/>
                <a:ea typeface="+mn-ea"/>
                <a:cs typeface="+mn-cs"/>
              </a:rPr>
              <a:t>qualité</a:t>
            </a:r>
            <a:r>
              <a:rPr lang="en-CA" sz="1200" b="0" i="0" kern="1200" dirty="0">
                <a:solidFill>
                  <a:schemeClr val="tx1"/>
                </a:solidFill>
                <a:effectLst/>
                <a:latin typeface="+mn-lt"/>
                <a:ea typeface="+mn-ea"/>
                <a:cs typeface="+mn-cs"/>
              </a:rPr>
              <a:t> du </a:t>
            </a:r>
            <a:r>
              <a:rPr lang="en-CA" sz="1200" b="1" i="0" kern="1200" dirty="0">
                <a:solidFill>
                  <a:schemeClr val="tx1"/>
                </a:solidFill>
                <a:effectLst/>
                <a:latin typeface="+mn-lt"/>
                <a:ea typeface="+mn-ea"/>
                <a:cs typeface="+mn-cs"/>
              </a:rPr>
              <a:t>key schedule</a:t>
            </a:r>
            <a:r>
              <a:rPr lang="en-CA" sz="1200" b="0" i="0" kern="1200" dirty="0">
                <a:solidFill>
                  <a:schemeClr val="tx1"/>
                </a:solidFill>
                <a:effectLst/>
                <a:latin typeface="+mn-lt"/>
                <a:ea typeface="+mn-ea"/>
                <a:cs typeface="+mn-cs"/>
              </a:rPr>
              <a:t> — la façon </a:t>
            </a:r>
            <a:r>
              <a:rPr lang="en-CA" sz="1200" b="0" i="0" kern="1200" dirty="0" err="1">
                <a:solidFill>
                  <a:schemeClr val="tx1"/>
                </a:solidFill>
                <a:effectLst/>
                <a:latin typeface="+mn-lt"/>
                <a:ea typeface="+mn-ea"/>
                <a:cs typeface="+mn-cs"/>
              </a:rPr>
              <a:t>dont</a:t>
            </a:r>
            <a:r>
              <a:rPr lang="en-CA" sz="1200" b="0" i="0" kern="1200" dirty="0">
                <a:solidFill>
                  <a:schemeClr val="tx1"/>
                </a:solidFill>
                <a:effectLst/>
                <a:latin typeface="+mn-lt"/>
                <a:ea typeface="+mn-ea"/>
                <a:cs typeface="+mn-cs"/>
              </a:rPr>
              <a:t> la </a:t>
            </a:r>
            <a:r>
              <a:rPr lang="en-CA" sz="1200" b="0" i="0" kern="1200" dirty="0" err="1">
                <a:solidFill>
                  <a:schemeClr val="tx1"/>
                </a:solidFill>
                <a:effectLst/>
                <a:latin typeface="+mn-lt"/>
                <a:ea typeface="+mn-ea"/>
                <a:cs typeface="+mn-cs"/>
              </a:rPr>
              <a:t>clé</a:t>
            </a:r>
            <a:r>
              <a:rPr lang="en-CA" sz="1200" b="0" i="0" kern="1200" dirty="0">
                <a:solidFill>
                  <a:schemeClr val="tx1"/>
                </a:solidFill>
                <a:effectLst/>
                <a:latin typeface="+mn-lt"/>
                <a:ea typeface="+mn-ea"/>
                <a:cs typeface="+mn-cs"/>
              </a:rPr>
              <a:t> est </a:t>
            </a:r>
            <a:r>
              <a:rPr lang="en-CA" sz="1200" b="0" i="0" kern="1200" dirty="0" err="1">
                <a:solidFill>
                  <a:schemeClr val="tx1"/>
                </a:solidFill>
                <a:effectLst/>
                <a:latin typeface="+mn-lt"/>
                <a:ea typeface="+mn-ea"/>
                <a:cs typeface="+mn-cs"/>
              </a:rPr>
              <a:t>étendue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sous-</a:t>
            </a:r>
            <a:r>
              <a:rPr lang="en-CA" sz="1200" b="0" i="0" kern="1200" dirty="0" err="1">
                <a:solidFill>
                  <a:schemeClr val="tx1"/>
                </a:solidFill>
                <a:effectLst/>
                <a:latin typeface="+mn-lt"/>
                <a:ea typeface="+mn-ea"/>
                <a:cs typeface="+mn-cs"/>
              </a:rPr>
              <a:t>clés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Center — 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fig4b_key_avalanche.png</a:t>
            </a:r>
            <a:r>
              <a:rPr lang="en-CA" sz="1200" b="0" i="0" kern="1200" dirty="0">
                <a:solidFill>
                  <a:schemeClr val="tx1"/>
                </a:solidFill>
                <a:effectLst/>
                <a:latin typeface="+mn-lt"/>
                <a:ea typeface="+mn-ea"/>
                <a:cs typeface="+mn-cs"/>
              </a:rPr>
              <a:t> — large</a:t>
            </a:r>
          </a:p>
          <a:p>
            <a:r>
              <a:rPr lang="en-CA" sz="1200" b="1" i="0" kern="1200" dirty="0">
                <a:solidFill>
                  <a:schemeClr val="tx1"/>
                </a:solidFill>
                <a:effectLst/>
                <a:latin typeface="+mn-lt"/>
                <a:ea typeface="+mn-ea"/>
                <a:cs typeface="+mn-cs"/>
              </a:rPr>
              <a:t>Right side — verdict table: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AlgorithmeScore</a:t>
            </a:r>
            <a:r>
              <a:rPr lang="en-CA" sz="1200" b="0" i="0" kern="1200" dirty="0">
                <a:solidFill>
                  <a:schemeClr val="tx1"/>
                </a:solidFill>
                <a:effectLst/>
                <a:latin typeface="+mn-lt"/>
                <a:ea typeface="+mn-ea"/>
                <a:cs typeface="+mn-cs"/>
              </a:rPr>
              <a:t> cléVerdictAES0.5007✅ ParfaitTwofish0.5005✅ ExcellentChaCha200.5927⚠️ Voir slide 13DES</a:t>
            </a:r>
            <a:r>
              <a:rPr lang="en-CA" sz="1200" b="1" i="0" kern="1200" dirty="0">
                <a:solidFill>
                  <a:schemeClr val="tx1"/>
                </a:solidFill>
                <a:effectLst/>
                <a:latin typeface="+mn-lt"/>
                <a:ea typeface="+mn-ea"/>
                <a:cs typeface="+mn-cs"/>
              </a:rPr>
              <a:t>0.4396</a:t>
            </a:r>
            <a:r>
              <a:rPr lang="en-CA" sz="1200" b="0" i="0" kern="1200" dirty="0">
                <a:solidFill>
                  <a:schemeClr val="tx1"/>
                </a:solidFill>
                <a:effectLst/>
                <a:latin typeface="+mn-lt"/>
                <a:ea typeface="+mn-ea"/>
                <a:cs typeface="+mn-cs"/>
              </a:rPr>
              <a:t>🚨 Faible3DES</a:t>
            </a:r>
            <a:r>
              <a:rPr lang="en-CA" sz="1200" b="1" i="0" kern="1200" dirty="0">
                <a:solidFill>
                  <a:schemeClr val="tx1"/>
                </a:solidFill>
                <a:effectLst/>
                <a:latin typeface="+mn-lt"/>
                <a:ea typeface="+mn-ea"/>
                <a:cs typeface="+mn-cs"/>
              </a:rPr>
              <a:t>0.4410</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Faible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hérité</a:t>
            </a:r>
            <a:r>
              <a:rPr lang="en-CA" sz="1200" b="0" i="0" kern="1200" dirty="0">
                <a:solidFill>
                  <a:schemeClr val="tx1"/>
                </a:solidFill>
                <a:effectLst/>
                <a:latin typeface="+mn-lt"/>
                <a:ea typeface="+mn-ea"/>
                <a:cs typeface="+mn-cs"/>
              </a:rPr>
              <a:t>)</a:t>
            </a:r>
          </a:p>
          <a:p>
            <a:r>
              <a:rPr lang="en-CA" sz="1200" b="1" i="0" kern="1200" dirty="0">
                <a:solidFill>
                  <a:schemeClr val="tx1"/>
                </a:solidFill>
                <a:effectLst/>
                <a:latin typeface="+mn-lt"/>
                <a:ea typeface="+mn-ea"/>
                <a:cs typeface="+mn-cs"/>
              </a:rPr>
              <a:t>Bottom callout (red warning box):</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DES à 0.439 — </a:t>
            </a:r>
            <a:r>
              <a:rPr lang="en-CA" sz="1200" b="0" i="0" kern="1200" dirty="0" err="1">
                <a:solidFill>
                  <a:schemeClr val="tx1"/>
                </a:solidFill>
                <a:effectLst/>
                <a:latin typeface="+mn-lt"/>
                <a:ea typeface="+mn-ea"/>
                <a:cs typeface="+mn-cs"/>
              </a:rPr>
              <a:t>ce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n'est</a:t>
            </a:r>
            <a:r>
              <a:rPr lang="en-CA" sz="1200" b="0" i="0" kern="1200" dirty="0">
                <a:solidFill>
                  <a:schemeClr val="tx1"/>
                </a:solidFill>
                <a:effectLst/>
                <a:latin typeface="+mn-lt"/>
                <a:ea typeface="+mn-ea"/>
                <a:cs typeface="+mn-cs"/>
              </a:rPr>
              <a:t> pas un artefact. </a:t>
            </a:r>
            <a:r>
              <a:rPr lang="en-CA" sz="1200" b="1" i="0" kern="1200" dirty="0">
                <a:solidFill>
                  <a:schemeClr val="tx1"/>
                </a:solidFill>
                <a:effectLst/>
                <a:latin typeface="+mn-lt"/>
                <a:ea typeface="+mn-ea"/>
                <a:cs typeface="+mn-cs"/>
              </a:rPr>
              <a:t>64 </a:t>
            </a:r>
            <a:r>
              <a:rPr lang="en-CA" sz="1200" b="1" i="0" kern="1200" dirty="0" err="1">
                <a:solidFill>
                  <a:schemeClr val="tx1"/>
                </a:solidFill>
                <a:effectLst/>
                <a:latin typeface="+mn-lt"/>
                <a:ea typeface="+mn-ea"/>
                <a:cs typeface="+mn-cs"/>
              </a:rPr>
              <a:t>clés</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faibles</a:t>
            </a:r>
            <a:r>
              <a:rPr lang="en-CA" sz="1200" b="1" i="0" kern="1200" dirty="0">
                <a:solidFill>
                  <a:schemeClr val="tx1"/>
                </a:solidFill>
                <a:effectLst/>
                <a:latin typeface="+mn-lt"/>
                <a:ea typeface="+mn-ea"/>
                <a:cs typeface="+mn-cs"/>
              </a:rPr>
              <a:t>" et "semi-</a:t>
            </a:r>
            <a:r>
              <a:rPr lang="en-CA" sz="1200" b="1" i="0" kern="1200" dirty="0" err="1">
                <a:solidFill>
                  <a:schemeClr val="tx1"/>
                </a:solidFill>
                <a:effectLst/>
                <a:latin typeface="+mn-lt"/>
                <a:ea typeface="+mn-ea"/>
                <a:cs typeface="+mn-cs"/>
              </a:rPr>
              <a:t>faibles</a:t>
            </a:r>
            <a:r>
              <a:rPr lang="en-CA" sz="1200" b="1" i="0" kern="1200" dirty="0">
                <a:solidFill>
                  <a:schemeClr val="tx1"/>
                </a:solidFill>
                <a:effectLst/>
                <a:latin typeface="+mn-lt"/>
                <a:ea typeface="+mn-ea"/>
                <a:cs typeface="+mn-cs"/>
              </a:rPr>
              <a: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documentées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depuis</a:t>
            </a:r>
            <a:r>
              <a:rPr lang="en-CA" sz="1200" b="0" i="0" kern="1200" dirty="0">
                <a:solidFill>
                  <a:schemeClr val="tx1"/>
                </a:solidFill>
                <a:effectLst/>
                <a:latin typeface="+mn-lt"/>
                <a:ea typeface="+mn-ea"/>
                <a:cs typeface="+mn-cs"/>
              </a:rPr>
              <a:t> les </a:t>
            </a:r>
            <a:r>
              <a:rPr lang="en-CA" sz="1200" b="0" i="0" kern="1200" dirty="0" err="1">
                <a:solidFill>
                  <a:schemeClr val="tx1"/>
                </a:solidFill>
                <a:effectLst/>
                <a:latin typeface="+mn-lt"/>
                <a:ea typeface="+mn-ea"/>
                <a:cs typeface="+mn-cs"/>
              </a:rPr>
              <a:t>années</a:t>
            </a:r>
            <a:r>
              <a:rPr lang="en-CA" sz="1200" b="0" i="0" kern="1200" dirty="0">
                <a:solidFill>
                  <a:schemeClr val="tx1"/>
                </a:solidFill>
                <a:effectLst/>
                <a:latin typeface="+mn-lt"/>
                <a:ea typeface="+mn-ea"/>
                <a:cs typeface="+mn-cs"/>
              </a:rPr>
              <a:t> 90 </a:t>
            </a:r>
            <a:r>
              <a:rPr lang="en-CA" sz="1200" b="0" i="0" kern="1200" dirty="0" err="1">
                <a:solidFill>
                  <a:schemeClr val="tx1"/>
                </a:solidFill>
                <a:effectLst/>
                <a:latin typeface="+mn-lt"/>
                <a:ea typeface="+mn-ea"/>
                <a:cs typeface="+mn-cs"/>
              </a:rPr>
              <a:t>produisent</a:t>
            </a:r>
            <a:r>
              <a:rPr lang="en-CA" sz="1200" b="0" i="0" kern="1200" dirty="0">
                <a:solidFill>
                  <a:schemeClr val="tx1"/>
                </a:solidFill>
                <a:effectLst/>
                <a:latin typeface="+mn-lt"/>
                <a:ea typeface="+mn-ea"/>
                <a:cs typeface="+mn-cs"/>
              </a:rPr>
              <a:t> des sorties </a:t>
            </a:r>
            <a:r>
              <a:rPr lang="en-CA" sz="1200" b="0" i="0" kern="1200" dirty="0" err="1">
                <a:solidFill>
                  <a:schemeClr val="tx1"/>
                </a:solidFill>
                <a:effectLst/>
                <a:latin typeface="+mn-lt"/>
                <a:ea typeface="+mn-ea"/>
                <a:cs typeface="+mn-cs"/>
              </a:rPr>
              <a:t>structurellement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moins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aléatoires</a:t>
            </a:r>
            <a:r>
              <a:rPr lang="en-CA" sz="1200" b="0" i="0" kern="1200" dirty="0">
                <a:solidFill>
                  <a:schemeClr val="tx1"/>
                </a:solidFill>
                <a:effectLst/>
                <a:latin typeface="+mn-lt"/>
                <a:ea typeface="+mn-ea"/>
                <a:cs typeface="+mn-cs"/>
              </a:rPr>
              <a:t>. Une app qui </a:t>
            </a:r>
            <a:r>
              <a:rPr lang="en-CA" sz="1200" b="0" i="0" kern="1200" dirty="0" err="1">
                <a:solidFill>
                  <a:schemeClr val="tx1"/>
                </a:solidFill>
                <a:effectLst/>
                <a:latin typeface="+mn-lt"/>
                <a:ea typeface="+mn-ea"/>
                <a:cs typeface="+mn-cs"/>
              </a:rPr>
              <a:t>génère</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clés</a:t>
            </a:r>
            <a:r>
              <a:rPr lang="en-CA" sz="1200" b="0" i="0" kern="1200" dirty="0">
                <a:solidFill>
                  <a:schemeClr val="tx1"/>
                </a:solidFill>
                <a:effectLst/>
                <a:latin typeface="+mn-lt"/>
                <a:ea typeface="+mn-ea"/>
                <a:cs typeface="+mn-cs"/>
              </a:rPr>
              <a:t> DES sans </a:t>
            </a:r>
            <a:r>
              <a:rPr lang="en-CA" sz="1200" b="0" i="0" kern="1200" dirty="0" err="1">
                <a:solidFill>
                  <a:schemeClr val="tx1"/>
                </a:solidFill>
                <a:effectLst/>
                <a:latin typeface="+mn-lt"/>
                <a:ea typeface="+mn-ea"/>
                <a:cs typeface="+mn-cs"/>
              </a:rPr>
              <a:t>vérifier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cas</a:t>
            </a:r>
            <a:r>
              <a:rPr lang="en-CA" sz="1200" b="0" i="0" kern="1200" dirty="0">
                <a:solidFill>
                  <a:schemeClr val="tx1"/>
                </a:solidFill>
                <a:effectLst/>
                <a:latin typeface="+mn-lt"/>
                <a:ea typeface="+mn-ea"/>
                <a:cs typeface="+mn-cs"/>
              </a:rPr>
              <a:t> est </a:t>
            </a:r>
            <a:r>
              <a:rPr lang="en-CA" sz="1200" b="0" i="0" kern="1200" dirty="0" err="1">
                <a:solidFill>
                  <a:schemeClr val="tx1"/>
                </a:solidFill>
                <a:effectLst/>
                <a:latin typeface="+mn-lt"/>
                <a:ea typeface="+mn-ea"/>
                <a:cs typeface="+mn-cs"/>
              </a:rPr>
              <a:t>vulnérable</a:t>
            </a:r>
            <a:r>
              <a:rPr lang="en-CA" sz="1200" b="0" i="0" kern="1200" dirty="0">
                <a:solidFill>
                  <a:schemeClr val="tx1"/>
                </a:solidFill>
                <a:effectLst/>
                <a:latin typeface="+mn-lt"/>
                <a:ea typeface="+mn-ea"/>
                <a:cs typeface="+mn-cs"/>
              </a:rPr>
              <a:t>. 3DES </a:t>
            </a:r>
            <a:r>
              <a:rPr lang="en-CA" sz="1200" b="0" i="0" kern="1200" dirty="0" err="1">
                <a:solidFill>
                  <a:schemeClr val="tx1"/>
                </a:solidFill>
                <a:effectLst/>
                <a:latin typeface="+mn-lt"/>
                <a:ea typeface="+mn-ea"/>
                <a:cs typeface="+mn-cs"/>
              </a:rPr>
              <a:t>hérite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directement</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ce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problème</a:t>
            </a:r>
            <a:r>
              <a:rPr lang="en-CA" sz="1200" b="0" i="0" kern="1200" dirty="0">
                <a:solidFill>
                  <a:schemeClr val="tx1"/>
                </a:solidFill>
                <a:effectLst/>
                <a:latin typeface="+mn-lt"/>
                <a:ea typeface="+mn-ea"/>
                <a:cs typeface="+mn-cs"/>
              </a:rPr>
              <a:t>.</a:t>
            </a: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The DES and 3DES bars dropping below 0.5 should be visually striking — annotate them directly on the chart with "0.44" in red</a:t>
            </a:r>
          </a:p>
          <a:p>
            <a:r>
              <a:rPr lang="en-CA" sz="1200" b="0" i="0" kern="1200" dirty="0">
                <a:solidFill>
                  <a:schemeClr val="tx1"/>
                </a:solidFill>
                <a:effectLst/>
                <a:latin typeface="+mn-lt"/>
                <a:ea typeface="+mn-ea"/>
                <a:cs typeface="+mn-cs"/>
              </a:rPr>
              <a:t>The contrast between AES (0.500, perfect) and DES (0.439, structural weakness) is the whole point of this slide</a:t>
            </a:r>
          </a:p>
          <a:p>
            <a:r>
              <a:rPr lang="en-CA" sz="1200" b="0" i="0" kern="1200" dirty="0">
                <a:solidFill>
                  <a:schemeClr val="tx1"/>
                </a:solidFill>
                <a:effectLst/>
                <a:latin typeface="+mn-lt"/>
                <a:ea typeface="+mn-ea"/>
                <a:cs typeface="+mn-cs"/>
              </a:rPr>
              <a:t>The bar chart already has both plaintext-flip and key-flip side by side — that visual comparison is the story</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re-explain the ChaCha20 anomaly — just reference slide 13 briefly</a:t>
            </a:r>
          </a:p>
          <a:p>
            <a:r>
              <a:rPr lang="en-CA" sz="1200" b="0" i="0" kern="1200" dirty="0">
                <a:solidFill>
                  <a:schemeClr val="tx1"/>
                </a:solidFill>
                <a:effectLst/>
                <a:latin typeface="+mn-lt"/>
                <a:ea typeface="+mn-ea"/>
                <a:cs typeface="+mn-cs"/>
              </a:rPr>
              <a:t>Don't go into Feistel network internals or DES key schedule math — one sentence is enough</a:t>
            </a:r>
          </a:p>
          <a:p>
            <a:r>
              <a:rPr lang="en-CA" sz="1200" b="0" i="0" kern="1200" dirty="0">
                <a:solidFill>
                  <a:schemeClr val="tx1"/>
                </a:solidFill>
                <a:effectLst/>
                <a:latin typeface="+mn-lt"/>
                <a:ea typeface="+mn-ea"/>
                <a:cs typeface="+mn-cs"/>
              </a:rPr>
              <a:t>Don't conflate this with the avalanche slide — key sensitivity and plaintext diffusion are different properties, the audience should leave knowing the difference</a:t>
            </a:r>
          </a:p>
          <a:p>
            <a:br>
              <a:rPr lang="en-CA" dirty="0"/>
            </a:br>
            <a:endParaRPr lang="en-CA" dirty="0"/>
          </a:p>
          <a:p>
            <a:r>
              <a:rPr lang="en-CA" sz="1200" b="0" i="0" kern="1200" dirty="0">
                <a:solidFill>
                  <a:schemeClr val="tx1"/>
                </a:solidFill>
                <a:effectLst/>
                <a:latin typeface="+mn-lt"/>
                <a:ea typeface="+mn-ea"/>
                <a:cs typeface="+mn-cs"/>
              </a:rPr>
              <a:t>The DES 0.439 is the punchline — it's not just slow and cryptographically weak, its key schedule is also structurally deficient.</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17</a:t>
            </a:fld>
            <a:endParaRPr lang="en-CA"/>
          </a:p>
        </p:txBody>
      </p:sp>
    </p:spTree>
    <p:extLst>
      <p:ext uri="{BB962C8B-B14F-4D97-AF65-F5344CB8AC3E}">
        <p14:creationId xmlns:p14="http://schemas.microsoft.com/office/powerpoint/2010/main" val="1639170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15 — </a:t>
            </a:r>
            <a:r>
              <a:rPr lang="en-CA" sz="1200" b="1" i="0" kern="1200" dirty="0" err="1">
                <a:solidFill>
                  <a:schemeClr val="tx1"/>
                </a:solidFill>
                <a:effectLst/>
                <a:latin typeface="+mn-lt"/>
                <a:ea typeface="+mn-ea"/>
                <a:cs typeface="+mn-cs"/>
              </a:rPr>
              <a:t>Stabilité</a:t>
            </a:r>
            <a:r>
              <a:rPr lang="en-CA" sz="1200" b="1" i="0" kern="1200" dirty="0">
                <a:solidFill>
                  <a:schemeClr val="tx1"/>
                </a:solidFill>
                <a:effectLst/>
                <a:latin typeface="+mn-lt"/>
                <a:ea typeface="+mn-ea"/>
                <a:cs typeface="+mn-cs"/>
              </a:rPr>
              <a:t> des </a:t>
            </a:r>
            <a:r>
              <a:rPr lang="en-CA" sz="1200" b="1" i="0" kern="1200" dirty="0" err="1">
                <a:solidFill>
                  <a:schemeClr val="tx1"/>
                </a:solidFill>
                <a:effectLst/>
                <a:latin typeface="+mn-lt"/>
                <a:ea typeface="+mn-ea"/>
                <a:cs typeface="+mn-cs"/>
              </a:rPr>
              <a:t>mesures</a:t>
            </a:r>
            <a:r>
              <a:rPr lang="en-CA" sz="1200" b="1" i="0" kern="1200" dirty="0">
                <a:solidFill>
                  <a:schemeClr val="tx1"/>
                </a:solidFill>
                <a:effectLst/>
                <a:latin typeface="+mn-lt"/>
                <a:ea typeface="+mn-ea"/>
                <a:cs typeface="+mn-cs"/>
              </a:rPr>
              <a:t> (CI95)</a:t>
            </a: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Stabilité</a:t>
            </a:r>
            <a:r>
              <a:rPr lang="en-CA" sz="1200" b="0" i="0" kern="1200" dirty="0">
                <a:solidFill>
                  <a:schemeClr val="tx1"/>
                </a:solidFill>
                <a:effectLst/>
                <a:latin typeface="+mn-lt"/>
                <a:ea typeface="+mn-ea"/>
                <a:cs typeface="+mn-cs"/>
              </a:rPr>
              <a:t> — Le Raspberry Pi plus </a:t>
            </a:r>
            <a:r>
              <a:rPr lang="en-CA" sz="1200" b="0" i="0" kern="1200" dirty="0" err="1">
                <a:solidFill>
                  <a:schemeClr val="tx1"/>
                </a:solidFill>
                <a:effectLst/>
                <a:latin typeface="+mn-lt"/>
                <a:ea typeface="+mn-ea"/>
                <a:cs typeface="+mn-cs"/>
              </a:rPr>
              <a:t>fiable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que</a:t>
            </a:r>
            <a:r>
              <a:rPr lang="en-CA" sz="1200" b="0" i="0" kern="1200" dirty="0">
                <a:solidFill>
                  <a:schemeClr val="tx1"/>
                </a:solidFill>
                <a:effectLst/>
                <a:latin typeface="+mn-lt"/>
                <a:ea typeface="+mn-ea"/>
                <a:cs typeface="+mn-cs"/>
              </a:rPr>
              <a:t> le laptop ?</a:t>
            </a:r>
          </a:p>
          <a:p>
            <a:r>
              <a:rPr lang="en-CA" sz="1200" b="1" i="0" kern="1200" dirty="0">
                <a:solidFill>
                  <a:schemeClr val="tx1"/>
                </a:solidFill>
                <a:effectLst/>
                <a:latin typeface="+mn-lt"/>
                <a:ea typeface="+mn-ea"/>
                <a:cs typeface="+mn-cs"/>
              </a:rPr>
              <a:t>Chart:</a:t>
            </a:r>
            <a:r>
              <a:rPr lang="en-CA" sz="1200" b="0" i="0" kern="1200" dirty="0">
                <a:solidFill>
                  <a:schemeClr val="tx1"/>
                </a:solidFill>
                <a:effectLst/>
                <a:latin typeface="+mn-lt"/>
                <a:ea typeface="+mn-ea"/>
                <a:cs typeface="+mn-cs"/>
              </a:rPr>
              <a:t> </a:t>
            </a:r>
            <a:r>
              <a:rPr lang="en-CA" sz="1200" b="0" i="0" kern="1200" dirty="0">
                <a:solidFill>
                  <a:schemeClr val="tx1"/>
                </a:solidFill>
                <a:effectLst/>
                <a:latin typeface="+mn-lt"/>
                <a:ea typeface="+mn-ea"/>
                <a:cs typeface="+mn-cs"/>
                <a:hlinkClick r:id="rId3"/>
              </a:rPr>
              <a:t>cmp6_ci95_stability.png</a:t>
            </a:r>
            <a:r>
              <a:rPr lang="en-CA" sz="1200" b="0" i="0" kern="1200" dirty="0">
                <a:solidFill>
                  <a:schemeClr val="tx1"/>
                </a:solidFill>
                <a:effectLst/>
                <a:latin typeface="+mn-lt"/>
                <a:ea typeface="+mn-ea"/>
                <a:cs typeface="+mn-cs"/>
              </a:rPr>
              <a:t> — large, centered</a:t>
            </a:r>
          </a:p>
          <a:p>
            <a:r>
              <a:rPr lang="en-CA" sz="1200" b="1" i="0" kern="1200" dirty="0">
                <a:solidFill>
                  <a:schemeClr val="tx1"/>
                </a:solidFill>
                <a:effectLst/>
                <a:latin typeface="+mn-lt"/>
                <a:ea typeface="+mn-ea"/>
                <a:cs typeface="+mn-cs"/>
              </a:rPr>
              <a:t>3 bullet takeaways: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AES sur x86 : CI95 = 11.28 MB/s</a:t>
            </a:r>
            <a:r>
              <a:rPr lang="en-CA" sz="1200" b="0" i="0" kern="1200" dirty="0">
                <a:solidFill>
                  <a:schemeClr val="tx1"/>
                </a:solidFill>
                <a:effectLst/>
                <a:latin typeface="+mn-lt"/>
                <a:ea typeface="+mn-ea"/>
                <a:cs typeface="+mn-cs"/>
              </a:rPr>
              <a:t> — le Pi pour le </a:t>
            </a:r>
            <a:r>
              <a:rPr lang="en-CA" sz="1200" b="0" i="0" kern="1200" dirty="0" err="1">
                <a:solidFill>
                  <a:schemeClr val="tx1"/>
                </a:solidFill>
                <a:effectLst/>
                <a:latin typeface="+mn-lt"/>
                <a:ea typeface="+mn-ea"/>
                <a:cs typeface="+mn-cs"/>
              </a:rPr>
              <a:t>même</a:t>
            </a:r>
            <a:r>
              <a:rPr lang="en-CA" sz="1200" b="0" i="0" kern="1200" dirty="0">
                <a:solidFill>
                  <a:schemeClr val="tx1"/>
                </a:solidFill>
                <a:effectLst/>
                <a:latin typeface="+mn-lt"/>
                <a:ea typeface="+mn-ea"/>
                <a:cs typeface="+mn-cs"/>
              </a:rPr>
              <a:t> algo : </a:t>
            </a:r>
            <a:r>
              <a:rPr lang="en-CA" sz="1200" b="1" i="0" kern="1200" dirty="0">
                <a:solidFill>
                  <a:schemeClr val="tx1"/>
                </a:solidFill>
                <a:effectLst/>
                <a:latin typeface="+mn-lt"/>
                <a:ea typeface="+mn-ea"/>
                <a:cs typeface="+mn-cs"/>
              </a:rPr>
              <a:t>2.0 MB/s</a:t>
            </a:r>
            <a:r>
              <a:rPr lang="en-CA" sz="1200" b="0" i="0" kern="1200" dirty="0">
                <a:solidFill>
                  <a:schemeClr val="tx1"/>
                </a:solidFill>
                <a:effectLst/>
                <a:latin typeface="+mn-lt"/>
                <a:ea typeface="+mn-ea"/>
                <a:cs typeface="+mn-cs"/>
              </a:rPr>
              <a:t> → le laptop est </a:t>
            </a:r>
            <a:r>
              <a:rPr lang="en-CA" sz="1200" b="1" i="0" kern="1200" dirty="0">
                <a:solidFill>
                  <a:schemeClr val="tx1"/>
                </a:solidFill>
                <a:effectLst/>
                <a:latin typeface="+mn-lt"/>
                <a:ea typeface="+mn-ea"/>
                <a:cs typeface="+mn-cs"/>
              </a:rPr>
              <a:t>5.6× plus </a:t>
            </a:r>
            <a:r>
              <a:rPr lang="en-CA" sz="1200" b="1" i="0" kern="1200" dirty="0" err="1">
                <a:solidFill>
                  <a:schemeClr val="tx1"/>
                </a:solidFill>
                <a:effectLst/>
                <a:latin typeface="+mn-lt"/>
                <a:ea typeface="+mn-ea"/>
                <a:cs typeface="+mn-cs"/>
              </a:rPr>
              <a:t>erratique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Twofish</a:t>
            </a:r>
            <a:r>
              <a:rPr lang="en-CA" sz="1200" b="0" i="0" kern="1200" dirty="0">
                <a:solidFill>
                  <a:schemeClr val="tx1"/>
                </a:solidFill>
                <a:effectLst/>
                <a:latin typeface="+mn-lt"/>
                <a:ea typeface="+mn-ea"/>
                <a:cs typeface="+mn-cs"/>
              </a:rPr>
              <a:t> : CI95 ≈ 0 sur les deux — stable car trop lent pour </a:t>
            </a:r>
            <a:r>
              <a:rPr lang="en-CA" sz="1200" b="0" i="0" kern="1200" dirty="0" err="1">
                <a:solidFill>
                  <a:schemeClr val="tx1"/>
                </a:solidFill>
                <a:effectLst/>
                <a:latin typeface="+mn-lt"/>
                <a:ea typeface="+mn-ea"/>
                <a:cs typeface="+mn-cs"/>
              </a:rPr>
              <a:t>que</a:t>
            </a:r>
            <a:r>
              <a:rPr lang="en-CA" sz="1200" b="0" i="0" kern="1200" dirty="0">
                <a:solidFill>
                  <a:schemeClr val="tx1"/>
                </a:solidFill>
                <a:effectLst/>
                <a:latin typeface="+mn-lt"/>
                <a:ea typeface="+mn-ea"/>
                <a:cs typeface="+mn-cs"/>
              </a:rPr>
              <a:t> le bruit CPU soit perceptible</a:t>
            </a:r>
          </a:p>
          <a:p>
            <a:r>
              <a:rPr lang="en-CA" sz="1200" b="0" i="0" kern="1200" dirty="0">
                <a:solidFill>
                  <a:schemeClr val="tx1"/>
                </a:solidFill>
                <a:effectLst/>
                <a:latin typeface="+mn-lt"/>
                <a:ea typeface="+mn-ea"/>
                <a:cs typeface="+mn-cs"/>
              </a:rPr>
              <a:t>ChaCha20 : variable sur les deux </a:t>
            </a:r>
            <a:r>
              <a:rPr lang="en-CA" sz="1200" b="0" i="0" kern="1200" dirty="0" err="1">
                <a:solidFill>
                  <a:schemeClr val="tx1"/>
                </a:solidFill>
                <a:effectLst/>
                <a:latin typeface="+mn-lt"/>
                <a:ea typeface="+mn-ea"/>
                <a:cs typeface="+mn-cs"/>
              </a:rPr>
              <a:t>plateformes</a:t>
            </a:r>
            <a:r>
              <a:rPr lang="en-CA" sz="1200" b="0" i="0" kern="1200" dirty="0">
                <a:solidFill>
                  <a:schemeClr val="tx1"/>
                </a:solidFill>
                <a:effectLst/>
                <a:latin typeface="+mn-lt"/>
                <a:ea typeface="+mn-ea"/>
                <a:cs typeface="+mn-cs"/>
              </a:rPr>
              <a:t> — ARX sans matériel </a:t>
            </a:r>
            <a:r>
              <a:rPr lang="en-CA" sz="1200" b="0" i="0" kern="1200" dirty="0" err="1">
                <a:solidFill>
                  <a:schemeClr val="tx1"/>
                </a:solidFill>
                <a:effectLst/>
                <a:latin typeface="+mn-lt"/>
                <a:ea typeface="+mn-ea"/>
                <a:cs typeface="+mn-cs"/>
              </a:rPr>
              <a:t>dédié</a:t>
            </a:r>
            <a:r>
              <a:rPr lang="en-CA" sz="1200" b="0" i="0" kern="1200" dirty="0">
                <a:solidFill>
                  <a:schemeClr val="tx1"/>
                </a:solidFill>
                <a:effectLst/>
                <a:latin typeface="+mn-lt"/>
                <a:ea typeface="+mn-ea"/>
                <a:cs typeface="+mn-cs"/>
              </a:rPr>
              <a:t> = sensible au scheduler OS</a:t>
            </a:r>
          </a:p>
          <a:p>
            <a:r>
              <a:rPr lang="en-CA" sz="1200" b="1" i="0" kern="1200" dirty="0">
                <a:solidFill>
                  <a:schemeClr val="tx1"/>
                </a:solidFill>
                <a:effectLst/>
                <a:latin typeface="+mn-lt"/>
                <a:ea typeface="+mn-ea"/>
                <a:cs typeface="+mn-cs"/>
              </a:rPr>
              <a:t>Bottom callout (highlighted box — counter-intuitive result):</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Windows 11 sur x86 = Turbo Boost variable, processus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background, caches L3 </a:t>
            </a:r>
            <a:r>
              <a:rPr lang="en-CA" sz="1200" b="0" i="0" kern="1200" dirty="0" err="1">
                <a:solidFill>
                  <a:schemeClr val="tx1"/>
                </a:solidFill>
                <a:effectLst/>
                <a:latin typeface="+mn-lt"/>
                <a:ea typeface="+mn-ea"/>
                <a:cs typeface="+mn-cs"/>
              </a:rPr>
              <a:t>partagés</a:t>
            </a:r>
            <a:r>
              <a:rPr lang="en-CA" sz="1200" b="0" i="0" kern="1200" dirty="0">
                <a:solidFill>
                  <a:schemeClr val="tx1"/>
                </a:solidFill>
                <a:effectLst/>
                <a:latin typeface="+mn-lt"/>
                <a:ea typeface="+mn-ea"/>
                <a:cs typeface="+mn-cs"/>
              </a:rPr>
              <a:t>. Le Pi sous Raspberry Pi OS est </a:t>
            </a:r>
            <a:r>
              <a:rPr lang="en-CA" sz="1200" b="1" i="0" kern="1200" dirty="0" err="1">
                <a:solidFill>
                  <a:schemeClr val="tx1"/>
                </a:solidFill>
                <a:effectLst/>
                <a:latin typeface="+mn-lt"/>
                <a:ea typeface="+mn-ea"/>
                <a:cs typeface="+mn-cs"/>
              </a:rPr>
              <a:t>déterministe</a:t>
            </a:r>
            <a:r>
              <a:rPr lang="en-CA" sz="1200" b="1" i="0" kern="1200" dirty="0">
                <a:solidFill>
                  <a:schemeClr val="tx1"/>
                </a:solidFill>
                <a:effectLst/>
                <a:latin typeface="+mn-lt"/>
                <a:ea typeface="+mn-ea"/>
                <a:cs typeface="+mn-cs"/>
              </a:rPr>
              <a:t> par nature</a:t>
            </a:r>
            <a:r>
              <a:rPr lang="en-CA" sz="1200" b="0" i="0" kern="1200" dirty="0">
                <a:solidFill>
                  <a:schemeClr val="tx1"/>
                </a:solidFill>
                <a:effectLst/>
                <a:latin typeface="+mn-lt"/>
                <a:ea typeface="+mn-ea"/>
                <a:cs typeface="+mn-cs"/>
              </a:rPr>
              <a:t>. Pour un </a:t>
            </a:r>
            <a:r>
              <a:rPr lang="en-CA" sz="1200" b="0" i="0" kern="1200" dirty="0" err="1">
                <a:solidFill>
                  <a:schemeClr val="tx1"/>
                </a:solidFill>
                <a:effectLst/>
                <a:latin typeface="+mn-lt"/>
                <a:ea typeface="+mn-ea"/>
                <a:cs typeface="+mn-cs"/>
              </a:rPr>
              <a:t>protocole</a:t>
            </a:r>
            <a:r>
              <a:rPr lang="en-CA" sz="1200" b="0" i="0" kern="1200" dirty="0">
                <a:solidFill>
                  <a:schemeClr val="tx1"/>
                </a:solidFill>
                <a:effectLst/>
                <a:latin typeface="+mn-lt"/>
                <a:ea typeface="+mn-ea"/>
                <a:cs typeface="+mn-cs"/>
              </a:rPr>
              <a:t> temps-</a:t>
            </a:r>
            <a:r>
              <a:rPr lang="en-CA" sz="1200" b="0" i="0" kern="1200" dirty="0" err="1">
                <a:solidFill>
                  <a:schemeClr val="tx1"/>
                </a:solidFill>
                <a:effectLst/>
                <a:latin typeface="+mn-lt"/>
                <a:ea typeface="+mn-ea"/>
                <a:cs typeface="+mn-cs"/>
              </a:rPr>
              <a:t>réel</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ou</a:t>
            </a:r>
            <a:r>
              <a:rPr lang="en-CA" sz="1200" b="0" i="0" kern="1200" dirty="0">
                <a:solidFill>
                  <a:schemeClr val="tx1"/>
                </a:solidFill>
                <a:effectLst/>
                <a:latin typeface="+mn-lt"/>
                <a:ea typeface="+mn-ea"/>
                <a:cs typeface="+mn-cs"/>
              </a:rPr>
              <a:t> un HSM, la </a:t>
            </a:r>
            <a:r>
              <a:rPr lang="en-CA" sz="1200" b="0" i="0" kern="1200" dirty="0" err="1">
                <a:solidFill>
                  <a:schemeClr val="tx1"/>
                </a:solidFill>
                <a:effectLst/>
                <a:latin typeface="+mn-lt"/>
                <a:ea typeface="+mn-ea"/>
                <a:cs typeface="+mn-cs"/>
              </a:rPr>
              <a:t>stabilité</a:t>
            </a:r>
            <a:r>
              <a:rPr lang="en-CA" sz="1200" b="0" i="0" kern="1200" dirty="0">
                <a:solidFill>
                  <a:schemeClr val="tx1"/>
                </a:solidFill>
                <a:effectLst/>
                <a:latin typeface="+mn-lt"/>
                <a:ea typeface="+mn-ea"/>
                <a:cs typeface="+mn-cs"/>
              </a:rPr>
              <a:t> compte </a:t>
            </a:r>
            <a:r>
              <a:rPr lang="en-CA" sz="1200" b="0" i="0" kern="1200" dirty="0" err="1">
                <a:solidFill>
                  <a:schemeClr val="tx1"/>
                </a:solidFill>
                <a:effectLst/>
                <a:latin typeface="+mn-lt"/>
                <a:ea typeface="+mn-ea"/>
                <a:cs typeface="+mn-cs"/>
              </a:rPr>
              <a:t>autant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que</a:t>
            </a:r>
            <a:r>
              <a:rPr lang="en-CA" sz="1200" b="0" i="0" kern="1200" dirty="0">
                <a:solidFill>
                  <a:schemeClr val="tx1"/>
                </a:solidFill>
                <a:effectLst/>
                <a:latin typeface="+mn-lt"/>
                <a:ea typeface="+mn-ea"/>
                <a:cs typeface="+mn-cs"/>
              </a:rPr>
              <a:t> le </a:t>
            </a:r>
            <a:r>
              <a:rPr lang="en-CA" sz="1200" b="0" i="0" kern="1200" dirty="0" err="1">
                <a:solidFill>
                  <a:schemeClr val="tx1"/>
                </a:solidFill>
                <a:effectLst/>
                <a:latin typeface="+mn-lt"/>
                <a:ea typeface="+mn-ea"/>
                <a:cs typeface="+mn-cs"/>
              </a:rPr>
              <a:t>débit</a:t>
            </a:r>
            <a:r>
              <a:rPr lang="en-CA" sz="1200" b="0" i="0" kern="1200" dirty="0">
                <a:solidFill>
                  <a:schemeClr val="tx1"/>
                </a:solidFill>
                <a:effectLst/>
                <a:latin typeface="+mn-lt"/>
                <a:ea typeface="+mn-ea"/>
                <a:cs typeface="+mn-cs"/>
              </a:rPr>
              <a:t> brut.</a:t>
            </a:r>
          </a:p>
          <a:p>
            <a:br>
              <a:rPr lang="en-CA" dirty="0"/>
            </a:br>
            <a:endParaRPr lang="en-CA" dirty="0"/>
          </a:p>
          <a:p>
            <a:r>
              <a:rPr lang="en-CA" sz="1200" b="1" i="0" kern="1200" dirty="0">
                <a:solidFill>
                  <a:schemeClr val="tx1"/>
                </a:solidFill>
                <a:effectLst/>
                <a:latin typeface="+mn-lt"/>
                <a:ea typeface="+mn-ea"/>
                <a:cs typeface="+mn-cs"/>
              </a:rPr>
              <a:t>Video 11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11</a:t>
            </a:r>
            <a:r>
              <a:rPr lang="en-CA" sz="1200" b="0" i="0" kern="1200" dirty="0">
                <a:solidFill>
                  <a:schemeClr val="tx1"/>
                </a:solidFill>
                <a:effectLst/>
                <a:latin typeface="+mn-lt"/>
                <a:ea typeface="+mn-ea"/>
                <a:cs typeface="+mn-cs"/>
              </a:rPr>
              <a:t> on this slide. "This is the most surprising result in the whole project. Your laptop is faster — but look at AES: the confidence interval on x86 is 11 MB/s wide. On the Pi it's 2. Your laptop is running 40 browser tabs, a Spotify process, Windows Update in the background. The Pi runs nothing. For anything where latency must be </a:t>
            </a:r>
            <a:r>
              <a:rPr lang="en-CA" sz="1200" b="0" i="1" kern="1200" dirty="0">
                <a:solidFill>
                  <a:schemeClr val="tx1"/>
                </a:solidFill>
                <a:effectLst/>
                <a:latin typeface="+mn-lt"/>
                <a:ea typeface="+mn-ea"/>
                <a:cs typeface="+mn-cs"/>
              </a:rPr>
              <a:t>predictable</a:t>
            </a:r>
            <a:r>
              <a:rPr lang="en-CA" sz="1200" b="0" i="0" kern="1200" dirty="0">
                <a:solidFill>
                  <a:schemeClr val="tx1"/>
                </a:solidFill>
                <a:effectLst/>
                <a:latin typeface="+mn-lt"/>
                <a:ea typeface="+mn-ea"/>
                <a:cs typeface="+mn-cs"/>
              </a:rPr>
              <a:t> — think real-time systems, industrial controllers — the Pi is actually the better platform."</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explain what CI95 means mathematically here — that was slide 4 (</a:t>
            </a:r>
            <a:r>
              <a:rPr lang="en-CA" sz="1200" b="0" i="0" kern="1200" dirty="0" err="1">
                <a:solidFill>
                  <a:schemeClr val="tx1"/>
                </a:solidFill>
                <a:effectLst/>
                <a:latin typeface="+mn-lt"/>
                <a:ea typeface="+mn-ea"/>
                <a:cs typeface="+mn-cs"/>
              </a:rPr>
              <a:t>protocole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expérimental</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Don't frame this as "the Pi is better" — the nuance is </a:t>
            </a:r>
            <a:r>
              <a:rPr lang="en-CA" sz="1200" b="0" i="1" kern="1200" dirty="0">
                <a:solidFill>
                  <a:schemeClr val="tx1"/>
                </a:solidFill>
                <a:effectLst/>
                <a:latin typeface="+mn-lt"/>
                <a:ea typeface="+mn-ea"/>
                <a:cs typeface="+mn-cs"/>
              </a:rPr>
              <a:t>predictability vs raw speed</a:t>
            </a:r>
            <a:r>
              <a:rPr lang="en-CA" sz="1200" b="0" i="0" kern="1200" dirty="0">
                <a:solidFill>
                  <a:schemeClr val="tx1"/>
                </a:solidFill>
                <a:effectLst/>
                <a:latin typeface="+mn-lt"/>
                <a:ea typeface="+mn-ea"/>
                <a:cs typeface="+mn-cs"/>
              </a:rPr>
              <a:t>, two different use cases</a:t>
            </a:r>
          </a:p>
          <a:p>
            <a:r>
              <a:rPr lang="en-CA" sz="1200" b="0" i="0" kern="1200" dirty="0" err="1">
                <a:solidFill>
                  <a:schemeClr val="tx1"/>
                </a:solidFill>
                <a:effectLst/>
                <a:latin typeface="+mn-lt"/>
                <a:ea typeface="+mn-ea"/>
                <a:cs typeface="+mn-cs"/>
              </a:rPr>
              <a:t>Twofish's</a:t>
            </a:r>
            <a:r>
              <a:rPr lang="en-CA" sz="1200" b="0" i="0" kern="1200" dirty="0">
                <a:solidFill>
                  <a:schemeClr val="tx1"/>
                </a:solidFill>
                <a:effectLst/>
                <a:latin typeface="+mn-lt"/>
                <a:ea typeface="+mn-ea"/>
                <a:cs typeface="+mn-cs"/>
              </a:rPr>
              <a:t> near-zero CI95 is a trap — mention it briefly: stable because slow, not because good</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18</a:t>
            </a:fld>
            <a:endParaRPr lang="en-CA"/>
          </a:p>
        </p:txBody>
      </p:sp>
    </p:spTree>
    <p:extLst>
      <p:ext uri="{BB962C8B-B14F-4D97-AF65-F5344CB8AC3E}">
        <p14:creationId xmlns:p14="http://schemas.microsoft.com/office/powerpoint/2010/main" val="13332816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16 — </a:t>
            </a:r>
            <a:r>
              <a:rPr lang="en-CA" sz="1200" b="1" i="0" kern="1200" dirty="0" err="1">
                <a:solidFill>
                  <a:schemeClr val="tx1"/>
                </a:solidFill>
                <a:effectLst/>
                <a:latin typeface="+mn-lt"/>
                <a:ea typeface="+mn-ea"/>
                <a:cs typeface="+mn-cs"/>
              </a:rPr>
              <a:t>Synthèse</a:t>
            </a:r>
            <a:r>
              <a:rPr lang="en-CA" sz="1200" b="1" i="0" kern="1200" dirty="0">
                <a:solidFill>
                  <a:schemeClr val="tx1"/>
                </a:solidFill>
                <a:effectLst/>
                <a:latin typeface="+mn-lt"/>
                <a:ea typeface="+mn-ea"/>
                <a:cs typeface="+mn-cs"/>
              </a:rPr>
              <a:t> &amp; </a:t>
            </a:r>
            <a:r>
              <a:rPr lang="en-CA" sz="1200" b="1" i="0" kern="1200" dirty="0" err="1">
                <a:solidFill>
                  <a:schemeClr val="tx1"/>
                </a:solidFill>
                <a:effectLst/>
                <a:latin typeface="+mn-lt"/>
                <a:ea typeface="+mn-ea"/>
                <a:cs typeface="+mn-cs"/>
              </a:rPr>
              <a:t>Recommandations</a:t>
            </a:r>
            <a:endParaRPr lang="en-CA" sz="1200" b="1"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Synthèse</a:t>
            </a:r>
            <a:r>
              <a:rPr lang="en-CA" sz="1200" b="0" i="0" kern="1200" dirty="0">
                <a:solidFill>
                  <a:schemeClr val="tx1"/>
                </a:solidFill>
                <a:effectLst/>
                <a:latin typeface="+mn-lt"/>
                <a:ea typeface="+mn-ea"/>
                <a:cs typeface="+mn-cs"/>
              </a:rPr>
              <a:t> — Quel </a:t>
            </a:r>
            <a:r>
              <a:rPr lang="en-CA" sz="1200" b="0" i="0" kern="1200" dirty="0" err="1">
                <a:solidFill>
                  <a:schemeClr val="tx1"/>
                </a:solidFill>
                <a:effectLst/>
                <a:latin typeface="+mn-lt"/>
                <a:ea typeface="+mn-ea"/>
                <a:cs typeface="+mn-cs"/>
              </a:rPr>
              <a:t>algorithme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choisir</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2026 ?</a:t>
            </a:r>
          </a:p>
          <a:p>
            <a:r>
              <a:rPr lang="en-CA" sz="1200" b="1" i="0" kern="1200" dirty="0">
                <a:solidFill>
                  <a:schemeClr val="tx1"/>
                </a:solidFill>
                <a:effectLst/>
                <a:latin typeface="+mn-lt"/>
                <a:ea typeface="+mn-ea"/>
                <a:cs typeface="+mn-cs"/>
              </a:rPr>
              <a:t>Main element — decision flowchart (vertical or branching):</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Right side — quick reference table:</a:t>
            </a:r>
            <a:endParaRPr lang="en-CA" sz="1200" b="0" i="0" kern="1200" dirty="0">
              <a:solidFill>
                <a:schemeClr val="tx1"/>
              </a:solidFill>
              <a:effectLst/>
              <a:latin typeface="+mn-lt"/>
              <a:ea typeface="+mn-ea"/>
              <a:cs typeface="+mn-cs"/>
            </a:endParaRPr>
          </a:p>
          <a:p>
            <a:r>
              <a:rPr lang="en-CA" sz="1200" b="0" i="0" kern="1200" dirty="0" err="1">
                <a:solidFill>
                  <a:schemeClr val="tx1"/>
                </a:solidFill>
                <a:effectLst/>
                <a:latin typeface="+mn-lt"/>
                <a:ea typeface="+mn-ea"/>
                <a:cs typeface="+mn-cs"/>
              </a:rPr>
              <a:t>ContexteAlgorithmeModeRaisonServeur</a:t>
            </a:r>
            <a:r>
              <a:rPr lang="en-CA" sz="1200" b="0" i="0" kern="1200" dirty="0">
                <a:solidFill>
                  <a:schemeClr val="tx1"/>
                </a:solidFill>
                <a:effectLst/>
                <a:latin typeface="+mn-lt"/>
                <a:ea typeface="+mn-ea"/>
                <a:cs typeface="+mn-cs"/>
              </a:rPr>
              <a:t> web, cloudAES-256GCMAEAD, NIST, TLS 1.3IoT, Android, ARMChaCha20Poly1305ARX, constant-</a:t>
            </a:r>
            <a:r>
              <a:rPr lang="en-CA" sz="1200" b="0" i="0" kern="1200" dirty="0" err="1">
                <a:solidFill>
                  <a:schemeClr val="tx1"/>
                </a:solidFill>
                <a:effectLst/>
                <a:latin typeface="+mn-lt"/>
                <a:ea typeface="+mn-ea"/>
                <a:cs typeface="+mn-cs"/>
              </a:rPr>
              <a:t>timeDonnées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en</a:t>
            </a:r>
            <a:r>
              <a:rPr lang="en-CA" sz="1200" b="0" i="0" kern="1200" dirty="0">
                <a:solidFill>
                  <a:schemeClr val="tx1"/>
                </a:solidFill>
                <a:effectLst/>
                <a:latin typeface="+mn-lt"/>
                <a:ea typeface="+mn-ea"/>
                <a:cs typeface="+mn-cs"/>
              </a:rPr>
              <a:t> masseAES-256CTRParallélisableÀ </a:t>
            </a:r>
            <a:r>
              <a:rPr lang="en-CA" sz="1200" b="0" i="0" kern="1200" dirty="0" err="1">
                <a:solidFill>
                  <a:schemeClr val="tx1"/>
                </a:solidFill>
                <a:effectLst/>
                <a:latin typeface="+mn-lt"/>
                <a:ea typeface="+mn-ea"/>
                <a:cs typeface="+mn-cs"/>
              </a:rPr>
              <a:t>éviterDES</a:t>
            </a:r>
            <a:r>
              <a:rPr lang="en-CA" sz="1200" b="0" i="0" kern="1200" dirty="0">
                <a:solidFill>
                  <a:schemeClr val="tx1"/>
                </a:solidFill>
                <a:effectLst/>
                <a:latin typeface="+mn-lt"/>
                <a:ea typeface="+mn-ea"/>
                <a:cs typeface="+mn-cs"/>
              </a:rPr>
              <a:t>, 3DES—</a:t>
            </a:r>
            <a:r>
              <a:rPr lang="en-CA" sz="1200" b="0" i="0" kern="1200" dirty="0" err="1">
                <a:solidFill>
                  <a:schemeClr val="tx1"/>
                </a:solidFill>
                <a:effectLst/>
                <a:latin typeface="+mn-lt"/>
                <a:ea typeface="+mn-ea"/>
                <a:cs typeface="+mn-cs"/>
              </a:rPr>
              <a:t>Déprécié</a:t>
            </a:r>
            <a:r>
              <a:rPr lang="en-CA" sz="1200" b="0" i="0" kern="1200" dirty="0">
                <a:solidFill>
                  <a:schemeClr val="tx1"/>
                </a:solidFill>
                <a:effectLst/>
                <a:latin typeface="+mn-lt"/>
                <a:ea typeface="+mn-ea"/>
                <a:cs typeface="+mn-cs"/>
              </a:rPr>
              <a:t> / </a:t>
            </a:r>
            <a:r>
              <a:rPr lang="en-CA" sz="1200" b="0" i="0" kern="1200" dirty="0" err="1">
                <a:solidFill>
                  <a:schemeClr val="tx1"/>
                </a:solidFill>
                <a:effectLst/>
                <a:latin typeface="+mn-lt"/>
                <a:ea typeface="+mn-ea"/>
                <a:cs typeface="+mn-cs"/>
              </a:rPr>
              <a:t>casséInterditTout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algoECBPatterns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visibles</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The flowchart should be the centerpiece — use your slide accent colors (blue for AES, cyan for ChaCha20, red for the two "NEVER" branches)</a:t>
            </a:r>
          </a:p>
          <a:p>
            <a:r>
              <a:rPr lang="en-CA" sz="1200" b="0" i="0" kern="1200" dirty="0">
                <a:solidFill>
                  <a:schemeClr val="tx1"/>
                </a:solidFill>
                <a:effectLst/>
                <a:latin typeface="+mn-lt"/>
                <a:ea typeface="+mn-ea"/>
                <a:cs typeface="+mn-cs"/>
              </a:rPr>
              <a:t>The "NEVER" branches should visually stand out — red color, bold, maybe a small ❌ icon</a:t>
            </a:r>
          </a:p>
          <a:p>
            <a:r>
              <a:rPr lang="en-CA" sz="1200" b="0" i="0" kern="1200" dirty="0">
                <a:solidFill>
                  <a:schemeClr val="tx1"/>
                </a:solidFill>
                <a:effectLst/>
                <a:latin typeface="+mn-lt"/>
                <a:ea typeface="+mn-ea"/>
                <a:cs typeface="+mn-cs"/>
              </a:rPr>
              <a:t>Connect this to the literature: add a small footnote "</a:t>
            </a:r>
            <a:r>
              <a:rPr lang="en-CA" sz="1200" b="0" i="0" kern="1200" dirty="0" err="1">
                <a:solidFill>
                  <a:schemeClr val="tx1"/>
                </a:solidFill>
                <a:effectLst/>
                <a:latin typeface="+mn-lt"/>
                <a:ea typeface="+mn-ea"/>
                <a:cs typeface="+mn-cs"/>
              </a:rPr>
              <a:t>Recommandations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conformes</a:t>
            </a:r>
            <a:r>
              <a:rPr lang="en-CA" sz="1200" b="0" i="0" kern="1200" dirty="0">
                <a:solidFill>
                  <a:schemeClr val="tx1"/>
                </a:solidFill>
                <a:effectLst/>
                <a:latin typeface="+mn-lt"/>
                <a:ea typeface="+mn-ea"/>
                <a:cs typeface="+mn-cs"/>
              </a:rPr>
              <a:t> à NIST SP 800-175B et RFC 8446 (TLS 1.3)" — this addresses FB5 (Stallings comparison)</a:t>
            </a:r>
          </a:p>
          <a:p>
            <a:br>
              <a:rPr lang="en-CA" dirty="0"/>
            </a:br>
            <a:endParaRPr lang="en-CA" dirty="0"/>
          </a:p>
          <a:p>
            <a:r>
              <a:rPr lang="en-CA" sz="1200" b="1" i="0" kern="1200" dirty="0">
                <a:solidFill>
                  <a:schemeClr val="tx1"/>
                </a:solidFill>
                <a:effectLst/>
                <a:latin typeface="+mn-lt"/>
                <a:ea typeface="+mn-ea"/>
                <a:cs typeface="+mn-cs"/>
              </a:rPr>
              <a:t>Video 12 cue</a:t>
            </a:r>
          </a:p>
          <a:p>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Vidéo</a:t>
            </a:r>
            <a:r>
              <a:rPr lang="en-CA" sz="1200" b="1" i="0" kern="1200" dirty="0">
                <a:solidFill>
                  <a:schemeClr val="tx1"/>
                </a:solidFill>
                <a:effectLst/>
                <a:latin typeface="+mn-lt"/>
                <a:ea typeface="+mn-ea"/>
                <a:cs typeface="+mn-cs"/>
              </a:rPr>
              <a:t> 12</a:t>
            </a:r>
            <a:r>
              <a:rPr lang="en-CA" sz="1200" b="0" i="0" kern="1200" dirty="0">
                <a:solidFill>
                  <a:schemeClr val="tx1"/>
                </a:solidFill>
                <a:effectLst/>
                <a:latin typeface="+mn-lt"/>
                <a:ea typeface="+mn-ea"/>
                <a:cs typeface="+mn-cs"/>
              </a:rPr>
              <a:t> on this slide. "If you take one thing from this presentation: AES-GCM on x86, ChaCha20 on ARM. Never ECB regardless of algorithm, never DES or 3DES in new code. Everything else in this project was the empirical proof that leads to exactly these four lines."</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rehash the numbers — they've all been shown, this slide is the conclusion</a:t>
            </a:r>
          </a:p>
          <a:p>
            <a:r>
              <a:rPr lang="en-CA" sz="1200" b="0" i="0" kern="1200" dirty="0">
                <a:solidFill>
                  <a:schemeClr val="tx1"/>
                </a:solidFill>
                <a:effectLst/>
                <a:latin typeface="+mn-lt"/>
                <a:ea typeface="+mn-ea"/>
                <a:cs typeface="+mn-cs"/>
              </a:rPr>
              <a:t>Don't add new algorithms not in the study</a:t>
            </a:r>
          </a:p>
          <a:p>
            <a:r>
              <a:rPr lang="en-CA" sz="1200" b="0" i="0" kern="1200" dirty="0">
                <a:solidFill>
                  <a:schemeClr val="tx1"/>
                </a:solidFill>
                <a:effectLst/>
                <a:latin typeface="+mn-lt"/>
                <a:ea typeface="+mn-ea"/>
                <a:cs typeface="+mn-cs"/>
              </a:rPr>
              <a:t>Don't hedge — make the recommendations clear and direct, the data supports them</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19</a:t>
            </a:fld>
            <a:endParaRPr lang="en-CA"/>
          </a:p>
        </p:txBody>
      </p:sp>
    </p:spTree>
    <p:extLst>
      <p:ext uri="{BB962C8B-B14F-4D97-AF65-F5344CB8AC3E}">
        <p14:creationId xmlns:p14="http://schemas.microsoft.com/office/powerpoint/2010/main" val="3682474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1" i="0" kern="1200" dirty="0">
                <a:solidFill>
                  <a:schemeClr val="tx1"/>
                </a:solidFill>
                <a:effectLst/>
                <a:latin typeface="+mn-lt"/>
                <a:ea typeface="+mn-ea"/>
                <a:cs typeface="+mn-cs"/>
              </a:rPr>
              <a:t>Slide 17 — Conclusion &amp; TN4</a:t>
            </a:r>
          </a:p>
          <a:p>
            <a:r>
              <a:rPr lang="en-CA" sz="1200" b="1" i="0" kern="1200" dirty="0">
                <a:solidFill>
                  <a:schemeClr val="tx1"/>
                </a:solidFill>
                <a:effectLst/>
                <a:latin typeface="+mn-lt"/>
                <a:ea typeface="+mn-ea"/>
                <a:cs typeface="+mn-cs"/>
              </a:rPr>
              <a:t>Content</a:t>
            </a:r>
          </a:p>
          <a:p>
            <a:r>
              <a:rPr lang="en-CA" sz="1200" b="1" i="0" kern="1200" dirty="0">
                <a:solidFill>
                  <a:schemeClr val="tx1"/>
                </a:solidFill>
                <a:effectLst/>
                <a:latin typeface="+mn-lt"/>
                <a:ea typeface="+mn-ea"/>
                <a:cs typeface="+mn-cs"/>
              </a:rPr>
              <a:t>Slide title:</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Conclusion — Ce qui a </a:t>
            </a:r>
            <a:r>
              <a:rPr lang="en-CA" sz="1200" b="0" i="0" kern="1200" dirty="0" err="1">
                <a:solidFill>
                  <a:schemeClr val="tx1"/>
                </a:solidFill>
                <a:effectLst/>
                <a:latin typeface="+mn-lt"/>
                <a:ea typeface="+mn-ea"/>
                <a:cs typeface="+mn-cs"/>
              </a:rPr>
              <a:t>été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livré</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ce</a:t>
            </a:r>
            <a:r>
              <a:rPr lang="en-CA" sz="1200" b="0" i="0" kern="1200" dirty="0">
                <a:solidFill>
                  <a:schemeClr val="tx1"/>
                </a:solidFill>
                <a:effectLst/>
                <a:latin typeface="+mn-lt"/>
                <a:ea typeface="+mn-ea"/>
                <a:cs typeface="+mn-cs"/>
              </a:rPr>
              <a:t> qui </a:t>
            </a:r>
            <a:r>
              <a:rPr lang="en-CA" sz="1200" b="0" i="0" kern="1200" dirty="0" err="1">
                <a:solidFill>
                  <a:schemeClr val="tx1"/>
                </a:solidFill>
                <a:effectLst/>
                <a:latin typeface="+mn-lt"/>
                <a:ea typeface="+mn-ea"/>
                <a:cs typeface="+mn-cs"/>
              </a:rPr>
              <a:t>vient</a:t>
            </a:r>
            <a:r>
              <a:rPr lang="en-CA" sz="1200" b="0" i="0" kern="1200" dirty="0">
                <a:solidFill>
                  <a:schemeClr val="tx1"/>
                </a:solidFill>
                <a:effectLst/>
                <a:latin typeface="+mn-lt"/>
                <a:ea typeface="+mn-ea"/>
                <a:cs typeface="+mn-cs"/>
              </a:rPr>
              <a:t> ensuite</a:t>
            </a:r>
          </a:p>
          <a:p>
            <a:r>
              <a:rPr lang="en-CA" sz="1200" b="1" i="0" kern="1200" dirty="0">
                <a:solidFill>
                  <a:schemeClr val="tx1"/>
                </a:solidFill>
                <a:effectLst/>
                <a:latin typeface="+mn-lt"/>
                <a:ea typeface="+mn-ea"/>
                <a:cs typeface="+mn-cs"/>
              </a:rPr>
              <a:t>Left side — Ce qui est </a:t>
            </a:r>
            <a:r>
              <a:rPr lang="en-CA" sz="1200" b="1" i="0" kern="1200" dirty="0" err="1">
                <a:solidFill>
                  <a:schemeClr val="tx1"/>
                </a:solidFill>
                <a:effectLst/>
                <a:latin typeface="+mn-lt"/>
                <a:ea typeface="+mn-ea"/>
                <a:cs typeface="+mn-cs"/>
              </a:rPr>
              <a:t>livré</a:t>
            </a:r>
            <a:r>
              <a:rPr lang="en-CA" sz="1200" b="1" i="0" kern="1200" dirty="0">
                <a:solidFill>
                  <a:schemeClr val="tx1"/>
                </a:solidFill>
                <a:effectLst/>
                <a:latin typeface="+mn-lt"/>
                <a:ea typeface="+mn-ea"/>
                <a:cs typeface="+mn-cs"/>
              </a:rPr>
              <a:t> (TN3) ✅</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5 </a:t>
            </a:r>
            <a:r>
              <a:rPr lang="en-CA" sz="1200" b="0" i="0" kern="1200" dirty="0" err="1">
                <a:solidFill>
                  <a:schemeClr val="tx1"/>
                </a:solidFill>
                <a:effectLst/>
                <a:latin typeface="+mn-lt"/>
                <a:ea typeface="+mn-ea"/>
                <a:cs typeface="+mn-cs"/>
              </a:rPr>
              <a:t>algorithmes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implémentés</a:t>
            </a:r>
            <a:r>
              <a:rPr lang="en-CA" sz="1200" b="0" i="0" kern="1200" dirty="0">
                <a:solidFill>
                  <a:schemeClr val="tx1"/>
                </a:solidFill>
                <a:effectLst/>
                <a:latin typeface="+mn-lt"/>
                <a:ea typeface="+mn-ea"/>
                <a:cs typeface="+mn-cs"/>
              </a:rPr>
              <a:t> et </a:t>
            </a:r>
            <a:r>
              <a:rPr lang="en-CA" sz="1200" b="0" i="0" kern="1200" dirty="0" err="1">
                <a:solidFill>
                  <a:schemeClr val="tx1"/>
                </a:solidFill>
                <a:effectLst/>
                <a:latin typeface="+mn-lt"/>
                <a:ea typeface="+mn-ea"/>
                <a:cs typeface="+mn-cs"/>
              </a:rPr>
              <a:t>validés</a:t>
            </a:r>
            <a:r>
              <a:rPr lang="en-CA" sz="1200" b="0" i="0" kern="1200" dirty="0">
                <a:solidFill>
                  <a:schemeClr val="tx1"/>
                </a:solidFill>
                <a:effectLst/>
                <a:latin typeface="+mn-lt"/>
                <a:ea typeface="+mn-ea"/>
                <a:cs typeface="+mn-cs"/>
              </a:rPr>
              <a:t> (KAT NIST)</a:t>
            </a:r>
          </a:p>
          <a:p>
            <a:r>
              <a:rPr lang="en-CA" sz="1200" b="0" i="0" kern="1200" dirty="0">
                <a:solidFill>
                  <a:schemeClr val="tx1"/>
                </a:solidFill>
                <a:effectLst/>
                <a:latin typeface="+mn-lt"/>
                <a:ea typeface="+mn-ea"/>
                <a:cs typeface="+mn-cs"/>
              </a:rPr>
              <a:t>4 modes </a:t>
            </a:r>
            <a:r>
              <a:rPr lang="en-CA" sz="1200" b="0" i="0" kern="1200" dirty="0" err="1">
                <a:solidFill>
                  <a:schemeClr val="tx1"/>
                </a:solidFill>
                <a:effectLst/>
                <a:latin typeface="+mn-lt"/>
                <a:ea typeface="+mn-ea"/>
                <a:cs typeface="+mn-cs"/>
              </a:rPr>
              <a:t>d'opération</a:t>
            </a:r>
            <a:r>
              <a:rPr lang="en-CA" sz="1200" b="0" i="0" kern="1200" dirty="0">
                <a:solidFill>
                  <a:schemeClr val="tx1"/>
                </a:solidFill>
                <a:effectLst/>
                <a:latin typeface="+mn-lt"/>
                <a:ea typeface="+mn-ea"/>
                <a:cs typeface="+mn-cs"/>
              </a:rPr>
              <a:t> (ECB, CBC, CTR, GCM) + Stream</a:t>
            </a:r>
          </a:p>
          <a:p>
            <a:r>
              <a:rPr lang="en-CA" sz="1200" b="0" i="0" kern="1200" dirty="0" err="1">
                <a:solidFill>
                  <a:schemeClr val="tx1"/>
                </a:solidFill>
                <a:effectLst/>
                <a:latin typeface="+mn-lt"/>
                <a:ea typeface="+mn-ea"/>
                <a:cs typeface="+mn-cs"/>
              </a:rPr>
              <a:t>Expérimentations</a:t>
            </a:r>
            <a:r>
              <a:rPr lang="en-CA" sz="1200" b="0" i="0" kern="1200" dirty="0">
                <a:solidFill>
                  <a:schemeClr val="tx1"/>
                </a:solidFill>
                <a:effectLst/>
                <a:latin typeface="+mn-lt"/>
                <a:ea typeface="+mn-ea"/>
                <a:cs typeface="+mn-cs"/>
              </a:rPr>
              <a:t> sur </a:t>
            </a:r>
            <a:r>
              <a:rPr lang="en-CA" sz="1200" b="1" i="0" kern="1200" dirty="0">
                <a:solidFill>
                  <a:schemeClr val="tx1"/>
                </a:solidFill>
                <a:effectLst/>
                <a:latin typeface="+mn-lt"/>
                <a:ea typeface="+mn-ea"/>
                <a:cs typeface="+mn-cs"/>
              </a:rPr>
              <a:t>2 </a:t>
            </a:r>
            <a:r>
              <a:rPr lang="en-CA" sz="1200" b="1" i="0" kern="1200" dirty="0" err="1">
                <a:solidFill>
                  <a:schemeClr val="tx1"/>
                </a:solidFill>
                <a:effectLst/>
                <a:latin typeface="+mn-lt"/>
                <a:ea typeface="+mn-ea"/>
                <a:cs typeface="+mn-cs"/>
              </a:rPr>
              <a:t>plateformes</a:t>
            </a:r>
            <a:r>
              <a:rPr lang="en-CA" sz="1200" b="0" i="0" kern="1200" dirty="0">
                <a:solidFill>
                  <a:schemeClr val="tx1"/>
                </a:solidFill>
                <a:effectLst/>
                <a:latin typeface="+mn-lt"/>
                <a:ea typeface="+mn-ea"/>
                <a:cs typeface="+mn-cs"/>
              </a:rPr>
              <a:t> : x86 Windows + Raspberry Pi ARM</a:t>
            </a:r>
          </a:p>
          <a:p>
            <a:r>
              <a:rPr lang="en-CA" sz="1200" b="0" i="0" kern="1200" dirty="0">
                <a:solidFill>
                  <a:schemeClr val="tx1"/>
                </a:solidFill>
                <a:effectLst/>
                <a:latin typeface="+mn-lt"/>
                <a:ea typeface="+mn-ea"/>
                <a:cs typeface="+mn-cs"/>
              </a:rPr>
              <a:t>~600 </a:t>
            </a:r>
            <a:r>
              <a:rPr lang="en-CA" sz="1200" b="0" i="0" kern="1200" dirty="0" err="1">
                <a:solidFill>
                  <a:schemeClr val="tx1"/>
                </a:solidFill>
                <a:effectLst/>
                <a:latin typeface="+mn-lt"/>
                <a:ea typeface="+mn-ea"/>
                <a:cs typeface="+mn-cs"/>
              </a:rPr>
              <a:t>mesures</a:t>
            </a:r>
            <a:r>
              <a:rPr lang="en-CA" sz="1200" b="0" i="0" kern="1200" dirty="0">
                <a:solidFill>
                  <a:schemeClr val="tx1"/>
                </a:solidFill>
                <a:effectLst/>
                <a:latin typeface="+mn-lt"/>
                <a:ea typeface="+mn-ea"/>
                <a:cs typeface="+mn-cs"/>
              </a:rPr>
              <a:t> de </a:t>
            </a:r>
            <a:r>
              <a:rPr lang="en-CA" sz="1200" b="0" i="0" kern="1200" dirty="0" err="1">
                <a:solidFill>
                  <a:schemeClr val="tx1"/>
                </a:solidFill>
                <a:effectLst/>
                <a:latin typeface="+mn-lt"/>
                <a:ea typeface="+mn-ea"/>
                <a:cs typeface="+mn-cs"/>
              </a:rPr>
              <a:t>débit</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collectées</a:t>
            </a:r>
            <a:r>
              <a:rPr lang="en-CA" sz="1200" b="0" i="0" kern="1200" dirty="0">
                <a:solidFill>
                  <a:schemeClr val="tx1"/>
                </a:solidFill>
                <a:effectLst/>
                <a:latin typeface="+mn-lt"/>
                <a:ea typeface="+mn-ea"/>
                <a:cs typeface="+mn-cs"/>
              </a:rPr>
              <a:t> (n=100 par configuration)</a:t>
            </a:r>
          </a:p>
          <a:p>
            <a:r>
              <a:rPr lang="en-CA" sz="1200" b="0" i="0" kern="1200" dirty="0">
                <a:solidFill>
                  <a:schemeClr val="tx1"/>
                </a:solidFill>
                <a:effectLst/>
                <a:latin typeface="+mn-lt"/>
                <a:ea typeface="+mn-ea"/>
                <a:cs typeface="+mn-cs"/>
              </a:rPr>
              <a:t>Analyse : avalanche, </a:t>
            </a:r>
            <a:r>
              <a:rPr lang="en-CA" sz="1200" b="0" i="0" kern="1200" dirty="0" err="1">
                <a:solidFill>
                  <a:schemeClr val="tx1"/>
                </a:solidFill>
                <a:effectLst/>
                <a:latin typeface="+mn-lt"/>
                <a:ea typeface="+mn-ea"/>
                <a:cs typeface="+mn-cs"/>
              </a:rPr>
              <a:t>sensibilité</a:t>
            </a:r>
            <a:r>
              <a:rPr lang="en-CA" sz="1200" b="0" i="0" kern="1200" dirty="0">
                <a:solidFill>
                  <a:schemeClr val="tx1"/>
                </a:solidFill>
                <a:effectLst/>
                <a:latin typeface="+mn-lt"/>
                <a:ea typeface="+mn-ea"/>
                <a:cs typeface="+mn-cs"/>
              </a:rPr>
              <a:t> aux </a:t>
            </a:r>
            <a:r>
              <a:rPr lang="en-CA" sz="1200" b="0" i="0" kern="1200" dirty="0" err="1">
                <a:solidFill>
                  <a:schemeClr val="tx1"/>
                </a:solidFill>
                <a:effectLst/>
                <a:latin typeface="+mn-lt"/>
                <a:ea typeface="+mn-ea"/>
                <a:cs typeface="+mn-cs"/>
              </a:rPr>
              <a:t>clés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stabilité</a:t>
            </a:r>
            <a:r>
              <a:rPr lang="en-CA" sz="1200" b="0" i="0" kern="1200" dirty="0">
                <a:solidFill>
                  <a:schemeClr val="tx1"/>
                </a:solidFill>
                <a:effectLst/>
                <a:latin typeface="+mn-lt"/>
                <a:ea typeface="+mn-ea"/>
                <a:cs typeface="+mn-cs"/>
              </a:rPr>
              <a:t> CI95, </a:t>
            </a:r>
            <a:r>
              <a:rPr lang="en-CA" sz="1200" b="0" i="0" kern="1200" dirty="0" err="1">
                <a:solidFill>
                  <a:schemeClr val="tx1"/>
                </a:solidFill>
                <a:effectLst/>
                <a:latin typeface="+mn-lt"/>
                <a:ea typeface="+mn-ea"/>
                <a:cs typeface="+mn-cs"/>
              </a:rPr>
              <a:t>vulnérabilité</a:t>
            </a:r>
            <a:r>
              <a:rPr lang="en-CA" sz="1200" b="0" i="0" kern="1200" dirty="0">
                <a:solidFill>
                  <a:schemeClr val="tx1"/>
                </a:solidFill>
                <a:effectLst/>
                <a:latin typeface="+mn-lt"/>
                <a:ea typeface="+mn-ea"/>
                <a:cs typeface="+mn-cs"/>
              </a:rPr>
              <a:t> ECB</a:t>
            </a:r>
          </a:p>
          <a:p>
            <a:r>
              <a:rPr lang="en-CA" sz="1200" b="1" i="0" kern="1200" dirty="0">
                <a:solidFill>
                  <a:schemeClr val="tx1"/>
                </a:solidFill>
                <a:effectLst/>
                <a:latin typeface="+mn-lt"/>
                <a:ea typeface="+mn-ea"/>
                <a:cs typeface="+mn-cs"/>
              </a:rPr>
              <a:t>Right side — Ce qui </a:t>
            </a:r>
            <a:r>
              <a:rPr lang="en-CA" sz="1200" b="1" i="0" kern="1200" dirty="0" err="1">
                <a:solidFill>
                  <a:schemeClr val="tx1"/>
                </a:solidFill>
                <a:effectLst/>
                <a:latin typeface="+mn-lt"/>
                <a:ea typeface="+mn-ea"/>
                <a:cs typeface="+mn-cs"/>
              </a:rPr>
              <a:t>vient</a:t>
            </a:r>
            <a:r>
              <a:rPr lang="en-CA" sz="1200" b="1" i="0" kern="1200" dirty="0">
                <a:solidFill>
                  <a:schemeClr val="tx1"/>
                </a:solidFill>
                <a:effectLst/>
                <a:latin typeface="+mn-lt"/>
                <a:ea typeface="+mn-ea"/>
                <a:cs typeface="+mn-cs"/>
              </a:rPr>
              <a:t> </a:t>
            </a:r>
            <a:r>
              <a:rPr lang="en-CA" sz="1200" b="1" i="0" kern="1200" dirty="0" err="1">
                <a:solidFill>
                  <a:schemeClr val="tx1"/>
                </a:solidFill>
                <a:effectLst/>
                <a:latin typeface="+mn-lt"/>
                <a:ea typeface="+mn-ea"/>
                <a:cs typeface="+mn-cs"/>
              </a:rPr>
              <a:t>en</a:t>
            </a:r>
            <a:r>
              <a:rPr lang="en-CA" sz="1200" b="1" i="0" kern="1200" dirty="0">
                <a:solidFill>
                  <a:schemeClr val="tx1"/>
                </a:solidFill>
                <a:effectLst/>
                <a:latin typeface="+mn-lt"/>
                <a:ea typeface="+mn-ea"/>
                <a:cs typeface="+mn-cs"/>
              </a:rPr>
              <a:t> TN4 🔜</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Analyse </a:t>
            </a:r>
            <a:r>
              <a:rPr lang="en-CA" sz="1200" b="0" i="0" kern="1200" dirty="0" err="1">
                <a:solidFill>
                  <a:schemeClr val="tx1"/>
                </a:solidFill>
                <a:effectLst/>
                <a:latin typeface="+mn-lt"/>
                <a:ea typeface="+mn-ea"/>
                <a:cs typeface="+mn-cs"/>
              </a:rPr>
              <a:t>approfondie</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hypothèses</a:t>
            </a:r>
            <a:r>
              <a:rPr lang="en-CA" sz="1200" b="0" i="0" kern="1200" dirty="0">
                <a:solidFill>
                  <a:schemeClr val="tx1"/>
                </a:solidFill>
                <a:effectLst/>
                <a:latin typeface="+mn-lt"/>
                <a:ea typeface="+mn-ea"/>
                <a:cs typeface="+mn-cs"/>
              </a:rPr>
              <a:t> de recherche</a:t>
            </a:r>
          </a:p>
          <a:p>
            <a:r>
              <a:rPr lang="en-CA" sz="1200" b="0" i="0" kern="1200" dirty="0" err="1">
                <a:solidFill>
                  <a:schemeClr val="tx1"/>
                </a:solidFill>
                <a:effectLst/>
                <a:latin typeface="+mn-lt"/>
                <a:ea typeface="+mn-ea"/>
                <a:cs typeface="+mn-cs"/>
              </a:rPr>
              <a:t>Comparaison</a:t>
            </a:r>
            <a:r>
              <a:rPr lang="en-CA" sz="1200" b="0" i="0" kern="1200" dirty="0">
                <a:solidFill>
                  <a:schemeClr val="tx1"/>
                </a:solidFill>
                <a:effectLst/>
                <a:latin typeface="+mn-lt"/>
                <a:ea typeface="+mn-ea"/>
                <a:cs typeface="+mn-cs"/>
              </a:rPr>
              <a:t> avec la </a:t>
            </a:r>
            <a:r>
              <a:rPr lang="en-CA" sz="1200" b="1" i="0" kern="1200" dirty="0" err="1">
                <a:solidFill>
                  <a:schemeClr val="tx1"/>
                </a:solidFill>
                <a:effectLst/>
                <a:latin typeface="+mn-lt"/>
                <a:ea typeface="+mn-ea"/>
                <a:cs typeface="+mn-cs"/>
              </a:rPr>
              <a:t>littérature</a:t>
            </a:r>
            <a:r>
              <a:rPr lang="en-CA" sz="1200" b="0" i="0" kern="1200" dirty="0">
                <a:solidFill>
                  <a:schemeClr val="tx1"/>
                </a:solidFill>
                <a:effectLst/>
                <a:latin typeface="+mn-lt"/>
                <a:ea typeface="+mn-ea"/>
                <a:cs typeface="+mn-cs"/>
              </a:rPr>
              <a:t> (Stallings, NIST SP 800-175B)</a:t>
            </a:r>
          </a:p>
          <a:p>
            <a:r>
              <a:rPr lang="en-CA" sz="1200" b="0" i="0" kern="1200" dirty="0">
                <a:solidFill>
                  <a:schemeClr val="tx1"/>
                </a:solidFill>
                <a:effectLst/>
                <a:latin typeface="+mn-lt"/>
                <a:ea typeface="+mn-ea"/>
                <a:cs typeface="+mn-cs"/>
              </a:rPr>
              <a:t>Rapport final — </a:t>
            </a:r>
            <a:r>
              <a:rPr lang="en-CA" sz="1200" b="0" i="0" kern="1200" dirty="0" err="1">
                <a:solidFill>
                  <a:schemeClr val="tx1"/>
                </a:solidFill>
                <a:effectLst/>
                <a:latin typeface="+mn-lt"/>
                <a:ea typeface="+mn-ea"/>
                <a:cs typeface="+mn-cs"/>
              </a:rPr>
              <a:t>interprétation</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complète</a:t>
            </a:r>
            <a:r>
              <a:rPr lang="en-CA" sz="1200" b="0" i="0" kern="1200" dirty="0">
                <a:solidFill>
                  <a:schemeClr val="tx1"/>
                </a:solidFill>
                <a:effectLst/>
                <a:latin typeface="+mn-lt"/>
                <a:ea typeface="+mn-ea"/>
                <a:cs typeface="+mn-cs"/>
              </a:rPr>
              <a:t> des </a:t>
            </a:r>
            <a:r>
              <a:rPr lang="en-CA" sz="1200" b="0" i="0" kern="1200" dirty="0" err="1">
                <a:solidFill>
                  <a:schemeClr val="tx1"/>
                </a:solidFill>
                <a:effectLst/>
                <a:latin typeface="+mn-lt"/>
                <a:ea typeface="+mn-ea"/>
                <a:cs typeface="+mn-cs"/>
              </a:rPr>
              <a:t>résultats</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Conclusions sur les choix </a:t>
            </a:r>
            <a:r>
              <a:rPr lang="en-CA" sz="1200" b="0" i="0" kern="1200" dirty="0" err="1">
                <a:solidFill>
                  <a:schemeClr val="tx1"/>
                </a:solidFill>
                <a:effectLst/>
                <a:latin typeface="+mn-lt"/>
                <a:ea typeface="+mn-ea"/>
                <a:cs typeface="+mn-cs"/>
              </a:rPr>
              <a:t>architecturaux</a:t>
            </a:r>
            <a:r>
              <a:rPr lang="en-CA" sz="1200" b="0" i="0" kern="1200" dirty="0">
                <a:solidFill>
                  <a:schemeClr val="tx1"/>
                </a:solidFill>
                <a:effectLst/>
                <a:latin typeface="+mn-lt"/>
                <a:ea typeface="+mn-ea"/>
                <a:cs typeface="+mn-cs"/>
              </a:rPr>
              <a:t> et </a:t>
            </a:r>
            <a:r>
              <a:rPr lang="en-CA" sz="1200" b="0" i="0" kern="1200" dirty="0" err="1">
                <a:solidFill>
                  <a:schemeClr val="tx1"/>
                </a:solidFill>
                <a:effectLst/>
                <a:latin typeface="+mn-lt"/>
                <a:ea typeface="+mn-ea"/>
                <a:cs typeface="+mn-cs"/>
              </a:rPr>
              <a:t>recommandations</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formelles</a:t>
            </a:r>
            <a:endParaRPr lang="en-CA" sz="1200" b="0" i="0" kern="1200" dirty="0">
              <a:solidFill>
                <a:schemeClr val="tx1"/>
              </a:solidFill>
              <a:effectLst/>
              <a:latin typeface="+mn-lt"/>
              <a:ea typeface="+mn-ea"/>
              <a:cs typeface="+mn-cs"/>
            </a:endParaRPr>
          </a:p>
          <a:p>
            <a:r>
              <a:rPr lang="en-CA" sz="1200" b="1" i="0" kern="1200" dirty="0">
                <a:solidFill>
                  <a:schemeClr val="tx1"/>
                </a:solidFill>
                <a:effectLst/>
                <a:latin typeface="+mn-lt"/>
                <a:ea typeface="+mn-ea"/>
                <a:cs typeface="+mn-cs"/>
              </a:rPr>
              <a:t>Bottom — closing statement (large, centered, italic):</a:t>
            </a:r>
            <a:endParaRPr lang="en-CA" sz="1200" b="0" i="0" kern="1200" dirty="0">
              <a:solidFill>
                <a:schemeClr val="tx1"/>
              </a:solidFill>
              <a:effectLst/>
              <a:latin typeface="+mn-lt"/>
              <a:ea typeface="+mn-ea"/>
              <a:cs typeface="+mn-cs"/>
            </a:endParaRPr>
          </a:p>
          <a:p>
            <a:r>
              <a:rPr lang="en-CA" sz="1200" b="0" i="1" kern="1200" dirty="0">
                <a:solidFill>
                  <a:schemeClr val="tx1"/>
                </a:solidFill>
                <a:effectLst/>
                <a:latin typeface="+mn-lt"/>
                <a:ea typeface="+mn-ea"/>
                <a:cs typeface="+mn-cs"/>
              </a:rPr>
              <a:t>Les données </a:t>
            </a:r>
            <a:r>
              <a:rPr lang="en-CA" sz="1200" b="0" i="1" kern="1200" dirty="0" err="1">
                <a:solidFill>
                  <a:schemeClr val="tx1"/>
                </a:solidFill>
                <a:effectLst/>
                <a:latin typeface="+mn-lt"/>
                <a:ea typeface="+mn-ea"/>
                <a:cs typeface="+mn-cs"/>
              </a:rPr>
              <a:t>parlent</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d'elles-mêmes</a:t>
            </a:r>
            <a:r>
              <a:rPr lang="en-CA" sz="1200" b="0" i="1" kern="1200" dirty="0">
                <a:solidFill>
                  <a:schemeClr val="tx1"/>
                </a:solidFill>
                <a:effectLst/>
                <a:latin typeface="+mn-lt"/>
                <a:ea typeface="+mn-ea"/>
                <a:cs typeface="+mn-cs"/>
              </a:rPr>
              <a:t> : le choix d'un </a:t>
            </a:r>
            <a:r>
              <a:rPr lang="en-CA" sz="1200" b="0" i="1" kern="1200" dirty="0" err="1">
                <a:solidFill>
                  <a:schemeClr val="tx1"/>
                </a:solidFill>
                <a:effectLst/>
                <a:latin typeface="+mn-lt"/>
                <a:ea typeface="+mn-ea"/>
                <a:cs typeface="+mn-cs"/>
              </a:rPr>
              <a:t>algorithme</a:t>
            </a:r>
            <a:r>
              <a:rPr lang="en-CA" sz="1200" b="0" i="1" kern="1200" dirty="0">
                <a:solidFill>
                  <a:schemeClr val="tx1"/>
                </a:solidFill>
                <a:effectLst/>
                <a:latin typeface="+mn-lt"/>
                <a:ea typeface="+mn-ea"/>
                <a:cs typeface="+mn-cs"/>
              </a:rPr>
              <a:t> de </a:t>
            </a:r>
            <a:r>
              <a:rPr lang="en-CA" sz="1200" b="0" i="1" kern="1200" dirty="0" err="1">
                <a:solidFill>
                  <a:schemeClr val="tx1"/>
                </a:solidFill>
                <a:effectLst/>
                <a:latin typeface="+mn-lt"/>
                <a:ea typeface="+mn-ea"/>
                <a:cs typeface="+mn-cs"/>
              </a:rPr>
              <a:t>chiffrement</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n'est</a:t>
            </a:r>
            <a:r>
              <a:rPr lang="en-CA" sz="1200" b="0" i="1" kern="1200" dirty="0">
                <a:solidFill>
                  <a:schemeClr val="tx1"/>
                </a:solidFill>
                <a:effectLst/>
                <a:latin typeface="+mn-lt"/>
                <a:ea typeface="+mn-ea"/>
                <a:cs typeface="+mn-cs"/>
              </a:rPr>
              <a:t> pas </a:t>
            </a:r>
            <a:r>
              <a:rPr lang="en-CA" sz="1200" b="0" i="1" kern="1200" dirty="0" err="1">
                <a:solidFill>
                  <a:schemeClr val="tx1"/>
                </a:solidFill>
                <a:effectLst/>
                <a:latin typeface="+mn-lt"/>
                <a:ea typeface="+mn-ea"/>
                <a:cs typeface="+mn-cs"/>
              </a:rPr>
              <a:t>qu'une</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décision</a:t>
            </a:r>
            <a:r>
              <a:rPr lang="en-CA" sz="1200" b="0" i="1" kern="1200" dirty="0">
                <a:solidFill>
                  <a:schemeClr val="tx1"/>
                </a:solidFill>
                <a:effectLst/>
                <a:latin typeface="+mn-lt"/>
                <a:ea typeface="+mn-ea"/>
                <a:cs typeface="+mn-cs"/>
              </a:rPr>
              <a:t> de sécurité — </a:t>
            </a:r>
            <a:r>
              <a:rPr lang="en-CA" sz="1200" b="0" i="1" kern="1200" dirty="0" err="1">
                <a:solidFill>
                  <a:schemeClr val="tx1"/>
                </a:solidFill>
                <a:effectLst/>
                <a:latin typeface="+mn-lt"/>
                <a:ea typeface="+mn-ea"/>
                <a:cs typeface="+mn-cs"/>
              </a:rPr>
              <a:t>c'est</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une</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décision</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d'architecture</a:t>
            </a:r>
            <a:r>
              <a:rPr lang="en-CA" sz="1200" b="0" i="1" kern="1200" dirty="0">
                <a:solidFill>
                  <a:schemeClr val="tx1"/>
                </a:solidFill>
                <a:effectLst/>
                <a:latin typeface="+mn-lt"/>
                <a:ea typeface="+mn-ea"/>
                <a:cs typeface="+mn-cs"/>
              </a:rPr>
              <a:t>, de </a:t>
            </a:r>
            <a:r>
              <a:rPr lang="en-CA" sz="1200" b="0" i="1" kern="1200" dirty="0" err="1">
                <a:solidFill>
                  <a:schemeClr val="tx1"/>
                </a:solidFill>
                <a:effectLst/>
                <a:latin typeface="+mn-lt"/>
                <a:ea typeface="+mn-ea"/>
                <a:cs typeface="+mn-cs"/>
              </a:rPr>
              <a:t>plateforme</a:t>
            </a:r>
            <a:r>
              <a:rPr lang="en-CA" sz="1200" b="0" i="1" kern="1200" dirty="0">
                <a:solidFill>
                  <a:schemeClr val="tx1"/>
                </a:solidFill>
                <a:effectLst/>
                <a:latin typeface="+mn-lt"/>
                <a:ea typeface="+mn-ea"/>
                <a:cs typeface="+mn-cs"/>
              </a:rPr>
              <a:t>, et de </a:t>
            </a:r>
            <a:r>
              <a:rPr lang="en-CA" sz="1200" b="0" i="1" kern="1200" dirty="0" err="1">
                <a:solidFill>
                  <a:schemeClr val="tx1"/>
                </a:solidFill>
                <a:effectLst/>
                <a:latin typeface="+mn-lt"/>
                <a:ea typeface="+mn-ea"/>
                <a:cs typeface="+mn-cs"/>
              </a:rPr>
              <a:t>contexte</a:t>
            </a:r>
            <a:r>
              <a:rPr lang="en-CA" sz="1200" b="0" i="1" kern="1200" dirty="0">
                <a:solidFill>
                  <a:schemeClr val="tx1"/>
                </a:solidFill>
                <a:effectLst/>
                <a:latin typeface="+mn-lt"/>
                <a:ea typeface="+mn-ea"/>
                <a:cs typeface="+mn-cs"/>
              </a:rPr>
              <a:t> </a:t>
            </a:r>
            <a:r>
              <a:rPr lang="en-CA" sz="1200" b="0" i="1" kern="1200" dirty="0" err="1">
                <a:solidFill>
                  <a:schemeClr val="tx1"/>
                </a:solidFill>
                <a:effectLst/>
                <a:latin typeface="+mn-lt"/>
                <a:ea typeface="+mn-ea"/>
                <a:cs typeface="+mn-cs"/>
              </a:rPr>
              <a:t>d'utilisation</a:t>
            </a:r>
            <a:r>
              <a:rPr lang="en-CA" sz="1200" b="0" i="1" kern="1200" dirty="0">
                <a:solidFill>
                  <a:schemeClr val="tx1"/>
                </a:solidFill>
                <a:effectLst/>
                <a:latin typeface="+mn-lt"/>
                <a:ea typeface="+mn-ea"/>
                <a:cs typeface="+mn-cs"/>
              </a:rPr>
              <a:t>.</a:t>
            </a:r>
            <a:endParaRPr lang="en-CA" sz="1200" b="0" i="0" kern="1200" dirty="0">
              <a:solidFill>
                <a:schemeClr val="tx1"/>
              </a:solidFill>
              <a:effectLst/>
              <a:latin typeface="+mn-lt"/>
              <a:ea typeface="+mn-ea"/>
              <a:cs typeface="+mn-cs"/>
            </a:endParaRPr>
          </a:p>
          <a:p>
            <a:br>
              <a:rPr lang="en-CA" dirty="0"/>
            </a:br>
            <a:endParaRPr lang="en-CA" dirty="0"/>
          </a:p>
          <a:p>
            <a:r>
              <a:rPr lang="en-CA" sz="1200" b="1" i="0" kern="1200" dirty="0">
                <a:solidFill>
                  <a:schemeClr val="tx1"/>
                </a:solidFill>
                <a:effectLst/>
                <a:latin typeface="+mn-lt"/>
                <a:ea typeface="+mn-ea"/>
                <a:cs typeface="+mn-cs"/>
              </a:rPr>
              <a:t>Visual suggestion</a:t>
            </a:r>
          </a:p>
          <a:p>
            <a:r>
              <a:rPr lang="en-CA" sz="1200" b="0" i="0" kern="1200" dirty="0">
                <a:solidFill>
                  <a:schemeClr val="tx1"/>
                </a:solidFill>
                <a:effectLst/>
                <a:latin typeface="+mn-lt"/>
                <a:ea typeface="+mn-ea"/>
                <a:cs typeface="+mn-cs"/>
              </a:rPr>
              <a:t>Two-column layout — left in green (done), right in blue (coming)</a:t>
            </a:r>
          </a:p>
          <a:p>
            <a:r>
              <a:rPr lang="en-CA" sz="1200" b="0" i="0" kern="1200" dirty="0">
                <a:solidFill>
                  <a:schemeClr val="tx1"/>
                </a:solidFill>
                <a:effectLst/>
                <a:latin typeface="+mn-lt"/>
                <a:ea typeface="+mn-ea"/>
                <a:cs typeface="+mn-cs"/>
              </a:rPr>
              <a:t>Use a simple timeline or checklist visual — TN1 → TN2 → </a:t>
            </a:r>
            <a:r>
              <a:rPr lang="en-CA" sz="1200" b="1" i="0" kern="1200" dirty="0">
                <a:solidFill>
                  <a:schemeClr val="tx1"/>
                </a:solidFill>
                <a:effectLst/>
                <a:latin typeface="+mn-lt"/>
                <a:ea typeface="+mn-ea"/>
                <a:cs typeface="+mn-cs"/>
              </a:rPr>
              <a:t>TN3</a:t>
            </a:r>
            <a:r>
              <a:rPr lang="en-CA" sz="1200" b="0" i="0" kern="1200" dirty="0">
                <a:solidFill>
                  <a:schemeClr val="tx1"/>
                </a:solidFill>
                <a:effectLst/>
                <a:latin typeface="+mn-lt"/>
                <a:ea typeface="+mn-ea"/>
                <a:cs typeface="+mn-cs"/>
              </a:rPr>
              <a:t> → TN4, with TN3 highlighted</a:t>
            </a:r>
          </a:p>
          <a:p>
            <a:r>
              <a:rPr lang="en-CA" sz="1200" b="0" i="0" kern="1200" dirty="0">
                <a:solidFill>
                  <a:schemeClr val="tx1"/>
                </a:solidFill>
                <a:effectLst/>
                <a:latin typeface="+mn-lt"/>
                <a:ea typeface="+mn-ea"/>
                <a:cs typeface="+mn-cs"/>
              </a:rPr>
              <a:t>Keep it clean and short — this is the last slide before Q&amp;A</a:t>
            </a:r>
          </a:p>
          <a:p>
            <a:r>
              <a:rPr lang="en-CA" sz="1200" b="1" i="0" kern="1200" dirty="0">
                <a:solidFill>
                  <a:schemeClr val="tx1"/>
                </a:solidFill>
                <a:effectLst/>
                <a:latin typeface="+mn-lt"/>
                <a:ea typeface="+mn-ea"/>
                <a:cs typeface="+mn-cs"/>
              </a:rPr>
              <a:t>Last element — bottom strip:</a:t>
            </a:r>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Merci · Questions ?</a:t>
            </a:r>
            <a:br>
              <a:rPr lang="en-CA" sz="1200" b="0" i="0" kern="1200" dirty="0">
                <a:solidFill>
                  <a:schemeClr val="tx1"/>
                </a:solidFill>
                <a:effectLst/>
                <a:latin typeface="+mn-lt"/>
                <a:ea typeface="+mn-ea"/>
                <a:cs typeface="+mn-cs"/>
              </a:rPr>
            </a:br>
            <a:r>
              <a:rPr lang="en-CA" sz="1200" b="0" i="0" kern="1200" dirty="0">
                <a:solidFill>
                  <a:schemeClr val="tx1"/>
                </a:solidFill>
                <a:effectLst/>
                <a:latin typeface="+mn-lt"/>
                <a:ea typeface="+mn-ea"/>
                <a:cs typeface="+mn-cs"/>
              </a:rPr>
              <a:t>[Your name] · INF1430 · Université TÉLUQ · 2026</a:t>
            </a:r>
          </a:p>
          <a:p>
            <a:br>
              <a:rPr lang="en-CA" dirty="0"/>
            </a:br>
            <a:endParaRPr lang="en-CA" dirty="0"/>
          </a:p>
          <a:p>
            <a:r>
              <a:rPr lang="en-CA" sz="1200" b="1" i="0" kern="1200" dirty="0">
                <a:solidFill>
                  <a:schemeClr val="tx1"/>
                </a:solidFill>
                <a:effectLst/>
                <a:latin typeface="+mn-lt"/>
                <a:ea typeface="+mn-ea"/>
                <a:cs typeface="+mn-cs"/>
              </a:rPr>
              <a:t>What NOT to put on it</a:t>
            </a:r>
          </a:p>
          <a:p>
            <a:r>
              <a:rPr lang="en-CA" sz="1200" b="0" i="0" kern="1200" dirty="0">
                <a:solidFill>
                  <a:schemeClr val="tx1"/>
                </a:solidFill>
                <a:effectLst/>
                <a:latin typeface="+mn-lt"/>
                <a:ea typeface="+mn-ea"/>
                <a:cs typeface="+mn-cs"/>
              </a:rPr>
              <a:t>Don't summarize every result again — one sentence per section max</a:t>
            </a:r>
          </a:p>
          <a:p>
            <a:r>
              <a:rPr lang="en-CA" sz="1200" b="0" i="0" kern="1200" dirty="0">
                <a:solidFill>
                  <a:schemeClr val="tx1"/>
                </a:solidFill>
                <a:effectLst/>
                <a:latin typeface="+mn-lt"/>
                <a:ea typeface="+mn-ea"/>
                <a:cs typeface="+mn-cs"/>
              </a:rPr>
              <a:t>Don't put new data or charts — nothing new here</a:t>
            </a:r>
          </a:p>
          <a:p>
            <a:r>
              <a:rPr lang="en-CA" sz="1200" b="0" i="0" kern="1200" dirty="0">
                <a:solidFill>
                  <a:schemeClr val="tx1"/>
                </a:solidFill>
                <a:effectLst/>
                <a:latin typeface="+mn-lt"/>
                <a:ea typeface="+mn-ea"/>
                <a:cs typeface="+mn-cs"/>
              </a:rPr>
              <a:t>Don't end on "that's it" — end on the closing statement, it gives the work meaning</a:t>
            </a:r>
          </a:p>
          <a:p>
            <a:endParaRPr lang="en-CA" dirty="0"/>
          </a:p>
        </p:txBody>
      </p:sp>
      <p:sp>
        <p:nvSpPr>
          <p:cNvPr id="4" name="Slide Number Placeholder 3"/>
          <p:cNvSpPr>
            <a:spLocks noGrp="1"/>
          </p:cNvSpPr>
          <p:nvPr>
            <p:ph type="sldNum" sz="quarter" idx="5"/>
          </p:nvPr>
        </p:nvSpPr>
        <p:spPr/>
        <p:txBody>
          <a:bodyPr/>
          <a:lstStyle/>
          <a:p>
            <a:fld id="{E469AAED-48F1-4EF1-BEB3-28F1C704C21F}" type="slidenum">
              <a:rPr lang="en-CA" smtClean="0"/>
              <a:t>20</a:t>
            </a:fld>
            <a:endParaRPr lang="en-CA"/>
          </a:p>
        </p:txBody>
      </p:sp>
    </p:spTree>
    <p:extLst>
      <p:ext uri="{BB962C8B-B14F-4D97-AF65-F5344CB8AC3E}">
        <p14:creationId xmlns:p14="http://schemas.microsoft.com/office/powerpoint/2010/main" val="126000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BBCB6-E74A-886B-B6B5-377390AA902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05A6DE1D-1441-0019-F95B-2A31F7D85B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A3C5D049-7576-4799-BDE2-BE2E4260D25C}"/>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84E81F26-1E1C-BE78-0A09-C82978DFEF2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0EB3E03-DB49-892E-C944-AE9E7F7C283E}"/>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12710111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6F5DC-EAEE-BCD9-FA35-8503BAF6CE1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9A158BE-24CE-B65B-9C62-05C3AE5831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27B3F1-1335-A9E2-6B49-0F5064761587}"/>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50562BD2-8012-6217-0D6D-ED3814E9E65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7096D3B-49B8-627B-B647-51013A02DC53}"/>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3189050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69883-D93E-4443-1E74-6BDFAD8CE36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81042D8-8FEF-AD39-BB0D-5CDBC0D3DCD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8931D9-7EA4-CAFB-32B6-D8F7C9B4F037}"/>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BFC0C0AC-1DD3-B4EB-0622-6734A0F0312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08AA4B55-159B-371C-CB23-415C36ACE6BB}"/>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446399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98114-94FF-0A1B-3047-5DCACEB69288}"/>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5E204206-3134-06AD-4301-DE08EAF40C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92BF0ECB-2E15-500F-5ECF-FC3A1574AB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75CADA3-DD1C-F641-98A4-DF462DE79CC4}"/>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6" name="Footer Placeholder 5">
            <a:extLst>
              <a:ext uri="{FF2B5EF4-FFF2-40B4-BE49-F238E27FC236}">
                <a16:creationId xmlns:a16="http://schemas.microsoft.com/office/drawing/2014/main" id="{01971AB0-23A1-402F-544C-231B42E891A6}"/>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C1BAE4CB-883D-5D31-068E-2B4E80CE4071}"/>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83115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9423A-1EF3-A671-5845-81EB81B15F6E}"/>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39E2BF7-71C7-C00B-934F-53271F024B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BB2960-17FF-741C-E02B-EC4725205F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010D22CE-113D-C5A5-9FC8-4A500AB5AA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9E567B-E798-5E2B-8544-7016725C5C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BF15314-0081-9F2C-6F84-BE5D7EE9248C}"/>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8" name="Footer Placeholder 7">
            <a:extLst>
              <a:ext uri="{FF2B5EF4-FFF2-40B4-BE49-F238E27FC236}">
                <a16:creationId xmlns:a16="http://schemas.microsoft.com/office/drawing/2014/main" id="{87EEA311-BB54-9F2F-37BB-9A91E4C3FEEE}"/>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83FEB219-1EAB-C291-FA92-906753988218}"/>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9336843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E838E-8299-734D-A56A-E2EA9FAFD96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1ABA3CC-1BC5-252C-29D8-A43B69A93966}"/>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4" name="Footer Placeholder 3">
            <a:extLst>
              <a:ext uri="{FF2B5EF4-FFF2-40B4-BE49-F238E27FC236}">
                <a16:creationId xmlns:a16="http://schemas.microsoft.com/office/drawing/2014/main" id="{E2C091A8-4DB0-0BC0-83CD-F7CF07538C55}"/>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B352DAA-E7C9-3582-C02F-15A5358FD867}"/>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387114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CC7038-2955-4181-7384-DBB87FD2E681}"/>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3" name="Footer Placeholder 2">
            <a:extLst>
              <a:ext uri="{FF2B5EF4-FFF2-40B4-BE49-F238E27FC236}">
                <a16:creationId xmlns:a16="http://schemas.microsoft.com/office/drawing/2014/main" id="{BEC6572D-9519-968F-75C2-1518E213FB3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27D93119-843F-9F4E-1B9A-F5D2FA72AEF1}"/>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740196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975D7-DB03-DD34-2A32-139FA099C5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CF6A7075-1616-3B0B-6738-D6C17EC5E2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3AEAD53-8285-D82D-0331-4E8FB0CDB8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F9C211-5132-F0BC-B2DC-543F2DF13A8F}"/>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6" name="Footer Placeholder 5">
            <a:extLst>
              <a:ext uri="{FF2B5EF4-FFF2-40B4-BE49-F238E27FC236}">
                <a16:creationId xmlns:a16="http://schemas.microsoft.com/office/drawing/2014/main" id="{38DF586C-0DE2-9850-98FE-8B23F2E699EF}"/>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26CEF30-0891-FFE5-65D5-24DD79E41AC8}"/>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961213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6BA65-2365-8C1D-B429-F207788D72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82369047-E91B-A71F-1569-1B4F403DE9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A932653D-D801-811A-400A-D0D7416C41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4D9BBE-CAAB-853A-D7A4-6A1271384847}"/>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6" name="Footer Placeholder 5">
            <a:extLst>
              <a:ext uri="{FF2B5EF4-FFF2-40B4-BE49-F238E27FC236}">
                <a16:creationId xmlns:a16="http://schemas.microsoft.com/office/drawing/2014/main" id="{EFAFA4A8-E3BD-4F3D-0C3E-2CF9B9EA3E5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6F3F5D4-3016-4AF9-0668-51F596136208}"/>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938063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55B25-3D97-5BFF-6DF1-25F752EA6875}"/>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4882FAC8-F88A-F321-D0F1-D2661F7EDD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2BFA1BF-9840-F56D-0991-D0E4B0F88CBE}"/>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0A97DEFC-88BD-2D3A-9B0A-AEE9C85B426F}"/>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F800B65-4F8F-D886-D2C5-E6D2FFBDC4AA}"/>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20694543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B8497A-AB53-2B77-82F3-F45AE3B33A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76D5A168-946F-DE3F-3CED-C26298541AB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1BECF815-2712-7E3A-7DA9-5389489C2AA3}"/>
              </a:ext>
            </a:extLst>
          </p:cNvPr>
          <p:cNvSpPr>
            <a:spLocks noGrp="1"/>
          </p:cNvSpPr>
          <p:nvPr>
            <p:ph type="dt" sz="half" idx="10"/>
          </p:nvPr>
        </p:nvSpPr>
        <p:spPr/>
        <p:txBody>
          <a:body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AEDA1A0F-E41C-0D2D-0A0B-BF7B4DC832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A721089-3B0D-5C87-CD07-304F5D532DC9}"/>
              </a:ext>
            </a:extLst>
          </p:cNvPr>
          <p:cNvSpPr>
            <a:spLocks noGrp="1"/>
          </p:cNvSpPr>
          <p:nvPr>
            <p:ph type="sldNum" sz="quarter" idx="12"/>
          </p:nvPr>
        </p:nvSpPr>
        <p:spPr/>
        <p:txBody>
          <a:bodyPr/>
          <a:lstStyle/>
          <a:p>
            <a:fld id="{62CB8CF1-113F-4464-9497-BEC0F249816D}" type="slidenum">
              <a:rPr lang="en-CA" smtClean="0"/>
              <a:t>‹#›</a:t>
            </a:fld>
            <a:endParaRPr lang="en-CA"/>
          </a:p>
        </p:txBody>
      </p:sp>
    </p:spTree>
    <p:extLst>
      <p:ext uri="{BB962C8B-B14F-4D97-AF65-F5344CB8AC3E}">
        <p14:creationId xmlns:p14="http://schemas.microsoft.com/office/powerpoint/2010/main" val="3811641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276B8-0B0C-E12B-5818-28EDDCE648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0280BB56-CF7A-A518-7A9A-2A22C7FEDE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73F59E5-C881-1E1E-6CEC-991A3DD6C95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29B8E4B-5624-4E33-98D2-AC22652C40E7}" type="datetimeFigureOut">
              <a:rPr lang="en-CA" smtClean="0"/>
              <a:t>2026-06-12</a:t>
            </a:fld>
            <a:endParaRPr lang="en-CA"/>
          </a:p>
        </p:txBody>
      </p:sp>
      <p:sp>
        <p:nvSpPr>
          <p:cNvPr id="5" name="Footer Placeholder 4">
            <a:extLst>
              <a:ext uri="{FF2B5EF4-FFF2-40B4-BE49-F238E27FC236}">
                <a16:creationId xmlns:a16="http://schemas.microsoft.com/office/drawing/2014/main" id="{798D5625-6106-6F0F-E3DF-CC285270AA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26A8B8AF-1FFB-9527-6240-121D5F8C03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2CB8CF1-113F-4464-9497-BEC0F249816D}" type="slidenum">
              <a:rPr lang="en-CA" smtClean="0"/>
              <a:t>‹#›</a:t>
            </a:fld>
            <a:endParaRPr lang="en-CA"/>
          </a:p>
        </p:txBody>
      </p:sp>
      <p:sp>
        <p:nvSpPr>
          <p:cNvPr id="8" name="TextBox 7">
            <a:extLst>
              <a:ext uri="{FF2B5EF4-FFF2-40B4-BE49-F238E27FC236}">
                <a16:creationId xmlns:a16="http://schemas.microsoft.com/office/drawing/2014/main" id="{EB3C95E6-2264-137A-A4E3-0C26D357E42D}"/>
              </a:ext>
            </a:extLst>
          </p:cNvPr>
          <p:cNvSpPr txBox="1"/>
          <p:nvPr userDrawn="1">
            <p:extLst>
              <p:ext uri="{1162E1C5-73C7-4A58-AE30-91384D911F3F}">
                <p184:classification xmlns:p184="http://schemas.microsoft.com/office/powerpoint/2018/4/main" val="hdr"/>
              </p:ext>
            </p:extLst>
          </p:nvPr>
        </p:nvSpPr>
        <p:spPr>
          <a:xfrm>
            <a:off x="10344150" y="63500"/>
            <a:ext cx="1816100" cy="182880"/>
          </a:xfrm>
          <a:prstGeom prst="rect">
            <a:avLst/>
          </a:prstGeom>
        </p:spPr>
        <p:txBody>
          <a:bodyPr horzOverflow="overflow" lIns="0" tIns="0" rIns="0" bIns="0">
            <a:spAutoFit/>
          </a:bodyPr>
          <a:lstStyle/>
          <a:p>
            <a:pPr algn="l"/>
            <a:r>
              <a:rPr lang="en-CA" sz="1200">
                <a:solidFill>
                  <a:srgbClr val="000000">
                    <a:alpha val="50000"/>
                  </a:srgbClr>
                </a:solidFill>
                <a:latin typeface="Aptos" panose="020B0004020202020204" pitchFamily="34" charset="0"/>
              </a:rPr>
              <a:t>Unclassified | Non classifié</a:t>
            </a:r>
          </a:p>
        </p:txBody>
      </p:sp>
    </p:spTree>
    <p:extLst>
      <p:ext uri="{BB962C8B-B14F-4D97-AF65-F5344CB8AC3E}">
        <p14:creationId xmlns:p14="http://schemas.microsoft.com/office/powerpoint/2010/main" val="205779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81EFE-A91D-FBD9-82A2-093F48DA01B7}"/>
              </a:ext>
            </a:extLst>
          </p:cNvPr>
          <p:cNvSpPr>
            <a:spLocks noGrp="1"/>
          </p:cNvSpPr>
          <p:nvPr>
            <p:ph type="ctrTitle"/>
          </p:nvPr>
        </p:nvSpPr>
        <p:spPr/>
        <p:txBody>
          <a:bodyPr>
            <a:normAutofit fontScale="90000"/>
          </a:bodyPr>
          <a:lstStyle/>
          <a:p>
            <a:r>
              <a:rPr lang="en-CA" dirty="0" err="1"/>
              <a:t>Comparaison</a:t>
            </a:r>
            <a:r>
              <a:rPr lang="en-CA" dirty="0"/>
              <a:t> </a:t>
            </a:r>
            <a:r>
              <a:rPr lang="en-CA" dirty="0" err="1"/>
              <a:t>expérimentale</a:t>
            </a:r>
            <a:r>
              <a:rPr lang="en-CA" dirty="0"/>
              <a:t> des </a:t>
            </a:r>
            <a:r>
              <a:rPr lang="en-CA" dirty="0" err="1"/>
              <a:t>algorithmes</a:t>
            </a:r>
            <a:r>
              <a:rPr lang="en-CA" dirty="0"/>
              <a:t> de </a:t>
            </a:r>
            <a:r>
              <a:rPr lang="en-CA" dirty="0" err="1"/>
              <a:t>chiffrement</a:t>
            </a:r>
            <a:r>
              <a:rPr lang="en-CA" dirty="0"/>
              <a:t> </a:t>
            </a:r>
            <a:r>
              <a:rPr lang="en-CA" dirty="0" err="1"/>
              <a:t>symétrique</a:t>
            </a:r>
            <a:endParaRPr lang="en-CA" dirty="0"/>
          </a:p>
        </p:txBody>
      </p:sp>
      <p:sp>
        <p:nvSpPr>
          <p:cNvPr id="3" name="Subtitle 2">
            <a:extLst>
              <a:ext uri="{FF2B5EF4-FFF2-40B4-BE49-F238E27FC236}">
                <a16:creationId xmlns:a16="http://schemas.microsoft.com/office/drawing/2014/main" id="{8C200396-0292-04DD-2119-B049138ABE99}"/>
              </a:ext>
            </a:extLst>
          </p:cNvPr>
          <p:cNvSpPr>
            <a:spLocks noGrp="1"/>
          </p:cNvSpPr>
          <p:nvPr>
            <p:ph type="subTitle" idx="1"/>
          </p:nvPr>
        </p:nvSpPr>
        <p:spPr/>
        <p:txBody>
          <a:bodyPr>
            <a:normAutofit fontScale="85000" lnSpcReduction="10000"/>
          </a:bodyPr>
          <a:lstStyle/>
          <a:p>
            <a:r>
              <a:rPr lang="en-CA" dirty="0"/>
              <a:t>Performance et </a:t>
            </a:r>
            <a:r>
              <a:rPr lang="en-CA" dirty="0" err="1"/>
              <a:t>robustesse</a:t>
            </a:r>
            <a:r>
              <a:rPr lang="en-CA" dirty="0"/>
              <a:t> : architecture x86 (Windows) vs ARM (Raspberry Pi)</a:t>
            </a:r>
          </a:p>
          <a:p>
            <a:endParaRPr lang="en-CA" dirty="0"/>
          </a:p>
          <a:p>
            <a:r>
              <a:rPr lang="en-CA" sz="2000" dirty="0"/>
              <a:t>INF1430 — Université TÉLUQ</a:t>
            </a:r>
            <a:br>
              <a:rPr lang="en-CA" sz="2000" dirty="0"/>
            </a:br>
            <a:r>
              <a:rPr lang="en-CA" sz="2000" dirty="0"/>
              <a:t>TN3 — </a:t>
            </a:r>
            <a:r>
              <a:rPr lang="en-CA" sz="2000" dirty="0" err="1"/>
              <a:t>Implémentation</a:t>
            </a:r>
            <a:r>
              <a:rPr lang="en-CA" sz="2000" dirty="0"/>
              <a:t> et </a:t>
            </a:r>
            <a:r>
              <a:rPr lang="en-CA" sz="2000" dirty="0" err="1"/>
              <a:t>expérimentation</a:t>
            </a:r>
            <a:br>
              <a:rPr lang="en-CA" sz="2000" dirty="0"/>
            </a:br>
            <a:r>
              <a:rPr lang="en-CA" sz="2000" dirty="0"/>
              <a:t>Melissa Moya</a:t>
            </a:r>
          </a:p>
        </p:txBody>
      </p:sp>
    </p:spTree>
    <p:extLst>
      <p:ext uri="{BB962C8B-B14F-4D97-AF65-F5344CB8AC3E}">
        <p14:creationId xmlns:p14="http://schemas.microsoft.com/office/powerpoint/2010/main" val="2444598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B125B-F162-F629-B0C0-C1A5E4D8E927}"/>
              </a:ext>
            </a:extLst>
          </p:cNvPr>
          <p:cNvSpPr>
            <a:spLocks noGrp="1"/>
          </p:cNvSpPr>
          <p:nvPr>
            <p:ph type="title"/>
          </p:nvPr>
        </p:nvSpPr>
        <p:spPr/>
        <p:txBody>
          <a:bodyPr/>
          <a:lstStyle/>
          <a:p>
            <a:r>
              <a:rPr lang="en-CA" dirty="0"/>
              <a:t>Plan de la </a:t>
            </a:r>
            <a:r>
              <a:rPr lang="en-CA" dirty="0" err="1"/>
              <a:t>présentation</a:t>
            </a:r>
            <a:endParaRPr lang="en-CA" dirty="0"/>
          </a:p>
        </p:txBody>
      </p:sp>
      <p:sp>
        <p:nvSpPr>
          <p:cNvPr id="3" name="Content Placeholder 2">
            <a:extLst>
              <a:ext uri="{FF2B5EF4-FFF2-40B4-BE49-F238E27FC236}">
                <a16:creationId xmlns:a16="http://schemas.microsoft.com/office/drawing/2014/main" id="{52806E9D-A7A4-9501-F5FA-2A95A7C7926E}"/>
              </a:ext>
            </a:extLst>
          </p:cNvPr>
          <p:cNvSpPr>
            <a:spLocks noGrp="1"/>
          </p:cNvSpPr>
          <p:nvPr>
            <p:ph idx="1"/>
          </p:nvPr>
        </p:nvSpPr>
        <p:spPr/>
        <p:txBody>
          <a:bodyPr/>
          <a:lstStyle/>
          <a:p>
            <a:pPr marL="514350" indent="-514350">
              <a:buFont typeface="+mj-lt"/>
              <a:buAutoNum type="arabicPeriod"/>
            </a:pPr>
            <a:r>
              <a:rPr lang="en-CA" dirty="0"/>
              <a:t>Nature du </a:t>
            </a:r>
            <a:r>
              <a:rPr lang="en-CA" dirty="0" err="1"/>
              <a:t>système</a:t>
            </a:r>
            <a:r>
              <a:rPr lang="en-CA" dirty="0"/>
              <a:t> &amp; architecture</a:t>
            </a:r>
          </a:p>
          <a:p>
            <a:pPr marL="514350" indent="-514350">
              <a:buFont typeface="+mj-lt"/>
              <a:buAutoNum type="arabicPeriod"/>
            </a:pPr>
            <a:r>
              <a:rPr lang="en-CA" dirty="0" err="1"/>
              <a:t>Protocole</a:t>
            </a:r>
            <a:r>
              <a:rPr lang="en-CA" dirty="0"/>
              <a:t> </a:t>
            </a:r>
            <a:r>
              <a:rPr lang="en-CA" dirty="0" err="1"/>
              <a:t>expérimental</a:t>
            </a:r>
            <a:endParaRPr lang="en-CA" dirty="0"/>
          </a:p>
          <a:p>
            <a:pPr marL="514350" indent="-514350">
              <a:buFont typeface="+mj-lt"/>
              <a:buAutoNum type="arabicPeriod"/>
            </a:pPr>
            <a:r>
              <a:rPr lang="en-CA" dirty="0"/>
              <a:t>Validation </a:t>
            </a:r>
            <a:r>
              <a:rPr lang="en-CA" dirty="0" err="1"/>
              <a:t>fonctionnelle</a:t>
            </a:r>
            <a:r>
              <a:rPr lang="en-CA" dirty="0"/>
              <a:t> (KAT)</a:t>
            </a:r>
          </a:p>
          <a:p>
            <a:pPr marL="514350" indent="-514350">
              <a:buFont typeface="+mj-lt"/>
              <a:buAutoNum type="arabicPeriod"/>
            </a:pPr>
            <a:r>
              <a:rPr lang="en-CA" dirty="0" err="1"/>
              <a:t>Résultats</a:t>
            </a:r>
            <a:r>
              <a:rPr lang="en-CA" dirty="0"/>
              <a:t> de performance — </a:t>
            </a:r>
            <a:r>
              <a:rPr lang="en-CA" dirty="0" err="1"/>
              <a:t>débit</a:t>
            </a:r>
            <a:r>
              <a:rPr lang="en-CA" dirty="0"/>
              <a:t> par </a:t>
            </a:r>
            <a:r>
              <a:rPr lang="en-CA" dirty="0" err="1"/>
              <a:t>algorithme</a:t>
            </a:r>
            <a:endParaRPr lang="en-CA" dirty="0"/>
          </a:p>
          <a:p>
            <a:pPr marL="514350" indent="-514350">
              <a:buFont typeface="+mj-lt"/>
              <a:buAutoNum type="arabicPeriod"/>
            </a:pPr>
            <a:r>
              <a:rPr lang="en-CA" dirty="0" err="1"/>
              <a:t>Robustesse</a:t>
            </a:r>
            <a:r>
              <a:rPr lang="en-CA" dirty="0"/>
              <a:t> </a:t>
            </a:r>
            <a:r>
              <a:rPr lang="en-CA" dirty="0" err="1"/>
              <a:t>cryptographique</a:t>
            </a:r>
            <a:r>
              <a:rPr lang="en-CA" dirty="0"/>
              <a:t> — avalanche &amp; </a:t>
            </a:r>
            <a:r>
              <a:rPr lang="en-CA" dirty="0" err="1"/>
              <a:t>sensibilité</a:t>
            </a:r>
            <a:r>
              <a:rPr lang="en-CA" dirty="0"/>
              <a:t> aux </a:t>
            </a:r>
            <a:r>
              <a:rPr lang="en-CA" dirty="0" err="1"/>
              <a:t>clés</a:t>
            </a:r>
            <a:endParaRPr lang="en-CA" dirty="0"/>
          </a:p>
          <a:p>
            <a:pPr marL="514350" indent="-514350">
              <a:buFont typeface="+mj-lt"/>
              <a:buAutoNum type="arabicPeriod"/>
            </a:pPr>
            <a:r>
              <a:rPr lang="en-CA" dirty="0" err="1"/>
              <a:t>Synthèse</a:t>
            </a:r>
            <a:r>
              <a:rPr lang="en-CA" dirty="0"/>
              <a:t> &amp; </a:t>
            </a:r>
            <a:r>
              <a:rPr lang="en-CA" dirty="0" err="1"/>
              <a:t>recommandations</a:t>
            </a:r>
            <a:endParaRPr lang="en-CA" dirty="0"/>
          </a:p>
          <a:p>
            <a:endParaRPr lang="en-CA" dirty="0"/>
          </a:p>
        </p:txBody>
      </p:sp>
    </p:spTree>
    <p:extLst>
      <p:ext uri="{BB962C8B-B14F-4D97-AF65-F5344CB8AC3E}">
        <p14:creationId xmlns:p14="http://schemas.microsoft.com/office/powerpoint/2010/main" val="3640620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CDAE1-FB65-2C51-D8EA-5CBB9D7CC062}"/>
              </a:ext>
            </a:extLst>
          </p:cNvPr>
          <p:cNvSpPr>
            <a:spLocks noGrp="1"/>
          </p:cNvSpPr>
          <p:nvPr>
            <p:ph type="title"/>
          </p:nvPr>
        </p:nvSpPr>
        <p:spPr/>
        <p:txBody>
          <a:bodyPr/>
          <a:lstStyle/>
          <a:p>
            <a:r>
              <a:rPr lang="en-CA" dirty="0"/>
              <a:t>Nature du </a:t>
            </a:r>
            <a:r>
              <a:rPr lang="en-CA" dirty="0" err="1"/>
              <a:t>système</a:t>
            </a:r>
            <a:endParaRPr lang="en-CA" dirty="0"/>
          </a:p>
        </p:txBody>
      </p:sp>
      <p:sp>
        <p:nvSpPr>
          <p:cNvPr id="3" name="Content Placeholder 2">
            <a:extLst>
              <a:ext uri="{FF2B5EF4-FFF2-40B4-BE49-F238E27FC236}">
                <a16:creationId xmlns:a16="http://schemas.microsoft.com/office/drawing/2014/main" id="{8EE455E2-BD2A-7E4B-2E11-DDC688B28722}"/>
              </a:ext>
            </a:extLst>
          </p:cNvPr>
          <p:cNvSpPr>
            <a:spLocks noGrp="1"/>
          </p:cNvSpPr>
          <p:nvPr>
            <p:ph idx="1"/>
          </p:nvPr>
        </p:nvSpPr>
        <p:spPr>
          <a:xfrm>
            <a:off x="838200" y="1825625"/>
            <a:ext cx="4864510" cy="4351338"/>
          </a:xfrm>
        </p:spPr>
        <p:txBody>
          <a:bodyPr/>
          <a:lstStyle/>
          <a:p>
            <a:r>
              <a:rPr lang="en-CA" dirty="0" err="1"/>
              <a:t>Moteur</a:t>
            </a:r>
            <a:r>
              <a:rPr lang="en-CA" dirty="0"/>
              <a:t> </a:t>
            </a:r>
            <a:r>
              <a:rPr lang="en-CA" dirty="0" err="1"/>
              <a:t>expérimental</a:t>
            </a:r>
            <a:r>
              <a:rPr lang="en-CA" dirty="0"/>
              <a:t> — pas </a:t>
            </a:r>
            <a:r>
              <a:rPr lang="en-CA" dirty="0" err="1"/>
              <a:t>une</a:t>
            </a:r>
            <a:r>
              <a:rPr lang="en-CA" dirty="0"/>
              <a:t> application </a:t>
            </a:r>
            <a:r>
              <a:rPr lang="en-CA" dirty="0" err="1"/>
              <a:t>utilisateur</a:t>
            </a:r>
            <a:endParaRPr lang="en-CA" dirty="0"/>
          </a:p>
          <a:p>
            <a:r>
              <a:rPr lang="en-CA" dirty="0" err="1"/>
              <a:t>Aucune</a:t>
            </a:r>
            <a:r>
              <a:rPr lang="en-CA" dirty="0"/>
              <a:t> interface </a:t>
            </a:r>
            <a:r>
              <a:rPr lang="en-CA" dirty="0" err="1"/>
              <a:t>graphique</a:t>
            </a:r>
            <a:r>
              <a:rPr lang="en-CA" dirty="0"/>
              <a:t> : entrée = </a:t>
            </a:r>
            <a:r>
              <a:rPr lang="en-CA" dirty="0" err="1"/>
              <a:t>paramètres</a:t>
            </a:r>
            <a:r>
              <a:rPr lang="en-CA" dirty="0"/>
              <a:t>, sortie = CSV</a:t>
            </a:r>
          </a:p>
          <a:p>
            <a:r>
              <a:rPr lang="en-CA" dirty="0" err="1"/>
              <a:t>Conçu</a:t>
            </a:r>
            <a:r>
              <a:rPr lang="en-CA" dirty="0"/>
              <a:t> pour </a:t>
            </a:r>
            <a:r>
              <a:rPr lang="en-CA" dirty="0" err="1"/>
              <a:t>isoler</a:t>
            </a:r>
            <a:r>
              <a:rPr lang="en-CA" dirty="0"/>
              <a:t> la variable </a:t>
            </a:r>
            <a:r>
              <a:rPr lang="en-CA" dirty="0" err="1"/>
              <a:t>matérielle</a:t>
            </a:r>
            <a:r>
              <a:rPr lang="en-CA" dirty="0"/>
              <a:t> entre </a:t>
            </a:r>
            <a:r>
              <a:rPr lang="en-CA" dirty="0" err="1"/>
              <a:t>plateformes</a:t>
            </a:r>
            <a:endParaRPr lang="en-CA" dirty="0"/>
          </a:p>
          <a:p>
            <a:pPr marL="0" indent="0">
              <a:buNone/>
            </a:pPr>
            <a:endParaRPr lang="en-CA" dirty="0"/>
          </a:p>
        </p:txBody>
      </p:sp>
      <p:sp>
        <p:nvSpPr>
          <p:cNvPr id="5" name="TextBox 4">
            <a:extLst>
              <a:ext uri="{FF2B5EF4-FFF2-40B4-BE49-F238E27FC236}">
                <a16:creationId xmlns:a16="http://schemas.microsoft.com/office/drawing/2014/main" id="{D3464C9C-19EF-CD85-E523-7F24DFE02CAC}"/>
              </a:ext>
            </a:extLst>
          </p:cNvPr>
          <p:cNvSpPr txBox="1"/>
          <p:nvPr/>
        </p:nvSpPr>
        <p:spPr>
          <a:xfrm>
            <a:off x="6853084" y="1456293"/>
            <a:ext cx="4955458" cy="369332"/>
          </a:xfrm>
          <a:prstGeom prst="rect">
            <a:avLst/>
          </a:prstGeom>
          <a:noFill/>
        </p:spPr>
        <p:txBody>
          <a:bodyPr wrap="square">
            <a:spAutoFit/>
          </a:bodyPr>
          <a:lstStyle/>
          <a:p>
            <a:r>
              <a:rPr lang="en-CA" b="1" i="0" dirty="0">
                <a:solidFill>
                  <a:srgbClr val="BFBFBF"/>
                </a:solidFill>
                <a:effectLst/>
                <a:latin typeface="Segoe WPC"/>
              </a:rPr>
              <a:t> architecture diagram (layered, vertical):</a:t>
            </a:r>
            <a:endParaRPr lang="en-CA" dirty="0"/>
          </a:p>
        </p:txBody>
      </p:sp>
      <p:pic>
        <p:nvPicPr>
          <p:cNvPr id="7" name="Picture 6">
            <a:extLst>
              <a:ext uri="{FF2B5EF4-FFF2-40B4-BE49-F238E27FC236}">
                <a16:creationId xmlns:a16="http://schemas.microsoft.com/office/drawing/2014/main" id="{AEC2B49E-AC48-A830-DB4C-BD3FF689F2EA}"/>
              </a:ext>
            </a:extLst>
          </p:cNvPr>
          <p:cNvPicPr>
            <a:picLocks noChangeAspect="1"/>
          </p:cNvPicPr>
          <p:nvPr/>
        </p:nvPicPr>
        <p:blipFill>
          <a:blip r:embed="rId3"/>
          <a:stretch>
            <a:fillRect/>
          </a:stretch>
        </p:blipFill>
        <p:spPr>
          <a:xfrm>
            <a:off x="6489292" y="2200129"/>
            <a:ext cx="5296359" cy="1966130"/>
          </a:xfrm>
          <a:prstGeom prst="rect">
            <a:avLst/>
          </a:prstGeom>
        </p:spPr>
      </p:pic>
      <p:sp>
        <p:nvSpPr>
          <p:cNvPr id="9" name="TextBox 8">
            <a:extLst>
              <a:ext uri="{FF2B5EF4-FFF2-40B4-BE49-F238E27FC236}">
                <a16:creationId xmlns:a16="http://schemas.microsoft.com/office/drawing/2014/main" id="{D1FC67BA-248E-8479-FA5E-F43CE731482F}"/>
              </a:ext>
            </a:extLst>
          </p:cNvPr>
          <p:cNvSpPr txBox="1"/>
          <p:nvPr/>
        </p:nvSpPr>
        <p:spPr>
          <a:xfrm>
            <a:off x="550607" y="5530632"/>
            <a:ext cx="11235044" cy="646331"/>
          </a:xfrm>
          <a:prstGeom prst="rect">
            <a:avLst/>
          </a:prstGeom>
          <a:noFill/>
        </p:spPr>
        <p:txBody>
          <a:bodyPr wrap="square">
            <a:spAutoFit/>
          </a:bodyPr>
          <a:lstStyle/>
          <a:p>
            <a:r>
              <a:rPr lang="en-CA" b="0" i="0" dirty="0">
                <a:effectLst/>
                <a:latin typeface="Segoe WPC"/>
              </a:rPr>
              <a:t>La </a:t>
            </a:r>
            <a:r>
              <a:rPr lang="en-CA" b="0" i="0" dirty="0" err="1">
                <a:effectLst/>
                <a:latin typeface="Segoe WPC"/>
              </a:rPr>
              <a:t>répétabilité</a:t>
            </a:r>
            <a:r>
              <a:rPr lang="en-CA" b="0" i="0" dirty="0">
                <a:effectLst/>
                <a:latin typeface="Segoe WPC"/>
              </a:rPr>
              <a:t> est </a:t>
            </a:r>
            <a:r>
              <a:rPr lang="en-CA" b="0" i="0" dirty="0" err="1">
                <a:effectLst/>
                <a:latin typeface="Segoe WPC"/>
              </a:rPr>
              <a:t>garantie</a:t>
            </a:r>
            <a:r>
              <a:rPr lang="en-CA" b="0" i="0" dirty="0">
                <a:effectLst/>
                <a:latin typeface="Segoe WPC"/>
              </a:rPr>
              <a:t> par </a:t>
            </a:r>
            <a:r>
              <a:rPr lang="en-CA" b="0" i="0" dirty="0" err="1">
                <a:effectLst/>
                <a:latin typeface="Segoe WPC"/>
              </a:rPr>
              <a:t>l'indépendance</a:t>
            </a:r>
            <a:r>
              <a:rPr lang="en-CA" b="0" i="0" dirty="0">
                <a:effectLst/>
                <a:latin typeface="Segoe WPC"/>
              </a:rPr>
              <a:t> des primitives : </a:t>
            </a:r>
            <a:r>
              <a:rPr lang="en-CA" b="0" i="0" dirty="0" err="1">
                <a:effectLst/>
                <a:latin typeface="Segoe WPC"/>
              </a:rPr>
              <a:t>PyCryptodome</a:t>
            </a:r>
            <a:r>
              <a:rPr lang="en-CA" b="0" i="0" dirty="0">
                <a:effectLst/>
                <a:latin typeface="Segoe WPC"/>
              </a:rPr>
              <a:t> </a:t>
            </a:r>
            <a:r>
              <a:rPr lang="en-CA" b="0" i="0" dirty="0" err="1">
                <a:effectLst/>
                <a:latin typeface="Segoe WPC"/>
              </a:rPr>
              <a:t>délègue</a:t>
            </a:r>
            <a:r>
              <a:rPr lang="en-CA" b="0" i="0" dirty="0">
                <a:effectLst/>
                <a:latin typeface="Segoe WPC"/>
              </a:rPr>
              <a:t> aux </a:t>
            </a:r>
            <a:r>
              <a:rPr lang="en-CA" b="0" i="0" dirty="0" err="1">
                <a:effectLst/>
                <a:latin typeface="Segoe WPC"/>
              </a:rPr>
              <a:t>mêmes</a:t>
            </a:r>
            <a:r>
              <a:rPr lang="en-CA" b="0" i="0" dirty="0">
                <a:effectLst/>
                <a:latin typeface="Segoe WPC"/>
              </a:rPr>
              <a:t> routines C </a:t>
            </a:r>
            <a:r>
              <a:rPr lang="en-CA" b="0" i="0" dirty="0" err="1">
                <a:effectLst/>
                <a:latin typeface="Segoe WPC"/>
              </a:rPr>
              <a:t>compilées</a:t>
            </a:r>
            <a:r>
              <a:rPr lang="en-CA" b="0" i="0" dirty="0">
                <a:effectLst/>
                <a:latin typeface="Segoe WPC"/>
              </a:rPr>
              <a:t> sur les deux OS — les octets </a:t>
            </a:r>
            <a:r>
              <a:rPr lang="en-CA" b="0" i="0" dirty="0" err="1">
                <a:effectLst/>
                <a:latin typeface="Segoe WPC"/>
              </a:rPr>
              <a:t>sont</a:t>
            </a:r>
            <a:r>
              <a:rPr lang="en-CA" b="0" i="0" dirty="0">
                <a:effectLst/>
                <a:latin typeface="Segoe WPC"/>
              </a:rPr>
              <a:t> des octets.</a:t>
            </a:r>
            <a:endParaRPr lang="en-CA" dirty="0"/>
          </a:p>
        </p:txBody>
      </p:sp>
      <p:pic>
        <p:nvPicPr>
          <p:cNvPr id="11" name="Graphic 10" descr="Play with solid fill">
            <a:extLst>
              <a:ext uri="{FF2B5EF4-FFF2-40B4-BE49-F238E27FC236}">
                <a16:creationId xmlns:a16="http://schemas.microsoft.com/office/drawing/2014/main" id="{02282961-D62E-CC9D-FEED-22811DF6D6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08968" y="4749364"/>
            <a:ext cx="646331" cy="646331"/>
          </a:xfrm>
          <a:prstGeom prst="rect">
            <a:avLst/>
          </a:prstGeom>
        </p:spPr>
      </p:pic>
      <p:sp>
        <p:nvSpPr>
          <p:cNvPr id="12" name="TextBox 11">
            <a:extLst>
              <a:ext uri="{FF2B5EF4-FFF2-40B4-BE49-F238E27FC236}">
                <a16:creationId xmlns:a16="http://schemas.microsoft.com/office/drawing/2014/main" id="{A2C9173A-5580-463D-573B-4846F8679161}"/>
              </a:ext>
            </a:extLst>
          </p:cNvPr>
          <p:cNvSpPr txBox="1"/>
          <p:nvPr/>
        </p:nvSpPr>
        <p:spPr>
          <a:xfrm>
            <a:off x="9085890" y="4962159"/>
            <a:ext cx="1756671" cy="369332"/>
          </a:xfrm>
          <a:prstGeom prst="rect">
            <a:avLst/>
          </a:prstGeom>
          <a:noFill/>
        </p:spPr>
        <p:txBody>
          <a:bodyPr wrap="square">
            <a:spAutoFit/>
          </a:bodyPr>
          <a:lstStyle/>
          <a:p>
            <a:r>
              <a:rPr lang="en-CA" b="1" i="0" dirty="0">
                <a:solidFill>
                  <a:srgbClr val="BFBFBF"/>
                </a:solidFill>
                <a:effectLst/>
                <a:latin typeface="Segoe WPC"/>
              </a:rPr>
              <a:t> Link to video</a:t>
            </a:r>
            <a:endParaRPr lang="en-CA" dirty="0"/>
          </a:p>
        </p:txBody>
      </p:sp>
      <p:sp>
        <p:nvSpPr>
          <p:cNvPr id="13" name="Oval 12">
            <a:extLst>
              <a:ext uri="{FF2B5EF4-FFF2-40B4-BE49-F238E27FC236}">
                <a16:creationId xmlns:a16="http://schemas.microsoft.com/office/drawing/2014/main" id="{6C82E813-DD80-FDEC-52A1-F8ED65FC44EF}"/>
              </a:ext>
            </a:extLst>
          </p:cNvPr>
          <p:cNvSpPr/>
          <p:nvPr/>
        </p:nvSpPr>
        <p:spPr>
          <a:xfrm>
            <a:off x="10776155" y="4749364"/>
            <a:ext cx="779144" cy="64633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noFill/>
            </a:endParaRPr>
          </a:p>
        </p:txBody>
      </p:sp>
    </p:spTree>
    <p:extLst>
      <p:ext uri="{BB962C8B-B14F-4D97-AF65-F5344CB8AC3E}">
        <p14:creationId xmlns:p14="http://schemas.microsoft.com/office/powerpoint/2010/main" val="1635663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B3423-6B47-F296-9D6D-AA490EC9638D}"/>
              </a:ext>
            </a:extLst>
          </p:cNvPr>
          <p:cNvSpPr>
            <a:spLocks noGrp="1"/>
          </p:cNvSpPr>
          <p:nvPr>
            <p:ph type="title"/>
          </p:nvPr>
        </p:nvSpPr>
        <p:spPr/>
        <p:txBody>
          <a:bodyPr/>
          <a:lstStyle/>
          <a:p>
            <a:r>
              <a:rPr lang="en-CA" dirty="0" err="1"/>
              <a:t>Protocole</a:t>
            </a:r>
            <a:r>
              <a:rPr lang="en-CA" dirty="0"/>
              <a:t> </a:t>
            </a:r>
            <a:r>
              <a:rPr lang="en-CA" dirty="0" err="1"/>
              <a:t>expérimental</a:t>
            </a:r>
            <a:endParaRPr lang="en-CA" dirty="0"/>
          </a:p>
        </p:txBody>
      </p:sp>
      <p:graphicFrame>
        <p:nvGraphicFramePr>
          <p:cNvPr id="6" name="Content Placeholder 5">
            <a:extLst>
              <a:ext uri="{FF2B5EF4-FFF2-40B4-BE49-F238E27FC236}">
                <a16:creationId xmlns:a16="http://schemas.microsoft.com/office/drawing/2014/main" id="{5894A22D-51D1-4678-A4B7-58FF13A1A1A1}"/>
              </a:ext>
            </a:extLst>
          </p:cNvPr>
          <p:cNvGraphicFramePr>
            <a:graphicFrameLocks noGrp="1"/>
          </p:cNvGraphicFramePr>
          <p:nvPr>
            <p:ph idx="1"/>
            <p:extLst>
              <p:ext uri="{D42A27DB-BD31-4B8C-83A1-F6EECF244321}">
                <p14:modId xmlns:p14="http://schemas.microsoft.com/office/powerpoint/2010/main" val="1093336826"/>
              </p:ext>
            </p:extLst>
          </p:nvPr>
        </p:nvGraphicFramePr>
        <p:xfrm>
          <a:off x="838200" y="1690688"/>
          <a:ext cx="10515600" cy="2316480"/>
        </p:xfrm>
        <a:graphic>
          <a:graphicData uri="http://schemas.openxmlformats.org/drawingml/2006/table">
            <a:tbl>
              <a:tblPr>
                <a:tableStyleId>{3C2FFA5D-87B4-456A-9821-1D502468CF0F}</a:tableStyleId>
              </a:tblPr>
              <a:tblGrid>
                <a:gridCol w="2779986">
                  <a:extLst>
                    <a:ext uri="{9D8B030D-6E8A-4147-A177-3AD203B41FA5}">
                      <a16:colId xmlns:a16="http://schemas.microsoft.com/office/drawing/2014/main" val="1052044534"/>
                    </a:ext>
                  </a:extLst>
                </a:gridCol>
                <a:gridCol w="2779986">
                  <a:extLst>
                    <a:ext uri="{9D8B030D-6E8A-4147-A177-3AD203B41FA5}">
                      <a16:colId xmlns:a16="http://schemas.microsoft.com/office/drawing/2014/main" val="4142904136"/>
                    </a:ext>
                  </a:extLst>
                </a:gridCol>
                <a:gridCol w="4955628">
                  <a:extLst>
                    <a:ext uri="{9D8B030D-6E8A-4147-A177-3AD203B41FA5}">
                      <a16:colId xmlns:a16="http://schemas.microsoft.com/office/drawing/2014/main" val="2346795898"/>
                    </a:ext>
                  </a:extLst>
                </a:gridCol>
              </a:tblGrid>
              <a:tr h="0">
                <a:tc>
                  <a:txBody>
                    <a:bodyPr/>
                    <a:lstStyle/>
                    <a:p>
                      <a:pPr>
                        <a:buNone/>
                      </a:pPr>
                      <a:br>
                        <a:rPr lang="en-CA" dirty="0">
                          <a:effectLst/>
                        </a:rPr>
                      </a:br>
                      <a:endParaRPr lang="en-CA" dirty="0">
                        <a:effectLst/>
                      </a:endParaRPr>
                    </a:p>
                  </a:txBody>
                  <a:tcPr marL="45720" marR="45720" marT="30480" marB="30480" anchor="ctr"/>
                </a:tc>
                <a:tc>
                  <a:txBody>
                    <a:bodyPr/>
                    <a:lstStyle/>
                    <a:p>
                      <a:pPr>
                        <a:buNone/>
                      </a:pPr>
                      <a:r>
                        <a:rPr lang="en-CA" dirty="0">
                          <a:effectLst/>
                        </a:rPr>
                        <a:t>Laptop x86</a:t>
                      </a:r>
                    </a:p>
                  </a:txBody>
                  <a:tcPr marL="45720" marR="45720" marT="30480" marB="3048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effectLst/>
                        </a:rPr>
                        <a:t>Raspberry Pi</a:t>
                      </a:r>
                    </a:p>
                    <a:p>
                      <a:endParaRPr lang="en-CA" dirty="0"/>
                    </a:p>
                  </a:txBody>
                  <a:tcPr/>
                </a:tc>
                <a:extLst>
                  <a:ext uri="{0D108BD9-81ED-4DB2-BD59-A6C34878D82A}">
                    <a16:rowId xmlns:a16="http://schemas.microsoft.com/office/drawing/2014/main" val="2864857342"/>
                  </a:ext>
                </a:extLst>
              </a:tr>
              <a:tr h="0">
                <a:tc>
                  <a:txBody>
                    <a:bodyPr/>
                    <a:lstStyle/>
                    <a:p>
                      <a:pPr>
                        <a:buNone/>
                      </a:pPr>
                      <a:r>
                        <a:rPr lang="en-CA">
                          <a:effectLst/>
                        </a:rPr>
                        <a:t>CPU</a:t>
                      </a:r>
                    </a:p>
                  </a:txBody>
                  <a:tcPr marL="45720" marR="45720" marT="30480" marB="30480" anchor="ctr"/>
                </a:tc>
                <a:tc>
                  <a:txBody>
                    <a:bodyPr/>
                    <a:lstStyle/>
                    <a:p>
                      <a:pPr>
                        <a:buNone/>
                      </a:pPr>
                      <a:r>
                        <a:rPr lang="en-CA">
                          <a:effectLst/>
                        </a:rPr>
                        <a:t>Intel/AMD x86-64</a:t>
                      </a:r>
                    </a:p>
                  </a:txBody>
                  <a:tcPr marL="45720" marR="45720" marT="30480" marB="30480" anchor="ctr"/>
                </a:tc>
                <a:tc>
                  <a:txBody>
                    <a:bodyPr/>
                    <a:lstStyle/>
                    <a:p>
                      <a:pPr>
                        <a:buNone/>
                      </a:pPr>
                      <a:r>
                        <a:rPr lang="en-CA">
                          <a:effectLst/>
                        </a:rPr>
                        <a:t>ARM Cortex-A</a:t>
                      </a:r>
                    </a:p>
                  </a:txBody>
                  <a:tcPr marL="45720" marR="45720" marT="30480" marB="30480" anchor="ctr"/>
                </a:tc>
                <a:extLst>
                  <a:ext uri="{0D108BD9-81ED-4DB2-BD59-A6C34878D82A}">
                    <a16:rowId xmlns:a16="http://schemas.microsoft.com/office/drawing/2014/main" val="1542775904"/>
                  </a:ext>
                </a:extLst>
              </a:tr>
              <a:tr h="0">
                <a:tc>
                  <a:txBody>
                    <a:bodyPr/>
                    <a:lstStyle/>
                    <a:p>
                      <a:pPr>
                        <a:buNone/>
                      </a:pPr>
                      <a:r>
                        <a:rPr lang="en-CA">
                          <a:effectLst/>
                        </a:rPr>
                        <a:t>OS</a:t>
                      </a:r>
                    </a:p>
                  </a:txBody>
                  <a:tcPr marL="45720" marR="45720" marT="30480" marB="30480" anchor="ctr"/>
                </a:tc>
                <a:tc>
                  <a:txBody>
                    <a:bodyPr/>
                    <a:lstStyle/>
                    <a:p>
                      <a:pPr>
                        <a:buNone/>
                      </a:pPr>
                      <a:r>
                        <a:rPr lang="en-CA">
                          <a:effectLst/>
                        </a:rPr>
                        <a:t>Windows 11</a:t>
                      </a:r>
                    </a:p>
                  </a:txBody>
                  <a:tcPr marL="45720" marR="45720" marT="30480" marB="30480" anchor="ctr"/>
                </a:tc>
                <a:tc>
                  <a:txBody>
                    <a:bodyPr/>
                    <a:lstStyle/>
                    <a:p>
                      <a:pPr>
                        <a:buNone/>
                      </a:pPr>
                      <a:r>
                        <a:rPr lang="en-CA">
                          <a:effectLst/>
                        </a:rPr>
                        <a:t>Raspberry Pi OS</a:t>
                      </a:r>
                    </a:p>
                  </a:txBody>
                  <a:tcPr marL="45720" marR="45720" marT="30480" marB="30480" anchor="ctr"/>
                </a:tc>
                <a:extLst>
                  <a:ext uri="{0D108BD9-81ED-4DB2-BD59-A6C34878D82A}">
                    <a16:rowId xmlns:a16="http://schemas.microsoft.com/office/drawing/2014/main" val="2981529118"/>
                  </a:ext>
                </a:extLst>
              </a:tr>
              <a:tr h="0">
                <a:tc>
                  <a:txBody>
                    <a:bodyPr/>
                    <a:lstStyle/>
                    <a:p>
                      <a:pPr>
                        <a:buNone/>
                      </a:pPr>
                      <a:r>
                        <a:rPr lang="en-CA">
                          <a:effectLst/>
                        </a:rPr>
                        <a:t>AES-NI</a:t>
                      </a:r>
                    </a:p>
                  </a:txBody>
                  <a:tcPr marL="45720" marR="45720" marT="30480" marB="30480" anchor="ctr"/>
                </a:tc>
                <a:tc>
                  <a:txBody>
                    <a:bodyPr/>
                    <a:lstStyle/>
                    <a:p>
                      <a:pPr>
                        <a:buNone/>
                      </a:pPr>
                      <a:r>
                        <a:rPr lang="en-CA">
                          <a:effectLst/>
                        </a:rPr>
                        <a:t>✅ Oui</a:t>
                      </a:r>
                    </a:p>
                  </a:txBody>
                  <a:tcPr marL="45720" marR="45720" marT="30480" marB="30480" anchor="ctr"/>
                </a:tc>
                <a:tc>
                  <a:txBody>
                    <a:bodyPr/>
                    <a:lstStyle/>
                    <a:p>
                      <a:pPr>
                        <a:buNone/>
                      </a:pPr>
                      <a:r>
                        <a:rPr lang="en-CA">
                          <a:effectLst/>
                        </a:rPr>
                        <a:t>❌ Non</a:t>
                      </a:r>
                    </a:p>
                  </a:txBody>
                  <a:tcPr marL="45720" marR="45720" marT="30480" marB="30480" anchor="ctr"/>
                </a:tc>
                <a:extLst>
                  <a:ext uri="{0D108BD9-81ED-4DB2-BD59-A6C34878D82A}">
                    <a16:rowId xmlns:a16="http://schemas.microsoft.com/office/drawing/2014/main" val="882426642"/>
                  </a:ext>
                </a:extLst>
              </a:tr>
              <a:tr h="0">
                <a:tc>
                  <a:txBody>
                    <a:bodyPr/>
                    <a:lstStyle/>
                    <a:p>
                      <a:pPr>
                        <a:buNone/>
                      </a:pPr>
                      <a:r>
                        <a:rPr lang="en-CA">
                          <a:effectLst/>
                        </a:rPr>
                        <a:t>RAM</a:t>
                      </a:r>
                    </a:p>
                  </a:txBody>
                  <a:tcPr marL="45720" marR="45720" marT="30480" marB="30480" anchor="ctr"/>
                </a:tc>
                <a:tc>
                  <a:txBody>
                    <a:bodyPr/>
                    <a:lstStyle/>
                    <a:p>
                      <a:pPr>
                        <a:buNone/>
                      </a:pPr>
                      <a:r>
                        <a:rPr lang="en-CA">
                          <a:effectLst/>
                        </a:rPr>
                        <a:t>~16 GB</a:t>
                      </a:r>
                    </a:p>
                  </a:txBody>
                  <a:tcPr marL="45720" marR="45720" marT="30480" marB="30480" anchor="ctr"/>
                </a:tc>
                <a:tc>
                  <a:txBody>
                    <a:bodyPr/>
                    <a:lstStyle/>
                    <a:p>
                      <a:pPr>
                        <a:buNone/>
                      </a:pPr>
                      <a:r>
                        <a:rPr lang="en-CA">
                          <a:effectLst/>
                        </a:rPr>
                        <a:t>4 GB</a:t>
                      </a:r>
                    </a:p>
                  </a:txBody>
                  <a:tcPr marL="45720" marR="45720" marT="30480" marB="30480" anchor="ctr"/>
                </a:tc>
                <a:extLst>
                  <a:ext uri="{0D108BD9-81ED-4DB2-BD59-A6C34878D82A}">
                    <a16:rowId xmlns:a16="http://schemas.microsoft.com/office/drawing/2014/main" val="881251213"/>
                  </a:ext>
                </a:extLst>
              </a:tr>
              <a:tr h="0">
                <a:tc>
                  <a:txBody>
                    <a:bodyPr/>
                    <a:lstStyle/>
                    <a:p>
                      <a:pPr>
                        <a:buNone/>
                      </a:pPr>
                      <a:r>
                        <a:rPr lang="en-CA">
                          <a:effectLst/>
                        </a:rPr>
                        <a:t>Contexte</a:t>
                      </a:r>
                    </a:p>
                  </a:txBody>
                  <a:tcPr marL="45720" marR="45720" marT="30480" marB="30480" anchor="ctr"/>
                </a:tc>
                <a:tc>
                  <a:txBody>
                    <a:bodyPr/>
                    <a:lstStyle/>
                    <a:p>
                      <a:pPr>
                        <a:buNone/>
                      </a:pPr>
                      <a:r>
                        <a:rPr lang="en-CA">
                          <a:effectLst/>
                        </a:rPr>
                        <a:t>Multitâche</a:t>
                      </a:r>
                    </a:p>
                  </a:txBody>
                  <a:tcPr marL="45720" marR="45720" marT="30480" marB="30480" anchor="ctr"/>
                </a:tc>
                <a:tc>
                  <a:txBody>
                    <a:bodyPr/>
                    <a:lstStyle/>
                    <a:p>
                      <a:pPr>
                        <a:buNone/>
                      </a:pPr>
                      <a:r>
                        <a:rPr lang="en-CA" dirty="0" err="1">
                          <a:effectLst/>
                        </a:rPr>
                        <a:t>Minimaliste</a:t>
                      </a:r>
                      <a:endParaRPr lang="en-CA" dirty="0">
                        <a:effectLst/>
                      </a:endParaRPr>
                    </a:p>
                  </a:txBody>
                  <a:tcPr marL="45720" marR="45720" marT="30480" marB="30480" anchor="ctr"/>
                </a:tc>
                <a:extLst>
                  <a:ext uri="{0D108BD9-81ED-4DB2-BD59-A6C34878D82A}">
                    <a16:rowId xmlns:a16="http://schemas.microsoft.com/office/drawing/2014/main" val="2339318066"/>
                  </a:ext>
                </a:extLst>
              </a:tr>
            </a:tbl>
          </a:graphicData>
        </a:graphic>
      </p:graphicFrame>
      <p:sp>
        <p:nvSpPr>
          <p:cNvPr id="8" name="TextBox 7">
            <a:extLst>
              <a:ext uri="{FF2B5EF4-FFF2-40B4-BE49-F238E27FC236}">
                <a16:creationId xmlns:a16="http://schemas.microsoft.com/office/drawing/2014/main" id="{F30668AB-C647-A170-2818-3B5701393639}"/>
              </a:ext>
            </a:extLst>
          </p:cNvPr>
          <p:cNvSpPr txBox="1"/>
          <p:nvPr/>
        </p:nvSpPr>
        <p:spPr>
          <a:xfrm>
            <a:off x="838200" y="1321356"/>
            <a:ext cx="6093822" cy="369332"/>
          </a:xfrm>
          <a:prstGeom prst="rect">
            <a:avLst/>
          </a:prstGeom>
          <a:noFill/>
        </p:spPr>
        <p:txBody>
          <a:bodyPr wrap="square">
            <a:spAutoFit/>
          </a:bodyPr>
          <a:lstStyle/>
          <a:p>
            <a:r>
              <a:rPr lang="en-CA" b="1" i="0" dirty="0">
                <a:solidFill>
                  <a:srgbClr val="BFBFBF"/>
                </a:solidFill>
                <a:effectLst/>
                <a:latin typeface="Segoe WPC"/>
              </a:rPr>
              <a:t>platform comparison table</a:t>
            </a:r>
            <a:endParaRPr lang="en-CA" dirty="0"/>
          </a:p>
        </p:txBody>
      </p:sp>
      <p:sp>
        <p:nvSpPr>
          <p:cNvPr id="10" name="TextBox 9">
            <a:extLst>
              <a:ext uri="{FF2B5EF4-FFF2-40B4-BE49-F238E27FC236}">
                <a16:creationId xmlns:a16="http://schemas.microsoft.com/office/drawing/2014/main" id="{7862DFFA-4213-DBAB-5563-0F4252A6F59E}"/>
              </a:ext>
            </a:extLst>
          </p:cNvPr>
          <p:cNvSpPr txBox="1"/>
          <p:nvPr/>
        </p:nvSpPr>
        <p:spPr>
          <a:xfrm>
            <a:off x="838200" y="4047764"/>
            <a:ext cx="9833065" cy="2569934"/>
          </a:xfrm>
          <a:prstGeom prst="rect">
            <a:avLst/>
          </a:prstGeom>
          <a:noFill/>
        </p:spPr>
        <p:txBody>
          <a:bodyPr wrap="square">
            <a:spAutoFit/>
          </a:bodyPr>
          <a:lstStyle/>
          <a:p>
            <a:pPr algn="l">
              <a:spcAft>
                <a:spcPts val="1200"/>
              </a:spcAft>
              <a:buNone/>
            </a:pPr>
            <a:r>
              <a:rPr lang="en-CA" b="1" i="0" dirty="0">
                <a:solidFill>
                  <a:srgbClr val="BFBFBF"/>
                </a:solidFill>
                <a:effectLst/>
                <a:latin typeface="Segoe WPC"/>
              </a:rPr>
              <a:t>experiment parameters (3 bullets):</a:t>
            </a:r>
            <a:endParaRPr lang="en-CA" b="0" i="0" dirty="0">
              <a:solidFill>
                <a:srgbClr val="BFBFBF"/>
              </a:solidFill>
              <a:effectLst/>
              <a:latin typeface="Segoe WPC"/>
            </a:endParaRPr>
          </a:p>
          <a:p>
            <a:pPr marL="285750" indent="-285750" algn="l">
              <a:spcBef>
                <a:spcPts val="300"/>
              </a:spcBef>
              <a:spcAft>
                <a:spcPts val="300"/>
              </a:spcAft>
              <a:buFont typeface="Arial" panose="020B0604020202020204" pitchFamily="34" charset="0"/>
              <a:buChar char="•"/>
            </a:pPr>
            <a:r>
              <a:rPr lang="en-CA" b="1" i="0" dirty="0">
                <a:solidFill>
                  <a:srgbClr val="BFBFBF"/>
                </a:solidFill>
                <a:effectLst/>
                <a:latin typeface="Segoe WPC"/>
              </a:rPr>
              <a:t>5 </a:t>
            </a:r>
            <a:r>
              <a:rPr lang="en-CA" b="1" i="0" dirty="0" err="1">
                <a:solidFill>
                  <a:srgbClr val="BFBFBF"/>
                </a:solidFill>
                <a:effectLst/>
                <a:latin typeface="Segoe WPC"/>
              </a:rPr>
              <a:t>algorithmes</a:t>
            </a:r>
            <a:r>
              <a:rPr lang="en-CA" b="0" i="0" dirty="0">
                <a:solidFill>
                  <a:srgbClr val="BFBFBF"/>
                </a:solidFill>
                <a:effectLst/>
                <a:latin typeface="Segoe WPC"/>
              </a:rPr>
              <a:t> : AES, DES, 3DES, </a:t>
            </a:r>
            <a:r>
              <a:rPr lang="en-CA" b="0" i="0" dirty="0" err="1">
                <a:solidFill>
                  <a:srgbClr val="BFBFBF"/>
                </a:solidFill>
                <a:effectLst/>
                <a:latin typeface="Segoe WPC"/>
              </a:rPr>
              <a:t>Twofish</a:t>
            </a:r>
            <a:r>
              <a:rPr lang="en-CA" b="0" i="0" dirty="0">
                <a:solidFill>
                  <a:srgbClr val="BFBFBF"/>
                </a:solidFill>
                <a:effectLst/>
                <a:latin typeface="Segoe WPC"/>
              </a:rPr>
              <a:t>, ChaCha20</a:t>
            </a:r>
          </a:p>
          <a:p>
            <a:pPr marL="285750" indent="-285750" algn="l">
              <a:spcBef>
                <a:spcPts val="300"/>
              </a:spcBef>
              <a:spcAft>
                <a:spcPts val="300"/>
              </a:spcAft>
              <a:buFont typeface="Arial" panose="020B0604020202020204" pitchFamily="34" charset="0"/>
              <a:buChar char="•"/>
            </a:pPr>
            <a:r>
              <a:rPr lang="en-CA" b="1" i="0" dirty="0" err="1">
                <a:solidFill>
                  <a:srgbClr val="BFBFBF"/>
                </a:solidFill>
                <a:effectLst/>
                <a:latin typeface="Segoe WPC"/>
              </a:rPr>
              <a:t>Tailles</a:t>
            </a:r>
            <a:r>
              <a:rPr lang="en-CA" b="1" i="0" dirty="0">
                <a:solidFill>
                  <a:srgbClr val="BFBFBF"/>
                </a:solidFill>
                <a:effectLst/>
                <a:latin typeface="Segoe WPC"/>
              </a:rPr>
              <a:t> de message</a:t>
            </a:r>
            <a:r>
              <a:rPr lang="en-CA" b="0" i="0" dirty="0">
                <a:solidFill>
                  <a:srgbClr val="BFBFBF"/>
                </a:solidFill>
                <a:effectLst/>
                <a:latin typeface="Segoe WPC"/>
              </a:rPr>
              <a:t> : 64 B → 16 384 B (8 </a:t>
            </a:r>
            <a:r>
              <a:rPr lang="en-CA" b="0" i="0" dirty="0" err="1">
                <a:solidFill>
                  <a:srgbClr val="BFBFBF"/>
                </a:solidFill>
                <a:effectLst/>
                <a:latin typeface="Segoe WPC"/>
              </a:rPr>
              <a:t>paliers</a:t>
            </a:r>
            <a:r>
              <a:rPr lang="en-CA" b="0" i="0" dirty="0">
                <a:solidFill>
                  <a:srgbClr val="BFBFBF"/>
                </a:solidFill>
                <a:effectLst/>
                <a:latin typeface="Segoe WPC"/>
              </a:rPr>
              <a:t>)</a:t>
            </a:r>
          </a:p>
          <a:p>
            <a:pPr marL="285750" indent="-285750" algn="l">
              <a:spcBef>
                <a:spcPts val="300"/>
              </a:spcBef>
              <a:spcAft>
                <a:spcPts val="300"/>
              </a:spcAft>
              <a:buFont typeface="Arial" panose="020B0604020202020204" pitchFamily="34" charset="0"/>
              <a:buChar char="•"/>
            </a:pPr>
            <a:r>
              <a:rPr lang="en-CA" b="1" i="0" dirty="0">
                <a:solidFill>
                  <a:srgbClr val="BFBFBF"/>
                </a:solidFill>
                <a:effectLst/>
                <a:latin typeface="Segoe WPC"/>
              </a:rPr>
              <a:t>n = 100 </a:t>
            </a:r>
            <a:r>
              <a:rPr lang="en-CA" b="1" i="0" dirty="0" err="1">
                <a:solidFill>
                  <a:srgbClr val="BFBFBF"/>
                </a:solidFill>
                <a:effectLst/>
                <a:latin typeface="Segoe WPC"/>
              </a:rPr>
              <a:t>répétitions</a:t>
            </a:r>
            <a:r>
              <a:rPr lang="en-CA" b="0" i="0" dirty="0">
                <a:solidFill>
                  <a:srgbClr val="BFBFBF"/>
                </a:solidFill>
                <a:effectLst/>
                <a:latin typeface="Segoe WPC"/>
              </a:rPr>
              <a:t> par configuration → CI95 = 1.96 × σ/√n</a:t>
            </a:r>
          </a:p>
          <a:p>
            <a:pPr algn="l">
              <a:spcAft>
                <a:spcPts val="1200"/>
              </a:spcAft>
              <a:buNone/>
            </a:pPr>
            <a:r>
              <a:rPr lang="en-CA" b="1" i="0" dirty="0">
                <a:solidFill>
                  <a:srgbClr val="BFBFBF"/>
                </a:solidFill>
                <a:effectLst/>
                <a:latin typeface="Segoe WPC"/>
              </a:rPr>
              <a:t>Bottom banner — addresses FB2 (callout box):</a:t>
            </a:r>
            <a:endParaRPr lang="en-CA" b="0" i="0" dirty="0">
              <a:solidFill>
                <a:srgbClr val="BFBFBF"/>
              </a:solidFill>
              <a:effectLst/>
              <a:latin typeface="Segoe WPC"/>
            </a:endParaRPr>
          </a:p>
          <a:p>
            <a:pPr algn="l">
              <a:spcAft>
                <a:spcPts val="1200"/>
              </a:spcAft>
              <a:buNone/>
            </a:pPr>
            <a:r>
              <a:rPr lang="en-CA" b="0" i="0" dirty="0">
                <a:solidFill>
                  <a:srgbClr val="BFBFBF"/>
                </a:solidFill>
                <a:effectLst/>
                <a:latin typeface="Segoe WPC"/>
              </a:rPr>
              <a:t>n = 100 a </a:t>
            </a:r>
            <a:r>
              <a:rPr lang="en-CA" b="0" i="0" dirty="0" err="1">
                <a:solidFill>
                  <a:srgbClr val="BFBFBF"/>
                </a:solidFill>
                <a:effectLst/>
                <a:latin typeface="Segoe WPC"/>
              </a:rPr>
              <a:t>été</a:t>
            </a:r>
            <a:r>
              <a:rPr lang="en-CA" b="0" i="0" dirty="0">
                <a:solidFill>
                  <a:srgbClr val="BFBFBF"/>
                </a:solidFill>
                <a:effectLst/>
                <a:latin typeface="Segoe WPC"/>
              </a:rPr>
              <a:t> </a:t>
            </a:r>
            <a:r>
              <a:rPr lang="en-CA" b="0" i="0" dirty="0" err="1">
                <a:solidFill>
                  <a:srgbClr val="BFBFBF"/>
                </a:solidFill>
                <a:effectLst/>
                <a:latin typeface="Segoe WPC"/>
              </a:rPr>
              <a:t>choisi</a:t>
            </a:r>
            <a:r>
              <a:rPr lang="en-CA" b="0" i="0" dirty="0">
                <a:solidFill>
                  <a:srgbClr val="BFBFBF"/>
                </a:solidFill>
                <a:effectLst/>
                <a:latin typeface="Segoe WPC"/>
              </a:rPr>
              <a:t> au </a:t>
            </a:r>
            <a:r>
              <a:rPr lang="en-CA" b="0" i="0" dirty="0" err="1">
                <a:solidFill>
                  <a:srgbClr val="BFBFBF"/>
                </a:solidFill>
                <a:effectLst/>
                <a:latin typeface="Segoe WPC"/>
              </a:rPr>
              <a:t>seuil</a:t>
            </a:r>
            <a:r>
              <a:rPr lang="en-CA" b="0" i="0" dirty="0">
                <a:solidFill>
                  <a:srgbClr val="BFBFBF"/>
                </a:solidFill>
                <a:effectLst/>
                <a:latin typeface="Segoe WPC"/>
              </a:rPr>
              <a:t> </a:t>
            </a:r>
            <a:r>
              <a:rPr lang="en-CA" b="0" i="0" dirty="0" err="1">
                <a:solidFill>
                  <a:srgbClr val="BFBFBF"/>
                </a:solidFill>
                <a:effectLst/>
                <a:latin typeface="Segoe WPC"/>
              </a:rPr>
              <a:t>où</a:t>
            </a:r>
            <a:r>
              <a:rPr lang="en-CA" b="0" i="0" dirty="0">
                <a:solidFill>
                  <a:srgbClr val="BFBFBF"/>
                </a:solidFill>
                <a:effectLst/>
                <a:latin typeface="Segoe WPC"/>
              </a:rPr>
              <a:t> </a:t>
            </a:r>
            <a:r>
              <a:rPr lang="en-CA" b="0" i="0" dirty="0" err="1">
                <a:solidFill>
                  <a:srgbClr val="BFBFBF"/>
                </a:solidFill>
                <a:effectLst/>
                <a:latin typeface="Segoe WPC"/>
              </a:rPr>
              <a:t>l'IC</a:t>
            </a:r>
            <a:r>
              <a:rPr lang="en-CA" b="0" i="0" dirty="0">
                <a:solidFill>
                  <a:srgbClr val="BFBFBF"/>
                </a:solidFill>
                <a:effectLst/>
                <a:latin typeface="Segoe WPC"/>
              </a:rPr>
              <a:t> à 95 % se stabilise — au-</a:t>
            </a:r>
            <a:r>
              <a:rPr lang="en-CA" b="0" i="0" dirty="0" err="1">
                <a:solidFill>
                  <a:srgbClr val="BFBFBF"/>
                </a:solidFill>
                <a:effectLst/>
                <a:latin typeface="Segoe WPC"/>
              </a:rPr>
              <a:t>delà</a:t>
            </a:r>
            <a:r>
              <a:rPr lang="en-CA" b="0" i="0" dirty="0">
                <a:solidFill>
                  <a:srgbClr val="BFBFBF"/>
                </a:solidFill>
                <a:effectLst/>
                <a:latin typeface="Segoe WPC"/>
              </a:rPr>
              <a:t>, le gain de </a:t>
            </a:r>
            <a:r>
              <a:rPr lang="en-CA" b="0" i="0" dirty="0" err="1">
                <a:solidFill>
                  <a:srgbClr val="BFBFBF"/>
                </a:solidFill>
                <a:effectLst/>
                <a:latin typeface="Segoe WPC"/>
              </a:rPr>
              <a:t>précision</a:t>
            </a:r>
            <a:r>
              <a:rPr lang="en-CA" b="0" i="0" dirty="0">
                <a:solidFill>
                  <a:srgbClr val="BFBFBF"/>
                </a:solidFill>
                <a:effectLst/>
                <a:latin typeface="Segoe WPC"/>
              </a:rPr>
              <a:t> est marginal par rapport au </a:t>
            </a:r>
            <a:r>
              <a:rPr lang="en-CA" b="0" i="0" dirty="0" err="1">
                <a:solidFill>
                  <a:srgbClr val="BFBFBF"/>
                </a:solidFill>
                <a:effectLst/>
                <a:latin typeface="Segoe WPC"/>
              </a:rPr>
              <a:t>coût</a:t>
            </a:r>
            <a:r>
              <a:rPr lang="en-CA" b="0" i="0" dirty="0">
                <a:solidFill>
                  <a:srgbClr val="BFBFBF"/>
                </a:solidFill>
                <a:effectLst/>
                <a:latin typeface="Segoe WPC"/>
              </a:rPr>
              <a:t> CPU.</a:t>
            </a:r>
          </a:p>
        </p:txBody>
      </p:sp>
    </p:spTree>
    <p:extLst>
      <p:ext uri="{BB962C8B-B14F-4D97-AF65-F5344CB8AC3E}">
        <p14:creationId xmlns:p14="http://schemas.microsoft.com/office/powerpoint/2010/main" val="190095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8DC39-CCC2-8415-7556-86D09F3E66EF}"/>
              </a:ext>
            </a:extLst>
          </p:cNvPr>
          <p:cNvSpPr>
            <a:spLocks noGrp="1"/>
          </p:cNvSpPr>
          <p:nvPr>
            <p:ph type="title"/>
          </p:nvPr>
        </p:nvSpPr>
        <p:spPr/>
        <p:txBody>
          <a:bodyPr/>
          <a:lstStyle/>
          <a:p>
            <a:r>
              <a:rPr lang="en-CA" dirty="0" err="1"/>
              <a:t>Pourquoi</a:t>
            </a:r>
            <a:r>
              <a:rPr lang="en-CA" dirty="0"/>
              <a:t> Python ?</a:t>
            </a:r>
          </a:p>
        </p:txBody>
      </p:sp>
      <p:graphicFrame>
        <p:nvGraphicFramePr>
          <p:cNvPr id="6" name="Content Placeholder 5">
            <a:extLst>
              <a:ext uri="{FF2B5EF4-FFF2-40B4-BE49-F238E27FC236}">
                <a16:creationId xmlns:a16="http://schemas.microsoft.com/office/drawing/2014/main" id="{5C8CD939-4197-47BB-DDDB-45A43DC1A023}"/>
              </a:ext>
            </a:extLst>
          </p:cNvPr>
          <p:cNvGraphicFramePr>
            <a:graphicFrameLocks noGrp="1"/>
          </p:cNvGraphicFramePr>
          <p:nvPr>
            <p:ph idx="1"/>
            <p:extLst>
              <p:ext uri="{D42A27DB-BD31-4B8C-83A1-F6EECF244321}">
                <p14:modId xmlns:p14="http://schemas.microsoft.com/office/powerpoint/2010/main" val="235093789"/>
              </p:ext>
            </p:extLst>
          </p:nvPr>
        </p:nvGraphicFramePr>
        <p:xfrm>
          <a:off x="690282" y="1690688"/>
          <a:ext cx="10515600" cy="2560320"/>
        </p:xfrm>
        <a:graphic>
          <a:graphicData uri="http://schemas.openxmlformats.org/drawingml/2006/table">
            <a:tbl>
              <a:tblPr/>
              <a:tblGrid>
                <a:gridCol w="2628900">
                  <a:extLst>
                    <a:ext uri="{9D8B030D-6E8A-4147-A177-3AD203B41FA5}">
                      <a16:colId xmlns:a16="http://schemas.microsoft.com/office/drawing/2014/main" val="1443347482"/>
                    </a:ext>
                  </a:extLst>
                </a:gridCol>
                <a:gridCol w="2628900">
                  <a:extLst>
                    <a:ext uri="{9D8B030D-6E8A-4147-A177-3AD203B41FA5}">
                      <a16:colId xmlns:a16="http://schemas.microsoft.com/office/drawing/2014/main" val="2006797479"/>
                    </a:ext>
                  </a:extLst>
                </a:gridCol>
                <a:gridCol w="2628900">
                  <a:extLst>
                    <a:ext uri="{9D8B030D-6E8A-4147-A177-3AD203B41FA5}">
                      <a16:colId xmlns:a16="http://schemas.microsoft.com/office/drawing/2014/main" val="1428122251"/>
                    </a:ext>
                  </a:extLst>
                </a:gridCol>
                <a:gridCol w="2628900">
                  <a:extLst>
                    <a:ext uri="{9D8B030D-6E8A-4147-A177-3AD203B41FA5}">
                      <a16:colId xmlns:a16="http://schemas.microsoft.com/office/drawing/2014/main" val="834162673"/>
                    </a:ext>
                  </a:extLst>
                </a:gridCol>
              </a:tblGrid>
              <a:tr h="0">
                <a:tc>
                  <a:txBody>
                    <a:bodyPr/>
                    <a:lstStyle/>
                    <a:p>
                      <a:pPr>
                        <a:buNone/>
                      </a:pPr>
                      <a:r>
                        <a:rPr lang="en-CA">
                          <a:effectLst/>
                        </a:rPr>
                        <a:t>Critère</a:t>
                      </a:r>
                    </a:p>
                  </a:txBody>
                  <a:tcPr marL="45720" marR="45720" marT="30480" marB="30480" anchor="ctr">
                    <a:lnL>
                      <a:noFill/>
                    </a:lnL>
                    <a:lnR w="6096" cap="flat" cmpd="sng" algn="ctr">
                      <a:solidFill>
                        <a:srgbClr val="F02D1B"/>
                      </a:solidFill>
                      <a:prstDash val="solid"/>
                      <a:round/>
                      <a:headEnd type="none" w="med" len="med"/>
                      <a:tailEnd type="none" w="med" len="med"/>
                    </a:lnR>
                    <a:lnT>
                      <a:noFill/>
                    </a:lnT>
                    <a:lnB w="6096" cap="flat" cmpd="sng" algn="ctr">
                      <a:solidFill>
                        <a:srgbClr val="F02D1B"/>
                      </a:solidFill>
                      <a:prstDash val="solid"/>
                      <a:round/>
                      <a:headEnd type="none" w="med" len="med"/>
                      <a:tailEnd type="none" w="med" len="med"/>
                    </a:lnB>
                    <a:noFill/>
                  </a:tcPr>
                </a:tc>
                <a:tc>
                  <a:txBody>
                    <a:bodyPr/>
                    <a:lstStyle/>
                    <a:p>
                      <a:pPr>
                        <a:buNone/>
                      </a:pPr>
                      <a:r>
                        <a:rPr lang="en-CA">
                          <a:effectLst/>
                        </a:rPr>
                        <a:t>Python</a:t>
                      </a:r>
                    </a:p>
                  </a:txBody>
                  <a:tcPr marL="45720" marR="45720" marT="30480" marB="30480" anchor="ctr">
                    <a:lnL w="6096" cap="flat" cmpd="sng" algn="ctr">
                      <a:solidFill>
                        <a:srgbClr val="F02D1B"/>
                      </a:solidFill>
                      <a:prstDash val="solid"/>
                      <a:round/>
                      <a:headEnd type="none" w="med" len="med"/>
                      <a:tailEnd type="none" w="med" len="med"/>
                    </a:lnL>
                    <a:lnR w="6096" cap="flat" cmpd="sng" algn="ctr">
                      <a:solidFill>
                        <a:srgbClr val="10311B"/>
                      </a:solidFill>
                      <a:prstDash val="solid"/>
                      <a:round/>
                      <a:headEnd type="none" w="med" len="med"/>
                      <a:tailEnd type="none" w="med" len="med"/>
                    </a:lnR>
                    <a:lnT>
                      <a:noFill/>
                    </a:lnT>
                    <a:lnB w="6096" cap="flat" cmpd="sng" algn="ctr">
                      <a:solidFill>
                        <a:srgbClr val="10311B"/>
                      </a:solidFill>
                      <a:prstDash val="solid"/>
                      <a:round/>
                      <a:headEnd type="none" w="med" len="med"/>
                      <a:tailEnd type="none" w="med" len="med"/>
                    </a:lnB>
                    <a:noFill/>
                  </a:tcPr>
                </a:tc>
                <a:tc>
                  <a:txBody>
                    <a:bodyPr/>
                    <a:lstStyle/>
                    <a:p>
                      <a:pPr>
                        <a:buNone/>
                      </a:pPr>
                      <a:r>
                        <a:rPr lang="en-CA">
                          <a:effectLst/>
                        </a:rPr>
                        <a:t>C++</a:t>
                      </a:r>
                    </a:p>
                  </a:txBody>
                  <a:tcPr marL="45720" marR="45720" marT="30480" marB="30480" anchor="ctr">
                    <a:lnL w="6096" cap="flat" cmpd="sng" algn="ctr">
                      <a:solidFill>
                        <a:srgbClr val="10311B"/>
                      </a:solidFill>
                      <a:prstDash val="solid"/>
                      <a:round/>
                      <a:headEnd type="none" w="med" len="med"/>
                      <a:tailEnd type="none" w="med" len="med"/>
                    </a:lnL>
                    <a:lnR w="6096" cap="flat" cmpd="sng" algn="ctr">
                      <a:solidFill>
                        <a:srgbClr val="F02D1B"/>
                      </a:solidFill>
                      <a:prstDash val="solid"/>
                      <a:round/>
                      <a:headEnd type="none" w="med" len="med"/>
                      <a:tailEnd type="none" w="med" len="med"/>
                    </a:lnR>
                    <a:lnT>
                      <a:noFill/>
                    </a:lnT>
                    <a:lnB w="6096" cap="flat" cmpd="sng" algn="ctr">
                      <a:solidFill>
                        <a:srgbClr val="F02D1B"/>
                      </a:solidFill>
                      <a:prstDash val="solid"/>
                      <a:round/>
                      <a:headEnd type="none" w="med" len="med"/>
                      <a:tailEnd type="none" w="med" len="med"/>
                    </a:lnB>
                    <a:noFill/>
                  </a:tcPr>
                </a:tc>
                <a:tc>
                  <a:txBody>
                    <a:bodyPr/>
                    <a:lstStyle/>
                    <a:p>
                      <a:pPr>
                        <a:buNone/>
                      </a:pPr>
                      <a:r>
                        <a:rPr lang="en-CA">
                          <a:effectLst/>
                        </a:rPr>
                        <a:t>Java</a:t>
                      </a:r>
                    </a:p>
                  </a:txBody>
                  <a:tcPr marL="45720" marR="45720" marT="30480" marB="30480" anchor="ctr">
                    <a:lnL w="6096" cap="flat" cmpd="sng" algn="ctr">
                      <a:solidFill>
                        <a:srgbClr val="F02D1B"/>
                      </a:solidFill>
                      <a:prstDash val="solid"/>
                      <a:round/>
                      <a:headEnd type="none" w="med" len="med"/>
                      <a:tailEnd type="none" w="med" len="med"/>
                    </a:lnL>
                    <a:lnR>
                      <a:noFill/>
                    </a:lnR>
                    <a:lnT>
                      <a:noFill/>
                    </a:lnT>
                    <a:lnB w="6096" cap="flat" cmpd="sng" algn="ctr">
                      <a:solidFill>
                        <a:srgbClr val="2812A9"/>
                      </a:solidFill>
                      <a:prstDash val="solid"/>
                      <a:round/>
                      <a:headEnd type="none" w="med" len="med"/>
                      <a:tailEnd type="none" w="med" len="med"/>
                    </a:lnB>
                    <a:noFill/>
                  </a:tcPr>
                </a:tc>
                <a:extLst>
                  <a:ext uri="{0D108BD9-81ED-4DB2-BD59-A6C34878D82A}">
                    <a16:rowId xmlns:a16="http://schemas.microsoft.com/office/drawing/2014/main" val="126837018"/>
                  </a:ext>
                </a:extLst>
              </a:tr>
              <a:tr h="0">
                <a:tc>
                  <a:txBody>
                    <a:bodyPr/>
                    <a:lstStyle/>
                    <a:p>
                      <a:pPr>
                        <a:buNone/>
                      </a:pPr>
                      <a:r>
                        <a:rPr lang="en-CA">
                          <a:effectLst/>
                        </a:rPr>
                        <a:t>Performance brute</a:t>
                      </a:r>
                    </a:p>
                  </a:txBody>
                  <a:tcPr marL="45720" marR="45720" marT="30480" marB="30480" anchor="ctr">
                    <a:lnL>
                      <a:noFill/>
                    </a:lnL>
                    <a:lnR w="6096" cap="flat" cmpd="sng" algn="ctr">
                      <a:solidFill>
                        <a:srgbClr val="702B1B"/>
                      </a:solidFill>
                      <a:prstDash val="solid"/>
                      <a:round/>
                      <a:headEnd type="none" w="med" len="med"/>
                      <a:tailEnd type="none" w="med" len="med"/>
                    </a:lnR>
                    <a:lnT w="6096" cap="flat" cmpd="sng" algn="ctr">
                      <a:solidFill>
                        <a:srgbClr val="F02D1B"/>
                      </a:solidFill>
                      <a:prstDash val="solid"/>
                      <a:round/>
                      <a:headEnd type="none" w="med" len="med"/>
                      <a:tailEnd type="none" w="med" len="med"/>
                    </a:lnT>
                    <a:lnB w="6096" cap="flat" cmpd="sng" algn="ctr">
                      <a:solidFill>
                        <a:srgbClr val="702B1B"/>
                      </a:solidFill>
                      <a:prstDash val="solid"/>
                      <a:round/>
                      <a:headEnd type="none" w="med" len="med"/>
                      <a:tailEnd type="none" w="med" len="med"/>
                    </a:lnB>
                    <a:noFill/>
                  </a:tcPr>
                </a:tc>
                <a:tc>
                  <a:txBody>
                    <a:bodyPr/>
                    <a:lstStyle/>
                    <a:p>
                      <a:pPr>
                        <a:buNone/>
                      </a:pPr>
                      <a:r>
                        <a:rPr lang="en-CA">
                          <a:effectLst/>
                        </a:rPr>
                        <a:t>⚠️ Moyenne</a:t>
                      </a:r>
                    </a:p>
                  </a:txBody>
                  <a:tcPr marL="45720" marR="45720" marT="30480" marB="30480" anchor="ctr">
                    <a:lnL w="6096" cap="flat" cmpd="sng" algn="ctr">
                      <a:solidFill>
                        <a:srgbClr val="702B1B"/>
                      </a:solidFill>
                      <a:prstDash val="solid"/>
                      <a:round/>
                      <a:headEnd type="none" w="med" len="med"/>
                      <a:tailEnd type="none" w="med" len="med"/>
                    </a:lnL>
                    <a:lnR w="6096" cap="flat" cmpd="sng" algn="ctr">
                      <a:solidFill>
                        <a:srgbClr val="D02F1B"/>
                      </a:solidFill>
                      <a:prstDash val="solid"/>
                      <a:round/>
                      <a:headEnd type="none" w="med" len="med"/>
                      <a:tailEnd type="none" w="med" len="med"/>
                    </a:lnR>
                    <a:lnT w="6096" cap="flat" cmpd="sng" algn="ctr">
                      <a:solidFill>
                        <a:srgbClr val="10311B"/>
                      </a:solidFill>
                      <a:prstDash val="solid"/>
                      <a:round/>
                      <a:headEnd type="none" w="med" len="med"/>
                      <a:tailEnd type="none" w="med" len="med"/>
                    </a:lnT>
                    <a:lnB w="6096" cap="flat" cmpd="sng" algn="ctr">
                      <a:solidFill>
                        <a:srgbClr val="D02F1B"/>
                      </a:solidFill>
                      <a:prstDash val="solid"/>
                      <a:round/>
                      <a:headEnd type="none" w="med" len="med"/>
                      <a:tailEnd type="none" w="med" len="med"/>
                    </a:lnB>
                    <a:noFill/>
                  </a:tcPr>
                </a:tc>
                <a:tc>
                  <a:txBody>
                    <a:bodyPr/>
                    <a:lstStyle/>
                    <a:p>
                      <a:pPr>
                        <a:buNone/>
                      </a:pPr>
                      <a:r>
                        <a:rPr lang="en-CA">
                          <a:effectLst/>
                        </a:rPr>
                        <a:t>✅ Élevée</a:t>
                      </a:r>
                    </a:p>
                  </a:txBody>
                  <a:tcPr marL="45720" marR="45720" marT="30480" marB="30480" anchor="ctr">
                    <a:lnL w="6096" cap="flat" cmpd="sng" algn="ctr">
                      <a:solidFill>
                        <a:srgbClr val="D02F1B"/>
                      </a:solidFill>
                      <a:prstDash val="solid"/>
                      <a:round/>
                      <a:headEnd type="none" w="med" len="med"/>
                      <a:tailEnd type="none" w="med" len="med"/>
                    </a:lnL>
                    <a:lnR w="6096" cap="flat" cmpd="sng" algn="ctr">
                      <a:solidFill>
                        <a:srgbClr val="F0281B"/>
                      </a:solidFill>
                      <a:prstDash val="solid"/>
                      <a:round/>
                      <a:headEnd type="none" w="med" len="med"/>
                      <a:tailEnd type="none" w="med" len="med"/>
                    </a:lnR>
                    <a:lnT w="6096" cap="flat" cmpd="sng" algn="ctr">
                      <a:solidFill>
                        <a:srgbClr val="F02D1B"/>
                      </a:solidFill>
                      <a:prstDash val="solid"/>
                      <a:round/>
                      <a:headEnd type="none" w="med" len="med"/>
                      <a:tailEnd type="none" w="med" len="med"/>
                    </a:lnT>
                    <a:lnB w="6096" cap="flat" cmpd="sng" algn="ctr">
                      <a:solidFill>
                        <a:srgbClr val="F0281B"/>
                      </a:solidFill>
                      <a:prstDash val="solid"/>
                      <a:round/>
                      <a:headEnd type="none" w="med" len="med"/>
                      <a:tailEnd type="none" w="med" len="med"/>
                    </a:lnB>
                    <a:noFill/>
                  </a:tcPr>
                </a:tc>
                <a:tc>
                  <a:txBody>
                    <a:bodyPr/>
                    <a:lstStyle/>
                    <a:p>
                      <a:pPr>
                        <a:buNone/>
                      </a:pPr>
                      <a:r>
                        <a:rPr lang="en-CA">
                          <a:effectLst/>
                        </a:rPr>
                        <a:t>⚠️ Moyenne</a:t>
                      </a:r>
                    </a:p>
                  </a:txBody>
                  <a:tcPr marL="45720" marR="45720" marT="30480" marB="30480" anchor="ctr">
                    <a:lnL w="6096" cap="flat" cmpd="sng" algn="ctr">
                      <a:solidFill>
                        <a:srgbClr val="F0281B"/>
                      </a:solidFill>
                      <a:prstDash val="solid"/>
                      <a:round/>
                      <a:headEnd type="none" w="med" len="med"/>
                      <a:tailEnd type="none" w="med" len="med"/>
                    </a:lnL>
                    <a:lnR>
                      <a:noFill/>
                    </a:lnR>
                    <a:lnT w="6096" cap="flat" cmpd="sng" algn="ctr">
                      <a:solidFill>
                        <a:srgbClr val="2812A9"/>
                      </a:solidFill>
                      <a:prstDash val="solid"/>
                      <a:round/>
                      <a:headEnd type="none" w="med" len="med"/>
                      <a:tailEnd type="none" w="med" len="med"/>
                    </a:lnT>
                    <a:lnB w="6096" cap="flat" cmpd="sng" algn="ctr">
                      <a:solidFill>
                        <a:srgbClr val="6809A9"/>
                      </a:solidFill>
                      <a:prstDash val="solid"/>
                      <a:round/>
                      <a:headEnd type="none" w="med" len="med"/>
                      <a:tailEnd type="none" w="med" len="med"/>
                    </a:lnB>
                    <a:noFill/>
                  </a:tcPr>
                </a:tc>
                <a:extLst>
                  <a:ext uri="{0D108BD9-81ED-4DB2-BD59-A6C34878D82A}">
                    <a16:rowId xmlns:a16="http://schemas.microsoft.com/office/drawing/2014/main" val="3233181852"/>
                  </a:ext>
                </a:extLst>
              </a:tr>
              <a:tr h="0">
                <a:tc>
                  <a:txBody>
                    <a:bodyPr/>
                    <a:lstStyle/>
                    <a:p>
                      <a:pPr>
                        <a:buNone/>
                      </a:pPr>
                      <a:r>
                        <a:rPr lang="en-CA">
                          <a:effectLst/>
                        </a:rPr>
                        <a:t>Biais d'optimisation</a:t>
                      </a:r>
                    </a:p>
                  </a:txBody>
                  <a:tcPr marL="45720" marR="45720" marT="30480" marB="30480" anchor="ctr">
                    <a:lnL>
                      <a:noFill/>
                    </a:lnL>
                    <a:lnR w="6096" cap="flat" cmpd="sng" algn="ctr">
                      <a:solidFill>
                        <a:srgbClr val="F0321B"/>
                      </a:solidFill>
                      <a:prstDash val="solid"/>
                      <a:round/>
                      <a:headEnd type="none" w="med" len="med"/>
                      <a:tailEnd type="none" w="med" len="med"/>
                    </a:lnR>
                    <a:lnT w="6096" cap="flat" cmpd="sng" algn="ctr">
                      <a:solidFill>
                        <a:srgbClr val="702B1B"/>
                      </a:solidFill>
                      <a:prstDash val="solid"/>
                      <a:round/>
                      <a:headEnd type="none" w="med" len="med"/>
                      <a:tailEnd type="none" w="med" len="med"/>
                    </a:lnT>
                    <a:lnB w="6096" cap="flat" cmpd="sng" algn="ctr">
                      <a:solidFill>
                        <a:srgbClr val="F0321B"/>
                      </a:solidFill>
                      <a:prstDash val="solid"/>
                      <a:round/>
                      <a:headEnd type="none" w="med" len="med"/>
                      <a:tailEnd type="none" w="med" len="med"/>
                    </a:lnB>
                    <a:noFill/>
                  </a:tcPr>
                </a:tc>
                <a:tc>
                  <a:txBody>
                    <a:bodyPr/>
                    <a:lstStyle/>
                    <a:p>
                      <a:pPr>
                        <a:buNone/>
                      </a:pPr>
                      <a:r>
                        <a:rPr lang="en-CA">
                          <a:effectLst/>
                        </a:rPr>
                        <a:t>✅ Faible</a:t>
                      </a:r>
                    </a:p>
                  </a:txBody>
                  <a:tcPr marL="45720" marR="45720" marT="30480" marB="30480" anchor="ctr">
                    <a:lnL w="6096" cap="flat" cmpd="sng" algn="ctr">
                      <a:solidFill>
                        <a:srgbClr val="F0321B"/>
                      </a:solidFill>
                      <a:prstDash val="solid"/>
                      <a:round/>
                      <a:headEnd type="none" w="med" len="med"/>
                      <a:tailEnd type="none" w="med" len="med"/>
                    </a:lnL>
                    <a:lnR w="6096" cap="flat" cmpd="sng" algn="ctr">
                      <a:solidFill>
                        <a:srgbClr val="70261B"/>
                      </a:solidFill>
                      <a:prstDash val="solid"/>
                      <a:round/>
                      <a:headEnd type="none" w="med" len="med"/>
                      <a:tailEnd type="none" w="med" len="med"/>
                    </a:lnR>
                    <a:lnT w="6096" cap="flat" cmpd="sng" algn="ctr">
                      <a:solidFill>
                        <a:srgbClr val="D02F1B"/>
                      </a:solidFill>
                      <a:prstDash val="solid"/>
                      <a:round/>
                      <a:headEnd type="none" w="med" len="med"/>
                      <a:tailEnd type="none" w="med" len="med"/>
                    </a:lnT>
                    <a:lnB w="6096" cap="flat" cmpd="sng" algn="ctr">
                      <a:solidFill>
                        <a:srgbClr val="70261B"/>
                      </a:solidFill>
                      <a:prstDash val="solid"/>
                      <a:round/>
                      <a:headEnd type="none" w="med" len="med"/>
                      <a:tailEnd type="none" w="med" len="med"/>
                    </a:lnB>
                    <a:noFill/>
                  </a:tcPr>
                </a:tc>
                <a:tc>
                  <a:txBody>
                    <a:bodyPr/>
                    <a:lstStyle/>
                    <a:p>
                      <a:pPr>
                        <a:buNone/>
                      </a:pPr>
                      <a:r>
                        <a:rPr lang="en-CA">
                          <a:effectLst/>
                        </a:rPr>
                        <a:t>🚨 Compilateur</a:t>
                      </a:r>
                    </a:p>
                  </a:txBody>
                  <a:tcPr marL="45720" marR="45720" marT="30480" marB="30480" anchor="ctr">
                    <a:lnL w="6096" cap="flat" cmpd="sng" algn="ctr">
                      <a:solidFill>
                        <a:srgbClr val="70261B"/>
                      </a:solidFill>
                      <a:prstDash val="solid"/>
                      <a:round/>
                      <a:headEnd type="none" w="med" len="med"/>
                      <a:tailEnd type="none" w="med" len="med"/>
                    </a:lnL>
                    <a:lnR w="6096" cap="flat" cmpd="sng" algn="ctr">
                      <a:solidFill>
                        <a:srgbClr val="F0281B"/>
                      </a:solidFill>
                      <a:prstDash val="solid"/>
                      <a:round/>
                      <a:headEnd type="none" w="med" len="med"/>
                      <a:tailEnd type="none" w="med" len="med"/>
                    </a:lnR>
                    <a:lnT w="6096" cap="flat" cmpd="sng" algn="ctr">
                      <a:solidFill>
                        <a:srgbClr val="F0281B"/>
                      </a:solidFill>
                      <a:prstDash val="solid"/>
                      <a:round/>
                      <a:headEnd type="none" w="med" len="med"/>
                      <a:tailEnd type="none" w="med" len="med"/>
                    </a:lnT>
                    <a:lnB w="6096" cap="flat" cmpd="sng" algn="ctr">
                      <a:solidFill>
                        <a:srgbClr val="F0281B"/>
                      </a:solidFill>
                      <a:prstDash val="solid"/>
                      <a:round/>
                      <a:headEnd type="none" w="med" len="med"/>
                      <a:tailEnd type="none" w="med" len="med"/>
                    </a:lnB>
                    <a:noFill/>
                  </a:tcPr>
                </a:tc>
                <a:tc>
                  <a:txBody>
                    <a:bodyPr/>
                    <a:lstStyle/>
                    <a:p>
                      <a:pPr>
                        <a:buNone/>
                      </a:pPr>
                      <a:r>
                        <a:rPr lang="en-CA">
                          <a:effectLst/>
                        </a:rPr>
                        <a:t>🚨 JIT/JVM</a:t>
                      </a:r>
                    </a:p>
                  </a:txBody>
                  <a:tcPr marL="45720" marR="45720" marT="30480" marB="30480" anchor="ctr">
                    <a:lnL w="6096" cap="flat" cmpd="sng" algn="ctr">
                      <a:solidFill>
                        <a:srgbClr val="F0281B"/>
                      </a:solidFill>
                      <a:prstDash val="solid"/>
                      <a:round/>
                      <a:headEnd type="none" w="med" len="med"/>
                      <a:tailEnd type="none" w="med" len="med"/>
                    </a:lnL>
                    <a:lnR>
                      <a:noFill/>
                    </a:lnR>
                    <a:lnT w="6096" cap="flat" cmpd="sng" algn="ctr">
                      <a:solidFill>
                        <a:srgbClr val="6809A9"/>
                      </a:solidFill>
                      <a:prstDash val="solid"/>
                      <a:round/>
                      <a:headEnd type="none" w="med" len="med"/>
                      <a:tailEnd type="none" w="med" len="med"/>
                    </a:lnT>
                    <a:lnB w="6096" cap="flat" cmpd="sng" algn="ctr">
                      <a:solidFill>
                        <a:srgbClr val="280BA9"/>
                      </a:solidFill>
                      <a:prstDash val="solid"/>
                      <a:round/>
                      <a:headEnd type="none" w="med" len="med"/>
                      <a:tailEnd type="none" w="med" len="med"/>
                    </a:lnB>
                    <a:noFill/>
                  </a:tcPr>
                </a:tc>
                <a:extLst>
                  <a:ext uri="{0D108BD9-81ED-4DB2-BD59-A6C34878D82A}">
                    <a16:rowId xmlns:a16="http://schemas.microsoft.com/office/drawing/2014/main" val="204029442"/>
                  </a:ext>
                </a:extLst>
              </a:tr>
              <a:tr h="0">
                <a:tc>
                  <a:txBody>
                    <a:bodyPr/>
                    <a:lstStyle/>
                    <a:p>
                      <a:pPr>
                        <a:buNone/>
                      </a:pPr>
                      <a:r>
                        <a:rPr lang="en-CA">
                          <a:effectLst/>
                        </a:rPr>
                        <a:t>Reproductibilité inter-plateformes</a:t>
                      </a:r>
                    </a:p>
                  </a:txBody>
                  <a:tcPr marL="45720" marR="45720" marT="30480" marB="30480" anchor="ctr">
                    <a:lnL>
                      <a:noFill/>
                    </a:lnL>
                    <a:lnR w="6096" cap="flat" cmpd="sng" algn="ctr">
                      <a:solidFill>
                        <a:srgbClr val="F0281B"/>
                      </a:solidFill>
                      <a:prstDash val="solid"/>
                      <a:round/>
                      <a:headEnd type="none" w="med" len="med"/>
                      <a:tailEnd type="none" w="med" len="med"/>
                    </a:lnR>
                    <a:lnT w="6096" cap="flat" cmpd="sng" algn="ctr">
                      <a:solidFill>
                        <a:srgbClr val="F0321B"/>
                      </a:solidFill>
                      <a:prstDash val="solid"/>
                      <a:round/>
                      <a:headEnd type="none" w="med" len="med"/>
                      <a:tailEnd type="none" w="med" len="med"/>
                    </a:lnT>
                    <a:lnB w="6096" cap="flat" cmpd="sng" algn="ctr">
                      <a:solidFill>
                        <a:srgbClr val="F0281B"/>
                      </a:solidFill>
                      <a:prstDash val="solid"/>
                      <a:round/>
                      <a:headEnd type="none" w="med" len="med"/>
                      <a:tailEnd type="none" w="med" len="med"/>
                    </a:lnB>
                    <a:noFill/>
                  </a:tcPr>
                </a:tc>
                <a:tc>
                  <a:txBody>
                    <a:bodyPr/>
                    <a:lstStyle/>
                    <a:p>
                      <a:pPr>
                        <a:buNone/>
                      </a:pPr>
                      <a:r>
                        <a:rPr lang="en-CA">
                          <a:effectLst/>
                        </a:rPr>
                        <a:t>✅ Excellente</a:t>
                      </a:r>
                    </a:p>
                  </a:txBody>
                  <a:tcPr marL="45720" marR="45720" marT="30480" marB="30480" anchor="ctr">
                    <a:lnL w="6096" cap="flat" cmpd="sng" algn="ctr">
                      <a:solidFill>
                        <a:srgbClr val="F0281B"/>
                      </a:solidFill>
                      <a:prstDash val="solid"/>
                      <a:round/>
                      <a:headEnd type="none" w="med" len="med"/>
                      <a:tailEnd type="none" w="med" len="med"/>
                    </a:lnL>
                    <a:lnR w="6096" cap="flat" cmpd="sng" algn="ctr">
                      <a:solidFill>
                        <a:srgbClr val="F0281B"/>
                      </a:solidFill>
                      <a:prstDash val="solid"/>
                      <a:round/>
                      <a:headEnd type="none" w="med" len="med"/>
                      <a:tailEnd type="none" w="med" len="med"/>
                    </a:lnR>
                    <a:lnT w="6096" cap="flat" cmpd="sng" algn="ctr">
                      <a:solidFill>
                        <a:srgbClr val="70261B"/>
                      </a:solidFill>
                      <a:prstDash val="solid"/>
                      <a:round/>
                      <a:headEnd type="none" w="med" len="med"/>
                      <a:tailEnd type="none" w="med" len="med"/>
                    </a:lnT>
                    <a:lnB w="6096" cap="flat" cmpd="sng" algn="ctr">
                      <a:solidFill>
                        <a:srgbClr val="F0281B"/>
                      </a:solidFill>
                      <a:prstDash val="solid"/>
                      <a:round/>
                      <a:headEnd type="none" w="med" len="med"/>
                      <a:tailEnd type="none" w="med" len="med"/>
                    </a:lnB>
                    <a:noFill/>
                  </a:tcPr>
                </a:tc>
                <a:tc>
                  <a:txBody>
                    <a:bodyPr/>
                    <a:lstStyle/>
                    <a:p>
                      <a:pPr>
                        <a:buNone/>
                      </a:pPr>
                      <a:r>
                        <a:rPr lang="en-CA">
                          <a:effectLst/>
                        </a:rPr>
                        <a:t>⚠️ Variable</a:t>
                      </a:r>
                    </a:p>
                  </a:txBody>
                  <a:tcPr marL="45720" marR="45720" marT="30480" marB="30480" anchor="ctr">
                    <a:lnL w="6096" cap="flat" cmpd="sng" algn="ctr">
                      <a:solidFill>
                        <a:srgbClr val="F0281B"/>
                      </a:solidFill>
                      <a:prstDash val="solid"/>
                      <a:round/>
                      <a:headEnd type="none" w="med" len="med"/>
                      <a:tailEnd type="none" w="med" len="med"/>
                    </a:lnL>
                    <a:lnR w="6096" cap="flat" cmpd="sng" algn="ctr">
                      <a:solidFill>
                        <a:srgbClr val="50321B"/>
                      </a:solidFill>
                      <a:prstDash val="solid"/>
                      <a:round/>
                      <a:headEnd type="none" w="med" len="med"/>
                      <a:tailEnd type="none" w="med" len="med"/>
                    </a:lnR>
                    <a:lnT w="6096" cap="flat" cmpd="sng" algn="ctr">
                      <a:solidFill>
                        <a:srgbClr val="F0281B"/>
                      </a:solidFill>
                      <a:prstDash val="solid"/>
                      <a:round/>
                      <a:headEnd type="none" w="med" len="med"/>
                      <a:tailEnd type="none" w="med" len="med"/>
                    </a:lnT>
                    <a:lnB w="6096" cap="flat" cmpd="sng" algn="ctr">
                      <a:solidFill>
                        <a:srgbClr val="50321B"/>
                      </a:solidFill>
                      <a:prstDash val="solid"/>
                      <a:round/>
                      <a:headEnd type="none" w="med" len="med"/>
                      <a:tailEnd type="none" w="med" len="med"/>
                    </a:lnB>
                    <a:noFill/>
                  </a:tcPr>
                </a:tc>
                <a:tc>
                  <a:txBody>
                    <a:bodyPr/>
                    <a:lstStyle/>
                    <a:p>
                      <a:pPr>
                        <a:buNone/>
                      </a:pPr>
                      <a:r>
                        <a:rPr lang="en-CA">
                          <a:effectLst/>
                        </a:rPr>
                        <a:t>⚠️ Variable</a:t>
                      </a:r>
                    </a:p>
                  </a:txBody>
                  <a:tcPr marL="45720" marR="45720" marT="30480" marB="30480" anchor="ctr">
                    <a:lnL w="6096" cap="flat" cmpd="sng" algn="ctr">
                      <a:solidFill>
                        <a:srgbClr val="50321B"/>
                      </a:solidFill>
                      <a:prstDash val="solid"/>
                      <a:round/>
                      <a:headEnd type="none" w="med" len="med"/>
                      <a:tailEnd type="none" w="med" len="med"/>
                    </a:lnL>
                    <a:lnR>
                      <a:noFill/>
                    </a:lnR>
                    <a:lnT w="6096" cap="flat" cmpd="sng" algn="ctr">
                      <a:solidFill>
                        <a:srgbClr val="280BA9"/>
                      </a:solidFill>
                      <a:prstDash val="solid"/>
                      <a:round/>
                      <a:headEnd type="none" w="med" len="med"/>
                      <a:tailEnd type="none" w="med" len="med"/>
                    </a:lnT>
                    <a:lnB w="6096" cap="flat" cmpd="sng" algn="ctr">
                      <a:solidFill>
                        <a:srgbClr val="280BA9"/>
                      </a:solidFill>
                      <a:prstDash val="solid"/>
                      <a:round/>
                      <a:headEnd type="none" w="med" len="med"/>
                      <a:tailEnd type="none" w="med" len="med"/>
                    </a:lnB>
                    <a:noFill/>
                  </a:tcPr>
                </a:tc>
                <a:extLst>
                  <a:ext uri="{0D108BD9-81ED-4DB2-BD59-A6C34878D82A}">
                    <a16:rowId xmlns:a16="http://schemas.microsoft.com/office/drawing/2014/main" val="2606889237"/>
                  </a:ext>
                </a:extLst>
              </a:tr>
              <a:tr h="0">
                <a:tc>
                  <a:txBody>
                    <a:bodyPr/>
                    <a:lstStyle/>
                    <a:p>
                      <a:pPr>
                        <a:buNone/>
                      </a:pPr>
                      <a:r>
                        <a:rPr lang="en-CA">
                          <a:effectLst/>
                        </a:rPr>
                        <a:t>Accès aux primitives bas niveau</a:t>
                      </a:r>
                    </a:p>
                  </a:txBody>
                  <a:tcPr marL="45720" marR="45720" marT="30480" marB="30480" anchor="ctr">
                    <a:lnL>
                      <a:noFill/>
                    </a:lnL>
                    <a:lnR w="6096" cap="flat" cmpd="sng" algn="ctr">
                      <a:solidFill>
                        <a:srgbClr val="702B1B"/>
                      </a:solidFill>
                      <a:prstDash val="solid"/>
                      <a:round/>
                      <a:headEnd type="none" w="med" len="med"/>
                      <a:tailEnd type="none" w="med" len="med"/>
                    </a:lnR>
                    <a:lnT w="6096" cap="flat" cmpd="sng" algn="ctr">
                      <a:solidFill>
                        <a:srgbClr val="F0281B"/>
                      </a:solidFill>
                      <a:prstDash val="solid"/>
                      <a:round/>
                      <a:headEnd type="none" w="med" len="med"/>
                      <a:tailEnd type="none" w="med" len="med"/>
                    </a:lnT>
                    <a:lnB w="6096" cap="flat" cmpd="sng" algn="ctr">
                      <a:solidFill>
                        <a:srgbClr val="702B1B"/>
                      </a:solidFill>
                      <a:prstDash val="solid"/>
                      <a:round/>
                      <a:headEnd type="none" w="med" len="med"/>
                      <a:tailEnd type="none" w="med" len="med"/>
                    </a:lnB>
                    <a:noFill/>
                  </a:tcPr>
                </a:tc>
                <a:tc>
                  <a:txBody>
                    <a:bodyPr/>
                    <a:lstStyle/>
                    <a:p>
                      <a:pPr>
                        <a:buNone/>
                      </a:pPr>
                      <a:r>
                        <a:rPr lang="en-CA">
                          <a:effectLst/>
                        </a:rPr>
                        <a:t>Via PyCryptodome (C natif)</a:t>
                      </a:r>
                    </a:p>
                  </a:txBody>
                  <a:tcPr marL="45720" marR="45720" marT="30480" marB="30480" anchor="ctr">
                    <a:lnL w="6096" cap="flat" cmpd="sng" algn="ctr">
                      <a:solidFill>
                        <a:srgbClr val="702B1B"/>
                      </a:solidFill>
                      <a:prstDash val="solid"/>
                      <a:round/>
                      <a:headEnd type="none" w="med" len="med"/>
                      <a:tailEnd type="none" w="med" len="med"/>
                    </a:lnL>
                    <a:lnR w="6096" cap="flat" cmpd="sng" algn="ctr">
                      <a:solidFill>
                        <a:srgbClr val="D0251B"/>
                      </a:solidFill>
                      <a:prstDash val="solid"/>
                      <a:round/>
                      <a:headEnd type="none" w="med" len="med"/>
                      <a:tailEnd type="none" w="med" len="med"/>
                    </a:lnR>
                    <a:lnT w="6096" cap="flat" cmpd="sng" algn="ctr">
                      <a:solidFill>
                        <a:srgbClr val="F0281B"/>
                      </a:solidFill>
                      <a:prstDash val="solid"/>
                      <a:round/>
                      <a:headEnd type="none" w="med" len="med"/>
                      <a:tailEnd type="none" w="med" len="med"/>
                    </a:lnT>
                    <a:lnB w="6096" cap="flat" cmpd="sng" algn="ctr">
                      <a:solidFill>
                        <a:srgbClr val="D0251B"/>
                      </a:solidFill>
                      <a:prstDash val="solid"/>
                      <a:round/>
                      <a:headEnd type="none" w="med" len="med"/>
                      <a:tailEnd type="none" w="med" len="med"/>
                    </a:lnB>
                    <a:noFill/>
                  </a:tcPr>
                </a:tc>
                <a:tc>
                  <a:txBody>
                    <a:bodyPr/>
                    <a:lstStyle/>
                    <a:p>
                      <a:pPr>
                        <a:buNone/>
                      </a:pPr>
                      <a:r>
                        <a:rPr lang="en-CA">
                          <a:effectLst/>
                        </a:rPr>
                        <a:t>✅ Direct</a:t>
                      </a:r>
                    </a:p>
                  </a:txBody>
                  <a:tcPr marL="45720" marR="45720" marT="30480" marB="30480" anchor="ctr">
                    <a:lnL w="6096" cap="flat" cmpd="sng" algn="ctr">
                      <a:solidFill>
                        <a:srgbClr val="D0251B"/>
                      </a:solidFill>
                      <a:prstDash val="solid"/>
                      <a:round/>
                      <a:headEnd type="none" w="med" len="med"/>
                      <a:tailEnd type="none" w="med" len="med"/>
                    </a:lnL>
                    <a:lnR w="6096" cap="flat" cmpd="sng" algn="ctr">
                      <a:solidFill>
                        <a:srgbClr val="B0311B"/>
                      </a:solidFill>
                      <a:prstDash val="solid"/>
                      <a:round/>
                      <a:headEnd type="none" w="med" len="med"/>
                      <a:tailEnd type="none" w="med" len="med"/>
                    </a:lnR>
                    <a:lnT w="6096" cap="flat" cmpd="sng" algn="ctr">
                      <a:solidFill>
                        <a:srgbClr val="50321B"/>
                      </a:solidFill>
                      <a:prstDash val="solid"/>
                      <a:round/>
                      <a:headEnd type="none" w="med" len="med"/>
                      <a:tailEnd type="none" w="med" len="med"/>
                    </a:lnT>
                    <a:lnB w="6096" cap="flat" cmpd="sng" algn="ctr">
                      <a:solidFill>
                        <a:srgbClr val="B0311B"/>
                      </a:solidFill>
                      <a:prstDash val="solid"/>
                      <a:round/>
                      <a:headEnd type="none" w="med" len="med"/>
                      <a:tailEnd type="none" w="med" len="med"/>
                    </a:lnB>
                    <a:noFill/>
                  </a:tcPr>
                </a:tc>
                <a:tc>
                  <a:txBody>
                    <a:bodyPr/>
                    <a:lstStyle/>
                    <a:p>
                      <a:pPr>
                        <a:buNone/>
                      </a:pPr>
                      <a:r>
                        <a:rPr lang="en-CA">
                          <a:effectLst/>
                        </a:rPr>
                        <a:t>⚠️ Limité</a:t>
                      </a:r>
                    </a:p>
                  </a:txBody>
                  <a:tcPr marL="45720" marR="45720" marT="30480" marB="30480" anchor="ctr">
                    <a:lnL w="6096" cap="flat" cmpd="sng" algn="ctr">
                      <a:solidFill>
                        <a:srgbClr val="B0311B"/>
                      </a:solidFill>
                      <a:prstDash val="solid"/>
                      <a:round/>
                      <a:headEnd type="none" w="med" len="med"/>
                      <a:tailEnd type="none" w="med" len="med"/>
                    </a:lnL>
                    <a:lnR>
                      <a:noFill/>
                    </a:lnR>
                    <a:lnT w="6096" cap="flat" cmpd="sng" algn="ctr">
                      <a:solidFill>
                        <a:srgbClr val="280BA9"/>
                      </a:solidFill>
                      <a:prstDash val="solid"/>
                      <a:round/>
                      <a:headEnd type="none" w="med" len="med"/>
                      <a:tailEnd type="none" w="med" len="med"/>
                    </a:lnT>
                    <a:lnB w="6096" cap="flat" cmpd="sng" algn="ctr">
                      <a:solidFill>
                        <a:srgbClr val="280BA9"/>
                      </a:solidFill>
                      <a:prstDash val="solid"/>
                      <a:round/>
                      <a:headEnd type="none" w="med" len="med"/>
                      <a:tailEnd type="none" w="med" len="med"/>
                    </a:lnB>
                    <a:noFill/>
                  </a:tcPr>
                </a:tc>
                <a:extLst>
                  <a:ext uri="{0D108BD9-81ED-4DB2-BD59-A6C34878D82A}">
                    <a16:rowId xmlns:a16="http://schemas.microsoft.com/office/drawing/2014/main" val="2067399751"/>
                  </a:ext>
                </a:extLst>
              </a:tr>
              <a:tr h="0">
                <a:tc>
                  <a:txBody>
                    <a:bodyPr/>
                    <a:lstStyle/>
                    <a:p>
                      <a:pPr>
                        <a:buNone/>
                      </a:pPr>
                      <a:r>
                        <a:rPr lang="en-CA" dirty="0" err="1">
                          <a:effectLst/>
                        </a:rPr>
                        <a:t>Encodage</a:t>
                      </a:r>
                      <a:r>
                        <a:rPr lang="en-CA" dirty="0">
                          <a:effectLst/>
                        </a:rPr>
                        <a:t> des données</a:t>
                      </a:r>
                    </a:p>
                  </a:txBody>
                  <a:tcPr marL="45720" marR="45720" marT="30480" marB="30480" anchor="ctr">
                    <a:lnL>
                      <a:noFill/>
                    </a:lnL>
                    <a:lnR w="6096" cap="flat" cmpd="sng" algn="ctr">
                      <a:solidFill>
                        <a:srgbClr val="906042"/>
                      </a:solidFill>
                      <a:prstDash val="solid"/>
                      <a:round/>
                      <a:headEnd type="none" w="med" len="med"/>
                      <a:tailEnd type="none" w="med" len="med"/>
                    </a:lnR>
                    <a:lnT w="6096" cap="flat" cmpd="sng" algn="ctr">
                      <a:solidFill>
                        <a:srgbClr val="702B1B"/>
                      </a:solidFill>
                      <a:prstDash val="solid"/>
                      <a:round/>
                      <a:headEnd type="none" w="med" len="med"/>
                      <a:tailEnd type="none" w="med" len="med"/>
                    </a:lnT>
                    <a:lnB>
                      <a:noFill/>
                    </a:lnB>
                    <a:noFill/>
                  </a:tcPr>
                </a:tc>
                <a:tc>
                  <a:txBody>
                    <a:bodyPr/>
                    <a:lstStyle/>
                    <a:p>
                      <a:pPr>
                        <a:buNone/>
                      </a:pPr>
                      <a:r>
                        <a:rPr lang="en-CA">
                          <a:effectLst/>
                        </a:rPr>
                        <a:t>✅ </a:t>
                      </a:r>
                      <a:r>
                        <a:rPr lang="en-CA">
                          <a:solidFill>
                            <a:srgbClr val="8C8C8C"/>
                          </a:solidFill>
                          <a:effectLst/>
                          <a:latin typeface="Consolas" panose="020B0609020204030204" pitchFamily="49" charset="0"/>
                        </a:rPr>
                        <a:t>bytes</a:t>
                      </a:r>
                      <a:r>
                        <a:rPr lang="en-CA">
                          <a:effectLst/>
                        </a:rPr>
                        <a:t> bruts</a:t>
                      </a:r>
                    </a:p>
                  </a:txBody>
                  <a:tcPr marL="45720" marR="45720" marT="30480" marB="30480" anchor="ctr">
                    <a:lnL w="6096" cap="flat" cmpd="sng" algn="ctr">
                      <a:solidFill>
                        <a:srgbClr val="906042"/>
                      </a:solidFill>
                      <a:prstDash val="solid"/>
                      <a:round/>
                      <a:headEnd type="none" w="med" len="med"/>
                      <a:tailEnd type="none" w="med" len="med"/>
                    </a:lnL>
                    <a:lnR w="6096" cap="flat" cmpd="sng" algn="ctr">
                      <a:solidFill>
                        <a:srgbClr val="F05542"/>
                      </a:solidFill>
                      <a:prstDash val="solid"/>
                      <a:round/>
                      <a:headEnd type="none" w="med" len="med"/>
                      <a:tailEnd type="none" w="med" len="med"/>
                    </a:lnR>
                    <a:lnT w="6096" cap="flat" cmpd="sng" algn="ctr">
                      <a:solidFill>
                        <a:srgbClr val="D0251B"/>
                      </a:solidFill>
                      <a:prstDash val="solid"/>
                      <a:round/>
                      <a:headEnd type="none" w="med" len="med"/>
                      <a:tailEnd type="none" w="med" len="med"/>
                    </a:lnT>
                    <a:lnB>
                      <a:noFill/>
                    </a:lnB>
                    <a:noFill/>
                  </a:tcPr>
                </a:tc>
                <a:tc>
                  <a:txBody>
                    <a:bodyPr/>
                    <a:lstStyle/>
                    <a:p>
                      <a:pPr>
                        <a:buNone/>
                      </a:pPr>
                      <a:r>
                        <a:rPr lang="en-CA">
                          <a:effectLst/>
                        </a:rPr>
                        <a:t>✅ Contrôlable</a:t>
                      </a:r>
                    </a:p>
                  </a:txBody>
                  <a:tcPr marL="45720" marR="45720" marT="30480" marB="30480" anchor="ctr">
                    <a:lnL w="6096" cap="flat" cmpd="sng" algn="ctr">
                      <a:solidFill>
                        <a:srgbClr val="F05542"/>
                      </a:solidFill>
                      <a:prstDash val="solid"/>
                      <a:round/>
                      <a:headEnd type="none" w="med" len="med"/>
                      <a:tailEnd type="none" w="med" len="med"/>
                    </a:lnL>
                    <a:lnR w="6096" cap="flat" cmpd="sng" algn="ctr">
                      <a:solidFill>
                        <a:srgbClr val="F05542"/>
                      </a:solidFill>
                      <a:prstDash val="solid"/>
                      <a:round/>
                      <a:headEnd type="none" w="med" len="med"/>
                      <a:tailEnd type="none" w="med" len="med"/>
                    </a:lnR>
                    <a:lnT w="6096" cap="flat" cmpd="sng" algn="ctr">
                      <a:solidFill>
                        <a:srgbClr val="B0311B"/>
                      </a:solidFill>
                      <a:prstDash val="solid"/>
                      <a:round/>
                      <a:headEnd type="none" w="med" len="med"/>
                      <a:tailEnd type="none" w="med" len="med"/>
                    </a:lnT>
                    <a:lnB>
                      <a:noFill/>
                    </a:lnB>
                    <a:noFill/>
                  </a:tcPr>
                </a:tc>
                <a:tc>
                  <a:txBody>
                    <a:bodyPr/>
                    <a:lstStyle/>
                    <a:p>
                      <a:pPr>
                        <a:buNone/>
                      </a:pPr>
                      <a:r>
                        <a:rPr lang="en-CA" dirty="0">
                          <a:effectLst/>
                        </a:rPr>
                        <a:t>⚠️ JVM </a:t>
                      </a:r>
                      <a:r>
                        <a:rPr lang="en-CA" dirty="0" err="1">
                          <a:effectLst/>
                        </a:rPr>
                        <a:t>dépendant</a:t>
                      </a:r>
                      <a:endParaRPr lang="en-CA" dirty="0">
                        <a:effectLst/>
                      </a:endParaRPr>
                    </a:p>
                  </a:txBody>
                  <a:tcPr marL="45720" marR="45720" marT="30480" marB="30480" anchor="ctr">
                    <a:lnL w="6096" cap="flat" cmpd="sng" algn="ctr">
                      <a:solidFill>
                        <a:srgbClr val="F05542"/>
                      </a:solidFill>
                      <a:prstDash val="solid"/>
                      <a:round/>
                      <a:headEnd type="none" w="med" len="med"/>
                      <a:tailEnd type="none" w="med" len="med"/>
                    </a:lnL>
                    <a:lnR>
                      <a:noFill/>
                    </a:lnR>
                    <a:lnT w="6096" cap="flat" cmpd="sng" algn="ctr">
                      <a:solidFill>
                        <a:srgbClr val="280BA9"/>
                      </a:solidFill>
                      <a:prstDash val="solid"/>
                      <a:round/>
                      <a:headEnd type="none" w="med" len="med"/>
                      <a:tailEnd type="none" w="med" len="med"/>
                    </a:lnT>
                    <a:lnB>
                      <a:noFill/>
                    </a:lnB>
                    <a:noFill/>
                  </a:tcPr>
                </a:tc>
                <a:extLst>
                  <a:ext uri="{0D108BD9-81ED-4DB2-BD59-A6C34878D82A}">
                    <a16:rowId xmlns:a16="http://schemas.microsoft.com/office/drawing/2014/main" val="1308959596"/>
                  </a:ext>
                </a:extLst>
              </a:tr>
            </a:tbl>
          </a:graphicData>
        </a:graphic>
      </p:graphicFrame>
      <p:sp>
        <p:nvSpPr>
          <p:cNvPr id="10" name="TextBox 9">
            <a:extLst>
              <a:ext uri="{FF2B5EF4-FFF2-40B4-BE49-F238E27FC236}">
                <a16:creationId xmlns:a16="http://schemas.microsoft.com/office/drawing/2014/main" id="{ADB3DA59-E8ED-1E88-8722-C6DCDC993C19}"/>
              </a:ext>
            </a:extLst>
          </p:cNvPr>
          <p:cNvSpPr txBox="1"/>
          <p:nvPr/>
        </p:nvSpPr>
        <p:spPr>
          <a:xfrm>
            <a:off x="551905" y="4376242"/>
            <a:ext cx="11361421" cy="646331"/>
          </a:xfrm>
          <a:prstGeom prst="rect">
            <a:avLst/>
          </a:prstGeom>
          <a:noFill/>
        </p:spPr>
        <p:txBody>
          <a:bodyPr wrap="square">
            <a:spAutoFit/>
          </a:bodyPr>
          <a:lstStyle/>
          <a:p>
            <a:r>
              <a:rPr lang="en-CA" b="1" i="0" dirty="0">
                <a:solidFill>
                  <a:srgbClr val="BFBFBF"/>
                </a:solidFill>
                <a:effectLst/>
                <a:latin typeface="Segoe WPC"/>
              </a:rPr>
              <a:t>FB3 — Sur C++ :</a:t>
            </a:r>
            <a:r>
              <a:rPr lang="en-CA" b="0" i="0" dirty="0">
                <a:solidFill>
                  <a:srgbClr val="BFBFBF"/>
                </a:solidFill>
                <a:effectLst/>
                <a:latin typeface="Segoe WPC"/>
              </a:rPr>
              <a:t> C++ </a:t>
            </a:r>
            <a:r>
              <a:rPr lang="en-CA" b="0" i="0" dirty="0" err="1">
                <a:solidFill>
                  <a:srgbClr val="BFBFBF"/>
                </a:solidFill>
                <a:effectLst/>
                <a:latin typeface="Segoe WPC"/>
              </a:rPr>
              <a:t>aurait</a:t>
            </a:r>
            <a:r>
              <a:rPr lang="en-CA" b="0" i="0" dirty="0">
                <a:solidFill>
                  <a:srgbClr val="BFBFBF"/>
                </a:solidFill>
                <a:effectLst/>
                <a:latin typeface="Segoe WPC"/>
              </a:rPr>
              <a:t> </a:t>
            </a:r>
            <a:r>
              <a:rPr lang="en-CA" b="0" i="0" dirty="0" err="1">
                <a:solidFill>
                  <a:srgbClr val="BFBFBF"/>
                </a:solidFill>
                <a:effectLst/>
                <a:latin typeface="Segoe WPC"/>
              </a:rPr>
              <a:t>mesuré</a:t>
            </a:r>
            <a:r>
              <a:rPr lang="en-CA" b="0" i="0" dirty="0">
                <a:solidFill>
                  <a:srgbClr val="BFBFBF"/>
                </a:solidFill>
                <a:effectLst/>
                <a:latin typeface="Segoe WPC"/>
              </a:rPr>
              <a:t> les optimisations du </a:t>
            </a:r>
            <a:r>
              <a:rPr lang="en-CA" b="0" i="0" dirty="0" err="1">
                <a:solidFill>
                  <a:srgbClr val="BFBFBF"/>
                </a:solidFill>
                <a:effectLst/>
                <a:latin typeface="Segoe WPC"/>
              </a:rPr>
              <a:t>compilateur</a:t>
            </a:r>
            <a:r>
              <a:rPr lang="en-CA" b="0" i="0" dirty="0">
                <a:solidFill>
                  <a:srgbClr val="BFBFBF"/>
                </a:solidFill>
                <a:effectLst/>
                <a:latin typeface="Segoe WPC"/>
              </a:rPr>
              <a:t> </a:t>
            </a:r>
            <a:r>
              <a:rPr lang="en-CA" b="0" i="0" dirty="0" err="1">
                <a:solidFill>
                  <a:srgbClr val="BFBFBF"/>
                </a:solidFill>
                <a:effectLst/>
                <a:latin typeface="Segoe WPC"/>
              </a:rPr>
              <a:t>autant</a:t>
            </a:r>
            <a:r>
              <a:rPr lang="en-CA" b="0" i="0" dirty="0">
                <a:solidFill>
                  <a:srgbClr val="BFBFBF"/>
                </a:solidFill>
                <a:effectLst/>
                <a:latin typeface="Segoe WPC"/>
              </a:rPr>
              <a:t> </a:t>
            </a:r>
            <a:r>
              <a:rPr lang="en-CA" b="0" i="0" dirty="0" err="1">
                <a:solidFill>
                  <a:srgbClr val="BFBFBF"/>
                </a:solidFill>
                <a:effectLst/>
                <a:latin typeface="Segoe WPC"/>
              </a:rPr>
              <a:t>que</a:t>
            </a:r>
            <a:r>
              <a:rPr lang="en-CA" b="0" i="0" dirty="0">
                <a:solidFill>
                  <a:srgbClr val="BFBFBF"/>
                </a:solidFill>
                <a:effectLst/>
                <a:latin typeface="Segoe WPC"/>
              </a:rPr>
              <a:t> les </a:t>
            </a:r>
            <a:r>
              <a:rPr lang="en-CA" b="0" i="0" dirty="0" err="1">
                <a:solidFill>
                  <a:srgbClr val="BFBFBF"/>
                </a:solidFill>
                <a:effectLst/>
                <a:latin typeface="Segoe WPC"/>
              </a:rPr>
              <a:t>algorithmes</a:t>
            </a:r>
            <a:r>
              <a:rPr lang="en-CA" b="0" i="0" dirty="0">
                <a:solidFill>
                  <a:srgbClr val="BFBFBF"/>
                </a:solidFill>
                <a:effectLst/>
                <a:latin typeface="Segoe WPC"/>
              </a:rPr>
              <a:t>. Notre </a:t>
            </a:r>
            <a:r>
              <a:rPr lang="en-CA" b="0" i="0" dirty="0" err="1">
                <a:solidFill>
                  <a:srgbClr val="BFBFBF"/>
                </a:solidFill>
                <a:effectLst/>
                <a:latin typeface="Segoe WPC"/>
              </a:rPr>
              <a:t>objectif</a:t>
            </a:r>
            <a:r>
              <a:rPr lang="en-CA" b="0" i="0" dirty="0">
                <a:solidFill>
                  <a:srgbClr val="BFBFBF"/>
                </a:solidFill>
                <a:effectLst/>
                <a:latin typeface="Segoe WPC"/>
              </a:rPr>
              <a:t> est de comparer les </a:t>
            </a:r>
            <a:r>
              <a:rPr lang="en-CA" b="0" i="0" dirty="0" err="1">
                <a:solidFill>
                  <a:srgbClr val="BFBFBF"/>
                </a:solidFill>
                <a:effectLst/>
                <a:latin typeface="Segoe WPC"/>
              </a:rPr>
              <a:t>algorithmes</a:t>
            </a:r>
            <a:r>
              <a:rPr lang="en-CA" b="0" i="0" dirty="0">
                <a:solidFill>
                  <a:srgbClr val="BFBFBF"/>
                </a:solidFill>
                <a:effectLst/>
                <a:latin typeface="Segoe WPC"/>
              </a:rPr>
              <a:t> entre </a:t>
            </a:r>
            <a:r>
              <a:rPr lang="en-CA" b="0" i="0" dirty="0" err="1">
                <a:solidFill>
                  <a:srgbClr val="BFBFBF"/>
                </a:solidFill>
                <a:effectLst/>
                <a:latin typeface="Segoe WPC"/>
              </a:rPr>
              <a:t>plateformes</a:t>
            </a:r>
            <a:r>
              <a:rPr lang="en-CA" b="0" i="0" dirty="0">
                <a:solidFill>
                  <a:srgbClr val="BFBFBF"/>
                </a:solidFill>
                <a:effectLst/>
                <a:latin typeface="Segoe WPC"/>
              </a:rPr>
              <a:t>, pas les </a:t>
            </a:r>
            <a:r>
              <a:rPr lang="en-CA" b="0" i="0" dirty="0" err="1">
                <a:solidFill>
                  <a:srgbClr val="BFBFBF"/>
                </a:solidFill>
                <a:effectLst/>
                <a:latin typeface="Segoe WPC"/>
              </a:rPr>
              <a:t>compilateurs</a:t>
            </a:r>
            <a:r>
              <a:rPr lang="en-CA" b="0" i="0" dirty="0">
                <a:solidFill>
                  <a:srgbClr val="BFBFBF"/>
                </a:solidFill>
                <a:effectLst/>
                <a:latin typeface="Segoe WPC"/>
              </a:rPr>
              <a:t>.</a:t>
            </a:r>
            <a:endParaRPr lang="en-CA" dirty="0"/>
          </a:p>
        </p:txBody>
      </p:sp>
      <p:sp>
        <p:nvSpPr>
          <p:cNvPr id="12" name="TextBox 11">
            <a:extLst>
              <a:ext uri="{FF2B5EF4-FFF2-40B4-BE49-F238E27FC236}">
                <a16:creationId xmlns:a16="http://schemas.microsoft.com/office/drawing/2014/main" id="{D8FD31CE-9C05-D726-9899-FAB9D5DCE701}"/>
              </a:ext>
            </a:extLst>
          </p:cNvPr>
          <p:cNvSpPr txBox="1"/>
          <p:nvPr/>
        </p:nvSpPr>
        <p:spPr>
          <a:xfrm>
            <a:off x="551905" y="5093467"/>
            <a:ext cx="11223043" cy="1354217"/>
          </a:xfrm>
          <a:prstGeom prst="rect">
            <a:avLst/>
          </a:prstGeom>
          <a:noFill/>
        </p:spPr>
        <p:txBody>
          <a:bodyPr wrap="square">
            <a:spAutoFit/>
          </a:bodyPr>
          <a:lstStyle/>
          <a:p>
            <a:pPr algn="l">
              <a:spcAft>
                <a:spcPts val="1200"/>
              </a:spcAft>
              <a:buNone/>
            </a:pPr>
            <a:r>
              <a:rPr lang="en-CA" b="1" i="0" dirty="0">
                <a:solidFill>
                  <a:srgbClr val="BFBFBF"/>
                </a:solidFill>
                <a:effectLst/>
                <a:latin typeface="Segoe WPC"/>
              </a:rPr>
              <a:t>FB4 — Sur </a:t>
            </a:r>
            <a:r>
              <a:rPr lang="en-CA" b="1" i="0" dirty="0" err="1">
                <a:solidFill>
                  <a:srgbClr val="BFBFBF"/>
                </a:solidFill>
                <a:effectLst/>
                <a:latin typeface="Segoe WPC"/>
              </a:rPr>
              <a:t>l'encodage</a:t>
            </a:r>
            <a:r>
              <a:rPr lang="en-CA" b="1" i="0" dirty="0">
                <a:solidFill>
                  <a:srgbClr val="BFBFBF"/>
                </a:solidFill>
                <a:effectLst/>
                <a:latin typeface="Segoe WPC"/>
              </a:rPr>
              <a:t> :</a:t>
            </a:r>
            <a:r>
              <a:rPr lang="en-CA" b="0" i="0" dirty="0">
                <a:solidFill>
                  <a:srgbClr val="BFBFBF"/>
                </a:solidFill>
                <a:effectLst/>
                <a:latin typeface="Segoe WPC"/>
              </a:rPr>
              <a:t> Les messages </a:t>
            </a:r>
            <a:r>
              <a:rPr lang="en-CA" b="0" i="0" dirty="0" err="1">
                <a:solidFill>
                  <a:srgbClr val="BFBFBF"/>
                </a:solidFill>
                <a:effectLst/>
                <a:latin typeface="Segoe WPC"/>
              </a:rPr>
              <a:t>sont</a:t>
            </a:r>
            <a:r>
              <a:rPr lang="en-CA" b="0" i="0" dirty="0">
                <a:solidFill>
                  <a:srgbClr val="BFBFBF"/>
                </a:solidFill>
                <a:effectLst/>
                <a:latin typeface="Segoe WPC"/>
              </a:rPr>
              <a:t> </a:t>
            </a:r>
            <a:r>
              <a:rPr lang="en-CA" b="0" i="0" dirty="0" err="1">
                <a:solidFill>
                  <a:srgbClr val="BFBFBF"/>
                </a:solidFill>
                <a:effectLst/>
                <a:latin typeface="Segoe WPC"/>
              </a:rPr>
              <a:t>générés</a:t>
            </a:r>
            <a:r>
              <a:rPr lang="en-CA" b="0" i="0" dirty="0">
                <a:solidFill>
                  <a:srgbClr val="BFBFBF"/>
                </a:solidFill>
                <a:effectLst/>
                <a:latin typeface="Segoe WPC"/>
              </a:rPr>
              <a:t> </a:t>
            </a:r>
            <a:r>
              <a:rPr lang="en-CA" b="0" i="0" dirty="0" err="1">
                <a:solidFill>
                  <a:srgbClr val="BFBFBF"/>
                </a:solidFill>
                <a:effectLst/>
                <a:latin typeface="Segoe WPC"/>
              </a:rPr>
              <a:t>en</a:t>
            </a:r>
            <a:r>
              <a:rPr lang="en-CA" b="0" i="0" dirty="0">
                <a:solidFill>
                  <a:srgbClr val="BFBFBF"/>
                </a:solidFill>
                <a:effectLst/>
                <a:latin typeface="Segoe WPC"/>
              </a:rPr>
              <a:t> </a:t>
            </a:r>
            <a:r>
              <a:rPr lang="en-CA" b="0" i="0" dirty="0">
                <a:solidFill>
                  <a:srgbClr val="8C8C8C"/>
                </a:solidFill>
                <a:effectLst/>
                <a:latin typeface="Consolas" panose="020B0609020204030204" pitchFamily="49" charset="0"/>
              </a:rPr>
              <a:t>bytes</a:t>
            </a:r>
            <a:r>
              <a:rPr lang="en-CA" b="0" i="0" dirty="0">
                <a:solidFill>
                  <a:srgbClr val="BFBFBF"/>
                </a:solidFill>
                <a:effectLst/>
                <a:latin typeface="Segoe WPC"/>
              </a:rPr>
              <a:t> </a:t>
            </a:r>
            <a:r>
              <a:rPr lang="en-CA" b="0" i="0" dirty="0" err="1">
                <a:solidFill>
                  <a:srgbClr val="BFBFBF"/>
                </a:solidFill>
                <a:effectLst/>
                <a:latin typeface="Segoe WPC"/>
              </a:rPr>
              <a:t>bruts</a:t>
            </a:r>
            <a:r>
              <a:rPr lang="en-CA" b="0" i="0" dirty="0">
                <a:solidFill>
                  <a:srgbClr val="BFBFBF"/>
                </a:solidFill>
                <a:effectLst/>
                <a:latin typeface="Segoe WPC"/>
              </a:rPr>
              <a:t> via </a:t>
            </a:r>
            <a:r>
              <a:rPr lang="en-CA" b="0" i="0" dirty="0" err="1">
                <a:solidFill>
                  <a:srgbClr val="8C8C8C"/>
                </a:solidFill>
                <a:effectLst/>
                <a:latin typeface="Consolas" panose="020B0609020204030204" pitchFamily="49" charset="0"/>
              </a:rPr>
              <a:t>os.urandom</a:t>
            </a:r>
            <a:r>
              <a:rPr lang="en-CA" b="0" i="0" dirty="0">
                <a:solidFill>
                  <a:srgbClr val="8C8C8C"/>
                </a:solidFill>
                <a:effectLst/>
                <a:latin typeface="Consolas" panose="020B0609020204030204" pitchFamily="49" charset="0"/>
              </a:rPr>
              <a:t>()</a:t>
            </a:r>
            <a:r>
              <a:rPr lang="en-CA" b="0" i="0" dirty="0">
                <a:solidFill>
                  <a:srgbClr val="BFBFBF"/>
                </a:solidFill>
                <a:effectLst/>
                <a:latin typeface="Segoe WPC"/>
              </a:rPr>
              <a:t> — </a:t>
            </a:r>
            <a:r>
              <a:rPr lang="en-CA" b="0" i="0" dirty="0" err="1">
                <a:solidFill>
                  <a:srgbClr val="BFBFBF"/>
                </a:solidFill>
                <a:effectLst/>
                <a:latin typeface="Segoe WPC"/>
              </a:rPr>
              <a:t>aucune</a:t>
            </a:r>
            <a:r>
              <a:rPr lang="en-CA" b="0" i="0" dirty="0">
                <a:solidFill>
                  <a:srgbClr val="BFBFBF"/>
                </a:solidFill>
                <a:effectLst/>
                <a:latin typeface="Segoe WPC"/>
              </a:rPr>
              <a:t> conversion str/</a:t>
            </a:r>
            <a:r>
              <a:rPr lang="en-CA" b="0" i="0" dirty="0" err="1">
                <a:solidFill>
                  <a:srgbClr val="BFBFBF"/>
                </a:solidFill>
                <a:effectLst/>
                <a:latin typeface="Segoe WPC"/>
              </a:rPr>
              <a:t>unicode</a:t>
            </a:r>
            <a:r>
              <a:rPr lang="en-CA" b="0" i="0" dirty="0">
                <a:solidFill>
                  <a:srgbClr val="BFBFBF"/>
                </a:solidFill>
                <a:effectLst/>
                <a:latin typeface="Segoe WPC"/>
              </a:rPr>
              <a:t>, </a:t>
            </a:r>
            <a:r>
              <a:rPr lang="en-CA" b="0" i="0" dirty="0" err="1">
                <a:solidFill>
                  <a:srgbClr val="BFBFBF"/>
                </a:solidFill>
                <a:effectLst/>
                <a:latin typeface="Segoe WPC"/>
              </a:rPr>
              <a:t>aucun</a:t>
            </a:r>
            <a:r>
              <a:rPr lang="en-CA" b="0" i="0" dirty="0">
                <a:solidFill>
                  <a:srgbClr val="BFBFBF"/>
                </a:solidFill>
                <a:effectLst/>
                <a:latin typeface="Segoe WPC"/>
              </a:rPr>
              <a:t> </a:t>
            </a:r>
            <a:r>
              <a:rPr lang="en-CA" b="0" i="0" dirty="0" err="1">
                <a:solidFill>
                  <a:srgbClr val="BFBFBF"/>
                </a:solidFill>
                <a:effectLst/>
                <a:latin typeface="Segoe WPC"/>
              </a:rPr>
              <a:t>biais</a:t>
            </a:r>
            <a:r>
              <a:rPr lang="en-CA" b="0" i="0" dirty="0">
                <a:solidFill>
                  <a:srgbClr val="BFBFBF"/>
                </a:solidFill>
                <a:effectLst/>
                <a:latin typeface="Segoe WPC"/>
              </a:rPr>
              <a:t> Linux/Windows possible.</a:t>
            </a:r>
          </a:p>
          <a:p>
            <a:pPr>
              <a:buNone/>
            </a:pPr>
            <a:br>
              <a:rPr lang="en-CA" dirty="0"/>
            </a:br>
            <a:endParaRPr lang="en-CA" dirty="0"/>
          </a:p>
        </p:txBody>
      </p:sp>
    </p:spTree>
    <p:extLst>
      <p:ext uri="{BB962C8B-B14F-4D97-AF65-F5344CB8AC3E}">
        <p14:creationId xmlns:p14="http://schemas.microsoft.com/office/powerpoint/2010/main" val="13881402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674C1-4F9F-E206-84AE-5D5645CB1683}"/>
              </a:ext>
            </a:extLst>
          </p:cNvPr>
          <p:cNvSpPr>
            <a:spLocks noGrp="1"/>
          </p:cNvSpPr>
          <p:nvPr>
            <p:ph type="title"/>
          </p:nvPr>
        </p:nvSpPr>
        <p:spPr/>
        <p:txBody>
          <a:bodyPr>
            <a:normAutofit fontScale="90000"/>
          </a:bodyPr>
          <a:lstStyle/>
          <a:p>
            <a:r>
              <a:rPr lang="en-CA" dirty="0"/>
              <a:t>Validation </a:t>
            </a:r>
            <a:r>
              <a:rPr lang="en-CA" dirty="0" err="1"/>
              <a:t>fonctionnelle</a:t>
            </a:r>
            <a:r>
              <a:rPr lang="en-CA" dirty="0"/>
              <a:t> — Known Answer Tests (KAT)</a:t>
            </a:r>
            <a:br>
              <a:rPr lang="en-CA" b="1" dirty="0"/>
            </a:br>
            <a:endParaRPr lang="en-CA" dirty="0"/>
          </a:p>
        </p:txBody>
      </p:sp>
      <p:sp>
        <p:nvSpPr>
          <p:cNvPr id="3" name="Content Placeholder 2">
            <a:extLst>
              <a:ext uri="{FF2B5EF4-FFF2-40B4-BE49-F238E27FC236}">
                <a16:creationId xmlns:a16="http://schemas.microsoft.com/office/drawing/2014/main" id="{3E20ECE4-FA3F-1A97-9A53-5ED85537E3A5}"/>
              </a:ext>
            </a:extLst>
          </p:cNvPr>
          <p:cNvSpPr>
            <a:spLocks noGrp="1"/>
          </p:cNvSpPr>
          <p:nvPr>
            <p:ph idx="1"/>
          </p:nvPr>
        </p:nvSpPr>
        <p:spPr>
          <a:xfrm>
            <a:off x="616132" y="1577431"/>
            <a:ext cx="10515600" cy="904512"/>
          </a:xfrm>
        </p:spPr>
        <p:txBody>
          <a:bodyPr/>
          <a:lstStyle/>
          <a:p>
            <a:r>
              <a:rPr lang="en-CA" dirty="0"/>
              <a:t>Avant toute </a:t>
            </a:r>
            <a:r>
              <a:rPr lang="en-CA" dirty="0" err="1"/>
              <a:t>mesure</a:t>
            </a:r>
            <a:r>
              <a:rPr lang="en-CA" dirty="0"/>
              <a:t> de performance : </a:t>
            </a:r>
            <a:r>
              <a:rPr lang="en-CA" dirty="0" err="1"/>
              <a:t>prouver</a:t>
            </a:r>
            <a:r>
              <a:rPr lang="en-CA" dirty="0"/>
              <a:t> </a:t>
            </a:r>
            <a:r>
              <a:rPr lang="en-CA" dirty="0" err="1"/>
              <a:t>que</a:t>
            </a:r>
            <a:r>
              <a:rPr lang="en-CA" dirty="0"/>
              <a:t> les </a:t>
            </a:r>
            <a:r>
              <a:rPr lang="en-CA" dirty="0" err="1"/>
              <a:t>implémentations</a:t>
            </a:r>
            <a:r>
              <a:rPr lang="en-CA" dirty="0"/>
              <a:t> </a:t>
            </a:r>
            <a:r>
              <a:rPr lang="en-CA" dirty="0" err="1"/>
              <a:t>sont</a:t>
            </a:r>
            <a:r>
              <a:rPr lang="en-CA" dirty="0"/>
              <a:t> </a:t>
            </a:r>
            <a:r>
              <a:rPr lang="en-CA" dirty="0" err="1"/>
              <a:t>correctes</a:t>
            </a:r>
            <a:r>
              <a:rPr lang="en-CA" dirty="0"/>
              <a:t>.</a:t>
            </a:r>
          </a:p>
        </p:txBody>
      </p:sp>
      <p:graphicFrame>
        <p:nvGraphicFramePr>
          <p:cNvPr id="4" name="Table 3">
            <a:extLst>
              <a:ext uri="{FF2B5EF4-FFF2-40B4-BE49-F238E27FC236}">
                <a16:creationId xmlns:a16="http://schemas.microsoft.com/office/drawing/2014/main" id="{342277AD-516C-28B2-3655-0DD06022A0FE}"/>
              </a:ext>
            </a:extLst>
          </p:cNvPr>
          <p:cNvGraphicFramePr>
            <a:graphicFrameLocks noGrp="1"/>
          </p:cNvGraphicFramePr>
          <p:nvPr>
            <p:extLst>
              <p:ext uri="{D42A27DB-BD31-4B8C-83A1-F6EECF244321}">
                <p14:modId xmlns:p14="http://schemas.microsoft.com/office/powerpoint/2010/main" val="1679591918"/>
              </p:ext>
            </p:extLst>
          </p:nvPr>
        </p:nvGraphicFramePr>
        <p:xfrm>
          <a:off x="733697" y="2520769"/>
          <a:ext cx="10515600" cy="234696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3145792122"/>
                    </a:ext>
                  </a:extLst>
                </a:gridCol>
                <a:gridCol w="2628900">
                  <a:extLst>
                    <a:ext uri="{9D8B030D-6E8A-4147-A177-3AD203B41FA5}">
                      <a16:colId xmlns:a16="http://schemas.microsoft.com/office/drawing/2014/main" val="1759641443"/>
                    </a:ext>
                  </a:extLst>
                </a:gridCol>
                <a:gridCol w="2628900">
                  <a:extLst>
                    <a:ext uri="{9D8B030D-6E8A-4147-A177-3AD203B41FA5}">
                      <a16:colId xmlns:a16="http://schemas.microsoft.com/office/drawing/2014/main" val="2932206818"/>
                    </a:ext>
                  </a:extLst>
                </a:gridCol>
                <a:gridCol w="2628900">
                  <a:extLst>
                    <a:ext uri="{9D8B030D-6E8A-4147-A177-3AD203B41FA5}">
                      <a16:colId xmlns:a16="http://schemas.microsoft.com/office/drawing/2014/main" val="2435133729"/>
                    </a:ext>
                  </a:extLst>
                </a:gridCol>
              </a:tblGrid>
              <a:tr h="0">
                <a:tc>
                  <a:txBody>
                    <a:bodyPr/>
                    <a:lstStyle/>
                    <a:p>
                      <a:pPr>
                        <a:buNone/>
                      </a:pPr>
                      <a:r>
                        <a:rPr lang="en-CA">
                          <a:effectLst/>
                        </a:rPr>
                        <a:t>Algorithme</a:t>
                      </a:r>
                    </a:p>
                  </a:txBody>
                  <a:tcPr marL="45720" marR="45720" marT="30480" marB="30480" anchor="ctr"/>
                </a:tc>
                <a:tc>
                  <a:txBody>
                    <a:bodyPr/>
                    <a:lstStyle/>
                    <a:p>
                      <a:pPr>
                        <a:buNone/>
                      </a:pPr>
                      <a:r>
                        <a:rPr lang="en-CA">
                          <a:effectLst/>
                        </a:rPr>
                        <a:t>Mode</a:t>
                      </a:r>
                    </a:p>
                  </a:txBody>
                  <a:tcPr marL="45720" marR="45720" marT="30480" marB="30480" anchor="ctr"/>
                </a:tc>
                <a:tc>
                  <a:txBody>
                    <a:bodyPr/>
                    <a:lstStyle/>
                    <a:p>
                      <a:pPr>
                        <a:buNone/>
                      </a:pPr>
                      <a:r>
                        <a:rPr lang="en-CA">
                          <a:effectLst/>
                        </a:rPr>
                        <a:t>Vecteur NIST</a:t>
                      </a:r>
                    </a:p>
                  </a:txBody>
                  <a:tcPr marL="45720" marR="45720" marT="30480" marB="30480" anchor="ctr"/>
                </a:tc>
                <a:tc>
                  <a:txBody>
                    <a:bodyPr/>
                    <a:lstStyle/>
                    <a:p>
                      <a:pPr>
                        <a:buNone/>
                      </a:pPr>
                      <a:r>
                        <a:rPr lang="en-CA">
                          <a:effectLst/>
                        </a:rPr>
                        <a:t>Statut</a:t>
                      </a:r>
                    </a:p>
                  </a:txBody>
                  <a:tcPr marL="45720" marR="45720" marT="30480" marB="30480" anchor="ctr"/>
                </a:tc>
                <a:extLst>
                  <a:ext uri="{0D108BD9-81ED-4DB2-BD59-A6C34878D82A}">
                    <a16:rowId xmlns:a16="http://schemas.microsoft.com/office/drawing/2014/main" val="1291931119"/>
                  </a:ext>
                </a:extLst>
              </a:tr>
              <a:tr h="0">
                <a:tc>
                  <a:txBody>
                    <a:bodyPr/>
                    <a:lstStyle/>
                    <a:p>
                      <a:pPr>
                        <a:buNone/>
                      </a:pPr>
                      <a:r>
                        <a:rPr lang="en-CA">
                          <a:effectLst/>
                        </a:rPr>
                        <a:t>AES-128</a:t>
                      </a:r>
                    </a:p>
                  </a:txBody>
                  <a:tcPr marL="45720" marR="45720" marT="30480" marB="30480" anchor="ctr"/>
                </a:tc>
                <a:tc>
                  <a:txBody>
                    <a:bodyPr/>
                    <a:lstStyle/>
                    <a:p>
                      <a:pPr>
                        <a:buNone/>
                      </a:pPr>
                      <a:r>
                        <a:rPr lang="en-CA">
                          <a:effectLst/>
                        </a:rPr>
                        <a:t>ECB</a:t>
                      </a:r>
                    </a:p>
                  </a:txBody>
                  <a:tcPr marL="45720" marR="45720" marT="30480" marB="30480" anchor="ctr"/>
                </a:tc>
                <a:tc>
                  <a:txBody>
                    <a:bodyPr/>
                    <a:lstStyle/>
                    <a:p>
                      <a:pPr>
                        <a:buNone/>
                      </a:pPr>
                      <a:r>
                        <a:rPr lang="en-CA" dirty="0">
                          <a:effectLst/>
                        </a:rPr>
                        <a:t>NIST FIPS 197</a:t>
                      </a:r>
                    </a:p>
                  </a:txBody>
                  <a:tcPr marL="45720" marR="45720" marT="30480" marB="30480" anchor="ctr"/>
                </a:tc>
                <a:tc>
                  <a:txBody>
                    <a:bodyPr/>
                    <a:lstStyle/>
                    <a:p>
                      <a:pPr>
                        <a:buNone/>
                      </a:pPr>
                      <a:r>
                        <a:rPr lang="en-CA">
                          <a:effectLst/>
                        </a:rPr>
                        <a:t>✅ PASS</a:t>
                      </a:r>
                    </a:p>
                  </a:txBody>
                  <a:tcPr marL="45720" marR="45720" marT="30480" marB="30480" anchor="ctr"/>
                </a:tc>
                <a:extLst>
                  <a:ext uri="{0D108BD9-81ED-4DB2-BD59-A6C34878D82A}">
                    <a16:rowId xmlns:a16="http://schemas.microsoft.com/office/drawing/2014/main" val="3584950836"/>
                  </a:ext>
                </a:extLst>
              </a:tr>
              <a:tr h="0">
                <a:tc>
                  <a:txBody>
                    <a:bodyPr/>
                    <a:lstStyle/>
                    <a:p>
                      <a:pPr>
                        <a:buNone/>
                      </a:pPr>
                      <a:r>
                        <a:rPr lang="en-CA">
                          <a:effectLst/>
                        </a:rPr>
                        <a:t>AES-256</a:t>
                      </a:r>
                    </a:p>
                  </a:txBody>
                  <a:tcPr marL="45720" marR="45720" marT="30480" marB="30480" anchor="ctr"/>
                </a:tc>
                <a:tc>
                  <a:txBody>
                    <a:bodyPr/>
                    <a:lstStyle/>
                    <a:p>
                      <a:pPr>
                        <a:buNone/>
                      </a:pPr>
                      <a:r>
                        <a:rPr lang="en-CA">
                          <a:effectLst/>
                        </a:rPr>
                        <a:t>GCM</a:t>
                      </a:r>
                    </a:p>
                  </a:txBody>
                  <a:tcPr marL="45720" marR="45720" marT="30480" marB="30480" anchor="ctr"/>
                </a:tc>
                <a:tc>
                  <a:txBody>
                    <a:bodyPr/>
                    <a:lstStyle/>
                    <a:p>
                      <a:pPr>
                        <a:buNone/>
                      </a:pPr>
                      <a:r>
                        <a:rPr lang="en-CA">
                          <a:effectLst/>
                        </a:rPr>
                        <a:t>NIST SP 800-38D</a:t>
                      </a:r>
                    </a:p>
                  </a:txBody>
                  <a:tcPr marL="45720" marR="45720" marT="30480" marB="30480" anchor="ctr"/>
                </a:tc>
                <a:tc>
                  <a:txBody>
                    <a:bodyPr/>
                    <a:lstStyle/>
                    <a:p>
                      <a:pPr>
                        <a:buNone/>
                      </a:pPr>
                      <a:r>
                        <a:rPr lang="en-CA">
                          <a:effectLst/>
                        </a:rPr>
                        <a:t>✅ PASS</a:t>
                      </a:r>
                    </a:p>
                  </a:txBody>
                  <a:tcPr marL="45720" marR="45720" marT="30480" marB="30480" anchor="ctr"/>
                </a:tc>
                <a:extLst>
                  <a:ext uri="{0D108BD9-81ED-4DB2-BD59-A6C34878D82A}">
                    <a16:rowId xmlns:a16="http://schemas.microsoft.com/office/drawing/2014/main" val="3756950384"/>
                  </a:ext>
                </a:extLst>
              </a:tr>
              <a:tr h="0">
                <a:tc>
                  <a:txBody>
                    <a:bodyPr/>
                    <a:lstStyle/>
                    <a:p>
                      <a:pPr>
                        <a:buNone/>
                      </a:pPr>
                      <a:r>
                        <a:rPr lang="en-CA">
                          <a:effectLst/>
                        </a:rPr>
                        <a:t>DES</a:t>
                      </a:r>
                    </a:p>
                  </a:txBody>
                  <a:tcPr marL="45720" marR="45720" marT="30480" marB="30480" anchor="ctr"/>
                </a:tc>
                <a:tc>
                  <a:txBody>
                    <a:bodyPr/>
                    <a:lstStyle/>
                    <a:p>
                      <a:pPr>
                        <a:buNone/>
                      </a:pPr>
                      <a:r>
                        <a:rPr lang="en-CA">
                          <a:effectLst/>
                        </a:rPr>
                        <a:t>ECB</a:t>
                      </a:r>
                    </a:p>
                  </a:txBody>
                  <a:tcPr marL="45720" marR="45720" marT="30480" marB="30480" anchor="ctr"/>
                </a:tc>
                <a:tc>
                  <a:txBody>
                    <a:bodyPr/>
                    <a:lstStyle/>
                    <a:p>
                      <a:pPr>
                        <a:buNone/>
                      </a:pPr>
                      <a:r>
                        <a:rPr lang="en-CA">
                          <a:effectLst/>
                        </a:rPr>
                        <a:t>NIST SP 800-67</a:t>
                      </a:r>
                    </a:p>
                  </a:txBody>
                  <a:tcPr marL="45720" marR="45720" marT="30480" marB="30480" anchor="ctr"/>
                </a:tc>
                <a:tc>
                  <a:txBody>
                    <a:bodyPr/>
                    <a:lstStyle/>
                    <a:p>
                      <a:pPr>
                        <a:buNone/>
                      </a:pPr>
                      <a:r>
                        <a:rPr lang="en-CA">
                          <a:effectLst/>
                        </a:rPr>
                        <a:t>✅ PASS</a:t>
                      </a:r>
                    </a:p>
                  </a:txBody>
                  <a:tcPr marL="45720" marR="45720" marT="30480" marB="30480" anchor="ctr"/>
                </a:tc>
                <a:extLst>
                  <a:ext uri="{0D108BD9-81ED-4DB2-BD59-A6C34878D82A}">
                    <a16:rowId xmlns:a16="http://schemas.microsoft.com/office/drawing/2014/main" val="3033466435"/>
                  </a:ext>
                </a:extLst>
              </a:tr>
              <a:tr h="0">
                <a:tc>
                  <a:txBody>
                    <a:bodyPr/>
                    <a:lstStyle/>
                    <a:p>
                      <a:pPr>
                        <a:buNone/>
                      </a:pPr>
                      <a:r>
                        <a:rPr lang="en-CA">
                          <a:effectLst/>
                        </a:rPr>
                        <a:t>3DES</a:t>
                      </a:r>
                    </a:p>
                  </a:txBody>
                  <a:tcPr marL="45720" marR="45720" marT="30480" marB="30480" anchor="ctr"/>
                </a:tc>
                <a:tc>
                  <a:txBody>
                    <a:bodyPr/>
                    <a:lstStyle/>
                    <a:p>
                      <a:pPr>
                        <a:buNone/>
                      </a:pPr>
                      <a:r>
                        <a:rPr lang="en-CA">
                          <a:effectLst/>
                        </a:rPr>
                        <a:t>ECB/CBC</a:t>
                      </a:r>
                    </a:p>
                  </a:txBody>
                  <a:tcPr marL="45720" marR="45720" marT="30480" marB="30480" anchor="ctr"/>
                </a:tc>
                <a:tc>
                  <a:txBody>
                    <a:bodyPr/>
                    <a:lstStyle/>
                    <a:p>
                      <a:pPr>
                        <a:buNone/>
                      </a:pPr>
                      <a:r>
                        <a:rPr lang="en-CA">
                          <a:effectLst/>
                        </a:rPr>
                        <a:t>NIST SP 800-67</a:t>
                      </a:r>
                    </a:p>
                  </a:txBody>
                  <a:tcPr marL="45720" marR="45720" marT="30480" marB="30480" anchor="ctr"/>
                </a:tc>
                <a:tc>
                  <a:txBody>
                    <a:bodyPr/>
                    <a:lstStyle/>
                    <a:p>
                      <a:pPr>
                        <a:buNone/>
                      </a:pPr>
                      <a:r>
                        <a:rPr lang="en-CA">
                          <a:effectLst/>
                        </a:rPr>
                        <a:t>✅ PASS</a:t>
                      </a:r>
                    </a:p>
                  </a:txBody>
                  <a:tcPr marL="45720" marR="45720" marT="30480" marB="30480" anchor="ctr"/>
                </a:tc>
                <a:extLst>
                  <a:ext uri="{0D108BD9-81ED-4DB2-BD59-A6C34878D82A}">
                    <a16:rowId xmlns:a16="http://schemas.microsoft.com/office/drawing/2014/main" val="4177202097"/>
                  </a:ext>
                </a:extLst>
              </a:tr>
              <a:tr h="0">
                <a:tc>
                  <a:txBody>
                    <a:bodyPr/>
                    <a:lstStyle/>
                    <a:p>
                      <a:pPr>
                        <a:buNone/>
                      </a:pPr>
                      <a:r>
                        <a:rPr lang="en-CA">
                          <a:effectLst/>
                        </a:rPr>
                        <a:t>ChaCha20</a:t>
                      </a:r>
                    </a:p>
                  </a:txBody>
                  <a:tcPr marL="45720" marR="45720" marT="30480" marB="30480" anchor="ctr"/>
                </a:tc>
                <a:tc>
                  <a:txBody>
                    <a:bodyPr/>
                    <a:lstStyle/>
                    <a:p>
                      <a:pPr>
                        <a:buNone/>
                      </a:pPr>
                      <a:r>
                        <a:rPr lang="en-CA">
                          <a:effectLst/>
                        </a:rPr>
                        <a:t>Stream</a:t>
                      </a:r>
                    </a:p>
                  </a:txBody>
                  <a:tcPr marL="45720" marR="45720" marT="30480" marB="30480" anchor="ctr"/>
                </a:tc>
                <a:tc>
                  <a:txBody>
                    <a:bodyPr/>
                    <a:lstStyle/>
                    <a:p>
                      <a:pPr>
                        <a:buNone/>
                      </a:pPr>
                      <a:r>
                        <a:rPr lang="en-CA">
                          <a:effectLst/>
                        </a:rPr>
                        <a:t>RFC 7539</a:t>
                      </a:r>
                    </a:p>
                  </a:txBody>
                  <a:tcPr marL="45720" marR="45720" marT="30480" marB="30480" anchor="ctr"/>
                </a:tc>
                <a:tc>
                  <a:txBody>
                    <a:bodyPr/>
                    <a:lstStyle/>
                    <a:p>
                      <a:pPr>
                        <a:buNone/>
                      </a:pPr>
                      <a:r>
                        <a:rPr lang="en-CA">
                          <a:effectLst/>
                        </a:rPr>
                        <a:t>✅ PASS</a:t>
                      </a:r>
                    </a:p>
                  </a:txBody>
                  <a:tcPr marL="45720" marR="45720" marT="30480" marB="30480" anchor="ctr"/>
                </a:tc>
                <a:extLst>
                  <a:ext uri="{0D108BD9-81ED-4DB2-BD59-A6C34878D82A}">
                    <a16:rowId xmlns:a16="http://schemas.microsoft.com/office/drawing/2014/main" val="1823986964"/>
                  </a:ext>
                </a:extLst>
              </a:tr>
              <a:tr h="0">
                <a:tc>
                  <a:txBody>
                    <a:bodyPr/>
                    <a:lstStyle/>
                    <a:p>
                      <a:pPr>
                        <a:buNone/>
                      </a:pPr>
                      <a:r>
                        <a:rPr lang="en-CA">
                          <a:effectLst/>
                        </a:rPr>
                        <a:t>AES</a:t>
                      </a:r>
                    </a:p>
                  </a:txBody>
                  <a:tcPr marL="45720" marR="45720" marT="30480" marB="30480" anchor="ctr"/>
                </a:tc>
                <a:tc>
                  <a:txBody>
                    <a:bodyPr/>
                    <a:lstStyle/>
                    <a:p>
                      <a:pPr>
                        <a:buNone/>
                      </a:pPr>
                      <a:r>
                        <a:rPr lang="en-CA">
                          <a:effectLst/>
                        </a:rPr>
                        <a:t>CBC/CTR</a:t>
                      </a:r>
                    </a:p>
                  </a:txBody>
                  <a:tcPr marL="45720" marR="45720" marT="30480" marB="30480" anchor="ctr"/>
                </a:tc>
                <a:tc>
                  <a:txBody>
                    <a:bodyPr/>
                    <a:lstStyle/>
                    <a:p>
                      <a:pPr>
                        <a:buNone/>
                      </a:pPr>
                      <a:r>
                        <a:rPr lang="en-CA">
                          <a:effectLst/>
                        </a:rPr>
                        <a:t>NIST SP 800-38A</a:t>
                      </a:r>
                    </a:p>
                  </a:txBody>
                  <a:tcPr marL="45720" marR="45720" marT="30480" marB="30480" anchor="ctr"/>
                </a:tc>
                <a:tc>
                  <a:txBody>
                    <a:bodyPr/>
                    <a:lstStyle/>
                    <a:p>
                      <a:pPr>
                        <a:buNone/>
                      </a:pPr>
                      <a:r>
                        <a:rPr lang="en-CA" dirty="0">
                          <a:effectLst/>
                        </a:rPr>
                        <a:t>✅ PASS</a:t>
                      </a:r>
                    </a:p>
                  </a:txBody>
                  <a:tcPr marL="45720" marR="45720" marT="30480" marB="30480" anchor="ctr"/>
                </a:tc>
                <a:extLst>
                  <a:ext uri="{0D108BD9-81ED-4DB2-BD59-A6C34878D82A}">
                    <a16:rowId xmlns:a16="http://schemas.microsoft.com/office/drawing/2014/main" val="11881549"/>
                  </a:ext>
                </a:extLst>
              </a:tr>
            </a:tbl>
          </a:graphicData>
        </a:graphic>
      </p:graphicFrame>
      <p:sp>
        <p:nvSpPr>
          <p:cNvPr id="6" name="TextBox 5">
            <a:extLst>
              <a:ext uri="{FF2B5EF4-FFF2-40B4-BE49-F238E27FC236}">
                <a16:creationId xmlns:a16="http://schemas.microsoft.com/office/drawing/2014/main" id="{B28D4DFE-C947-AF0D-6CD2-6F9FD0F858E3}"/>
              </a:ext>
            </a:extLst>
          </p:cNvPr>
          <p:cNvSpPr txBox="1"/>
          <p:nvPr/>
        </p:nvSpPr>
        <p:spPr>
          <a:xfrm>
            <a:off x="382090" y="5142300"/>
            <a:ext cx="11439796" cy="646331"/>
          </a:xfrm>
          <a:prstGeom prst="rect">
            <a:avLst/>
          </a:prstGeom>
          <a:noFill/>
        </p:spPr>
        <p:txBody>
          <a:bodyPr wrap="square">
            <a:spAutoFit/>
          </a:bodyPr>
          <a:lstStyle/>
          <a:p>
            <a:r>
              <a:rPr lang="en-CA" b="0" i="0" dirty="0" err="1">
                <a:solidFill>
                  <a:srgbClr val="BFBFBF"/>
                </a:solidFill>
                <a:effectLst/>
                <a:latin typeface="Segoe WPC"/>
              </a:rPr>
              <a:t>Toutes</a:t>
            </a:r>
            <a:r>
              <a:rPr lang="en-CA" b="0" i="0" dirty="0">
                <a:solidFill>
                  <a:srgbClr val="BFBFBF"/>
                </a:solidFill>
                <a:effectLst/>
                <a:latin typeface="Segoe WPC"/>
              </a:rPr>
              <a:t> les </a:t>
            </a:r>
            <a:r>
              <a:rPr lang="en-CA" b="0" i="0" dirty="0" err="1">
                <a:solidFill>
                  <a:srgbClr val="BFBFBF"/>
                </a:solidFill>
                <a:effectLst/>
                <a:latin typeface="Segoe WPC"/>
              </a:rPr>
              <a:t>implémentations</a:t>
            </a:r>
            <a:r>
              <a:rPr lang="en-CA" b="0" i="0" dirty="0">
                <a:solidFill>
                  <a:srgbClr val="BFBFBF"/>
                </a:solidFill>
                <a:effectLst/>
                <a:latin typeface="Segoe WPC"/>
              </a:rPr>
              <a:t> </a:t>
            </a:r>
            <a:r>
              <a:rPr lang="en-CA" b="0" i="0" dirty="0" err="1">
                <a:solidFill>
                  <a:srgbClr val="BFBFBF"/>
                </a:solidFill>
                <a:effectLst/>
                <a:latin typeface="Segoe WPC"/>
              </a:rPr>
              <a:t>produisent</a:t>
            </a:r>
            <a:r>
              <a:rPr lang="en-CA" b="0" i="0" dirty="0">
                <a:solidFill>
                  <a:srgbClr val="BFBFBF"/>
                </a:solidFill>
                <a:effectLst/>
                <a:latin typeface="Segoe WPC"/>
              </a:rPr>
              <a:t> les sorties </a:t>
            </a:r>
            <a:r>
              <a:rPr lang="en-CA" b="0" i="0" dirty="0" err="1">
                <a:solidFill>
                  <a:srgbClr val="BFBFBF"/>
                </a:solidFill>
                <a:effectLst/>
                <a:latin typeface="Segoe WPC"/>
              </a:rPr>
              <a:t>exactes</a:t>
            </a:r>
            <a:r>
              <a:rPr lang="en-CA" b="0" i="0" dirty="0">
                <a:solidFill>
                  <a:srgbClr val="BFBFBF"/>
                </a:solidFill>
                <a:effectLst/>
                <a:latin typeface="Segoe WPC"/>
              </a:rPr>
              <a:t> </a:t>
            </a:r>
            <a:r>
              <a:rPr lang="en-CA" b="0" i="0" dirty="0" err="1">
                <a:solidFill>
                  <a:srgbClr val="BFBFBF"/>
                </a:solidFill>
                <a:effectLst/>
                <a:latin typeface="Segoe WPC"/>
              </a:rPr>
              <a:t>attendues</a:t>
            </a:r>
            <a:r>
              <a:rPr lang="en-CA" b="0" i="0" dirty="0">
                <a:solidFill>
                  <a:srgbClr val="BFBFBF"/>
                </a:solidFill>
                <a:effectLst/>
                <a:latin typeface="Segoe WPC"/>
              </a:rPr>
              <a:t> par les standards — les </a:t>
            </a:r>
            <a:r>
              <a:rPr lang="en-CA" b="0" i="0" dirty="0" err="1">
                <a:solidFill>
                  <a:srgbClr val="BFBFBF"/>
                </a:solidFill>
                <a:effectLst/>
                <a:latin typeface="Segoe WPC"/>
              </a:rPr>
              <a:t>résultats</a:t>
            </a:r>
            <a:r>
              <a:rPr lang="en-CA" b="0" i="0" dirty="0">
                <a:solidFill>
                  <a:srgbClr val="BFBFBF"/>
                </a:solidFill>
                <a:effectLst/>
                <a:latin typeface="Segoe WPC"/>
              </a:rPr>
              <a:t> de performance qui </a:t>
            </a:r>
            <a:r>
              <a:rPr lang="en-CA" b="0" i="0" dirty="0" err="1">
                <a:solidFill>
                  <a:srgbClr val="BFBFBF"/>
                </a:solidFill>
                <a:effectLst/>
                <a:latin typeface="Segoe WPC"/>
              </a:rPr>
              <a:t>suivent</a:t>
            </a:r>
            <a:r>
              <a:rPr lang="en-CA" b="0" i="0" dirty="0">
                <a:solidFill>
                  <a:srgbClr val="BFBFBF"/>
                </a:solidFill>
                <a:effectLst/>
                <a:latin typeface="Segoe WPC"/>
              </a:rPr>
              <a:t> </a:t>
            </a:r>
            <a:r>
              <a:rPr lang="en-CA" b="0" i="0" dirty="0" err="1">
                <a:solidFill>
                  <a:srgbClr val="BFBFBF"/>
                </a:solidFill>
                <a:effectLst/>
                <a:latin typeface="Segoe WPC"/>
              </a:rPr>
              <a:t>sont</a:t>
            </a:r>
            <a:r>
              <a:rPr lang="en-CA" b="0" i="0" dirty="0">
                <a:solidFill>
                  <a:srgbClr val="BFBFBF"/>
                </a:solidFill>
                <a:effectLst/>
                <a:latin typeface="Segoe WPC"/>
              </a:rPr>
              <a:t> </a:t>
            </a:r>
            <a:r>
              <a:rPr lang="en-CA" b="0" i="0" dirty="0" err="1">
                <a:solidFill>
                  <a:srgbClr val="BFBFBF"/>
                </a:solidFill>
                <a:effectLst/>
                <a:latin typeface="Segoe WPC"/>
              </a:rPr>
              <a:t>fiables</a:t>
            </a:r>
            <a:r>
              <a:rPr lang="en-CA" b="0" i="0" dirty="0">
                <a:solidFill>
                  <a:srgbClr val="BFBFBF"/>
                </a:solidFill>
                <a:effectLst/>
                <a:latin typeface="Segoe WPC"/>
              </a:rPr>
              <a:t>.</a:t>
            </a:r>
            <a:endParaRPr lang="en-CA" dirty="0"/>
          </a:p>
        </p:txBody>
      </p:sp>
    </p:spTree>
    <p:extLst>
      <p:ext uri="{BB962C8B-B14F-4D97-AF65-F5344CB8AC3E}">
        <p14:creationId xmlns:p14="http://schemas.microsoft.com/office/powerpoint/2010/main" val="147823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EE719-87F4-AB27-2F2A-8A3813F33F62}"/>
              </a:ext>
            </a:extLst>
          </p:cNvPr>
          <p:cNvSpPr>
            <a:spLocks noGrp="1"/>
          </p:cNvSpPr>
          <p:nvPr>
            <p:ph type="title"/>
          </p:nvPr>
        </p:nvSpPr>
        <p:spPr/>
        <p:txBody>
          <a:bodyPr/>
          <a:lstStyle/>
          <a:p>
            <a:r>
              <a:rPr lang="en-CA" dirty="0"/>
              <a:t>AES — Advanced Encryption Standard</a:t>
            </a:r>
          </a:p>
        </p:txBody>
      </p:sp>
      <p:sp>
        <p:nvSpPr>
          <p:cNvPr id="3" name="Content Placeholder 2">
            <a:extLst>
              <a:ext uri="{FF2B5EF4-FFF2-40B4-BE49-F238E27FC236}">
                <a16:creationId xmlns:a16="http://schemas.microsoft.com/office/drawing/2014/main" id="{EC6E484E-14DE-1153-8624-222DEB483CF8}"/>
              </a:ext>
            </a:extLst>
          </p:cNvPr>
          <p:cNvSpPr>
            <a:spLocks noGrp="1"/>
          </p:cNvSpPr>
          <p:nvPr>
            <p:ph idx="1"/>
          </p:nvPr>
        </p:nvSpPr>
        <p:spPr>
          <a:xfrm>
            <a:off x="8281850" y="1979204"/>
            <a:ext cx="3383281" cy="4351338"/>
          </a:xfrm>
        </p:spPr>
        <p:txBody>
          <a:bodyPr>
            <a:normAutofit/>
          </a:bodyPr>
          <a:lstStyle/>
          <a:p>
            <a:pPr marL="0" indent="0">
              <a:buNone/>
            </a:pPr>
            <a:r>
              <a:rPr lang="en-CA" sz="2000" b="1" dirty="0"/>
              <a:t>AES-NI callout box (highlighted, distinct color):</a:t>
            </a:r>
          </a:p>
          <a:p>
            <a:pPr marL="0" indent="0">
              <a:buNone/>
            </a:pPr>
            <a:r>
              <a:rPr lang="en-CA" sz="2000" b="1" dirty="0"/>
              <a:t>AES-NI (x86)</a:t>
            </a:r>
            <a:br>
              <a:rPr lang="en-CA" sz="2000" dirty="0"/>
            </a:br>
            <a:r>
              <a:rPr lang="en-CA" sz="2000" dirty="0"/>
              <a:t>Instructions </a:t>
            </a:r>
            <a:r>
              <a:rPr lang="en-CA" sz="2000" dirty="0" err="1"/>
              <a:t>matérielles</a:t>
            </a:r>
            <a:r>
              <a:rPr lang="en-CA" sz="2000" dirty="0"/>
              <a:t> Intel/AMD </a:t>
            </a:r>
            <a:r>
              <a:rPr lang="en-CA" sz="2000" dirty="0" err="1"/>
              <a:t>depuis</a:t>
            </a:r>
            <a:r>
              <a:rPr lang="en-CA" sz="2000" dirty="0"/>
              <a:t> 2010</a:t>
            </a:r>
            <a:br>
              <a:rPr lang="en-CA" sz="2000" dirty="0"/>
            </a:br>
            <a:r>
              <a:rPr lang="en-CA" sz="2000" dirty="0"/>
              <a:t>1 tour AES = 1 cycle CPU</a:t>
            </a:r>
            <a:br>
              <a:rPr lang="en-CA" sz="2000" dirty="0"/>
            </a:br>
            <a:r>
              <a:rPr lang="en-CA" sz="2000" dirty="0"/>
              <a:t>→ </a:t>
            </a:r>
            <a:r>
              <a:rPr lang="en-CA" sz="2000" dirty="0" err="1"/>
              <a:t>C'est</a:t>
            </a:r>
            <a:r>
              <a:rPr lang="en-CA" sz="2000" dirty="0"/>
              <a:t> </a:t>
            </a:r>
            <a:r>
              <a:rPr lang="en-CA" sz="2000" dirty="0" err="1"/>
              <a:t>pourquoi</a:t>
            </a:r>
            <a:r>
              <a:rPr lang="en-CA" sz="2000" dirty="0"/>
              <a:t> x86 est </a:t>
            </a:r>
            <a:r>
              <a:rPr lang="en-CA" sz="2000" b="1" dirty="0"/>
              <a:t>5.58× plus </a:t>
            </a:r>
            <a:r>
              <a:rPr lang="en-CA" sz="2000" b="1" dirty="0" err="1"/>
              <a:t>rapide</a:t>
            </a:r>
            <a:r>
              <a:rPr lang="en-CA" sz="2000" dirty="0"/>
              <a:t> </a:t>
            </a:r>
            <a:r>
              <a:rPr lang="en-CA" sz="2000" dirty="0" err="1"/>
              <a:t>que</a:t>
            </a:r>
            <a:r>
              <a:rPr lang="en-CA" sz="2000" dirty="0"/>
              <a:t> le Pi</a:t>
            </a:r>
          </a:p>
        </p:txBody>
      </p:sp>
      <p:sp>
        <p:nvSpPr>
          <p:cNvPr id="5" name="TextBox 4">
            <a:extLst>
              <a:ext uri="{FF2B5EF4-FFF2-40B4-BE49-F238E27FC236}">
                <a16:creationId xmlns:a16="http://schemas.microsoft.com/office/drawing/2014/main" id="{DDA9D5C9-7B5D-F6C6-3BF5-00D2D8A10688}"/>
              </a:ext>
            </a:extLst>
          </p:cNvPr>
          <p:cNvSpPr txBox="1"/>
          <p:nvPr/>
        </p:nvSpPr>
        <p:spPr>
          <a:xfrm>
            <a:off x="342901" y="1982379"/>
            <a:ext cx="3049088" cy="3562514"/>
          </a:xfrm>
          <a:prstGeom prst="rect">
            <a:avLst/>
          </a:prstGeom>
          <a:noFill/>
        </p:spPr>
        <p:txBody>
          <a:bodyPr wrap="square">
            <a:spAutoFit/>
          </a:bodyPr>
          <a:lstStyle/>
          <a:p>
            <a:pPr algn="l">
              <a:spcAft>
                <a:spcPts val="1200"/>
              </a:spcAft>
              <a:buNone/>
            </a:pPr>
            <a:r>
              <a:rPr lang="en-CA" b="1" i="0" dirty="0">
                <a:solidFill>
                  <a:srgbClr val="BFBFBF"/>
                </a:solidFill>
                <a:effectLst/>
                <a:latin typeface="Segoe WPC"/>
              </a:rPr>
              <a:t>4 key facts (bullets):</a:t>
            </a:r>
            <a:endParaRPr lang="en-CA" b="0" i="0" dirty="0">
              <a:solidFill>
                <a:srgbClr val="BFBFBF"/>
              </a:solidFill>
              <a:effectLst/>
              <a:latin typeface="Segoe WPC"/>
            </a:endParaRPr>
          </a:p>
          <a:p>
            <a:pPr algn="l">
              <a:spcBef>
                <a:spcPts val="300"/>
              </a:spcBef>
              <a:spcAft>
                <a:spcPts val="300"/>
              </a:spcAft>
              <a:buFont typeface="Arial" panose="020B0604020202020204" pitchFamily="34" charset="0"/>
              <a:buChar char="•"/>
            </a:pPr>
            <a:r>
              <a:rPr lang="en-CA" b="0" i="0" dirty="0" err="1">
                <a:solidFill>
                  <a:srgbClr val="BFBFBF"/>
                </a:solidFill>
                <a:effectLst/>
                <a:latin typeface="Segoe WPC"/>
              </a:rPr>
              <a:t>Chiffrement</a:t>
            </a:r>
            <a:r>
              <a:rPr lang="en-CA" b="0" i="0" dirty="0">
                <a:solidFill>
                  <a:srgbClr val="BFBFBF"/>
                </a:solidFill>
                <a:effectLst/>
                <a:latin typeface="Segoe WPC"/>
              </a:rPr>
              <a:t> par </a:t>
            </a:r>
            <a:r>
              <a:rPr lang="en-CA" b="1" i="0" dirty="0">
                <a:solidFill>
                  <a:srgbClr val="BFBFBF"/>
                </a:solidFill>
                <a:effectLst/>
                <a:latin typeface="Segoe WPC"/>
              </a:rPr>
              <a:t>blocs de 128 bits</a:t>
            </a:r>
            <a:endParaRPr lang="en-CA" b="0" i="0" dirty="0">
              <a:solidFill>
                <a:srgbClr val="BFBFBF"/>
              </a:solidFill>
              <a:effectLst/>
              <a:latin typeface="Segoe WPC"/>
            </a:endParaRPr>
          </a:p>
          <a:p>
            <a:pPr algn="l">
              <a:spcBef>
                <a:spcPts val="300"/>
              </a:spcBef>
              <a:spcAft>
                <a:spcPts val="300"/>
              </a:spcAft>
              <a:buFont typeface="Arial" panose="020B0604020202020204" pitchFamily="34" charset="0"/>
              <a:buChar char="•"/>
            </a:pPr>
            <a:r>
              <a:rPr lang="en-CA" b="0" i="0" dirty="0" err="1">
                <a:solidFill>
                  <a:srgbClr val="BFBFBF"/>
                </a:solidFill>
                <a:effectLst/>
                <a:latin typeface="Segoe WPC"/>
              </a:rPr>
              <a:t>Clés</a:t>
            </a:r>
            <a:r>
              <a:rPr lang="en-CA" b="0" i="0" dirty="0">
                <a:solidFill>
                  <a:srgbClr val="BFBFBF"/>
                </a:solidFill>
                <a:effectLst/>
                <a:latin typeface="Segoe WPC"/>
              </a:rPr>
              <a:t> : 128 / 192 / 256 bits → 10, 12 </a:t>
            </a:r>
            <a:r>
              <a:rPr lang="en-CA" b="0" i="0" dirty="0" err="1">
                <a:solidFill>
                  <a:srgbClr val="BFBFBF"/>
                </a:solidFill>
                <a:effectLst/>
                <a:latin typeface="Segoe WPC"/>
              </a:rPr>
              <a:t>ou</a:t>
            </a:r>
            <a:r>
              <a:rPr lang="en-CA" b="0" i="0" dirty="0">
                <a:solidFill>
                  <a:srgbClr val="BFBFBF"/>
                </a:solidFill>
                <a:effectLst/>
                <a:latin typeface="Segoe WPC"/>
              </a:rPr>
              <a:t> 14 </a:t>
            </a:r>
            <a:r>
              <a:rPr lang="en-CA" b="1" i="0" dirty="0">
                <a:solidFill>
                  <a:srgbClr val="BFBFBF"/>
                </a:solidFill>
                <a:effectLst/>
                <a:latin typeface="Segoe WPC"/>
              </a:rPr>
              <a:t>tours</a:t>
            </a:r>
            <a:endParaRPr lang="en-CA" b="0" i="0" dirty="0">
              <a:solidFill>
                <a:srgbClr val="BFBFBF"/>
              </a:solidFill>
              <a:effectLst/>
              <a:latin typeface="Segoe WPC"/>
            </a:endParaRPr>
          </a:p>
          <a:p>
            <a:pPr algn="l">
              <a:spcBef>
                <a:spcPts val="300"/>
              </a:spcBef>
              <a:spcAft>
                <a:spcPts val="300"/>
              </a:spcAft>
              <a:buFont typeface="Arial" panose="020B0604020202020204" pitchFamily="34" charset="0"/>
              <a:buChar char="•"/>
            </a:pPr>
            <a:r>
              <a:rPr lang="en-CA" b="0" i="0" dirty="0" err="1">
                <a:solidFill>
                  <a:srgbClr val="BFBFBF"/>
                </a:solidFill>
                <a:effectLst/>
                <a:latin typeface="Segoe WPC"/>
              </a:rPr>
              <a:t>Chaque</a:t>
            </a:r>
            <a:r>
              <a:rPr lang="en-CA" b="0" i="0" dirty="0">
                <a:solidFill>
                  <a:srgbClr val="BFBFBF"/>
                </a:solidFill>
                <a:effectLst/>
                <a:latin typeface="Segoe WPC"/>
              </a:rPr>
              <a:t> tour : </a:t>
            </a:r>
            <a:r>
              <a:rPr lang="en-CA" b="0" i="0" dirty="0" err="1">
                <a:solidFill>
                  <a:srgbClr val="BFBFBF"/>
                </a:solidFill>
                <a:effectLst/>
                <a:latin typeface="Segoe WPC"/>
              </a:rPr>
              <a:t>SubBytes</a:t>
            </a:r>
            <a:r>
              <a:rPr lang="en-CA" b="0" i="0" dirty="0">
                <a:solidFill>
                  <a:srgbClr val="BFBFBF"/>
                </a:solidFill>
                <a:effectLst/>
                <a:latin typeface="Segoe WPC"/>
              </a:rPr>
              <a:t> → </a:t>
            </a:r>
            <a:r>
              <a:rPr lang="en-CA" b="0" i="0" dirty="0" err="1">
                <a:solidFill>
                  <a:srgbClr val="BFBFBF"/>
                </a:solidFill>
                <a:effectLst/>
                <a:latin typeface="Segoe WPC"/>
              </a:rPr>
              <a:t>ShiftRows</a:t>
            </a:r>
            <a:r>
              <a:rPr lang="en-CA" b="0" i="0" dirty="0">
                <a:solidFill>
                  <a:srgbClr val="BFBFBF"/>
                </a:solidFill>
                <a:effectLst/>
                <a:latin typeface="Segoe WPC"/>
              </a:rPr>
              <a:t> → </a:t>
            </a:r>
            <a:r>
              <a:rPr lang="en-CA" b="0" i="0" dirty="0" err="1">
                <a:solidFill>
                  <a:srgbClr val="BFBFBF"/>
                </a:solidFill>
                <a:effectLst/>
                <a:latin typeface="Segoe WPC"/>
              </a:rPr>
              <a:t>MixColumns</a:t>
            </a:r>
            <a:r>
              <a:rPr lang="en-CA" b="0" i="0" dirty="0">
                <a:solidFill>
                  <a:srgbClr val="BFBFBF"/>
                </a:solidFill>
                <a:effectLst/>
                <a:latin typeface="Segoe WPC"/>
              </a:rPr>
              <a:t> → </a:t>
            </a:r>
            <a:r>
              <a:rPr lang="en-CA" b="0" i="0" dirty="0" err="1">
                <a:solidFill>
                  <a:srgbClr val="BFBFBF"/>
                </a:solidFill>
                <a:effectLst/>
                <a:latin typeface="Segoe WPC"/>
              </a:rPr>
              <a:t>AddRoundKey</a:t>
            </a:r>
            <a:endParaRPr lang="en-CA" b="0" i="0" dirty="0">
              <a:solidFill>
                <a:srgbClr val="BFBFBF"/>
              </a:solidFill>
              <a:effectLst/>
              <a:latin typeface="Segoe WPC"/>
            </a:endParaRPr>
          </a:p>
          <a:p>
            <a:pPr algn="l">
              <a:spcBef>
                <a:spcPts val="300"/>
              </a:spcBef>
              <a:spcAft>
                <a:spcPts val="300"/>
              </a:spcAft>
              <a:buFont typeface="Arial" panose="020B0604020202020204" pitchFamily="34" charset="0"/>
              <a:buChar char="•"/>
            </a:pPr>
            <a:r>
              <a:rPr lang="en-CA" b="0" i="0" dirty="0">
                <a:solidFill>
                  <a:srgbClr val="BFBFBF"/>
                </a:solidFill>
                <a:effectLst/>
                <a:latin typeface="Segoe WPC"/>
              </a:rPr>
              <a:t>Standard NIST </a:t>
            </a:r>
            <a:r>
              <a:rPr lang="en-CA" b="0" i="0" dirty="0" err="1">
                <a:solidFill>
                  <a:srgbClr val="BFBFBF"/>
                </a:solidFill>
                <a:effectLst/>
                <a:latin typeface="Segoe WPC"/>
              </a:rPr>
              <a:t>depuis</a:t>
            </a:r>
            <a:r>
              <a:rPr lang="en-CA" b="0" i="0" dirty="0">
                <a:solidFill>
                  <a:srgbClr val="BFBFBF"/>
                </a:solidFill>
                <a:effectLst/>
                <a:latin typeface="Segoe WPC"/>
              </a:rPr>
              <a:t> </a:t>
            </a:r>
            <a:r>
              <a:rPr lang="en-CA" b="1" i="0" dirty="0">
                <a:solidFill>
                  <a:srgbClr val="BFBFBF"/>
                </a:solidFill>
                <a:effectLst/>
                <a:latin typeface="Segoe WPC"/>
              </a:rPr>
              <a:t>2001</a:t>
            </a:r>
            <a:r>
              <a:rPr lang="en-CA" b="0" i="0" dirty="0">
                <a:solidFill>
                  <a:srgbClr val="BFBFBF"/>
                </a:solidFill>
                <a:effectLst/>
                <a:latin typeface="Segoe WPC"/>
              </a:rPr>
              <a:t> (Rijndael), </a:t>
            </a:r>
            <a:r>
              <a:rPr lang="en-CA" b="0" i="0" dirty="0" err="1">
                <a:solidFill>
                  <a:srgbClr val="BFBFBF"/>
                </a:solidFill>
                <a:effectLst/>
                <a:latin typeface="Segoe WPC"/>
              </a:rPr>
              <a:t>universellement</a:t>
            </a:r>
            <a:r>
              <a:rPr lang="en-CA" b="0" i="0" dirty="0">
                <a:solidFill>
                  <a:srgbClr val="BFBFBF"/>
                </a:solidFill>
                <a:effectLst/>
                <a:latin typeface="Segoe WPC"/>
              </a:rPr>
              <a:t> </a:t>
            </a:r>
            <a:r>
              <a:rPr lang="en-CA" b="0" i="0" dirty="0" err="1">
                <a:solidFill>
                  <a:srgbClr val="BFBFBF"/>
                </a:solidFill>
                <a:effectLst/>
                <a:latin typeface="Segoe WPC"/>
              </a:rPr>
              <a:t>déployé</a:t>
            </a:r>
            <a:endParaRPr lang="en-CA" b="0" i="0" dirty="0">
              <a:solidFill>
                <a:srgbClr val="BFBFBF"/>
              </a:solidFill>
              <a:effectLst/>
              <a:latin typeface="Segoe WPC"/>
            </a:endParaRPr>
          </a:p>
        </p:txBody>
      </p:sp>
      <p:pic>
        <p:nvPicPr>
          <p:cNvPr id="7" name="Picture 6">
            <a:extLst>
              <a:ext uri="{FF2B5EF4-FFF2-40B4-BE49-F238E27FC236}">
                <a16:creationId xmlns:a16="http://schemas.microsoft.com/office/drawing/2014/main" id="{6D77513F-B7C9-C1C3-B2EC-44F47E1589A3}"/>
              </a:ext>
            </a:extLst>
          </p:cNvPr>
          <p:cNvPicPr>
            <a:picLocks noChangeAspect="1"/>
          </p:cNvPicPr>
          <p:nvPr/>
        </p:nvPicPr>
        <p:blipFill>
          <a:blip r:embed="rId3"/>
          <a:stretch>
            <a:fillRect/>
          </a:stretch>
        </p:blipFill>
        <p:spPr>
          <a:xfrm>
            <a:off x="3933955" y="1988695"/>
            <a:ext cx="4064225" cy="3556198"/>
          </a:xfrm>
          <a:prstGeom prst="rect">
            <a:avLst/>
          </a:prstGeom>
        </p:spPr>
      </p:pic>
    </p:spTree>
    <p:extLst>
      <p:ext uri="{BB962C8B-B14F-4D97-AF65-F5344CB8AC3E}">
        <p14:creationId xmlns:p14="http://schemas.microsoft.com/office/powerpoint/2010/main" val="3349974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97C8C-685D-47AC-E540-DD2F1D1D3FE8}"/>
              </a:ext>
            </a:extLst>
          </p:cNvPr>
          <p:cNvSpPr>
            <a:spLocks noGrp="1"/>
          </p:cNvSpPr>
          <p:nvPr>
            <p:ph type="title"/>
          </p:nvPr>
        </p:nvSpPr>
        <p:spPr>
          <a:xfrm>
            <a:off x="629194" y="281463"/>
            <a:ext cx="10515600" cy="1325563"/>
          </a:xfrm>
        </p:spPr>
        <p:txBody>
          <a:bodyPr/>
          <a:lstStyle/>
          <a:p>
            <a:r>
              <a:rPr lang="en-CA" dirty="0"/>
              <a:t>AES — </a:t>
            </a:r>
            <a:r>
              <a:rPr lang="en-CA" dirty="0" err="1"/>
              <a:t>Résultats</a:t>
            </a:r>
            <a:r>
              <a:rPr lang="en-CA" dirty="0"/>
              <a:t> </a:t>
            </a:r>
            <a:r>
              <a:rPr lang="en-CA" dirty="0" err="1"/>
              <a:t>expérimentaux</a:t>
            </a:r>
            <a:endParaRPr lang="en-CA" dirty="0"/>
          </a:p>
        </p:txBody>
      </p:sp>
      <p:pic>
        <p:nvPicPr>
          <p:cNvPr id="10" name="Picture 9">
            <a:extLst>
              <a:ext uri="{FF2B5EF4-FFF2-40B4-BE49-F238E27FC236}">
                <a16:creationId xmlns:a16="http://schemas.microsoft.com/office/drawing/2014/main" id="{34B54761-99EA-2AED-EF88-003EA32D64D6}"/>
              </a:ext>
            </a:extLst>
          </p:cNvPr>
          <p:cNvPicPr>
            <a:picLocks noChangeAspect="1"/>
          </p:cNvPicPr>
          <p:nvPr/>
        </p:nvPicPr>
        <p:blipFill>
          <a:blip r:embed="rId3"/>
          <a:stretch>
            <a:fillRect/>
          </a:stretch>
        </p:blipFill>
        <p:spPr>
          <a:xfrm>
            <a:off x="1311342" y="1489460"/>
            <a:ext cx="8916173" cy="4381880"/>
          </a:xfrm>
          <a:prstGeom prst="rect">
            <a:avLst/>
          </a:prstGeom>
        </p:spPr>
      </p:pic>
    </p:spTree>
    <p:extLst>
      <p:ext uri="{BB962C8B-B14F-4D97-AF65-F5344CB8AC3E}">
        <p14:creationId xmlns:p14="http://schemas.microsoft.com/office/powerpoint/2010/main" val="39419382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B2EA5-6885-780A-A3EC-C94959619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3E3C62-D4AF-25AC-2F65-D9F4E5E18326}"/>
              </a:ext>
            </a:extLst>
          </p:cNvPr>
          <p:cNvSpPr>
            <a:spLocks noGrp="1"/>
          </p:cNvSpPr>
          <p:nvPr>
            <p:ph type="title"/>
          </p:nvPr>
        </p:nvSpPr>
        <p:spPr>
          <a:xfrm>
            <a:off x="629194" y="281463"/>
            <a:ext cx="10515600" cy="1325563"/>
          </a:xfrm>
        </p:spPr>
        <p:txBody>
          <a:bodyPr/>
          <a:lstStyle/>
          <a:p>
            <a:r>
              <a:rPr lang="en-CA" dirty="0"/>
              <a:t>AES — </a:t>
            </a:r>
            <a:r>
              <a:rPr lang="en-CA" dirty="0" err="1"/>
              <a:t>Résultats</a:t>
            </a:r>
            <a:r>
              <a:rPr lang="en-CA" dirty="0"/>
              <a:t> </a:t>
            </a:r>
            <a:r>
              <a:rPr lang="en-CA" dirty="0" err="1"/>
              <a:t>expérimentaux</a:t>
            </a:r>
            <a:endParaRPr lang="en-CA" dirty="0"/>
          </a:p>
        </p:txBody>
      </p:sp>
      <p:pic>
        <p:nvPicPr>
          <p:cNvPr id="4" name="Picture 3">
            <a:extLst>
              <a:ext uri="{FF2B5EF4-FFF2-40B4-BE49-F238E27FC236}">
                <a16:creationId xmlns:a16="http://schemas.microsoft.com/office/drawing/2014/main" id="{DF65C501-3808-51B8-B880-7C8B3AD34B68}"/>
              </a:ext>
            </a:extLst>
          </p:cNvPr>
          <p:cNvPicPr>
            <a:picLocks noChangeAspect="1"/>
          </p:cNvPicPr>
          <p:nvPr/>
        </p:nvPicPr>
        <p:blipFill>
          <a:blip r:embed="rId3"/>
          <a:stretch>
            <a:fillRect/>
          </a:stretch>
        </p:blipFill>
        <p:spPr>
          <a:xfrm>
            <a:off x="1353802" y="1607026"/>
            <a:ext cx="8779001" cy="4709568"/>
          </a:xfrm>
          <a:prstGeom prst="rect">
            <a:avLst/>
          </a:prstGeom>
        </p:spPr>
      </p:pic>
    </p:spTree>
    <p:extLst>
      <p:ext uri="{BB962C8B-B14F-4D97-AF65-F5344CB8AC3E}">
        <p14:creationId xmlns:p14="http://schemas.microsoft.com/office/powerpoint/2010/main" val="399613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A122E-933A-38D7-6E76-623D9D9164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32F676-B4E0-3BFB-6F5A-5C6EDE13AFFC}"/>
              </a:ext>
            </a:extLst>
          </p:cNvPr>
          <p:cNvSpPr>
            <a:spLocks noGrp="1"/>
          </p:cNvSpPr>
          <p:nvPr>
            <p:ph type="title"/>
          </p:nvPr>
        </p:nvSpPr>
        <p:spPr>
          <a:xfrm>
            <a:off x="629194" y="281463"/>
            <a:ext cx="10515600" cy="1325563"/>
          </a:xfrm>
        </p:spPr>
        <p:txBody>
          <a:bodyPr/>
          <a:lstStyle/>
          <a:p>
            <a:r>
              <a:rPr lang="en-CA" dirty="0"/>
              <a:t>AES — </a:t>
            </a:r>
            <a:r>
              <a:rPr lang="en-CA" dirty="0" err="1"/>
              <a:t>Résultats</a:t>
            </a:r>
            <a:r>
              <a:rPr lang="en-CA" dirty="0"/>
              <a:t> </a:t>
            </a:r>
            <a:r>
              <a:rPr lang="en-CA" dirty="0" err="1"/>
              <a:t>expérimentaux</a:t>
            </a:r>
            <a:endParaRPr lang="en-CA" dirty="0"/>
          </a:p>
        </p:txBody>
      </p:sp>
      <p:pic>
        <p:nvPicPr>
          <p:cNvPr id="4" name="Picture 3">
            <a:extLst>
              <a:ext uri="{FF2B5EF4-FFF2-40B4-BE49-F238E27FC236}">
                <a16:creationId xmlns:a16="http://schemas.microsoft.com/office/drawing/2014/main" id="{D1D19074-FE34-2FC5-931A-446C49B8F42F}"/>
              </a:ext>
            </a:extLst>
          </p:cNvPr>
          <p:cNvPicPr>
            <a:picLocks noChangeAspect="1"/>
          </p:cNvPicPr>
          <p:nvPr/>
        </p:nvPicPr>
        <p:blipFill>
          <a:blip r:embed="rId3"/>
          <a:stretch>
            <a:fillRect/>
          </a:stretch>
        </p:blipFill>
        <p:spPr>
          <a:xfrm>
            <a:off x="1291173" y="1607026"/>
            <a:ext cx="9609653" cy="4587638"/>
          </a:xfrm>
          <a:prstGeom prst="rect">
            <a:avLst/>
          </a:prstGeom>
        </p:spPr>
      </p:pic>
    </p:spTree>
    <p:extLst>
      <p:ext uri="{BB962C8B-B14F-4D97-AF65-F5344CB8AC3E}">
        <p14:creationId xmlns:p14="http://schemas.microsoft.com/office/powerpoint/2010/main" val="24357975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17B1E-2CE4-CB30-EF9F-BE2B4F02A607}"/>
              </a:ext>
            </a:extLst>
          </p:cNvPr>
          <p:cNvSpPr>
            <a:spLocks noGrp="1"/>
          </p:cNvSpPr>
          <p:nvPr>
            <p:ph type="title"/>
          </p:nvPr>
        </p:nvSpPr>
        <p:spPr/>
        <p:txBody>
          <a:bodyPr/>
          <a:lstStyle/>
          <a:p>
            <a:r>
              <a:rPr lang="en-CA" dirty="0"/>
              <a:t>AES — </a:t>
            </a:r>
            <a:r>
              <a:rPr lang="en-CA" dirty="0" err="1"/>
              <a:t>Résultats</a:t>
            </a:r>
            <a:r>
              <a:rPr lang="en-CA" dirty="0"/>
              <a:t> </a:t>
            </a:r>
            <a:r>
              <a:rPr lang="en-CA" dirty="0" err="1"/>
              <a:t>expérimentaux</a:t>
            </a:r>
            <a:endParaRPr lang="en-CA" dirty="0"/>
          </a:p>
        </p:txBody>
      </p:sp>
      <p:sp>
        <p:nvSpPr>
          <p:cNvPr id="5" name="TextBox 4">
            <a:extLst>
              <a:ext uri="{FF2B5EF4-FFF2-40B4-BE49-F238E27FC236}">
                <a16:creationId xmlns:a16="http://schemas.microsoft.com/office/drawing/2014/main" id="{B95DD37F-1C53-DB2C-CFA4-CAF6D5C312CD}"/>
              </a:ext>
            </a:extLst>
          </p:cNvPr>
          <p:cNvSpPr txBox="1"/>
          <p:nvPr/>
        </p:nvSpPr>
        <p:spPr>
          <a:xfrm>
            <a:off x="838200" y="4804325"/>
            <a:ext cx="10068197" cy="1077218"/>
          </a:xfrm>
          <a:prstGeom prst="rect">
            <a:avLst/>
          </a:prstGeom>
          <a:noFill/>
        </p:spPr>
        <p:txBody>
          <a:bodyPr wrap="square">
            <a:spAutoFit/>
          </a:bodyPr>
          <a:lstStyle/>
          <a:p>
            <a:pPr algn="l">
              <a:spcBef>
                <a:spcPts val="300"/>
              </a:spcBef>
              <a:spcAft>
                <a:spcPts val="300"/>
              </a:spcAft>
              <a:buFont typeface="Arial" panose="020B0604020202020204" pitchFamily="34" charset="0"/>
              <a:buChar char="•"/>
            </a:pPr>
            <a:r>
              <a:rPr lang="en-CA" b="0" i="0" dirty="0">
                <a:solidFill>
                  <a:srgbClr val="BFBFBF"/>
                </a:solidFill>
                <a:effectLst/>
                <a:latin typeface="Segoe WPC"/>
              </a:rPr>
              <a:t>AES sur x86 = </a:t>
            </a:r>
            <a:r>
              <a:rPr lang="en-CA" b="1" i="0" dirty="0">
                <a:solidFill>
                  <a:srgbClr val="BFBFBF"/>
                </a:solidFill>
                <a:effectLst/>
                <a:latin typeface="Segoe WPC"/>
              </a:rPr>
              <a:t>4.1× plus </a:t>
            </a:r>
            <a:r>
              <a:rPr lang="en-CA" b="1" i="0" dirty="0" err="1">
                <a:solidFill>
                  <a:srgbClr val="BFBFBF"/>
                </a:solidFill>
                <a:effectLst/>
                <a:latin typeface="Segoe WPC"/>
              </a:rPr>
              <a:t>rapide</a:t>
            </a:r>
            <a:r>
              <a:rPr lang="en-CA" b="0" i="0" dirty="0">
                <a:solidFill>
                  <a:srgbClr val="BFBFBF"/>
                </a:solidFill>
                <a:effectLst/>
                <a:latin typeface="Segoe WPC"/>
              </a:rPr>
              <a:t> </a:t>
            </a:r>
            <a:r>
              <a:rPr lang="en-CA" b="0" i="0" dirty="0" err="1">
                <a:solidFill>
                  <a:srgbClr val="BFBFBF"/>
                </a:solidFill>
                <a:effectLst/>
                <a:latin typeface="Segoe WPC"/>
              </a:rPr>
              <a:t>que</a:t>
            </a:r>
            <a:r>
              <a:rPr lang="en-CA" b="0" i="0" dirty="0">
                <a:solidFill>
                  <a:srgbClr val="BFBFBF"/>
                </a:solidFill>
                <a:effectLst/>
                <a:latin typeface="Segoe WPC"/>
              </a:rPr>
              <a:t> sur Pi → grâce à AES-NI </a:t>
            </a:r>
            <a:r>
              <a:rPr lang="en-CA" b="0" i="0" dirty="0" err="1">
                <a:solidFill>
                  <a:srgbClr val="BFBFBF"/>
                </a:solidFill>
                <a:effectLst/>
                <a:latin typeface="Segoe WPC"/>
              </a:rPr>
              <a:t>exclusivement</a:t>
            </a:r>
            <a:endParaRPr lang="en-CA" b="0" i="0" dirty="0">
              <a:solidFill>
                <a:srgbClr val="BFBFBF"/>
              </a:solidFill>
              <a:effectLst/>
              <a:latin typeface="Segoe WPC"/>
            </a:endParaRPr>
          </a:p>
          <a:p>
            <a:pPr algn="l">
              <a:spcBef>
                <a:spcPts val="300"/>
              </a:spcBef>
              <a:spcAft>
                <a:spcPts val="300"/>
              </a:spcAft>
              <a:buFont typeface="Arial" panose="020B0604020202020204" pitchFamily="34" charset="0"/>
              <a:buChar char="•"/>
            </a:pPr>
            <a:r>
              <a:rPr lang="en-CA" b="0" i="0" dirty="0">
                <a:solidFill>
                  <a:srgbClr val="BFBFBF"/>
                </a:solidFill>
                <a:effectLst/>
                <a:latin typeface="Segoe WPC"/>
              </a:rPr>
              <a:t>ECB le plus </a:t>
            </a:r>
            <a:r>
              <a:rPr lang="en-CA" b="0" i="0" dirty="0" err="1">
                <a:solidFill>
                  <a:srgbClr val="BFBFBF"/>
                </a:solidFill>
                <a:effectLst/>
                <a:latin typeface="Segoe WPC"/>
              </a:rPr>
              <a:t>rapide</a:t>
            </a:r>
            <a:r>
              <a:rPr lang="en-CA" b="0" i="0" dirty="0">
                <a:solidFill>
                  <a:srgbClr val="BFBFBF"/>
                </a:solidFill>
                <a:effectLst/>
                <a:latin typeface="Segoe WPC"/>
              </a:rPr>
              <a:t> ≠ le plus </a:t>
            </a:r>
            <a:r>
              <a:rPr lang="en-CA" b="0" i="0" dirty="0" err="1">
                <a:solidFill>
                  <a:srgbClr val="BFBFBF"/>
                </a:solidFill>
                <a:effectLst/>
                <a:latin typeface="Segoe WPC"/>
              </a:rPr>
              <a:t>sécurisé</a:t>
            </a:r>
            <a:r>
              <a:rPr lang="en-CA" b="0" i="0" dirty="0">
                <a:solidFill>
                  <a:srgbClr val="BFBFBF"/>
                </a:solidFill>
                <a:effectLst/>
                <a:latin typeface="Segoe WPC"/>
              </a:rPr>
              <a:t> (slide 12 </a:t>
            </a:r>
            <a:r>
              <a:rPr lang="en-CA" b="0" i="0" dirty="0" err="1">
                <a:solidFill>
                  <a:srgbClr val="BFBFBF"/>
                </a:solidFill>
                <a:effectLst/>
                <a:latin typeface="Segoe WPC"/>
              </a:rPr>
              <a:t>explique</a:t>
            </a:r>
            <a:r>
              <a:rPr lang="en-CA" b="0" i="0" dirty="0">
                <a:solidFill>
                  <a:srgbClr val="BFBFBF"/>
                </a:solidFill>
                <a:effectLst/>
                <a:latin typeface="Segoe WPC"/>
              </a:rPr>
              <a:t> </a:t>
            </a:r>
            <a:r>
              <a:rPr lang="en-CA" b="0" i="0" dirty="0" err="1">
                <a:solidFill>
                  <a:srgbClr val="BFBFBF"/>
                </a:solidFill>
                <a:effectLst/>
                <a:latin typeface="Segoe WPC"/>
              </a:rPr>
              <a:t>pourquoi</a:t>
            </a:r>
            <a:r>
              <a:rPr lang="en-CA" b="0" i="0" dirty="0">
                <a:solidFill>
                  <a:srgbClr val="BFBFBF"/>
                </a:solidFill>
                <a:effectLst/>
                <a:latin typeface="Segoe WPC"/>
              </a:rPr>
              <a:t>)</a:t>
            </a:r>
          </a:p>
          <a:p>
            <a:pPr algn="l">
              <a:spcBef>
                <a:spcPts val="300"/>
              </a:spcBef>
              <a:spcAft>
                <a:spcPts val="300"/>
              </a:spcAft>
              <a:buFont typeface="Arial" panose="020B0604020202020204" pitchFamily="34" charset="0"/>
              <a:buChar char="•"/>
            </a:pPr>
            <a:r>
              <a:rPr lang="en-CA" b="0" i="0" dirty="0">
                <a:solidFill>
                  <a:srgbClr val="BFBFBF"/>
                </a:solidFill>
                <a:effectLst/>
                <a:latin typeface="Segoe WPC"/>
              </a:rPr>
              <a:t>CBC : </a:t>
            </a:r>
            <a:r>
              <a:rPr lang="en-CA" b="0" i="0" dirty="0" err="1">
                <a:solidFill>
                  <a:srgbClr val="BFBFBF"/>
                </a:solidFill>
                <a:effectLst/>
                <a:latin typeface="Segoe WPC"/>
              </a:rPr>
              <a:t>piège</a:t>
            </a:r>
            <a:r>
              <a:rPr lang="en-CA" b="0" i="0" dirty="0">
                <a:solidFill>
                  <a:srgbClr val="BFBFBF"/>
                </a:solidFill>
                <a:effectLst/>
                <a:latin typeface="Segoe WPC"/>
              </a:rPr>
              <a:t> de performance → </a:t>
            </a:r>
            <a:r>
              <a:rPr lang="en-CA" b="0" i="0" dirty="0" err="1">
                <a:solidFill>
                  <a:srgbClr val="BFBFBF"/>
                </a:solidFill>
                <a:effectLst/>
                <a:latin typeface="Segoe WPC"/>
              </a:rPr>
              <a:t>risque</a:t>
            </a:r>
            <a:r>
              <a:rPr lang="en-CA" b="0" i="0" dirty="0">
                <a:solidFill>
                  <a:srgbClr val="BFBFBF"/>
                </a:solidFill>
                <a:effectLst/>
                <a:latin typeface="Segoe WPC"/>
              </a:rPr>
              <a:t> </a:t>
            </a:r>
            <a:r>
              <a:rPr lang="en-CA" b="0" i="0" dirty="0" err="1">
                <a:solidFill>
                  <a:srgbClr val="BFBFBF"/>
                </a:solidFill>
                <a:effectLst/>
                <a:latin typeface="Segoe WPC"/>
              </a:rPr>
              <a:t>réel</a:t>
            </a:r>
            <a:r>
              <a:rPr lang="en-CA" b="0" i="0" dirty="0">
                <a:solidFill>
                  <a:srgbClr val="BFBFBF"/>
                </a:solidFill>
                <a:effectLst/>
                <a:latin typeface="Segoe WPC"/>
              </a:rPr>
              <a:t> de </a:t>
            </a:r>
            <a:r>
              <a:rPr lang="en-CA" b="0" i="0" dirty="0" err="1">
                <a:solidFill>
                  <a:srgbClr val="BFBFBF"/>
                </a:solidFill>
                <a:effectLst/>
                <a:latin typeface="Segoe WPC"/>
              </a:rPr>
              <a:t>mauvaises</a:t>
            </a:r>
            <a:r>
              <a:rPr lang="en-CA" b="0" i="0" dirty="0">
                <a:solidFill>
                  <a:srgbClr val="BFBFBF"/>
                </a:solidFill>
                <a:effectLst/>
                <a:latin typeface="Segoe WPC"/>
              </a:rPr>
              <a:t> </a:t>
            </a:r>
            <a:r>
              <a:rPr lang="en-CA" b="0" i="0" dirty="0" err="1">
                <a:solidFill>
                  <a:srgbClr val="BFBFBF"/>
                </a:solidFill>
                <a:effectLst/>
                <a:latin typeface="Segoe WPC"/>
              </a:rPr>
              <a:t>décisions</a:t>
            </a:r>
            <a:r>
              <a:rPr lang="en-CA" b="0" i="0" dirty="0">
                <a:solidFill>
                  <a:srgbClr val="BFBFBF"/>
                </a:solidFill>
                <a:effectLst/>
                <a:latin typeface="Segoe WPC"/>
              </a:rPr>
              <a:t> de sécurité</a:t>
            </a:r>
          </a:p>
        </p:txBody>
      </p:sp>
      <p:sp>
        <p:nvSpPr>
          <p:cNvPr id="6" name="TextBox 5">
            <a:extLst>
              <a:ext uri="{FF2B5EF4-FFF2-40B4-BE49-F238E27FC236}">
                <a16:creationId xmlns:a16="http://schemas.microsoft.com/office/drawing/2014/main" id="{9BC7C674-571B-F83B-59A3-9BD4A2CCA187}"/>
              </a:ext>
            </a:extLst>
          </p:cNvPr>
          <p:cNvSpPr txBox="1"/>
          <p:nvPr/>
        </p:nvSpPr>
        <p:spPr>
          <a:xfrm>
            <a:off x="741317" y="3822179"/>
            <a:ext cx="10709366" cy="646331"/>
          </a:xfrm>
          <a:prstGeom prst="rect">
            <a:avLst/>
          </a:prstGeom>
          <a:noFill/>
        </p:spPr>
        <p:txBody>
          <a:bodyPr wrap="square">
            <a:spAutoFit/>
          </a:bodyPr>
          <a:lstStyle/>
          <a:p>
            <a:r>
              <a:rPr lang="en-CA" b="0" i="0" dirty="0">
                <a:solidFill>
                  <a:srgbClr val="BFBFBF"/>
                </a:solidFill>
                <a:effectLst/>
                <a:latin typeface="Segoe WPC"/>
              </a:rPr>
              <a:t>*CBC </a:t>
            </a:r>
            <a:r>
              <a:rPr lang="en-CA" b="0" i="0" dirty="0" err="1">
                <a:solidFill>
                  <a:srgbClr val="BFBFBF"/>
                </a:solidFill>
                <a:effectLst/>
                <a:latin typeface="Segoe WPC"/>
              </a:rPr>
              <a:t>chiffrement</a:t>
            </a:r>
            <a:r>
              <a:rPr lang="en-CA" b="0" i="0" dirty="0">
                <a:solidFill>
                  <a:srgbClr val="BFBFBF"/>
                </a:solidFill>
                <a:effectLst/>
                <a:latin typeface="Segoe WPC"/>
              </a:rPr>
              <a:t> = </a:t>
            </a:r>
            <a:r>
              <a:rPr lang="en-CA" b="0" i="0" dirty="0" err="1">
                <a:solidFill>
                  <a:srgbClr val="BFBFBF"/>
                </a:solidFill>
                <a:effectLst/>
                <a:latin typeface="Segoe WPC"/>
              </a:rPr>
              <a:t>séquentiel</a:t>
            </a:r>
            <a:r>
              <a:rPr lang="en-CA" b="0" i="0" dirty="0">
                <a:solidFill>
                  <a:srgbClr val="BFBFBF"/>
                </a:solidFill>
                <a:effectLst/>
                <a:latin typeface="Segoe WPC"/>
              </a:rPr>
              <a:t> (</a:t>
            </a:r>
            <a:r>
              <a:rPr lang="en-CA" b="0" i="0" dirty="0" err="1">
                <a:solidFill>
                  <a:srgbClr val="BFBFBF"/>
                </a:solidFill>
                <a:effectLst/>
                <a:latin typeface="Segoe WPC"/>
              </a:rPr>
              <a:t>chaque</a:t>
            </a:r>
            <a:r>
              <a:rPr lang="en-CA" b="0" i="0" dirty="0">
                <a:solidFill>
                  <a:srgbClr val="BFBFBF"/>
                </a:solidFill>
                <a:effectLst/>
                <a:latin typeface="Segoe WPC"/>
              </a:rPr>
              <a:t> bloc </a:t>
            </a:r>
            <a:r>
              <a:rPr lang="en-CA" b="0" i="0" dirty="0" err="1">
                <a:solidFill>
                  <a:srgbClr val="BFBFBF"/>
                </a:solidFill>
                <a:effectLst/>
                <a:latin typeface="Segoe WPC"/>
              </a:rPr>
              <a:t>dépend</a:t>
            </a:r>
            <a:r>
              <a:rPr lang="en-CA" b="0" i="0" dirty="0">
                <a:solidFill>
                  <a:srgbClr val="BFBFBF"/>
                </a:solidFill>
                <a:effectLst/>
                <a:latin typeface="Segoe WPC"/>
              </a:rPr>
              <a:t> du </a:t>
            </a:r>
            <a:r>
              <a:rPr lang="en-CA" b="0" i="0" dirty="0" err="1">
                <a:solidFill>
                  <a:srgbClr val="BFBFBF"/>
                </a:solidFill>
                <a:effectLst/>
                <a:latin typeface="Segoe WPC"/>
              </a:rPr>
              <a:t>précédent</a:t>
            </a:r>
            <a:r>
              <a:rPr lang="en-CA" b="0" i="0" dirty="0">
                <a:solidFill>
                  <a:srgbClr val="BFBFBF"/>
                </a:solidFill>
                <a:effectLst/>
                <a:latin typeface="Segoe WPC"/>
              </a:rPr>
              <a:t>) — </a:t>
            </a:r>
            <a:r>
              <a:rPr lang="en-CA" b="1" i="0" dirty="0">
                <a:solidFill>
                  <a:srgbClr val="BFBFBF"/>
                </a:solidFill>
                <a:effectLst/>
                <a:latin typeface="Segoe WPC"/>
              </a:rPr>
              <a:t>223× plus lent </a:t>
            </a:r>
            <a:r>
              <a:rPr lang="en-CA" b="1" i="0" dirty="0" err="1">
                <a:solidFill>
                  <a:srgbClr val="BFBFBF"/>
                </a:solidFill>
                <a:effectLst/>
                <a:latin typeface="Segoe WPC"/>
              </a:rPr>
              <a:t>qu'ECB</a:t>
            </a:r>
            <a:r>
              <a:rPr lang="en-CA" b="0" i="0" dirty="0">
                <a:solidFill>
                  <a:srgbClr val="BFBFBF"/>
                </a:solidFill>
                <a:effectLst/>
                <a:latin typeface="Segoe WPC"/>
              </a:rPr>
              <a:t>. Le </a:t>
            </a:r>
            <a:r>
              <a:rPr lang="en-CA" b="0" i="0" dirty="0" err="1">
                <a:solidFill>
                  <a:srgbClr val="BFBFBF"/>
                </a:solidFill>
                <a:effectLst/>
                <a:latin typeface="Segoe WPC"/>
              </a:rPr>
              <a:t>déchiffrement</a:t>
            </a:r>
            <a:r>
              <a:rPr lang="en-CA" b="0" i="0" dirty="0">
                <a:solidFill>
                  <a:srgbClr val="BFBFBF"/>
                </a:solidFill>
                <a:effectLst/>
                <a:latin typeface="Segoe WPC"/>
              </a:rPr>
              <a:t>, </a:t>
            </a:r>
            <a:r>
              <a:rPr lang="en-CA" b="0" i="0" dirty="0" err="1">
                <a:solidFill>
                  <a:srgbClr val="BFBFBF"/>
                </a:solidFill>
                <a:effectLst/>
                <a:latin typeface="Segoe WPC"/>
              </a:rPr>
              <a:t>lui</a:t>
            </a:r>
            <a:r>
              <a:rPr lang="en-CA" b="0" i="0" dirty="0">
                <a:solidFill>
                  <a:srgbClr val="BFBFBF"/>
                </a:solidFill>
                <a:effectLst/>
                <a:latin typeface="Segoe WPC"/>
              </a:rPr>
              <a:t>, est </a:t>
            </a:r>
            <a:r>
              <a:rPr lang="en-CA" b="0" i="0" dirty="0" err="1">
                <a:solidFill>
                  <a:srgbClr val="BFBFBF"/>
                </a:solidFill>
                <a:effectLst/>
                <a:latin typeface="Segoe WPC"/>
              </a:rPr>
              <a:t>parallélisable</a:t>
            </a:r>
            <a:r>
              <a:rPr lang="en-CA" b="0" i="0" dirty="0">
                <a:solidFill>
                  <a:srgbClr val="BFBFBF"/>
                </a:solidFill>
                <a:effectLst/>
                <a:latin typeface="Segoe WPC"/>
              </a:rPr>
              <a:t> → 7.69 MB/s.</a:t>
            </a:r>
            <a:endParaRPr lang="en-CA" dirty="0"/>
          </a:p>
        </p:txBody>
      </p:sp>
      <p:graphicFrame>
        <p:nvGraphicFramePr>
          <p:cNvPr id="7" name="Content Placeholder 3">
            <a:extLst>
              <a:ext uri="{FF2B5EF4-FFF2-40B4-BE49-F238E27FC236}">
                <a16:creationId xmlns:a16="http://schemas.microsoft.com/office/drawing/2014/main" id="{3FA59A94-DD4A-5208-178D-82259AC83676}"/>
              </a:ext>
            </a:extLst>
          </p:cNvPr>
          <p:cNvGraphicFramePr>
            <a:graphicFrameLocks noGrp="1"/>
          </p:cNvGraphicFramePr>
          <p:nvPr>
            <p:ph idx="1"/>
            <p:extLst>
              <p:ext uri="{D42A27DB-BD31-4B8C-83A1-F6EECF244321}">
                <p14:modId xmlns:p14="http://schemas.microsoft.com/office/powerpoint/2010/main" val="837001120"/>
              </p:ext>
            </p:extLst>
          </p:nvPr>
        </p:nvGraphicFramePr>
        <p:xfrm>
          <a:off x="838200" y="1322819"/>
          <a:ext cx="10515600" cy="2499360"/>
        </p:xfrm>
        <a:graphic>
          <a:graphicData uri="http://schemas.openxmlformats.org/drawingml/2006/table">
            <a:tbl>
              <a:tblPr>
                <a:tableStyleId>{3C2FFA5D-87B4-456A-9821-1D502468CF0F}</a:tableStyleId>
              </a:tblPr>
              <a:tblGrid>
                <a:gridCol w="2628900">
                  <a:extLst>
                    <a:ext uri="{9D8B030D-6E8A-4147-A177-3AD203B41FA5}">
                      <a16:colId xmlns:a16="http://schemas.microsoft.com/office/drawing/2014/main" val="2460932193"/>
                    </a:ext>
                  </a:extLst>
                </a:gridCol>
                <a:gridCol w="2628900">
                  <a:extLst>
                    <a:ext uri="{9D8B030D-6E8A-4147-A177-3AD203B41FA5}">
                      <a16:colId xmlns:a16="http://schemas.microsoft.com/office/drawing/2014/main" val="2794262419"/>
                    </a:ext>
                  </a:extLst>
                </a:gridCol>
                <a:gridCol w="2628900">
                  <a:extLst>
                    <a:ext uri="{9D8B030D-6E8A-4147-A177-3AD203B41FA5}">
                      <a16:colId xmlns:a16="http://schemas.microsoft.com/office/drawing/2014/main" val="3747640874"/>
                    </a:ext>
                  </a:extLst>
                </a:gridCol>
                <a:gridCol w="2628900">
                  <a:extLst>
                    <a:ext uri="{9D8B030D-6E8A-4147-A177-3AD203B41FA5}">
                      <a16:colId xmlns:a16="http://schemas.microsoft.com/office/drawing/2014/main" val="2312346900"/>
                    </a:ext>
                  </a:extLst>
                </a:gridCol>
              </a:tblGrid>
              <a:tr h="0">
                <a:tc>
                  <a:txBody>
                    <a:bodyPr/>
                    <a:lstStyle/>
                    <a:p>
                      <a:pPr>
                        <a:buNone/>
                      </a:pPr>
                      <a:r>
                        <a:rPr lang="en-CA">
                          <a:effectLst/>
                        </a:rPr>
                        <a:t>Mode</a:t>
                      </a:r>
                    </a:p>
                  </a:txBody>
                  <a:tcPr marL="45720" marR="45720" marT="30480" marB="30480" anchor="ctr"/>
                </a:tc>
                <a:tc>
                  <a:txBody>
                    <a:bodyPr/>
                    <a:lstStyle/>
                    <a:p>
                      <a:pPr>
                        <a:buNone/>
                      </a:pPr>
                      <a:r>
                        <a:rPr lang="en-CA">
                          <a:effectLst/>
                        </a:rPr>
                        <a:t>Chiffrement (MB/s)</a:t>
                      </a:r>
                    </a:p>
                  </a:txBody>
                  <a:tcPr marL="45720" marR="45720" marT="30480" marB="30480" anchor="ctr"/>
                </a:tc>
                <a:tc>
                  <a:txBody>
                    <a:bodyPr/>
                    <a:lstStyle/>
                    <a:p>
                      <a:pPr>
                        <a:buNone/>
                      </a:pPr>
                      <a:r>
                        <a:rPr lang="en-CA">
                          <a:effectLst/>
                        </a:rPr>
                        <a:t>Déchiffrement (MB/s)</a:t>
                      </a:r>
                    </a:p>
                  </a:txBody>
                  <a:tcPr marL="45720" marR="45720" marT="30480" marB="30480" anchor="ctr"/>
                </a:tc>
                <a:tc>
                  <a:txBody>
                    <a:bodyPr/>
                    <a:lstStyle/>
                    <a:p>
                      <a:pPr>
                        <a:buNone/>
                      </a:pPr>
                      <a:r>
                        <a:rPr lang="en-CA">
                          <a:effectLst/>
                        </a:rPr>
                        <a:t>Note</a:t>
                      </a:r>
                    </a:p>
                  </a:txBody>
                  <a:tcPr marL="45720" marR="45720" marT="30480" marB="30480" anchor="ctr"/>
                </a:tc>
                <a:extLst>
                  <a:ext uri="{0D108BD9-81ED-4DB2-BD59-A6C34878D82A}">
                    <a16:rowId xmlns:a16="http://schemas.microsoft.com/office/drawing/2014/main" val="2952763339"/>
                  </a:ext>
                </a:extLst>
              </a:tr>
              <a:tr h="0">
                <a:tc>
                  <a:txBody>
                    <a:bodyPr/>
                    <a:lstStyle/>
                    <a:p>
                      <a:pPr>
                        <a:buNone/>
                      </a:pPr>
                      <a:r>
                        <a:rPr lang="en-CA">
                          <a:effectLst/>
                        </a:rPr>
                        <a:t>ECB</a:t>
                      </a:r>
                    </a:p>
                  </a:txBody>
                  <a:tcPr marL="45720" marR="45720" marT="30480" marB="30480" anchor="ctr"/>
                </a:tc>
                <a:tc>
                  <a:txBody>
                    <a:bodyPr/>
                    <a:lstStyle/>
                    <a:p>
                      <a:pPr>
                        <a:buNone/>
                      </a:pPr>
                      <a:r>
                        <a:rPr lang="en-CA" dirty="0">
                          <a:effectLst/>
                        </a:rPr>
                        <a:t>162.78</a:t>
                      </a:r>
                    </a:p>
                  </a:txBody>
                  <a:tcPr marL="45720" marR="45720" marT="30480" marB="30480" anchor="ctr"/>
                </a:tc>
                <a:tc>
                  <a:txBody>
                    <a:bodyPr/>
                    <a:lstStyle/>
                    <a:p>
                      <a:pPr>
                        <a:buNone/>
                      </a:pPr>
                      <a:r>
                        <a:rPr lang="en-CA">
                          <a:effectLst/>
                        </a:rPr>
                        <a:t>184.09</a:t>
                      </a:r>
                    </a:p>
                  </a:txBody>
                  <a:tcPr marL="45720" marR="45720" marT="30480" marB="30480" anchor="ctr"/>
                </a:tc>
                <a:tc>
                  <a:txBody>
                    <a:bodyPr/>
                    <a:lstStyle/>
                    <a:p>
                      <a:pPr>
                        <a:buNone/>
                      </a:pPr>
                      <a:r>
                        <a:rPr lang="en-CA">
                          <a:effectLst/>
                        </a:rPr>
                        <a:t>⚠️ Rapide mais dangereux</a:t>
                      </a:r>
                    </a:p>
                  </a:txBody>
                  <a:tcPr marL="45720" marR="45720" marT="30480" marB="30480" anchor="ctr"/>
                </a:tc>
                <a:extLst>
                  <a:ext uri="{0D108BD9-81ED-4DB2-BD59-A6C34878D82A}">
                    <a16:rowId xmlns:a16="http://schemas.microsoft.com/office/drawing/2014/main" val="31362375"/>
                  </a:ext>
                </a:extLst>
              </a:tr>
              <a:tr h="0">
                <a:tc>
                  <a:txBody>
                    <a:bodyPr/>
                    <a:lstStyle/>
                    <a:p>
                      <a:pPr>
                        <a:buNone/>
                      </a:pPr>
                      <a:r>
                        <a:rPr lang="en-CA">
                          <a:effectLst/>
                        </a:rPr>
                        <a:t>GCM</a:t>
                      </a:r>
                    </a:p>
                  </a:txBody>
                  <a:tcPr marL="45720" marR="45720" marT="30480" marB="30480" anchor="ctr"/>
                </a:tc>
                <a:tc>
                  <a:txBody>
                    <a:bodyPr/>
                    <a:lstStyle/>
                    <a:p>
                      <a:pPr>
                        <a:buNone/>
                      </a:pPr>
                      <a:r>
                        <a:rPr lang="en-CA">
                          <a:effectLst/>
                        </a:rPr>
                        <a:t>25.78</a:t>
                      </a:r>
                    </a:p>
                  </a:txBody>
                  <a:tcPr marL="45720" marR="45720" marT="30480" marB="30480" anchor="ctr"/>
                </a:tc>
                <a:tc>
                  <a:txBody>
                    <a:bodyPr/>
                    <a:lstStyle/>
                    <a:p>
                      <a:pPr>
                        <a:buNone/>
                      </a:pPr>
                      <a:r>
                        <a:rPr lang="en-CA">
                          <a:effectLst/>
                        </a:rPr>
                        <a:t>22.19</a:t>
                      </a:r>
                    </a:p>
                  </a:txBody>
                  <a:tcPr marL="45720" marR="45720" marT="30480" marB="30480" anchor="ctr"/>
                </a:tc>
                <a:tc>
                  <a:txBody>
                    <a:bodyPr/>
                    <a:lstStyle/>
                    <a:p>
                      <a:pPr>
                        <a:buNone/>
                      </a:pPr>
                      <a:r>
                        <a:rPr lang="en-CA">
                          <a:effectLst/>
                        </a:rPr>
                        <a:t>✅ Standard recommandé</a:t>
                      </a:r>
                    </a:p>
                  </a:txBody>
                  <a:tcPr marL="45720" marR="45720" marT="30480" marB="30480" anchor="ctr"/>
                </a:tc>
                <a:extLst>
                  <a:ext uri="{0D108BD9-81ED-4DB2-BD59-A6C34878D82A}">
                    <a16:rowId xmlns:a16="http://schemas.microsoft.com/office/drawing/2014/main" val="313286238"/>
                  </a:ext>
                </a:extLst>
              </a:tr>
              <a:tr h="0">
                <a:tc>
                  <a:txBody>
                    <a:bodyPr/>
                    <a:lstStyle/>
                    <a:p>
                      <a:pPr>
                        <a:buNone/>
                      </a:pPr>
                      <a:r>
                        <a:rPr lang="en-CA">
                          <a:effectLst/>
                        </a:rPr>
                        <a:t>CTR</a:t>
                      </a:r>
                    </a:p>
                  </a:txBody>
                  <a:tcPr marL="45720" marR="45720" marT="30480" marB="30480" anchor="ctr"/>
                </a:tc>
                <a:tc>
                  <a:txBody>
                    <a:bodyPr/>
                    <a:lstStyle/>
                    <a:p>
                      <a:pPr>
                        <a:buNone/>
                      </a:pPr>
                      <a:r>
                        <a:rPr lang="en-CA">
                          <a:effectLst/>
                        </a:rPr>
                        <a:t>6.61</a:t>
                      </a:r>
                    </a:p>
                  </a:txBody>
                  <a:tcPr marL="45720" marR="45720" marT="30480" marB="30480" anchor="ctr"/>
                </a:tc>
                <a:tc>
                  <a:txBody>
                    <a:bodyPr/>
                    <a:lstStyle/>
                    <a:p>
                      <a:pPr>
                        <a:buNone/>
                      </a:pPr>
                      <a:r>
                        <a:rPr lang="en-CA">
                          <a:effectLst/>
                        </a:rPr>
                        <a:t>6.68</a:t>
                      </a:r>
                    </a:p>
                  </a:txBody>
                  <a:tcPr marL="45720" marR="45720" marT="30480" marB="30480" anchor="ctr"/>
                </a:tc>
                <a:tc>
                  <a:txBody>
                    <a:bodyPr/>
                    <a:lstStyle/>
                    <a:p>
                      <a:pPr>
                        <a:buNone/>
                      </a:pPr>
                      <a:r>
                        <a:rPr lang="en-CA">
                          <a:effectLst/>
                        </a:rPr>
                        <a:t>✅ Parallélisable</a:t>
                      </a:r>
                    </a:p>
                  </a:txBody>
                  <a:tcPr marL="45720" marR="45720" marT="30480" marB="30480" anchor="ctr"/>
                </a:tc>
                <a:extLst>
                  <a:ext uri="{0D108BD9-81ED-4DB2-BD59-A6C34878D82A}">
                    <a16:rowId xmlns:a16="http://schemas.microsoft.com/office/drawing/2014/main" val="1555708264"/>
                  </a:ext>
                </a:extLst>
              </a:tr>
              <a:tr h="0">
                <a:tc>
                  <a:txBody>
                    <a:bodyPr/>
                    <a:lstStyle/>
                    <a:p>
                      <a:pPr>
                        <a:buNone/>
                      </a:pPr>
                      <a:r>
                        <a:rPr lang="en-CA" dirty="0">
                          <a:effectLst/>
                        </a:rPr>
                        <a:t>CBC*</a:t>
                      </a:r>
                    </a:p>
                  </a:txBody>
                  <a:tcPr marL="45720" marR="45720" marT="30480" marB="30480" anchor="ctr"/>
                </a:tc>
                <a:tc>
                  <a:txBody>
                    <a:bodyPr/>
                    <a:lstStyle/>
                    <a:p>
                      <a:pPr>
                        <a:buNone/>
                      </a:pPr>
                      <a:r>
                        <a:rPr lang="en-CA" b="1">
                          <a:effectLst/>
                        </a:rPr>
                        <a:t>0.73</a:t>
                      </a:r>
                      <a:endParaRPr lang="en-CA">
                        <a:effectLst/>
                      </a:endParaRPr>
                    </a:p>
                  </a:txBody>
                  <a:tcPr marL="45720" marR="45720" marT="30480" marB="30480" anchor="ctr"/>
                </a:tc>
                <a:tc>
                  <a:txBody>
                    <a:bodyPr/>
                    <a:lstStyle/>
                    <a:p>
                      <a:pPr>
                        <a:buNone/>
                      </a:pPr>
                      <a:r>
                        <a:rPr lang="en-CA">
                          <a:effectLst/>
                        </a:rPr>
                        <a:t>7.69</a:t>
                      </a:r>
                    </a:p>
                  </a:txBody>
                  <a:tcPr marL="45720" marR="45720" marT="30480" marB="30480" anchor="ctr"/>
                </a:tc>
                <a:tc>
                  <a:txBody>
                    <a:bodyPr/>
                    <a:lstStyle/>
                    <a:p>
                      <a:pPr>
                        <a:buNone/>
                      </a:pPr>
                      <a:r>
                        <a:rPr lang="en-CA" dirty="0">
                          <a:effectLst/>
                        </a:rPr>
                        <a:t>🚨 </a:t>
                      </a:r>
                      <a:r>
                        <a:rPr lang="en-CA" dirty="0" err="1">
                          <a:effectLst/>
                        </a:rPr>
                        <a:t>Chiffrement</a:t>
                      </a:r>
                      <a:r>
                        <a:rPr lang="en-CA" dirty="0">
                          <a:effectLst/>
                        </a:rPr>
                        <a:t> </a:t>
                      </a:r>
                      <a:r>
                        <a:rPr lang="en-CA" dirty="0" err="1">
                          <a:effectLst/>
                        </a:rPr>
                        <a:t>séquentiel</a:t>
                      </a:r>
                      <a:endParaRPr lang="en-CA" dirty="0">
                        <a:effectLst/>
                      </a:endParaRPr>
                    </a:p>
                  </a:txBody>
                  <a:tcPr marL="45720" marR="45720" marT="30480" marB="30480" anchor="ctr"/>
                </a:tc>
                <a:extLst>
                  <a:ext uri="{0D108BD9-81ED-4DB2-BD59-A6C34878D82A}">
                    <a16:rowId xmlns:a16="http://schemas.microsoft.com/office/drawing/2014/main" val="1459997865"/>
                  </a:ext>
                </a:extLst>
              </a:tr>
            </a:tbl>
          </a:graphicData>
        </a:graphic>
      </p:graphicFrame>
    </p:spTree>
    <p:extLst>
      <p:ext uri="{BB962C8B-B14F-4D97-AF65-F5344CB8AC3E}">
        <p14:creationId xmlns:p14="http://schemas.microsoft.com/office/powerpoint/2010/main" val="63516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0942-6616-CAC9-751B-A2A06FCE1B65}"/>
              </a:ext>
            </a:extLst>
          </p:cNvPr>
          <p:cNvSpPr>
            <a:spLocks noGrp="1"/>
          </p:cNvSpPr>
          <p:nvPr>
            <p:ph type="title"/>
          </p:nvPr>
        </p:nvSpPr>
        <p:spPr/>
        <p:txBody>
          <a:bodyPr/>
          <a:lstStyle/>
          <a:p>
            <a:r>
              <a:rPr lang="en-CA" dirty="0"/>
              <a:t>ChaCha20 — </a:t>
            </a:r>
            <a:r>
              <a:rPr lang="en-CA" dirty="0" err="1"/>
              <a:t>Conçu</a:t>
            </a:r>
            <a:r>
              <a:rPr lang="en-CA" dirty="0"/>
              <a:t> pour le </a:t>
            </a:r>
            <a:r>
              <a:rPr lang="en-CA" dirty="0" err="1"/>
              <a:t>logiciel</a:t>
            </a:r>
            <a:r>
              <a:rPr lang="en-CA" dirty="0"/>
              <a:t> </a:t>
            </a:r>
            <a:r>
              <a:rPr lang="en-CA" dirty="0" err="1"/>
              <a:t>pur</a:t>
            </a:r>
            <a:endParaRPr lang="en-CA" dirty="0"/>
          </a:p>
        </p:txBody>
      </p:sp>
      <p:pic>
        <p:nvPicPr>
          <p:cNvPr id="5" name="Content Placeholder 4">
            <a:extLst>
              <a:ext uri="{FF2B5EF4-FFF2-40B4-BE49-F238E27FC236}">
                <a16:creationId xmlns:a16="http://schemas.microsoft.com/office/drawing/2014/main" id="{B0F8D27E-69B3-ACA2-31E2-FF7244A5B450}"/>
              </a:ext>
            </a:extLst>
          </p:cNvPr>
          <p:cNvPicPr>
            <a:picLocks noGrp="1" noChangeAspect="1"/>
          </p:cNvPicPr>
          <p:nvPr>
            <p:ph idx="1"/>
          </p:nvPr>
        </p:nvPicPr>
        <p:blipFill>
          <a:blip r:embed="rId3"/>
          <a:stretch>
            <a:fillRect/>
          </a:stretch>
        </p:blipFill>
        <p:spPr>
          <a:xfrm>
            <a:off x="2685873" y="2063652"/>
            <a:ext cx="7296327" cy="4186865"/>
          </a:xfrm>
          <a:prstGeom prst="rect">
            <a:avLst/>
          </a:prstGeom>
        </p:spPr>
      </p:pic>
    </p:spTree>
    <p:extLst>
      <p:ext uri="{BB962C8B-B14F-4D97-AF65-F5344CB8AC3E}">
        <p14:creationId xmlns:p14="http://schemas.microsoft.com/office/powerpoint/2010/main" val="3076639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D9BC8-68F7-0713-9B4E-8729C34B1999}"/>
              </a:ext>
            </a:extLst>
          </p:cNvPr>
          <p:cNvSpPr>
            <a:spLocks noGrp="1"/>
          </p:cNvSpPr>
          <p:nvPr>
            <p:ph type="title"/>
          </p:nvPr>
        </p:nvSpPr>
        <p:spPr/>
        <p:txBody>
          <a:bodyPr/>
          <a:lstStyle/>
          <a:p>
            <a:endParaRPr lang="en-CA"/>
          </a:p>
        </p:txBody>
      </p:sp>
      <p:pic>
        <p:nvPicPr>
          <p:cNvPr id="5" name="Content Placeholder 4">
            <a:extLst>
              <a:ext uri="{FF2B5EF4-FFF2-40B4-BE49-F238E27FC236}">
                <a16:creationId xmlns:a16="http://schemas.microsoft.com/office/drawing/2014/main" id="{095E4952-771E-37D6-7391-0CDB2FE127E6}"/>
              </a:ext>
            </a:extLst>
          </p:cNvPr>
          <p:cNvPicPr>
            <a:picLocks noGrp="1" noChangeAspect="1"/>
          </p:cNvPicPr>
          <p:nvPr>
            <p:ph idx="1"/>
          </p:nvPr>
        </p:nvPicPr>
        <p:blipFill>
          <a:blip r:embed="rId3"/>
          <a:stretch>
            <a:fillRect/>
          </a:stretch>
        </p:blipFill>
        <p:spPr>
          <a:xfrm>
            <a:off x="2239946" y="1905612"/>
            <a:ext cx="7712108" cy="4191363"/>
          </a:xfrm>
          <a:prstGeom prst="rect">
            <a:avLst/>
          </a:prstGeom>
        </p:spPr>
      </p:pic>
    </p:spTree>
    <p:extLst>
      <p:ext uri="{BB962C8B-B14F-4D97-AF65-F5344CB8AC3E}">
        <p14:creationId xmlns:p14="http://schemas.microsoft.com/office/powerpoint/2010/main" val="883849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C1A57-2BBF-E1D2-8194-7E1207D39E1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98C94C1-C944-5788-55BD-0BB320A9EE96}"/>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9718713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D5D01-DA34-FCEC-7F3A-4AA0714A908C}"/>
              </a:ext>
            </a:extLst>
          </p:cNvPr>
          <p:cNvSpPr>
            <a:spLocks noGrp="1"/>
          </p:cNvSpPr>
          <p:nvPr>
            <p:ph type="title"/>
          </p:nvPr>
        </p:nvSpPr>
        <p:spPr/>
        <p:txBody>
          <a:bodyPr/>
          <a:lstStyle/>
          <a:p>
            <a:endParaRPr lang="en-CA"/>
          </a:p>
        </p:txBody>
      </p:sp>
      <p:pic>
        <p:nvPicPr>
          <p:cNvPr id="5" name="Content Placeholder 4">
            <a:extLst>
              <a:ext uri="{FF2B5EF4-FFF2-40B4-BE49-F238E27FC236}">
                <a16:creationId xmlns:a16="http://schemas.microsoft.com/office/drawing/2014/main" id="{D728CBE1-0E96-4098-531F-2D36ED1A1B70}"/>
              </a:ext>
            </a:extLst>
          </p:cNvPr>
          <p:cNvPicPr>
            <a:picLocks noGrp="1" noChangeAspect="1"/>
          </p:cNvPicPr>
          <p:nvPr>
            <p:ph idx="1"/>
          </p:nvPr>
        </p:nvPicPr>
        <p:blipFill>
          <a:blip r:embed="rId3"/>
          <a:stretch>
            <a:fillRect/>
          </a:stretch>
        </p:blipFill>
        <p:spPr>
          <a:xfrm>
            <a:off x="1457241" y="1825625"/>
            <a:ext cx="9277518" cy="4351338"/>
          </a:xfrm>
          <a:prstGeom prst="rect">
            <a:avLst/>
          </a:prstGeom>
        </p:spPr>
      </p:pic>
    </p:spTree>
    <p:extLst>
      <p:ext uri="{BB962C8B-B14F-4D97-AF65-F5344CB8AC3E}">
        <p14:creationId xmlns:p14="http://schemas.microsoft.com/office/powerpoint/2010/main" val="2131437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CAF73-5E4E-CA1E-0E2E-614DBE584700}"/>
              </a:ext>
            </a:extLst>
          </p:cNvPr>
          <p:cNvSpPr>
            <a:spLocks noGrp="1"/>
          </p:cNvSpPr>
          <p:nvPr>
            <p:ph type="title"/>
          </p:nvPr>
        </p:nvSpPr>
        <p:spPr/>
        <p:txBody>
          <a:bodyPr/>
          <a:lstStyle/>
          <a:p>
            <a:endParaRPr lang="en-CA"/>
          </a:p>
        </p:txBody>
      </p:sp>
      <p:pic>
        <p:nvPicPr>
          <p:cNvPr id="5" name="Content Placeholder 4">
            <a:extLst>
              <a:ext uri="{FF2B5EF4-FFF2-40B4-BE49-F238E27FC236}">
                <a16:creationId xmlns:a16="http://schemas.microsoft.com/office/drawing/2014/main" id="{077E24F8-8E09-7109-CFEA-F2FA5D6F50C7}"/>
              </a:ext>
            </a:extLst>
          </p:cNvPr>
          <p:cNvPicPr>
            <a:picLocks noGrp="1" noChangeAspect="1"/>
          </p:cNvPicPr>
          <p:nvPr>
            <p:ph idx="1"/>
          </p:nvPr>
        </p:nvPicPr>
        <p:blipFill>
          <a:blip r:embed="rId3"/>
          <a:stretch>
            <a:fillRect/>
          </a:stretch>
        </p:blipFill>
        <p:spPr>
          <a:xfrm>
            <a:off x="2023065" y="1825625"/>
            <a:ext cx="8145870" cy="4351338"/>
          </a:xfrm>
          <a:prstGeom prst="rect">
            <a:avLst/>
          </a:prstGeom>
        </p:spPr>
      </p:pic>
    </p:spTree>
    <p:extLst>
      <p:ext uri="{BB962C8B-B14F-4D97-AF65-F5344CB8AC3E}">
        <p14:creationId xmlns:p14="http://schemas.microsoft.com/office/powerpoint/2010/main" val="4124605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0A019-5647-C125-5A4C-B3B2646FADB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793A84-0400-CCE7-45C0-BAA5C71F85EA}"/>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313032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87A7A-01D6-1818-763C-2947ECE0FB5E}"/>
              </a:ext>
            </a:extLst>
          </p:cNvPr>
          <p:cNvSpPr>
            <a:spLocks noGrp="1"/>
          </p:cNvSpPr>
          <p:nvPr>
            <p:ph type="title"/>
          </p:nvPr>
        </p:nvSpPr>
        <p:spPr/>
        <p:txBody>
          <a:bodyPr/>
          <a:lstStyle/>
          <a:p>
            <a:endParaRPr lang="en-CA"/>
          </a:p>
        </p:txBody>
      </p:sp>
      <p:pic>
        <p:nvPicPr>
          <p:cNvPr id="5" name="Content Placeholder 4">
            <a:extLst>
              <a:ext uri="{FF2B5EF4-FFF2-40B4-BE49-F238E27FC236}">
                <a16:creationId xmlns:a16="http://schemas.microsoft.com/office/drawing/2014/main" id="{183F1886-18F9-1461-CBA9-83F55D68859D}"/>
              </a:ext>
            </a:extLst>
          </p:cNvPr>
          <p:cNvPicPr>
            <a:picLocks noGrp="1" noChangeAspect="1"/>
          </p:cNvPicPr>
          <p:nvPr>
            <p:ph idx="1"/>
          </p:nvPr>
        </p:nvPicPr>
        <p:blipFill>
          <a:blip r:embed="rId3"/>
          <a:stretch>
            <a:fillRect/>
          </a:stretch>
        </p:blipFill>
        <p:spPr>
          <a:xfrm>
            <a:off x="1758367" y="1825625"/>
            <a:ext cx="8675266" cy="4351338"/>
          </a:xfrm>
          <a:prstGeom prst="rect">
            <a:avLst/>
          </a:prstGeom>
        </p:spPr>
      </p:pic>
    </p:spTree>
    <p:extLst>
      <p:ext uri="{BB962C8B-B14F-4D97-AF65-F5344CB8AC3E}">
        <p14:creationId xmlns:p14="http://schemas.microsoft.com/office/powerpoint/2010/main" val="9719842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9B1A6-61A8-79EB-D469-095B1F0CF1C0}"/>
              </a:ext>
            </a:extLst>
          </p:cNvPr>
          <p:cNvSpPr>
            <a:spLocks noGrp="1"/>
          </p:cNvSpPr>
          <p:nvPr>
            <p:ph type="title"/>
          </p:nvPr>
        </p:nvSpPr>
        <p:spPr/>
        <p:txBody>
          <a:bodyPr/>
          <a:lstStyle/>
          <a:p>
            <a:endParaRPr lang="en-CA"/>
          </a:p>
        </p:txBody>
      </p:sp>
      <p:pic>
        <p:nvPicPr>
          <p:cNvPr id="14" name="Content Placeholder 13">
            <a:extLst>
              <a:ext uri="{FF2B5EF4-FFF2-40B4-BE49-F238E27FC236}">
                <a16:creationId xmlns:a16="http://schemas.microsoft.com/office/drawing/2014/main" id="{0829366A-A692-D53F-0B0B-6BF2FD401200}"/>
              </a:ext>
            </a:extLst>
          </p:cNvPr>
          <p:cNvPicPr>
            <a:picLocks noGrp="1" noChangeAspect="1"/>
          </p:cNvPicPr>
          <p:nvPr>
            <p:ph idx="1"/>
          </p:nvPr>
        </p:nvPicPr>
        <p:blipFill>
          <a:blip r:embed="rId3"/>
          <a:stretch>
            <a:fillRect/>
          </a:stretch>
        </p:blipFill>
        <p:spPr>
          <a:xfrm>
            <a:off x="2628599" y="2393334"/>
            <a:ext cx="6934801" cy="3215919"/>
          </a:xfrm>
          <a:prstGeom prst="rect">
            <a:avLst/>
          </a:prstGeom>
        </p:spPr>
      </p:pic>
    </p:spTree>
    <p:extLst>
      <p:ext uri="{BB962C8B-B14F-4D97-AF65-F5344CB8AC3E}">
        <p14:creationId xmlns:p14="http://schemas.microsoft.com/office/powerpoint/2010/main" val="2194855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D7CA-0E8C-7CFF-769C-E8D9F4939DD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8DCCC98-B498-318C-76E0-53FE1DAE02B2}"/>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6691105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5304</Words>
  <Application>Microsoft Office PowerPoint</Application>
  <PresentationFormat>Widescreen</PresentationFormat>
  <Paragraphs>513</Paragraphs>
  <Slides>20</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Consolas</vt:lpstr>
      <vt:lpstr>Segoe WPC</vt:lpstr>
      <vt:lpstr>Office Theme</vt:lpstr>
      <vt:lpstr>Comparaison expérimentale des algorithmes de chiffrement symétrique</vt:lpstr>
      <vt:lpstr>Plan de la présentation</vt:lpstr>
      <vt:lpstr>Nature du système</vt:lpstr>
      <vt:lpstr>Protocole expérimental</vt:lpstr>
      <vt:lpstr>Pourquoi Python ?</vt:lpstr>
      <vt:lpstr>Validation fonctionnelle — Known Answer Tests (KAT) </vt:lpstr>
      <vt:lpstr>AES — Advanced Encryption Standard</vt:lpstr>
      <vt:lpstr>AES — Résultats expérimentaux</vt:lpstr>
      <vt:lpstr>AES — Résultats expérimentaux</vt:lpstr>
      <vt:lpstr>AES — Résultats expérimentaux</vt:lpstr>
      <vt:lpstr>AES — Résultats expérimentaux</vt:lpstr>
      <vt:lpstr>ChaCha20 — Conçu pour le logiciel pur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Moya, Melissa (SSC/SPC)</dc:creator>
  <cp:lastModifiedBy>Moya, Melissa (SSC/SPC)</cp:lastModifiedBy>
  <cp:revision>1</cp:revision>
  <dcterms:created xsi:type="dcterms:W3CDTF">2026-06-12T22:19:59Z</dcterms:created>
  <dcterms:modified xsi:type="dcterms:W3CDTF">2026-06-13T00:57:20Z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51c139-e885-4e7f-8042-c4c17a61b6ec_Enabled">
    <vt:lpwstr>true</vt:lpwstr>
  </property>
  <property fmtid="{D5CDD505-2E9C-101B-9397-08002B2CF9AE}" pid="3" name="MSIP_Label_8951c139-e885-4e7f-8042-c4c17a61b6ec_SetDate">
    <vt:lpwstr>2026-06-13T00:57:20Z</vt:lpwstr>
  </property>
  <property fmtid="{D5CDD505-2E9C-101B-9397-08002B2CF9AE}" pid="4" name="MSIP_Label_8951c139-e885-4e7f-8042-c4c17a61b6ec_Method">
    <vt:lpwstr>Standard</vt:lpwstr>
  </property>
  <property fmtid="{D5CDD505-2E9C-101B-9397-08002B2CF9AE}" pid="5" name="MSIP_Label_8951c139-e885-4e7f-8042-c4c17a61b6ec_Name">
    <vt:lpwstr>Unclassified</vt:lpwstr>
  </property>
  <property fmtid="{D5CDD505-2E9C-101B-9397-08002B2CF9AE}" pid="6" name="MSIP_Label_8951c139-e885-4e7f-8042-c4c17a61b6ec_SiteId">
    <vt:lpwstr>d05bc194-94bf-4ad6-ae2e-1db0f2e38f5e</vt:lpwstr>
  </property>
  <property fmtid="{D5CDD505-2E9C-101B-9397-08002B2CF9AE}" pid="7" name="MSIP_Label_8951c139-e885-4e7f-8042-c4c17a61b6ec_ActionId">
    <vt:lpwstr>8ef53603-a962-4cfc-8d68-c6a8aeedb9fe</vt:lpwstr>
  </property>
  <property fmtid="{D5CDD505-2E9C-101B-9397-08002B2CF9AE}" pid="8" name="MSIP_Label_8951c139-e885-4e7f-8042-c4c17a61b6ec_ContentBits">
    <vt:lpwstr>1</vt:lpwstr>
  </property>
  <property fmtid="{D5CDD505-2E9C-101B-9397-08002B2CF9AE}" pid="9" name="MSIP_Label_8951c139-e885-4e7f-8042-c4c17a61b6ec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Unclassified | Non classifié</vt:lpwstr>
  </property>
</Properties>
</file>