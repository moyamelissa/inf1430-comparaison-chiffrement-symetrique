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9" r:id="rId3"/>
    <p:sldId id="270" r:id="rId4"/>
    <p:sldId id="260" r:id="rId5"/>
    <p:sldId id="261" r:id="rId6"/>
    <p:sldId id="271" r:id="rId7"/>
    <p:sldId id="272" r:id="rId8"/>
    <p:sldId id="263" r:id="rId9"/>
    <p:sldId id="264" r:id="rId10"/>
    <p:sldId id="265" r:id="rId11"/>
    <p:sldId id="273" r:id="rId12"/>
    <p:sldId id="266" r:id="rId13"/>
    <p:sldId id="267" r:id="rId14"/>
    <p:sldId id="268" r:id="rId15"/>
    <p:sldId id="269" r:id="rId16"/>
    <p:sldId id="274" r:id="rId17"/>
    <p:sldId id="277" r:id="rId18"/>
    <p:sldId id="276" r:id="rId19"/>
    <p:sldId id="278" r:id="rId20"/>
    <p:sldId id="295" r:id="rId21"/>
    <p:sldId id="293" r:id="rId22"/>
    <p:sldId id="294" r:id="rId23"/>
    <p:sldId id="292"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F1430_TN3" id="{7CB17DB5-E14D-4A3F-81E3-1430350692BF}">
          <p14:sldIdLst>
            <p14:sldId id="256"/>
            <p14:sldId id="259"/>
            <p14:sldId id="270"/>
            <p14:sldId id="260"/>
            <p14:sldId id="261"/>
            <p14:sldId id="271"/>
            <p14:sldId id="272"/>
            <p14:sldId id="263"/>
            <p14:sldId id="264"/>
            <p14:sldId id="265"/>
            <p14:sldId id="273"/>
            <p14:sldId id="266"/>
            <p14:sldId id="267"/>
            <p14:sldId id="268"/>
            <p14:sldId id="269"/>
            <p14:sldId id="274"/>
            <p14:sldId id="277"/>
            <p14:sldId id="276"/>
            <p14:sldId id="278"/>
            <p14:sldId id="295"/>
            <p14:sldId id="293"/>
            <p14:sldId id="294"/>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88888"/>
    <a:srgbClr val="555555"/>
    <a:srgbClr val="CBCBCB"/>
    <a:srgbClr val="CFB260"/>
    <a:srgbClr val="0A0A0A"/>
    <a:srgbClr val="AEAEAE"/>
    <a:srgbClr val="FFFFFF"/>
    <a:srgbClr val="BFBFBF"/>
    <a:srgbClr val="FAFAFA"/>
    <a:srgbClr val="C0C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0" d="100"/>
          <a:sy n="110" d="100"/>
        </p:scale>
        <p:origin x="658"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14520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hyperlink" Target="https://youtu.be/DYLp7PELGys" TargetMode="Externa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hyperlink" Target="https://youtu.be/gYSkTwR4WQk"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youtu.be/N30wvNoNTRs"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hyperlink" Target="https://youtu.be/-u2vcMmLjm0"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7" name="Text 2"/>
          <p:cNvSpPr/>
          <p:nvPr/>
        </p:nvSpPr>
        <p:spPr>
          <a:xfrm>
            <a:off x="475488" y="804672"/>
            <a:ext cx="4389120" cy="256032"/>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UNIVERSITÉ TÉLUQ  ·  INF1430  ·  HIVER 2026</a:t>
            </a:r>
            <a:endParaRPr lang="en-US" sz="800" dirty="0"/>
          </a:p>
        </p:txBody>
      </p:sp>
      <p:sp>
        <p:nvSpPr>
          <p:cNvPr id="8" name="Text 3"/>
          <p:cNvSpPr/>
          <p:nvPr/>
        </p:nvSpPr>
        <p:spPr>
          <a:xfrm>
            <a:off x="475488" y="1170432"/>
            <a:ext cx="3460868" cy="1508760"/>
          </a:xfrm>
          <a:prstGeom prst="rect">
            <a:avLst/>
          </a:prstGeom>
          <a:noFill/>
          <a:ln/>
        </p:spPr>
        <p:txBody>
          <a:bodyPr wrap="square" lIns="0" tIns="0" rIns="0" bIns="0" rtlCol="0" anchor="t"/>
          <a:lstStyle/>
          <a:p>
            <a:pPr marL="0" indent="0">
              <a:buNone/>
            </a:pPr>
            <a:r>
              <a:rPr lang="en-US" sz="2200" b="1" dirty="0">
                <a:solidFill>
                  <a:srgbClr val="0A0A0A"/>
                </a:solidFill>
                <a:latin typeface="Calibri" pitchFamily="34" charset="0"/>
                <a:ea typeface="Calibri" pitchFamily="34" charset="-122"/>
                <a:cs typeface="Calibri" pitchFamily="34" charset="-120"/>
              </a:rPr>
              <a:t>Comparaison expérimentale des algorithmes de </a:t>
            </a:r>
            <a:r>
              <a:rPr lang="en-US" sz="2200" b="1" dirty="0">
                <a:solidFill>
                  <a:srgbClr val="C9A84C"/>
                </a:solidFill>
                <a:latin typeface="Calibri" pitchFamily="34" charset="0"/>
                <a:ea typeface="Calibri" pitchFamily="34" charset="-122"/>
                <a:cs typeface="Calibri" pitchFamily="34" charset="-120"/>
              </a:rPr>
              <a:t>chiffrement symétrique</a:t>
            </a:r>
            <a:endParaRPr lang="en-US" sz="2200" dirty="0"/>
          </a:p>
        </p:txBody>
      </p:sp>
      <p:sp>
        <p:nvSpPr>
          <p:cNvPr id="9" name="Shape 4"/>
          <p:cNvSpPr/>
          <p:nvPr/>
        </p:nvSpPr>
        <p:spPr>
          <a:xfrm>
            <a:off x="475488" y="2834640"/>
            <a:ext cx="1371600" cy="0"/>
          </a:xfrm>
          <a:prstGeom prst="line">
            <a:avLst/>
          </a:prstGeom>
          <a:noFill/>
          <a:ln w="15240">
            <a:solidFill>
              <a:srgbClr val="C9A84C"/>
            </a:solidFill>
            <a:prstDash val="solid"/>
          </a:ln>
        </p:spPr>
        <p:txBody>
          <a:bodyPr/>
          <a:lstStyle/>
          <a:p>
            <a:endParaRPr lang="en-CA"/>
          </a:p>
        </p:txBody>
      </p:sp>
      <p:sp>
        <p:nvSpPr>
          <p:cNvPr id="10" name="Shape 5"/>
          <p:cNvSpPr/>
          <p:nvPr/>
        </p:nvSpPr>
        <p:spPr>
          <a:xfrm>
            <a:off x="1892808" y="2793492"/>
            <a:ext cx="82296" cy="82296"/>
          </a:xfrm>
          <a:prstGeom prst="ellipse">
            <a:avLst/>
          </a:prstGeom>
          <a:solidFill>
            <a:srgbClr val="C9A84C"/>
          </a:solidFill>
          <a:ln w="12700">
            <a:solidFill>
              <a:srgbClr val="C9A84C"/>
            </a:solidFill>
            <a:prstDash val="solid"/>
          </a:ln>
        </p:spPr>
        <p:txBody>
          <a:bodyPr/>
          <a:lstStyle/>
          <a:p>
            <a:endParaRPr lang="en-CA"/>
          </a:p>
        </p:txBody>
      </p:sp>
      <p:sp>
        <p:nvSpPr>
          <p:cNvPr id="11" name="Shape 6"/>
          <p:cNvSpPr/>
          <p:nvPr/>
        </p:nvSpPr>
        <p:spPr>
          <a:xfrm>
            <a:off x="2029968" y="2834640"/>
            <a:ext cx="731520" cy="0"/>
          </a:xfrm>
          <a:prstGeom prst="line">
            <a:avLst/>
          </a:prstGeom>
          <a:noFill/>
          <a:ln w="15240">
            <a:solidFill>
              <a:srgbClr val="C9A84C"/>
            </a:solidFill>
            <a:prstDash val="solid"/>
          </a:ln>
        </p:spPr>
        <p:txBody>
          <a:bodyPr/>
          <a:lstStyle/>
          <a:p>
            <a:endParaRPr lang="en-CA"/>
          </a:p>
        </p:txBody>
      </p:sp>
      <p:sp>
        <p:nvSpPr>
          <p:cNvPr id="12" name="Text 7"/>
          <p:cNvSpPr/>
          <p:nvPr/>
        </p:nvSpPr>
        <p:spPr>
          <a:xfrm>
            <a:off x="475488" y="3035808"/>
            <a:ext cx="4389120" cy="329184"/>
          </a:xfrm>
          <a:prstGeom prst="rect">
            <a:avLst/>
          </a:prstGeom>
          <a:noFill/>
          <a:ln/>
        </p:spPr>
        <p:txBody>
          <a:bodyPr wrap="square" lIns="0" tIns="0" rIns="0" bIns="0" rtlCol="0" anchor="ctr"/>
          <a:lstStyle/>
          <a:p>
            <a:pPr marL="0" indent="0">
              <a:buNone/>
            </a:pPr>
            <a:r>
              <a:rPr lang="en-US" sz="1200" b="1" dirty="0">
                <a:solidFill>
                  <a:srgbClr val="0A0A0A"/>
                </a:solidFill>
                <a:latin typeface="Calibri" pitchFamily="34" charset="0"/>
                <a:ea typeface="Calibri" pitchFamily="34" charset="-122"/>
                <a:cs typeface="Calibri" pitchFamily="34" charset="-120"/>
              </a:rPr>
              <a:t>Melissa Moya</a:t>
            </a:r>
            <a:endParaRPr lang="en-US" sz="1200" dirty="0"/>
          </a:p>
        </p:txBody>
      </p:sp>
      <p:sp>
        <p:nvSpPr>
          <p:cNvPr id="13" name="Text 8"/>
          <p:cNvSpPr/>
          <p:nvPr/>
        </p:nvSpPr>
        <p:spPr>
          <a:xfrm>
            <a:off x="475488" y="3401568"/>
            <a:ext cx="4389120" cy="237744"/>
          </a:xfrm>
          <a:prstGeom prst="rect">
            <a:avLst/>
          </a:prstGeom>
          <a:noFill/>
          <a:ln/>
        </p:spPr>
        <p:txBody>
          <a:bodyPr wrap="square" lIns="0" tIns="0" rIns="0" bIns="0" rtlCol="0" anchor="ctr"/>
          <a:lstStyle/>
          <a:p>
            <a:pPr marL="0" indent="0">
              <a:buNone/>
            </a:pPr>
            <a:r>
              <a:rPr lang="en-US" sz="1000" dirty="0">
                <a:solidFill>
                  <a:srgbClr val="999999"/>
                </a:solidFill>
                <a:latin typeface="Calibri" pitchFamily="34" charset="0"/>
                <a:ea typeface="Calibri" pitchFamily="34" charset="-122"/>
                <a:cs typeface="Calibri" pitchFamily="34" charset="-120"/>
              </a:rPr>
              <a:t>Présenté à Habib Louafi  ·  TN3</a:t>
            </a:r>
            <a:endParaRPr lang="en-US" sz="1000" dirty="0"/>
          </a:p>
        </p:txBody>
      </p:sp>
      <p:sp>
        <p:nvSpPr>
          <p:cNvPr id="64" name="Rectangle: Rounded Corners 63">
            <a:extLst>
              <a:ext uri="{FF2B5EF4-FFF2-40B4-BE49-F238E27FC236}">
                <a16:creationId xmlns:a16="http://schemas.microsoft.com/office/drawing/2014/main" id="{8AA04CA1-CC9D-41B4-8713-DBFB59A27B8C}"/>
              </a:ext>
            </a:extLst>
          </p:cNvPr>
          <p:cNvSpPr/>
          <p:nvPr/>
        </p:nvSpPr>
        <p:spPr>
          <a:xfrm>
            <a:off x="6405862" y="332377"/>
            <a:ext cx="2622811" cy="1062445"/>
          </a:xfrm>
          <a:prstGeom prst="roundRect">
            <a:avLst/>
          </a:prstGeom>
          <a:blipFill>
            <a:blip r:embed="rId3">
              <a:alphaModFix amt="30000"/>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2" name="Rectangle: Rounded Corners 71">
            <a:extLst>
              <a:ext uri="{FF2B5EF4-FFF2-40B4-BE49-F238E27FC236}">
                <a16:creationId xmlns:a16="http://schemas.microsoft.com/office/drawing/2014/main" id="{7EF7DB7F-5644-C13A-1771-A6551B59F937}"/>
              </a:ext>
            </a:extLst>
          </p:cNvPr>
          <p:cNvSpPr/>
          <p:nvPr/>
        </p:nvSpPr>
        <p:spPr>
          <a:xfrm>
            <a:off x="4656891" y="3748678"/>
            <a:ext cx="2622811" cy="830217"/>
          </a:xfrm>
          <a:prstGeom prst="roundRect">
            <a:avLst/>
          </a:prstGeom>
          <a:blipFill>
            <a:blip r:embed="rId3">
              <a:alphaModFix amt="15000"/>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2" name="Rectangle: Rounded Corners 61">
            <a:extLst>
              <a:ext uri="{FF2B5EF4-FFF2-40B4-BE49-F238E27FC236}">
                <a16:creationId xmlns:a16="http://schemas.microsoft.com/office/drawing/2014/main" id="{B636C24E-2A30-5824-7C7B-3CC85CAAC328}"/>
              </a:ext>
            </a:extLst>
          </p:cNvPr>
          <p:cNvSpPr/>
          <p:nvPr/>
        </p:nvSpPr>
        <p:spPr>
          <a:xfrm>
            <a:off x="5477610" y="1264629"/>
            <a:ext cx="3296276" cy="2829125"/>
          </a:xfrm>
          <a:prstGeom prst="roundRect">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74" name="Image 5" descr="preencoded.png">
            <a:extLst>
              <a:ext uri="{FF2B5EF4-FFF2-40B4-BE49-F238E27FC236}">
                <a16:creationId xmlns:a16="http://schemas.microsoft.com/office/drawing/2014/main" id="{7A7EFB35-2AFE-786C-7ADE-AECE0C48CC5A}"/>
              </a:ext>
            </a:extLst>
          </p:cNvPr>
          <p:cNvPicPr>
            <a:picLocks noChangeAspect="1"/>
          </p:cNvPicPr>
          <p:nvPr/>
        </p:nvPicPr>
        <p:blipFill>
          <a:blip r:embed="rId4">
            <a:alphaModFix amt="8000"/>
            <a:extLst>
              <a:ext uri="{BEBA8EAE-BF5A-486C-A8C5-ECC9F3942E4B}">
                <a14:imgProps xmlns:a14="http://schemas.microsoft.com/office/drawing/2010/main">
                  <a14:imgLayer r:embed="rId5">
                    <a14:imgEffect>
                      <a14:brightnessContrast contrast="-100000"/>
                    </a14:imgEffect>
                  </a14:imgLayer>
                </a14:imgProps>
              </a:ext>
            </a:extLst>
          </a:blip>
          <a:stretch>
            <a:fillRect/>
          </a:stretch>
        </p:blipFill>
        <p:spPr>
          <a:xfrm>
            <a:off x="4709434" y="249918"/>
            <a:ext cx="996423" cy="996423"/>
          </a:xfrm>
          <a:prstGeom prst="rect">
            <a:avLst/>
          </a:prstGeom>
          <a:noFill/>
        </p:spPr>
      </p:pic>
      <p:pic>
        <p:nvPicPr>
          <p:cNvPr id="76" name="Image 6" descr="preencoded.png">
            <a:extLst>
              <a:ext uri="{FF2B5EF4-FFF2-40B4-BE49-F238E27FC236}">
                <a16:creationId xmlns:a16="http://schemas.microsoft.com/office/drawing/2014/main" id="{D36E3A2C-4486-B599-A9E8-86814A1F06ED}"/>
              </a:ext>
            </a:extLst>
          </p:cNvPr>
          <p:cNvPicPr>
            <a:picLocks noChangeAspect="1"/>
          </p:cNvPicPr>
          <p:nvPr/>
        </p:nvPicPr>
        <p:blipFill>
          <a:blip r:embed="rId6">
            <a:alphaModFix amt="18000"/>
            <a:extLst>
              <a:ext uri="{BEBA8EAE-BF5A-486C-A8C5-ECC9F3942E4B}">
                <a14:imgProps xmlns:a14="http://schemas.microsoft.com/office/drawing/2010/main">
                  <a14:imgLayer r:embed="rId7">
                    <a14:imgEffect>
                      <a14:brightnessContrast contrast="-100000"/>
                    </a14:imgEffect>
                  </a14:imgLayer>
                </a14:imgProps>
              </a:ext>
            </a:extLst>
          </a:blip>
          <a:stretch>
            <a:fillRect/>
          </a:stretch>
        </p:blipFill>
        <p:spPr>
          <a:xfrm>
            <a:off x="7966066" y="4251135"/>
            <a:ext cx="713478" cy="71347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57200" y="285195"/>
            <a:ext cx="5486400" cy="420624"/>
          </a:xfrm>
          <a:prstGeom prst="rect">
            <a:avLst/>
          </a:prstGeom>
          <a:noFill/>
          <a:ln/>
        </p:spPr>
        <p:txBody>
          <a:bodyPr wrap="square" lIns="0" tIns="0" rIns="0" bIns="0" rtlCol="0" anchor="ctr"/>
          <a:lstStyle/>
          <a:p>
            <a:pPr marL="0" indent="0">
              <a:buNone/>
            </a:pPr>
            <a:r>
              <a:rPr lang="en-US" sz="1600" b="1" dirty="0">
                <a:solidFill>
                  <a:srgbClr val="0A0A0A"/>
                </a:solidFill>
                <a:latin typeface="Calibri" pitchFamily="34" charset="0"/>
                <a:ea typeface="Calibri" pitchFamily="34" charset="-122"/>
                <a:cs typeface="Calibri" pitchFamily="34" charset="-120"/>
              </a:rPr>
              <a:t>Plan de </a:t>
            </a:r>
            <a:r>
              <a:rPr lang="en-US" sz="1600" b="1" dirty="0">
                <a:solidFill>
                  <a:srgbClr val="C9A84C"/>
                </a:solidFill>
                <a:latin typeface="Calibri" pitchFamily="34" charset="0"/>
                <a:ea typeface="Calibri" pitchFamily="34" charset="-122"/>
                <a:cs typeface="Calibri" pitchFamily="34" charset="-120"/>
              </a:rPr>
              <a:t>présentation</a:t>
            </a:r>
            <a:endParaRPr lang="en-US" sz="1600" dirty="0"/>
          </a:p>
        </p:txBody>
      </p:sp>
      <p:sp>
        <p:nvSpPr>
          <p:cNvPr id="4" name="Text 2"/>
          <p:cNvSpPr/>
          <p:nvPr/>
        </p:nvSpPr>
        <p:spPr>
          <a:xfrm>
            <a:off x="420624" y="1191214"/>
            <a:ext cx="1097280" cy="777240"/>
          </a:xfrm>
          <a:prstGeom prst="rect">
            <a:avLst/>
          </a:prstGeom>
          <a:noFill/>
          <a:ln/>
        </p:spPr>
        <p:txBody>
          <a:bodyPr wrap="square" lIns="0" tIns="0" rIns="0" bIns="0" rtlCol="0" anchor="ctr"/>
          <a:lstStyle/>
          <a:p>
            <a:pPr marL="0" indent="0">
              <a:buNone/>
            </a:pPr>
            <a:r>
              <a:rPr lang="en-US" sz="5200" b="1" dirty="0">
                <a:solidFill>
                  <a:srgbClr val="C9A84C">
                    <a:alpha val="8000"/>
                  </a:srgbClr>
                </a:solidFill>
                <a:latin typeface="Calibri" pitchFamily="34" charset="0"/>
                <a:ea typeface="Calibri" pitchFamily="34" charset="-122"/>
                <a:cs typeface="Calibri" pitchFamily="34" charset="-120"/>
              </a:rPr>
              <a:t>01</a:t>
            </a:r>
            <a:endParaRPr lang="en-US" sz="5200" dirty="0"/>
          </a:p>
        </p:txBody>
      </p:sp>
      <p:sp>
        <p:nvSpPr>
          <p:cNvPr id="5" name="Shape 3"/>
          <p:cNvSpPr/>
          <p:nvPr/>
        </p:nvSpPr>
        <p:spPr>
          <a:xfrm>
            <a:off x="457200" y="1374094"/>
            <a:ext cx="0" cy="1123811"/>
          </a:xfrm>
          <a:prstGeom prst="line">
            <a:avLst/>
          </a:prstGeom>
          <a:noFill/>
          <a:ln w="31750">
            <a:solidFill>
              <a:srgbClr val="C9A84C"/>
            </a:solidFill>
            <a:prstDash val="solid"/>
          </a:ln>
        </p:spPr>
        <p:txBody>
          <a:bodyPr/>
          <a:lstStyle/>
          <a:p>
            <a:endParaRPr lang="en-CA"/>
          </a:p>
        </p:txBody>
      </p:sp>
      <p:sp>
        <p:nvSpPr>
          <p:cNvPr id="6" name="Text 4"/>
          <p:cNvSpPr/>
          <p:nvPr/>
        </p:nvSpPr>
        <p:spPr>
          <a:xfrm>
            <a:off x="585216" y="1374094"/>
            <a:ext cx="365760" cy="201168"/>
          </a:xfrm>
          <a:prstGeom prst="rect">
            <a:avLst/>
          </a:prstGeom>
          <a:noFill/>
          <a:ln/>
        </p:spPr>
        <p:txBody>
          <a:bodyPr wrap="square" lIns="0" tIns="0" rIns="0" bIns="0" rtlCol="0" anchor="ctr"/>
          <a:lstStyle/>
          <a:p>
            <a:pPr marL="0" indent="0">
              <a:buNone/>
            </a:pPr>
            <a:r>
              <a:rPr lang="en-US" sz="900" b="1" dirty="0">
                <a:solidFill>
                  <a:srgbClr val="C9A84C"/>
                </a:solidFill>
                <a:latin typeface="Calibri" pitchFamily="34" charset="0"/>
                <a:ea typeface="Calibri" pitchFamily="34" charset="-122"/>
                <a:cs typeface="Calibri" pitchFamily="34" charset="-120"/>
              </a:rPr>
              <a:t>01</a:t>
            </a:r>
            <a:endParaRPr lang="en-US" sz="900" dirty="0"/>
          </a:p>
        </p:txBody>
      </p:sp>
      <p:sp>
        <p:nvSpPr>
          <p:cNvPr id="7" name="Text 5"/>
          <p:cNvSpPr/>
          <p:nvPr/>
        </p:nvSpPr>
        <p:spPr>
          <a:xfrm>
            <a:off x="585216" y="1593550"/>
            <a:ext cx="2487168" cy="347472"/>
          </a:xfrm>
          <a:prstGeom prst="rect">
            <a:avLst/>
          </a:prstGeom>
          <a:noFill/>
          <a:ln/>
        </p:spPr>
        <p:txBody>
          <a:bodyPr wrap="square" lIns="0" tIns="0" rIns="0" bIns="0" rtlCol="0" anchor="t"/>
          <a:lstStyle/>
          <a:p>
            <a:pPr marL="0" indent="0">
              <a:buNone/>
            </a:pPr>
            <a:r>
              <a:rPr lang="en-US" sz="1100" b="1" dirty="0">
                <a:solidFill>
                  <a:srgbClr val="0A0A0A"/>
                </a:solidFill>
                <a:latin typeface="Calibri" pitchFamily="34" charset="0"/>
                <a:ea typeface="Calibri" pitchFamily="34" charset="-122"/>
                <a:cs typeface="Calibri" pitchFamily="34" charset="-120"/>
              </a:rPr>
              <a:t>Nature du système et objectifs</a:t>
            </a:r>
            <a:endParaRPr lang="en-US" sz="1100" dirty="0"/>
          </a:p>
        </p:txBody>
      </p:sp>
      <p:sp>
        <p:nvSpPr>
          <p:cNvPr id="8" name="Text 6"/>
          <p:cNvSpPr/>
          <p:nvPr/>
        </p:nvSpPr>
        <p:spPr>
          <a:xfrm>
            <a:off x="557507" y="1875283"/>
            <a:ext cx="2487168" cy="658368"/>
          </a:xfrm>
          <a:prstGeom prst="rect">
            <a:avLst/>
          </a:prstGeom>
          <a:noFill/>
          <a:ln/>
        </p:spPr>
        <p:txBody>
          <a:bodyPr wrap="square" lIns="0" tIns="0" rIns="0" bIns="0" rtlCol="0" anchor="t"/>
          <a:lstStyle/>
          <a:p>
            <a:pPr marL="0" indent="0">
              <a:buNone/>
            </a:pPr>
            <a:r>
              <a:rPr lang="fr-FR" sz="900" dirty="0">
                <a:solidFill>
                  <a:srgbClr val="888888"/>
                </a:solidFill>
                <a:latin typeface="Calibri" pitchFamily="34" charset="0"/>
                <a:ea typeface="Calibri" pitchFamily="34" charset="-122"/>
                <a:cs typeface="Calibri" pitchFamily="34" charset="-120"/>
              </a:rPr>
              <a:t>Architecture en couches, périmètre expérimental et objectifs de comparaison.</a:t>
            </a:r>
            <a:endParaRPr lang="en-US" sz="900" dirty="0"/>
          </a:p>
        </p:txBody>
      </p:sp>
      <p:sp>
        <p:nvSpPr>
          <p:cNvPr id="9" name="Text 7"/>
          <p:cNvSpPr/>
          <p:nvPr/>
        </p:nvSpPr>
        <p:spPr>
          <a:xfrm>
            <a:off x="3236976" y="1191214"/>
            <a:ext cx="1097280" cy="777240"/>
          </a:xfrm>
          <a:prstGeom prst="rect">
            <a:avLst/>
          </a:prstGeom>
          <a:noFill/>
          <a:ln/>
        </p:spPr>
        <p:txBody>
          <a:bodyPr wrap="square" lIns="0" tIns="0" rIns="0" bIns="0" rtlCol="0" anchor="ctr"/>
          <a:lstStyle/>
          <a:p>
            <a:pPr marL="0" indent="0">
              <a:buNone/>
            </a:pPr>
            <a:r>
              <a:rPr lang="en-US" sz="5200" b="1" dirty="0">
                <a:solidFill>
                  <a:srgbClr val="C9A84C">
                    <a:alpha val="8000"/>
                  </a:srgbClr>
                </a:solidFill>
                <a:latin typeface="Calibri" pitchFamily="34" charset="0"/>
                <a:ea typeface="Calibri" pitchFamily="34" charset="-122"/>
                <a:cs typeface="Calibri" pitchFamily="34" charset="-120"/>
              </a:rPr>
              <a:t>02</a:t>
            </a:r>
            <a:endParaRPr lang="en-US" sz="5200" dirty="0"/>
          </a:p>
        </p:txBody>
      </p:sp>
      <p:sp>
        <p:nvSpPr>
          <p:cNvPr id="11" name="Text 9"/>
          <p:cNvSpPr/>
          <p:nvPr/>
        </p:nvSpPr>
        <p:spPr>
          <a:xfrm>
            <a:off x="3401568" y="1374094"/>
            <a:ext cx="365760" cy="201168"/>
          </a:xfrm>
          <a:prstGeom prst="rect">
            <a:avLst/>
          </a:prstGeom>
          <a:noFill/>
          <a:ln/>
        </p:spPr>
        <p:txBody>
          <a:bodyPr wrap="square" lIns="0" tIns="0" rIns="0" bIns="0" rtlCol="0" anchor="ctr"/>
          <a:lstStyle/>
          <a:p>
            <a:pPr marL="0" indent="0">
              <a:buNone/>
            </a:pPr>
            <a:r>
              <a:rPr lang="en-US" sz="900" b="1" dirty="0">
                <a:solidFill>
                  <a:srgbClr val="C9A84C"/>
                </a:solidFill>
                <a:latin typeface="Calibri" pitchFamily="34" charset="0"/>
                <a:ea typeface="Calibri" pitchFamily="34" charset="-122"/>
                <a:cs typeface="Calibri" pitchFamily="34" charset="-120"/>
              </a:rPr>
              <a:t>02</a:t>
            </a:r>
            <a:endParaRPr lang="en-US" sz="900" dirty="0"/>
          </a:p>
        </p:txBody>
      </p:sp>
      <p:sp>
        <p:nvSpPr>
          <p:cNvPr id="12" name="Text 10"/>
          <p:cNvSpPr/>
          <p:nvPr/>
        </p:nvSpPr>
        <p:spPr>
          <a:xfrm>
            <a:off x="3401568" y="1593550"/>
            <a:ext cx="2487168" cy="347472"/>
          </a:xfrm>
          <a:prstGeom prst="rect">
            <a:avLst/>
          </a:prstGeom>
          <a:noFill/>
          <a:ln/>
        </p:spPr>
        <p:txBody>
          <a:bodyPr wrap="square" lIns="0" tIns="0" rIns="0" bIns="0" rtlCol="0" anchor="t"/>
          <a:lstStyle/>
          <a:p>
            <a:pPr marL="0" indent="0">
              <a:buNone/>
            </a:pPr>
            <a:r>
              <a:rPr lang="en-US" sz="1100" b="1" dirty="0">
                <a:solidFill>
                  <a:srgbClr val="0A0A0A"/>
                </a:solidFill>
                <a:latin typeface="Calibri" pitchFamily="34" charset="0"/>
                <a:ea typeface="Calibri" pitchFamily="34" charset="-122"/>
                <a:cs typeface="Calibri" pitchFamily="34" charset="-120"/>
              </a:rPr>
              <a:t>Protocole expérimental et environnement</a:t>
            </a:r>
            <a:endParaRPr lang="en-US" sz="1100" dirty="0"/>
          </a:p>
        </p:txBody>
      </p:sp>
      <p:sp>
        <p:nvSpPr>
          <p:cNvPr id="13" name="Text 11"/>
          <p:cNvSpPr/>
          <p:nvPr/>
        </p:nvSpPr>
        <p:spPr>
          <a:xfrm>
            <a:off x="3387711" y="1900626"/>
            <a:ext cx="2487168" cy="488961"/>
          </a:xfrm>
          <a:prstGeom prst="rect">
            <a:avLst/>
          </a:prstGeom>
          <a:noFill/>
          <a:ln/>
        </p:spPr>
        <p:txBody>
          <a:bodyPr wrap="square" lIns="0" tIns="0" rIns="0" bIns="0" rtlCol="0" anchor="t"/>
          <a:lstStyle/>
          <a:p>
            <a:pPr marL="0" indent="0">
              <a:buNone/>
            </a:pPr>
            <a:r>
              <a:rPr lang="fr-FR" sz="900" dirty="0">
                <a:solidFill>
                  <a:srgbClr val="888888"/>
                </a:solidFill>
                <a:latin typeface="Calibri" pitchFamily="34" charset="0"/>
                <a:ea typeface="Calibri" pitchFamily="34" charset="-122"/>
                <a:cs typeface="Calibri" pitchFamily="34" charset="-120"/>
              </a:rPr>
              <a:t>Paramètres de mesure et même protocole rejoué sur x86 et ARM.</a:t>
            </a:r>
            <a:endParaRPr lang="en-US" sz="900" dirty="0"/>
          </a:p>
        </p:txBody>
      </p:sp>
      <p:sp>
        <p:nvSpPr>
          <p:cNvPr id="14" name="Text 12"/>
          <p:cNvSpPr/>
          <p:nvPr/>
        </p:nvSpPr>
        <p:spPr>
          <a:xfrm>
            <a:off x="6053328" y="1191214"/>
            <a:ext cx="1097280" cy="777240"/>
          </a:xfrm>
          <a:prstGeom prst="rect">
            <a:avLst/>
          </a:prstGeom>
          <a:noFill/>
          <a:ln/>
        </p:spPr>
        <p:txBody>
          <a:bodyPr wrap="square" lIns="0" tIns="0" rIns="0" bIns="0" rtlCol="0" anchor="ctr"/>
          <a:lstStyle/>
          <a:p>
            <a:pPr marL="0" indent="0">
              <a:buNone/>
            </a:pPr>
            <a:r>
              <a:rPr lang="en-US" sz="5200" b="1" dirty="0">
                <a:solidFill>
                  <a:srgbClr val="C9A84C">
                    <a:alpha val="8000"/>
                  </a:srgbClr>
                </a:solidFill>
                <a:latin typeface="Calibri" pitchFamily="34" charset="0"/>
                <a:ea typeface="Calibri" pitchFamily="34" charset="-122"/>
                <a:cs typeface="Calibri" pitchFamily="34" charset="-120"/>
              </a:rPr>
              <a:t>03</a:t>
            </a:r>
            <a:endParaRPr lang="en-US" sz="5200" dirty="0"/>
          </a:p>
        </p:txBody>
      </p:sp>
      <p:sp>
        <p:nvSpPr>
          <p:cNvPr id="16" name="Text 14"/>
          <p:cNvSpPr/>
          <p:nvPr/>
        </p:nvSpPr>
        <p:spPr>
          <a:xfrm>
            <a:off x="6217920" y="1374094"/>
            <a:ext cx="365760" cy="201168"/>
          </a:xfrm>
          <a:prstGeom prst="rect">
            <a:avLst/>
          </a:prstGeom>
          <a:noFill/>
          <a:ln/>
        </p:spPr>
        <p:txBody>
          <a:bodyPr wrap="square" lIns="0" tIns="0" rIns="0" bIns="0" rtlCol="0" anchor="ctr"/>
          <a:lstStyle/>
          <a:p>
            <a:pPr marL="0" indent="0">
              <a:buNone/>
            </a:pPr>
            <a:r>
              <a:rPr lang="en-US" sz="900" b="1" dirty="0">
                <a:solidFill>
                  <a:srgbClr val="C9A84C"/>
                </a:solidFill>
                <a:latin typeface="Calibri" pitchFamily="34" charset="0"/>
                <a:ea typeface="Calibri" pitchFamily="34" charset="-122"/>
                <a:cs typeface="Calibri" pitchFamily="34" charset="-120"/>
              </a:rPr>
              <a:t>03</a:t>
            </a:r>
            <a:endParaRPr lang="en-US" sz="900" dirty="0"/>
          </a:p>
        </p:txBody>
      </p:sp>
      <p:sp>
        <p:nvSpPr>
          <p:cNvPr id="17" name="Text 15"/>
          <p:cNvSpPr/>
          <p:nvPr/>
        </p:nvSpPr>
        <p:spPr>
          <a:xfrm>
            <a:off x="6217920" y="1593550"/>
            <a:ext cx="2487168" cy="347472"/>
          </a:xfrm>
          <a:prstGeom prst="rect">
            <a:avLst/>
          </a:prstGeom>
          <a:noFill/>
          <a:ln/>
        </p:spPr>
        <p:txBody>
          <a:bodyPr wrap="square" lIns="0" tIns="0" rIns="0" bIns="0" rtlCol="0" anchor="t"/>
          <a:lstStyle/>
          <a:p>
            <a:pPr marL="0" indent="0">
              <a:buNone/>
            </a:pPr>
            <a:r>
              <a:rPr lang="en-US" sz="1100" b="1" dirty="0">
                <a:solidFill>
                  <a:srgbClr val="0A0A0A"/>
                </a:solidFill>
                <a:latin typeface="Calibri" pitchFamily="34" charset="0"/>
                <a:ea typeface="Calibri" pitchFamily="34" charset="-122"/>
                <a:cs typeface="Calibri" pitchFamily="34" charset="-120"/>
              </a:rPr>
              <a:t>Validation cryptographique — KAT</a:t>
            </a:r>
            <a:endParaRPr lang="en-US" sz="1100" dirty="0"/>
          </a:p>
        </p:txBody>
      </p:sp>
      <p:sp>
        <p:nvSpPr>
          <p:cNvPr id="18" name="Text 16"/>
          <p:cNvSpPr/>
          <p:nvPr/>
        </p:nvSpPr>
        <p:spPr>
          <a:xfrm>
            <a:off x="6190211" y="1914491"/>
            <a:ext cx="2487168" cy="658368"/>
          </a:xfrm>
          <a:prstGeom prst="rect">
            <a:avLst/>
          </a:prstGeom>
          <a:noFill/>
          <a:ln/>
        </p:spPr>
        <p:txBody>
          <a:bodyPr wrap="square" lIns="0" tIns="0" rIns="0" bIns="0" rtlCol="0" anchor="t"/>
          <a:lstStyle/>
          <a:p>
            <a:pPr marL="0" indent="0">
              <a:buNone/>
            </a:pPr>
            <a:r>
              <a:rPr lang="fr-FR" sz="900" dirty="0">
                <a:solidFill>
                  <a:srgbClr val="888888"/>
                </a:solidFill>
                <a:latin typeface="Calibri" pitchFamily="34" charset="0"/>
                <a:ea typeface="Calibri" pitchFamily="34" charset="-122"/>
                <a:cs typeface="Calibri" pitchFamily="34" charset="-120"/>
              </a:rPr>
              <a:t>Conformité vérifiée par vecteurs de test NIST et RFC.</a:t>
            </a:r>
            <a:endParaRPr lang="en-US" sz="900" dirty="0"/>
          </a:p>
        </p:txBody>
      </p:sp>
      <p:sp>
        <p:nvSpPr>
          <p:cNvPr id="19" name="Text 17"/>
          <p:cNvSpPr/>
          <p:nvPr/>
        </p:nvSpPr>
        <p:spPr>
          <a:xfrm>
            <a:off x="420624" y="2661667"/>
            <a:ext cx="1097280" cy="777240"/>
          </a:xfrm>
          <a:prstGeom prst="rect">
            <a:avLst/>
          </a:prstGeom>
          <a:noFill/>
          <a:ln/>
        </p:spPr>
        <p:txBody>
          <a:bodyPr wrap="square" lIns="0" tIns="0" rIns="0" bIns="0" rtlCol="0" anchor="ctr"/>
          <a:lstStyle/>
          <a:p>
            <a:pPr marL="0" indent="0">
              <a:buNone/>
            </a:pPr>
            <a:r>
              <a:rPr lang="en-US" sz="5200" b="1" dirty="0">
                <a:solidFill>
                  <a:srgbClr val="C9A84C">
                    <a:alpha val="8000"/>
                  </a:srgbClr>
                </a:solidFill>
                <a:latin typeface="Calibri" pitchFamily="34" charset="0"/>
                <a:ea typeface="Calibri" pitchFamily="34" charset="-122"/>
                <a:cs typeface="Calibri" pitchFamily="34" charset="-120"/>
              </a:rPr>
              <a:t>04</a:t>
            </a:r>
            <a:endParaRPr lang="en-US" sz="5200" dirty="0"/>
          </a:p>
        </p:txBody>
      </p:sp>
      <p:sp>
        <p:nvSpPr>
          <p:cNvPr id="21" name="Text 19"/>
          <p:cNvSpPr/>
          <p:nvPr/>
        </p:nvSpPr>
        <p:spPr>
          <a:xfrm>
            <a:off x="585216" y="2844547"/>
            <a:ext cx="365760" cy="201168"/>
          </a:xfrm>
          <a:prstGeom prst="rect">
            <a:avLst/>
          </a:prstGeom>
          <a:noFill/>
          <a:ln/>
        </p:spPr>
        <p:txBody>
          <a:bodyPr wrap="square" lIns="0" tIns="0" rIns="0" bIns="0" rtlCol="0" anchor="ctr"/>
          <a:lstStyle/>
          <a:p>
            <a:pPr marL="0" indent="0">
              <a:buNone/>
            </a:pPr>
            <a:r>
              <a:rPr lang="en-US" sz="900" b="1" dirty="0">
                <a:solidFill>
                  <a:srgbClr val="C9A84C"/>
                </a:solidFill>
                <a:latin typeface="Calibri" pitchFamily="34" charset="0"/>
                <a:ea typeface="Calibri" pitchFamily="34" charset="-122"/>
                <a:cs typeface="Calibri" pitchFamily="34" charset="-120"/>
              </a:rPr>
              <a:t>04</a:t>
            </a:r>
            <a:endParaRPr lang="en-US" sz="900" dirty="0"/>
          </a:p>
        </p:txBody>
      </p:sp>
      <p:sp>
        <p:nvSpPr>
          <p:cNvPr id="22" name="Text 20"/>
          <p:cNvSpPr/>
          <p:nvPr/>
        </p:nvSpPr>
        <p:spPr>
          <a:xfrm>
            <a:off x="585216" y="3064003"/>
            <a:ext cx="2487168" cy="347472"/>
          </a:xfrm>
          <a:prstGeom prst="rect">
            <a:avLst/>
          </a:prstGeom>
          <a:noFill/>
          <a:ln/>
        </p:spPr>
        <p:txBody>
          <a:bodyPr wrap="square" lIns="0" tIns="0" rIns="0" bIns="0" rtlCol="0" anchor="t"/>
          <a:lstStyle/>
          <a:p>
            <a:r>
              <a:rPr lang="en-US" sz="1100" b="1" dirty="0">
                <a:solidFill>
                  <a:srgbClr val="0A0A0A"/>
                </a:solidFill>
                <a:latin typeface="Calibri" pitchFamily="34" charset="0"/>
                <a:ea typeface="Calibri" pitchFamily="34" charset="-122"/>
                <a:cs typeface="Calibri" pitchFamily="34" charset="-120"/>
              </a:rPr>
              <a:t>Génération des sorties expérimentales</a:t>
            </a:r>
            <a:endParaRPr lang="en-US" sz="1100" dirty="0"/>
          </a:p>
        </p:txBody>
      </p:sp>
      <p:sp>
        <p:nvSpPr>
          <p:cNvPr id="23" name="Text 21"/>
          <p:cNvSpPr/>
          <p:nvPr/>
        </p:nvSpPr>
        <p:spPr>
          <a:xfrm>
            <a:off x="585216" y="3337495"/>
            <a:ext cx="2487168" cy="658368"/>
          </a:xfrm>
          <a:prstGeom prst="rect">
            <a:avLst/>
          </a:prstGeom>
          <a:noFill/>
          <a:ln/>
        </p:spPr>
        <p:txBody>
          <a:bodyPr wrap="square" lIns="0" tIns="0" rIns="0" bIns="0" rtlCol="0" anchor="t"/>
          <a:lstStyle/>
          <a:p>
            <a:pPr marL="0" indent="0">
              <a:buNone/>
            </a:pPr>
            <a:r>
              <a:rPr lang="fr-FR" sz="900" dirty="0">
                <a:solidFill>
                  <a:srgbClr val="888888"/>
                </a:solidFill>
                <a:latin typeface="Calibri" pitchFamily="34" charset="0"/>
                <a:ea typeface="Calibri" pitchFamily="34" charset="-122"/>
                <a:cs typeface="Calibri" pitchFamily="34" charset="-120"/>
              </a:rPr>
              <a:t>Campagnes rejouées sur x86 et ARM, métriques débit/avalanche/IC95 exportées en CSV.</a:t>
            </a:r>
            <a:endParaRPr lang="en-US" sz="900" dirty="0"/>
          </a:p>
        </p:txBody>
      </p:sp>
      <p:sp>
        <p:nvSpPr>
          <p:cNvPr id="24" name="Text 22"/>
          <p:cNvSpPr/>
          <p:nvPr/>
        </p:nvSpPr>
        <p:spPr>
          <a:xfrm>
            <a:off x="3236976" y="2661667"/>
            <a:ext cx="1097280" cy="777240"/>
          </a:xfrm>
          <a:prstGeom prst="rect">
            <a:avLst/>
          </a:prstGeom>
          <a:noFill/>
          <a:ln/>
        </p:spPr>
        <p:txBody>
          <a:bodyPr wrap="square" lIns="0" tIns="0" rIns="0" bIns="0" rtlCol="0" anchor="ctr"/>
          <a:lstStyle/>
          <a:p>
            <a:pPr marL="0" indent="0">
              <a:buNone/>
            </a:pPr>
            <a:r>
              <a:rPr lang="en-US" sz="5200" b="1" dirty="0">
                <a:solidFill>
                  <a:srgbClr val="C9A84C">
                    <a:alpha val="8000"/>
                  </a:srgbClr>
                </a:solidFill>
                <a:latin typeface="Calibri" pitchFamily="34" charset="0"/>
                <a:ea typeface="Calibri" pitchFamily="34" charset="-122"/>
                <a:cs typeface="Calibri" pitchFamily="34" charset="-120"/>
              </a:rPr>
              <a:t>05</a:t>
            </a:r>
            <a:endParaRPr lang="en-US" sz="5200" dirty="0"/>
          </a:p>
        </p:txBody>
      </p:sp>
      <p:sp>
        <p:nvSpPr>
          <p:cNvPr id="26" name="Text 24"/>
          <p:cNvSpPr/>
          <p:nvPr/>
        </p:nvSpPr>
        <p:spPr>
          <a:xfrm>
            <a:off x="3401568" y="2844547"/>
            <a:ext cx="365760" cy="201168"/>
          </a:xfrm>
          <a:prstGeom prst="rect">
            <a:avLst/>
          </a:prstGeom>
          <a:noFill/>
          <a:ln/>
        </p:spPr>
        <p:txBody>
          <a:bodyPr wrap="square" lIns="0" tIns="0" rIns="0" bIns="0" rtlCol="0" anchor="ctr"/>
          <a:lstStyle/>
          <a:p>
            <a:pPr marL="0" indent="0">
              <a:buNone/>
            </a:pPr>
            <a:r>
              <a:rPr lang="en-US" sz="900" b="1" dirty="0">
                <a:solidFill>
                  <a:srgbClr val="C9A84C"/>
                </a:solidFill>
                <a:latin typeface="Calibri" pitchFamily="34" charset="0"/>
                <a:ea typeface="Calibri" pitchFamily="34" charset="-122"/>
                <a:cs typeface="Calibri" pitchFamily="34" charset="-120"/>
              </a:rPr>
              <a:t>05</a:t>
            </a:r>
            <a:endParaRPr lang="en-US" sz="900" dirty="0"/>
          </a:p>
        </p:txBody>
      </p:sp>
      <p:sp>
        <p:nvSpPr>
          <p:cNvPr id="32" name="Text 30"/>
          <p:cNvSpPr/>
          <p:nvPr/>
        </p:nvSpPr>
        <p:spPr>
          <a:xfrm>
            <a:off x="3419857" y="3085133"/>
            <a:ext cx="2487168" cy="347472"/>
          </a:xfrm>
          <a:prstGeom prst="rect">
            <a:avLst/>
          </a:prstGeom>
          <a:noFill/>
          <a:ln/>
        </p:spPr>
        <p:txBody>
          <a:bodyPr wrap="square" lIns="0" tIns="0" rIns="0" bIns="0" rtlCol="0" anchor="t"/>
          <a:lstStyle/>
          <a:p>
            <a:pPr marL="0" indent="0">
              <a:buNone/>
            </a:pPr>
            <a:r>
              <a:rPr lang="en-US" sz="1100" b="1" dirty="0">
                <a:solidFill>
                  <a:srgbClr val="0A0A0A"/>
                </a:solidFill>
                <a:latin typeface="Calibri" pitchFamily="34" charset="0"/>
                <a:cs typeface="Calibri" pitchFamily="34" charset="-120"/>
              </a:rPr>
              <a:t>Synthèse</a:t>
            </a:r>
            <a:endParaRPr lang="en-US" sz="1100" dirty="0"/>
          </a:p>
        </p:txBody>
      </p:sp>
      <p:sp>
        <p:nvSpPr>
          <p:cNvPr id="33" name="Text 31"/>
          <p:cNvSpPr/>
          <p:nvPr/>
        </p:nvSpPr>
        <p:spPr>
          <a:xfrm>
            <a:off x="3401568" y="3337495"/>
            <a:ext cx="2487168" cy="658368"/>
          </a:xfrm>
          <a:prstGeom prst="rect">
            <a:avLst/>
          </a:prstGeom>
          <a:noFill/>
          <a:ln/>
        </p:spPr>
        <p:txBody>
          <a:bodyPr wrap="square" lIns="0" tIns="0" rIns="0" bIns="0" rtlCol="0" anchor="t"/>
          <a:lstStyle/>
          <a:p>
            <a:pPr marL="0" indent="0">
              <a:buNone/>
            </a:pPr>
            <a:r>
              <a:rPr lang="fr-FR" sz="900" dirty="0">
                <a:solidFill>
                  <a:srgbClr val="888888"/>
                </a:solidFill>
                <a:latin typeface="Calibri" pitchFamily="34" charset="0"/>
                <a:ea typeface="Calibri" pitchFamily="34" charset="-122"/>
                <a:cs typeface="Calibri" pitchFamily="34" charset="-120"/>
              </a:rPr>
              <a:t>Validation logicielle, lecture consolidée des résultats et conclusion générale.</a:t>
            </a:r>
            <a:endParaRPr lang="en-US" sz="900" dirty="0"/>
          </a:p>
        </p:txBody>
      </p:sp>
      <p:sp>
        <p:nvSpPr>
          <p:cNvPr id="39" name="Text 37"/>
          <p:cNvSpPr/>
          <p:nvPr/>
        </p:nvSpPr>
        <p:spPr>
          <a:xfrm>
            <a:off x="457200" y="4870984"/>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41" name="Shape 3">
            <a:extLst>
              <a:ext uri="{FF2B5EF4-FFF2-40B4-BE49-F238E27FC236}">
                <a16:creationId xmlns:a16="http://schemas.microsoft.com/office/drawing/2014/main" id="{2572D8F3-F898-5635-FE24-16DDC64C4D95}"/>
              </a:ext>
            </a:extLst>
          </p:cNvPr>
          <p:cNvSpPr/>
          <p:nvPr/>
        </p:nvSpPr>
        <p:spPr>
          <a:xfrm>
            <a:off x="3236976" y="1374094"/>
            <a:ext cx="0" cy="1117871"/>
          </a:xfrm>
          <a:prstGeom prst="line">
            <a:avLst/>
          </a:prstGeom>
          <a:noFill/>
          <a:ln w="31750">
            <a:solidFill>
              <a:srgbClr val="C9A84C"/>
            </a:solidFill>
            <a:prstDash val="solid"/>
          </a:ln>
        </p:spPr>
        <p:txBody>
          <a:bodyPr/>
          <a:lstStyle/>
          <a:p>
            <a:endParaRPr lang="en-CA"/>
          </a:p>
        </p:txBody>
      </p:sp>
      <p:sp>
        <p:nvSpPr>
          <p:cNvPr id="43" name="Shape 3">
            <a:extLst>
              <a:ext uri="{FF2B5EF4-FFF2-40B4-BE49-F238E27FC236}">
                <a16:creationId xmlns:a16="http://schemas.microsoft.com/office/drawing/2014/main" id="{6DB36A79-EDE0-D885-43C2-23A51EE42CAE}"/>
              </a:ext>
            </a:extLst>
          </p:cNvPr>
          <p:cNvSpPr/>
          <p:nvPr/>
        </p:nvSpPr>
        <p:spPr>
          <a:xfrm>
            <a:off x="6039472" y="1374094"/>
            <a:ext cx="1" cy="1123811"/>
          </a:xfrm>
          <a:prstGeom prst="line">
            <a:avLst/>
          </a:prstGeom>
          <a:noFill/>
          <a:ln w="31750">
            <a:solidFill>
              <a:srgbClr val="C9A84C"/>
            </a:solidFill>
            <a:prstDash val="solid"/>
          </a:ln>
        </p:spPr>
        <p:txBody>
          <a:bodyPr/>
          <a:lstStyle/>
          <a:p>
            <a:endParaRPr lang="en-CA"/>
          </a:p>
        </p:txBody>
      </p:sp>
      <p:sp>
        <p:nvSpPr>
          <p:cNvPr id="45" name="Shape 3">
            <a:extLst>
              <a:ext uri="{FF2B5EF4-FFF2-40B4-BE49-F238E27FC236}">
                <a16:creationId xmlns:a16="http://schemas.microsoft.com/office/drawing/2014/main" id="{9D246F74-98B4-499E-4C6E-B1D2BEF1BCA7}"/>
              </a:ext>
            </a:extLst>
          </p:cNvPr>
          <p:cNvSpPr/>
          <p:nvPr/>
        </p:nvSpPr>
        <p:spPr>
          <a:xfrm>
            <a:off x="457200" y="2844547"/>
            <a:ext cx="0" cy="1079495"/>
          </a:xfrm>
          <a:prstGeom prst="line">
            <a:avLst/>
          </a:prstGeom>
          <a:noFill/>
          <a:ln w="31750">
            <a:solidFill>
              <a:srgbClr val="C9A84C"/>
            </a:solidFill>
            <a:prstDash val="solid"/>
          </a:ln>
        </p:spPr>
        <p:txBody>
          <a:bodyPr/>
          <a:lstStyle/>
          <a:p>
            <a:endParaRPr lang="en-CA"/>
          </a:p>
        </p:txBody>
      </p:sp>
      <p:sp>
        <p:nvSpPr>
          <p:cNvPr id="49" name="Shape 3">
            <a:extLst>
              <a:ext uri="{FF2B5EF4-FFF2-40B4-BE49-F238E27FC236}">
                <a16:creationId xmlns:a16="http://schemas.microsoft.com/office/drawing/2014/main" id="{E6C471D7-C922-C3AC-D022-640DD10B23C3}"/>
              </a:ext>
            </a:extLst>
          </p:cNvPr>
          <p:cNvSpPr/>
          <p:nvPr/>
        </p:nvSpPr>
        <p:spPr>
          <a:xfrm>
            <a:off x="3243902" y="2847804"/>
            <a:ext cx="0" cy="1079495"/>
          </a:xfrm>
          <a:prstGeom prst="line">
            <a:avLst/>
          </a:prstGeom>
          <a:noFill/>
          <a:ln w="31750">
            <a:solidFill>
              <a:srgbClr val="C9A84C"/>
            </a:solidFill>
            <a:prstDash val="solid"/>
          </a:ln>
        </p:spPr>
        <p:txBody>
          <a:bodyPr/>
          <a:lstStyle/>
          <a:p>
            <a:endParaRPr lang="en-CA"/>
          </a:p>
        </p:txBody>
      </p:sp>
      <p:pic>
        <p:nvPicPr>
          <p:cNvPr id="10" name="Picture 9">
            <a:extLst>
              <a:ext uri="{FF2B5EF4-FFF2-40B4-BE49-F238E27FC236}">
                <a16:creationId xmlns:a16="http://schemas.microsoft.com/office/drawing/2014/main" id="{A66FA634-68B8-95FE-00BA-A22DE4614258}"/>
              </a:ext>
            </a:extLst>
          </p:cNvPr>
          <p:cNvPicPr>
            <a:picLocks noChangeAspect="1"/>
          </p:cNvPicPr>
          <p:nvPr/>
        </p:nvPicPr>
        <p:blipFill>
          <a:blip r:embed="rId3">
            <a:alphaModFix amt="5000"/>
          </a:blip>
          <a:stretch>
            <a:fillRect/>
          </a:stretch>
        </p:blipFill>
        <p:spPr>
          <a:xfrm>
            <a:off x="6640919" y="2844547"/>
            <a:ext cx="1917865" cy="1917865"/>
          </a:xfrm>
          <a:prstGeom prst="rect">
            <a:avLst/>
          </a:prstGeom>
        </p:spPr>
      </p:pic>
      <p:sp>
        <p:nvSpPr>
          <p:cNvPr id="15" name="TextBox 14">
            <a:extLst>
              <a:ext uri="{FF2B5EF4-FFF2-40B4-BE49-F238E27FC236}">
                <a16:creationId xmlns:a16="http://schemas.microsoft.com/office/drawing/2014/main" id="{56870614-0AC5-4716-6FCD-74ECB93D8423}"/>
              </a:ext>
            </a:extLst>
          </p:cNvPr>
          <p:cNvSpPr txBox="1"/>
          <p:nvPr/>
        </p:nvSpPr>
        <p:spPr>
          <a:xfrm>
            <a:off x="475350" y="2261133"/>
            <a:ext cx="2085107" cy="230832"/>
          </a:xfrm>
          <a:prstGeom prst="rect">
            <a:avLst/>
          </a:prstGeom>
          <a:noFill/>
        </p:spPr>
        <p:txBody>
          <a:bodyPr wrap="square">
            <a:spAutoFit/>
          </a:bodyPr>
          <a:lstStyle/>
          <a:p>
            <a:pPr marL="0" marR="0" indent="0" algn="ctr">
              <a:spcBef>
                <a:spcPts val="300"/>
              </a:spcBef>
              <a:spcAft>
                <a:spcPts val="300"/>
              </a:spcAft>
            </a:pPr>
            <a:r>
              <a:rPr lang="en-CA" sz="900" i="1" dirty="0">
                <a:solidFill>
                  <a:srgbClr val="CFB260"/>
                </a:solidFill>
                <a:latin typeface="Calibri" pitchFamily="34" charset="0"/>
                <a:cs typeface="Calibri" pitchFamily="34" charset="-120"/>
              </a:rPr>
              <a:t>Vidéo 1 — Nature du système et objectifs</a:t>
            </a:r>
          </a:p>
        </p:txBody>
      </p:sp>
      <p:sp>
        <p:nvSpPr>
          <p:cNvPr id="25" name="TextBox 24">
            <a:extLst>
              <a:ext uri="{FF2B5EF4-FFF2-40B4-BE49-F238E27FC236}">
                <a16:creationId xmlns:a16="http://schemas.microsoft.com/office/drawing/2014/main" id="{83859252-1327-28D2-BE19-51974972E350}"/>
              </a:ext>
            </a:extLst>
          </p:cNvPr>
          <p:cNvSpPr txBox="1"/>
          <p:nvPr/>
        </p:nvSpPr>
        <p:spPr>
          <a:xfrm>
            <a:off x="3250829" y="3724385"/>
            <a:ext cx="3700116" cy="230832"/>
          </a:xfrm>
          <a:prstGeom prst="rect">
            <a:avLst/>
          </a:prstGeom>
          <a:noFill/>
        </p:spPr>
        <p:txBody>
          <a:bodyPr wrap="square">
            <a:spAutoFit/>
          </a:bodyPr>
          <a:lstStyle/>
          <a:p>
            <a:pPr marL="0" marR="0" indent="0">
              <a:spcBef>
                <a:spcPts val="300"/>
              </a:spcBef>
              <a:spcAft>
                <a:spcPts val="300"/>
              </a:spcAft>
            </a:pPr>
            <a:r>
              <a:rPr lang="en-CA" sz="900" i="1" dirty="0">
                <a:solidFill>
                  <a:srgbClr val="CFB260"/>
                </a:solidFill>
                <a:latin typeface="Calibri" pitchFamily="34" charset="0"/>
                <a:cs typeface="Calibri" pitchFamily="34" charset="-120"/>
              </a:rPr>
              <a:t>* Vidéo 4 - Démo d’exécution uniquement - Windows + Raspberry Pi  </a:t>
            </a:r>
          </a:p>
        </p:txBody>
      </p:sp>
      <p:sp>
        <p:nvSpPr>
          <p:cNvPr id="28" name="TextBox 27">
            <a:extLst>
              <a:ext uri="{FF2B5EF4-FFF2-40B4-BE49-F238E27FC236}">
                <a16:creationId xmlns:a16="http://schemas.microsoft.com/office/drawing/2014/main" id="{AEB5E270-5EF1-B919-B0C1-E1F1C9D3B219}"/>
              </a:ext>
            </a:extLst>
          </p:cNvPr>
          <p:cNvSpPr txBox="1"/>
          <p:nvPr/>
        </p:nvSpPr>
        <p:spPr>
          <a:xfrm>
            <a:off x="3243902" y="2255374"/>
            <a:ext cx="2665755" cy="230832"/>
          </a:xfrm>
          <a:prstGeom prst="rect">
            <a:avLst/>
          </a:prstGeom>
          <a:noFill/>
        </p:spPr>
        <p:txBody>
          <a:bodyPr wrap="square">
            <a:spAutoFit/>
          </a:bodyPr>
          <a:lstStyle/>
          <a:p>
            <a:pPr marL="0" marR="0" indent="0" algn="ctr">
              <a:spcBef>
                <a:spcPts val="300"/>
              </a:spcBef>
              <a:spcAft>
                <a:spcPts val="300"/>
              </a:spcAft>
            </a:pPr>
            <a:r>
              <a:rPr lang="fr-FR" sz="900" i="1" dirty="0">
                <a:solidFill>
                  <a:srgbClr val="CFB260"/>
                </a:solidFill>
                <a:latin typeface="Calibri" pitchFamily="34" charset="0"/>
                <a:cs typeface="Calibri" pitchFamily="34" charset="-120"/>
              </a:rPr>
              <a:t>Vidéo 2 - Protocole expérimental et validation KAT</a:t>
            </a:r>
            <a:endParaRPr lang="en-CA" sz="900" i="1" dirty="0">
              <a:solidFill>
                <a:srgbClr val="CFB260"/>
              </a:solidFill>
              <a:latin typeface="Calibri" pitchFamily="34" charset="0"/>
              <a:cs typeface="Calibri" pitchFamily="34" charset="-120"/>
            </a:endParaRPr>
          </a:p>
        </p:txBody>
      </p:sp>
      <p:sp>
        <p:nvSpPr>
          <p:cNvPr id="30" name="TextBox 29">
            <a:extLst>
              <a:ext uri="{FF2B5EF4-FFF2-40B4-BE49-F238E27FC236}">
                <a16:creationId xmlns:a16="http://schemas.microsoft.com/office/drawing/2014/main" id="{38ADC185-899B-1310-3863-9CE38775F48C}"/>
              </a:ext>
            </a:extLst>
          </p:cNvPr>
          <p:cNvSpPr txBox="1"/>
          <p:nvPr/>
        </p:nvSpPr>
        <p:spPr>
          <a:xfrm>
            <a:off x="493777" y="3717509"/>
            <a:ext cx="2550898" cy="230832"/>
          </a:xfrm>
          <a:prstGeom prst="rect">
            <a:avLst/>
          </a:prstGeom>
          <a:noFill/>
        </p:spPr>
        <p:txBody>
          <a:bodyPr wrap="square">
            <a:spAutoFit/>
          </a:bodyPr>
          <a:lstStyle/>
          <a:p>
            <a:pPr marL="0" marR="0" indent="0">
              <a:spcBef>
                <a:spcPts val="300"/>
              </a:spcBef>
              <a:spcAft>
                <a:spcPts val="300"/>
              </a:spcAft>
            </a:pPr>
            <a:r>
              <a:rPr lang="fr-FR" sz="900" i="1" dirty="0">
                <a:solidFill>
                  <a:srgbClr val="CFB260"/>
                </a:solidFill>
                <a:latin typeface="Calibri" pitchFamily="34" charset="0"/>
                <a:cs typeface="Calibri" pitchFamily="34" charset="-120"/>
              </a:rPr>
              <a:t>Vidéo 3 - Génération des graphes par le code</a:t>
            </a:r>
            <a:endParaRPr lang="en-CA" sz="900" i="1" dirty="0">
              <a:solidFill>
                <a:srgbClr val="CFB260"/>
              </a:solidFill>
              <a:latin typeface="Calibri" pitchFamily="34" charset="0"/>
              <a:cs typeface="Calibri" pitchFamily="34" charset="-12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45720" y="2267324"/>
            <a:ext cx="2871216" cy="2321579"/>
          </a:xfrm>
          <a:prstGeom prst="rect">
            <a:avLst/>
          </a:prstGeom>
          <a:noFill/>
          <a:ln/>
        </p:spPr>
        <p:txBody>
          <a:bodyPr wrap="square" lIns="0" tIns="0" rIns="0" bIns="0" rtlCol="0" anchor="ctr"/>
          <a:lstStyle/>
          <a:p>
            <a:pPr marL="0" indent="0">
              <a:buNone/>
            </a:pPr>
            <a:r>
              <a:rPr lang="en-US" sz="16000" b="1" dirty="0">
                <a:solidFill>
                  <a:srgbClr val="0A0A0A">
                    <a:alpha val="3000"/>
                  </a:srgbClr>
                </a:solidFill>
                <a:latin typeface="Calibri" pitchFamily="34" charset="0"/>
                <a:ea typeface="Calibri" pitchFamily="34" charset="-122"/>
                <a:cs typeface="Calibri" pitchFamily="34" charset="-120"/>
              </a:rPr>
              <a:t>01</a:t>
            </a:r>
            <a:endParaRPr lang="en-US" sz="16000" dirty="0"/>
          </a:p>
        </p:txBody>
      </p:sp>
      <p:sp>
        <p:nvSpPr>
          <p:cNvPr id="4" name="Text 2"/>
          <p:cNvSpPr/>
          <p:nvPr/>
        </p:nvSpPr>
        <p:spPr>
          <a:xfrm>
            <a:off x="475488" y="164592"/>
            <a:ext cx="6400800" cy="182880"/>
          </a:xfrm>
          <a:prstGeom prst="rect">
            <a:avLst/>
          </a:prstGeom>
          <a:noFill/>
          <a:ln/>
        </p:spPr>
        <p:txBody>
          <a:bodyPr wrap="square" lIns="0" tIns="0" rIns="0" bIns="0" rtlCol="0" anchor="ctr"/>
          <a:lstStyle/>
          <a:p>
            <a:r>
              <a:rPr lang="en-US" sz="800" b="1" kern="0" spc="200" dirty="0">
                <a:solidFill>
                  <a:srgbClr val="C0C0C0"/>
                </a:solidFill>
                <a:latin typeface="Calibri" pitchFamily="34" charset="0"/>
                <a:ea typeface="Calibri" pitchFamily="34" charset="-122"/>
                <a:cs typeface="Calibri" pitchFamily="34" charset="-120"/>
              </a:rPr>
              <a:t>01  ·  NATURE DU SYSTÈME ET OBJECTIFS</a:t>
            </a:r>
            <a:endParaRPr lang="en-US" sz="800" dirty="0"/>
          </a:p>
        </p:txBody>
      </p:sp>
      <p:sp>
        <p:nvSpPr>
          <p:cNvPr id="5" name="Text 3"/>
          <p:cNvSpPr/>
          <p:nvPr/>
        </p:nvSpPr>
        <p:spPr>
          <a:xfrm>
            <a:off x="475488" y="402336"/>
            <a:ext cx="2834640" cy="1280160"/>
          </a:xfrm>
          <a:prstGeom prst="rect">
            <a:avLst/>
          </a:prstGeom>
          <a:noFill/>
          <a:ln/>
        </p:spPr>
        <p:txBody>
          <a:bodyPr wrap="square" lIns="0" tIns="0" rIns="0" bIns="0" rtlCol="0" anchor="ctr"/>
          <a:lstStyle/>
          <a:p>
            <a:pPr marL="0" indent="0">
              <a:lnSpc>
                <a:spcPct val="115000"/>
              </a:lnSpc>
              <a:buNone/>
            </a:pPr>
            <a:r>
              <a:rPr lang="fr-FR" sz="2100" b="1" dirty="0">
                <a:solidFill>
                  <a:srgbClr val="0A0A0A"/>
                </a:solidFill>
                <a:latin typeface="Calibri" pitchFamily="34" charset="0"/>
                <a:ea typeface="Calibri" pitchFamily="34" charset="-122"/>
                <a:cs typeface="Calibri" pitchFamily="34" charset="-120"/>
              </a:rPr>
              <a:t>Vue d'ensemble du </a:t>
            </a:r>
            <a:r>
              <a:rPr lang="fr-FR" sz="2100" b="1" dirty="0">
                <a:solidFill>
                  <a:srgbClr val="C9A84C"/>
                </a:solidFill>
                <a:latin typeface="Calibri" pitchFamily="34" charset="0"/>
                <a:cs typeface="Calibri" pitchFamily="34" charset="-120"/>
              </a:rPr>
              <a:t>système expérimental</a:t>
            </a:r>
            <a:endParaRPr lang="en-US" sz="2100" b="1" dirty="0">
              <a:solidFill>
                <a:srgbClr val="C9A84C"/>
              </a:solidFill>
              <a:latin typeface="Calibri" pitchFamily="34" charset="0"/>
              <a:cs typeface="Calibri" pitchFamily="34" charset="-120"/>
            </a:endParaRPr>
          </a:p>
        </p:txBody>
      </p:sp>
      <p:sp>
        <p:nvSpPr>
          <p:cNvPr id="6" name="Shape 4"/>
          <p:cNvSpPr/>
          <p:nvPr/>
        </p:nvSpPr>
        <p:spPr>
          <a:xfrm>
            <a:off x="475488" y="1755648"/>
            <a:ext cx="329184" cy="0"/>
          </a:xfrm>
          <a:prstGeom prst="line">
            <a:avLst/>
          </a:prstGeom>
          <a:noFill/>
          <a:ln w="31750">
            <a:solidFill>
              <a:srgbClr val="C9A84C"/>
            </a:solidFill>
            <a:prstDash val="solid"/>
          </a:ln>
        </p:spPr>
        <p:txBody>
          <a:bodyPr/>
          <a:lstStyle/>
          <a:p>
            <a:endParaRPr lang="en-CA"/>
          </a:p>
        </p:txBody>
      </p:sp>
      <p:sp>
        <p:nvSpPr>
          <p:cNvPr id="7" name="Text 5"/>
          <p:cNvSpPr/>
          <p:nvPr/>
        </p:nvSpPr>
        <p:spPr>
          <a:xfrm>
            <a:off x="493776" y="1837446"/>
            <a:ext cx="2834640" cy="2048256"/>
          </a:xfrm>
          <a:prstGeom prst="rect">
            <a:avLst/>
          </a:prstGeom>
          <a:noFill/>
          <a:ln/>
        </p:spPr>
        <p:txBody>
          <a:bodyPr wrap="square" lIns="0" tIns="0" rIns="0" bIns="0" rtlCol="0" anchor="t"/>
          <a:lstStyle/>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Le système est conçu comme un moteur expérimental dédié à la comparaison cryptographique. Il automatise l’exécution des campagnes, produit des mesures fiables et traçables, puis génère des sorties comparables entre plateformes.</a:t>
            </a:r>
          </a:p>
          <a:p>
            <a:pPr marL="0" indent="0">
              <a:lnSpc>
                <a:spcPct val="150000"/>
              </a:lnSpc>
              <a:buNone/>
            </a:pPr>
            <a:endParaRPr lang="fr-FR" sz="950" dirty="0">
              <a:solidFill>
                <a:srgbClr val="555555"/>
              </a:solidFill>
              <a:latin typeface="Calibri" pitchFamily="34" charset="0"/>
              <a:ea typeface="Calibri" pitchFamily="34" charset="-122"/>
              <a:cs typeface="Calibri" pitchFamily="34" charset="-120"/>
            </a:endParaRPr>
          </a:p>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Ce n’est pas une application orientée utilisateur, mais un environnement de mesure structuré pour analyser la performance et la robustesse.</a:t>
            </a:r>
            <a:endParaRPr lang="en-US" sz="950" dirty="0"/>
          </a:p>
        </p:txBody>
      </p:sp>
      <p:sp>
        <p:nvSpPr>
          <p:cNvPr id="9" name="Shape 7"/>
          <p:cNvSpPr/>
          <p:nvPr/>
        </p:nvSpPr>
        <p:spPr>
          <a:xfrm>
            <a:off x="3438144" y="402336"/>
            <a:ext cx="0" cy="4315968"/>
          </a:xfrm>
          <a:prstGeom prst="line">
            <a:avLst/>
          </a:prstGeom>
          <a:noFill/>
          <a:ln w="10160">
            <a:solidFill>
              <a:srgbClr val="E8E8E8"/>
            </a:solidFill>
            <a:prstDash val="solid"/>
          </a:ln>
        </p:spPr>
        <p:txBody>
          <a:bodyPr/>
          <a:lstStyle/>
          <a:p>
            <a:endParaRPr lang="en-CA"/>
          </a:p>
        </p:txBody>
      </p:sp>
      <p:sp>
        <p:nvSpPr>
          <p:cNvPr id="10" name="Shape 8"/>
          <p:cNvSpPr/>
          <p:nvPr/>
        </p:nvSpPr>
        <p:spPr>
          <a:xfrm>
            <a:off x="3675888" y="804672"/>
            <a:ext cx="256032" cy="256032"/>
          </a:xfrm>
          <a:prstGeom prst="ellipse">
            <a:avLst/>
          </a:prstGeom>
          <a:solidFill>
            <a:srgbClr val="0A0A0A"/>
          </a:solidFill>
          <a:ln w="12700">
            <a:solidFill>
              <a:srgbClr val="0A0A0A"/>
            </a:solidFill>
            <a:prstDash val="solid"/>
          </a:ln>
        </p:spPr>
        <p:txBody>
          <a:bodyPr/>
          <a:lstStyle/>
          <a:p>
            <a:endParaRPr lang="en-CA"/>
          </a:p>
        </p:txBody>
      </p:sp>
      <p:sp>
        <p:nvSpPr>
          <p:cNvPr id="11" name="Text 9"/>
          <p:cNvSpPr/>
          <p:nvPr/>
        </p:nvSpPr>
        <p:spPr>
          <a:xfrm>
            <a:off x="3675888" y="804672"/>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1</a:t>
            </a:r>
            <a:endParaRPr lang="en-US" sz="900" dirty="0"/>
          </a:p>
        </p:txBody>
      </p:sp>
      <p:sp>
        <p:nvSpPr>
          <p:cNvPr id="12" name="Text 10"/>
          <p:cNvSpPr/>
          <p:nvPr/>
        </p:nvSpPr>
        <p:spPr>
          <a:xfrm>
            <a:off x="4005072" y="768096"/>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Nature et objectifs du système</a:t>
            </a:r>
            <a:endParaRPr lang="en-US" sz="1000" dirty="0"/>
          </a:p>
        </p:txBody>
      </p:sp>
      <p:sp>
        <p:nvSpPr>
          <p:cNvPr id="13" name="Text 11"/>
          <p:cNvSpPr/>
          <p:nvPr/>
        </p:nvSpPr>
        <p:spPr>
          <a:xfrm>
            <a:off x="4005072" y="1042416"/>
            <a:ext cx="4206240" cy="36576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Comparer et mesurer dans un cadre expérimental contrôlé. Le projet vise la rigueur méthodologique, et non l’interaction utilisateur.</a:t>
            </a:r>
            <a:endParaRPr lang="en-US" sz="750" dirty="0"/>
          </a:p>
        </p:txBody>
      </p:sp>
      <p:sp>
        <p:nvSpPr>
          <p:cNvPr id="14" name="Shape 12"/>
          <p:cNvSpPr/>
          <p:nvPr/>
        </p:nvSpPr>
        <p:spPr>
          <a:xfrm>
            <a:off x="8321040" y="859536"/>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5" name="Text 13"/>
          <p:cNvSpPr/>
          <p:nvPr/>
        </p:nvSpPr>
        <p:spPr>
          <a:xfrm>
            <a:off x="8321040" y="859536"/>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01a</a:t>
            </a:r>
            <a:endParaRPr lang="en-US" sz="700" dirty="0"/>
          </a:p>
        </p:txBody>
      </p:sp>
      <p:sp>
        <p:nvSpPr>
          <p:cNvPr id="16" name="Shape 14"/>
          <p:cNvSpPr/>
          <p:nvPr/>
        </p:nvSpPr>
        <p:spPr>
          <a:xfrm>
            <a:off x="4005072" y="1956816"/>
            <a:ext cx="4773168" cy="0"/>
          </a:xfrm>
          <a:prstGeom prst="line">
            <a:avLst/>
          </a:prstGeom>
          <a:noFill/>
          <a:ln w="7620">
            <a:solidFill>
              <a:srgbClr val="F5F5F5"/>
            </a:solidFill>
            <a:prstDash val="solid"/>
          </a:ln>
        </p:spPr>
        <p:txBody>
          <a:bodyPr/>
          <a:lstStyle/>
          <a:p>
            <a:endParaRPr lang="en-CA"/>
          </a:p>
        </p:txBody>
      </p:sp>
      <p:sp>
        <p:nvSpPr>
          <p:cNvPr id="17" name="Shape 15"/>
          <p:cNvSpPr/>
          <p:nvPr/>
        </p:nvSpPr>
        <p:spPr>
          <a:xfrm>
            <a:off x="3675888" y="2066544"/>
            <a:ext cx="256032" cy="256032"/>
          </a:xfrm>
          <a:prstGeom prst="ellipse">
            <a:avLst/>
          </a:prstGeom>
          <a:solidFill>
            <a:srgbClr val="0A0A0A"/>
          </a:solidFill>
          <a:ln w="12700">
            <a:solidFill>
              <a:srgbClr val="0A0A0A"/>
            </a:solidFill>
            <a:prstDash val="solid"/>
          </a:ln>
        </p:spPr>
        <p:txBody>
          <a:bodyPr/>
          <a:lstStyle/>
          <a:p>
            <a:endParaRPr lang="en-CA"/>
          </a:p>
        </p:txBody>
      </p:sp>
      <p:sp>
        <p:nvSpPr>
          <p:cNvPr id="18" name="Text 16"/>
          <p:cNvSpPr/>
          <p:nvPr/>
        </p:nvSpPr>
        <p:spPr>
          <a:xfrm>
            <a:off x="3675888" y="2066544"/>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4005072" y="2029968"/>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Architecture en couches</a:t>
            </a:r>
            <a:endParaRPr lang="en-US" sz="1000" dirty="0"/>
          </a:p>
        </p:txBody>
      </p:sp>
      <p:sp>
        <p:nvSpPr>
          <p:cNvPr id="20" name="Text 18"/>
          <p:cNvSpPr/>
          <p:nvPr/>
        </p:nvSpPr>
        <p:spPr>
          <a:xfrm>
            <a:off x="4005072" y="2304288"/>
            <a:ext cx="4206240" cy="36576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Séparation claire des responsabilités: application, moteur, modes, primitives et bibliothèques cryptographiques (PyCryptodome + twofish).</a:t>
            </a:r>
            <a:endParaRPr lang="en-US" sz="750" dirty="0"/>
          </a:p>
        </p:txBody>
      </p:sp>
      <p:sp>
        <p:nvSpPr>
          <p:cNvPr id="21" name="Shape 19"/>
          <p:cNvSpPr/>
          <p:nvPr/>
        </p:nvSpPr>
        <p:spPr>
          <a:xfrm>
            <a:off x="8321040" y="2121408"/>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2" name="Text 20"/>
          <p:cNvSpPr/>
          <p:nvPr/>
        </p:nvSpPr>
        <p:spPr>
          <a:xfrm>
            <a:off x="8321040" y="2121408"/>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01b</a:t>
            </a:r>
            <a:endParaRPr lang="en-US" sz="700" dirty="0"/>
          </a:p>
        </p:txBody>
      </p:sp>
      <p:sp>
        <p:nvSpPr>
          <p:cNvPr id="23" name="Shape 21"/>
          <p:cNvSpPr/>
          <p:nvPr/>
        </p:nvSpPr>
        <p:spPr>
          <a:xfrm>
            <a:off x="4005072" y="3218688"/>
            <a:ext cx="4773168" cy="0"/>
          </a:xfrm>
          <a:prstGeom prst="line">
            <a:avLst/>
          </a:prstGeom>
          <a:noFill/>
          <a:ln w="7620">
            <a:solidFill>
              <a:srgbClr val="F5F5F5"/>
            </a:solidFill>
            <a:prstDash val="solid"/>
          </a:ln>
        </p:spPr>
        <p:txBody>
          <a:bodyPr/>
          <a:lstStyle/>
          <a:p>
            <a:endParaRPr lang="en-CA"/>
          </a:p>
        </p:txBody>
      </p:sp>
      <p:sp>
        <p:nvSpPr>
          <p:cNvPr id="24" name="Shape 22"/>
          <p:cNvSpPr/>
          <p:nvPr/>
        </p:nvSpPr>
        <p:spPr>
          <a:xfrm>
            <a:off x="3675888" y="3328416"/>
            <a:ext cx="256032" cy="256032"/>
          </a:xfrm>
          <a:prstGeom prst="ellipse">
            <a:avLst/>
          </a:prstGeom>
          <a:solidFill>
            <a:srgbClr val="0A0A0A"/>
          </a:solidFill>
          <a:ln w="12700">
            <a:solidFill>
              <a:srgbClr val="0A0A0A"/>
            </a:solidFill>
            <a:prstDash val="solid"/>
          </a:ln>
        </p:spPr>
        <p:txBody>
          <a:bodyPr/>
          <a:lstStyle/>
          <a:p>
            <a:endParaRPr lang="en-CA"/>
          </a:p>
        </p:txBody>
      </p:sp>
      <p:sp>
        <p:nvSpPr>
          <p:cNvPr id="25" name="Text 23"/>
          <p:cNvSpPr/>
          <p:nvPr/>
        </p:nvSpPr>
        <p:spPr>
          <a:xfrm>
            <a:off x="3675888" y="3328416"/>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3</a:t>
            </a:r>
            <a:endParaRPr lang="en-US" sz="900" dirty="0"/>
          </a:p>
        </p:txBody>
      </p:sp>
      <p:sp>
        <p:nvSpPr>
          <p:cNvPr id="26" name="Text 24"/>
          <p:cNvSpPr/>
          <p:nvPr/>
        </p:nvSpPr>
        <p:spPr>
          <a:xfrm>
            <a:off x="4005072" y="3291840"/>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Flux d'exécution reproductible</a:t>
            </a:r>
            <a:endParaRPr lang="en-US" sz="1000" dirty="0"/>
          </a:p>
        </p:txBody>
      </p:sp>
      <p:sp>
        <p:nvSpPr>
          <p:cNvPr id="27" name="Text 25"/>
          <p:cNvSpPr/>
          <p:nvPr/>
        </p:nvSpPr>
        <p:spPr>
          <a:xfrm>
            <a:off x="4005072" y="3566160"/>
            <a:ext cx="4206240" cy="36576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De la commande à l’export CSV, le flux reste identique sur x86 et ARM. Les écarts observés proviennent du contexte d’exécution, pas de la méthode.</a:t>
            </a:r>
            <a:endParaRPr lang="en-US" sz="750" dirty="0"/>
          </a:p>
        </p:txBody>
      </p:sp>
      <p:sp>
        <p:nvSpPr>
          <p:cNvPr id="28" name="Shape 26"/>
          <p:cNvSpPr/>
          <p:nvPr/>
        </p:nvSpPr>
        <p:spPr>
          <a:xfrm>
            <a:off x="8321040" y="3383280"/>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9" name="Text 27"/>
          <p:cNvSpPr/>
          <p:nvPr/>
        </p:nvSpPr>
        <p:spPr>
          <a:xfrm>
            <a:off x="8321040" y="3383280"/>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01c</a:t>
            </a:r>
            <a:endParaRPr lang="en-US" sz="700" dirty="0"/>
          </a:p>
        </p:txBody>
      </p:sp>
      <p:sp>
        <p:nvSpPr>
          <p:cNvPr id="30" name="Text 28"/>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88315" y="805399"/>
            <a:ext cx="3778986" cy="3154680"/>
          </a:xfrm>
          <a:prstGeom prst="rect">
            <a:avLst/>
          </a:prstGeom>
          <a:noFill/>
          <a:ln/>
        </p:spPr>
        <p:txBody>
          <a:bodyPr wrap="square" lIns="0" tIns="0" rIns="0" bIns="0" rtlCol="0" anchor="ctr"/>
          <a:lstStyle/>
          <a:p>
            <a:r>
              <a:rPr lang="en-US" sz="2800" i="1" kern="0" spc="100" dirty="0">
                <a:solidFill>
                  <a:srgbClr val="888888">
                    <a:alpha val="11000"/>
                  </a:srgbClr>
                </a:solidFill>
                <a:latin typeface="Calibri" pitchFamily="34" charset="0"/>
                <a:ea typeface="Calibri" pitchFamily="34" charset="-122"/>
                <a:cs typeface="Calibri" pitchFamily="34" charset="-120"/>
              </a:rPr>
              <a:t>5 algorithmes</a:t>
            </a:r>
          </a:p>
          <a:p>
            <a:endParaRPr lang="en-US" sz="2800" i="1" kern="0" spc="100" dirty="0">
              <a:solidFill>
                <a:srgbClr val="888888">
                  <a:alpha val="11000"/>
                </a:srgbClr>
              </a:solidFill>
              <a:latin typeface="Calibri" pitchFamily="34" charset="0"/>
              <a:ea typeface="Calibri" pitchFamily="34" charset="-122"/>
              <a:cs typeface="Calibri" pitchFamily="34" charset="-120"/>
            </a:endParaRPr>
          </a:p>
          <a:p>
            <a:r>
              <a:rPr lang="en-US" sz="2800" i="1" kern="0" spc="100" dirty="0">
                <a:solidFill>
                  <a:srgbClr val="888888">
                    <a:alpha val="11000"/>
                  </a:srgbClr>
                </a:solidFill>
                <a:latin typeface="Calibri" pitchFamily="34" charset="0"/>
                <a:ea typeface="Calibri" pitchFamily="34" charset="-122"/>
                <a:cs typeface="Calibri" pitchFamily="34" charset="-120"/>
              </a:rPr>
              <a:t>  </a:t>
            </a:r>
          </a:p>
          <a:p>
            <a:pPr algn="ctr"/>
            <a:r>
              <a:rPr lang="en-US" sz="2800" i="1" kern="0" spc="100" dirty="0">
                <a:solidFill>
                  <a:srgbClr val="888888">
                    <a:alpha val="11000"/>
                  </a:srgbClr>
                </a:solidFill>
                <a:latin typeface="Calibri" pitchFamily="34" charset="0"/>
                <a:ea typeface="Calibri" pitchFamily="34" charset="-122"/>
                <a:cs typeface="Calibri" pitchFamily="34" charset="-120"/>
              </a:rPr>
              <a:t>2 plateformes</a:t>
            </a:r>
            <a:endParaRPr lang="en-US" sz="2800" i="1" dirty="0">
              <a:solidFill>
                <a:schemeClr val="tx1">
                  <a:alpha val="11000"/>
                </a:schemeClr>
              </a:solidFill>
            </a:endParaRPr>
          </a:p>
        </p:txBody>
      </p:sp>
      <p:sp>
        <p:nvSpPr>
          <p:cNvPr id="3" name="Text 1"/>
          <p:cNvSpPr/>
          <p:nvPr/>
        </p:nvSpPr>
        <p:spPr>
          <a:xfrm>
            <a:off x="475488" y="201168"/>
            <a:ext cx="3657600" cy="201168"/>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01a  ·  </a:t>
            </a:r>
            <a:r>
              <a:rPr lang="fr-FR" sz="800" b="1" kern="0" spc="200" dirty="0">
                <a:solidFill>
                  <a:srgbClr val="C0C0C0"/>
                </a:solidFill>
                <a:latin typeface="Calibri" pitchFamily="34" charset="0"/>
                <a:ea typeface="Calibri" pitchFamily="34" charset="-122"/>
                <a:cs typeface="Calibri" pitchFamily="34" charset="-120"/>
              </a:rPr>
              <a:t>NATURE DU SYSTÈME ET OBJECTIFS</a:t>
            </a:r>
            <a:endParaRPr lang="en-US" sz="800" dirty="0"/>
          </a:p>
        </p:txBody>
      </p:sp>
      <p:sp>
        <p:nvSpPr>
          <p:cNvPr id="5" name="Text 3"/>
          <p:cNvSpPr/>
          <p:nvPr/>
        </p:nvSpPr>
        <p:spPr>
          <a:xfrm>
            <a:off x="457200" y="896112"/>
            <a:ext cx="3383280" cy="3410712"/>
          </a:xfrm>
          <a:prstGeom prst="rect">
            <a:avLst/>
          </a:prstGeom>
          <a:noFill/>
          <a:ln/>
        </p:spPr>
        <p:txBody>
          <a:bodyPr wrap="square" lIns="0" tIns="0" rIns="0" bIns="0" rtlCol="0" anchor="t"/>
          <a:lstStyle/>
          <a:p>
            <a:pPr marL="0" indent="0">
              <a:lnSpc>
                <a:spcPct val="110000"/>
              </a:lnSpc>
              <a:buNone/>
            </a:pPr>
            <a:r>
              <a:rPr lang="en-US" sz="4000" b="1" dirty="0">
                <a:solidFill>
                  <a:srgbClr val="0A0A0A"/>
                </a:solidFill>
                <a:latin typeface="Calibri" pitchFamily="34" charset="0"/>
                <a:ea typeface="Calibri" pitchFamily="34" charset="-122"/>
                <a:cs typeface="Calibri" pitchFamily="34" charset="-120"/>
              </a:rPr>
              <a:t>Comparer.
</a:t>
            </a:r>
            <a:endParaRPr lang="en-US" sz="4000" dirty="0"/>
          </a:p>
          <a:p>
            <a:pPr marL="0" indent="0">
              <a:lnSpc>
                <a:spcPct val="110000"/>
              </a:lnSpc>
              <a:buNone/>
            </a:pPr>
            <a:r>
              <a:rPr lang="en-US" sz="4000" b="1" dirty="0">
                <a:solidFill>
                  <a:srgbClr val="0A0A0A"/>
                </a:solidFill>
                <a:latin typeface="Calibri" pitchFamily="34" charset="0"/>
                <a:ea typeface="Calibri" pitchFamily="34" charset="-122"/>
                <a:cs typeface="Calibri" pitchFamily="34" charset="-120"/>
              </a:rPr>
              <a:t>Mesurer.
       </a:t>
            </a:r>
            <a:endParaRPr lang="en-US" sz="4000" dirty="0"/>
          </a:p>
          <a:p>
            <a:pPr marL="0" indent="0">
              <a:lnSpc>
                <a:spcPct val="110000"/>
              </a:lnSpc>
              <a:buNone/>
            </a:pPr>
            <a:r>
              <a:rPr lang="en-US" sz="4000" b="1" dirty="0">
                <a:solidFill>
                  <a:srgbClr val="0A0A0A"/>
                </a:solidFill>
                <a:latin typeface="Calibri" pitchFamily="34" charset="0"/>
                <a:ea typeface="Calibri" pitchFamily="34" charset="-122"/>
                <a:cs typeface="Calibri" pitchFamily="34" charset="-120"/>
              </a:rPr>
              <a:t>Valider.</a:t>
            </a:r>
            <a:endParaRPr lang="en-US" sz="4000" dirty="0"/>
          </a:p>
        </p:txBody>
      </p:sp>
      <p:sp>
        <p:nvSpPr>
          <p:cNvPr id="7" name="Shape 5"/>
          <p:cNvSpPr/>
          <p:nvPr/>
        </p:nvSpPr>
        <p:spPr>
          <a:xfrm>
            <a:off x="4206240" y="548640"/>
            <a:ext cx="0" cy="4023360"/>
          </a:xfrm>
          <a:prstGeom prst="line">
            <a:avLst/>
          </a:prstGeom>
          <a:noFill/>
          <a:ln w="15240">
            <a:solidFill>
              <a:srgbClr val="C9A84C"/>
            </a:solidFill>
            <a:prstDash val="solid"/>
          </a:ln>
        </p:spPr>
        <p:txBody>
          <a:bodyPr/>
          <a:lstStyle/>
          <a:p>
            <a:endParaRPr lang="en-CA"/>
          </a:p>
        </p:txBody>
      </p:sp>
      <p:sp>
        <p:nvSpPr>
          <p:cNvPr id="8" name="Text 6"/>
          <p:cNvSpPr/>
          <p:nvPr/>
        </p:nvSpPr>
        <p:spPr>
          <a:xfrm>
            <a:off x="4407408" y="548640"/>
            <a:ext cx="731520" cy="640080"/>
          </a:xfrm>
          <a:prstGeom prst="rect">
            <a:avLst/>
          </a:prstGeom>
          <a:noFill/>
          <a:ln/>
        </p:spPr>
        <p:txBody>
          <a:bodyPr wrap="square" lIns="0" tIns="0" rIns="0" bIns="0" rtlCol="0" anchor="ctr"/>
          <a:lstStyle/>
          <a:p>
            <a:pPr marL="0" indent="0">
              <a:buNone/>
            </a:pPr>
            <a:r>
              <a:rPr lang="en-US" sz="3800" b="1" dirty="0">
                <a:solidFill>
                  <a:srgbClr val="C9A84C">
                    <a:alpha val="18000"/>
                  </a:srgbClr>
                </a:solidFill>
                <a:latin typeface="Calibri" pitchFamily="34" charset="0"/>
                <a:ea typeface="Calibri" pitchFamily="34" charset="-122"/>
                <a:cs typeface="Calibri" pitchFamily="34" charset="-120"/>
              </a:rPr>
              <a:t>01</a:t>
            </a:r>
            <a:endParaRPr lang="en-US" sz="3800" dirty="0"/>
          </a:p>
        </p:txBody>
      </p:sp>
      <p:sp>
        <p:nvSpPr>
          <p:cNvPr id="9" name="Text 7"/>
          <p:cNvSpPr/>
          <p:nvPr/>
        </p:nvSpPr>
        <p:spPr>
          <a:xfrm>
            <a:off x="4572000" y="896112"/>
            <a:ext cx="4206240" cy="310896"/>
          </a:xfrm>
          <a:prstGeom prst="rect">
            <a:avLst/>
          </a:prstGeom>
          <a:noFill/>
          <a:ln/>
        </p:spPr>
        <p:txBody>
          <a:bodyPr wrap="square" lIns="0" tIns="0" rIns="0" bIns="0" rtlCol="0" anchor="ctr"/>
          <a:lstStyle/>
          <a:p>
            <a:pPr marL="0" indent="0">
              <a:buNone/>
            </a:pPr>
            <a:r>
              <a:rPr lang="en-US" sz="1300" b="1" dirty="0">
                <a:solidFill>
                  <a:srgbClr val="0A0A0A"/>
                </a:solidFill>
                <a:latin typeface="Calibri" pitchFamily="34" charset="0"/>
                <a:ea typeface="Calibri" pitchFamily="34" charset="-122"/>
                <a:cs typeface="Calibri" pitchFamily="34" charset="-120"/>
              </a:rPr>
              <a:t>Performance comparée</a:t>
            </a:r>
            <a:endParaRPr lang="en-US" sz="1300" dirty="0"/>
          </a:p>
        </p:txBody>
      </p:sp>
      <p:sp>
        <p:nvSpPr>
          <p:cNvPr id="10" name="Text 8"/>
          <p:cNvSpPr/>
          <p:nvPr/>
        </p:nvSpPr>
        <p:spPr>
          <a:xfrm>
            <a:off x="4572000" y="1243584"/>
            <a:ext cx="4206240" cy="566928"/>
          </a:xfrm>
          <a:prstGeom prst="rect">
            <a:avLst/>
          </a:prstGeom>
          <a:noFill/>
          <a:ln/>
        </p:spPr>
        <p:txBody>
          <a:bodyPr wrap="square" lIns="0" tIns="0" rIns="0" bIns="0" rtlCol="0" anchor="t"/>
          <a:lstStyle/>
          <a:p>
            <a:pPr marL="0" indent="0">
              <a:buNone/>
            </a:pPr>
            <a:r>
              <a:rPr lang="fr-FR" sz="1000" dirty="0">
                <a:solidFill>
                  <a:srgbClr val="888888"/>
                </a:solidFill>
                <a:latin typeface="Calibri" pitchFamily="34" charset="0"/>
                <a:ea typeface="Calibri" pitchFamily="34" charset="-122"/>
                <a:cs typeface="Calibri" pitchFamily="34" charset="-120"/>
              </a:rPr>
              <a:t>Mesurer le débit de chiffrement et de déchiffrement sur deux architectures réelles: x86 (Windows) et ARM (Raspberry Pi).</a:t>
            </a:r>
          </a:p>
          <a:p>
            <a:pPr marL="0" indent="0">
              <a:buNone/>
            </a:pPr>
            <a:r>
              <a:rPr lang="fr-FR" sz="1000" dirty="0">
                <a:solidFill>
                  <a:srgbClr val="888888"/>
                </a:solidFill>
                <a:latin typeface="Calibri" pitchFamily="34" charset="0"/>
                <a:ea typeface="Calibri" pitchFamily="34" charset="-122"/>
                <a:cs typeface="Calibri" pitchFamily="34" charset="-120"/>
              </a:rPr>
              <a:t>Le protocole, la matrice et les paramètres restent identiques pour garantir une comparaison équitable.</a:t>
            </a:r>
            <a:endParaRPr lang="en-US" sz="1000" dirty="0"/>
          </a:p>
        </p:txBody>
      </p:sp>
      <p:sp>
        <p:nvSpPr>
          <p:cNvPr id="11" name="Shape 9"/>
          <p:cNvSpPr/>
          <p:nvPr/>
        </p:nvSpPr>
        <p:spPr>
          <a:xfrm>
            <a:off x="4572000" y="1938528"/>
            <a:ext cx="4206240" cy="0"/>
          </a:xfrm>
          <a:prstGeom prst="line">
            <a:avLst/>
          </a:prstGeom>
          <a:noFill/>
          <a:ln w="6350">
            <a:solidFill>
              <a:srgbClr val="F0F0F0"/>
            </a:solidFill>
            <a:prstDash val="solid"/>
          </a:ln>
        </p:spPr>
        <p:txBody>
          <a:bodyPr/>
          <a:lstStyle/>
          <a:p>
            <a:endParaRPr lang="en-CA"/>
          </a:p>
        </p:txBody>
      </p:sp>
      <p:sp>
        <p:nvSpPr>
          <p:cNvPr id="12" name="Text 10"/>
          <p:cNvSpPr/>
          <p:nvPr/>
        </p:nvSpPr>
        <p:spPr>
          <a:xfrm>
            <a:off x="4407408" y="1901952"/>
            <a:ext cx="731520" cy="640080"/>
          </a:xfrm>
          <a:prstGeom prst="rect">
            <a:avLst/>
          </a:prstGeom>
          <a:noFill/>
          <a:ln/>
        </p:spPr>
        <p:txBody>
          <a:bodyPr wrap="square" lIns="0" tIns="0" rIns="0" bIns="0" rtlCol="0" anchor="ctr"/>
          <a:lstStyle/>
          <a:p>
            <a:pPr marL="0" indent="0">
              <a:buNone/>
            </a:pPr>
            <a:r>
              <a:rPr lang="en-US" sz="3800" b="1" dirty="0">
                <a:solidFill>
                  <a:srgbClr val="C9A84C">
                    <a:alpha val="18000"/>
                  </a:srgbClr>
                </a:solidFill>
                <a:latin typeface="Calibri" pitchFamily="34" charset="0"/>
                <a:ea typeface="Calibri" pitchFamily="34" charset="-122"/>
                <a:cs typeface="Calibri" pitchFamily="34" charset="-120"/>
              </a:rPr>
              <a:t>02</a:t>
            </a:r>
            <a:endParaRPr lang="en-US" sz="3800" dirty="0"/>
          </a:p>
        </p:txBody>
      </p:sp>
      <p:sp>
        <p:nvSpPr>
          <p:cNvPr id="13" name="Text 11"/>
          <p:cNvSpPr/>
          <p:nvPr/>
        </p:nvSpPr>
        <p:spPr>
          <a:xfrm>
            <a:off x="4572000" y="2249424"/>
            <a:ext cx="4206240" cy="310896"/>
          </a:xfrm>
          <a:prstGeom prst="rect">
            <a:avLst/>
          </a:prstGeom>
          <a:noFill/>
          <a:ln/>
        </p:spPr>
        <p:txBody>
          <a:bodyPr wrap="square" lIns="0" tIns="0" rIns="0" bIns="0" rtlCol="0" anchor="ctr"/>
          <a:lstStyle/>
          <a:p>
            <a:pPr marL="0" indent="0">
              <a:buNone/>
            </a:pPr>
            <a:r>
              <a:rPr lang="en-US" sz="1300" b="1" dirty="0">
                <a:solidFill>
                  <a:srgbClr val="0A0A0A"/>
                </a:solidFill>
                <a:latin typeface="Calibri" pitchFamily="34" charset="0"/>
                <a:ea typeface="Calibri" pitchFamily="34" charset="-122"/>
                <a:cs typeface="Calibri" pitchFamily="34" charset="-120"/>
              </a:rPr>
              <a:t>Robustesse cryptographique</a:t>
            </a:r>
            <a:endParaRPr lang="en-US" sz="1300" dirty="0"/>
          </a:p>
        </p:txBody>
      </p:sp>
      <p:sp>
        <p:nvSpPr>
          <p:cNvPr id="14" name="Text 12"/>
          <p:cNvSpPr/>
          <p:nvPr/>
        </p:nvSpPr>
        <p:spPr>
          <a:xfrm>
            <a:off x="4572000" y="2596896"/>
            <a:ext cx="4206240" cy="566928"/>
          </a:xfrm>
          <a:prstGeom prst="rect">
            <a:avLst/>
          </a:prstGeom>
          <a:noFill/>
          <a:ln/>
        </p:spPr>
        <p:txBody>
          <a:bodyPr wrap="square" lIns="0" tIns="0" rIns="0" bIns="0" rtlCol="0" anchor="t"/>
          <a:lstStyle/>
          <a:p>
            <a:pPr marL="0" indent="0">
              <a:buNone/>
            </a:pPr>
            <a:r>
              <a:rPr lang="fr-FR" sz="1000" dirty="0">
                <a:solidFill>
                  <a:srgbClr val="888888"/>
                </a:solidFill>
                <a:latin typeface="Calibri" pitchFamily="34" charset="0"/>
                <a:ea typeface="Calibri" pitchFamily="34" charset="-122"/>
                <a:cs typeface="Calibri" pitchFamily="34" charset="-120"/>
              </a:rPr>
              <a:t>Évaluer la qualité des implémentations avec l’effet avalanche (message et clé) et la stabilité statistique (IC95).</a:t>
            </a:r>
          </a:p>
          <a:p>
            <a:pPr marL="0" indent="0">
              <a:buNone/>
            </a:pPr>
            <a:r>
              <a:rPr lang="fr-FR" sz="1000" dirty="0">
                <a:solidFill>
                  <a:srgbClr val="888888"/>
                </a:solidFill>
                <a:latin typeface="Calibri" pitchFamily="34" charset="0"/>
                <a:ea typeface="Calibri" pitchFamily="34" charset="-122"/>
                <a:cs typeface="Calibri" pitchFamily="34" charset="-120"/>
              </a:rPr>
              <a:t>Ces indicateurs permettent d’analyser non seulement la vitesse, mais aussi la fiabilité cryptographique des résultats.</a:t>
            </a:r>
            <a:endParaRPr lang="en-US" sz="1000" dirty="0"/>
          </a:p>
        </p:txBody>
      </p:sp>
      <p:sp>
        <p:nvSpPr>
          <p:cNvPr id="15" name="Shape 13"/>
          <p:cNvSpPr/>
          <p:nvPr/>
        </p:nvSpPr>
        <p:spPr>
          <a:xfrm>
            <a:off x="4674801" y="3310643"/>
            <a:ext cx="4206240" cy="0"/>
          </a:xfrm>
          <a:prstGeom prst="line">
            <a:avLst/>
          </a:prstGeom>
          <a:noFill/>
          <a:ln w="6350">
            <a:solidFill>
              <a:srgbClr val="F0F0F0"/>
            </a:solidFill>
            <a:prstDash val="solid"/>
          </a:ln>
        </p:spPr>
        <p:txBody>
          <a:bodyPr/>
          <a:lstStyle/>
          <a:p>
            <a:endParaRPr lang="en-CA"/>
          </a:p>
        </p:txBody>
      </p:sp>
      <p:sp>
        <p:nvSpPr>
          <p:cNvPr id="16" name="Text 14"/>
          <p:cNvSpPr/>
          <p:nvPr/>
        </p:nvSpPr>
        <p:spPr>
          <a:xfrm>
            <a:off x="4407408" y="3255264"/>
            <a:ext cx="731520" cy="640080"/>
          </a:xfrm>
          <a:prstGeom prst="rect">
            <a:avLst/>
          </a:prstGeom>
          <a:noFill/>
          <a:ln/>
        </p:spPr>
        <p:txBody>
          <a:bodyPr wrap="square" lIns="0" tIns="0" rIns="0" bIns="0" rtlCol="0" anchor="ctr"/>
          <a:lstStyle/>
          <a:p>
            <a:pPr marL="0" indent="0">
              <a:buNone/>
            </a:pPr>
            <a:r>
              <a:rPr lang="en-US" sz="3800" b="1" dirty="0">
                <a:solidFill>
                  <a:srgbClr val="C9A84C">
                    <a:alpha val="18000"/>
                  </a:srgbClr>
                </a:solidFill>
                <a:latin typeface="Calibri" pitchFamily="34" charset="0"/>
                <a:ea typeface="Calibri" pitchFamily="34" charset="-122"/>
                <a:cs typeface="Calibri" pitchFamily="34" charset="-120"/>
              </a:rPr>
              <a:t>03</a:t>
            </a:r>
            <a:endParaRPr lang="en-US" sz="3800" dirty="0"/>
          </a:p>
        </p:txBody>
      </p:sp>
      <p:sp>
        <p:nvSpPr>
          <p:cNvPr id="17" name="Text 15"/>
          <p:cNvSpPr/>
          <p:nvPr/>
        </p:nvSpPr>
        <p:spPr>
          <a:xfrm>
            <a:off x="4572000" y="3602736"/>
            <a:ext cx="4206240" cy="310896"/>
          </a:xfrm>
          <a:prstGeom prst="rect">
            <a:avLst/>
          </a:prstGeom>
          <a:noFill/>
          <a:ln/>
        </p:spPr>
        <p:txBody>
          <a:bodyPr wrap="square" lIns="0" tIns="0" rIns="0" bIns="0" rtlCol="0" anchor="ctr"/>
          <a:lstStyle/>
          <a:p>
            <a:pPr marL="0" indent="0">
              <a:buNone/>
            </a:pPr>
            <a:r>
              <a:rPr lang="en-US" sz="1300" b="1" dirty="0">
                <a:solidFill>
                  <a:srgbClr val="0A0A0A"/>
                </a:solidFill>
                <a:latin typeface="Calibri" pitchFamily="34" charset="0"/>
                <a:ea typeface="Calibri" pitchFamily="34" charset="-122"/>
                <a:cs typeface="Calibri" pitchFamily="34" charset="-120"/>
              </a:rPr>
              <a:t>Reproductibilité démontrée</a:t>
            </a:r>
            <a:endParaRPr lang="en-US" sz="1300" dirty="0"/>
          </a:p>
        </p:txBody>
      </p:sp>
      <p:sp>
        <p:nvSpPr>
          <p:cNvPr id="18" name="Text 16"/>
          <p:cNvSpPr/>
          <p:nvPr/>
        </p:nvSpPr>
        <p:spPr>
          <a:xfrm>
            <a:off x="4590288" y="3950208"/>
            <a:ext cx="4187952" cy="566928"/>
          </a:xfrm>
          <a:prstGeom prst="rect">
            <a:avLst/>
          </a:prstGeom>
          <a:noFill/>
          <a:ln/>
        </p:spPr>
        <p:txBody>
          <a:bodyPr wrap="square" lIns="0" tIns="0" rIns="0" bIns="0" rtlCol="0" anchor="t"/>
          <a:lstStyle/>
          <a:p>
            <a:pPr marL="0" indent="0">
              <a:buNone/>
            </a:pPr>
            <a:r>
              <a:rPr lang="fr-FR" sz="1000" dirty="0">
                <a:solidFill>
                  <a:srgbClr val="888888"/>
                </a:solidFill>
                <a:latin typeface="Calibri" pitchFamily="34" charset="0"/>
                <a:ea typeface="Calibri" pitchFamily="34" charset="-122"/>
                <a:cs typeface="Calibri" pitchFamily="34" charset="-120"/>
              </a:rPr>
              <a:t>Rejouer le même pipeline de bout en bout: exécution expérimentale, validation KAT, puis génération des sorties CSV/graphes.</a:t>
            </a:r>
          </a:p>
          <a:p>
            <a:pPr marL="0" indent="0">
              <a:buNone/>
            </a:pPr>
            <a:r>
              <a:rPr lang="fr-FR" sz="1000" dirty="0">
                <a:solidFill>
                  <a:srgbClr val="888888"/>
                </a:solidFill>
                <a:latin typeface="Calibri" pitchFamily="34" charset="0"/>
                <a:ea typeface="Calibri" pitchFamily="34" charset="-122"/>
                <a:cs typeface="Calibri" pitchFamily="34" charset="-120"/>
              </a:rPr>
              <a:t>Chaque campagne produit des artefacts traçables et vérifiables, facilitant la revue et la comparaison inter-plateformes.</a:t>
            </a:r>
            <a:endParaRPr lang="en-US" sz="1000" dirty="0"/>
          </a:p>
        </p:txBody>
      </p:sp>
      <p:sp>
        <p:nvSpPr>
          <p:cNvPr id="19" name="Text 17"/>
          <p:cNvSpPr/>
          <p:nvPr/>
        </p:nvSpPr>
        <p:spPr>
          <a:xfrm>
            <a:off x="475488" y="481888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pic>
        <p:nvPicPr>
          <p:cNvPr id="21" name="Graphic 20" descr="Target outline">
            <a:extLst>
              <a:ext uri="{FF2B5EF4-FFF2-40B4-BE49-F238E27FC236}">
                <a16:creationId xmlns:a16="http://schemas.microsoft.com/office/drawing/2014/main" id="{FF0CF068-253E-AD20-F7D4-A604556FA6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81399" y="787981"/>
            <a:ext cx="3370168" cy="3370168"/>
          </a:xfrm>
          <a:prstGeom prst="rect">
            <a:avLst/>
          </a:prstGeom>
        </p:spPr>
      </p:pic>
      <p:pic>
        <p:nvPicPr>
          <p:cNvPr id="20" name="Graphic 19" descr="Video camera with solid fill">
            <a:extLst>
              <a:ext uri="{FF2B5EF4-FFF2-40B4-BE49-F238E27FC236}">
                <a16:creationId xmlns:a16="http://schemas.microsoft.com/office/drawing/2014/main" id="{C5CA8E31-B948-6F8A-2E5A-033D1D6FB5D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00544" y="72063"/>
            <a:ext cx="430857" cy="430857"/>
          </a:xfrm>
          <a:prstGeom prst="rect">
            <a:avLst/>
          </a:prstGeom>
        </p:spPr>
      </p:pic>
      <p:sp>
        <p:nvSpPr>
          <p:cNvPr id="23" name="Text 15">
            <a:extLst>
              <a:ext uri="{FF2B5EF4-FFF2-40B4-BE49-F238E27FC236}">
                <a16:creationId xmlns:a16="http://schemas.microsoft.com/office/drawing/2014/main" id="{62AF773D-0287-8EAB-61BF-DD3D17BC3041}"/>
              </a:ext>
            </a:extLst>
          </p:cNvPr>
          <p:cNvSpPr/>
          <p:nvPr/>
        </p:nvSpPr>
        <p:spPr>
          <a:xfrm>
            <a:off x="8301070" y="246453"/>
            <a:ext cx="691412" cy="205231"/>
          </a:xfrm>
          <a:prstGeom prst="rect">
            <a:avLst/>
          </a:prstGeom>
          <a:noFill/>
          <a:ln/>
        </p:spPr>
        <p:txBody>
          <a:bodyPr wrap="square" lIns="0" tIns="0" rIns="0" bIns="0" rtlCol="0" anchor="ctr"/>
          <a:lstStyle/>
          <a:p>
            <a:pPr marL="0" indent="0">
              <a:buNone/>
            </a:pPr>
            <a:r>
              <a:rPr lang="en-US" sz="1300" b="1" dirty="0">
                <a:solidFill>
                  <a:schemeClr val="tx1">
                    <a:lumMod val="65000"/>
                    <a:lumOff val="35000"/>
                  </a:schemeClr>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Vidéo 1</a:t>
            </a:r>
            <a:endParaRPr lang="en-US" sz="1300" dirty="0">
              <a:solidFill>
                <a:schemeClr val="tx1">
                  <a:lumMod val="65000"/>
                  <a:lumOff val="35000"/>
                </a:schemeClr>
              </a:solidFill>
            </a:endParaRPr>
          </a:p>
        </p:txBody>
      </p:sp>
      <p:sp>
        <p:nvSpPr>
          <p:cNvPr id="29" name="Text 1">
            <a:extLst>
              <a:ext uri="{FF2B5EF4-FFF2-40B4-BE49-F238E27FC236}">
                <a16:creationId xmlns:a16="http://schemas.microsoft.com/office/drawing/2014/main" id="{1D4AA2D6-0641-1A36-F7CA-9A62585379BF}"/>
              </a:ext>
            </a:extLst>
          </p:cNvPr>
          <p:cNvSpPr/>
          <p:nvPr/>
        </p:nvSpPr>
        <p:spPr>
          <a:xfrm>
            <a:off x="457200" y="386299"/>
            <a:ext cx="5029200" cy="365760"/>
          </a:xfrm>
          <a:prstGeom prst="rect">
            <a:avLst/>
          </a:prstGeom>
          <a:noFill/>
          <a:ln/>
        </p:spPr>
        <p:txBody>
          <a:bodyPr wrap="square" lIns="0" tIns="0" rIns="0" bIns="0" rtlCol="0" anchor="ctr"/>
          <a:lstStyle/>
          <a:p>
            <a:pPr marL="0" indent="0">
              <a:buNone/>
            </a:pPr>
            <a:r>
              <a:rPr lang="en-US" sz="1600" b="1" dirty="0">
                <a:solidFill>
                  <a:srgbClr val="0A0A0A"/>
                </a:solidFill>
                <a:latin typeface="Calibri" pitchFamily="34" charset="0"/>
                <a:ea typeface="Calibri" pitchFamily="34" charset="-122"/>
                <a:cs typeface="Calibri" pitchFamily="34" charset="-120"/>
              </a:rPr>
              <a:t>Objectifs </a:t>
            </a:r>
            <a:r>
              <a:rPr lang="en-US" sz="1600" b="1" dirty="0">
                <a:solidFill>
                  <a:srgbClr val="C9A84C"/>
                </a:solidFill>
                <a:latin typeface="Calibri" pitchFamily="34" charset="0"/>
                <a:ea typeface="Calibri" pitchFamily="34" charset="-122"/>
                <a:cs typeface="Calibri" pitchFamily="34" charset="-120"/>
              </a:rPr>
              <a:t>du projet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47472" y="164592"/>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01b  ·  </a:t>
            </a:r>
            <a:r>
              <a:rPr lang="fr-FR" sz="800" b="1" kern="0" spc="200" dirty="0">
                <a:solidFill>
                  <a:srgbClr val="C0C0C0"/>
                </a:solidFill>
                <a:latin typeface="Calibri" pitchFamily="34" charset="0"/>
                <a:ea typeface="Calibri" pitchFamily="34" charset="-122"/>
                <a:cs typeface="Calibri" pitchFamily="34" charset="-120"/>
              </a:rPr>
              <a:t>NATURE DU SYSTÈME ET OBJECTIFS</a:t>
            </a:r>
            <a:endParaRPr lang="en-US" sz="800" dirty="0"/>
          </a:p>
        </p:txBody>
      </p:sp>
      <p:sp>
        <p:nvSpPr>
          <p:cNvPr id="3" name="Text 1"/>
          <p:cNvSpPr/>
          <p:nvPr/>
        </p:nvSpPr>
        <p:spPr>
          <a:xfrm>
            <a:off x="347472" y="347472"/>
            <a:ext cx="5029200" cy="365760"/>
          </a:xfrm>
          <a:prstGeom prst="rect">
            <a:avLst/>
          </a:prstGeom>
          <a:noFill/>
          <a:ln/>
        </p:spPr>
        <p:txBody>
          <a:bodyPr wrap="square" lIns="0" tIns="0" rIns="0" bIns="0" rtlCol="0" anchor="ctr"/>
          <a:lstStyle/>
          <a:p>
            <a:pPr marL="0" indent="0">
              <a:buNone/>
            </a:pPr>
            <a:r>
              <a:rPr lang="en-US" sz="1600" b="1" dirty="0">
                <a:solidFill>
                  <a:srgbClr val="0A0A0A"/>
                </a:solidFill>
                <a:latin typeface="Calibri" pitchFamily="34" charset="0"/>
                <a:ea typeface="Calibri" pitchFamily="34" charset="-122"/>
                <a:cs typeface="Calibri" pitchFamily="34" charset="-120"/>
              </a:rPr>
              <a:t>Architecture </a:t>
            </a:r>
            <a:r>
              <a:rPr lang="en-US" sz="1600" b="1" dirty="0">
                <a:solidFill>
                  <a:srgbClr val="C9A84C"/>
                </a:solidFill>
                <a:latin typeface="Calibri" pitchFamily="34" charset="0"/>
                <a:ea typeface="Calibri" pitchFamily="34" charset="-122"/>
                <a:cs typeface="Calibri" pitchFamily="34" charset="-120"/>
              </a:rPr>
              <a:t>en couches</a:t>
            </a:r>
            <a:endParaRPr lang="en-US" sz="1600" dirty="0"/>
          </a:p>
        </p:txBody>
      </p:sp>
      <p:sp>
        <p:nvSpPr>
          <p:cNvPr id="5" name="Text 3"/>
          <p:cNvSpPr/>
          <p:nvPr/>
        </p:nvSpPr>
        <p:spPr>
          <a:xfrm>
            <a:off x="347472" y="1188720"/>
            <a:ext cx="1353312" cy="182880"/>
          </a:xfrm>
          <a:prstGeom prst="rect">
            <a:avLst/>
          </a:prstGeom>
          <a:noFill/>
          <a:ln/>
        </p:spPr>
        <p:txBody>
          <a:bodyPr wrap="square" lIns="0" tIns="0" rIns="0" bIns="0" rtlCol="0" anchor="ctr"/>
          <a:lstStyle/>
          <a:p>
            <a:pPr marL="0" indent="0" algn="ctr">
              <a:buNone/>
            </a:pPr>
            <a:r>
              <a:rPr lang="en-US" sz="650" b="1" kern="0" spc="150" dirty="0">
                <a:solidFill>
                  <a:srgbClr val="C0C0C0"/>
                </a:solidFill>
                <a:latin typeface="Calibri" pitchFamily="34" charset="0"/>
                <a:ea typeface="Calibri" pitchFamily="34" charset="-122"/>
                <a:cs typeface="Calibri" pitchFamily="34" charset="-120"/>
              </a:rPr>
              <a:t>APPLICATIF</a:t>
            </a:r>
            <a:endParaRPr lang="en-US" sz="650" dirty="0"/>
          </a:p>
        </p:txBody>
      </p:sp>
      <p:sp>
        <p:nvSpPr>
          <p:cNvPr id="6" name="Shape 4"/>
          <p:cNvSpPr/>
          <p:nvPr/>
        </p:nvSpPr>
        <p:spPr>
          <a:xfrm>
            <a:off x="347472" y="1426464"/>
            <a:ext cx="1353312" cy="2011680"/>
          </a:xfrm>
          <a:prstGeom prst="roundRect">
            <a:avLst>
              <a:gd name="adj" fmla="val 6757"/>
            </a:avLst>
          </a:prstGeom>
          <a:solidFill>
            <a:srgbClr val="0A0A0A"/>
          </a:solidFill>
          <a:ln w="12700">
            <a:solidFill>
              <a:srgbClr val="0A0A0A"/>
            </a:solidFill>
            <a:prstDash val="solid"/>
          </a:ln>
        </p:spPr>
        <p:txBody>
          <a:bodyPr/>
          <a:lstStyle/>
          <a:p>
            <a:endParaRPr lang="en-CA"/>
          </a:p>
        </p:txBody>
      </p:sp>
      <p:pic>
        <p:nvPicPr>
          <p:cNvPr id="7" name="Image 0" descr="preencoded.png"/>
          <p:cNvPicPr>
            <a:picLocks noChangeAspect="1"/>
          </p:cNvPicPr>
          <p:nvPr/>
        </p:nvPicPr>
        <p:blipFill>
          <a:blip r:embed="rId3"/>
          <a:stretch>
            <a:fillRect/>
          </a:stretch>
        </p:blipFill>
        <p:spPr>
          <a:xfrm>
            <a:off x="859536" y="1627632"/>
            <a:ext cx="329184" cy="329184"/>
          </a:xfrm>
          <a:prstGeom prst="rect">
            <a:avLst/>
          </a:prstGeom>
        </p:spPr>
      </p:pic>
      <p:sp>
        <p:nvSpPr>
          <p:cNvPr id="8" name="Text 5"/>
          <p:cNvSpPr/>
          <p:nvPr/>
        </p:nvSpPr>
        <p:spPr>
          <a:xfrm>
            <a:off x="402336" y="2011680"/>
            <a:ext cx="1243584"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experiment.py</a:t>
            </a:r>
            <a:endParaRPr lang="en-US" sz="950" dirty="0"/>
          </a:p>
        </p:txBody>
      </p:sp>
      <p:sp>
        <p:nvSpPr>
          <p:cNvPr id="9" name="Text 6"/>
          <p:cNvSpPr/>
          <p:nvPr/>
        </p:nvSpPr>
        <p:spPr>
          <a:xfrm>
            <a:off x="402336" y="2505456"/>
            <a:ext cx="1243584" cy="493776"/>
          </a:xfrm>
          <a:prstGeom prst="rect">
            <a:avLst/>
          </a:prstGeom>
          <a:noFill/>
          <a:ln/>
        </p:spPr>
        <p:txBody>
          <a:bodyPr wrap="square" lIns="0" tIns="0" rIns="0" bIns="0" rtlCol="0" anchor="t"/>
          <a:lstStyle/>
          <a:p>
            <a:pPr marL="0" indent="0" algn="ctr">
              <a:buNone/>
            </a:pPr>
            <a:r>
              <a:rPr lang="en-US" sz="700" dirty="0">
                <a:solidFill>
                  <a:srgbClr val="666666"/>
                </a:solidFill>
                <a:latin typeface="Calibri" pitchFamily="34" charset="0"/>
                <a:ea typeface="Calibri" pitchFamily="34" charset="-122"/>
                <a:cs typeface="Calibri" pitchFamily="34" charset="-120"/>
              </a:rPr>
              <a:t>ExperimentController</a:t>
            </a:r>
            <a:endParaRPr lang="en-US" sz="700" dirty="0"/>
          </a:p>
          <a:p>
            <a:pPr marL="0" indent="0" algn="ctr">
              <a:buNone/>
            </a:pPr>
            <a:r>
              <a:rPr lang="en-US" sz="700" dirty="0">
                <a:solidFill>
                  <a:srgbClr val="666666"/>
                </a:solidFill>
                <a:latin typeface="Calibri" pitchFamily="34" charset="0"/>
                <a:ea typeface="Calibri" pitchFamily="34" charset="-122"/>
                <a:cs typeface="Calibri" pitchFamily="34" charset="-120"/>
              </a:rPr>
              <a:t>n=100 · CSV horodaté</a:t>
            </a:r>
            <a:endParaRPr lang="en-US" sz="700" dirty="0"/>
          </a:p>
        </p:txBody>
      </p:sp>
      <p:sp>
        <p:nvSpPr>
          <p:cNvPr id="10" name="Text 7"/>
          <p:cNvSpPr/>
          <p:nvPr/>
        </p:nvSpPr>
        <p:spPr>
          <a:xfrm>
            <a:off x="1719072" y="2176272"/>
            <a:ext cx="384048" cy="164592"/>
          </a:xfrm>
          <a:prstGeom prst="rect">
            <a:avLst/>
          </a:prstGeom>
          <a:noFill/>
          <a:ln/>
        </p:spPr>
        <p:txBody>
          <a:bodyPr wrap="square" lIns="0" tIns="0" rIns="0" bIns="0" rtlCol="0" anchor="ctr"/>
          <a:lstStyle/>
          <a:p>
            <a:pPr marL="0" indent="0" algn="ctr">
              <a:buNone/>
            </a:pPr>
            <a:r>
              <a:rPr lang="en-US" sz="650" b="1" dirty="0">
                <a:solidFill>
                  <a:srgbClr val="C9A84C"/>
                </a:solidFill>
                <a:latin typeface="Calibri" pitchFamily="34" charset="0"/>
                <a:ea typeface="Calibri" pitchFamily="34" charset="-122"/>
                <a:cs typeface="Calibri" pitchFamily="34" charset="-120"/>
              </a:rPr>
              <a:t>instancie</a:t>
            </a:r>
            <a:endParaRPr lang="en-US" sz="650" dirty="0"/>
          </a:p>
        </p:txBody>
      </p:sp>
      <p:sp>
        <p:nvSpPr>
          <p:cNvPr id="11" name="Shape 8"/>
          <p:cNvSpPr/>
          <p:nvPr/>
        </p:nvSpPr>
        <p:spPr>
          <a:xfrm>
            <a:off x="1719071" y="2432304"/>
            <a:ext cx="402335" cy="0"/>
          </a:xfrm>
          <a:prstGeom prst="line">
            <a:avLst/>
          </a:prstGeom>
          <a:noFill/>
          <a:ln w="19050">
            <a:solidFill>
              <a:srgbClr val="C9A84C"/>
            </a:solidFill>
            <a:prstDash val="solid"/>
            <a:tailEnd type="triangle"/>
          </a:ln>
        </p:spPr>
        <p:txBody>
          <a:bodyPr/>
          <a:lstStyle/>
          <a:p>
            <a:endParaRPr lang="en-CA"/>
          </a:p>
        </p:txBody>
      </p:sp>
      <p:sp>
        <p:nvSpPr>
          <p:cNvPr id="13" name="Text 10"/>
          <p:cNvSpPr/>
          <p:nvPr/>
        </p:nvSpPr>
        <p:spPr>
          <a:xfrm>
            <a:off x="1728214" y="2523744"/>
            <a:ext cx="384048" cy="146304"/>
          </a:xfrm>
          <a:prstGeom prst="rect">
            <a:avLst/>
          </a:prstGeom>
          <a:noFill/>
          <a:ln/>
        </p:spPr>
        <p:txBody>
          <a:bodyPr wrap="square" lIns="0" tIns="0" rIns="0" bIns="0" rtlCol="0" anchor="ctr"/>
          <a:lstStyle/>
          <a:p>
            <a:pPr marL="0" indent="0" algn="ctr">
              <a:buNone/>
            </a:pPr>
            <a:r>
              <a:rPr lang="en-US" sz="600" dirty="0">
                <a:solidFill>
                  <a:srgbClr val="BBBBBB"/>
                </a:solidFill>
                <a:latin typeface="Calibri" pitchFamily="34" charset="0"/>
                <a:ea typeface="Calibri" pitchFamily="34" charset="-122"/>
                <a:cs typeface="Calibri" pitchFamily="34" charset="-120"/>
              </a:rPr>
              <a:t>← </a:t>
            </a:r>
          </a:p>
          <a:p>
            <a:pPr marL="0" indent="0" algn="ctr">
              <a:buNone/>
            </a:pPr>
            <a:r>
              <a:rPr lang="en-US" sz="600" dirty="0">
                <a:solidFill>
                  <a:srgbClr val="BBBBBB"/>
                </a:solidFill>
                <a:latin typeface="Calibri" pitchFamily="34" charset="0"/>
                <a:ea typeface="Calibri" pitchFamily="34" charset="-122"/>
                <a:cs typeface="Calibri" pitchFamily="34" charset="-120"/>
              </a:rPr>
              <a:t>résultats</a:t>
            </a:r>
            <a:endParaRPr lang="en-US" sz="600" dirty="0"/>
          </a:p>
        </p:txBody>
      </p:sp>
      <p:sp>
        <p:nvSpPr>
          <p:cNvPr id="14" name="Text 11"/>
          <p:cNvSpPr/>
          <p:nvPr/>
        </p:nvSpPr>
        <p:spPr>
          <a:xfrm>
            <a:off x="2121408" y="1188720"/>
            <a:ext cx="1353312" cy="182880"/>
          </a:xfrm>
          <a:prstGeom prst="rect">
            <a:avLst/>
          </a:prstGeom>
          <a:noFill/>
          <a:ln/>
        </p:spPr>
        <p:txBody>
          <a:bodyPr wrap="square" lIns="0" tIns="0" rIns="0" bIns="0" rtlCol="0" anchor="ctr"/>
          <a:lstStyle/>
          <a:p>
            <a:pPr marL="0" indent="0" algn="ctr">
              <a:buNone/>
            </a:pPr>
            <a:r>
              <a:rPr lang="en-US" sz="650" b="1" kern="0" spc="150" dirty="0">
                <a:solidFill>
                  <a:srgbClr val="C0C0C0"/>
                </a:solidFill>
                <a:latin typeface="Calibri" pitchFamily="34" charset="0"/>
                <a:ea typeface="Calibri" pitchFamily="34" charset="-122"/>
                <a:cs typeface="Calibri" pitchFamily="34" charset="-120"/>
              </a:rPr>
              <a:t>LOGIQUE</a:t>
            </a:r>
            <a:endParaRPr lang="en-US" sz="650" dirty="0"/>
          </a:p>
        </p:txBody>
      </p:sp>
      <p:sp>
        <p:nvSpPr>
          <p:cNvPr id="15" name="Shape 12"/>
          <p:cNvSpPr/>
          <p:nvPr/>
        </p:nvSpPr>
        <p:spPr>
          <a:xfrm>
            <a:off x="2121408" y="1426464"/>
            <a:ext cx="1353312" cy="2011680"/>
          </a:xfrm>
          <a:prstGeom prst="roundRect">
            <a:avLst>
              <a:gd name="adj" fmla="val 6757"/>
            </a:avLst>
          </a:prstGeom>
          <a:solidFill>
            <a:srgbClr val="FFFFFF"/>
          </a:solidFill>
          <a:ln w="12700">
            <a:solidFill>
              <a:srgbClr val="E4E4E4"/>
            </a:solidFill>
            <a:prstDash val="solid"/>
          </a:ln>
        </p:spPr>
        <p:txBody>
          <a:bodyPr/>
          <a:lstStyle/>
          <a:p>
            <a:endParaRPr lang="en-CA"/>
          </a:p>
        </p:txBody>
      </p:sp>
      <p:pic>
        <p:nvPicPr>
          <p:cNvPr id="16" name="Image 1" descr="preencoded.png"/>
          <p:cNvPicPr>
            <a:picLocks noChangeAspect="1"/>
          </p:cNvPicPr>
          <p:nvPr/>
        </p:nvPicPr>
        <p:blipFill>
          <a:blip r:embed="rId4"/>
          <a:stretch>
            <a:fillRect/>
          </a:stretch>
        </p:blipFill>
        <p:spPr>
          <a:xfrm>
            <a:off x="2633472" y="1627632"/>
            <a:ext cx="329184" cy="329184"/>
          </a:xfrm>
          <a:prstGeom prst="rect">
            <a:avLst/>
          </a:prstGeom>
        </p:spPr>
      </p:pic>
      <p:sp>
        <p:nvSpPr>
          <p:cNvPr id="17" name="Text 13"/>
          <p:cNvSpPr/>
          <p:nvPr/>
        </p:nvSpPr>
        <p:spPr>
          <a:xfrm>
            <a:off x="2176272" y="2011680"/>
            <a:ext cx="1243584" cy="475488"/>
          </a:xfrm>
          <a:prstGeom prst="rect">
            <a:avLst/>
          </a:prstGeom>
          <a:noFill/>
          <a:ln/>
        </p:spPr>
        <p:txBody>
          <a:bodyPr wrap="square" lIns="0" tIns="0" rIns="0" bIns="0" rtlCol="0" anchor="ctr"/>
          <a:lstStyle/>
          <a:p>
            <a:pPr marL="0" indent="0" algn="ctr">
              <a:buNone/>
            </a:pPr>
            <a:r>
              <a:rPr lang="en-US" sz="950" b="1" dirty="0">
                <a:solidFill>
                  <a:srgbClr val="0A0A0A"/>
                </a:solidFill>
                <a:latin typeface="Calibri" pitchFamily="34" charset="0"/>
                <a:ea typeface="Calibri" pitchFamily="34" charset="-122"/>
                <a:cs typeface="Calibri" pitchFamily="34" charset="-120"/>
              </a:rPr>
              <a:t>Encryption</a:t>
            </a:r>
            <a:endParaRPr lang="en-US" sz="950" dirty="0"/>
          </a:p>
          <a:p>
            <a:pPr marL="0" indent="0" algn="ctr">
              <a:buNone/>
            </a:pPr>
            <a:r>
              <a:rPr lang="en-US" sz="950" b="1" dirty="0">
                <a:solidFill>
                  <a:srgbClr val="0A0A0A"/>
                </a:solidFill>
                <a:latin typeface="Calibri" pitchFamily="34" charset="0"/>
                <a:ea typeface="Calibri" pitchFamily="34" charset="-122"/>
                <a:cs typeface="Calibri" pitchFamily="34" charset="-120"/>
              </a:rPr>
              <a:t>Engine</a:t>
            </a:r>
            <a:endParaRPr lang="en-US" sz="950" dirty="0"/>
          </a:p>
        </p:txBody>
      </p:sp>
      <p:sp>
        <p:nvSpPr>
          <p:cNvPr id="18" name="Text 14"/>
          <p:cNvSpPr/>
          <p:nvPr/>
        </p:nvSpPr>
        <p:spPr>
          <a:xfrm>
            <a:off x="2176272" y="2505456"/>
            <a:ext cx="1243584" cy="493776"/>
          </a:xfrm>
          <a:prstGeom prst="rect">
            <a:avLst/>
          </a:prstGeom>
          <a:noFill/>
          <a:ln/>
        </p:spPr>
        <p:txBody>
          <a:bodyPr wrap="square" lIns="0" tIns="0" rIns="0" bIns="0" rtlCol="0" anchor="t"/>
          <a:lstStyle/>
          <a:p>
            <a:pPr marL="0" indent="0" algn="ctr">
              <a:buNone/>
            </a:pPr>
            <a:r>
              <a:rPr lang="en-US" sz="700" dirty="0">
                <a:solidFill>
                  <a:srgbClr val="999999"/>
                </a:solidFill>
                <a:latin typeface="Calibri" pitchFamily="34" charset="0"/>
                <a:ea typeface="Calibri" pitchFamily="34" charset="-122"/>
                <a:cs typeface="Calibri" pitchFamily="34" charset="-120"/>
              </a:rPr>
              <a:t>Orchestration</a:t>
            </a:r>
            <a:endParaRPr lang="en-US" sz="700" dirty="0"/>
          </a:p>
          <a:p>
            <a:pPr marL="0" indent="0" algn="ctr">
              <a:buNone/>
            </a:pPr>
            <a:r>
              <a:rPr lang="en-US" sz="700" dirty="0">
                <a:solidFill>
                  <a:srgbClr val="999999"/>
                </a:solidFill>
                <a:latin typeface="Calibri" pitchFamily="34" charset="0"/>
                <a:ea typeface="Calibri" pitchFamily="34" charset="-122"/>
                <a:cs typeface="Calibri" pitchFamily="34" charset="-120"/>
              </a:rPr>
              <a:t>&amp; délégation</a:t>
            </a:r>
            <a:endParaRPr lang="en-US" sz="700" dirty="0"/>
          </a:p>
        </p:txBody>
      </p:sp>
      <p:sp>
        <p:nvSpPr>
          <p:cNvPr id="19" name="Text 15"/>
          <p:cNvSpPr/>
          <p:nvPr/>
        </p:nvSpPr>
        <p:spPr>
          <a:xfrm>
            <a:off x="3493008" y="2176272"/>
            <a:ext cx="384048" cy="164592"/>
          </a:xfrm>
          <a:prstGeom prst="rect">
            <a:avLst/>
          </a:prstGeom>
          <a:noFill/>
          <a:ln/>
        </p:spPr>
        <p:txBody>
          <a:bodyPr wrap="square" lIns="0" tIns="0" rIns="0" bIns="0" rtlCol="0" anchor="ctr"/>
          <a:lstStyle/>
          <a:p>
            <a:pPr marL="0" indent="0" algn="ctr">
              <a:buNone/>
            </a:pPr>
            <a:r>
              <a:rPr lang="en-US" sz="650" b="1" dirty="0">
                <a:solidFill>
                  <a:srgbClr val="C9A84C"/>
                </a:solidFill>
                <a:latin typeface="Calibri" pitchFamily="34" charset="0"/>
                <a:ea typeface="Calibri" pitchFamily="34" charset="-122"/>
                <a:cs typeface="Calibri" pitchFamily="34" charset="-120"/>
              </a:rPr>
              <a:t>délègue</a:t>
            </a:r>
            <a:endParaRPr lang="en-US" sz="650" dirty="0"/>
          </a:p>
        </p:txBody>
      </p:sp>
      <p:sp>
        <p:nvSpPr>
          <p:cNvPr id="22" name="Text 18"/>
          <p:cNvSpPr/>
          <p:nvPr/>
        </p:nvSpPr>
        <p:spPr>
          <a:xfrm>
            <a:off x="3493008" y="2523744"/>
            <a:ext cx="384048" cy="146304"/>
          </a:xfrm>
          <a:prstGeom prst="rect">
            <a:avLst/>
          </a:prstGeom>
          <a:noFill/>
          <a:ln/>
        </p:spPr>
        <p:txBody>
          <a:bodyPr wrap="square" lIns="0" tIns="0" rIns="0" bIns="0" rtlCol="0" anchor="ctr"/>
          <a:lstStyle/>
          <a:p>
            <a:pPr marL="0" indent="0" algn="ctr">
              <a:buNone/>
            </a:pPr>
            <a:r>
              <a:rPr lang="en-US" sz="600" dirty="0">
                <a:solidFill>
                  <a:srgbClr val="BBBBBB"/>
                </a:solidFill>
                <a:latin typeface="Calibri" pitchFamily="34" charset="0"/>
                <a:ea typeface="Calibri" pitchFamily="34" charset="-122"/>
                <a:cs typeface="Calibri" pitchFamily="34" charset="-120"/>
              </a:rPr>
              <a:t>← ciphertext</a:t>
            </a:r>
            <a:endParaRPr lang="en-US" sz="600" dirty="0"/>
          </a:p>
        </p:txBody>
      </p:sp>
      <p:sp>
        <p:nvSpPr>
          <p:cNvPr id="23" name="Text 19"/>
          <p:cNvSpPr/>
          <p:nvPr/>
        </p:nvSpPr>
        <p:spPr>
          <a:xfrm>
            <a:off x="3895344" y="1188720"/>
            <a:ext cx="1353312" cy="182880"/>
          </a:xfrm>
          <a:prstGeom prst="rect">
            <a:avLst/>
          </a:prstGeom>
          <a:noFill/>
          <a:ln/>
        </p:spPr>
        <p:txBody>
          <a:bodyPr wrap="square" lIns="0" tIns="0" rIns="0" bIns="0" rtlCol="0" anchor="ctr"/>
          <a:lstStyle/>
          <a:p>
            <a:pPr marL="0" indent="0" algn="ctr">
              <a:buNone/>
            </a:pPr>
            <a:r>
              <a:rPr lang="en-US" sz="650" b="1" kern="0" spc="150" dirty="0">
                <a:solidFill>
                  <a:srgbClr val="C0C0C0"/>
                </a:solidFill>
                <a:latin typeface="Calibri" pitchFamily="34" charset="0"/>
                <a:ea typeface="Calibri" pitchFamily="34" charset="-122"/>
                <a:cs typeface="Calibri" pitchFamily="34" charset="-120"/>
              </a:rPr>
              <a:t>MODE</a:t>
            </a:r>
            <a:endParaRPr lang="en-US" sz="650" dirty="0"/>
          </a:p>
        </p:txBody>
      </p:sp>
      <p:sp>
        <p:nvSpPr>
          <p:cNvPr id="24" name="Shape 20"/>
          <p:cNvSpPr/>
          <p:nvPr/>
        </p:nvSpPr>
        <p:spPr>
          <a:xfrm>
            <a:off x="3895344" y="1426464"/>
            <a:ext cx="1353312" cy="2011680"/>
          </a:xfrm>
          <a:prstGeom prst="roundRect">
            <a:avLst>
              <a:gd name="adj" fmla="val 6757"/>
            </a:avLst>
          </a:prstGeom>
          <a:solidFill>
            <a:srgbClr val="FFFFFF"/>
          </a:solidFill>
          <a:ln w="12700">
            <a:solidFill>
              <a:srgbClr val="E4E4E4"/>
            </a:solidFill>
            <a:prstDash val="solid"/>
          </a:ln>
        </p:spPr>
        <p:txBody>
          <a:bodyPr/>
          <a:lstStyle/>
          <a:p>
            <a:endParaRPr lang="en-CA"/>
          </a:p>
        </p:txBody>
      </p:sp>
      <p:pic>
        <p:nvPicPr>
          <p:cNvPr id="25" name="Image 2" descr="preencoded.png"/>
          <p:cNvPicPr>
            <a:picLocks noChangeAspect="1"/>
          </p:cNvPicPr>
          <p:nvPr/>
        </p:nvPicPr>
        <p:blipFill>
          <a:blip r:embed="rId5"/>
          <a:stretch>
            <a:fillRect/>
          </a:stretch>
        </p:blipFill>
        <p:spPr>
          <a:xfrm>
            <a:off x="4407408" y="1627632"/>
            <a:ext cx="329184" cy="329184"/>
          </a:xfrm>
          <a:prstGeom prst="rect">
            <a:avLst/>
          </a:prstGeom>
        </p:spPr>
      </p:pic>
      <p:sp>
        <p:nvSpPr>
          <p:cNvPr id="26" name="Text 21"/>
          <p:cNvSpPr/>
          <p:nvPr/>
        </p:nvSpPr>
        <p:spPr>
          <a:xfrm>
            <a:off x="3950208" y="2011680"/>
            <a:ext cx="1243584" cy="475488"/>
          </a:xfrm>
          <a:prstGeom prst="rect">
            <a:avLst/>
          </a:prstGeom>
          <a:noFill/>
          <a:ln/>
        </p:spPr>
        <p:txBody>
          <a:bodyPr wrap="square" lIns="0" tIns="0" rIns="0" bIns="0" rtlCol="0" anchor="ctr"/>
          <a:lstStyle/>
          <a:p>
            <a:pPr marL="0" indent="0" algn="ctr">
              <a:buNone/>
            </a:pPr>
            <a:r>
              <a:rPr lang="en-US" sz="950" b="1" dirty="0">
                <a:solidFill>
                  <a:srgbClr val="0A0A0A"/>
                </a:solidFill>
                <a:latin typeface="Calibri" pitchFamily="34" charset="0"/>
                <a:ea typeface="Calibri" pitchFamily="34" charset="-122"/>
                <a:cs typeface="Calibri" pitchFamily="34" charset="-120"/>
              </a:rPr>
              <a:t>Operation</a:t>
            </a:r>
            <a:endParaRPr lang="en-US" sz="950" dirty="0"/>
          </a:p>
          <a:p>
            <a:pPr marL="0" indent="0" algn="ctr">
              <a:buNone/>
            </a:pPr>
            <a:r>
              <a:rPr lang="en-US" sz="950" b="1" dirty="0">
                <a:solidFill>
                  <a:srgbClr val="0A0A0A"/>
                </a:solidFill>
                <a:latin typeface="Calibri" pitchFamily="34" charset="0"/>
                <a:ea typeface="Calibri" pitchFamily="34" charset="-122"/>
                <a:cs typeface="Calibri" pitchFamily="34" charset="-120"/>
              </a:rPr>
              <a:t>Mode</a:t>
            </a:r>
            <a:endParaRPr lang="en-US" sz="950" dirty="0"/>
          </a:p>
        </p:txBody>
      </p:sp>
      <p:sp>
        <p:nvSpPr>
          <p:cNvPr id="27" name="Text 22"/>
          <p:cNvSpPr/>
          <p:nvPr/>
        </p:nvSpPr>
        <p:spPr>
          <a:xfrm>
            <a:off x="3950208" y="2505456"/>
            <a:ext cx="1243584" cy="493776"/>
          </a:xfrm>
          <a:prstGeom prst="rect">
            <a:avLst/>
          </a:prstGeom>
          <a:noFill/>
          <a:ln/>
        </p:spPr>
        <p:txBody>
          <a:bodyPr wrap="square" lIns="0" tIns="0" rIns="0" bIns="0" rtlCol="0" anchor="t"/>
          <a:lstStyle/>
          <a:p>
            <a:pPr marL="0" indent="0" algn="ctr">
              <a:buNone/>
            </a:pPr>
            <a:r>
              <a:rPr lang="en-US" sz="700" dirty="0">
                <a:solidFill>
                  <a:srgbClr val="999999"/>
                </a:solidFill>
                <a:latin typeface="Calibri" pitchFamily="34" charset="0"/>
                <a:ea typeface="Calibri" pitchFamily="34" charset="-122"/>
                <a:cs typeface="Calibri" pitchFamily="34" charset="-120"/>
              </a:rPr>
              <a:t>ECB · CBC · CTR</a:t>
            </a:r>
            <a:endParaRPr lang="en-US" sz="700" dirty="0"/>
          </a:p>
          <a:p>
            <a:pPr marL="0" indent="0" algn="ctr">
              <a:buNone/>
            </a:pPr>
            <a:r>
              <a:rPr lang="en-US" sz="700" dirty="0">
                <a:solidFill>
                  <a:srgbClr val="999999"/>
                </a:solidFill>
                <a:latin typeface="Calibri" pitchFamily="34" charset="0"/>
                <a:ea typeface="Calibri" pitchFamily="34" charset="-122"/>
                <a:cs typeface="Calibri" pitchFamily="34" charset="-120"/>
              </a:rPr>
              <a:t>GCM · Stream</a:t>
            </a:r>
            <a:endParaRPr lang="en-US" sz="700" dirty="0"/>
          </a:p>
        </p:txBody>
      </p:sp>
      <p:sp>
        <p:nvSpPr>
          <p:cNvPr id="28" name="Text 23"/>
          <p:cNvSpPr/>
          <p:nvPr/>
        </p:nvSpPr>
        <p:spPr>
          <a:xfrm>
            <a:off x="5266944" y="2176272"/>
            <a:ext cx="384048" cy="164592"/>
          </a:xfrm>
          <a:prstGeom prst="rect">
            <a:avLst/>
          </a:prstGeom>
          <a:noFill/>
          <a:ln/>
        </p:spPr>
        <p:txBody>
          <a:bodyPr wrap="square" lIns="0" tIns="0" rIns="0" bIns="0" rtlCol="0" anchor="ctr"/>
          <a:lstStyle/>
          <a:p>
            <a:pPr marL="0" indent="0" algn="ctr">
              <a:buNone/>
            </a:pPr>
            <a:r>
              <a:rPr lang="en-US" sz="650" b="1" dirty="0">
                <a:solidFill>
                  <a:srgbClr val="C9A84C"/>
                </a:solidFill>
                <a:latin typeface="Calibri" pitchFamily="34" charset="0"/>
                <a:ea typeface="Calibri" pitchFamily="34" charset="-122"/>
                <a:cs typeface="Calibri" pitchFamily="34" charset="-120"/>
              </a:rPr>
              <a:t>invoque</a:t>
            </a:r>
            <a:endParaRPr lang="en-US" sz="650" dirty="0"/>
          </a:p>
        </p:txBody>
      </p:sp>
      <p:sp>
        <p:nvSpPr>
          <p:cNvPr id="31" name="Text 26"/>
          <p:cNvSpPr/>
          <p:nvPr/>
        </p:nvSpPr>
        <p:spPr>
          <a:xfrm>
            <a:off x="5266943" y="2577465"/>
            <a:ext cx="384049" cy="146304"/>
          </a:xfrm>
          <a:prstGeom prst="rect">
            <a:avLst/>
          </a:prstGeom>
          <a:noFill/>
          <a:ln/>
        </p:spPr>
        <p:txBody>
          <a:bodyPr wrap="square" lIns="0" tIns="0" rIns="0" bIns="0" rtlCol="0" anchor="ctr"/>
          <a:lstStyle/>
          <a:p>
            <a:pPr marL="0" indent="0" algn="ctr">
              <a:buNone/>
            </a:pPr>
            <a:r>
              <a:rPr lang="en-US" sz="600" dirty="0">
                <a:solidFill>
                  <a:srgbClr val="BBBBBB"/>
                </a:solidFill>
                <a:latin typeface="Calibri" pitchFamily="34" charset="0"/>
                <a:ea typeface="Calibri" pitchFamily="34" charset="-122"/>
                <a:cs typeface="Calibri" pitchFamily="34" charset="-120"/>
              </a:rPr>
              <a:t>← </a:t>
            </a:r>
          </a:p>
          <a:p>
            <a:pPr marL="0" indent="0" algn="ctr">
              <a:buNone/>
            </a:pPr>
            <a:r>
              <a:rPr lang="en-US" sz="600" dirty="0">
                <a:solidFill>
                  <a:srgbClr val="BBBBBB"/>
                </a:solidFill>
                <a:latin typeface="Calibri" pitchFamily="34" charset="0"/>
                <a:ea typeface="Calibri" pitchFamily="34" charset="-122"/>
                <a:cs typeface="Calibri" pitchFamily="34" charset="-120"/>
              </a:rPr>
              <a:t>blocs chiffrés</a:t>
            </a:r>
            <a:endParaRPr lang="en-US" sz="600" dirty="0"/>
          </a:p>
        </p:txBody>
      </p:sp>
      <p:sp>
        <p:nvSpPr>
          <p:cNvPr id="32" name="Text 27"/>
          <p:cNvSpPr/>
          <p:nvPr/>
        </p:nvSpPr>
        <p:spPr>
          <a:xfrm>
            <a:off x="5669280" y="1188720"/>
            <a:ext cx="1353312" cy="182880"/>
          </a:xfrm>
          <a:prstGeom prst="rect">
            <a:avLst/>
          </a:prstGeom>
          <a:noFill/>
          <a:ln/>
        </p:spPr>
        <p:txBody>
          <a:bodyPr wrap="square" lIns="0" tIns="0" rIns="0" bIns="0" rtlCol="0" anchor="ctr"/>
          <a:lstStyle/>
          <a:p>
            <a:pPr marL="0" indent="0" algn="ctr">
              <a:buNone/>
            </a:pPr>
            <a:r>
              <a:rPr lang="en-US" sz="650" b="1" kern="0" spc="150" dirty="0">
                <a:solidFill>
                  <a:srgbClr val="C0C0C0"/>
                </a:solidFill>
                <a:latin typeface="Calibri" pitchFamily="34" charset="0"/>
                <a:ea typeface="Calibri" pitchFamily="34" charset="-122"/>
                <a:cs typeface="Calibri" pitchFamily="34" charset="-120"/>
              </a:rPr>
              <a:t>PRIMITIVE</a:t>
            </a:r>
            <a:endParaRPr lang="en-US" sz="650" dirty="0"/>
          </a:p>
        </p:txBody>
      </p:sp>
      <p:sp>
        <p:nvSpPr>
          <p:cNvPr id="33" name="Shape 28"/>
          <p:cNvSpPr/>
          <p:nvPr/>
        </p:nvSpPr>
        <p:spPr>
          <a:xfrm>
            <a:off x="5669280" y="1426464"/>
            <a:ext cx="1353312" cy="2011680"/>
          </a:xfrm>
          <a:prstGeom prst="roundRect">
            <a:avLst>
              <a:gd name="adj" fmla="val 6757"/>
            </a:avLst>
          </a:prstGeom>
          <a:solidFill>
            <a:srgbClr val="FFFFFF"/>
          </a:solidFill>
          <a:ln w="12700">
            <a:solidFill>
              <a:srgbClr val="E4E4E4"/>
            </a:solidFill>
            <a:prstDash val="solid"/>
          </a:ln>
        </p:spPr>
        <p:txBody>
          <a:bodyPr/>
          <a:lstStyle/>
          <a:p>
            <a:endParaRPr lang="en-CA"/>
          </a:p>
        </p:txBody>
      </p:sp>
      <p:pic>
        <p:nvPicPr>
          <p:cNvPr id="34" name="Image 3" descr="preencoded.png"/>
          <p:cNvPicPr>
            <a:picLocks noChangeAspect="1"/>
          </p:cNvPicPr>
          <p:nvPr/>
        </p:nvPicPr>
        <p:blipFill>
          <a:blip r:embed="rId6"/>
          <a:stretch>
            <a:fillRect/>
          </a:stretch>
        </p:blipFill>
        <p:spPr>
          <a:xfrm>
            <a:off x="6181344" y="1627632"/>
            <a:ext cx="329184" cy="329184"/>
          </a:xfrm>
          <a:prstGeom prst="rect">
            <a:avLst/>
          </a:prstGeom>
        </p:spPr>
      </p:pic>
      <p:sp>
        <p:nvSpPr>
          <p:cNvPr id="35" name="Text 29"/>
          <p:cNvSpPr/>
          <p:nvPr/>
        </p:nvSpPr>
        <p:spPr>
          <a:xfrm>
            <a:off x="5724144" y="2011680"/>
            <a:ext cx="1243584" cy="475488"/>
          </a:xfrm>
          <a:prstGeom prst="rect">
            <a:avLst/>
          </a:prstGeom>
          <a:noFill/>
          <a:ln/>
        </p:spPr>
        <p:txBody>
          <a:bodyPr wrap="square" lIns="0" tIns="0" rIns="0" bIns="0" rtlCol="0" anchor="ctr"/>
          <a:lstStyle/>
          <a:p>
            <a:pPr marL="0" indent="0" algn="ctr">
              <a:buNone/>
            </a:pPr>
            <a:r>
              <a:rPr lang="en-US" sz="950" b="1" dirty="0">
                <a:solidFill>
                  <a:srgbClr val="0A0A0A"/>
                </a:solidFill>
                <a:latin typeface="Calibri" pitchFamily="34" charset="0"/>
                <a:ea typeface="Calibri" pitchFamily="34" charset="-122"/>
                <a:cs typeface="Calibri" pitchFamily="34" charset="-120"/>
              </a:rPr>
              <a:t>Cipher</a:t>
            </a:r>
            <a:endParaRPr lang="en-US" sz="950" dirty="0"/>
          </a:p>
          <a:p>
            <a:pPr marL="0" indent="0" algn="ctr">
              <a:buNone/>
            </a:pPr>
            <a:r>
              <a:rPr lang="en-US" sz="950" b="1" dirty="0">
                <a:solidFill>
                  <a:srgbClr val="0A0A0A"/>
                </a:solidFill>
                <a:latin typeface="Calibri" pitchFamily="34" charset="0"/>
                <a:ea typeface="Calibri" pitchFamily="34" charset="-122"/>
                <a:cs typeface="Calibri" pitchFamily="34" charset="-120"/>
              </a:rPr>
              <a:t>Primitive</a:t>
            </a:r>
            <a:endParaRPr lang="en-US" sz="950" dirty="0"/>
          </a:p>
        </p:txBody>
      </p:sp>
      <p:sp>
        <p:nvSpPr>
          <p:cNvPr id="36" name="Text 30"/>
          <p:cNvSpPr/>
          <p:nvPr/>
        </p:nvSpPr>
        <p:spPr>
          <a:xfrm>
            <a:off x="5724144" y="2505456"/>
            <a:ext cx="1243584" cy="493776"/>
          </a:xfrm>
          <a:prstGeom prst="rect">
            <a:avLst/>
          </a:prstGeom>
          <a:noFill/>
          <a:ln/>
        </p:spPr>
        <p:txBody>
          <a:bodyPr wrap="square" lIns="0" tIns="0" rIns="0" bIns="0" rtlCol="0" anchor="t"/>
          <a:lstStyle/>
          <a:p>
            <a:pPr marL="0" indent="0" algn="ctr">
              <a:buNone/>
            </a:pPr>
            <a:r>
              <a:rPr lang="en-US" sz="700" dirty="0">
                <a:solidFill>
                  <a:srgbClr val="999999"/>
                </a:solidFill>
                <a:latin typeface="Calibri" pitchFamily="34" charset="0"/>
                <a:ea typeface="Calibri" pitchFamily="34" charset="-122"/>
                <a:cs typeface="Calibri" pitchFamily="34" charset="-120"/>
              </a:rPr>
              <a:t>AES · DES · 3DES</a:t>
            </a:r>
            <a:endParaRPr lang="en-US" sz="700" dirty="0"/>
          </a:p>
          <a:p>
            <a:pPr marL="0" indent="0" algn="ctr">
              <a:buNone/>
            </a:pPr>
            <a:r>
              <a:rPr lang="en-US" sz="700" dirty="0">
                <a:solidFill>
                  <a:srgbClr val="999999"/>
                </a:solidFill>
                <a:latin typeface="Calibri" pitchFamily="34" charset="0"/>
                <a:ea typeface="Calibri" pitchFamily="34" charset="-122"/>
                <a:cs typeface="Calibri" pitchFamily="34" charset="-120"/>
              </a:rPr>
              <a:t>Twofish · ChaCha20</a:t>
            </a:r>
            <a:endParaRPr lang="en-US" sz="700" dirty="0"/>
          </a:p>
        </p:txBody>
      </p:sp>
      <p:sp>
        <p:nvSpPr>
          <p:cNvPr id="37" name="Text 31"/>
          <p:cNvSpPr/>
          <p:nvPr/>
        </p:nvSpPr>
        <p:spPr>
          <a:xfrm>
            <a:off x="7040880" y="2176272"/>
            <a:ext cx="384048" cy="164592"/>
          </a:xfrm>
          <a:prstGeom prst="rect">
            <a:avLst/>
          </a:prstGeom>
          <a:noFill/>
          <a:ln/>
        </p:spPr>
        <p:txBody>
          <a:bodyPr wrap="square" lIns="0" tIns="0" rIns="0" bIns="0" rtlCol="0" anchor="ctr"/>
          <a:lstStyle/>
          <a:p>
            <a:pPr marL="0" indent="0" algn="ctr">
              <a:buNone/>
            </a:pPr>
            <a:r>
              <a:rPr lang="en-US" sz="650" b="1" dirty="0">
                <a:solidFill>
                  <a:srgbClr val="C9A84C"/>
                </a:solidFill>
                <a:latin typeface="Calibri" pitchFamily="34" charset="0"/>
                <a:ea typeface="Calibri" pitchFamily="34" charset="-122"/>
                <a:cs typeface="Calibri" pitchFamily="34" charset="-120"/>
              </a:rPr>
              <a:t>appelle</a:t>
            </a:r>
            <a:endParaRPr lang="en-US" sz="650" dirty="0"/>
          </a:p>
        </p:txBody>
      </p:sp>
      <p:sp>
        <p:nvSpPr>
          <p:cNvPr id="40" name="Text 34"/>
          <p:cNvSpPr/>
          <p:nvPr/>
        </p:nvSpPr>
        <p:spPr>
          <a:xfrm>
            <a:off x="7040880" y="2523744"/>
            <a:ext cx="384048" cy="146304"/>
          </a:xfrm>
          <a:prstGeom prst="rect">
            <a:avLst/>
          </a:prstGeom>
          <a:noFill/>
          <a:ln/>
        </p:spPr>
        <p:txBody>
          <a:bodyPr wrap="square" lIns="0" tIns="0" rIns="0" bIns="0" rtlCol="0" anchor="ctr"/>
          <a:lstStyle/>
          <a:p>
            <a:pPr marL="0" indent="0" algn="ctr">
              <a:buNone/>
            </a:pPr>
            <a:r>
              <a:rPr lang="en-US" sz="600" dirty="0">
                <a:solidFill>
                  <a:srgbClr val="BBBBBB"/>
                </a:solidFill>
                <a:latin typeface="Calibri" pitchFamily="34" charset="0"/>
                <a:ea typeface="Calibri" pitchFamily="34" charset="-122"/>
                <a:cs typeface="Calibri" pitchFamily="34" charset="-120"/>
              </a:rPr>
              <a:t>← </a:t>
            </a:r>
          </a:p>
          <a:p>
            <a:pPr marL="0" indent="0" algn="ctr">
              <a:buNone/>
            </a:pPr>
            <a:r>
              <a:rPr lang="en-US" sz="600" dirty="0">
                <a:solidFill>
                  <a:srgbClr val="BBBBBB"/>
                </a:solidFill>
                <a:latin typeface="Calibri" pitchFamily="34" charset="0"/>
                <a:ea typeface="Calibri" pitchFamily="34" charset="-122"/>
                <a:cs typeface="Calibri" pitchFamily="34" charset="-120"/>
              </a:rPr>
              <a:t>bytes natifs</a:t>
            </a:r>
            <a:endParaRPr lang="en-US" sz="600" dirty="0"/>
          </a:p>
        </p:txBody>
      </p:sp>
      <p:sp>
        <p:nvSpPr>
          <p:cNvPr id="41" name="Text 35"/>
          <p:cNvSpPr/>
          <p:nvPr/>
        </p:nvSpPr>
        <p:spPr>
          <a:xfrm>
            <a:off x="7443216" y="1188720"/>
            <a:ext cx="1353312" cy="182880"/>
          </a:xfrm>
          <a:prstGeom prst="rect">
            <a:avLst/>
          </a:prstGeom>
          <a:noFill/>
          <a:ln/>
        </p:spPr>
        <p:txBody>
          <a:bodyPr wrap="square" lIns="0" tIns="0" rIns="0" bIns="0" rtlCol="0" anchor="ctr"/>
          <a:lstStyle/>
          <a:p>
            <a:pPr marL="0" indent="0" algn="ctr">
              <a:buNone/>
            </a:pPr>
            <a:r>
              <a:rPr lang="en-US" sz="650" b="1" kern="0" spc="150" dirty="0">
                <a:solidFill>
                  <a:srgbClr val="C9A84C"/>
                </a:solidFill>
                <a:latin typeface="Calibri" pitchFamily="34" charset="0"/>
                <a:ea typeface="Calibri" pitchFamily="34" charset="-122"/>
                <a:cs typeface="Calibri" pitchFamily="34" charset="-120"/>
              </a:rPr>
              <a:t>LIBRAIRIES</a:t>
            </a:r>
            <a:endParaRPr lang="en-US" sz="650" dirty="0"/>
          </a:p>
        </p:txBody>
      </p:sp>
      <p:sp>
        <p:nvSpPr>
          <p:cNvPr id="42" name="Shape 36"/>
          <p:cNvSpPr/>
          <p:nvPr/>
        </p:nvSpPr>
        <p:spPr>
          <a:xfrm>
            <a:off x="7443216" y="1426464"/>
            <a:ext cx="1353312" cy="2011680"/>
          </a:xfrm>
          <a:prstGeom prst="roundRect">
            <a:avLst>
              <a:gd name="adj" fmla="val 6757"/>
            </a:avLst>
          </a:prstGeom>
          <a:solidFill>
            <a:srgbClr val="FFFBF0"/>
          </a:solidFill>
          <a:ln w="19050">
            <a:solidFill>
              <a:srgbClr val="C9A84C"/>
            </a:solidFill>
            <a:prstDash val="solid"/>
          </a:ln>
        </p:spPr>
        <p:txBody>
          <a:bodyPr/>
          <a:lstStyle/>
          <a:p>
            <a:endParaRPr lang="en-CA"/>
          </a:p>
        </p:txBody>
      </p:sp>
      <p:pic>
        <p:nvPicPr>
          <p:cNvPr id="43" name="Image 4" descr="preencoded.png"/>
          <p:cNvPicPr>
            <a:picLocks noChangeAspect="1"/>
          </p:cNvPicPr>
          <p:nvPr/>
        </p:nvPicPr>
        <p:blipFill>
          <a:blip r:embed="rId7"/>
          <a:stretch>
            <a:fillRect/>
          </a:stretch>
        </p:blipFill>
        <p:spPr>
          <a:xfrm>
            <a:off x="7955280" y="1627632"/>
            <a:ext cx="329184" cy="329184"/>
          </a:xfrm>
          <a:prstGeom prst="rect">
            <a:avLst/>
          </a:prstGeom>
        </p:spPr>
      </p:pic>
      <p:sp>
        <p:nvSpPr>
          <p:cNvPr id="44" name="Text 37"/>
          <p:cNvSpPr/>
          <p:nvPr/>
        </p:nvSpPr>
        <p:spPr>
          <a:xfrm>
            <a:off x="7498080" y="2011680"/>
            <a:ext cx="1243584" cy="475488"/>
          </a:xfrm>
          <a:prstGeom prst="rect">
            <a:avLst/>
          </a:prstGeom>
          <a:noFill/>
          <a:ln/>
        </p:spPr>
        <p:txBody>
          <a:bodyPr wrap="square" lIns="0" tIns="0" rIns="0" bIns="0" rtlCol="0" anchor="ctr"/>
          <a:lstStyle/>
          <a:p>
            <a:pPr marL="0" indent="0" algn="ctr">
              <a:buNone/>
            </a:pPr>
            <a:r>
              <a:rPr lang="en-US" sz="950" b="1" dirty="0">
                <a:solidFill>
                  <a:srgbClr val="C9A84C"/>
                </a:solidFill>
                <a:latin typeface="Calibri" pitchFamily="34" charset="0"/>
                <a:ea typeface="Calibri" pitchFamily="34" charset="-122"/>
                <a:cs typeface="Calibri" pitchFamily="34" charset="-120"/>
              </a:rPr>
              <a:t>PyCryptodome + twofish</a:t>
            </a:r>
            <a:endParaRPr lang="en-US" sz="950" dirty="0"/>
          </a:p>
        </p:txBody>
      </p:sp>
      <p:sp>
        <p:nvSpPr>
          <p:cNvPr id="45" name="Text 38"/>
          <p:cNvSpPr/>
          <p:nvPr/>
        </p:nvSpPr>
        <p:spPr>
          <a:xfrm>
            <a:off x="7498080" y="2505456"/>
            <a:ext cx="1243584" cy="493776"/>
          </a:xfrm>
          <a:prstGeom prst="rect">
            <a:avLst/>
          </a:prstGeom>
          <a:noFill/>
          <a:ln/>
        </p:spPr>
        <p:txBody>
          <a:bodyPr wrap="square" lIns="0" tIns="0" rIns="0" bIns="0" rtlCol="0" anchor="t"/>
          <a:lstStyle/>
          <a:p>
            <a:pPr marL="0" indent="0" algn="ctr">
              <a:buNone/>
            </a:pPr>
            <a:r>
              <a:rPr lang="fr-FR" sz="700" dirty="0">
                <a:solidFill>
                  <a:srgbClr val="B8942A"/>
                </a:solidFill>
                <a:latin typeface="Calibri" pitchFamily="34" charset="0"/>
                <a:ea typeface="Calibri" pitchFamily="34" charset="-122"/>
                <a:cs typeface="Calibri" pitchFamily="34" charset="-120"/>
              </a:rPr>
              <a:t>Implémentations natives adaptées à la plateforme x86/ARM</a:t>
            </a:r>
            <a:endParaRPr lang="en-US" sz="700" dirty="0"/>
          </a:p>
        </p:txBody>
      </p:sp>
      <p:sp>
        <p:nvSpPr>
          <p:cNvPr id="46" name="Text 39"/>
          <p:cNvSpPr/>
          <p:nvPr/>
        </p:nvSpPr>
        <p:spPr>
          <a:xfrm>
            <a:off x="347472" y="4773168"/>
            <a:ext cx="8449056"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48" name="Shape 8">
            <a:extLst>
              <a:ext uri="{FF2B5EF4-FFF2-40B4-BE49-F238E27FC236}">
                <a16:creationId xmlns:a16="http://schemas.microsoft.com/office/drawing/2014/main" id="{0DFEF41C-4E18-90B8-5A08-AE8E2297995A}"/>
              </a:ext>
            </a:extLst>
          </p:cNvPr>
          <p:cNvSpPr/>
          <p:nvPr/>
        </p:nvSpPr>
        <p:spPr>
          <a:xfrm>
            <a:off x="3474721" y="2432304"/>
            <a:ext cx="402335" cy="0"/>
          </a:xfrm>
          <a:prstGeom prst="line">
            <a:avLst/>
          </a:prstGeom>
          <a:noFill/>
          <a:ln w="19050">
            <a:solidFill>
              <a:srgbClr val="C9A84C"/>
            </a:solidFill>
            <a:prstDash val="solid"/>
            <a:tailEnd type="triangle"/>
          </a:ln>
        </p:spPr>
        <p:txBody>
          <a:bodyPr/>
          <a:lstStyle/>
          <a:p>
            <a:endParaRPr lang="en-CA"/>
          </a:p>
        </p:txBody>
      </p:sp>
      <p:sp>
        <p:nvSpPr>
          <p:cNvPr id="50" name="Shape 8">
            <a:extLst>
              <a:ext uri="{FF2B5EF4-FFF2-40B4-BE49-F238E27FC236}">
                <a16:creationId xmlns:a16="http://schemas.microsoft.com/office/drawing/2014/main" id="{46196757-C294-E533-06EC-0DC6466FDDB8}"/>
              </a:ext>
            </a:extLst>
          </p:cNvPr>
          <p:cNvSpPr/>
          <p:nvPr/>
        </p:nvSpPr>
        <p:spPr>
          <a:xfrm>
            <a:off x="5248656" y="2446528"/>
            <a:ext cx="402335" cy="0"/>
          </a:xfrm>
          <a:prstGeom prst="line">
            <a:avLst/>
          </a:prstGeom>
          <a:noFill/>
          <a:ln w="19050">
            <a:solidFill>
              <a:srgbClr val="C9A84C"/>
            </a:solidFill>
            <a:prstDash val="solid"/>
            <a:tailEnd type="triangle"/>
          </a:ln>
        </p:spPr>
        <p:txBody>
          <a:bodyPr/>
          <a:lstStyle/>
          <a:p>
            <a:endParaRPr lang="en-CA"/>
          </a:p>
        </p:txBody>
      </p:sp>
      <p:sp>
        <p:nvSpPr>
          <p:cNvPr id="52" name="Shape 8">
            <a:extLst>
              <a:ext uri="{FF2B5EF4-FFF2-40B4-BE49-F238E27FC236}">
                <a16:creationId xmlns:a16="http://schemas.microsoft.com/office/drawing/2014/main" id="{78C4A55D-12C3-564B-0FB1-6EF88D940D97}"/>
              </a:ext>
            </a:extLst>
          </p:cNvPr>
          <p:cNvSpPr/>
          <p:nvPr/>
        </p:nvSpPr>
        <p:spPr>
          <a:xfrm>
            <a:off x="7022593" y="2446528"/>
            <a:ext cx="402335" cy="0"/>
          </a:xfrm>
          <a:prstGeom prst="line">
            <a:avLst/>
          </a:prstGeom>
          <a:noFill/>
          <a:ln w="19050">
            <a:solidFill>
              <a:srgbClr val="C9A84C"/>
            </a:solidFill>
            <a:prstDash val="solid"/>
            <a:tailEnd type="triangle"/>
          </a:ln>
        </p:spPr>
        <p:txBody>
          <a:bodyPr/>
          <a:lstStyle/>
          <a:p>
            <a:endParaRPr lang="en-CA"/>
          </a:p>
        </p:txBody>
      </p:sp>
      <p:sp>
        <p:nvSpPr>
          <p:cNvPr id="54" name="TextBox 53">
            <a:extLst>
              <a:ext uri="{FF2B5EF4-FFF2-40B4-BE49-F238E27FC236}">
                <a16:creationId xmlns:a16="http://schemas.microsoft.com/office/drawing/2014/main" id="{DF9B7075-C898-7B6A-5EF6-F1EFFC8FA478}"/>
              </a:ext>
            </a:extLst>
          </p:cNvPr>
          <p:cNvSpPr txBox="1"/>
          <p:nvPr/>
        </p:nvSpPr>
        <p:spPr>
          <a:xfrm>
            <a:off x="1134581" y="3859434"/>
            <a:ext cx="7204021" cy="415498"/>
          </a:xfrm>
          <a:prstGeom prst="rect">
            <a:avLst/>
          </a:prstGeom>
          <a:noFill/>
        </p:spPr>
        <p:txBody>
          <a:bodyPr wrap="square">
            <a:spAutoFit/>
          </a:bodyPr>
          <a:lstStyle/>
          <a:p>
            <a:pPr algn="ctr"/>
            <a:r>
              <a:rPr lang="fr-FR" sz="1050" i="1" dirty="0">
                <a:solidFill>
                  <a:schemeClr val="bg2">
                    <a:lumMod val="75000"/>
                  </a:schemeClr>
                </a:solidFill>
                <a:latin typeface="Calibri" pitchFamily="34" charset="0"/>
                <a:cs typeface="Calibri" pitchFamily="34" charset="-120"/>
              </a:rPr>
              <a:t>Un protocole identique sur les deux plateformes permet d’attribuer les écarts mesurés au contexte matériel plutôt qu’à la méthode</a:t>
            </a:r>
            <a:r>
              <a:rPr lang="en-CA" sz="1050" i="1" dirty="0">
                <a:solidFill>
                  <a:schemeClr val="bg2">
                    <a:lumMod val="75000"/>
                  </a:schemeClr>
                </a:solidFill>
                <a:latin typeface="Calibri" pitchFamily="34" charset="0"/>
                <a:cs typeface="Calibri" pitchFamily="34" charset="-120"/>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475488" y="164592"/>
            <a:ext cx="64008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01c  ·  NATURE DU SYSTÈME ET OBJECTIFS</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Conditions </a:t>
            </a:r>
            <a:r>
              <a:rPr lang="en-US" sz="1500" b="1" dirty="0">
                <a:solidFill>
                  <a:srgbClr val="C9A84C"/>
                </a:solidFill>
                <a:latin typeface="Calibri" pitchFamily="34" charset="0"/>
                <a:ea typeface="Calibri" pitchFamily="34" charset="-122"/>
                <a:cs typeface="Calibri" pitchFamily="34" charset="-120"/>
              </a:rPr>
              <a:t>de reproductibilité</a:t>
            </a:r>
            <a:endParaRPr lang="en-US" sz="1500" dirty="0"/>
          </a:p>
        </p:txBody>
      </p:sp>
      <p:sp>
        <p:nvSpPr>
          <p:cNvPr id="5" name="Text 3"/>
          <p:cNvSpPr/>
          <p:nvPr/>
        </p:nvSpPr>
        <p:spPr>
          <a:xfrm>
            <a:off x="475488" y="694944"/>
            <a:ext cx="8321040" cy="201168"/>
          </a:xfrm>
          <a:prstGeom prst="rect">
            <a:avLst/>
          </a:prstGeom>
          <a:noFill/>
          <a:ln/>
        </p:spPr>
        <p:txBody>
          <a:bodyPr wrap="square" lIns="0" tIns="0" rIns="0" bIns="0" rtlCol="0" anchor="ctr"/>
          <a:lstStyle/>
          <a:p>
            <a:pPr marL="0" indent="0">
              <a:buNone/>
            </a:pPr>
            <a:r>
              <a:rPr lang="fr-FR" sz="850" i="1" dirty="0">
                <a:solidFill>
                  <a:srgbClr val="888888"/>
                </a:solidFill>
                <a:latin typeface="Calibri" pitchFamily="34" charset="0"/>
                <a:ea typeface="Calibri" pitchFamily="34" charset="-122"/>
                <a:cs typeface="Calibri" pitchFamily="34" charset="-120"/>
              </a:rPr>
              <a:t>Ces quatre conditions rendent les comparaisons x86/ARM méthodologiquement cohérentes et interprétables.</a:t>
            </a:r>
            <a:endParaRPr lang="en-US" sz="850" dirty="0"/>
          </a:p>
        </p:txBody>
      </p:sp>
      <p:sp>
        <p:nvSpPr>
          <p:cNvPr id="6" name="Shape 4"/>
          <p:cNvSpPr/>
          <p:nvPr/>
        </p:nvSpPr>
        <p:spPr>
          <a:xfrm>
            <a:off x="475488" y="950976"/>
            <a:ext cx="8321040" cy="0"/>
          </a:xfrm>
          <a:prstGeom prst="line">
            <a:avLst/>
          </a:prstGeom>
          <a:noFill/>
          <a:ln w="10160">
            <a:solidFill>
              <a:srgbClr val="F0F0F0"/>
            </a:solidFill>
            <a:prstDash val="solid"/>
          </a:ln>
        </p:spPr>
        <p:txBody>
          <a:bodyPr/>
          <a:lstStyle/>
          <a:p>
            <a:endParaRPr lang="en-CA"/>
          </a:p>
        </p:txBody>
      </p:sp>
      <p:sp>
        <p:nvSpPr>
          <p:cNvPr id="7" name="Shape 5"/>
          <p:cNvSpPr/>
          <p:nvPr/>
        </p:nvSpPr>
        <p:spPr>
          <a:xfrm>
            <a:off x="475488" y="1133855"/>
            <a:ext cx="3977640" cy="1261873"/>
          </a:xfrm>
          <a:prstGeom prst="roundRect">
            <a:avLst>
              <a:gd name="adj" fmla="val 5618"/>
            </a:avLst>
          </a:prstGeom>
          <a:solidFill>
            <a:srgbClr val="FAFAFA"/>
          </a:solidFill>
          <a:ln w="7620">
            <a:solidFill>
              <a:srgbClr val="EEEEEE"/>
            </a:solidFill>
            <a:prstDash val="solid"/>
          </a:ln>
        </p:spPr>
        <p:txBody>
          <a:bodyPr/>
          <a:lstStyle/>
          <a:p>
            <a:endParaRPr lang="en-CA"/>
          </a:p>
        </p:txBody>
      </p:sp>
      <p:sp>
        <p:nvSpPr>
          <p:cNvPr id="8" name="Shape 6"/>
          <p:cNvSpPr/>
          <p:nvPr/>
        </p:nvSpPr>
        <p:spPr>
          <a:xfrm>
            <a:off x="475488" y="1133855"/>
            <a:ext cx="3977640" cy="54864"/>
          </a:xfrm>
          <a:prstGeom prst="rect">
            <a:avLst/>
          </a:prstGeom>
          <a:solidFill>
            <a:srgbClr val="C9A84C"/>
          </a:solidFill>
          <a:ln w="12700">
            <a:solidFill>
              <a:srgbClr val="C9A84C"/>
            </a:solidFill>
            <a:prstDash val="solid"/>
          </a:ln>
        </p:spPr>
        <p:txBody>
          <a:bodyPr/>
          <a:lstStyle/>
          <a:p>
            <a:endParaRPr lang="en-CA"/>
          </a:p>
        </p:txBody>
      </p:sp>
      <p:sp>
        <p:nvSpPr>
          <p:cNvPr id="9" name="Text 7"/>
          <p:cNvSpPr/>
          <p:nvPr/>
        </p:nvSpPr>
        <p:spPr>
          <a:xfrm>
            <a:off x="3630168" y="1225295"/>
            <a:ext cx="731520" cy="640080"/>
          </a:xfrm>
          <a:prstGeom prst="rect">
            <a:avLst/>
          </a:prstGeom>
          <a:noFill/>
          <a:ln/>
        </p:spPr>
        <p:txBody>
          <a:bodyPr wrap="square" lIns="0" tIns="0" rIns="0" bIns="0" rtlCol="0" anchor="ctr"/>
          <a:lstStyle/>
          <a:p>
            <a:pPr marL="0" indent="0" algn="r">
              <a:buNone/>
            </a:pPr>
            <a:r>
              <a:rPr lang="en-US" sz="4000" b="1" dirty="0">
                <a:solidFill>
                  <a:srgbClr val="0A0A0A">
                    <a:alpha val="7000"/>
                  </a:srgbClr>
                </a:solidFill>
                <a:latin typeface="Calibri" pitchFamily="34" charset="0"/>
                <a:ea typeface="Calibri" pitchFamily="34" charset="-122"/>
                <a:cs typeface="Calibri" pitchFamily="34" charset="-120"/>
              </a:rPr>
              <a:t>C1</a:t>
            </a:r>
            <a:endParaRPr lang="en-US" sz="4000" dirty="0"/>
          </a:p>
        </p:txBody>
      </p:sp>
      <p:sp>
        <p:nvSpPr>
          <p:cNvPr id="10" name="Text 8"/>
          <p:cNvSpPr/>
          <p:nvPr/>
        </p:nvSpPr>
        <p:spPr>
          <a:xfrm>
            <a:off x="640080" y="1298447"/>
            <a:ext cx="3648456" cy="292608"/>
          </a:xfrm>
          <a:prstGeom prst="rect">
            <a:avLst/>
          </a:prstGeom>
          <a:noFill/>
          <a:ln/>
        </p:spPr>
        <p:txBody>
          <a:bodyPr wrap="square" lIns="0" tIns="0" rIns="0" bIns="0" rtlCol="0" anchor="ctr"/>
          <a:lstStyle/>
          <a:p>
            <a:pPr marL="0" indent="0">
              <a:buNone/>
            </a:pPr>
            <a:r>
              <a:rPr lang="en-US" sz="1100" b="1" dirty="0">
                <a:solidFill>
                  <a:srgbClr val="0A0A0A"/>
                </a:solidFill>
                <a:latin typeface="Calibri" pitchFamily="34" charset="0"/>
                <a:ea typeface="Calibri" pitchFamily="34" charset="-122"/>
                <a:cs typeface="Calibri" pitchFamily="34" charset="-120"/>
              </a:rPr>
              <a:t>Même matrice expérimentale</a:t>
            </a:r>
            <a:endParaRPr lang="en-US" sz="1100" dirty="0"/>
          </a:p>
        </p:txBody>
      </p:sp>
      <p:sp>
        <p:nvSpPr>
          <p:cNvPr id="11" name="Shape 9"/>
          <p:cNvSpPr/>
          <p:nvPr/>
        </p:nvSpPr>
        <p:spPr>
          <a:xfrm>
            <a:off x="640080" y="1664207"/>
            <a:ext cx="256032" cy="0"/>
          </a:xfrm>
          <a:prstGeom prst="line">
            <a:avLst/>
          </a:prstGeom>
          <a:noFill/>
          <a:ln w="19050">
            <a:solidFill>
              <a:srgbClr val="C9A84C"/>
            </a:solidFill>
            <a:prstDash val="solid"/>
          </a:ln>
        </p:spPr>
        <p:txBody>
          <a:bodyPr/>
          <a:lstStyle/>
          <a:p>
            <a:endParaRPr lang="en-CA"/>
          </a:p>
        </p:txBody>
      </p:sp>
      <p:sp>
        <p:nvSpPr>
          <p:cNvPr id="12" name="Text 10"/>
          <p:cNvSpPr/>
          <p:nvPr/>
        </p:nvSpPr>
        <p:spPr>
          <a:xfrm>
            <a:off x="640080" y="1773935"/>
            <a:ext cx="3648456" cy="822960"/>
          </a:xfrm>
          <a:prstGeom prst="rect">
            <a:avLst/>
          </a:prstGeom>
          <a:noFill/>
          <a:ln/>
        </p:spPr>
        <p:txBody>
          <a:bodyPr wrap="square" lIns="0" tIns="0" rIns="0" bIns="0" rtlCol="0" anchor="t"/>
          <a:lstStyle/>
          <a:p>
            <a:pPr marL="0" indent="0">
              <a:lnSpc>
                <a:spcPct val="140000"/>
              </a:lnSpc>
              <a:buNone/>
            </a:pPr>
            <a:r>
              <a:rPr lang="fr-FR" sz="900" dirty="0">
                <a:solidFill>
                  <a:srgbClr val="555555"/>
                </a:solidFill>
                <a:latin typeface="Calibri" pitchFamily="34" charset="0"/>
                <a:ea typeface="Calibri" pitchFamily="34" charset="-122"/>
                <a:cs typeface="Calibri" pitchFamily="34" charset="-120"/>
              </a:rPr>
              <a:t>La même EXPERIMENT_MATRIX est exécutée sur les deux plateformes: mêmes algorithmes, mêmes modes, mêmes tailles de clé et de message.</a:t>
            </a:r>
            <a:endParaRPr lang="en-US" sz="900" dirty="0"/>
          </a:p>
        </p:txBody>
      </p:sp>
      <p:sp>
        <p:nvSpPr>
          <p:cNvPr id="13" name="Shape 11"/>
          <p:cNvSpPr/>
          <p:nvPr/>
        </p:nvSpPr>
        <p:spPr>
          <a:xfrm>
            <a:off x="4636008" y="1133855"/>
            <a:ext cx="3977640" cy="1261873"/>
          </a:xfrm>
          <a:prstGeom prst="roundRect">
            <a:avLst>
              <a:gd name="adj" fmla="val 5618"/>
            </a:avLst>
          </a:prstGeom>
          <a:solidFill>
            <a:srgbClr val="FAFAFA"/>
          </a:solidFill>
          <a:ln w="7620">
            <a:solidFill>
              <a:srgbClr val="EEEEEE"/>
            </a:solidFill>
            <a:prstDash val="solid"/>
          </a:ln>
        </p:spPr>
        <p:txBody>
          <a:bodyPr/>
          <a:lstStyle/>
          <a:p>
            <a:endParaRPr lang="en-CA"/>
          </a:p>
        </p:txBody>
      </p:sp>
      <p:sp>
        <p:nvSpPr>
          <p:cNvPr id="14" name="Shape 12"/>
          <p:cNvSpPr/>
          <p:nvPr/>
        </p:nvSpPr>
        <p:spPr>
          <a:xfrm>
            <a:off x="4636008" y="1133855"/>
            <a:ext cx="3977640" cy="54864"/>
          </a:xfrm>
          <a:prstGeom prst="rect">
            <a:avLst/>
          </a:prstGeom>
          <a:solidFill>
            <a:srgbClr val="C9A84C"/>
          </a:solidFill>
          <a:ln w="12700">
            <a:solidFill>
              <a:srgbClr val="C9A84C"/>
            </a:solidFill>
            <a:prstDash val="solid"/>
          </a:ln>
        </p:spPr>
        <p:txBody>
          <a:bodyPr/>
          <a:lstStyle/>
          <a:p>
            <a:endParaRPr lang="en-CA"/>
          </a:p>
        </p:txBody>
      </p:sp>
      <p:sp>
        <p:nvSpPr>
          <p:cNvPr id="15" name="Text 13"/>
          <p:cNvSpPr/>
          <p:nvPr/>
        </p:nvSpPr>
        <p:spPr>
          <a:xfrm>
            <a:off x="7790688" y="1225295"/>
            <a:ext cx="731520" cy="640080"/>
          </a:xfrm>
          <a:prstGeom prst="rect">
            <a:avLst/>
          </a:prstGeom>
          <a:noFill/>
          <a:ln/>
        </p:spPr>
        <p:txBody>
          <a:bodyPr wrap="square" lIns="0" tIns="0" rIns="0" bIns="0" rtlCol="0" anchor="ctr"/>
          <a:lstStyle/>
          <a:p>
            <a:pPr marL="0" indent="0" algn="r">
              <a:buNone/>
            </a:pPr>
            <a:r>
              <a:rPr lang="en-US" sz="4000" b="1" dirty="0">
                <a:solidFill>
                  <a:srgbClr val="0A0A0A">
                    <a:alpha val="7000"/>
                  </a:srgbClr>
                </a:solidFill>
                <a:latin typeface="Calibri" pitchFamily="34" charset="0"/>
                <a:ea typeface="Calibri" pitchFamily="34" charset="-122"/>
                <a:cs typeface="Calibri" pitchFamily="34" charset="-120"/>
              </a:rPr>
              <a:t>C2</a:t>
            </a:r>
            <a:endParaRPr lang="en-US" sz="4000" dirty="0"/>
          </a:p>
        </p:txBody>
      </p:sp>
      <p:sp>
        <p:nvSpPr>
          <p:cNvPr id="16" name="Text 14"/>
          <p:cNvSpPr/>
          <p:nvPr/>
        </p:nvSpPr>
        <p:spPr>
          <a:xfrm>
            <a:off x="4800600" y="1298447"/>
            <a:ext cx="3648456" cy="292608"/>
          </a:xfrm>
          <a:prstGeom prst="rect">
            <a:avLst/>
          </a:prstGeom>
          <a:noFill/>
          <a:ln/>
        </p:spPr>
        <p:txBody>
          <a:bodyPr wrap="square" lIns="0" tIns="0" rIns="0" bIns="0" rtlCol="0" anchor="ctr"/>
          <a:lstStyle/>
          <a:p>
            <a:pPr marL="0" indent="0">
              <a:buNone/>
            </a:pPr>
            <a:r>
              <a:rPr lang="en-US" sz="1100" b="1" dirty="0">
                <a:solidFill>
                  <a:srgbClr val="0A0A0A"/>
                </a:solidFill>
                <a:latin typeface="Calibri" pitchFamily="34" charset="0"/>
                <a:ea typeface="Calibri" pitchFamily="34" charset="-122"/>
                <a:cs typeface="Calibri" pitchFamily="34" charset="-120"/>
              </a:rPr>
              <a:t>Même nombre de répétitions</a:t>
            </a:r>
            <a:endParaRPr lang="en-US" sz="1100" dirty="0"/>
          </a:p>
        </p:txBody>
      </p:sp>
      <p:sp>
        <p:nvSpPr>
          <p:cNvPr id="17" name="Shape 15"/>
          <p:cNvSpPr/>
          <p:nvPr/>
        </p:nvSpPr>
        <p:spPr>
          <a:xfrm>
            <a:off x="4800600" y="1664207"/>
            <a:ext cx="256032" cy="0"/>
          </a:xfrm>
          <a:prstGeom prst="line">
            <a:avLst/>
          </a:prstGeom>
          <a:noFill/>
          <a:ln w="19050">
            <a:solidFill>
              <a:srgbClr val="C9A84C"/>
            </a:solidFill>
            <a:prstDash val="solid"/>
          </a:ln>
        </p:spPr>
        <p:txBody>
          <a:bodyPr/>
          <a:lstStyle/>
          <a:p>
            <a:endParaRPr lang="en-CA"/>
          </a:p>
        </p:txBody>
      </p:sp>
      <p:sp>
        <p:nvSpPr>
          <p:cNvPr id="18" name="Text 16"/>
          <p:cNvSpPr/>
          <p:nvPr/>
        </p:nvSpPr>
        <p:spPr>
          <a:xfrm>
            <a:off x="4800600" y="1773935"/>
            <a:ext cx="3648456" cy="822960"/>
          </a:xfrm>
          <a:prstGeom prst="rect">
            <a:avLst/>
          </a:prstGeom>
          <a:noFill/>
          <a:ln/>
        </p:spPr>
        <p:txBody>
          <a:bodyPr wrap="square" lIns="0" tIns="0" rIns="0" bIns="0" rtlCol="0" anchor="t"/>
          <a:lstStyle/>
          <a:p>
            <a:pPr marL="0" indent="0">
              <a:lnSpc>
                <a:spcPct val="140000"/>
              </a:lnSpc>
              <a:buNone/>
            </a:pPr>
            <a:r>
              <a:rPr lang="fr-FR" sz="900" dirty="0">
                <a:solidFill>
                  <a:srgbClr val="555555"/>
                </a:solidFill>
                <a:latin typeface="Calibri" pitchFamily="34" charset="0"/>
                <a:ea typeface="Calibri" pitchFamily="34" charset="-122"/>
                <a:cs typeface="Calibri" pitchFamily="34" charset="-120"/>
              </a:rPr>
              <a:t>100 répétitions par configuration réduisent la variance et produisent un intervalle de confiance à 95% statistiquement stable sur les deux plateformes.</a:t>
            </a:r>
            <a:endParaRPr lang="en-US" sz="900" dirty="0"/>
          </a:p>
        </p:txBody>
      </p:sp>
      <p:sp>
        <p:nvSpPr>
          <p:cNvPr id="19" name="Shape 17"/>
          <p:cNvSpPr/>
          <p:nvPr/>
        </p:nvSpPr>
        <p:spPr>
          <a:xfrm>
            <a:off x="475488" y="2596895"/>
            <a:ext cx="3977640" cy="1261873"/>
          </a:xfrm>
          <a:prstGeom prst="roundRect">
            <a:avLst>
              <a:gd name="adj" fmla="val 5618"/>
            </a:avLst>
          </a:prstGeom>
          <a:solidFill>
            <a:srgbClr val="FAFAFA"/>
          </a:solidFill>
          <a:ln w="7620">
            <a:solidFill>
              <a:srgbClr val="EEEEEE"/>
            </a:solidFill>
            <a:prstDash val="solid"/>
          </a:ln>
        </p:spPr>
        <p:txBody>
          <a:bodyPr/>
          <a:lstStyle/>
          <a:p>
            <a:endParaRPr lang="en-CA"/>
          </a:p>
        </p:txBody>
      </p:sp>
      <p:sp>
        <p:nvSpPr>
          <p:cNvPr id="20" name="Shape 18"/>
          <p:cNvSpPr/>
          <p:nvPr/>
        </p:nvSpPr>
        <p:spPr>
          <a:xfrm>
            <a:off x="475488" y="2596895"/>
            <a:ext cx="3977640" cy="54864"/>
          </a:xfrm>
          <a:prstGeom prst="rect">
            <a:avLst/>
          </a:prstGeom>
          <a:solidFill>
            <a:srgbClr val="C9A84C"/>
          </a:solidFill>
          <a:ln w="12700">
            <a:solidFill>
              <a:srgbClr val="C9A84C"/>
            </a:solidFill>
            <a:prstDash val="solid"/>
          </a:ln>
        </p:spPr>
        <p:txBody>
          <a:bodyPr/>
          <a:lstStyle/>
          <a:p>
            <a:endParaRPr lang="en-CA"/>
          </a:p>
        </p:txBody>
      </p:sp>
      <p:sp>
        <p:nvSpPr>
          <p:cNvPr id="21" name="Text 19"/>
          <p:cNvSpPr/>
          <p:nvPr/>
        </p:nvSpPr>
        <p:spPr>
          <a:xfrm>
            <a:off x="3630168" y="2688335"/>
            <a:ext cx="731520" cy="640080"/>
          </a:xfrm>
          <a:prstGeom prst="rect">
            <a:avLst/>
          </a:prstGeom>
          <a:noFill/>
          <a:ln/>
        </p:spPr>
        <p:txBody>
          <a:bodyPr wrap="square" lIns="0" tIns="0" rIns="0" bIns="0" rtlCol="0" anchor="ctr"/>
          <a:lstStyle/>
          <a:p>
            <a:pPr marL="0" indent="0" algn="r">
              <a:buNone/>
            </a:pPr>
            <a:r>
              <a:rPr lang="en-US" sz="4000" b="1" dirty="0">
                <a:solidFill>
                  <a:srgbClr val="0A0A0A">
                    <a:alpha val="7000"/>
                  </a:srgbClr>
                </a:solidFill>
                <a:latin typeface="Calibri" pitchFamily="34" charset="0"/>
                <a:ea typeface="Calibri" pitchFamily="34" charset="-122"/>
                <a:cs typeface="Calibri" pitchFamily="34" charset="-120"/>
              </a:rPr>
              <a:t>C3</a:t>
            </a:r>
            <a:endParaRPr lang="en-US" sz="4000" dirty="0"/>
          </a:p>
        </p:txBody>
      </p:sp>
      <p:sp>
        <p:nvSpPr>
          <p:cNvPr id="22" name="Text 20"/>
          <p:cNvSpPr/>
          <p:nvPr/>
        </p:nvSpPr>
        <p:spPr>
          <a:xfrm>
            <a:off x="640080" y="2761487"/>
            <a:ext cx="3648456" cy="292608"/>
          </a:xfrm>
          <a:prstGeom prst="rect">
            <a:avLst/>
          </a:prstGeom>
          <a:noFill/>
          <a:ln/>
        </p:spPr>
        <p:txBody>
          <a:bodyPr wrap="square" lIns="0" tIns="0" rIns="0" bIns="0" rtlCol="0" anchor="ctr"/>
          <a:lstStyle/>
          <a:p>
            <a:pPr marL="0" indent="0">
              <a:buNone/>
            </a:pPr>
            <a:r>
              <a:rPr lang="en-US" sz="1100" b="1" dirty="0">
                <a:solidFill>
                  <a:srgbClr val="0A0A0A"/>
                </a:solidFill>
                <a:latin typeface="Calibri" pitchFamily="34" charset="0"/>
                <a:ea typeface="Calibri" pitchFamily="34" charset="-122"/>
                <a:cs typeface="Calibri" pitchFamily="34" charset="-120"/>
              </a:rPr>
              <a:t>Même format de sortie CSV</a:t>
            </a:r>
            <a:endParaRPr lang="en-US" sz="1100" dirty="0"/>
          </a:p>
        </p:txBody>
      </p:sp>
      <p:sp>
        <p:nvSpPr>
          <p:cNvPr id="23" name="Shape 21"/>
          <p:cNvSpPr/>
          <p:nvPr/>
        </p:nvSpPr>
        <p:spPr>
          <a:xfrm>
            <a:off x="640080" y="3127247"/>
            <a:ext cx="256032" cy="0"/>
          </a:xfrm>
          <a:prstGeom prst="line">
            <a:avLst/>
          </a:prstGeom>
          <a:noFill/>
          <a:ln w="19050">
            <a:solidFill>
              <a:srgbClr val="C9A84C"/>
            </a:solidFill>
            <a:prstDash val="solid"/>
          </a:ln>
        </p:spPr>
        <p:txBody>
          <a:bodyPr/>
          <a:lstStyle/>
          <a:p>
            <a:endParaRPr lang="en-CA"/>
          </a:p>
        </p:txBody>
      </p:sp>
      <p:sp>
        <p:nvSpPr>
          <p:cNvPr id="24" name="Text 22"/>
          <p:cNvSpPr/>
          <p:nvPr/>
        </p:nvSpPr>
        <p:spPr>
          <a:xfrm>
            <a:off x="640080" y="3236975"/>
            <a:ext cx="3648456" cy="822960"/>
          </a:xfrm>
          <a:prstGeom prst="rect">
            <a:avLst/>
          </a:prstGeom>
          <a:noFill/>
          <a:ln/>
        </p:spPr>
        <p:txBody>
          <a:bodyPr wrap="square" lIns="0" tIns="0" rIns="0" bIns="0" rtlCol="0" anchor="t"/>
          <a:lstStyle/>
          <a:p>
            <a:pPr marL="0" indent="0">
              <a:lnSpc>
                <a:spcPct val="140000"/>
              </a:lnSpc>
              <a:buNone/>
            </a:pPr>
            <a:r>
              <a:rPr lang="fr-FR" sz="900" dirty="0">
                <a:solidFill>
                  <a:srgbClr val="555555"/>
                </a:solidFill>
                <a:latin typeface="Calibri" pitchFamily="34" charset="0"/>
                <a:ea typeface="Calibri" pitchFamily="34" charset="-122"/>
                <a:cs typeface="Calibri" pitchFamily="34" charset="-120"/>
              </a:rPr>
              <a:t>Les résultats sont exportés avec la même structure (colonnes, types, convention de nommage). Les fichiers produits restent directement comparables entre x86 et ARM.</a:t>
            </a:r>
            <a:endParaRPr lang="en-US" sz="900" dirty="0"/>
          </a:p>
        </p:txBody>
      </p:sp>
      <p:sp>
        <p:nvSpPr>
          <p:cNvPr id="25" name="Shape 23"/>
          <p:cNvSpPr/>
          <p:nvPr/>
        </p:nvSpPr>
        <p:spPr>
          <a:xfrm>
            <a:off x="4636008" y="2596895"/>
            <a:ext cx="3977640" cy="1280161"/>
          </a:xfrm>
          <a:prstGeom prst="roundRect">
            <a:avLst>
              <a:gd name="adj" fmla="val 5618"/>
            </a:avLst>
          </a:prstGeom>
          <a:solidFill>
            <a:srgbClr val="FAFAFA"/>
          </a:solidFill>
          <a:ln w="7620">
            <a:solidFill>
              <a:srgbClr val="EEEEEE"/>
            </a:solidFill>
            <a:prstDash val="solid"/>
          </a:ln>
        </p:spPr>
        <p:txBody>
          <a:bodyPr/>
          <a:lstStyle/>
          <a:p>
            <a:endParaRPr lang="en-CA"/>
          </a:p>
        </p:txBody>
      </p:sp>
      <p:sp>
        <p:nvSpPr>
          <p:cNvPr id="26" name="Shape 24"/>
          <p:cNvSpPr/>
          <p:nvPr/>
        </p:nvSpPr>
        <p:spPr>
          <a:xfrm>
            <a:off x="4636008" y="2596895"/>
            <a:ext cx="3977640" cy="54864"/>
          </a:xfrm>
          <a:prstGeom prst="rect">
            <a:avLst/>
          </a:prstGeom>
          <a:solidFill>
            <a:srgbClr val="C9A84C"/>
          </a:solidFill>
          <a:ln w="12700">
            <a:solidFill>
              <a:srgbClr val="C9A84C"/>
            </a:solidFill>
            <a:prstDash val="solid"/>
          </a:ln>
        </p:spPr>
        <p:txBody>
          <a:bodyPr/>
          <a:lstStyle/>
          <a:p>
            <a:endParaRPr lang="en-CA"/>
          </a:p>
        </p:txBody>
      </p:sp>
      <p:sp>
        <p:nvSpPr>
          <p:cNvPr id="27" name="Text 25"/>
          <p:cNvSpPr/>
          <p:nvPr/>
        </p:nvSpPr>
        <p:spPr>
          <a:xfrm>
            <a:off x="7790688" y="2688335"/>
            <a:ext cx="731520" cy="640080"/>
          </a:xfrm>
          <a:prstGeom prst="rect">
            <a:avLst/>
          </a:prstGeom>
          <a:noFill/>
          <a:ln/>
        </p:spPr>
        <p:txBody>
          <a:bodyPr wrap="square" lIns="0" tIns="0" rIns="0" bIns="0" rtlCol="0" anchor="ctr"/>
          <a:lstStyle/>
          <a:p>
            <a:pPr marL="0" indent="0" algn="r">
              <a:buNone/>
            </a:pPr>
            <a:r>
              <a:rPr lang="en-US" sz="4000" b="1" dirty="0">
                <a:solidFill>
                  <a:srgbClr val="0A0A0A">
                    <a:alpha val="7000"/>
                  </a:srgbClr>
                </a:solidFill>
                <a:latin typeface="Calibri" pitchFamily="34" charset="0"/>
                <a:ea typeface="Calibri" pitchFamily="34" charset="-122"/>
                <a:cs typeface="Calibri" pitchFamily="34" charset="-120"/>
              </a:rPr>
              <a:t>C4</a:t>
            </a:r>
            <a:endParaRPr lang="en-US" sz="4000" dirty="0"/>
          </a:p>
        </p:txBody>
      </p:sp>
      <p:sp>
        <p:nvSpPr>
          <p:cNvPr id="28" name="Text 26"/>
          <p:cNvSpPr/>
          <p:nvPr/>
        </p:nvSpPr>
        <p:spPr>
          <a:xfrm>
            <a:off x="4800600" y="2761487"/>
            <a:ext cx="3648456" cy="292608"/>
          </a:xfrm>
          <a:prstGeom prst="rect">
            <a:avLst/>
          </a:prstGeom>
          <a:noFill/>
          <a:ln/>
        </p:spPr>
        <p:txBody>
          <a:bodyPr wrap="square" lIns="0" tIns="0" rIns="0" bIns="0" rtlCol="0" anchor="ctr"/>
          <a:lstStyle/>
          <a:p>
            <a:pPr marL="0" indent="0">
              <a:buNone/>
            </a:pPr>
            <a:r>
              <a:rPr lang="en-US" sz="1100" b="1" dirty="0">
                <a:solidFill>
                  <a:srgbClr val="0A0A0A"/>
                </a:solidFill>
                <a:latin typeface="Calibri" pitchFamily="34" charset="0"/>
                <a:ea typeface="Calibri" pitchFamily="34" charset="-122"/>
                <a:cs typeface="Calibri" pitchFamily="34" charset="-120"/>
              </a:rPr>
              <a:t>Même base logicielle</a:t>
            </a:r>
            <a:endParaRPr lang="en-US" sz="1100" dirty="0"/>
          </a:p>
        </p:txBody>
      </p:sp>
      <p:sp>
        <p:nvSpPr>
          <p:cNvPr id="29" name="Shape 27"/>
          <p:cNvSpPr/>
          <p:nvPr/>
        </p:nvSpPr>
        <p:spPr>
          <a:xfrm>
            <a:off x="4800600" y="3127247"/>
            <a:ext cx="256032" cy="0"/>
          </a:xfrm>
          <a:prstGeom prst="line">
            <a:avLst/>
          </a:prstGeom>
          <a:noFill/>
          <a:ln w="19050">
            <a:solidFill>
              <a:srgbClr val="C9A84C"/>
            </a:solidFill>
            <a:prstDash val="solid"/>
          </a:ln>
        </p:spPr>
        <p:txBody>
          <a:bodyPr/>
          <a:lstStyle/>
          <a:p>
            <a:endParaRPr lang="en-CA"/>
          </a:p>
        </p:txBody>
      </p:sp>
      <p:sp>
        <p:nvSpPr>
          <p:cNvPr id="30" name="Text 28"/>
          <p:cNvSpPr/>
          <p:nvPr/>
        </p:nvSpPr>
        <p:spPr>
          <a:xfrm>
            <a:off x="4800600" y="3236975"/>
            <a:ext cx="3648456" cy="822960"/>
          </a:xfrm>
          <a:prstGeom prst="rect">
            <a:avLst/>
          </a:prstGeom>
          <a:noFill/>
          <a:ln/>
        </p:spPr>
        <p:txBody>
          <a:bodyPr wrap="square" lIns="0" tIns="0" rIns="0" bIns="0" rtlCol="0" anchor="t"/>
          <a:lstStyle/>
          <a:p>
            <a:pPr marL="0" indent="0">
              <a:lnSpc>
                <a:spcPct val="140000"/>
              </a:lnSpc>
              <a:buNone/>
            </a:pPr>
            <a:r>
              <a:rPr lang="fr-FR" sz="900" dirty="0">
                <a:solidFill>
                  <a:srgbClr val="555555"/>
                </a:solidFill>
                <a:latin typeface="Calibri" pitchFamily="34" charset="0"/>
                <a:ea typeface="Calibri" pitchFamily="34" charset="-122"/>
                <a:cs typeface="Calibri" pitchFamily="34" charset="-120"/>
              </a:rPr>
              <a:t> Base logicielle identique sur x86 et ARM, avec dépendances alignées. L'encodage des données (UTF-8) et le format CSV sont explicitement contrôlés pour garantir la cohérence entre Windows et Raspberry Pi OS.</a:t>
            </a:r>
            <a:endParaRPr lang="en-US" sz="900" dirty="0"/>
          </a:p>
        </p:txBody>
      </p:sp>
      <p:sp>
        <p:nvSpPr>
          <p:cNvPr id="31" name="Text 29"/>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35" name="TextBox 34">
            <a:extLst>
              <a:ext uri="{FF2B5EF4-FFF2-40B4-BE49-F238E27FC236}">
                <a16:creationId xmlns:a16="http://schemas.microsoft.com/office/drawing/2014/main" id="{A42739CE-C26D-6A57-3AE2-E0D52D00C266}"/>
              </a:ext>
            </a:extLst>
          </p:cNvPr>
          <p:cNvSpPr txBox="1"/>
          <p:nvPr/>
        </p:nvSpPr>
        <p:spPr>
          <a:xfrm>
            <a:off x="484632" y="4208356"/>
            <a:ext cx="8129016" cy="253916"/>
          </a:xfrm>
          <a:prstGeom prst="rect">
            <a:avLst/>
          </a:prstGeom>
          <a:noFill/>
        </p:spPr>
        <p:txBody>
          <a:bodyPr wrap="square">
            <a:spAutoFit/>
          </a:bodyPr>
          <a:lstStyle/>
          <a:p>
            <a:pPr algn="ctr"/>
            <a:r>
              <a:rPr lang="en-CA" sz="1050" i="1" dirty="0">
                <a:solidFill>
                  <a:srgbClr val="555555"/>
                </a:solidFill>
                <a:latin typeface="Calibri" pitchFamily="34" charset="0"/>
                <a:cs typeface="Calibri" pitchFamily="34" charset="-120"/>
              </a:rPr>
              <a:t>À protocole constant, les écarts observés reflètent principalement la plateforme d’exécution, </a:t>
            </a:r>
            <a:r>
              <a:rPr lang="fr-FR" sz="1050" i="1" dirty="0">
                <a:solidFill>
                  <a:srgbClr val="555555"/>
                </a:solidFill>
                <a:latin typeface="Calibri" pitchFamily="34" charset="0"/>
                <a:cs typeface="Calibri" pitchFamily="34" charset="-120"/>
              </a:rPr>
              <a:t>et non d’un changement de méthode</a:t>
            </a:r>
            <a:r>
              <a:rPr lang="en-CA" sz="1050" dirty="0">
                <a:solidFill>
                  <a:srgbClr val="555555"/>
                </a:solidFill>
                <a:latin typeface="Calibri" pitchFamily="34" charset="0"/>
                <a:cs typeface="Calibri" pitchFamily="34" charset="-12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0" y="2139696"/>
            <a:ext cx="2807209" cy="2286001"/>
          </a:xfrm>
          <a:prstGeom prst="rect">
            <a:avLst/>
          </a:prstGeom>
          <a:noFill/>
          <a:ln/>
        </p:spPr>
        <p:txBody>
          <a:bodyPr wrap="square" lIns="0" tIns="0" rIns="0" bIns="0" rtlCol="0" anchor="ctr"/>
          <a:lstStyle/>
          <a:p>
            <a:pPr marL="0" indent="0">
              <a:buNone/>
            </a:pPr>
            <a:r>
              <a:rPr lang="en-US" sz="16000" b="1" dirty="0">
                <a:solidFill>
                  <a:srgbClr val="0A0A0A">
                    <a:alpha val="3000"/>
                  </a:srgbClr>
                </a:solidFill>
                <a:latin typeface="Calibri" pitchFamily="34" charset="0"/>
                <a:ea typeface="Calibri" pitchFamily="34" charset="-122"/>
                <a:cs typeface="Calibri" pitchFamily="34" charset="-120"/>
              </a:rPr>
              <a:t>02</a:t>
            </a:r>
            <a:endParaRPr lang="en-US" sz="16000" dirty="0"/>
          </a:p>
        </p:txBody>
      </p:sp>
      <p:sp>
        <p:nvSpPr>
          <p:cNvPr id="4" name="Text 2"/>
          <p:cNvSpPr/>
          <p:nvPr/>
        </p:nvSpPr>
        <p:spPr>
          <a:xfrm>
            <a:off x="475488" y="164592"/>
            <a:ext cx="73152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02  ·  PROTOCOLE EXPÉRIMENTAL ET ENVIRONNEMENT</a:t>
            </a:r>
            <a:endParaRPr lang="en-US" sz="800" dirty="0"/>
          </a:p>
        </p:txBody>
      </p:sp>
      <p:sp>
        <p:nvSpPr>
          <p:cNvPr id="5" name="Text 3"/>
          <p:cNvSpPr/>
          <p:nvPr/>
        </p:nvSpPr>
        <p:spPr>
          <a:xfrm>
            <a:off x="475488" y="402336"/>
            <a:ext cx="2834640" cy="1280160"/>
          </a:xfrm>
          <a:prstGeom prst="rect">
            <a:avLst/>
          </a:prstGeom>
          <a:noFill/>
          <a:ln/>
        </p:spPr>
        <p:txBody>
          <a:bodyPr wrap="square" lIns="0" tIns="0" rIns="0" bIns="0" rtlCol="0" anchor="ctr"/>
          <a:lstStyle/>
          <a:p>
            <a:pPr marL="0" indent="0">
              <a:lnSpc>
                <a:spcPct val="115000"/>
              </a:lnSpc>
              <a:buNone/>
            </a:pPr>
            <a:r>
              <a:rPr lang="en-US" sz="2100" b="1" dirty="0">
                <a:solidFill>
                  <a:srgbClr val="0A0A0A"/>
                </a:solidFill>
                <a:latin typeface="Calibri" pitchFamily="34" charset="0"/>
                <a:ea typeface="Calibri" pitchFamily="34" charset="-122"/>
                <a:cs typeface="Calibri" pitchFamily="34" charset="-120"/>
              </a:rPr>
              <a:t>Deux plateformes,
</a:t>
            </a:r>
            <a:r>
              <a:rPr lang="en-US" sz="2100" b="1" dirty="0">
                <a:solidFill>
                  <a:srgbClr val="C9A84C"/>
                </a:solidFill>
                <a:latin typeface="Calibri" pitchFamily="34" charset="0"/>
                <a:ea typeface="Calibri" pitchFamily="34" charset="-122"/>
                <a:cs typeface="Calibri" pitchFamily="34" charset="-120"/>
              </a:rPr>
              <a:t>un </a:t>
            </a:r>
            <a:r>
              <a:rPr lang="en-US" sz="2100" b="1" dirty="0" err="1">
                <a:solidFill>
                  <a:srgbClr val="C9A84C"/>
                </a:solidFill>
                <a:latin typeface="Calibri" pitchFamily="34" charset="0"/>
                <a:ea typeface="Calibri" pitchFamily="34" charset="-122"/>
                <a:cs typeface="Calibri" pitchFamily="34" charset="-120"/>
              </a:rPr>
              <a:t>protocole</a:t>
            </a:r>
            <a:r>
              <a:rPr lang="en-US" sz="2100" b="1" dirty="0">
                <a:solidFill>
                  <a:srgbClr val="C9A84C"/>
                </a:solidFill>
                <a:latin typeface="Calibri" pitchFamily="34" charset="0"/>
                <a:ea typeface="Calibri" pitchFamily="34" charset="-122"/>
                <a:cs typeface="Calibri" pitchFamily="34" charset="-120"/>
              </a:rPr>
              <a:t>
</a:t>
            </a:r>
            <a:r>
              <a:rPr lang="en-US" sz="2100" b="1" dirty="0">
                <a:solidFill>
                  <a:srgbClr val="0A0A0A"/>
                </a:solidFill>
                <a:latin typeface="Calibri" pitchFamily="34" charset="0"/>
                <a:ea typeface="Calibri" pitchFamily="34" charset="-122"/>
                <a:cs typeface="Calibri" pitchFamily="34" charset="-120"/>
              </a:rPr>
              <a:t>rigoureux.</a:t>
            </a:r>
            <a:endParaRPr lang="en-US" sz="2100" dirty="0"/>
          </a:p>
        </p:txBody>
      </p:sp>
      <p:sp>
        <p:nvSpPr>
          <p:cNvPr id="6" name="Shape 4"/>
          <p:cNvSpPr/>
          <p:nvPr/>
        </p:nvSpPr>
        <p:spPr>
          <a:xfrm>
            <a:off x="475488" y="1755648"/>
            <a:ext cx="329184" cy="0"/>
          </a:xfrm>
          <a:prstGeom prst="line">
            <a:avLst/>
          </a:prstGeom>
          <a:noFill/>
          <a:ln w="31750">
            <a:solidFill>
              <a:srgbClr val="C9A84C"/>
            </a:solidFill>
            <a:prstDash val="solid"/>
          </a:ln>
        </p:spPr>
        <p:txBody>
          <a:bodyPr/>
          <a:lstStyle/>
          <a:p>
            <a:endParaRPr lang="en-CA"/>
          </a:p>
        </p:txBody>
      </p:sp>
      <p:sp>
        <p:nvSpPr>
          <p:cNvPr id="7" name="Text 5"/>
          <p:cNvSpPr/>
          <p:nvPr/>
        </p:nvSpPr>
        <p:spPr>
          <a:xfrm>
            <a:off x="475488" y="1883663"/>
            <a:ext cx="2834639" cy="2468877"/>
          </a:xfrm>
          <a:prstGeom prst="rect">
            <a:avLst/>
          </a:prstGeom>
          <a:noFill/>
          <a:ln/>
        </p:spPr>
        <p:txBody>
          <a:bodyPr wrap="square" lIns="0" tIns="0" rIns="0" bIns="0" rtlCol="0" anchor="t"/>
          <a:lstStyle/>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Le protocole expérimental est identique sur les deux plateformes afin d’assurer une base de comparaison commune.</a:t>
            </a:r>
          </a:p>
          <a:p>
            <a:pPr marL="0" indent="0">
              <a:lnSpc>
                <a:spcPct val="150000"/>
              </a:lnSpc>
              <a:buNone/>
            </a:pPr>
            <a:endParaRPr lang="fr-FR" sz="950" dirty="0">
              <a:solidFill>
                <a:srgbClr val="555555"/>
              </a:solidFill>
              <a:latin typeface="Calibri" pitchFamily="34" charset="0"/>
              <a:ea typeface="Calibri" pitchFamily="34" charset="-122"/>
              <a:cs typeface="Calibri" pitchFamily="34" charset="-120"/>
            </a:endParaRPr>
          </a:p>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Même matrice, mêmes paramètres statistiques et même format de sortie: les résultats restent directement comparables.</a:t>
            </a:r>
          </a:p>
          <a:p>
            <a:pPr marL="0" indent="0">
              <a:lnSpc>
                <a:spcPct val="150000"/>
              </a:lnSpc>
              <a:buNone/>
            </a:pPr>
            <a:endParaRPr lang="fr-FR" sz="950" dirty="0">
              <a:solidFill>
                <a:srgbClr val="555555"/>
              </a:solidFill>
              <a:latin typeface="Calibri" pitchFamily="34" charset="0"/>
              <a:ea typeface="Calibri" pitchFamily="34" charset="-122"/>
              <a:cs typeface="Calibri" pitchFamily="34" charset="-120"/>
            </a:endParaRPr>
          </a:p>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Les écarts observés sont donc interprétés à protocole constant, en tenant compte du contexte matériel et système propre à chaque plateforme.</a:t>
            </a:r>
          </a:p>
        </p:txBody>
      </p:sp>
      <p:sp>
        <p:nvSpPr>
          <p:cNvPr id="9" name="Shape 7"/>
          <p:cNvSpPr/>
          <p:nvPr/>
        </p:nvSpPr>
        <p:spPr>
          <a:xfrm>
            <a:off x="3438144" y="402336"/>
            <a:ext cx="0" cy="4315968"/>
          </a:xfrm>
          <a:prstGeom prst="line">
            <a:avLst/>
          </a:prstGeom>
          <a:noFill/>
          <a:ln w="10160">
            <a:solidFill>
              <a:srgbClr val="E8E8E8"/>
            </a:solidFill>
            <a:prstDash val="solid"/>
          </a:ln>
        </p:spPr>
        <p:txBody>
          <a:bodyPr/>
          <a:lstStyle/>
          <a:p>
            <a:endParaRPr lang="en-CA"/>
          </a:p>
        </p:txBody>
      </p:sp>
      <p:sp>
        <p:nvSpPr>
          <p:cNvPr id="10" name="Shape 8"/>
          <p:cNvSpPr/>
          <p:nvPr/>
        </p:nvSpPr>
        <p:spPr>
          <a:xfrm>
            <a:off x="3675888" y="804672"/>
            <a:ext cx="256032" cy="256032"/>
          </a:xfrm>
          <a:prstGeom prst="ellipse">
            <a:avLst/>
          </a:prstGeom>
          <a:solidFill>
            <a:srgbClr val="0A0A0A"/>
          </a:solidFill>
          <a:ln w="12700">
            <a:solidFill>
              <a:srgbClr val="0A0A0A"/>
            </a:solidFill>
            <a:prstDash val="solid"/>
          </a:ln>
        </p:spPr>
        <p:txBody>
          <a:bodyPr/>
          <a:lstStyle/>
          <a:p>
            <a:endParaRPr lang="en-CA"/>
          </a:p>
        </p:txBody>
      </p:sp>
      <p:sp>
        <p:nvSpPr>
          <p:cNvPr id="11" name="Text 9"/>
          <p:cNvSpPr/>
          <p:nvPr/>
        </p:nvSpPr>
        <p:spPr>
          <a:xfrm>
            <a:off x="3675888" y="804672"/>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1</a:t>
            </a:r>
            <a:endParaRPr lang="en-US" sz="900" dirty="0"/>
          </a:p>
        </p:txBody>
      </p:sp>
      <p:sp>
        <p:nvSpPr>
          <p:cNvPr id="12" name="Text 10"/>
          <p:cNvSpPr/>
          <p:nvPr/>
        </p:nvSpPr>
        <p:spPr>
          <a:xfrm>
            <a:off x="4005072" y="768096"/>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Deux plateformes, un </a:t>
            </a:r>
            <a:r>
              <a:rPr lang="en-US" sz="1000" b="1" dirty="0" err="1">
                <a:solidFill>
                  <a:srgbClr val="0A0A0A"/>
                </a:solidFill>
                <a:latin typeface="Calibri" pitchFamily="34" charset="0"/>
                <a:ea typeface="Calibri" pitchFamily="34" charset="-122"/>
                <a:cs typeface="Calibri" pitchFamily="34" charset="-120"/>
              </a:rPr>
              <a:t>protocole</a:t>
            </a:r>
            <a:r>
              <a:rPr lang="en-US" sz="1000" b="1" dirty="0">
                <a:solidFill>
                  <a:srgbClr val="0A0A0A"/>
                </a:solidFill>
                <a:latin typeface="Calibri" pitchFamily="34" charset="0"/>
                <a:ea typeface="Calibri" pitchFamily="34" charset="-122"/>
                <a:cs typeface="Calibri" pitchFamily="34" charset="-120"/>
              </a:rPr>
              <a:t> commun</a:t>
            </a:r>
            <a:endParaRPr lang="en-US" sz="1000" dirty="0"/>
          </a:p>
        </p:txBody>
      </p:sp>
      <p:sp>
        <p:nvSpPr>
          <p:cNvPr id="13" name="Text 11"/>
          <p:cNvSpPr/>
          <p:nvPr/>
        </p:nvSpPr>
        <p:spPr>
          <a:xfrm>
            <a:off x="4005072" y="1042416"/>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Protocole et base logicielle alignés entre x86 Windows et ARM Raspberry Pi 4; les écarts observés proviennent principalement du contexte d’exécution</a:t>
            </a:r>
            <a:r>
              <a:rPr lang="en-US" sz="750" dirty="0">
                <a:solidFill>
                  <a:srgbClr val="888888"/>
                </a:solidFill>
                <a:latin typeface="Calibri" pitchFamily="34" charset="0"/>
                <a:ea typeface="Calibri" pitchFamily="34" charset="-122"/>
                <a:cs typeface="Calibri" pitchFamily="34" charset="-120"/>
              </a:rPr>
              <a:t>.</a:t>
            </a:r>
            <a:endParaRPr lang="en-US" sz="750" dirty="0"/>
          </a:p>
        </p:txBody>
      </p:sp>
      <p:sp>
        <p:nvSpPr>
          <p:cNvPr id="14" name="Shape 12"/>
          <p:cNvSpPr/>
          <p:nvPr/>
        </p:nvSpPr>
        <p:spPr>
          <a:xfrm>
            <a:off x="8321040" y="859536"/>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5" name="Text 13"/>
          <p:cNvSpPr/>
          <p:nvPr/>
        </p:nvSpPr>
        <p:spPr>
          <a:xfrm>
            <a:off x="8321040" y="859536"/>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02a</a:t>
            </a:r>
            <a:endParaRPr lang="en-US" sz="700" dirty="0"/>
          </a:p>
        </p:txBody>
      </p:sp>
      <p:sp>
        <p:nvSpPr>
          <p:cNvPr id="16" name="Shape 14"/>
          <p:cNvSpPr/>
          <p:nvPr/>
        </p:nvSpPr>
        <p:spPr>
          <a:xfrm>
            <a:off x="4005072" y="1956816"/>
            <a:ext cx="4773168" cy="0"/>
          </a:xfrm>
          <a:prstGeom prst="line">
            <a:avLst/>
          </a:prstGeom>
          <a:noFill/>
          <a:ln w="7620">
            <a:solidFill>
              <a:srgbClr val="F5F5F5"/>
            </a:solidFill>
            <a:prstDash val="solid"/>
          </a:ln>
        </p:spPr>
        <p:txBody>
          <a:bodyPr/>
          <a:lstStyle/>
          <a:p>
            <a:endParaRPr lang="en-CA"/>
          </a:p>
        </p:txBody>
      </p:sp>
      <p:sp>
        <p:nvSpPr>
          <p:cNvPr id="17" name="Shape 15"/>
          <p:cNvSpPr/>
          <p:nvPr/>
        </p:nvSpPr>
        <p:spPr>
          <a:xfrm>
            <a:off x="3675888" y="2066544"/>
            <a:ext cx="256032" cy="256032"/>
          </a:xfrm>
          <a:prstGeom prst="ellipse">
            <a:avLst/>
          </a:prstGeom>
          <a:solidFill>
            <a:srgbClr val="0A0A0A"/>
          </a:solidFill>
          <a:ln w="12700">
            <a:solidFill>
              <a:srgbClr val="0A0A0A"/>
            </a:solidFill>
            <a:prstDash val="solid"/>
          </a:ln>
        </p:spPr>
        <p:txBody>
          <a:bodyPr/>
          <a:lstStyle/>
          <a:p>
            <a:endParaRPr lang="en-CA"/>
          </a:p>
        </p:txBody>
      </p:sp>
      <p:sp>
        <p:nvSpPr>
          <p:cNvPr id="18" name="Text 16"/>
          <p:cNvSpPr/>
          <p:nvPr/>
        </p:nvSpPr>
        <p:spPr>
          <a:xfrm>
            <a:off x="3675888" y="2066544"/>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4005072" y="2029968"/>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Matrice expérimentale structurée</a:t>
            </a:r>
            <a:endParaRPr lang="en-US" sz="1000" dirty="0"/>
          </a:p>
        </p:txBody>
      </p:sp>
      <p:sp>
        <p:nvSpPr>
          <p:cNvPr id="20" name="Text 18"/>
          <p:cNvSpPr/>
          <p:nvPr/>
        </p:nvSpPr>
        <p:spPr>
          <a:xfrm>
            <a:off x="4005072" y="2304288"/>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31 combinaisons algorithme, mode et clé. 5 tailles de message et 100 répétitions par configuration pour une base statistique homogène</a:t>
            </a:r>
            <a:r>
              <a:rPr lang="en-US" sz="750" dirty="0">
                <a:solidFill>
                  <a:srgbClr val="888888"/>
                </a:solidFill>
                <a:latin typeface="Calibri" pitchFamily="34" charset="0"/>
                <a:ea typeface="Calibri" pitchFamily="34" charset="-122"/>
                <a:cs typeface="Calibri" pitchFamily="34" charset="-120"/>
              </a:rPr>
              <a:t>.</a:t>
            </a:r>
            <a:endParaRPr lang="en-US" sz="750" dirty="0"/>
          </a:p>
        </p:txBody>
      </p:sp>
      <p:sp>
        <p:nvSpPr>
          <p:cNvPr id="21" name="Shape 19"/>
          <p:cNvSpPr/>
          <p:nvPr/>
        </p:nvSpPr>
        <p:spPr>
          <a:xfrm>
            <a:off x="8321040" y="2121408"/>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2" name="Text 20"/>
          <p:cNvSpPr/>
          <p:nvPr/>
        </p:nvSpPr>
        <p:spPr>
          <a:xfrm>
            <a:off x="8321040" y="2121408"/>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02b</a:t>
            </a:r>
            <a:endParaRPr lang="en-US" sz="700" dirty="0"/>
          </a:p>
        </p:txBody>
      </p:sp>
      <p:sp>
        <p:nvSpPr>
          <p:cNvPr id="23" name="Shape 21"/>
          <p:cNvSpPr/>
          <p:nvPr/>
        </p:nvSpPr>
        <p:spPr>
          <a:xfrm>
            <a:off x="4005072" y="3218688"/>
            <a:ext cx="4773168" cy="0"/>
          </a:xfrm>
          <a:prstGeom prst="line">
            <a:avLst/>
          </a:prstGeom>
          <a:noFill/>
          <a:ln w="7620">
            <a:solidFill>
              <a:srgbClr val="F5F5F5"/>
            </a:solidFill>
            <a:prstDash val="solid"/>
          </a:ln>
        </p:spPr>
        <p:txBody>
          <a:bodyPr/>
          <a:lstStyle/>
          <a:p>
            <a:endParaRPr lang="en-CA"/>
          </a:p>
        </p:txBody>
      </p:sp>
      <p:sp>
        <p:nvSpPr>
          <p:cNvPr id="24" name="Shape 22"/>
          <p:cNvSpPr/>
          <p:nvPr/>
        </p:nvSpPr>
        <p:spPr>
          <a:xfrm>
            <a:off x="3675888" y="3328416"/>
            <a:ext cx="256032" cy="256032"/>
          </a:xfrm>
          <a:prstGeom prst="ellipse">
            <a:avLst/>
          </a:prstGeom>
          <a:solidFill>
            <a:srgbClr val="0A0A0A"/>
          </a:solidFill>
          <a:ln w="12700">
            <a:solidFill>
              <a:srgbClr val="0A0A0A"/>
            </a:solidFill>
            <a:prstDash val="solid"/>
          </a:ln>
        </p:spPr>
        <p:txBody>
          <a:bodyPr/>
          <a:lstStyle/>
          <a:p>
            <a:endParaRPr lang="en-CA"/>
          </a:p>
        </p:txBody>
      </p:sp>
      <p:sp>
        <p:nvSpPr>
          <p:cNvPr id="25" name="Text 23"/>
          <p:cNvSpPr/>
          <p:nvPr/>
        </p:nvSpPr>
        <p:spPr>
          <a:xfrm>
            <a:off x="3675888" y="3328416"/>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3</a:t>
            </a:r>
            <a:endParaRPr lang="en-US" sz="900" dirty="0"/>
          </a:p>
        </p:txBody>
      </p:sp>
      <p:sp>
        <p:nvSpPr>
          <p:cNvPr id="26" name="Text 24"/>
          <p:cNvSpPr/>
          <p:nvPr/>
        </p:nvSpPr>
        <p:spPr>
          <a:xfrm>
            <a:off x="4005072" y="3291840"/>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Environnements documentés et paramètres contrôlés</a:t>
            </a:r>
            <a:endParaRPr lang="en-US" sz="1000" dirty="0"/>
          </a:p>
        </p:txBody>
      </p:sp>
      <p:sp>
        <p:nvSpPr>
          <p:cNvPr id="27" name="Text 25"/>
          <p:cNvSpPr/>
          <p:nvPr/>
        </p:nvSpPr>
        <p:spPr>
          <a:xfrm>
            <a:off x="4005072" y="3566160"/>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Paramètres d’exécution explicitement documentés sur les deux plateformes; les écarts sont interprétés à protocole constant, en tenant compte du contexte matériel et système.</a:t>
            </a:r>
            <a:endParaRPr lang="en-US" sz="750" dirty="0"/>
          </a:p>
        </p:txBody>
      </p:sp>
      <p:sp>
        <p:nvSpPr>
          <p:cNvPr id="28" name="Shape 26"/>
          <p:cNvSpPr/>
          <p:nvPr/>
        </p:nvSpPr>
        <p:spPr>
          <a:xfrm>
            <a:off x="8321040" y="3383280"/>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9" name="Text 27"/>
          <p:cNvSpPr/>
          <p:nvPr/>
        </p:nvSpPr>
        <p:spPr>
          <a:xfrm>
            <a:off x="8321040" y="3383280"/>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02c</a:t>
            </a:r>
            <a:endParaRPr lang="en-US" sz="700" dirty="0"/>
          </a:p>
        </p:txBody>
      </p:sp>
      <p:sp>
        <p:nvSpPr>
          <p:cNvPr id="30" name="Text 28"/>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pic>
        <p:nvPicPr>
          <p:cNvPr id="32" name="Graphic 31" descr="Video camera with solid fill">
            <a:extLst>
              <a:ext uri="{FF2B5EF4-FFF2-40B4-BE49-F238E27FC236}">
                <a16:creationId xmlns:a16="http://schemas.microsoft.com/office/drawing/2014/main" id="{9B571A49-B753-A7B6-21F2-60D8FC8BEDE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585115" y="107527"/>
            <a:ext cx="430857" cy="430857"/>
          </a:xfrm>
          <a:prstGeom prst="rect">
            <a:avLst/>
          </a:prstGeom>
        </p:spPr>
      </p:pic>
      <p:sp>
        <p:nvSpPr>
          <p:cNvPr id="34" name="Text 15">
            <a:extLst>
              <a:ext uri="{FF2B5EF4-FFF2-40B4-BE49-F238E27FC236}">
                <a16:creationId xmlns:a16="http://schemas.microsoft.com/office/drawing/2014/main" id="{255A9387-5FAD-B94E-14B3-411125571292}"/>
              </a:ext>
            </a:extLst>
          </p:cNvPr>
          <p:cNvSpPr/>
          <p:nvPr/>
        </p:nvSpPr>
        <p:spPr>
          <a:xfrm>
            <a:off x="8121636" y="272289"/>
            <a:ext cx="691412" cy="205231"/>
          </a:xfrm>
          <a:prstGeom prst="rect">
            <a:avLst/>
          </a:prstGeom>
          <a:noFill/>
          <a:ln/>
        </p:spPr>
        <p:txBody>
          <a:bodyPr wrap="square" lIns="0" tIns="0" rIns="0" bIns="0" rtlCol="0" anchor="ctr"/>
          <a:lstStyle/>
          <a:p>
            <a:pPr marL="0" indent="0">
              <a:buNone/>
            </a:pPr>
            <a:r>
              <a:rPr lang="en-US" sz="1300" b="1" dirty="0">
                <a:solidFill>
                  <a:schemeClr val="tx1">
                    <a:lumMod val="65000"/>
                    <a:lumOff val="35000"/>
                  </a:schemeClr>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Vidéo</a:t>
            </a:r>
            <a:r>
              <a:rPr lang="en-US" sz="1300" b="1" dirty="0">
                <a:solidFill>
                  <a:srgbClr val="0563C1"/>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 </a:t>
            </a:r>
            <a:r>
              <a:rPr lang="en-US" sz="1300" b="1" dirty="0">
                <a:solidFill>
                  <a:schemeClr val="tx1">
                    <a:lumMod val="65000"/>
                    <a:lumOff val="35000"/>
                  </a:schemeClr>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2</a:t>
            </a:r>
            <a:endParaRPr lang="en-US" sz="1300" dirty="0">
              <a:solidFill>
                <a:schemeClr val="tx1">
                  <a:lumMod val="65000"/>
                  <a:lumOff val="35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5488" y="182880"/>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02a  ·  PROTOCOLE EXPÉRIMENTAL ET ENVIRONNEMENT</a:t>
            </a:r>
            <a:endParaRPr lang="en-US" sz="800" dirty="0"/>
          </a:p>
        </p:txBody>
      </p:sp>
      <p:sp>
        <p:nvSpPr>
          <p:cNvPr id="3" name="Text 1"/>
          <p:cNvSpPr/>
          <p:nvPr/>
        </p:nvSpPr>
        <p:spPr>
          <a:xfrm>
            <a:off x="475488" y="384048"/>
            <a:ext cx="8229600" cy="365760"/>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x86 vs ARM </a:t>
            </a:r>
            <a:r>
              <a:rPr lang="en-US" sz="1500" b="1" dirty="0">
                <a:solidFill>
                  <a:srgbClr val="C9A84C"/>
                </a:solidFill>
                <a:latin typeface="Calibri" pitchFamily="34" charset="0"/>
                <a:ea typeface="Calibri" pitchFamily="34" charset="-122"/>
                <a:cs typeface="Calibri" pitchFamily="34" charset="-120"/>
              </a:rPr>
              <a:t>— même </a:t>
            </a:r>
            <a:r>
              <a:rPr lang="en-US" sz="1500" b="1" dirty="0" err="1">
                <a:solidFill>
                  <a:srgbClr val="C9A84C"/>
                </a:solidFill>
                <a:latin typeface="Calibri" pitchFamily="34" charset="0"/>
                <a:ea typeface="Calibri" pitchFamily="34" charset="-122"/>
                <a:cs typeface="Calibri" pitchFamily="34" charset="-120"/>
              </a:rPr>
              <a:t>protocole</a:t>
            </a:r>
            <a:r>
              <a:rPr lang="en-US" sz="1500" b="1" dirty="0">
                <a:solidFill>
                  <a:srgbClr val="C9A84C"/>
                </a:solidFill>
                <a:latin typeface="Calibri" pitchFamily="34" charset="0"/>
                <a:ea typeface="Calibri" pitchFamily="34" charset="-122"/>
                <a:cs typeface="Calibri" pitchFamily="34" charset="-120"/>
              </a:rPr>
              <a:t>, contraintes différentes</a:t>
            </a:r>
            <a:endParaRPr lang="en-US" sz="1500" dirty="0"/>
          </a:p>
        </p:txBody>
      </p:sp>
      <p:sp>
        <p:nvSpPr>
          <p:cNvPr id="4" name="Shape 2"/>
          <p:cNvSpPr/>
          <p:nvPr/>
        </p:nvSpPr>
        <p:spPr>
          <a:xfrm>
            <a:off x="4572000" y="1005840"/>
            <a:ext cx="0" cy="2889504"/>
          </a:xfrm>
          <a:prstGeom prst="line">
            <a:avLst/>
          </a:prstGeom>
          <a:noFill/>
          <a:ln w="10160">
            <a:solidFill>
              <a:srgbClr val="E8E8E8"/>
            </a:solidFill>
            <a:prstDash val="solid"/>
          </a:ln>
        </p:spPr>
        <p:txBody>
          <a:bodyPr/>
          <a:lstStyle/>
          <a:p>
            <a:endParaRPr lang="en-CA"/>
          </a:p>
        </p:txBody>
      </p:sp>
      <p:sp>
        <p:nvSpPr>
          <p:cNvPr id="5" name="Shape 3"/>
          <p:cNvSpPr/>
          <p:nvPr/>
        </p:nvSpPr>
        <p:spPr>
          <a:xfrm>
            <a:off x="4334256" y="2212848"/>
            <a:ext cx="475488" cy="475488"/>
          </a:xfrm>
          <a:prstGeom prst="ellipse">
            <a:avLst/>
          </a:prstGeom>
          <a:solidFill>
            <a:srgbClr val="FFFFFF"/>
          </a:solidFill>
          <a:ln w="19050">
            <a:solidFill>
              <a:srgbClr val="C9A84C"/>
            </a:solidFill>
            <a:prstDash val="solid"/>
          </a:ln>
        </p:spPr>
        <p:txBody>
          <a:bodyPr/>
          <a:lstStyle/>
          <a:p>
            <a:endParaRPr lang="en-CA"/>
          </a:p>
        </p:txBody>
      </p:sp>
      <p:sp>
        <p:nvSpPr>
          <p:cNvPr id="6" name="Text 4"/>
          <p:cNvSpPr/>
          <p:nvPr/>
        </p:nvSpPr>
        <p:spPr>
          <a:xfrm>
            <a:off x="4334256" y="2212848"/>
            <a:ext cx="475488" cy="475488"/>
          </a:xfrm>
          <a:prstGeom prst="rect">
            <a:avLst/>
          </a:prstGeom>
          <a:noFill/>
          <a:ln/>
        </p:spPr>
        <p:txBody>
          <a:bodyPr wrap="square" lIns="0" tIns="0" rIns="0" bIns="0" rtlCol="0" anchor="ctr"/>
          <a:lstStyle/>
          <a:p>
            <a:pPr marL="0" indent="0" algn="ctr">
              <a:buNone/>
            </a:pPr>
            <a:r>
              <a:rPr lang="en-US" sz="1100" b="1" dirty="0">
                <a:solidFill>
                  <a:srgbClr val="C9A84C"/>
                </a:solidFill>
                <a:latin typeface="Calibri" pitchFamily="34" charset="0"/>
                <a:ea typeface="Calibri" pitchFamily="34" charset="-122"/>
                <a:cs typeface="Calibri" pitchFamily="34" charset="-120"/>
              </a:rPr>
              <a:t>VS</a:t>
            </a:r>
            <a:endParaRPr lang="en-US" sz="1100" dirty="0"/>
          </a:p>
        </p:txBody>
      </p:sp>
      <p:sp>
        <p:nvSpPr>
          <p:cNvPr id="7" name="Text 5"/>
          <p:cNvSpPr/>
          <p:nvPr/>
        </p:nvSpPr>
        <p:spPr>
          <a:xfrm>
            <a:off x="475488" y="822960"/>
            <a:ext cx="3474720" cy="182880"/>
          </a:xfrm>
          <a:prstGeom prst="rect">
            <a:avLst/>
          </a:prstGeom>
          <a:noFill/>
          <a:ln/>
        </p:spPr>
        <p:txBody>
          <a:bodyPr wrap="square" lIns="0" tIns="0" rIns="0" bIns="0" rtlCol="0" anchor="ctr"/>
          <a:lstStyle/>
          <a:p>
            <a:pPr marL="0" indent="0">
              <a:buNone/>
            </a:pPr>
            <a:r>
              <a:rPr lang="en-US" sz="700" b="1" kern="0" spc="200" dirty="0">
                <a:solidFill>
                  <a:srgbClr val="C9A84C"/>
                </a:solidFill>
                <a:latin typeface="Calibri" pitchFamily="34" charset="0"/>
                <a:ea typeface="Calibri" pitchFamily="34" charset="-122"/>
                <a:cs typeface="Calibri" pitchFamily="34" charset="-120"/>
              </a:rPr>
              <a:t>LAPTOP  ·  WINDOWS 11</a:t>
            </a:r>
            <a:endParaRPr lang="en-US" sz="700" dirty="0"/>
          </a:p>
        </p:txBody>
      </p:sp>
      <p:sp>
        <p:nvSpPr>
          <p:cNvPr id="8" name="Text 6"/>
          <p:cNvSpPr/>
          <p:nvPr/>
        </p:nvSpPr>
        <p:spPr>
          <a:xfrm>
            <a:off x="475488" y="1078992"/>
            <a:ext cx="3474720" cy="438912"/>
          </a:xfrm>
          <a:prstGeom prst="rect">
            <a:avLst/>
          </a:prstGeom>
          <a:noFill/>
          <a:ln/>
        </p:spPr>
        <p:txBody>
          <a:bodyPr wrap="square" lIns="0" tIns="0" rIns="0" bIns="0" rtlCol="0" anchor="ctr"/>
          <a:lstStyle/>
          <a:p>
            <a:pPr marL="0" indent="0">
              <a:buNone/>
            </a:pPr>
            <a:r>
              <a:rPr lang="en-US" sz="2800" b="1" dirty="0">
                <a:solidFill>
                  <a:srgbClr val="0A0A0A"/>
                </a:solidFill>
                <a:latin typeface="Calibri" pitchFamily="34" charset="0"/>
                <a:ea typeface="Calibri" pitchFamily="34" charset="-122"/>
                <a:cs typeface="Calibri" pitchFamily="34" charset="-120"/>
              </a:rPr>
              <a:t>Intel Core</a:t>
            </a:r>
            <a:endParaRPr lang="en-US" sz="2800" dirty="0"/>
          </a:p>
        </p:txBody>
      </p:sp>
      <p:sp>
        <p:nvSpPr>
          <p:cNvPr id="9" name="Text 7"/>
          <p:cNvSpPr/>
          <p:nvPr/>
        </p:nvSpPr>
        <p:spPr>
          <a:xfrm>
            <a:off x="475488" y="1517904"/>
            <a:ext cx="3474720" cy="438912"/>
          </a:xfrm>
          <a:prstGeom prst="rect">
            <a:avLst/>
          </a:prstGeom>
          <a:noFill/>
          <a:ln/>
        </p:spPr>
        <p:txBody>
          <a:bodyPr wrap="square" lIns="0" tIns="0" rIns="0" bIns="0" rtlCol="0" anchor="ctr"/>
          <a:lstStyle/>
          <a:p>
            <a:pPr marL="0" indent="0">
              <a:buNone/>
            </a:pPr>
            <a:r>
              <a:rPr lang="en-US" sz="2800" b="1" dirty="0">
                <a:solidFill>
                  <a:srgbClr val="C9A84C"/>
                </a:solidFill>
                <a:latin typeface="Calibri" pitchFamily="34" charset="0"/>
                <a:ea typeface="Calibri" pitchFamily="34" charset="-122"/>
                <a:cs typeface="Calibri" pitchFamily="34" charset="-120"/>
              </a:rPr>
              <a:t>i5-10300H</a:t>
            </a:r>
            <a:endParaRPr lang="en-US" sz="2800" dirty="0"/>
          </a:p>
        </p:txBody>
      </p:sp>
      <p:sp>
        <p:nvSpPr>
          <p:cNvPr id="11" name="Text 9"/>
          <p:cNvSpPr/>
          <p:nvPr/>
        </p:nvSpPr>
        <p:spPr>
          <a:xfrm>
            <a:off x="621792" y="2041779"/>
            <a:ext cx="3328416" cy="292608"/>
          </a:xfrm>
          <a:prstGeom prst="rect">
            <a:avLst/>
          </a:prstGeom>
          <a:noFill/>
          <a:ln/>
        </p:spPr>
        <p:txBody>
          <a:bodyPr wrap="square" lIns="0" tIns="0" rIns="0" bIns="0" rtlCol="0" anchor="ctr"/>
          <a:lstStyle/>
          <a:p>
            <a:pPr marL="0" indent="0">
              <a:buNone/>
            </a:pPr>
            <a:r>
              <a:rPr lang="en-US" sz="950" dirty="0">
                <a:solidFill>
                  <a:srgbClr val="555555"/>
                </a:solidFill>
                <a:latin typeface="Calibri" pitchFamily="34" charset="0"/>
                <a:ea typeface="Calibri" pitchFamily="34" charset="-122"/>
                <a:cs typeface="Calibri" pitchFamily="34" charset="-120"/>
              </a:rPr>
              <a:t>OS : Windows 11</a:t>
            </a:r>
            <a:endParaRPr lang="en-US" sz="950" dirty="0"/>
          </a:p>
        </p:txBody>
      </p:sp>
      <p:sp>
        <p:nvSpPr>
          <p:cNvPr id="13" name="Text 11"/>
          <p:cNvSpPr/>
          <p:nvPr/>
        </p:nvSpPr>
        <p:spPr>
          <a:xfrm>
            <a:off x="621792" y="2468880"/>
            <a:ext cx="3328416" cy="292608"/>
          </a:xfrm>
          <a:prstGeom prst="rect">
            <a:avLst/>
          </a:prstGeom>
          <a:noFill/>
          <a:ln/>
        </p:spPr>
        <p:txBody>
          <a:bodyPr wrap="square" lIns="0" tIns="0" rIns="0" bIns="0" rtlCol="0" anchor="ctr"/>
          <a:lstStyle/>
          <a:p>
            <a:pPr marL="0" indent="0">
              <a:buNone/>
            </a:pPr>
            <a:r>
              <a:rPr lang="en-US" sz="950" dirty="0">
                <a:solidFill>
                  <a:srgbClr val="555555"/>
                </a:solidFill>
                <a:latin typeface="Calibri" pitchFamily="34" charset="0"/>
                <a:ea typeface="Calibri" pitchFamily="34" charset="-122"/>
                <a:cs typeface="Calibri" pitchFamily="34" charset="-120"/>
              </a:rPr>
              <a:t>RAM : ~16 Go</a:t>
            </a:r>
            <a:endParaRPr lang="en-US" sz="950" dirty="0"/>
          </a:p>
        </p:txBody>
      </p:sp>
      <p:sp>
        <p:nvSpPr>
          <p:cNvPr id="15" name="Text 13"/>
          <p:cNvSpPr/>
          <p:nvPr/>
        </p:nvSpPr>
        <p:spPr>
          <a:xfrm>
            <a:off x="621792" y="2868168"/>
            <a:ext cx="3328416" cy="292608"/>
          </a:xfrm>
          <a:prstGeom prst="rect">
            <a:avLst/>
          </a:prstGeom>
          <a:noFill/>
          <a:ln/>
        </p:spPr>
        <p:txBody>
          <a:bodyPr wrap="square" lIns="0" tIns="0" rIns="0" bIns="0" rtlCol="0" anchor="ctr"/>
          <a:lstStyle/>
          <a:p>
            <a:pPr marL="0" indent="0">
              <a:buNone/>
            </a:pPr>
            <a:r>
              <a:rPr lang="en-US" sz="950" dirty="0">
                <a:solidFill>
                  <a:srgbClr val="555555"/>
                </a:solidFill>
                <a:latin typeface="Calibri" pitchFamily="34" charset="0"/>
                <a:ea typeface="Calibri" pitchFamily="34" charset="-122"/>
                <a:cs typeface="Calibri" pitchFamily="34" charset="-120"/>
              </a:rPr>
              <a:t>Architecture : x86-64</a:t>
            </a:r>
            <a:endParaRPr lang="en-US" sz="950" dirty="0"/>
          </a:p>
        </p:txBody>
      </p:sp>
      <p:sp>
        <p:nvSpPr>
          <p:cNvPr id="16" name="Shape 14"/>
          <p:cNvSpPr/>
          <p:nvPr/>
        </p:nvSpPr>
        <p:spPr>
          <a:xfrm>
            <a:off x="436619" y="3492246"/>
            <a:ext cx="3513589" cy="597408"/>
          </a:xfrm>
          <a:prstGeom prst="roundRect">
            <a:avLst>
              <a:gd name="adj" fmla="val 50000"/>
            </a:avLst>
          </a:prstGeom>
          <a:solidFill>
            <a:srgbClr val="FFFBF0"/>
          </a:solidFill>
          <a:ln w="15240">
            <a:solidFill>
              <a:srgbClr val="C9A84C"/>
            </a:solidFill>
            <a:prstDash val="solid"/>
          </a:ln>
        </p:spPr>
        <p:txBody>
          <a:bodyPr/>
          <a:lstStyle/>
          <a:p>
            <a:endParaRPr lang="en-CA"/>
          </a:p>
        </p:txBody>
      </p:sp>
      <p:sp>
        <p:nvSpPr>
          <p:cNvPr id="17" name="Text 15"/>
          <p:cNvSpPr/>
          <p:nvPr/>
        </p:nvSpPr>
        <p:spPr>
          <a:xfrm>
            <a:off x="299466" y="3557923"/>
            <a:ext cx="3753612" cy="417195"/>
          </a:xfrm>
          <a:prstGeom prst="rect">
            <a:avLst/>
          </a:prstGeom>
          <a:noFill/>
          <a:ln/>
        </p:spPr>
        <p:txBody>
          <a:bodyPr wrap="square" lIns="0" tIns="0" rIns="0" bIns="0" rtlCol="0" anchor="ctr"/>
          <a:lstStyle/>
          <a:p>
            <a:pPr marL="0" indent="0" algn="ctr">
              <a:buNone/>
            </a:pPr>
            <a:r>
              <a:rPr lang="en-US" sz="1050" b="1" dirty="0">
                <a:solidFill>
                  <a:srgbClr val="C9A84C"/>
                </a:solidFill>
                <a:latin typeface="Calibri" pitchFamily="34" charset="0"/>
                <a:ea typeface="Calibri" pitchFamily="34" charset="-122"/>
                <a:cs typeface="Calibri" pitchFamily="34" charset="-120"/>
              </a:rPr>
              <a:t>✓  AES-NI disponible (Intel)</a:t>
            </a:r>
          </a:p>
          <a:p>
            <a:pPr marL="0" indent="0" algn="ctr">
              <a:buNone/>
            </a:pPr>
            <a:r>
              <a:rPr lang="fr-FR" sz="1050" dirty="0">
                <a:solidFill>
                  <a:schemeClr val="bg2">
                    <a:lumMod val="50000"/>
                  </a:schemeClr>
                </a:solidFill>
              </a:rPr>
              <a:t>Accélération matérielle du chiffrement AES</a:t>
            </a:r>
            <a:endParaRPr lang="en-US" sz="1050" dirty="0">
              <a:solidFill>
                <a:schemeClr val="bg2">
                  <a:lumMod val="50000"/>
                </a:schemeClr>
              </a:solidFill>
            </a:endParaRPr>
          </a:p>
        </p:txBody>
      </p:sp>
      <p:sp>
        <p:nvSpPr>
          <p:cNvPr id="18" name="Text 16"/>
          <p:cNvSpPr/>
          <p:nvPr/>
        </p:nvSpPr>
        <p:spPr>
          <a:xfrm>
            <a:off x="5614416" y="861145"/>
            <a:ext cx="3017520" cy="182880"/>
          </a:xfrm>
          <a:prstGeom prst="rect">
            <a:avLst/>
          </a:prstGeom>
          <a:noFill/>
          <a:ln/>
        </p:spPr>
        <p:txBody>
          <a:bodyPr wrap="square" lIns="0" tIns="0" rIns="0" bIns="0" rtlCol="0" anchor="ctr"/>
          <a:lstStyle/>
          <a:p>
            <a:pPr marL="0" indent="0" algn="r">
              <a:buNone/>
            </a:pPr>
            <a:r>
              <a:rPr lang="en-US" sz="700" b="1" kern="0" spc="200" dirty="0">
                <a:solidFill>
                  <a:srgbClr val="C9A84C"/>
                </a:solidFill>
                <a:latin typeface="Calibri" pitchFamily="34" charset="0"/>
                <a:ea typeface="Calibri" pitchFamily="34" charset="-122"/>
                <a:cs typeface="Calibri" pitchFamily="34" charset="-120"/>
              </a:rPr>
              <a:t>RASPBERRY PI 4  ·  DEBIAN</a:t>
            </a:r>
            <a:endParaRPr lang="en-US" sz="700" dirty="0"/>
          </a:p>
        </p:txBody>
      </p:sp>
      <p:sp>
        <p:nvSpPr>
          <p:cNvPr id="20" name="Text 18"/>
          <p:cNvSpPr/>
          <p:nvPr/>
        </p:nvSpPr>
        <p:spPr>
          <a:xfrm>
            <a:off x="5328666" y="1136227"/>
            <a:ext cx="3303269" cy="438912"/>
          </a:xfrm>
          <a:prstGeom prst="rect">
            <a:avLst/>
          </a:prstGeom>
          <a:noFill/>
          <a:ln/>
        </p:spPr>
        <p:txBody>
          <a:bodyPr wrap="square" lIns="0" tIns="0" rIns="0" bIns="0" rtlCol="0" anchor="ctr"/>
          <a:lstStyle/>
          <a:p>
            <a:pPr marL="0" indent="0" algn="r">
              <a:buNone/>
            </a:pPr>
            <a:r>
              <a:rPr lang="en-US" sz="2800" b="1" dirty="0">
                <a:solidFill>
                  <a:srgbClr val="0A0A0A"/>
                </a:solidFill>
                <a:latin typeface="Calibri" pitchFamily="34" charset="0"/>
                <a:ea typeface="Calibri" pitchFamily="34" charset="-122"/>
                <a:cs typeface="Calibri" pitchFamily="34" charset="-120"/>
              </a:rPr>
              <a:t>ARM</a:t>
            </a:r>
            <a:endParaRPr lang="en-US" sz="2800" dirty="0"/>
          </a:p>
        </p:txBody>
      </p:sp>
      <p:sp>
        <p:nvSpPr>
          <p:cNvPr id="21" name="Text 19"/>
          <p:cNvSpPr/>
          <p:nvPr/>
        </p:nvSpPr>
        <p:spPr>
          <a:xfrm>
            <a:off x="5369814" y="1562185"/>
            <a:ext cx="3262121" cy="438912"/>
          </a:xfrm>
          <a:prstGeom prst="rect">
            <a:avLst/>
          </a:prstGeom>
          <a:noFill/>
          <a:ln/>
        </p:spPr>
        <p:txBody>
          <a:bodyPr wrap="square" lIns="0" tIns="0" rIns="0" bIns="0" rtlCol="0" anchor="ctr"/>
          <a:lstStyle/>
          <a:p>
            <a:pPr marL="0" indent="0" algn="r">
              <a:buNone/>
            </a:pPr>
            <a:r>
              <a:rPr lang="en-US" sz="2800" b="1" dirty="0">
                <a:solidFill>
                  <a:srgbClr val="C9A84C"/>
                </a:solidFill>
                <a:latin typeface="Calibri" pitchFamily="34" charset="0"/>
                <a:ea typeface="Calibri" pitchFamily="34" charset="-122"/>
                <a:cs typeface="Calibri" pitchFamily="34" charset="-120"/>
              </a:rPr>
              <a:t>Cortex-A72</a:t>
            </a:r>
            <a:endParaRPr lang="en-US" sz="2800" dirty="0"/>
          </a:p>
        </p:txBody>
      </p:sp>
      <p:sp>
        <p:nvSpPr>
          <p:cNvPr id="22" name="Shape 20"/>
          <p:cNvSpPr/>
          <p:nvPr/>
        </p:nvSpPr>
        <p:spPr>
          <a:xfrm>
            <a:off x="8467342" y="2207599"/>
            <a:ext cx="45719" cy="49530"/>
          </a:xfrm>
          <a:prstGeom prst="ellipse">
            <a:avLst/>
          </a:prstGeom>
          <a:solidFill>
            <a:srgbClr val="C9A84C"/>
          </a:solidFill>
          <a:ln w="12700">
            <a:solidFill>
              <a:srgbClr val="C9A84C"/>
            </a:solidFill>
            <a:prstDash val="solid"/>
          </a:ln>
        </p:spPr>
        <p:txBody>
          <a:bodyPr/>
          <a:lstStyle/>
          <a:p>
            <a:endParaRPr lang="en-CA"/>
          </a:p>
        </p:txBody>
      </p:sp>
      <p:sp>
        <p:nvSpPr>
          <p:cNvPr id="23" name="Text 21"/>
          <p:cNvSpPr/>
          <p:nvPr/>
        </p:nvSpPr>
        <p:spPr>
          <a:xfrm>
            <a:off x="5431536" y="2098633"/>
            <a:ext cx="2926079" cy="292608"/>
          </a:xfrm>
          <a:prstGeom prst="rect">
            <a:avLst/>
          </a:prstGeom>
          <a:noFill/>
          <a:ln/>
        </p:spPr>
        <p:txBody>
          <a:bodyPr wrap="square" lIns="0" tIns="0" rIns="0" bIns="0" rtlCol="0" anchor="ctr"/>
          <a:lstStyle/>
          <a:p>
            <a:pPr marL="0" indent="0" algn="r">
              <a:buNone/>
            </a:pPr>
            <a:r>
              <a:rPr lang="en-US" sz="950" dirty="0">
                <a:solidFill>
                  <a:srgbClr val="555555"/>
                </a:solidFill>
                <a:latin typeface="Calibri" pitchFamily="34" charset="0"/>
                <a:ea typeface="Calibri" pitchFamily="34" charset="-122"/>
                <a:cs typeface="Calibri" pitchFamily="34" charset="-120"/>
              </a:rPr>
              <a:t>OS : Raspberry Pi OS (Debian)</a:t>
            </a:r>
            <a:endParaRPr lang="en-US" sz="950" dirty="0"/>
          </a:p>
        </p:txBody>
      </p:sp>
      <p:sp>
        <p:nvSpPr>
          <p:cNvPr id="25" name="Text 23"/>
          <p:cNvSpPr/>
          <p:nvPr/>
        </p:nvSpPr>
        <p:spPr>
          <a:xfrm>
            <a:off x="5431536" y="2500969"/>
            <a:ext cx="2926079" cy="292608"/>
          </a:xfrm>
          <a:prstGeom prst="rect">
            <a:avLst/>
          </a:prstGeom>
          <a:noFill/>
          <a:ln/>
        </p:spPr>
        <p:txBody>
          <a:bodyPr wrap="square" lIns="0" tIns="0" rIns="0" bIns="0" rtlCol="0" anchor="ctr"/>
          <a:lstStyle/>
          <a:p>
            <a:pPr marL="0" indent="0" algn="r">
              <a:buNone/>
            </a:pPr>
            <a:r>
              <a:rPr lang="en-US" sz="950" dirty="0">
                <a:solidFill>
                  <a:srgbClr val="555555"/>
                </a:solidFill>
                <a:latin typeface="Calibri" pitchFamily="34" charset="0"/>
                <a:ea typeface="Calibri" pitchFamily="34" charset="-122"/>
                <a:cs typeface="Calibri" pitchFamily="34" charset="-120"/>
              </a:rPr>
              <a:t>RAM : 4 Go</a:t>
            </a:r>
            <a:endParaRPr lang="en-US" sz="950" dirty="0"/>
          </a:p>
        </p:txBody>
      </p:sp>
      <p:sp>
        <p:nvSpPr>
          <p:cNvPr id="27" name="Text 25"/>
          <p:cNvSpPr/>
          <p:nvPr/>
        </p:nvSpPr>
        <p:spPr>
          <a:xfrm>
            <a:off x="5513394" y="2912449"/>
            <a:ext cx="2844222" cy="292608"/>
          </a:xfrm>
          <a:prstGeom prst="rect">
            <a:avLst/>
          </a:prstGeom>
          <a:noFill/>
          <a:ln/>
        </p:spPr>
        <p:txBody>
          <a:bodyPr wrap="square" lIns="0" tIns="0" rIns="0" bIns="0" rtlCol="0" anchor="ctr"/>
          <a:lstStyle/>
          <a:p>
            <a:pPr marL="0" indent="0" algn="r">
              <a:buNone/>
            </a:pPr>
            <a:r>
              <a:rPr lang="en-US" sz="950" dirty="0">
                <a:solidFill>
                  <a:srgbClr val="555555"/>
                </a:solidFill>
                <a:latin typeface="Calibri" pitchFamily="34" charset="0"/>
                <a:ea typeface="Calibri" pitchFamily="34" charset="-122"/>
                <a:cs typeface="Calibri" pitchFamily="34" charset="-120"/>
              </a:rPr>
              <a:t>Architecture : ARM 64-bit</a:t>
            </a:r>
            <a:endParaRPr lang="en-US" sz="950" dirty="0"/>
          </a:p>
        </p:txBody>
      </p:sp>
      <p:sp>
        <p:nvSpPr>
          <p:cNvPr id="28" name="Shape 26"/>
          <p:cNvSpPr/>
          <p:nvPr/>
        </p:nvSpPr>
        <p:spPr>
          <a:xfrm>
            <a:off x="5020496" y="3486235"/>
            <a:ext cx="3541014" cy="597408"/>
          </a:xfrm>
          <a:prstGeom prst="roundRect">
            <a:avLst>
              <a:gd name="adj" fmla="val 50000"/>
            </a:avLst>
          </a:prstGeom>
          <a:solidFill>
            <a:srgbClr val="FFF0F0"/>
          </a:solidFill>
          <a:ln w="15240">
            <a:solidFill>
              <a:srgbClr val="CC4444"/>
            </a:solidFill>
            <a:prstDash val="solid"/>
          </a:ln>
        </p:spPr>
        <p:txBody>
          <a:bodyPr/>
          <a:lstStyle/>
          <a:p>
            <a:endParaRPr lang="en-CA"/>
          </a:p>
        </p:txBody>
      </p:sp>
      <p:sp>
        <p:nvSpPr>
          <p:cNvPr id="29" name="Text 27"/>
          <p:cNvSpPr/>
          <p:nvPr/>
        </p:nvSpPr>
        <p:spPr>
          <a:xfrm>
            <a:off x="5132071" y="3580638"/>
            <a:ext cx="3335271" cy="365760"/>
          </a:xfrm>
          <a:prstGeom prst="rect">
            <a:avLst/>
          </a:prstGeom>
          <a:noFill/>
          <a:ln/>
        </p:spPr>
        <p:txBody>
          <a:bodyPr wrap="square" lIns="0" tIns="0" rIns="0" bIns="0" rtlCol="0" anchor="ctr"/>
          <a:lstStyle/>
          <a:p>
            <a:pPr marL="0" indent="0" algn="ctr">
              <a:buNone/>
            </a:pPr>
            <a:r>
              <a:rPr lang="en-US" sz="1050" b="1" dirty="0">
                <a:solidFill>
                  <a:srgbClr val="CC4444"/>
                </a:solidFill>
                <a:latin typeface="Calibri" pitchFamily="34" charset="0"/>
                <a:ea typeface="Calibri" pitchFamily="34" charset="-122"/>
                <a:cs typeface="Calibri" pitchFamily="34" charset="-120"/>
              </a:rPr>
              <a:t>✗  AES-NI non applicable (ARM)</a:t>
            </a:r>
          </a:p>
          <a:p>
            <a:pPr marL="0" indent="0" algn="ctr">
              <a:buNone/>
            </a:pPr>
            <a:r>
              <a:rPr lang="fr-FR" sz="1050" dirty="0">
                <a:solidFill>
                  <a:schemeClr val="bg2">
                    <a:lumMod val="50000"/>
                  </a:schemeClr>
                </a:solidFill>
              </a:rPr>
              <a:t>Performance AES dépendante des extensions ARM/backends logiciels</a:t>
            </a:r>
            <a:endParaRPr lang="en-US" sz="1050" dirty="0">
              <a:solidFill>
                <a:schemeClr val="bg2">
                  <a:lumMod val="50000"/>
                </a:schemeClr>
              </a:solidFill>
            </a:endParaRPr>
          </a:p>
        </p:txBody>
      </p:sp>
      <p:sp>
        <p:nvSpPr>
          <p:cNvPr id="30" name="Text 28"/>
          <p:cNvSpPr/>
          <p:nvPr/>
        </p:nvSpPr>
        <p:spPr>
          <a:xfrm>
            <a:off x="475488" y="4370832"/>
            <a:ext cx="8229600" cy="219456"/>
          </a:xfrm>
          <a:prstGeom prst="rect">
            <a:avLst/>
          </a:prstGeom>
          <a:noFill/>
          <a:ln/>
        </p:spPr>
        <p:txBody>
          <a:bodyPr wrap="square" lIns="0" tIns="0" rIns="0" bIns="0" rtlCol="0" anchor="ctr"/>
          <a:lstStyle/>
          <a:p>
            <a:pPr marL="0" indent="0" algn="ctr">
              <a:buNone/>
            </a:pPr>
            <a:r>
              <a:rPr lang="en-US" sz="900" i="1" dirty="0">
                <a:solidFill>
                  <a:schemeClr val="bg2">
                    <a:lumMod val="50000"/>
                  </a:schemeClr>
                </a:solidFill>
                <a:latin typeface="Calibri" pitchFamily="34" charset="0"/>
                <a:ea typeface="Calibri" pitchFamily="34" charset="-122"/>
                <a:cs typeface="Calibri" pitchFamily="34" charset="-120"/>
              </a:rPr>
              <a:t>Même code, même </a:t>
            </a:r>
            <a:r>
              <a:rPr lang="en-US" sz="900" i="1" dirty="0" err="1">
                <a:solidFill>
                  <a:schemeClr val="bg2">
                    <a:lumMod val="50000"/>
                  </a:schemeClr>
                </a:solidFill>
                <a:latin typeface="Calibri" pitchFamily="34" charset="0"/>
                <a:ea typeface="Calibri" pitchFamily="34" charset="-122"/>
                <a:cs typeface="Calibri" pitchFamily="34" charset="-120"/>
              </a:rPr>
              <a:t>protocole</a:t>
            </a:r>
            <a:r>
              <a:rPr lang="en-US" sz="900" i="1" dirty="0">
                <a:solidFill>
                  <a:schemeClr val="bg2">
                    <a:lumMod val="50000"/>
                  </a:schemeClr>
                </a:solidFill>
                <a:latin typeface="Calibri" pitchFamily="34" charset="0"/>
                <a:ea typeface="Calibri" pitchFamily="34" charset="-122"/>
                <a:cs typeface="Calibri" pitchFamily="34" charset="-120"/>
              </a:rPr>
              <a:t>, matériel différent — la performance brute ne peut pas être lue sans contexte d'architecture.</a:t>
            </a:r>
            <a:endParaRPr lang="en-US" sz="900" dirty="0">
              <a:solidFill>
                <a:schemeClr val="bg2">
                  <a:lumMod val="50000"/>
                </a:schemeClr>
              </a:solidFill>
            </a:endParaRPr>
          </a:p>
        </p:txBody>
      </p:sp>
      <p:sp>
        <p:nvSpPr>
          <p:cNvPr id="31" name="Text 29"/>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33" name="Shape 20">
            <a:extLst>
              <a:ext uri="{FF2B5EF4-FFF2-40B4-BE49-F238E27FC236}">
                <a16:creationId xmlns:a16="http://schemas.microsoft.com/office/drawing/2014/main" id="{99EDE612-1EB3-BBD4-B026-F1E0F719C263}"/>
              </a:ext>
            </a:extLst>
          </p:cNvPr>
          <p:cNvSpPr/>
          <p:nvPr/>
        </p:nvSpPr>
        <p:spPr>
          <a:xfrm>
            <a:off x="8470391" y="2622127"/>
            <a:ext cx="45719" cy="49530"/>
          </a:xfrm>
          <a:prstGeom prst="ellipse">
            <a:avLst/>
          </a:prstGeom>
          <a:solidFill>
            <a:srgbClr val="C9A84C"/>
          </a:solidFill>
          <a:ln w="12700">
            <a:solidFill>
              <a:srgbClr val="C9A84C"/>
            </a:solidFill>
            <a:prstDash val="solid"/>
          </a:ln>
        </p:spPr>
        <p:txBody>
          <a:bodyPr/>
          <a:lstStyle/>
          <a:p>
            <a:endParaRPr lang="en-CA"/>
          </a:p>
        </p:txBody>
      </p:sp>
      <p:sp>
        <p:nvSpPr>
          <p:cNvPr id="35" name="Shape 20">
            <a:extLst>
              <a:ext uri="{FF2B5EF4-FFF2-40B4-BE49-F238E27FC236}">
                <a16:creationId xmlns:a16="http://schemas.microsoft.com/office/drawing/2014/main" id="{800B0469-6DF0-8F78-3715-71DDC21FD201}"/>
              </a:ext>
            </a:extLst>
          </p:cNvPr>
          <p:cNvSpPr/>
          <p:nvPr/>
        </p:nvSpPr>
        <p:spPr>
          <a:xfrm>
            <a:off x="8470391" y="3029797"/>
            <a:ext cx="45719" cy="49530"/>
          </a:xfrm>
          <a:prstGeom prst="ellipse">
            <a:avLst/>
          </a:prstGeom>
          <a:solidFill>
            <a:srgbClr val="C9A84C"/>
          </a:solidFill>
          <a:ln w="12700">
            <a:solidFill>
              <a:srgbClr val="C9A84C"/>
            </a:solidFill>
            <a:prstDash val="solid"/>
          </a:ln>
        </p:spPr>
        <p:txBody>
          <a:bodyPr/>
          <a:lstStyle/>
          <a:p>
            <a:endParaRPr lang="en-CA"/>
          </a:p>
        </p:txBody>
      </p:sp>
      <p:sp>
        <p:nvSpPr>
          <p:cNvPr id="37" name="Shape 20">
            <a:extLst>
              <a:ext uri="{FF2B5EF4-FFF2-40B4-BE49-F238E27FC236}">
                <a16:creationId xmlns:a16="http://schemas.microsoft.com/office/drawing/2014/main" id="{C8D356E4-2669-CA7C-02CF-3806988FFC3A}"/>
              </a:ext>
            </a:extLst>
          </p:cNvPr>
          <p:cNvSpPr/>
          <p:nvPr/>
        </p:nvSpPr>
        <p:spPr>
          <a:xfrm>
            <a:off x="452628" y="2172462"/>
            <a:ext cx="45719" cy="49530"/>
          </a:xfrm>
          <a:prstGeom prst="ellipse">
            <a:avLst/>
          </a:prstGeom>
          <a:solidFill>
            <a:srgbClr val="C9A84C"/>
          </a:solidFill>
          <a:ln w="12700">
            <a:solidFill>
              <a:srgbClr val="C9A84C"/>
            </a:solidFill>
            <a:prstDash val="solid"/>
          </a:ln>
        </p:spPr>
        <p:txBody>
          <a:bodyPr/>
          <a:lstStyle/>
          <a:p>
            <a:endParaRPr lang="en-CA"/>
          </a:p>
        </p:txBody>
      </p:sp>
      <p:sp>
        <p:nvSpPr>
          <p:cNvPr id="39" name="Shape 20">
            <a:extLst>
              <a:ext uri="{FF2B5EF4-FFF2-40B4-BE49-F238E27FC236}">
                <a16:creationId xmlns:a16="http://schemas.microsoft.com/office/drawing/2014/main" id="{0C5E47BB-E41E-788F-4177-20662C9B4A88}"/>
              </a:ext>
            </a:extLst>
          </p:cNvPr>
          <p:cNvSpPr/>
          <p:nvPr/>
        </p:nvSpPr>
        <p:spPr>
          <a:xfrm>
            <a:off x="452627" y="2577846"/>
            <a:ext cx="45719" cy="49530"/>
          </a:xfrm>
          <a:prstGeom prst="ellipse">
            <a:avLst/>
          </a:prstGeom>
          <a:solidFill>
            <a:srgbClr val="C9A84C"/>
          </a:solidFill>
          <a:ln w="12700">
            <a:solidFill>
              <a:srgbClr val="C9A84C"/>
            </a:solidFill>
            <a:prstDash val="solid"/>
          </a:ln>
        </p:spPr>
        <p:txBody>
          <a:bodyPr/>
          <a:lstStyle/>
          <a:p>
            <a:endParaRPr lang="en-CA"/>
          </a:p>
        </p:txBody>
      </p:sp>
      <p:sp>
        <p:nvSpPr>
          <p:cNvPr id="41" name="Shape 20">
            <a:extLst>
              <a:ext uri="{FF2B5EF4-FFF2-40B4-BE49-F238E27FC236}">
                <a16:creationId xmlns:a16="http://schemas.microsoft.com/office/drawing/2014/main" id="{E5A22DEC-05E2-C0AD-822C-64DCF0843AF2}"/>
              </a:ext>
            </a:extLst>
          </p:cNvPr>
          <p:cNvSpPr/>
          <p:nvPr/>
        </p:nvSpPr>
        <p:spPr>
          <a:xfrm>
            <a:off x="443486" y="2981706"/>
            <a:ext cx="45719" cy="49530"/>
          </a:xfrm>
          <a:prstGeom prst="ellipse">
            <a:avLst/>
          </a:prstGeom>
          <a:solidFill>
            <a:srgbClr val="C9A84C"/>
          </a:solidFill>
          <a:ln w="12700">
            <a:solidFill>
              <a:srgbClr val="C9A84C"/>
            </a:solidFill>
            <a:prstDash val="solid"/>
          </a:ln>
        </p:spPr>
        <p:txBody>
          <a:bodyPr/>
          <a:lstStyle/>
          <a:p>
            <a:endParaRPr lang="en-CA"/>
          </a:p>
        </p:txBody>
      </p:sp>
      <p:pic>
        <p:nvPicPr>
          <p:cNvPr id="43" name="Graphic 42" descr="Laptop outline">
            <a:extLst>
              <a:ext uri="{FF2B5EF4-FFF2-40B4-BE49-F238E27FC236}">
                <a16:creationId xmlns:a16="http://schemas.microsoft.com/office/drawing/2014/main" id="{79FA56F5-7FCA-E442-98C4-39BFDA9FC8D9}"/>
              </a:ext>
            </a:extLst>
          </p:cNvPr>
          <p:cNvPicPr>
            <a:picLocks noChangeAspect="1"/>
          </p:cNvPicPr>
          <p:nvPr/>
        </p:nvPicPr>
        <p:blipFill>
          <a:blip>
            <a:alphaModFix amt="23000"/>
            <a:extLst>
              <a:ext uri="{96DAC541-7B7A-43D3-8B79-37D633B846F1}">
                <asvg:svgBlip xmlns:asvg="http://schemas.microsoft.com/office/drawing/2016/SVG/main" r:embed="rId3"/>
              </a:ext>
            </a:extLst>
          </a:blip>
          <a:stretch>
            <a:fillRect/>
          </a:stretch>
        </p:blipFill>
        <p:spPr>
          <a:xfrm>
            <a:off x="2953951" y="1999488"/>
            <a:ext cx="914400" cy="914400"/>
          </a:xfrm>
          <a:prstGeom prst="rect">
            <a:avLst/>
          </a:prstGeom>
        </p:spPr>
      </p:pic>
      <p:pic>
        <p:nvPicPr>
          <p:cNvPr id="45" name="Picture 44">
            <a:extLst>
              <a:ext uri="{FF2B5EF4-FFF2-40B4-BE49-F238E27FC236}">
                <a16:creationId xmlns:a16="http://schemas.microsoft.com/office/drawing/2014/main" id="{69AD3E95-A872-D019-BD5E-AF7126EDCE35}"/>
              </a:ext>
            </a:extLst>
          </p:cNvPr>
          <p:cNvPicPr>
            <a:picLocks noChangeAspect="1"/>
          </p:cNvPicPr>
          <p:nvPr/>
        </p:nvPicPr>
        <p:blipFill>
          <a:blip r:embed="rId4">
            <a:alphaModFix amt="22000"/>
          </a:blip>
          <a:stretch>
            <a:fillRect/>
          </a:stretch>
        </p:blipFill>
        <p:spPr>
          <a:xfrm>
            <a:off x="5344581" y="2122761"/>
            <a:ext cx="649395" cy="6493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5488" y="182880"/>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02b  ·  PROTOCOLE EXPÉRIMENTAL ET ENVIRONNEMENT</a:t>
            </a:r>
            <a:endParaRPr lang="en-US" sz="800" dirty="0"/>
          </a:p>
        </p:txBody>
      </p:sp>
      <p:sp>
        <p:nvSpPr>
          <p:cNvPr id="3" name="Text 1"/>
          <p:cNvSpPr/>
          <p:nvPr/>
        </p:nvSpPr>
        <p:spPr>
          <a:xfrm>
            <a:off x="475488" y="384048"/>
            <a:ext cx="8229600" cy="365760"/>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Protocole </a:t>
            </a:r>
            <a:r>
              <a:rPr lang="en-US" sz="1500" b="1" dirty="0">
                <a:solidFill>
                  <a:srgbClr val="C9A84C"/>
                </a:solidFill>
                <a:latin typeface="Calibri" pitchFamily="34" charset="0"/>
                <a:ea typeface="Calibri" pitchFamily="34" charset="-122"/>
                <a:cs typeface="Calibri" pitchFamily="34" charset="-120"/>
              </a:rPr>
              <a:t>— stable, dense, comparable</a:t>
            </a:r>
            <a:endParaRPr lang="en-US" sz="1500" dirty="0"/>
          </a:p>
        </p:txBody>
      </p:sp>
      <p:sp>
        <p:nvSpPr>
          <p:cNvPr id="4" name="Text 2"/>
          <p:cNvSpPr/>
          <p:nvPr/>
        </p:nvSpPr>
        <p:spPr>
          <a:xfrm>
            <a:off x="475488" y="969264"/>
            <a:ext cx="1280160" cy="731520"/>
          </a:xfrm>
          <a:prstGeom prst="rect">
            <a:avLst/>
          </a:prstGeom>
          <a:noFill/>
          <a:ln/>
        </p:spPr>
        <p:txBody>
          <a:bodyPr wrap="square" lIns="0" tIns="0" rIns="0" bIns="0" rtlCol="0" anchor="ctr"/>
          <a:lstStyle/>
          <a:p>
            <a:pPr marL="0" indent="0">
              <a:buNone/>
            </a:pPr>
            <a:r>
              <a:rPr lang="en-US" sz="5200" b="1" dirty="0">
                <a:solidFill>
                  <a:srgbClr val="C9A84C"/>
                </a:solidFill>
                <a:latin typeface="Calibri" pitchFamily="34" charset="0"/>
                <a:ea typeface="Calibri" pitchFamily="34" charset="-122"/>
                <a:cs typeface="Calibri" pitchFamily="34" charset="-120"/>
              </a:rPr>
              <a:t>100</a:t>
            </a:r>
            <a:endParaRPr lang="en-US" sz="5200" dirty="0"/>
          </a:p>
        </p:txBody>
      </p:sp>
      <p:sp>
        <p:nvSpPr>
          <p:cNvPr id="5" name="Text 3"/>
          <p:cNvSpPr/>
          <p:nvPr/>
        </p:nvSpPr>
        <p:spPr>
          <a:xfrm>
            <a:off x="1792224" y="1042416"/>
            <a:ext cx="2157984" cy="274320"/>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répétitions</a:t>
            </a:r>
            <a:endParaRPr lang="en-US" sz="1100" dirty="0"/>
          </a:p>
        </p:txBody>
      </p:sp>
      <p:sp>
        <p:nvSpPr>
          <p:cNvPr id="6" name="Text 4"/>
          <p:cNvSpPr/>
          <p:nvPr/>
        </p:nvSpPr>
        <p:spPr>
          <a:xfrm>
            <a:off x="1792224" y="1335024"/>
            <a:ext cx="2157984" cy="237744"/>
          </a:xfrm>
          <a:prstGeom prst="rect">
            <a:avLst/>
          </a:prstGeom>
          <a:noFill/>
          <a:ln/>
        </p:spPr>
        <p:txBody>
          <a:bodyPr wrap="square" lIns="0" tIns="0" rIns="0" bIns="0" rtlCol="0" anchor="t"/>
          <a:lstStyle/>
          <a:p>
            <a:pPr marL="0" indent="0">
              <a:buNone/>
            </a:pPr>
            <a:r>
              <a:rPr lang="en-US" sz="850" dirty="0">
                <a:solidFill>
                  <a:srgbClr val="C0C0C0"/>
                </a:solidFill>
                <a:latin typeface="Calibri" pitchFamily="34" charset="0"/>
                <a:ea typeface="Calibri" pitchFamily="34" charset="-122"/>
                <a:cs typeface="Calibri" pitchFamily="34" charset="-120"/>
              </a:rPr>
              <a:t>par configuration</a:t>
            </a:r>
            <a:endParaRPr lang="en-US" sz="850" dirty="0"/>
          </a:p>
        </p:txBody>
      </p:sp>
      <p:sp>
        <p:nvSpPr>
          <p:cNvPr id="7" name="Shape 5"/>
          <p:cNvSpPr/>
          <p:nvPr/>
        </p:nvSpPr>
        <p:spPr>
          <a:xfrm>
            <a:off x="475488" y="1956816"/>
            <a:ext cx="3474720" cy="0"/>
          </a:xfrm>
          <a:prstGeom prst="line">
            <a:avLst/>
          </a:prstGeom>
          <a:noFill/>
          <a:ln w="7620">
            <a:solidFill>
              <a:srgbClr val="F5F5F5"/>
            </a:solidFill>
            <a:prstDash val="solid"/>
          </a:ln>
        </p:spPr>
        <p:txBody>
          <a:bodyPr/>
          <a:lstStyle/>
          <a:p>
            <a:endParaRPr lang="en-CA"/>
          </a:p>
        </p:txBody>
      </p:sp>
      <p:sp>
        <p:nvSpPr>
          <p:cNvPr id="8" name="Text 6"/>
          <p:cNvSpPr/>
          <p:nvPr/>
        </p:nvSpPr>
        <p:spPr>
          <a:xfrm>
            <a:off x="475488" y="2084832"/>
            <a:ext cx="1280160" cy="731520"/>
          </a:xfrm>
          <a:prstGeom prst="rect">
            <a:avLst/>
          </a:prstGeom>
          <a:noFill/>
          <a:ln/>
        </p:spPr>
        <p:txBody>
          <a:bodyPr wrap="square" lIns="0" tIns="0" rIns="0" bIns="0" rtlCol="0" anchor="ctr"/>
          <a:lstStyle/>
          <a:p>
            <a:pPr marL="0" indent="0">
              <a:buNone/>
            </a:pPr>
            <a:r>
              <a:rPr lang="en-US" sz="5200" b="1" dirty="0">
                <a:solidFill>
                  <a:srgbClr val="0A0A0A"/>
                </a:solidFill>
                <a:latin typeface="Calibri" pitchFamily="34" charset="0"/>
                <a:ea typeface="Calibri" pitchFamily="34" charset="-122"/>
                <a:cs typeface="Calibri" pitchFamily="34" charset="-120"/>
              </a:rPr>
              <a:t>31</a:t>
            </a:r>
            <a:endParaRPr lang="en-US" sz="5200" dirty="0"/>
          </a:p>
        </p:txBody>
      </p:sp>
      <p:sp>
        <p:nvSpPr>
          <p:cNvPr id="9" name="Text 7"/>
          <p:cNvSpPr/>
          <p:nvPr/>
        </p:nvSpPr>
        <p:spPr>
          <a:xfrm>
            <a:off x="1792224" y="2157984"/>
            <a:ext cx="2157984" cy="274320"/>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combinaisons</a:t>
            </a:r>
            <a:endParaRPr lang="en-US" sz="1100" dirty="0"/>
          </a:p>
        </p:txBody>
      </p:sp>
      <p:sp>
        <p:nvSpPr>
          <p:cNvPr id="10" name="Text 8"/>
          <p:cNvSpPr/>
          <p:nvPr/>
        </p:nvSpPr>
        <p:spPr>
          <a:xfrm>
            <a:off x="1792224" y="2450592"/>
            <a:ext cx="2157984" cy="237744"/>
          </a:xfrm>
          <a:prstGeom prst="rect">
            <a:avLst/>
          </a:prstGeom>
          <a:noFill/>
          <a:ln/>
        </p:spPr>
        <p:txBody>
          <a:bodyPr wrap="square" lIns="0" tIns="0" rIns="0" bIns="0" rtlCol="0" anchor="t"/>
          <a:lstStyle/>
          <a:p>
            <a:pPr marL="0" indent="0">
              <a:buNone/>
            </a:pPr>
            <a:r>
              <a:rPr lang="en-US" sz="850" dirty="0">
                <a:solidFill>
                  <a:srgbClr val="C0C0C0"/>
                </a:solidFill>
                <a:latin typeface="Calibri" pitchFamily="34" charset="0"/>
                <a:ea typeface="Calibri" pitchFamily="34" charset="-122"/>
                <a:cs typeface="Calibri" pitchFamily="34" charset="-120"/>
              </a:rPr>
              <a:t>algo + mode + clé</a:t>
            </a:r>
            <a:endParaRPr lang="en-US" sz="850" dirty="0"/>
          </a:p>
        </p:txBody>
      </p:sp>
      <p:sp>
        <p:nvSpPr>
          <p:cNvPr id="11" name="Shape 9"/>
          <p:cNvSpPr/>
          <p:nvPr/>
        </p:nvSpPr>
        <p:spPr>
          <a:xfrm>
            <a:off x="475488" y="3072384"/>
            <a:ext cx="3474720" cy="0"/>
          </a:xfrm>
          <a:prstGeom prst="line">
            <a:avLst/>
          </a:prstGeom>
          <a:noFill/>
          <a:ln w="7620">
            <a:solidFill>
              <a:srgbClr val="F5F5F5"/>
            </a:solidFill>
            <a:prstDash val="solid"/>
          </a:ln>
        </p:spPr>
        <p:txBody>
          <a:bodyPr/>
          <a:lstStyle/>
          <a:p>
            <a:endParaRPr lang="en-CA"/>
          </a:p>
        </p:txBody>
      </p:sp>
      <p:sp>
        <p:nvSpPr>
          <p:cNvPr id="12" name="Text 10"/>
          <p:cNvSpPr/>
          <p:nvPr/>
        </p:nvSpPr>
        <p:spPr>
          <a:xfrm>
            <a:off x="475488" y="3200400"/>
            <a:ext cx="1280160" cy="731520"/>
          </a:xfrm>
          <a:prstGeom prst="rect">
            <a:avLst/>
          </a:prstGeom>
          <a:noFill/>
          <a:ln/>
        </p:spPr>
        <p:txBody>
          <a:bodyPr wrap="square" lIns="0" tIns="0" rIns="0" bIns="0" rtlCol="0" anchor="ctr"/>
          <a:lstStyle/>
          <a:p>
            <a:pPr marL="0" indent="0">
              <a:buNone/>
            </a:pPr>
            <a:r>
              <a:rPr lang="en-US" sz="5200" b="1" dirty="0">
                <a:solidFill>
                  <a:srgbClr val="C9A84C"/>
                </a:solidFill>
                <a:latin typeface="Calibri" pitchFamily="34" charset="0"/>
                <a:ea typeface="Calibri" pitchFamily="34" charset="-122"/>
                <a:cs typeface="Calibri" pitchFamily="34" charset="-120"/>
              </a:rPr>
              <a:t>155</a:t>
            </a:r>
            <a:endParaRPr lang="en-US" sz="5200" dirty="0"/>
          </a:p>
        </p:txBody>
      </p:sp>
      <p:sp>
        <p:nvSpPr>
          <p:cNvPr id="13" name="Text 11"/>
          <p:cNvSpPr/>
          <p:nvPr/>
        </p:nvSpPr>
        <p:spPr>
          <a:xfrm>
            <a:off x="1792224" y="3273552"/>
            <a:ext cx="2157984" cy="274320"/>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cas mesurés</a:t>
            </a:r>
            <a:endParaRPr lang="en-US" sz="1100" dirty="0"/>
          </a:p>
        </p:txBody>
      </p:sp>
      <p:sp>
        <p:nvSpPr>
          <p:cNvPr id="14" name="Text 12"/>
          <p:cNvSpPr/>
          <p:nvPr/>
        </p:nvSpPr>
        <p:spPr>
          <a:xfrm>
            <a:off x="1792224" y="3566160"/>
            <a:ext cx="2157984" cy="237744"/>
          </a:xfrm>
          <a:prstGeom prst="rect">
            <a:avLst/>
          </a:prstGeom>
          <a:noFill/>
          <a:ln/>
        </p:spPr>
        <p:txBody>
          <a:bodyPr wrap="square" lIns="0" tIns="0" rIns="0" bIns="0" rtlCol="0" anchor="t"/>
          <a:lstStyle/>
          <a:p>
            <a:pPr marL="0" indent="0">
              <a:buNone/>
            </a:pPr>
            <a:r>
              <a:rPr lang="en-US" sz="850" dirty="0">
                <a:solidFill>
                  <a:srgbClr val="C0C0C0"/>
                </a:solidFill>
                <a:latin typeface="Calibri" pitchFamily="34" charset="0"/>
                <a:ea typeface="Calibri" pitchFamily="34" charset="-122"/>
                <a:cs typeface="Calibri" pitchFamily="34" charset="-120"/>
              </a:rPr>
              <a:t>par plateforme</a:t>
            </a:r>
            <a:endParaRPr lang="en-US" sz="850" dirty="0"/>
          </a:p>
        </p:txBody>
      </p:sp>
      <p:sp>
        <p:nvSpPr>
          <p:cNvPr id="15" name="Shape 13"/>
          <p:cNvSpPr/>
          <p:nvPr/>
        </p:nvSpPr>
        <p:spPr>
          <a:xfrm>
            <a:off x="4096512" y="987551"/>
            <a:ext cx="64008" cy="3243959"/>
          </a:xfrm>
          <a:prstGeom prst="line">
            <a:avLst/>
          </a:prstGeom>
          <a:noFill/>
          <a:ln w="10160">
            <a:solidFill>
              <a:srgbClr val="EEEEEE"/>
            </a:solidFill>
            <a:prstDash val="solid"/>
          </a:ln>
        </p:spPr>
        <p:txBody>
          <a:bodyPr/>
          <a:lstStyle/>
          <a:p>
            <a:endParaRPr lang="en-CA"/>
          </a:p>
        </p:txBody>
      </p:sp>
      <p:sp>
        <p:nvSpPr>
          <p:cNvPr id="16" name="Text 14"/>
          <p:cNvSpPr/>
          <p:nvPr/>
        </p:nvSpPr>
        <p:spPr>
          <a:xfrm>
            <a:off x="4389120" y="896112"/>
            <a:ext cx="4389120" cy="182880"/>
          </a:xfrm>
          <a:prstGeom prst="rect">
            <a:avLst/>
          </a:prstGeom>
          <a:noFill/>
          <a:ln/>
        </p:spPr>
        <p:txBody>
          <a:bodyPr wrap="square" lIns="0" tIns="0" rIns="0" bIns="0" rtlCol="0" anchor="ctr"/>
          <a:lstStyle/>
          <a:p>
            <a:pPr marL="0" indent="0">
              <a:buNone/>
            </a:pPr>
            <a:r>
              <a:rPr lang="en-US" sz="750" b="1" kern="0" spc="150" dirty="0">
                <a:solidFill>
                  <a:srgbClr val="C9A84C"/>
                </a:solidFill>
                <a:latin typeface="Calibri" pitchFamily="34" charset="0"/>
                <a:ea typeface="Calibri" pitchFamily="34" charset="-122"/>
                <a:cs typeface="Calibri" pitchFamily="34" charset="-120"/>
              </a:rPr>
              <a:t>TAILLES DE MESSAGE</a:t>
            </a:r>
            <a:endParaRPr lang="en-US" sz="750" dirty="0"/>
          </a:p>
        </p:txBody>
      </p:sp>
      <p:sp>
        <p:nvSpPr>
          <p:cNvPr id="17" name="Shape 15"/>
          <p:cNvSpPr/>
          <p:nvPr/>
        </p:nvSpPr>
        <p:spPr>
          <a:xfrm>
            <a:off x="4389120" y="1133856"/>
            <a:ext cx="621792" cy="256032"/>
          </a:xfrm>
          <a:prstGeom prst="roundRect">
            <a:avLst>
              <a:gd name="adj" fmla="val 50000"/>
            </a:avLst>
          </a:prstGeom>
          <a:solidFill>
            <a:srgbClr val="F2F2F2"/>
          </a:solidFill>
          <a:ln w="12700">
            <a:solidFill>
              <a:srgbClr val="F2F2F2"/>
            </a:solidFill>
            <a:prstDash val="solid"/>
          </a:ln>
        </p:spPr>
        <p:txBody>
          <a:bodyPr/>
          <a:lstStyle/>
          <a:p>
            <a:endParaRPr lang="en-CA"/>
          </a:p>
        </p:txBody>
      </p:sp>
      <p:sp>
        <p:nvSpPr>
          <p:cNvPr id="18" name="Text 16"/>
          <p:cNvSpPr/>
          <p:nvPr/>
        </p:nvSpPr>
        <p:spPr>
          <a:xfrm>
            <a:off x="4389120" y="1133856"/>
            <a:ext cx="621792" cy="256032"/>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64 o</a:t>
            </a:r>
            <a:endParaRPr lang="en-US" sz="800" dirty="0"/>
          </a:p>
        </p:txBody>
      </p:sp>
      <p:sp>
        <p:nvSpPr>
          <p:cNvPr id="19" name="Shape 17"/>
          <p:cNvSpPr/>
          <p:nvPr/>
        </p:nvSpPr>
        <p:spPr>
          <a:xfrm>
            <a:off x="5084064" y="1133856"/>
            <a:ext cx="822960" cy="256032"/>
          </a:xfrm>
          <a:prstGeom prst="roundRect">
            <a:avLst>
              <a:gd name="adj" fmla="val 50000"/>
            </a:avLst>
          </a:prstGeom>
          <a:solidFill>
            <a:srgbClr val="F2F2F2"/>
          </a:solidFill>
          <a:ln w="12700">
            <a:solidFill>
              <a:srgbClr val="F2F2F2"/>
            </a:solidFill>
            <a:prstDash val="solid"/>
          </a:ln>
        </p:spPr>
        <p:txBody>
          <a:bodyPr/>
          <a:lstStyle/>
          <a:p>
            <a:endParaRPr lang="en-CA"/>
          </a:p>
        </p:txBody>
      </p:sp>
      <p:sp>
        <p:nvSpPr>
          <p:cNvPr id="20" name="Text 18"/>
          <p:cNvSpPr/>
          <p:nvPr/>
        </p:nvSpPr>
        <p:spPr>
          <a:xfrm>
            <a:off x="5084064" y="1133856"/>
            <a:ext cx="822960" cy="256032"/>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256 o</a:t>
            </a:r>
            <a:endParaRPr lang="en-US" sz="800" dirty="0"/>
          </a:p>
        </p:txBody>
      </p:sp>
      <p:sp>
        <p:nvSpPr>
          <p:cNvPr id="21" name="Shape 19"/>
          <p:cNvSpPr/>
          <p:nvPr/>
        </p:nvSpPr>
        <p:spPr>
          <a:xfrm>
            <a:off x="5980176" y="1133856"/>
            <a:ext cx="822960" cy="256032"/>
          </a:xfrm>
          <a:prstGeom prst="roundRect">
            <a:avLst>
              <a:gd name="adj" fmla="val 50000"/>
            </a:avLst>
          </a:prstGeom>
          <a:solidFill>
            <a:srgbClr val="F2F2F2"/>
          </a:solidFill>
          <a:ln w="12700">
            <a:solidFill>
              <a:srgbClr val="F2F2F2"/>
            </a:solidFill>
            <a:prstDash val="solid"/>
          </a:ln>
        </p:spPr>
        <p:txBody>
          <a:bodyPr/>
          <a:lstStyle/>
          <a:p>
            <a:endParaRPr lang="en-CA"/>
          </a:p>
        </p:txBody>
      </p:sp>
      <p:sp>
        <p:nvSpPr>
          <p:cNvPr id="22" name="Text 20"/>
          <p:cNvSpPr/>
          <p:nvPr/>
        </p:nvSpPr>
        <p:spPr>
          <a:xfrm>
            <a:off x="5980176" y="1133856"/>
            <a:ext cx="822960" cy="256032"/>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1 024 o</a:t>
            </a:r>
            <a:endParaRPr lang="en-US" sz="800" dirty="0"/>
          </a:p>
        </p:txBody>
      </p:sp>
      <p:sp>
        <p:nvSpPr>
          <p:cNvPr id="23" name="Shape 21"/>
          <p:cNvSpPr/>
          <p:nvPr/>
        </p:nvSpPr>
        <p:spPr>
          <a:xfrm>
            <a:off x="6876288" y="1133856"/>
            <a:ext cx="822960" cy="256032"/>
          </a:xfrm>
          <a:prstGeom prst="roundRect">
            <a:avLst>
              <a:gd name="adj" fmla="val 50000"/>
            </a:avLst>
          </a:prstGeom>
          <a:solidFill>
            <a:srgbClr val="F2F2F2"/>
          </a:solidFill>
          <a:ln w="12700">
            <a:solidFill>
              <a:srgbClr val="F2F2F2"/>
            </a:solidFill>
            <a:prstDash val="solid"/>
          </a:ln>
        </p:spPr>
        <p:txBody>
          <a:bodyPr/>
          <a:lstStyle/>
          <a:p>
            <a:endParaRPr lang="en-CA"/>
          </a:p>
        </p:txBody>
      </p:sp>
      <p:sp>
        <p:nvSpPr>
          <p:cNvPr id="24" name="Text 22"/>
          <p:cNvSpPr/>
          <p:nvPr/>
        </p:nvSpPr>
        <p:spPr>
          <a:xfrm>
            <a:off x="6876288" y="1133856"/>
            <a:ext cx="822960" cy="256032"/>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4 096 o</a:t>
            </a:r>
            <a:endParaRPr lang="en-US" sz="800" dirty="0"/>
          </a:p>
        </p:txBody>
      </p:sp>
      <p:sp>
        <p:nvSpPr>
          <p:cNvPr id="25" name="Shape 23"/>
          <p:cNvSpPr/>
          <p:nvPr/>
        </p:nvSpPr>
        <p:spPr>
          <a:xfrm>
            <a:off x="7772400" y="1133856"/>
            <a:ext cx="822960" cy="256032"/>
          </a:xfrm>
          <a:prstGeom prst="roundRect">
            <a:avLst>
              <a:gd name="adj" fmla="val 50000"/>
            </a:avLst>
          </a:prstGeom>
          <a:solidFill>
            <a:srgbClr val="F2F2F2"/>
          </a:solidFill>
          <a:ln w="12700">
            <a:solidFill>
              <a:srgbClr val="F2F2F2"/>
            </a:solidFill>
            <a:prstDash val="solid"/>
          </a:ln>
        </p:spPr>
        <p:txBody>
          <a:bodyPr/>
          <a:lstStyle/>
          <a:p>
            <a:endParaRPr lang="en-CA"/>
          </a:p>
        </p:txBody>
      </p:sp>
      <p:sp>
        <p:nvSpPr>
          <p:cNvPr id="26" name="Text 24"/>
          <p:cNvSpPr/>
          <p:nvPr/>
        </p:nvSpPr>
        <p:spPr>
          <a:xfrm>
            <a:off x="7772400" y="1133856"/>
            <a:ext cx="822960" cy="256032"/>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16 384 o</a:t>
            </a:r>
            <a:endParaRPr lang="en-US" sz="800" dirty="0"/>
          </a:p>
        </p:txBody>
      </p:sp>
      <p:sp>
        <p:nvSpPr>
          <p:cNvPr id="27" name="Shape 25"/>
          <p:cNvSpPr/>
          <p:nvPr/>
        </p:nvSpPr>
        <p:spPr>
          <a:xfrm>
            <a:off x="4389120" y="1517904"/>
            <a:ext cx="4389120" cy="0"/>
          </a:xfrm>
          <a:prstGeom prst="line">
            <a:avLst/>
          </a:prstGeom>
          <a:noFill/>
          <a:ln w="7620">
            <a:solidFill>
              <a:srgbClr val="F5F5F5"/>
            </a:solidFill>
            <a:prstDash val="solid"/>
          </a:ln>
        </p:spPr>
        <p:txBody>
          <a:bodyPr/>
          <a:lstStyle/>
          <a:p>
            <a:endParaRPr lang="en-CA"/>
          </a:p>
        </p:txBody>
      </p:sp>
      <p:sp>
        <p:nvSpPr>
          <p:cNvPr id="28" name="Text 26"/>
          <p:cNvSpPr/>
          <p:nvPr/>
        </p:nvSpPr>
        <p:spPr>
          <a:xfrm>
            <a:off x="4389120" y="1645920"/>
            <a:ext cx="4389120" cy="182880"/>
          </a:xfrm>
          <a:prstGeom prst="rect">
            <a:avLst/>
          </a:prstGeom>
          <a:noFill/>
          <a:ln/>
        </p:spPr>
        <p:txBody>
          <a:bodyPr wrap="square" lIns="0" tIns="0" rIns="0" bIns="0" rtlCol="0" anchor="ctr"/>
          <a:lstStyle/>
          <a:p>
            <a:pPr marL="0" indent="0">
              <a:buNone/>
            </a:pPr>
            <a:r>
              <a:rPr lang="en-US" sz="750" b="1" kern="0" spc="150" dirty="0">
                <a:solidFill>
                  <a:srgbClr val="C9A84C"/>
                </a:solidFill>
                <a:latin typeface="Calibri" pitchFamily="34" charset="0"/>
                <a:ea typeface="Calibri" pitchFamily="34" charset="-122"/>
                <a:cs typeface="Calibri" pitchFamily="34" charset="-120"/>
              </a:rPr>
              <a:t>CALCUL</a:t>
            </a:r>
            <a:endParaRPr lang="en-US" sz="750" dirty="0"/>
          </a:p>
        </p:txBody>
      </p:sp>
      <p:sp>
        <p:nvSpPr>
          <p:cNvPr id="29" name="Text 27"/>
          <p:cNvSpPr/>
          <p:nvPr/>
        </p:nvSpPr>
        <p:spPr>
          <a:xfrm>
            <a:off x="4334257" y="1975539"/>
            <a:ext cx="658368" cy="438912"/>
          </a:xfrm>
          <a:prstGeom prst="rect">
            <a:avLst/>
          </a:prstGeom>
          <a:noFill/>
          <a:ln/>
        </p:spPr>
        <p:txBody>
          <a:bodyPr wrap="square" lIns="0" tIns="0" rIns="0" bIns="0" rtlCol="0" anchor="ctr"/>
          <a:lstStyle/>
          <a:p>
            <a:pPr marL="0" indent="0" algn="ctr">
              <a:buNone/>
            </a:pPr>
            <a:r>
              <a:rPr lang="en-US" sz="2200" b="1" dirty="0">
                <a:solidFill>
                  <a:srgbClr val="0A0A0A"/>
                </a:solidFill>
                <a:latin typeface="Calibri" pitchFamily="34" charset="0"/>
                <a:ea typeface="Calibri" pitchFamily="34" charset="-122"/>
                <a:cs typeface="Calibri" pitchFamily="34" charset="-120"/>
              </a:rPr>
              <a:t>31</a:t>
            </a:r>
            <a:endParaRPr lang="en-US" sz="2200" dirty="0"/>
          </a:p>
        </p:txBody>
      </p:sp>
      <p:sp>
        <p:nvSpPr>
          <p:cNvPr id="30" name="Text 28"/>
          <p:cNvSpPr/>
          <p:nvPr/>
        </p:nvSpPr>
        <p:spPr>
          <a:xfrm>
            <a:off x="5577841" y="1975539"/>
            <a:ext cx="274320" cy="438912"/>
          </a:xfrm>
          <a:prstGeom prst="rect">
            <a:avLst/>
          </a:prstGeom>
          <a:noFill/>
          <a:ln/>
        </p:spPr>
        <p:txBody>
          <a:bodyPr wrap="square" lIns="0" tIns="0" rIns="0" bIns="0" rtlCol="0" anchor="ctr"/>
          <a:lstStyle/>
          <a:p>
            <a:pPr marL="0" indent="0" algn="ctr">
              <a:buNone/>
            </a:pPr>
            <a:r>
              <a:rPr lang="en-US" sz="1600" dirty="0">
                <a:solidFill>
                  <a:srgbClr val="DDDDDD"/>
                </a:solidFill>
                <a:latin typeface="Calibri" pitchFamily="34" charset="0"/>
                <a:ea typeface="Calibri" pitchFamily="34" charset="-122"/>
                <a:cs typeface="Calibri" pitchFamily="34" charset="-120"/>
              </a:rPr>
              <a:t>×</a:t>
            </a:r>
            <a:endParaRPr lang="en-US" sz="1600" dirty="0"/>
          </a:p>
        </p:txBody>
      </p:sp>
      <p:sp>
        <p:nvSpPr>
          <p:cNvPr id="31" name="Text 29"/>
          <p:cNvSpPr/>
          <p:nvPr/>
        </p:nvSpPr>
        <p:spPr>
          <a:xfrm>
            <a:off x="5689092" y="1973798"/>
            <a:ext cx="658368" cy="438912"/>
          </a:xfrm>
          <a:prstGeom prst="rect">
            <a:avLst/>
          </a:prstGeom>
          <a:noFill/>
          <a:ln/>
        </p:spPr>
        <p:txBody>
          <a:bodyPr wrap="square" lIns="0" tIns="0" rIns="0" bIns="0" rtlCol="0" anchor="ctr"/>
          <a:lstStyle/>
          <a:p>
            <a:pPr marL="0" indent="0" algn="ctr">
              <a:buNone/>
            </a:pPr>
            <a:r>
              <a:rPr lang="en-US" sz="2200" b="1" dirty="0">
                <a:solidFill>
                  <a:srgbClr val="0A0A0A"/>
                </a:solidFill>
                <a:latin typeface="Calibri" pitchFamily="34" charset="0"/>
                <a:ea typeface="Calibri" pitchFamily="34" charset="-122"/>
                <a:cs typeface="Calibri" pitchFamily="34" charset="-120"/>
              </a:rPr>
              <a:t>5</a:t>
            </a:r>
            <a:endParaRPr lang="en-US" sz="2200" dirty="0"/>
          </a:p>
        </p:txBody>
      </p:sp>
      <p:sp>
        <p:nvSpPr>
          <p:cNvPr id="32" name="Text 30"/>
          <p:cNvSpPr/>
          <p:nvPr/>
        </p:nvSpPr>
        <p:spPr>
          <a:xfrm>
            <a:off x="6576060" y="1973798"/>
            <a:ext cx="274320" cy="438912"/>
          </a:xfrm>
          <a:prstGeom prst="rect">
            <a:avLst/>
          </a:prstGeom>
          <a:noFill/>
          <a:ln/>
        </p:spPr>
        <p:txBody>
          <a:bodyPr wrap="square" lIns="0" tIns="0" rIns="0" bIns="0" rtlCol="0" anchor="ctr"/>
          <a:lstStyle/>
          <a:p>
            <a:pPr marL="0" indent="0" algn="ctr">
              <a:buNone/>
            </a:pPr>
            <a:r>
              <a:rPr lang="en-US" sz="1600" dirty="0">
                <a:solidFill>
                  <a:srgbClr val="DDDDDD"/>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6768592" y="1966395"/>
            <a:ext cx="658368" cy="438912"/>
          </a:xfrm>
          <a:prstGeom prst="rect">
            <a:avLst/>
          </a:prstGeom>
          <a:noFill/>
          <a:ln/>
        </p:spPr>
        <p:txBody>
          <a:bodyPr wrap="square" lIns="0" tIns="0" rIns="0" bIns="0" rtlCol="0" anchor="ctr"/>
          <a:lstStyle/>
          <a:p>
            <a:pPr marL="0" indent="0" algn="ctr">
              <a:buNone/>
            </a:pPr>
            <a:r>
              <a:rPr lang="en-US" sz="2200" b="1" dirty="0">
                <a:solidFill>
                  <a:srgbClr val="C9A84C"/>
                </a:solidFill>
                <a:latin typeface="Calibri" pitchFamily="34" charset="0"/>
                <a:ea typeface="Calibri" pitchFamily="34" charset="-122"/>
                <a:cs typeface="Calibri" pitchFamily="34" charset="-120"/>
              </a:rPr>
              <a:t>155</a:t>
            </a:r>
            <a:endParaRPr lang="en-US" sz="2200" dirty="0"/>
          </a:p>
        </p:txBody>
      </p:sp>
      <p:sp>
        <p:nvSpPr>
          <p:cNvPr id="34" name="Text 32"/>
          <p:cNvSpPr/>
          <p:nvPr/>
        </p:nvSpPr>
        <p:spPr>
          <a:xfrm>
            <a:off x="6171548" y="2107329"/>
            <a:ext cx="1280160" cy="256032"/>
          </a:xfrm>
          <a:prstGeom prst="rect">
            <a:avLst/>
          </a:prstGeom>
          <a:noFill/>
          <a:ln/>
        </p:spPr>
        <p:txBody>
          <a:bodyPr wrap="square" lIns="0" tIns="0" rIns="0" bIns="0" rtlCol="0" anchor="ctr"/>
          <a:lstStyle/>
          <a:p>
            <a:pPr marL="0" indent="0">
              <a:buNone/>
            </a:pPr>
            <a:r>
              <a:rPr lang="en-US" sz="850" dirty="0">
                <a:solidFill>
                  <a:srgbClr val="C0C0C0"/>
                </a:solidFill>
                <a:latin typeface="Calibri" pitchFamily="34" charset="0"/>
                <a:ea typeface="Calibri" pitchFamily="34" charset="-122"/>
                <a:cs typeface="Calibri" pitchFamily="34" charset="-120"/>
              </a:rPr>
              <a:t>tailles</a:t>
            </a:r>
            <a:endParaRPr lang="en-US" sz="850" dirty="0"/>
          </a:p>
        </p:txBody>
      </p:sp>
      <p:sp>
        <p:nvSpPr>
          <p:cNvPr id="35" name="Shape 33"/>
          <p:cNvSpPr/>
          <p:nvPr/>
        </p:nvSpPr>
        <p:spPr>
          <a:xfrm>
            <a:off x="4315968" y="3108960"/>
            <a:ext cx="4389120" cy="0"/>
          </a:xfrm>
          <a:prstGeom prst="line">
            <a:avLst/>
          </a:prstGeom>
          <a:noFill/>
          <a:ln w="7620">
            <a:solidFill>
              <a:srgbClr val="F5F5F5"/>
            </a:solidFill>
            <a:prstDash val="solid"/>
          </a:ln>
        </p:spPr>
        <p:txBody>
          <a:bodyPr/>
          <a:lstStyle/>
          <a:p>
            <a:endParaRPr lang="en-CA"/>
          </a:p>
        </p:txBody>
      </p:sp>
      <p:sp>
        <p:nvSpPr>
          <p:cNvPr id="36" name="Text 34"/>
          <p:cNvSpPr/>
          <p:nvPr/>
        </p:nvSpPr>
        <p:spPr>
          <a:xfrm>
            <a:off x="4315968" y="3236976"/>
            <a:ext cx="4389120" cy="182880"/>
          </a:xfrm>
          <a:prstGeom prst="rect">
            <a:avLst/>
          </a:prstGeom>
          <a:noFill/>
          <a:ln/>
        </p:spPr>
        <p:txBody>
          <a:bodyPr wrap="square" lIns="0" tIns="0" rIns="0" bIns="0" rtlCol="0" anchor="ctr"/>
          <a:lstStyle/>
          <a:p>
            <a:pPr marL="0" indent="0">
              <a:buNone/>
            </a:pPr>
            <a:r>
              <a:rPr lang="en-US" sz="750" b="1" kern="0" spc="150" dirty="0">
                <a:solidFill>
                  <a:srgbClr val="C9A84C"/>
                </a:solidFill>
                <a:latin typeface="Calibri" pitchFamily="34" charset="0"/>
                <a:ea typeface="Calibri" pitchFamily="34" charset="-122"/>
                <a:cs typeface="Calibri" pitchFamily="34" charset="-120"/>
              </a:rPr>
              <a:t>REPRODUCTIBILITÉ</a:t>
            </a:r>
            <a:endParaRPr lang="en-US" sz="750" dirty="0"/>
          </a:p>
        </p:txBody>
      </p:sp>
      <p:sp>
        <p:nvSpPr>
          <p:cNvPr id="38" name="Text 36"/>
          <p:cNvSpPr/>
          <p:nvPr/>
        </p:nvSpPr>
        <p:spPr>
          <a:xfrm>
            <a:off x="4462272" y="3441746"/>
            <a:ext cx="4242816" cy="274320"/>
          </a:xfrm>
          <a:prstGeom prst="rect">
            <a:avLst/>
          </a:prstGeom>
          <a:noFill/>
          <a:ln/>
        </p:spPr>
        <p:txBody>
          <a:bodyPr wrap="square" lIns="0" tIns="0" rIns="0" bIns="0" rtlCol="0" anchor="ctr"/>
          <a:lstStyle/>
          <a:p>
            <a:pPr marL="0" indent="0">
              <a:buNone/>
            </a:pPr>
            <a:r>
              <a:rPr lang="en-US" sz="950" dirty="0">
                <a:solidFill>
                  <a:srgbClr val="555555"/>
                </a:solidFill>
                <a:latin typeface="Calibri" pitchFamily="34" charset="0"/>
                <a:ea typeface="Calibri" pitchFamily="34" charset="-122"/>
                <a:cs typeface="Calibri" pitchFamily="34" charset="-120"/>
              </a:rPr>
              <a:t>Protocole identique sur x86 et ARM</a:t>
            </a:r>
            <a:endParaRPr lang="en-US" sz="950" dirty="0"/>
          </a:p>
        </p:txBody>
      </p:sp>
      <p:sp>
        <p:nvSpPr>
          <p:cNvPr id="40" name="Text 38"/>
          <p:cNvSpPr/>
          <p:nvPr/>
        </p:nvSpPr>
        <p:spPr>
          <a:xfrm>
            <a:off x="4464304" y="3718228"/>
            <a:ext cx="4242816" cy="274320"/>
          </a:xfrm>
          <a:prstGeom prst="rect">
            <a:avLst/>
          </a:prstGeom>
          <a:noFill/>
          <a:ln/>
        </p:spPr>
        <p:txBody>
          <a:bodyPr wrap="square" lIns="0" tIns="0" rIns="0" bIns="0" rtlCol="0" anchor="ctr"/>
          <a:lstStyle/>
          <a:p>
            <a:pPr marL="0" indent="0">
              <a:buNone/>
            </a:pPr>
            <a:r>
              <a:rPr lang="en-US" sz="950" dirty="0">
                <a:solidFill>
                  <a:srgbClr val="555555"/>
                </a:solidFill>
                <a:latin typeface="Calibri" pitchFamily="34" charset="0"/>
                <a:ea typeface="Calibri" pitchFamily="34" charset="-122"/>
                <a:cs typeface="Calibri" pitchFamily="34" charset="-120"/>
              </a:rPr>
              <a:t>Export CSV horodaté</a:t>
            </a:r>
            <a:endParaRPr lang="en-US" sz="950" dirty="0"/>
          </a:p>
        </p:txBody>
      </p:sp>
      <p:sp>
        <p:nvSpPr>
          <p:cNvPr id="41" name="Text 39"/>
          <p:cNvSpPr/>
          <p:nvPr/>
        </p:nvSpPr>
        <p:spPr>
          <a:xfrm>
            <a:off x="475488" y="4370832"/>
            <a:ext cx="8229600" cy="219456"/>
          </a:xfrm>
          <a:prstGeom prst="rect">
            <a:avLst/>
          </a:prstGeom>
          <a:noFill/>
          <a:ln/>
        </p:spPr>
        <p:txBody>
          <a:bodyPr wrap="square" lIns="0" tIns="0" rIns="0" bIns="0" rtlCol="0" anchor="ctr"/>
          <a:lstStyle/>
          <a:p>
            <a:pPr marL="0" indent="0" algn="ctr">
              <a:buNone/>
            </a:pPr>
            <a:r>
              <a:rPr lang="en-US" sz="850" i="1" dirty="0">
                <a:solidFill>
                  <a:srgbClr val="C0C0C0"/>
                </a:solidFill>
                <a:latin typeface="Calibri" pitchFamily="34" charset="0"/>
                <a:ea typeface="Calibri" pitchFamily="34" charset="-122"/>
                <a:cs typeface="Calibri" pitchFamily="34" charset="-120"/>
              </a:rPr>
              <a:t>Un </a:t>
            </a:r>
            <a:r>
              <a:rPr lang="en-US" sz="850" i="1" dirty="0" err="1">
                <a:solidFill>
                  <a:srgbClr val="C0C0C0"/>
                </a:solidFill>
                <a:latin typeface="Calibri" pitchFamily="34" charset="0"/>
                <a:ea typeface="Calibri" pitchFamily="34" charset="-122"/>
                <a:cs typeface="Calibri" pitchFamily="34" charset="-120"/>
              </a:rPr>
              <a:t>protocole</a:t>
            </a:r>
            <a:r>
              <a:rPr lang="en-US" sz="850" i="1" dirty="0">
                <a:solidFill>
                  <a:srgbClr val="C0C0C0"/>
                </a:solidFill>
                <a:latin typeface="Calibri" pitchFamily="34" charset="0"/>
                <a:ea typeface="Calibri" pitchFamily="34" charset="-122"/>
                <a:cs typeface="Calibri" pitchFamily="34" charset="-120"/>
              </a:rPr>
              <a:t> unique, 155 mesures par machine — </a:t>
            </a:r>
            <a:r>
              <a:rPr lang="fr-FR" sz="850" i="1" dirty="0">
                <a:solidFill>
                  <a:srgbClr val="C0C0C0"/>
                </a:solidFill>
                <a:latin typeface="Calibri" pitchFamily="34" charset="0"/>
                <a:ea typeface="Calibri" pitchFamily="34" charset="-122"/>
                <a:cs typeface="Calibri" pitchFamily="34" charset="-120"/>
              </a:rPr>
              <a:t>toute différence observée est principalement attribuable à la plateforme, plutôt qu’à la méthode</a:t>
            </a:r>
            <a:r>
              <a:rPr lang="en-US" sz="850" i="1" dirty="0">
                <a:solidFill>
                  <a:srgbClr val="C0C0C0"/>
                </a:solidFill>
                <a:latin typeface="Calibri" pitchFamily="34" charset="0"/>
                <a:ea typeface="Calibri" pitchFamily="34" charset="-122"/>
                <a:cs typeface="Calibri" pitchFamily="34" charset="-120"/>
              </a:rPr>
              <a:t>.</a:t>
            </a:r>
            <a:endParaRPr lang="en-US" sz="850" dirty="0"/>
          </a:p>
        </p:txBody>
      </p:sp>
      <p:sp>
        <p:nvSpPr>
          <p:cNvPr id="42" name="Text 40"/>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44" name="Text 32">
            <a:extLst>
              <a:ext uri="{FF2B5EF4-FFF2-40B4-BE49-F238E27FC236}">
                <a16:creationId xmlns:a16="http://schemas.microsoft.com/office/drawing/2014/main" id="{0782AF05-AF6C-B52C-C3C9-085F8667AA21}"/>
              </a:ext>
            </a:extLst>
          </p:cNvPr>
          <p:cNvSpPr/>
          <p:nvPr/>
        </p:nvSpPr>
        <p:spPr>
          <a:xfrm>
            <a:off x="7426960" y="2106168"/>
            <a:ext cx="1280160" cy="256032"/>
          </a:xfrm>
          <a:prstGeom prst="rect">
            <a:avLst/>
          </a:prstGeom>
          <a:noFill/>
          <a:ln/>
        </p:spPr>
        <p:txBody>
          <a:bodyPr wrap="square" lIns="0" tIns="0" rIns="0" bIns="0" rtlCol="0" anchor="ctr"/>
          <a:lstStyle/>
          <a:p>
            <a:pPr marL="0" indent="0">
              <a:buNone/>
            </a:pPr>
            <a:r>
              <a:rPr lang="en-US" sz="850" dirty="0">
                <a:solidFill>
                  <a:srgbClr val="C0C0C0"/>
                </a:solidFill>
                <a:latin typeface="Calibri" pitchFamily="34" charset="0"/>
                <a:ea typeface="Calibri" pitchFamily="34" charset="-122"/>
                <a:cs typeface="Calibri" pitchFamily="34" charset="-120"/>
              </a:rPr>
              <a:t>cas / plateforme</a:t>
            </a:r>
            <a:endParaRPr lang="en-US" sz="850" dirty="0"/>
          </a:p>
        </p:txBody>
      </p:sp>
      <p:sp>
        <p:nvSpPr>
          <p:cNvPr id="46" name="Text 32">
            <a:extLst>
              <a:ext uri="{FF2B5EF4-FFF2-40B4-BE49-F238E27FC236}">
                <a16:creationId xmlns:a16="http://schemas.microsoft.com/office/drawing/2014/main" id="{5A36000A-3AE0-0AF2-811E-0DF461BEBEB5}"/>
              </a:ext>
            </a:extLst>
          </p:cNvPr>
          <p:cNvSpPr/>
          <p:nvPr/>
        </p:nvSpPr>
        <p:spPr>
          <a:xfrm>
            <a:off x="4859166" y="2106168"/>
            <a:ext cx="1280160" cy="256032"/>
          </a:xfrm>
          <a:prstGeom prst="rect">
            <a:avLst/>
          </a:prstGeom>
          <a:noFill/>
          <a:ln/>
        </p:spPr>
        <p:txBody>
          <a:bodyPr wrap="square" lIns="0" tIns="0" rIns="0" bIns="0" rtlCol="0" anchor="ctr"/>
          <a:lstStyle/>
          <a:p>
            <a:pPr marL="0" indent="0">
              <a:buNone/>
            </a:pPr>
            <a:r>
              <a:rPr lang="en-US" sz="850" dirty="0">
                <a:solidFill>
                  <a:srgbClr val="C0C0C0"/>
                </a:solidFill>
                <a:latin typeface="Calibri" pitchFamily="34" charset="0"/>
                <a:ea typeface="Calibri" pitchFamily="34" charset="-122"/>
                <a:cs typeface="Calibri" pitchFamily="34" charset="-120"/>
              </a:rPr>
              <a:t>combinaisons</a:t>
            </a:r>
            <a:endParaRPr lang="en-US" sz="850" dirty="0"/>
          </a:p>
        </p:txBody>
      </p:sp>
      <p:sp>
        <p:nvSpPr>
          <p:cNvPr id="48" name="TextBox 47">
            <a:extLst>
              <a:ext uri="{FF2B5EF4-FFF2-40B4-BE49-F238E27FC236}">
                <a16:creationId xmlns:a16="http://schemas.microsoft.com/office/drawing/2014/main" id="{D9434E3E-0750-B2B0-59AD-1EA661319032}"/>
              </a:ext>
            </a:extLst>
          </p:cNvPr>
          <p:cNvSpPr txBox="1"/>
          <p:nvPr/>
        </p:nvSpPr>
        <p:spPr>
          <a:xfrm>
            <a:off x="4242817" y="2535847"/>
            <a:ext cx="4572000" cy="369332"/>
          </a:xfrm>
          <a:prstGeom prst="rect">
            <a:avLst/>
          </a:prstGeom>
          <a:noFill/>
        </p:spPr>
        <p:txBody>
          <a:bodyPr wrap="square">
            <a:spAutoFit/>
          </a:bodyPr>
          <a:lstStyle/>
          <a:p>
            <a:pPr algn="ctr">
              <a:buNone/>
            </a:pPr>
            <a:r>
              <a:rPr lang="en-CA" sz="900" i="1" dirty="0">
                <a:solidFill>
                  <a:schemeClr val="bg2">
                    <a:lumMod val="75000"/>
                  </a:schemeClr>
                </a:solidFill>
                <a:latin typeface="Calibri" pitchFamily="34" charset="0"/>
                <a:cs typeface="Calibri" pitchFamily="34" charset="-120"/>
              </a:rPr>
              <a:t>155 cas × n=100 répétitions garantissent la stabilité statistique des moyennes et la comparabilité inter-plateforme</a:t>
            </a:r>
          </a:p>
        </p:txBody>
      </p:sp>
      <p:sp>
        <p:nvSpPr>
          <p:cNvPr id="50" name="Shape 20">
            <a:extLst>
              <a:ext uri="{FF2B5EF4-FFF2-40B4-BE49-F238E27FC236}">
                <a16:creationId xmlns:a16="http://schemas.microsoft.com/office/drawing/2014/main" id="{0C72CA31-D038-B3A4-DBD2-3C8432EA5427}"/>
              </a:ext>
            </a:extLst>
          </p:cNvPr>
          <p:cNvSpPr/>
          <p:nvPr/>
        </p:nvSpPr>
        <p:spPr>
          <a:xfrm>
            <a:off x="4315968" y="3555356"/>
            <a:ext cx="45719" cy="49530"/>
          </a:xfrm>
          <a:prstGeom prst="ellipse">
            <a:avLst/>
          </a:prstGeom>
          <a:solidFill>
            <a:srgbClr val="C9A84C"/>
          </a:solidFill>
          <a:ln w="12700">
            <a:solidFill>
              <a:srgbClr val="C9A84C"/>
            </a:solidFill>
            <a:prstDash val="solid"/>
          </a:ln>
        </p:spPr>
        <p:txBody>
          <a:bodyPr/>
          <a:lstStyle/>
          <a:p>
            <a:endParaRPr lang="en-CA"/>
          </a:p>
        </p:txBody>
      </p:sp>
      <p:sp>
        <p:nvSpPr>
          <p:cNvPr id="52" name="Shape 20">
            <a:extLst>
              <a:ext uri="{FF2B5EF4-FFF2-40B4-BE49-F238E27FC236}">
                <a16:creationId xmlns:a16="http://schemas.microsoft.com/office/drawing/2014/main" id="{5ED29A6D-0B93-B1CC-10D8-38726437C1EC}"/>
              </a:ext>
            </a:extLst>
          </p:cNvPr>
          <p:cNvSpPr/>
          <p:nvPr/>
        </p:nvSpPr>
        <p:spPr>
          <a:xfrm>
            <a:off x="4315968" y="3831128"/>
            <a:ext cx="45719" cy="49530"/>
          </a:xfrm>
          <a:prstGeom prst="ellipse">
            <a:avLst/>
          </a:prstGeom>
          <a:solidFill>
            <a:srgbClr val="C9A84C"/>
          </a:solidFill>
          <a:ln w="12700">
            <a:solidFill>
              <a:srgbClr val="C9A84C"/>
            </a:solidFill>
            <a:prstDash val="solid"/>
          </a:ln>
        </p:spPr>
        <p:txBody>
          <a:bodyPr/>
          <a:lstStyle/>
          <a:p>
            <a:endParaRPr lang="en-CA"/>
          </a:p>
        </p:txBody>
      </p:sp>
      <p:sp>
        <p:nvSpPr>
          <p:cNvPr id="39" name="Shape 20">
            <a:extLst>
              <a:ext uri="{FF2B5EF4-FFF2-40B4-BE49-F238E27FC236}">
                <a16:creationId xmlns:a16="http://schemas.microsoft.com/office/drawing/2014/main" id="{34FBD6C2-39C9-DAD5-53F0-B74C6472BE05}"/>
              </a:ext>
            </a:extLst>
          </p:cNvPr>
          <p:cNvSpPr/>
          <p:nvPr/>
        </p:nvSpPr>
        <p:spPr>
          <a:xfrm>
            <a:off x="4315968" y="4106900"/>
            <a:ext cx="45719" cy="49530"/>
          </a:xfrm>
          <a:prstGeom prst="ellipse">
            <a:avLst/>
          </a:prstGeom>
          <a:solidFill>
            <a:srgbClr val="C9A84C"/>
          </a:solidFill>
          <a:ln w="12700">
            <a:solidFill>
              <a:srgbClr val="C9A84C"/>
            </a:solidFill>
            <a:prstDash val="solid"/>
          </a:ln>
        </p:spPr>
        <p:txBody>
          <a:bodyPr/>
          <a:lstStyle/>
          <a:p>
            <a:endParaRPr lang="en-CA"/>
          </a:p>
        </p:txBody>
      </p:sp>
      <p:sp>
        <p:nvSpPr>
          <p:cNvPr id="45" name="Text 38">
            <a:extLst>
              <a:ext uri="{FF2B5EF4-FFF2-40B4-BE49-F238E27FC236}">
                <a16:creationId xmlns:a16="http://schemas.microsoft.com/office/drawing/2014/main" id="{7407E0B9-048A-D59F-0968-AB590461FCCB}"/>
              </a:ext>
            </a:extLst>
          </p:cNvPr>
          <p:cNvSpPr/>
          <p:nvPr/>
        </p:nvSpPr>
        <p:spPr>
          <a:xfrm>
            <a:off x="4454652" y="4002924"/>
            <a:ext cx="4242816" cy="274320"/>
          </a:xfrm>
          <a:prstGeom prst="rect">
            <a:avLst/>
          </a:prstGeom>
          <a:noFill/>
          <a:ln/>
        </p:spPr>
        <p:txBody>
          <a:bodyPr wrap="square" lIns="0" tIns="0" rIns="0" bIns="0" rtlCol="0" anchor="ctr"/>
          <a:lstStyle/>
          <a:p>
            <a:pPr marL="0" indent="0">
              <a:buNone/>
            </a:pPr>
            <a:r>
              <a:rPr lang="fr-FR" sz="950" dirty="0">
                <a:solidFill>
                  <a:srgbClr val="555555"/>
                </a:solidFill>
                <a:latin typeface="Calibri" pitchFamily="34" charset="0"/>
                <a:ea typeface="Calibri" pitchFamily="34" charset="-122"/>
                <a:cs typeface="Calibri" pitchFamily="34" charset="-120"/>
              </a:rPr>
              <a:t>Validation KAT réalisée avant interprétation des mesures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5488" y="182880"/>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02c  ·  PROTOCOLE EXPÉRIMENTAL ET ENVIRONNEMENT</a:t>
            </a:r>
            <a:endParaRPr lang="en-US" sz="800" dirty="0"/>
          </a:p>
        </p:txBody>
      </p:sp>
      <p:sp>
        <p:nvSpPr>
          <p:cNvPr id="3" name="Text 1"/>
          <p:cNvSpPr/>
          <p:nvPr/>
        </p:nvSpPr>
        <p:spPr>
          <a:xfrm>
            <a:off x="475488" y="365760"/>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Matrice </a:t>
            </a:r>
            <a:r>
              <a:rPr lang="en-US" sz="1500" b="1" dirty="0">
                <a:solidFill>
                  <a:srgbClr val="C9A84C"/>
                </a:solidFill>
                <a:latin typeface="Calibri" pitchFamily="34" charset="0"/>
                <a:ea typeface="Calibri" pitchFamily="34" charset="-122"/>
                <a:cs typeface="Calibri" pitchFamily="34" charset="-120"/>
              </a:rPr>
              <a:t>algo × mode × clé</a:t>
            </a:r>
            <a:endParaRPr lang="en-US" sz="1500" dirty="0"/>
          </a:p>
        </p:txBody>
      </p:sp>
      <p:sp>
        <p:nvSpPr>
          <p:cNvPr id="4" name="Text 2"/>
          <p:cNvSpPr/>
          <p:nvPr/>
        </p:nvSpPr>
        <p:spPr>
          <a:xfrm>
            <a:off x="1810512" y="694944"/>
            <a:ext cx="1060704" cy="219456"/>
          </a:xfrm>
          <a:prstGeom prst="rect">
            <a:avLst/>
          </a:prstGeom>
          <a:noFill/>
          <a:ln/>
        </p:spPr>
        <p:txBody>
          <a:bodyPr wrap="square" lIns="0" tIns="0" rIns="0" bIns="0" rtlCol="0" anchor="ctr"/>
          <a:lstStyle/>
          <a:p>
            <a:pPr marL="0" indent="0" algn="ctr">
              <a:buNone/>
            </a:pPr>
            <a:r>
              <a:rPr lang="en-US" sz="750" b="1" kern="0" spc="100" dirty="0">
                <a:solidFill>
                  <a:srgbClr val="888888"/>
                </a:solidFill>
                <a:latin typeface="Calibri" pitchFamily="34" charset="0"/>
                <a:ea typeface="Calibri" pitchFamily="34" charset="-122"/>
                <a:cs typeface="Calibri" pitchFamily="34" charset="-120"/>
              </a:rPr>
              <a:t>ECB</a:t>
            </a:r>
            <a:endParaRPr lang="en-US" sz="750" dirty="0"/>
          </a:p>
        </p:txBody>
      </p:sp>
      <p:sp>
        <p:nvSpPr>
          <p:cNvPr id="5" name="Text 3"/>
          <p:cNvSpPr/>
          <p:nvPr/>
        </p:nvSpPr>
        <p:spPr>
          <a:xfrm>
            <a:off x="2926080" y="694944"/>
            <a:ext cx="1060704" cy="219456"/>
          </a:xfrm>
          <a:prstGeom prst="rect">
            <a:avLst/>
          </a:prstGeom>
          <a:noFill/>
          <a:ln/>
        </p:spPr>
        <p:txBody>
          <a:bodyPr wrap="square" lIns="0" tIns="0" rIns="0" bIns="0" rtlCol="0" anchor="ctr"/>
          <a:lstStyle/>
          <a:p>
            <a:pPr marL="0" indent="0" algn="ctr">
              <a:buNone/>
            </a:pPr>
            <a:r>
              <a:rPr lang="en-US" sz="750" b="1" kern="0" spc="100" dirty="0">
                <a:solidFill>
                  <a:srgbClr val="888888"/>
                </a:solidFill>
                <a:latin typeface="Calibri" pitchFamily="34" charset="0"/>
                <a:ea typeface="Calibri" pitchFamily="34" charset="-122"/>
                <a:cs typeface="Calibri" pitchFamily="34" charset="-120"/>
              </a:rPr>
              <a:t>CBC</a:t>
            </a:r>
            <a:endParaRPr lang="en-US" sz="750" dirty="0"/>
          </a:p>
        </p:txBody>
      </p:sp>
      <p:sp>
        <p:nvSpPr>
          <p:cNvPr id="6" name="Text 4"/>
          <p:cNvSpPr/>
          <p:nvPr/>
        </p:nvSpPr>
        <p:spPr>
          <a:xfrm>
            <a:off x="4041648" y="694944"/>
            <a:ext cx="1060704" cy="219456"/>
          </a:xfrm>
          <a:prstGeom prst="rect">
            <a:avLst/>
          </a:prstGeom>
          <a:noFill/>
          <a:ln/>
        </p:spPr>
        <p:txBody>
          <a:bodyPr wrap="square" lIns="0" tIns="0" rIns="0" bIns="0" rtlCol="0" anchor="ctr"/>
          <a:lstStyle/>
          <a:p>
            <a:pPr marL="0" indent="0" algn="ctr">
              <a:buNone/>
            </a:pPr>
            <a:r>
              <a:rPr lang="en-US" sz="750" b="1" kern="0" spc="100" dirty="0">
                <a:solidFill>
                  <a:srgbClr val="888888"/>
                </a:solidFill>
                <a:latin typeface="Calibri" pitchFamily="34" charset="0"/>
                <a:ea typeface="Calibri" pitchFamily="34" charset="-122"/>
                <a:cs typeface="Calibri" pitchFamily="34" charset="-120"/>
              </a:rPr>
              <a:t>CTR</a:t>
            </a:r>
            <a:endParaRPr lang="en-US" sz="750" dirty="0"/>
          </a:p>
        </p:txBody>
      </p:sp>
      <p:sp>
        <p:nvSpPr>
          <p:cNvPr id="7" name="Text 5"/>
          <p:cNvSpPr/>
          <p:nvPr/>
        </p:nvSpPr>
        <p:spPr>
          <a:xfrm>
            <a:off x="5157216" y="694944"/>
            <a:ext cx="1060704" cy="219456"/>
          </a:xfrm>
          <a:prstGeom prst="rect">
            <a:avLst/>
          </a:prstGeom>
          <a:noFill/>
          <a:ln/>
        </p:spPr>
        <p:txBody>
          <a:bodyPr wrap="square" lIns="0" tIns="0" rIns="0" bIns="0" rtlCol="0" anchor="ctr"/>
          <a:lstStyle/>
          <a:p>
            <a:pPr marL="0" indent="0" algn="ctr">
              <a:buNone/>
            </a:pPr>
            <a:r>
              <a:rPr lang="en-US" sz="750" b="1" kern="0" spc="100" dirty="0">
                <a:solidFill>
                  <a:srgbClr val="C9A84C"/>
                </a:solidFill>
                <a:latin typeface="Calibri" pitchFamily="34" charset="0"/>
                <a:ea typeface="Calibri" pitchFamily="34" charset="-122"/>
                <a:cs typeface="Calibri" pitchFamily="34" charset="-120"/>
              </a:rPr>
              <a:t>GCM</a:t>
            </a:r>
            <a:endParaRPr lang="en-US" sz="750" dirty="0"/>
          </a:p>
        </p:txBody>
      </p:sp>
      <p:sp>
        <p:nvSpPr>
          <p:cNvPr id="8" name="Text 6"/>
          <p:cNvSpPr/>
          <p:nvPr/>
        </p:nvSpPr>
        <p:spPr>
          <a:xfrm>
            <a:off x="6272784" y="694944"/>
            <a:ext cx="1060704" cy="219456"/>
          </a:xfrm>
          <a:prstGeom prst="rect">
            <a:avLst/>
          </a:prstGeom>
          <a:noFill/>
          <a:ln/>
        </p:spPr>
        <p:txBody>
          <a:bodyPr wrap="square" lIns="0" tIns="0" rIns="0" bIns="0" rtlCol="0" anchor="ctr"/>
          <a:lstStyle/>
          <a:p>
            <a:pPr marL="0" indent="0" algn="ctr">
              <a:buNone/>
            </a:pPr>
            <a:r>
              <a:rPr lang="en-US" sz="750" b="1" kern="0" spc="100" dirty="0">
                <a:solidFill>
                  <a:srgbClr val="C9A84C"/>
                </a:solidFill>
                <a:latin typeface="Calibri" pitchFamily="34" charset="0"/>
                <a:ea typeface="Calibri" pitchFamily="34" charset="-122"/>
                <a:cs typeface="Calibri" pitchFamily="34" charset="-120"/>
              </a:rPr>
              <a:t>Stream</a:t>
            </a:r>
            <a:endParaRPr lang="en-US" sz="750" dirty="0"/>
          </a:p>
        </p:txBody>
      </p:sp>
      <p:sp>
        <p:nvSpPr>
          <p:cNvPr id="9" name="Text 7"/>
          <p:cNvSpPr/>
          <p:nvPr/>
        </p:nvSpPr>
        <p:spPr>
          <a:xfrm>
            <a:off x="7388352" y="694944"/>
            <a:ext cx="1097280" cy="219456"/>
          </a:xfrm>
          <a:prstGeom prst="rect">
            <a:avLst/>
          </a:prstGeom>
          <a:noFill/>
          <a:ln/>
        </p:spPr>
        <p:txBody>
          <a:bodyPr wrap="square" lIns="0" tIns="0" rIns="0" bIns="0" rtlCol="0" anchor="ctr"/>
          <a:lstStyle/>
          <a:p>
            <a:pPr marL="0" indent="0" algn="ctr">
              <a:buNone/>
            </a:pPr>
            <a:r>
              <a:rPr lang="en-US" sz="750" b="1" kern="0" spc="100" dirty="0">
                <a:solidFill>
                  <a:srgbClr val="888888"/>
                </a:solidFill>
                <a:latin typeface="Calibri" pitchFamily="34" charset="0"/>
                <a:ea typeface="Calibri" pitchFamily="34" charset="-122"/>
                <a:cs typeface="Calibri" pitchFamily="34" charset="-120"/>
              </a:rPr>
              <a:t>Clé(s)</a:t>
            </a:r>
            <a:endParaRPr lang="en-US" sz="750" dirty="0"/>
          </a:p>
        </p:txBody>
      </p:sp>
      <p:sp>
        <p:nvSpPr>
          <p:cNvPr id="10" name="Shape 8"/>
          <p:cNvSpPr/>
          <p:nvPr/>
        </p:nvSpPr>
        <p:spPr>
          <a:xfrm>
            <a:off x="475488" y="969264"/>
            <a:ext cx="1280160" cy="658368"/>
          </a:xfrm>
          <a:prstGeom prst="roundRect">
            <a:avLst>
              <a:gd name="adj" fmla="val 11111"/>
            </a:avLst>
          </a:prstGeom>
          <a:solidFill>
            <a:srgbClr val="FFFFFF"/>
          </a:solidFill>
          <a:ln w="10160">
            <a:solidFill>
              <a:srgbClr val="CCCCCC"/>
            </a:solidFill>
            <a:prstDash val="solid"/>
          </a:ln>
        </p:spPr>
        <p:txBody>
          <a:bodyPr/>
          <a:lstStyle/>
          <a:p>
            <a:endParaRPr lang="en-CA"/>
          </a:p>
        </p:txBody>
      </p:sp>
      <p:sp>
        <p:nvSpPr>
          <p:cNvPr id="11" name="Text 9"/>
          <p:cNvSpPr/>
          <p:nvPr/>
        </p:nvSpPr>
        <p:spPr>
          <a:xfrm>
            <a:off x="566928" y="1005840"/>
            <a:ext cx="1097280" cy="362102"/>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AES</a:t>
            </a:r>
            <a:endParaRPr lang="en-US" sz="1100" dirty="0"/>
          </a:p>
        </p:txBody>
      </p:sp>
      <p:sp>
        <p:nvSpPr>
          <p:cNvPr id="12" name="Text 10"/>
          <p:cNvSpPr/>
          <p:nvPr/>
        </p:nvSpPr>
        <p:spPr>
          <a:xfrm>
            <a:off x="566928" y="1331366"/>
            <a:ext cx="1097280" cy="263347"/>
          </a:xfrm>
          <a:prstGeom prst="rect">
            <a:avLst/>
          </a:prstGeom>
          <a:noFill/>
          <a:ln/>
        </p:spPr>
        <p:txBody>
          <a:bodyPr wrap="square" lIns="0" tIns="0" rIns="0" bIns="0" rtlCol="0" anchor="t"/>
          <a:lstStyle/>
          <a:p>
            <a:pPr marL="0" indent="0">
              <a:buNone/>
            </a:pPr>
            <a:r>
              <a:rPr lang="en-US" sz="700" dirty="0">
                <a:solidFill>
                  <a:srgbClr val="C0C0C0"/>
                </a:solidFill>
                <a:latin typeface="Calibri" pitchFamily="34" charset="0"/>
                <a:ea typeface="Calibri" pitchFamily="34" charset="-122"/>
                <a:cs typeface="Calibri" pitchFamily="34" charset="-120"/>
              </a:rPr>
              <a:t>Standard actif</a:t>
            </a:r>
            <a:endParaRPr lang="en-US" sz="700" dirty="0"/>
          </a:p>
        </p:txBody>
      </p:sp>
      <p:sp>
        <p:nvSpPr>
          <p:cNvPr id="13" name="Shape 11"/>
          <p:cNvSpPr/>
          <p:nvPr/>
        </p:nvSpPr>
        <p:spPr>
          <a:xfrm>
            <a:off x="1810512" y="969264"/>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14" name="Text 12"/>
          <p:cNvSpPr/>
          <p:nvPr/>
        </p:nvSpPr>
        <p:spPr>
          <a:xfrm>
            <a:off x="1810512" y="969264"/>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15" name="Shape 13"/>
          <p:cNvSpPr/>
          <p:nvPr/>
        </p:nvSpPr>
        <p:spPr>
          <a:xfrm>
            <a:off x="2926080" y="969264"/>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16" name="Text 14"/>
          <p:cNvSpPr/>
          <p:nvPr/>
        </p:nvSpPr>
        <p:spPr>
          <a:xfrm>
            <a:off x="2926080" y="969264"/>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17" name="Shape 15"/>
          <p:cNvSpPr/>
          <p:nvPr/>
        </p:nvSpPr>
        <p:spPr>
          <a:xfrm>
            <a:off x="4041648" y="969264"/>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18" name="Text 16"/>
          <p:cNvSpPr/>
          <p:nvPr/>
        </p:nvSpPr>
        <p:spPr>
          <a:xfrm>
            <a:off x="4041648" y="969264"/>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19" name="Shape 17"/>
          <p:cNvSpPr/>
          <p:nvPr/>
        </p:nvSpPr>
        <p:spPr>
          <a:xfrm>
            <a:off x="5157216" y="969264"/>
            <a:ext cx="1060704" cy="658368"/>
          </a:xfrm>
          <a:prstGeom prst="roundRect">
            <a:avLst>
              <a:gd name="adj" fmla="val 8333"/>
            </a:avLst>
          </a:prstGeom>
          <a:solidFill>
            <a:srgbClr val="FFFBF0"/>
          </a:solidFill>
          <a:ln w="15240">
            <a:solidFill>
              <a:srgbClr val="C9A84C"/>
            </a:solidFill>
            <a:prstDash val="solid"/>
          </a:ln>
        </p:spPr>
        <p:txBody>
          <a:bodyPr/>
          <a:lstStyle/>
          <a:p>
            <a:endParaRPr lang="en-CA"/>
          </a:p>
        </p:txBody>
      </p:sp>
      <p:sp>
        <p:nvSpPr>
          <p:cNvPr id="20" name="Text 18"/>
          <p:cNvSpPr/>
          <p:nvPr/>
        </p:nvSpPr>
        <p:spPr>
          <a:xfrm>
            <a:off x="5157216" y="969264"/>
            <a:ext cx="1060704" cy="658368"/>
          </a:xfrm>
          <a:prstGeom prst="rect">
            <a:avLst/>
          </a:prstGeom>
          <a:noFill/>
          <a:ln/>
        </p:spPr>
        <p:txBody>
          <a:bodyPr wrap="square" lIns="0" tIns="0" rIns="0" bIns="0" rtlCol="0" anchor="ctr"/>
          <a:lstStyle/>
          <a:p>
            <a:pPr marL="0" indent="0" algn="ctr">
              <a:buNone/>
            </a:pPr>
            <a:r>
              <a:rPr lang="en-US" sz="1300" b="1" dirty="0">
                <a:solidFill>
                  <a:srgbClr val="C9A84C"/>
                </a:solidFill>
                <a:latin typeface="Calibri" pitchFamily="34" charset="0"/>
                <a:ea typeface="Calibri" pitchFamily="34" charset="-122"/>
                <a:cs typeface="Calibri" pitchFamily="34" charset="-120"/>
              </a:rPr>
              <a:t>✓</a:t>
            </a:r>
            <a:endParaRPr lang="en-US" sz="1300" dirty="0"/>
          </a:p>
        </p:txBody>
      </p:sp>
      <p:sp>
        <p:nvSpPr>
          <p:cNvPr id="21" name="Shape 19"/>
          <p:cNvSpPr/>
          <p:nvPr/>
        </p:nvSpPr>
        <p:spPr>
          <a:xfrm>
            <a:off x="6272784" y="969264"/>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22" name="Text 20"/>
          <p:cNvSpPr/>
          <p:nvPr/>
        </p:nvSpPr>
        <p:spPr>
          <a:xfrm>
            <a:off x="6272784" y="969264"/>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23" name="Shape 21"/>
          <p:cNvSpPr/>
          <p:nvPr/>
        </p:nvSpPr>
        <p:spPr>
          <a:xfrm>
            <a:off x="7388352" y="969264"/>
            <a:ext cx="1097280" cy="658368"/>
          </a:xfrm>
          <a:prstGeom prst="roundRect">
            <a:avLst>
              <a:gd name="adj" fmla="val 8333"/>
            </a:avLst>
          </a:prstGeom>
          <a:solidFill>
            <a:srgbClr val="FFFFFF"/>
          </a:solidFill>
          <a:ln w="7620">
            <a:solidFill>
              <a:srgbClr val="E0E0E0"/>
            </a:solidFill>
            <a:prstDash val="solid"/>
          </a:ln>
        </p:spPr>
        <p:txBody>
          <a:bodyPr/>
          <a:lstStyle/>
          <a:p>
            <a:endParaRPr lang="en-CA"/>
          </a:p>
        </p:txBody>
      </p:sp>
      <p:sp>
        <p:nvSpPr>
          <p:cNvPr id="24" name="Text 22"/>
          <p:cNvSpPr/>
          <p:nvPr/>
        </p:nvSpPr>
        <p:spPr>
          <a:xfrm>
            <a:off x="7388352" y="969264"/>
            <a:ext cx="1097280" cy="658368"/>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128/192/256</a:t>
            </a:r>
            <a:endParaRPr lang="en-US" sz="800" dirty="0"/>
          </a:p>
        </p:txBody>
      </p:sp>
      <p:sp>
        <p:nvSpPr>
          <p:cNvPr id="25" name="Shape 23"/>
          <p:cNvSpPr/>
          <p:nvPr/>
        </p:nvSpPr>
        <p:spPr>
          <a:xfrm>
            <a:off x="475488" y="1682496"/>
            <a:ext cx="1280160" cy="658368"/>
          </a:xfrm>
          <a:prstGeom prst="roundRect">
            <a:avLst>
              <a:gd name="adj" fmla="val 11111"/>
            </a:avLst>
          </a:prstGeom>
          <a:solidFill>
            <a:srgbClr val="FFFFFF"/>
          </a:solidFill>
          <a:ln w="10160">
            <a:solidFill>
              <a:srgbClr val="CCCCCC"/>
            </a:solidFill>
            <a:prstDash val="solid"/>
          </a:ln>
        </p:spPr>
        <p:txBody>
          <a:bodyPr/>
          <a:lstStyle/>
          <a:p>
            <a:endParaRPr lang="en-CA"/>
          </a:p>
        </p:txBody>
      </p:sp>
      <p:sp>
        <p:nvSpPr>
          <p:cNvPr id="26" name="Text 24"/>
          <p:cNvSpPr/>
          <p:nvPr/>
        </p:nvSpPr>
        <p:spPr>
          <a:xfrm>
            <a:off x="566928" y="1719072"/>
            <a:ext cx="1097280" cy="362102"/>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DES</a:t>
            </a:r>
            <a:endParaRPr lang="en-US" sz="1100" dirty="0"/>
          </a:p>
        </p:txBody>
      </p:sp>
      <p:sp>
        <p:nvSpPr>
          <p:cNvPr id="27" name="Text 25"/>
          <p:cNvSpPr/>
          <p:nvPr/>
        </p:nvSpPr>
        <p:spPr>
          <a:xfrm>
            <a:off x="566928" y="2044598"/>
            <a:ext cx="1097280" cy="263347"/>
          </a:xfrm>
          <a:prstGeom prst="rect">
            <a:avLst/>
          </a:prstGeom>
          <a:noFill/>
          <a:ln/>
        </p:spPr>
        <p:txBody>
          <a:bodyPr wrap="square" lIns="0" tIns="0" rIns="0" bIns="0" rtlCol="0" anchor="t"/>
          <a:lstStyle/>
          <a:p>
            <a:pPr marL="0" indent="0">
              <a:buNone/>
            </a:pPr>
            <a:r>
              <a:rPr lang="en-US" sz="700" dirty="0">
                <a:solidFill>
                  <a:srgbClr val="C0C0C0"/>
                </a:solidFill>
                <a:latin typeface="Calibri" pitchFamily="34" charset="0"/>
                <a:ea typeface="Calibri" pitchFamily="34" charset="-122"/>
                <a:cs typeface="Calibri" pitchFamily="34" charset="-120"/>
              </a:rPr>
              <a:t>Déprécié 2005</a:t>
            </a:r>
            <a:endParaRPr lang="en-US" sz="700" dirty="0"/>
          </a:p>
        </p:txBody>
      </p:sp>
      <p:sp>
        <p:nvSpPr>
          <p:cNvPr id="28" name="Shape 26"/>
          <p:cNvSpPr/>
          <p:nvPr/>
        </p:nvSpPr>
        <p:spPr>
          <a:xfrm>
            <a:off x="1810512" y="1682496"/>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29" name="Text 27"/>
          <p:cNvSpPr/>
          <p:nvPr/>
        </p:nvSpPr>
        <p:spPr>
          <a:xfrm>
            <a:off x="1810512" y="1682496"/>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30" name="Shape 28"/>
          <p:cNvSpPr/>
          <p:nvPr/>
        </p:nvSpPr>
        <p:spPr>
          <a:xfrm>
            <a:off x="2926080" y="1682496"/>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31" name="Text 29"/>
          <p:cNvSpPr/>
          <p:nvPr/>
        </p:nvSpPr>
        <p:spPr>
          <a:xfrm>
            <a:off x="2926080" y="1682496"/>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32" name="Shape 30"/>
          <p:cNvSpPr/>
          <p:nvPr/>
        </p:nvSpPr>
        <p:spPr>
          <a:xfrm>
            <a:off x="4041648" y="1682496"/>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33" name="Text 31"/>
          <p:cNvSpPr/>
          <p:nvPr/>
        </p:nvSpPr>
        <p:spPr>
          <a:xfrm>
            <a:off x="4041648" y="1682496"/>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5157216" y="1682496"/>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35" name="Text 33"/>
          <p:cNvSpPr/>
          <p:nvPr/>
        </p:nvSpPr>
        <p:spPr>
          <a:xfrm>
            <a:off x="5157216" y="1682496"/>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36" name="Shape 34"/>
          <p:cNvSpPr/>
          <p:nvPr/>
        </p:nvSpPr>
        <p:spPr>
          <a:xfrm>
            <a:off x="6272784" y="1682496"/>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37" name="Text 35"/>
          <p:cNvSpPr/>
          <p:nvPr/>
        </p:nvSpPr>
        <p:spPr>
          <a:xfrm>
            <a:off x="6272784" y="1682496"/>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38" name="Shape 36"/>
          <p:cNvSpPr/>
          <p:nvPr/>
        </p:nvSpPr>
        <p:spPr>
          <a:xfrm>
            <a:off x="7388352" y="1682496"/>
            <a:ext cx="1097280" cy="658368"/>
          </a:xfrm>
          <a:prstGeom prst="roundRect">
            <a:avLst>
              <a:gd name="adj" fmla="val 8333"/>
            </a:avLst>
          </a:prstGeom>
          <a:solidFill>
            <a:srgbClr val="FFFFFF"/>
          </a:solidFill>
          <a:ln w="7620">
            <a:solidFill>
              <a:srgbClr val="E0E0E0"/>
            </a:solidFill>
            <a:prstDash val="solid"/>
          </a:ln>
        </p:spPr>
        <p:txBody>
          <a:bodyPr/>
          <a:lstStyle/>
          <a:p>
            <a:endParaRPr lang="en-CA"/>
          </a:p>
        </p:txBody>
      </p:sp>
      <p:sp>
        <p:nvSpPr>
          <p:cNvPr id="39" name="Text 37"/>
          <p:cNvSpPr/>
          <p:nvPr/>
        </p:nvSpPr>
        <p:spPr>
          <a:xfrm>
            <a:off x="7388352" y="1682496"/>
            <a:ext cx="1097280" cy="658368"/>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64</a:t>
            </a:r>
            <a:endParaRPr lang="en-US" sz="800" dirty="0"/>
          </a:p>
        </p:txBody>
      </p:sp>
      <p:sp>
        <p:nvSpPr>
          <p:cNvPr id="40" name="Shape 38"/>
          <p:cNvSpPr/>
          <p:nvPr/>
        </p:nvSpPr>
        <p:spPr>
          <a:xfrm>
            <a:off x="475488" y="2395728"/>
            <a:ext cx="1280160" cy="658368"/>
          </a:xfrm>
          <a:prstGeom prst="roundRect">
            <a:avLst>
              <a:gd name="adj" fmla="val 11111"/>
            </a:avLst>
          </a:prstGeom>
          <a:solidFill>
            <a:srgbClr val="FFFFFF"/>
          </a:solidFill>
          <a:ln w="10160">
            <a:solidFill>
              <a:srgbClr val="CCCCCC"/>
            </a:solidFill>
            <a:prstDash val="solid"/>
          </a:ln>
        </p:spPr>
        <p:txBody>
          <a:bodyPr/>
          <a:lstStyle/>
          <a:p>
            <a:endParaRPr lang="en-CA"/>
          </a:p>
        </p:txBody>
      </p:sp>
      <p:sp>
        <p:nvSpPr>
          <p:cNvPr id="41" name="Text 39"/>
          <p:cNvSpPr/>
          <p:nvPr/>
        </p:nvSpPr>
        <p:spPr>
          <a:xfrm>
            <a:off x="566928" y="2432304"/>
            <a:ext cx="1097280" cy="362102"/>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3DES</a:t>
            </a:r>
            <a:endParaRPr lang="en-US" sz="1100" dirty="0"/>
          </a:p>
        </p:txBody>
      </p:sp>
      <p:sp>
        <p:nvSpPr>
          <p:cNvPr id="42" name="Text 40"/>
          <p:cNvSpPr/>
          <p:nvPr/>
        </p:nvSpPr>
        <p:spPr>
          <a:xfrm>
            <a:off x="566928" y="2757830"/>
            <a:ext cx="1097280" cy="263347"/>
          </a:xfrm>
          <a:prstGeom prst="rect">
            <a:avLst/>
          </a:prstGeom>
          <a:noFill/>
          <a:ln/>
        </p:spPr>
        <p:txBody>
          <a:bodyPr wrap="square" lIns="0" tIns="0" rIns="0" bIns="0" rtlCol="0" anchor="t"/>
          <a:lstStyle/>
          <a:p>
            <a:pPr marL="0" indent="0">
              <a:buNone/>
            </a:pPr>
            <a:r>
              <a:rPr lang="en-US" sz="700" dirty="0">
                <a:solidFill>
                  <a:srgbClr val="C0C0C0"/>
                </a:solidFill>
                <a:latin typeface="Calibri" pitchFamily="34" charset="0"/>
                <a:ea typeface="Calibri" pitchFamily="34" charset="-122"/>
                <a:cs typeface="Calibri" pitchFamily="34" charset="-120"/>
              </a:rPr>
              <a:t>Interdit 2023</a:t>
            </a:r>
            <a:endParaRPr lang="en-US" sz="700" dirty="0"/>
          </a:p>
        </p:txBody>
      </p:sp>
      <p:sp>
        <p:nvSpPr>
          <p:cNvPr id="43" name="Shape 41"/>
          <p:cNvSpPr/>
          <p:nvPr/>
        </p:nvSpPr>
        <p:spPr>
          <a:xfrm>
            <a:off x="1810512" y="2395728"/>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44" name="Text 42"/>
          <p:cNvSpPr/>
          <p:nvPr/>
        </p:nvSpPr>
        <p:spPr>
          <a:xfrm>
            <a:off x="1810512" y="2395728"/>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45" name="Shape 43"/>
          <p:cNvSpPr/>
          <p:nvPr/>
        </p:nvSpPr>
        <p:spPr>
          <a:xfrm>
            <a:off x="2926080" y="2395728"/>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46" name="Text 44"/>
          <p:cNvSpPr/>
          <p:nvPr/>
        </p:nvSpPr>
        <p:spPr>
          <a:xfrm>
            <a:off x="2926080" y="2395728"/>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47" name="Shape 45"/>
          <p:cNvSpPr/>
          <p:nvPr/>
        </p:nvSpPr>
        <p:spPr>
          <a:xfrm>
            <a:off x="4041648" y="2395728"/>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48" name="Text 46"/>
          <p:cNvSpPr/>
          <p:nvPr/>
        </p:nvSpPr>
        <p:spPr>
          <a:xfrm>
            <a:off x="4041648" y="2395728"/>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49" name="Shape 47"/>
          <p:cNvSpPr/>
          <p:nvPr/>
        </p:nvSpPr>
        <p:spPr>
          <a:xfrm>
            <a:off x="5157216" y="2395728"/>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50" name="Text 48"/>
          <p:cNvSpPr/>
          <p:nvPr/>
        </p:nvSpPr>
        <p:spPr>
          <a:xfrm>
            <a:off x="5157216" y="2395728"/>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51" name="Shape 49"/>
          <p:cNvSpPr/>
          <p:nvPr/>
        </p:nvSpPr>
        <p:spPr>
          <a:xfrm>
            <a:off x="6272784" y="2395728"/>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52" name="Text 50"/>
          <p:cNvSpPr/>
          <p:nvPr/>
        </p:nvSpPr>
        <p:spPr>
          <a:xfrm>
            <a:off x="6272784" y="2395728"/>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53" name="Shape 51"/>
          <p:cNvSpPr/>
          <p:nvPr/>
        </p:nvSpPr>
        <p:spPr>
          <a:xfrm>
            <a:off x="7388352" y="2395728"/>
            <a:ext cx="1097280" cy="658368"/>
          </a:xfrm>
          <a:prstGeom prst="roundRect">
            <a:avLst>
              <a:gd name="adj" fmla="val 8333"/>
            </a:avLst>
          </a:prstGeom>
          <a:solidFill>
            <a:srgbClr val="FFFFFF"/>
          </a:solidFill>
          <a:ln w="7620">
            <a:solidFill>
              <a:srgbClr val="E0E0E0"/>
            </a:solidFill>
            <a:prstDash val="solid"/>
          </a:ln>
        </p:spPr>
        <p:txBody>
          <a:bodyPr/>
          <a:lstStyle/>
          <a:p>
            <a:endParaRPr lang="en-CA"/>
          </a:p>
        </p:txBody>
      </p:sp>
      <p:sp>
        <p:nvSpPr>
          <p:cNvPr id="54" name="Text 52"/>
          <p:cNvSpPr/>
          <p:nvPr/>
        </p:nvSpPr>
        <p:spPr>
          <a:xfrm>
            <a:off x="7388352" y="2395728"/>
            <a:ext cx="1097280" cy="658368"/>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128/192</a:t>
            </a:r>
            <a:endParaRPr lang="en-US" sz="800" dirty="0"/>
          </a:p>
        </p:txBody>
      </p:sp>
      <p:sp>
        <p:nvSpPr>
          <p:cNvPr id="55" name="Shape 53"/>
          <p:cNvSpPr/>
          <p:nvPr/>
        </p:nvSpPr>
        <p:spPr>
          <a:xfrm>
            <a:off x="475488" y="3108960"/>
            <a:ext cx="1280160" cy="658368"/>
          </a:xfrm>
          <a:prstGeom prst="roundRect">
            <a:avLst>
              <a:gd name="adj" fmla="val 11111"/>
            </a:avLst>
          </a:prstGeom>
          <a:solidFill>
            <a:srgbClr val="FFFFFF"/>
          </a:solidFill>
          <a:ln w="10160">
            <a:solidFill>
              <a:srgbClr val="CCCCCC"/>
            </a:solidFill>
            <a:prstDash val="solid"/>
          </a:ln>
        </p:spPr>
        <p:txBody>
          <a:bodyPr/>
          <a:lstStyle/>
          <a:p>
            <a:endParaRPr lang="en-CA"/>
          </a:p>
        </p:txBody>
      </p:sp>
      <p:sp>
        <p:nvSpPr>
          <p:cNvPr id="56" name="Text 54"/>
          <p:cNvSpPr/>
          <p:nvPr/>
        </p:nvSpPr>
        <p:spPr>
          <a:xfrm>
            <a:off x="566928" y="3145536"/>
            <a:ext cx="1097280" cy="362102"/>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Twofish</a:t>
            </a:r>
            <a:endParaRPr lang="en-US" sz="1100" dirty="0"/>
          </a:p>
        </p:txBody>
      </p:sp>
      <p:sp>
        <p:nvSpPr>
          <p:cNvPr id="57" name="Text 55"/>
          <p:cNvSpPr/>
          <p:nvPr/>
        </p:nvSpPr>
        <p:spPr>
          <a:xfrm>
            <a:off x="566928" y="3471062"/>
            <a:ext cx="1097280" cy="263347"/>
          </a:xfrm>
          <a:prstGeom prst="rect">
            <a:avLst/>
          </a:prstGeom>
          <a:noFill/>
          <a:ln/>
        </p:spPr>
        <p:txBody>
          <a:bodyPr wrap="square" lIns="0" tIns="0" rIns="0" bIns="0" rtlCol="0" anchor="t"/>
          <a:lstStyle/>
          <a:p>
            <a:pPr marL="0" indent="0">
              <a:buNone/>
            </a:pPr>
            <a:r>
              <a:rPr lang="en-US" sz="700" dirty="0">
                <a:solidFill>
                  <a:srgbClr val="C0C0C0"/>
                </a:solidFill>
                <a:latin typeface="Calibri" pitchFamily="34" charset="0"/>
                <a:ea typeface="Calibri" pitchFamily="34" charset="-122"/>
                <a:cs typeface="Calibri" pitchFamily="34" charset="-120"/>
              </a:rPr>
              <a:t>Finaliste AES</a:t>
            </a:r>
            <a:endParaRPr lang="en-US" sz="700" dirty="0"/>
          </a:p>
        </p:txBody>
      </p:sp>
      <p:sp>
        <p:nvSpPr>
          <p:cNvPr id="58" name="Shape 56"/>
          <p:cNvSpPr/>
          <p:nvPr/>
        </p:nvSpPr>
        <p:spPr>
          <a:xfrm>
            <a:off x="1810512" y="3108960"/>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59" name="Text 57"/>
          <p:cNvSpPr/>
          <p:nvPr/>
        </p:nvSpPr>
        <p:spPr>
          <a:xfrm>
            <a:off x="1810512" y="3108960"/>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60" name="Shape 58"/>
          <p:cNvSpPr/>
          <p:nvPr/>
        </p:nvSpPr>
        <p:spPr>
          <a:xfrm>
            <a:off x="2926080" y="3108960"/>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61" name="Text 59"/>
          <p:cNvSpPr/>
          <p:nvPr/>
        </p:nvSpPr>
        <p:spPr>
          <a:xfrm>
            <a:off x="2926080" y="3108960"/>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62" name="Shape 60"/>
          <p:cNvSpPr/>
          <p:nvPr/>
        </p:nvSpPr>
        <p:spPr>
          <a:xfrm>
            <a:off x="4041648" y="3108960"/>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63" name="Text 61"/>
          <p:cNvSpPr/>
          <p:nvPr/>
        </p:nvSpPr>
        <p:spPr>
          <a:xfrm>
            <a:off x="4041648" y="3108960"/>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64" name="Shape 62"/>
          <p:cNvSpPr/>
          <p:nvPr/>
        </p:nvSpPr>
        <p:spPr>
          <a:xfrm>
            <a:off x="5157216" y="3108960"/>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65" name="Text 63"/>
          <p:cNvSpPr/>
          <p:nvPr/>
        </p:nvSpPr>
        <p:spPr>
          <a:xfrm>
            <a:off x="5157216" y="3108960"/>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66" name="Shape 64"/>
          <p:cNvSpPr/>
          <p:nvPr/>
        </p:nvSpPr>
        <p:spPr>
          <a:xfrm>
            <a:off x="6272784" y="3108960"/>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67" name="Text 65"/>
          <p:cNvSpPr/>
          <p:nvPr/>
        </p:nvSpPr>
        <p:spPr>
          <a:xfrm>
            <a:off x="6272784" y="3108960"/>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68" name="Shape 66"/>
          <p:cNvSpPr/>
          <p:nvPr/>
        </p:nvSpPr>
        <p:spPr>
          <a:xfrm>
            <a:off x="7388352" y="3108960"/>
            <a:ext cx="1097280" cy="658368"/>
          </a:xfrm>
          <a:prstGeom prst="roundRect">
            <a:avLst>
              <a:gd name="adj" fmla="val 8333"/>
            </a:avLst>
          </a:prstGeom>
          <a:solidFill>
            <a:srgbClr val="FFFFFF"/>
          </a:solidFill>
          <a:ln w="7620">
            <a:solidFill>
              <a:srgbClr val="E0E0E0"/>
            </a:solidFill>
            <a:prstDash val="solid"/>
          </a:ln>
        </p:spPr>
        <p:txBody>
          <a:bodyPr/>
          <a:lstStyle/>
          <a:p>
            <a:endParaRPr lang="en-CA"/>
          </a:p>
        </p:txBody>
      </p:sp>
      <p:sp>
        <p:nvSpPr>
          <p:cNvPr id="69" name="Text 67"/>
          <p:cNvSpPr/>
          <p:nvPr/>
        </p:nvSpPr>
        <p:spPr>
          <a:xfrm>
            <a:off x="7388352" y="3108960"/>
            <a:ext cx="1097280" cy="658368"/>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128/192/256</a:t>
            </a:r>
            <a:endParaRPr lang="en-US" sz="800" dirty="0"/>
          </a:p>
        </p:txBody>
      </p:sp>
      <p:sp>
        <p:nvSpPr>
          <p:cNvPr id="70" name="Shape 68"/>
          <p:cNvSpPr/>
          <p:nvPr/>
        </p:nvSpPr>
        <p:spPr>
          <a:xfrm>
            <a:off x="475488" y="3822192"/>
            <a:ext cx="1280160" cy="658368"/>
          </a:xfrm>
          <a:prstGeom prst="roundRect">
            <a:avLst>
              <a:gd name="adj" fmla="val 11111"/>
            </a:avLst>
          </a:prstGeom>
          <a:solidFill>
            <a:srgbClr val="FFFFFF"/>
          </a:solidFill>
          <a:ln w="10160">
            <a:solidFill>
              <a:srgbClr val="CCCCCC"/>
            </a:solidFill>
            <a:prstDash val="solid"/>
          </a:ln>
        </p:spPr>
        <p:txBody>
          <a:bodyPr/>
          <a:lstStyle/>
          <a:p>
            <a:endParaRPr lang="en-CA"/>
          </a:p>
        </p:txBody>
      </p:sp>
      <p:sp>
        <p:nvSpPr>
          <p:cNvPr id="71" name="Text 69"/>
          <p:cNvSpPr/>
          <p:nvPr/>
        </p:nvSpPr>
        <p:spPr>
          <a:xfrm>
            <a:off x="566928" y="3858768"/>
            <a:ext cx="1097280" cy="362102"/>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ChaCha20</a:t>
            </a:r>
            <a:endParaRPr lang="en-US" sz="1100" dirty="0"/>
          </a:p>
        </p:txBody>
      </p:sp>
      <p:sp>
        <p:nvSpPr>
          <p:cNvPr id="72" name="Text 70"/>
          <p:cNvSpPr/>
          <p:nvPr/>
        </p:nvSpPr>
        <p:spPr>
          <a:xfrm>
            <a:off x="566928" y="4184294"/>
            <a:ext cx="1097280" cy="263347"/>
          </a:xfrm>
          <a:prstGeom prst="rect">
            <a:avLst/>
          </a:prstGeom>
          <a:noFill/>
          <a:ln/>
        </p:spPr>
        <p:txBody>
          <a:bodyPr wrap="square" lIns="0" tIns="0" rIns="0" bIns="0" rtlCol="0" anchor="t"/>
          <a:lstStyle/>
          <a:p>
            <a:pPr marL="0" indent="0">
              <a:buNone/>
            </a:pPr>
            <a:r>
              <a:rPr lang="en-US" sz="700" dirty="0">
                <a:solidFill>
                  <a:srgbClr val="C0C0C0"/>
                </a:solidFill>
                <a:latin typeface="Calibri" pitchFamily="34" charset="0"/>
                <a:ea typeface="Calibri" pitchFamily="34" charset="-122"/>
                <a:cs typeface="Calibri" pitchFamily="34" charset="-120"/>
              </a:rPr>
              <a:t>Stream cipher</a:t>
            </a:r>
            <a:endParaRPr lang="en-US" sz="700" dirty="0"/>
          </a:p>
        </p:txBody>
      </p:sp>
      <p:sp>
        <p:nvSpPr>
          <p:cNvPr id="73" name="Shape 71"/>
          <p:cNvSpPr/>
          <p:nvPr/>
        </p:nvSpPr>
        <p:spPr>
          <a:xfrm>
            <a:off x="1810512" y="3822192"/>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74" name="Text 72"/>
          <p:cNvSpPr/>
          <p:nvPr/>
        </p:nvSpPr>
        <p:spPr>
          <a:xfrm>
            <a:off x="1810512" y="3822192"/>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75" name="Shape 73"/>
          <p:cNvSpPr/>
          <p:nvPr/>
        </p:nvSpPr>
        <p:spPr>
          <a:xfrm>
            <a:off x="2926080" y="3822192"/>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76" name="Text 74"/>
          <p:cNvSpPr/>
          <p:nvPr/>
        </p:nvSpPr>
        <p:spPr>
          <a:xfrm>
            <a:off x="2926080" y="3822192"/>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77" name="Shape 75"/>
          <p:cNvSpPr/>
          <p:nvPr/>
        </p:nvSpPr>
        <p:spPr>
          <a:xfrm>
            <a:off x="4041648" y="3822192"/>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78" name="Text 76"/>
          <p:cNvSpPr/>
          <p:nvPr/>
        </p:nvSpPr>
        <p:spPr>
          <a:xfrm>
            <a:off x="4041648" y="3822192"/>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79" name="Shape 77"/>
          <p:cNvSpPr/>
          <p:nvPr/>
        </p:nvSpPr>
        <p:spPr>
          <a:xfrm>
            <a:off x="5157216" y="3822192"/>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80" name="Text 78"/>
          <p:cNvSpPr/>
          <p:nvPr/>
        </p:nvSpPr>
        <p:spPr>
          <a:xfrm>
            <a:off x="5157216" y="3822192"/>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81" name="Shape 79"/>
          <p:cNvSpPr/>
          <p:nvPr/>
        </p:nvSpPr>
        <p:spPr>
          <a:xfrm>
            <a:off x="6272784" y="3822192"/>
            <a:ext cx="1060704" cy="658368"/>
          </a:xfrm>
          <a:prstGeom prst="roundRect">
            <a:avLst>
              <a:gd name="adj" fmla="val 8333"/>
            </a:avLst>
          </a:prstGeom>
          <a:solidFill>
            <a:srgbClr val="FFFBF0"/>
          </a:solidFill>
          <a:ln w="15240">
            <a:solidFill>
              <a:srgbClr val="C9A84C"/>
            </a:solidFill>
            <a:prstDash val="solid"/>
          </a:ln>
        </p:spPr>
        <p:txBody>
          <a:bodyPr/>
          <a:lstStyle/>
          <a:p>
            <a:endParaRPr lang="en-CA"/>
          </a:p>
        </p:txBody>
      </p:sp>
      <p:sp>
        <p:nvSpPr>
          <p:cNvPr id="82" name="Text 80"/>
          <p:cNvSpPr/>
          <p:nvPr/>
        </p:nvSpPr>
        <p:spPr>
          <a:xfrm>
            <a:off x="6272784" y="3822192"/>
            <a:ext cx="1060704" cy="658368"/>
          </a:xfrm>
          <a:prstGeom prst="rect">
            <a:avLst/>
          </a:prstGeom>
          <a:noFill/>
          <a:ln/>
        </p:spPr>
        <p:txBody>
          <a:bodyPr wrap="square" lIns="0" tIns="0" rIns="0" bIns="0" rtlCol="0" anchor="ctr"/>
          <a:lstStyle/>
          <a:p>
            <a:pPr marL="0" indent="0" algn="ctr">
              <a:buNone/>
            </a:pPr>
            <a:r>
              <a:rPr lang="en-US" sz="1300" b="1" dirty="0">
                <a:solidFill>
                  <a:srgbClr val="C9A84C"/>
                </a:solidFill>
                <a:latin typeface="Calibri" pitchFamily="34" charset="0"/>
                <a:ea typeface="Calibri" pitchFamily="34" charset="-122"/>
                <a:cs typeface="Calibri" pitchFamily="34" charset="-120"/>
              </a:rPr>
              <a:t>✓</a:t>
            </a:r>
            <a:endParaRPr lang="en-US" sz="1300" dirty="0"/>
          </a:p>
        </p:txBody>
      </p:sp>
      <p:sp>
        <p:nvSpPr>
          <p:cNvPr id="83" name="Shape 81"/>
          <p:cNvSpPr/>
          <p:nvPr/>
        </p:nvSpPr>
        <p:spPr>
          <a:xfrm>
            <a:off x="7388352" y="3822192"/>
            <a:ext cx="1097280" cy="658368"/>
          </a:xfrm>
          <a:prstGeom prst="roundRect">
            <a:avLst>
              <a:gd name="adj" fmla="val 8333"/>
            </a:avLst>
          </a:prstGeom>
          <a:solidFill>
            <a:srgbClr val="FFFFFF"/>
          </a:solidFill>
          <a:ln w="7620">
            <a:solidFill>
              <a:srgbClr val="E0E0E0"/>
            </a:solidFill>
            <a:prstDash val="solid"/>
          </a:ln>
        </p:spPr>
        <p:txBody>
          <a:bodyPr/>
          <a:lstStyle/>
          <a:p>
            <a:endParaRPr lang="en-CA"/>
          </a:p>
        </p:txBody>
      </p:sp>
      <p:sp>
        <p:nvSpPr>
          <p:cNvPr id="84" name="Text 82"/>
          <p:cNvSpPr/>
          <p:nvPr/>
        </p:nvSpPr>
        <p:spPr>
          <a:xfrm>
            <a:off x="7388352" y="3822192"/>
            <a:ext cx="1097280" cy="658368"/>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256</a:t>
            </a:r>
            <a:endParaRPr lang="en-US" sz="800" dirty="0"/>
          </a:p>
        </p:txBody>
      </p:sp>
      <p:sp>
        <p:nvSpPr>
          <p:cNvPr id="85" name="Shape 83"/>
          <p:cNvSpPr/>
          <p:nvPr/>
        </p:nvSpPr>
        <p:spPr>
          <a:xfrm>
            <a:off x="467452" y="4602757"/>
            <a:ext cx="128016" cy="128016"/>
          </a:xfrm>
          <a:prstGeom prst="roundRect">
            <a:avLst>
              <a:gd name="adj" fmla="val 21429"/>
            </a:avLst>
          </a:prstGeom>
          <a:solidFill>
            <a:srgbClr val="E8F4E8"/>
          </a:solidFill>
          <a:ln w="10160">
            <a:solidFill>
              <a:srgbClr val="90C090"/>
            </a:solidFill>
            <a:prstDash val="solid"/>
          </a:ln>
        </p:spPr>
        <p:txBody>
          <a:bodyPr/>
          <a:lstStyle/>
          <a:p>
            <a:endParaRPr lang="en-CA"/>
          </a:p>
        </p:txBody>
      </p:sp>
      <p:sp>
        <p:nvSpPr>
          <p:cNvPr id="86" name="Text 84"/>
          <p:cNvSpPr/>
          <p:nvPr/>
        </p:nvSpPr>
        <p:spPr>
          <a:xfrm>
            <a:off x="658368" y="4611347"/>
            <a:ext cx="1572214" cy="219456"/>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Testé — chiffrement par blocs standard (ECB, CBC, CTR)</a:t>
            </a:r>
            <a:endParaRPr lang="en-US" sz="750" dirty="0"/>
          </a:p>
        </p:txBody>
      </p:sp>
      <p:sp>
        <p:nvSpPr>
          <p:cNvPr id="87" name="Shape 85"/>
          <p:cNvSpPr/>
          <p:nvPr/>
        </p:nvSpPr>
        <p:spPr>
          <a:xfrm>
            <a:off x="2466940" y="4578651"/>
            <a:ext cx="128016" cy="128016"/>
          </a:xfrm>
          <a:prstGeom prst="roundRect">
            <a:avLst>
              <a:gd name="adj" fmla="val 21429"/>
            </a:avLst>
          </a:prstGeom>
          <a:solidFill>
            <a:srgbClr val="FFFBF0"/>
          </a:solidFill>
          <a:ln w="10160">
            <a:solidFill>
              <a:srgbClr val="C9A84C"/>
            </a:solidFill>
            <a:prstDash val="solid"/>
          </a:ln>
        </p:spPr>
        <p:txBody>
          <a:bodyPr/>
          <a:lstStyle/>
          <a:p>
            <a:endParaRPr lang="en-CA"/>
          </a:p>
        </p:txBody>
      </p:sp>
      <p:sp>
        <p:nvSpPr>
          <p:cNvPr id="88" name="Text 86"/>
          <p:cNvSpPr/>
          <p:nvPr/>
        </p:nvSpPr>
        <p:spPr>
          <a:xfrm>
            <a:off x="2671432" y="4573663"/>
            <a:ext cx="4048021" cy="146858"/>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GCM / Stream — paradigme distinct : authentification intégrée (GCM) ou chiffrement de flux (Stream)</a:t>
            </a:r>
            <a:endParaRPr lang="en-US" sz="750" dirty="0"/>
          </a:p>
        </p:txBody>
      </p:sp>
      <p:sp>
        <p:nvSpPr>
          <p:cNvPr id="89" name="Shape 87"/>
          <p:cNvSpPr/>
          <p:nvPr/>
        </p:nvSpPr>
        <p:spPr>
          <a:xfrm>
            <a:off x="6819207" y="4573663"/>
            <a:ext cx="128016" cy="128016"/>
          </a:xfrm>
          <a:prstGeom prst="roundRect">
            <a:avLst>
              <a:gd name="adj" fmla="val 21429"/>
            </a:avLst>
          </a:prstGeom>
          <a:solidFill>
            <a:srgbClr val="F2F2F2"/>
          </a:solidFill>
          <a:ln w="10160">
            <a:solidFill>
              <a:srgbClr val="E0E0E0"/>
            </a:solidFill>
            <a:prstDash val="solid"/>
          </a:ln>
        </p:spPr>
        <p:txBody>
          <a:bodyPr/>
          <a:lstStyle/>
          <a:p>
            <a:endParaRPr lang="en-CA"/>
          </a:p>
        </p:txBody>
      </p:sp>
      <p:sp>
        <p:nvSpPr>
          <p:cNvPr id="90" name="Text 88"/>
          <p:cNvSpPr/>
          <p:nvPr/>
        </p:nvSpPr>
        <p:spPr>
          <a:xfrm>
            <a:off x="7028134" y="4591951"/>
            <a:ext cx="1457498" cy="219456"/>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N/A — mode structurellement incompatible avec cet algorithme</a:t>
            </a:r>
            <a:endParaRPr lang="en-US" sz="750" dirty="0"/>
          </a:p>
        </p:txBody>
      </p:sp>
      <p:sp>
        <p:nvSpPr>
          <p:cNvPr id="91" name="Text 89"/>
          <p:cNvSpPr/>
          <p:nvPr/>
        </p:nvSpPr>
        <p:spPr>
          <a:xfrm>
            <a:off x="475488" y="4860036"/>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40350" y="1920239"/>
            <a:ext cx="2262777" cy="2542031"/>
          </a:xfrm>
          <a:prstGeom prst="rect">
            <a:avLst/>
          </a:prstGeom>
          <a:noFill/>
          <a:ln/>
        </p:spPr>
        <p:txBody>
          <a:bodyPr wrap="square" lIns="0" tIns="0" rIns="0" bIns="0" rtlCol="0" anchor="ctr"/>
          <a:lstStyle/>
          <a:p>
            <a:pPr marL="0" indent="0">
              <a:buNone/>
            </a:pPr>
            <a:r>
              <a:rPr lang="en-US" sz="16000" b="1" dirty="0">
                <a:solidFill>
                  <a:srgbClr val="0A0A0A">
                    <a:alpha val="3000"/>
                  </a:srgbClr>
                </a:solidFill>
                <a:latin typeface="Calibri" pitchFamily="34" charset="0"/>
                <a:ea typeface="Calibri" pitchFamily="34" charset="-122"/>
                <a:cs typeface="Calibri" pitchFamily="34" charset="-120"/>
              </a:rPr>
              <a:t>03</a:t>
            </a:r>
            <a:endParaRPr lang="en-US" sz="16000" dirty="0"/>
          </a:p>
        </p:txBody>
      </p:sp>
      <p:sp>
        <p:nvSpPr>
          <p:cNvPr id="4" name="Text 2"/>
          <p:cNvSpPr/>
          <p:nvPr/>
        </p:nvSpPr>
        <p:spPr>
          <a:xfrm>
            <a:off x="475488" y="164592"/>
            <a:ext cx="64008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03  ·  </a:t>
            </a:r>
            <a:r>
              <a:rPr lang="en-US" sz="800" b="1" kern="0" spc="200" dirty="0">
                <a:solidFill>
                  <a:srgbClr val="C0C0C0"/>
                </a:solidFill>
                <a:latin typeface="Calibri" pitchFamily="34" charset="0"/>
                <a:cs typeface="Calibri" pitchFamily="34" charset="-120"/>
              </a:rPr>
              <a:t>VALIDATION CRYPTOGRAPHIQUE — KAT</a:t>
            </a:r>
          </a:p>
        </p:txBody>
      </p:sp>
      <p:sp>
        <p:nvSpPr>
          <p:cNvPr id="5" name="Text 3"/>
          <p:cNvSpPr/>
          <p:nvPr/>
        </p:nvSpPr>
        <p:spPr>
          <a:xfrm>
            <a:off x="475488" y="402336"/>
            <a:ext cx="2834640" cy="1371600"/>
          </a:xfrm>
          <a:prstGeom prst="rect">
            <a:avLst/>
          </a:prstGeom>
          <a:noFill/>
          <a:ln/>
        </p:spPr>
        <p:txBody>
          <a:bodyPr wrap="square" lIns="0" tIns="0" rIns="0" bIns="0" rtlCol="0" anchor="ctr"/>
          <a:lstStyle/>
          <a:p>
            <a:pPr marL="0" indent="0">
              <a:lnSpc>
                <a:spcPct val="115000"/>
              </a:lnSpc>
              <a:buNone/>
            </a:pPr>
            <a:r>
              <a:rPr lang="en-US" sz="1900" b="1" dirty="0">
                <a:solidFill>
                  <a:srgbClr val="0A0A0A"/>
                </a:solidFill>
                <a:latin typeface="Calibri" pitchFamily="34" charset="0"/>
                <a:ea typeface="Calibri" pitchFamily="34" charset="-122"/>
                <a:cs typeface="Calibri" pitchFamily="34" charset="-120"/>
              </a:rPr>
              <a:t>Validation cryptographique,
</a:t>
            </a:r>
            <a:r>
              <a:rPr lang="en-US" sz="1900" b="1" dirty="0">
                <a:solidFill>
                  <a:srgbClr val="C9A84C"/>
                </a:solidFill>
                <a:latin typeface="Calibri" pitchFamily="34" charset="0"/>
                <a:ea typeface="Calibri" pitchFamily="34" charset="-122"/>
                <a:cs typeface="Calibri" pitchFamily="34" charset="-120"/>
              </a:rPr>
              <a:t>avant toute mesure
</a:t>
            </a:r>
            <a:r>
              <a:rPr lang="en-US" sz="1900" b="1" dirty="0">
                <a:solidFill>
                  <a:srgbClr val="0A0A0A"/>
                </a:solidFill>
                <a:latin typeface="Calibri" pitchFamily="34" charset="0"/>
                <a:ea typeface="Calibri" pitchFamily="34" charset="-122"/>
                <a:cs typeface="Calibri" pitchFamily="34" charset="-120"/>
              </a:rPr>
              <a:t>de performance.</a:t>
            </a:r>
            <a:endParaRPr lang="en-US" sz="1900" dirty="0"/>
          </a:p>
        </p:txBody>
      </p:sp>
      <p:sp>
        <p:nvSpPr>
          <p:cNvPr id="6" name="Shape 4"/>
          <p:cNvSpPr/>
          <p:nvPr/>
        </p:nvSpPr>
        <p:spPr>
          <a:xfrm>
            <a:off x="475488" y="1847088"/>
            <a:ext cx="329184" cy="0"/>
          </a:xfrm>
          <a:prstGeom prst="line">
            <a:avLst/>
          </a:prstGeom>
          <a:noFill/>
          <a:ln w="31750">
            <a:solidFill>
              <a:srgbClr val="C9A84C"/>
            </a:solidFill>
            <a:prstDash val="solid"/>
          </a:ln>
        </p:spPr>
        <p:txBody>
          <a:bodyPr/>
          <a:lstStyle/>
          <a:p>
            <a:endParaRPr lang="en-CA"/>
          </a:p>
        </p:txBody>
      </p:sp>
      <p:sp>
        <p:nvSpPr>
          <p:cNvPr id="7" name="Text 5"/>
          <p:cNvSpPr/>
          <p:nvPr/>
        </p:nvSpPr>
        <p:spPr>
          <a:xfrm>
            <a:off x="475488" y="1993392"/>
            <a:ext cx="2834640" cy="877824"/>
          </a:xfrm>
          <a:prstGeom prst="rect">
            <a:avLst/>
          </a:prstGeom>
          <a:noFill/>
          <a:ln/>
        </p:spPr>
        <p:txBody>
          <a:bodyPr wrap="square" lIns="0" tIns="0" rIns="0" bIns="0" rtlCol="0" anchor="t"/>
          <a:lstStyle/>
          <a:p>
            <a:pPr marL="0" indent="0">
              <a:lnSpc>
                <a:spcPct val="150000"/>
              </a:lnSpc>
              <a:buNone/>
            </a:pPr>
            <a:r>
              <a:rPr lang="en-US" sz="900" dirty="0">
                <a:solidFill>
                  <a:srgbClr val="555555"/>
                </a:solidFill>
                <a:latin typeface="Calibri" pitchFamily="34" charset="0"/>
                <a:ea typeface="Calibri" pitchFamily="34" charset="-122"/>
                <a:cs typeface="Calibri" pitchFamily="34" charset="-120"/>
              </a:rPr>
              <a:t>Avant d'analyser les débits, on vérifie la conformité cryptographique. Cette section montre le principe KAT, les suites exécutées, les résultats détaillés et le pipeline de mesure.</a:t>
            </a:r>
            <a:endParaRPr lang="en-US" sz="900" dirty="0"/>
          </a:p>
        </p:txBody>
      </p:sp>
      <p:sp>
        <p:nvSpPr>
          <p:cNvPr id="9" name="Shape 7"/>
          <p:cNvSpPr/>
          <p:nvPr/>
        </p:nvSpPr>
        <p:spPr>
          <a:xfrm>
            <a:off x="3438144" y="402336"/>
            <a:ext cx="0" cy="4315968"/>
          </a:xfrm>
          <a:prstGeom prst="line">
            <a:avLst/>
          </a:prstGeom>
          <a:noFill/>
          <a:ln w="10160">
            <a:solidFill>
              <a:srgbClr val="E8E8E8"/>
            </a:solidFill>
            <a:prstDash val="solid"/>
          </a:ln>
        </p:spPr>
        <p:txBody>
          <a:bodyPr/>
          <a:lstStyle/>
          <a:p>
            <a:endParaRPr lang="en-CA"/>
          </a:p>
        </p:txBody>
      </p:sp>
      <p:sp>
        <p:nvSpPr>
          <p:cNvPr id="10" name="Shape 8"/>
          <p:cNvSpPr/>
          <p:nvPr/>
        </p:nvSpPr>
        <p:spPr>
          <a:xfrm>
            <a:off x="3675888" y="548640"/>
            <a:ext cx="256032" cy="256032"/>
          </a:xfrm>
          <a:prstGeom prst="ellipse">
            <a:avLst/>
          </a:prstGeom>
          <a:solidFill>
            <a:srgbClr val="0A0A0A"/>
          </a:solidFill>
          <a:ln w="12700">
            <a:solidFill>
              <a:srgbClr val="0A0A0A"/>
            </a:solidFill>
            <a:prstDash val="solid"/>
          </a:ln>
        </p:spPr>
        <p:txBody>
          <a:bodyPr/>
          <a:lstStyle/>
          <a:p>
            <a:endParaRPr lang="en-CA"/>
          </a:p>
        </p:txBody>
      </p:sp>
      <p:sp>
        <p:nvSpPr>
          <p:cNvPr id="11" name="Text 9"/>
          <p:cNvSpPr/>
          <p:nvPr/>
        </p:nvSpPr>
        <p:spPr>
          <a:xfrm>
            <a:off x="3675888" y="548640"/>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1</a:t>
            </a:r>
            <a:endParaRPr lang="en-US" sz="900" dirty="0"/>
          </a:p>
        </p:txBody>
      </p:sp>
      <p:sp>
        <p:nvSpPr>
          <p:cNvPr id="12" name="Text 10"/>
          <p:cNvSpPr/>
          <p:nvPr/>
        </p:nvSpPr>
        <p:spPr>
          <a:xfrm>
            <a:off x="4005072" y="512064"/>
            <a:ext cx="4206240" cy="237744"/>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Principe KAT et références normatives</a:t>
            </a:r>
            <a:endParaRPr lang="en-US" sz="950" dirty="0"/>
          </a:p>
        </p:txBody>
      </p:sp>
      <p:sp>
        <p:nvSpPr>
          <p:cNvPr id="13" name="Text 11"/>
          <p:cNvSpPr/>
          <p:nvPr/>
        </p:nvSpPr>
        <p:spPr>
          <a:xfrm>
            <a:off x="4005072" y="768096"/>
            <a:ext cx="4206240" cy="347472"/>
          </a:xfrm>
          <a:prstGeom prst="rect">
            <a:avLst/>
          </a:prstGeom>
          <a:noFill/>
          <a:ln/>
        </p:spPr>
        <p:txBody>
          <a:bodyPr wrap="square" lIns="0" tIns="0" rIns="0" bIns="0" rtlCol="0" anchor="t"/>
          <a:lstStyle/>
          <a:p>
            <a:pPr marL="0" indent="0">
              <a:lnSpc>
                <a:spcPct val="130000"/>
              </a:lnSpc>
              <a:buNone/>
            </a:pPr>
            <a:r>
              <a:rPr lang="en-US" sz="750" dirty="0">
                <a:solidFill>
                  <a:srgbClr val="888888"/>
                </a:solidFill>
                <a:latin typeface="Calibri" pitchFamily="34" charset="0"/>
                <a:ea typeface="Calibri" pitchFamily="34" charset="-122"/>
                <a:cs typeface="Calibri" pitchFamily="34" charset="-120"/>
              </a:rPr>
              <a:t>Entrée connue, sortie attendue, comparaison bit à bit selon les sources NIST et RFC.</a:t>
            </a:r>
            <a:endParaRPr lang="en-US" sz="750" dirty="0"/>
          </a:p>
        </p:txBody>
      </p:sp>
      <p:sp>
        <p:nvSpPr>
          <p:cNvPr id="14" name="Shape 12"/>
          <p:cNvSpPr/>
          <p:nvPr/>
        </p:nvSpPr>
        <p:spPr>
          <a:xfrm>
            <a:off x="8321040" y="585216"/>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5" name="Text 13"/>
          <p:cNvSpPr/>
          <p:nvPr/>
        </p:nvSpPr>
        <p:spPr>
          <a:xfrm>
            <a:off x="8321040" y="585216"/>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03a</a:t>
            </a:r>
            <a:endParaRPr lang="en-US" sz="700" dirty="0"/>
          </a:p>
        </p:txBody>
      </p:sp>
      <p:sp>
        <p:nvSpPr>
          <p:cNvPr id="16" name="Shape 14"/>
          <p:cNvSpPr/>
          <p:nvPr/>
        </p:nvSpPr>
        <p:spPr>
          <a:xfrm>
            <a:off x="4005072" y="1408176"/>
            <a:ext cx="4773168" cy="0"/>
          </a:xfrm>
          <a:prstGeom prst="line">
            <a:avLst/>
          </a:prstGeom>
          <a:noFill/>
          <a:ln w="7620">
            <a:solidFill>
              <a:srgbClr val="F5F5F5"/>
            </a:solidFill>
            <a:prstDash val="solid"/>
          </a:ln>
        </p:spPr>
        <p:txBody>
          <a:bodyPr/>
          <a:lstStyle/>
          <a:p>
            <a:endParaRPr lang="en-CA"/>
          </a:p>
        </p:txBody>
      </p:sp>
      <p:sp>
        <p:nvSpPr>
          <p:cNvPr id="17" name="Shape 15"/>
          <p:cNvSpPr/>
          <p:nvPr/>
        </p:nvSpPr>
        <p:spPr>
          <a:xfrm>
            <a:off x="3675888" y="1517904"/>
            <a:ext cx="256032" cy="256032"/>
          </a:xfrm>
          <a:prstGeom prst="ellipse">
            <a:avLst/>
          </a:prstGeom>
          <a:solidFill>
            <a:srgbClr val="0A0A0A"/>
          </a:solidFill>
          <a:ln w="12700">
            <a:solidFill>
              <a:srgbClr val="0A0A0A"/>
            </a:solidFill>
            <a:prstDash val="solid"/>
          </a:ln>
        </p:spPr>
        <p:txBody>
          <a:bodyPr/>
          <a:lstStyle/>
          <a:p>
            <a:endParaRPr lang="en-CA"/>
          </a:p>
        </p:txBody>
      </p:sp>
      <p:sp>
        <p:nvSpPr>
          <p:cNvPr id="18" name="Text 16"/>
          <p:cNvSpPr/>
          <p:nvPr/>
        </p:nvSpPr>
        <p:spPr>
          <a:xfrm>
            <a:off x="3675888" y="1517904"/>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4005072" y="1481328"/>
            <a:ext cx="4206240" cy="237744"/>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Résultats : </a:t>
            </a:r>
            <a:r>
              <a:rPr lang="fr-FR" sz="950" b="1" dirty="0">
                <a:solidFill>
                  <a:srgbClr val="0A0A0A"/>
                </a:solidFill>
                <a:latin typeface="Calibri" pitchFamily="34" charset="0"/>
                <a:ea typeface="Calibri" pitchFamily="34" charset="-122"/>
                <a:cs typeface="Calibri" pitchFamily="34" charset="-120"/>
              </a:rPr>
              <a:t>48 assertions par plateforme, 100% PASS</a:t>
            </a:r>
            <a:endParaRPr lang="en-US" sz="950" dirty="0"/>
          </a:p>
        </p:txBody>
      </p:sp>
      <p:sp>
        <p:nvSpPr>
          <p:cNvPr id="20" name="Text 18"/>
          <p:cNvSpPr/>
          <p:nvPr/>
        </p:nvSpPr>
        <p:spPr>
          <a:xfrm>
            <a:off x="4005072" y="1737360"/>
            <a:ext cx="4206240" cy="347472"/>
          </a:xfrm>
          <a:prstGeom prst="rect">
            <a:avLst/>
          </a:prstGeom>
          <a:noFill/>
          <a:ln/>
        </p:spPr>
        <p:txBody>
          <a:bodyPr wrap="square" lIns="0" tIns="0" rIns="0" bIns="0" rtlCol="0" anchor="t"/>
          <a:lstStyle/>
          <a:p>
            <a:pPr marL="0" indent="0">
              <a:lnSpc>
                <a:spcPct val="130000"/>
              </a:lnSpc>
              <a:buNone/>
            </a:pPr>
            <a:r>
              <a:rPr lang="en-US" sz="750" dirty="0">
                <a:solidFill>
                  <a:srgbClr val="888888"/>
                </a:solidFill>
                <a:latin typeface="Calibri" pitchFamily="34" charset="0"/>
                <a:ea typeface="Calibri" pitchFamily="34" charset="-122"/>
                <a:cs typeface="Calibri" pitchFamily="34" charset="-120"/>
              </a:rPr>
              <a:t>6 suites KAT exécutées sur x86 et ARM — conformité validée sur les deux plateformes.</a:t>
            </a:r>
            <a:endParaRPr lang="en-US" sz="750" dirty="0"/>
          </a:p>
        </p:txBody>
      </p:sp>
      <p:sp>
        <p:nvSpPr>
          <p:cNvPr id="21" name="Shape 19"/>
          <p:cNvSpPr/>
          <p:nvPr/>
        </p:nvSpPr>
        <p:spPr>
          <a:xfrm>
            <a:off x="8321040" y="1554480"/>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2" name="Text 20"/>
          <p:cNvSpPr/>
          <p:nvPr/>
        </p:nvSpPr>
        <p:spPr>
          <a:xfrm>
            <a:off x="8321040" y="1554480"/>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03b</a:t>
            </a:r>
            <a:endParaRPr lang="en-US" sz="700" dirty="0"/>
          </a:p>
        </p:txBody>
      </p:sp>
      <p:sp>
        <p:nvSpPr>
          <p:cNvPr id="23" name="Shape 21"/>
          <p:cNvSpPr/>
          <p:nvPr/>
        </p:nvSpPr>
        <p:spPr>
          <a:xfrm>
            <a:off x="4005072" y="2377440"/>
            <a:ext cx="4773168" cy="0"/>
          </a:xfrm>
          <a:prstGeom prst="line">
            <a:avLst/>
          </a:prstGeom>
          <a:noFill/>
          <a:ln w="7620">
            <a:solidFill>
              <a:srgbClr val="F5F5F5"/>
            </a:solidFill>
            <a:prstDash val="solid"/>
          </a:ln>
        </p:spPr>
        <p:txBody>
          <a:bodyPr/>
          <a:lstStyle/>
          <a:p>
            <a:endParaRPr lang="en-CA"/>
          </a:p>
        </p:txBody>
      </p:sp>
      <p:sp>
        <p:nvSpPr>
          <p:cNvPr id="24" name="Shape 22"/>
          <p:cNvSpPr/>
          <p:nvPr/>
        </p:nvSpPr>
        <p:spPr>
          <a:xfrm>
            <a:off x="3675888" y="2487168"/>
            <a:ext cx="256032" cy="256032"/>
          </a:xfrm>
          <a:prstGeom prst="ellipse">
            <a:avLst/>
          </a:prstGeom>
          <a:solidFill>
            <a:srgbClr val="0A0A0A"/>
          </a:solidFill>
          <a:ln w="12700">
            <a:solidFill>
              <a:srgbClr val="0A0A0A"/>
            </a:solidFill>
            <a:prstDash val="solid"/>
          </a:ln>
        </p:spPr>
        <p:txBody>
          <a:bodyPr/>
          <a:lstStyle/>
          <a:p>
            <a:endParaRPr lang="en-CA"/>
          </a:p>
        </p:txBody>
      </p:sp>
      <p:sp>
        <p:nvSpPr>
          <p:cNvPr id="25" name="Text 23"/>
          <p:cNvSpPr/>
          <p:nvPr/>
        </p:nvSpPr>
        <p:spPr>
          <a:xfrm>
            <a:off x="3675888" y="2487168"/>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3</a:t>
            </a:r>
            <a:endParaRPr lang="en-US" sz="900" dirty="0"/>
          </a:p>
        </p:txBody>
      </p:sp>
      <p:sp>
        <p:nvSpPr>
          <p:cNvPr id="26" name="Text 24"/>
          <p:cNvSpPr/>
          <p:nvPr/>
        </p:nvSpPr>
        <p:spPr>
          <a:xfrm>
            <a:off x="4005072" y="2450592"/>
            <a:ext cx="4206240" cy="237744"/>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Tableau détaillé des suites</a:t>
            </a:r>
            <a:endParaRPr lang="en-US" sz="950" dirty="0"/>
          </a:p>
        </p:txBody>
      </p:sp>
      <p:sp>
        <p:nvSpPr>
          <p:cNvPr id="27" name="Text 25"/>
          <p:cNvSpPr/>
          <p:nvPr/>
        </p:nvSpPr>
        <p:spPr>
          <a:xfrm>
            <a:off x="4005072" y="2706624"/>
            <a:ext cx="4206240" cy="347472"/>
          </a:xfrm>
          <a:prstGeom prst="rect">
            <a:avLst/>
          </a:prstGeom>
          <a:noFill/>
          <a:ln/>
        </p:spPr>
        <p:txBody>
          <a:bodyPr wrap="square" lIns="0" tIns="0" rIns="0" bIns="0" rtlCol="0" anchor="t"/>
          <a:lstStyle/>
          <a:p>
            <a:pPr marL="0" indent="0">
              <a:lnSpc>
                <a:spcPct val="130000"/>
              </a:lnSpc>
              <a:buNone/>
            </a:pPr>
            <a:r>
              <a:rPr lang="en-US" sz="750" dirty="0">
                <a:solidFill>
                  <a:srgbClr val="888888"/>
                </a:solidFill>
                <a:latin typeface="Calibri" pitchFamily="34" charset="0"/>
                <a:ea typeface="Calibri" pitchFamily="34" charset="-122"/>
                <a:cs typeface="Calibri" pitchFamily="34" charset="-120"/>
              </a:rPr>
              <a:t>Suite × source × référence exacte × assertions. Traçabilité complète par algorithme et mode.</a:t>
            </a:r>
            <a:endParaRPr lang="en-US" sz="750" dirty="0"/>
          </a:p>
        </p:txBody>
      </p:sp>
      <p:sp>
        <p:nvSpPr>
          <p:cNvPr id="28" name="Shape 26"/>
          <p:cNvSpPr/>
          <p:nvPr/>
        </p:nvSpPr>
        <p:spPr>
          <a:xfrm>
            <a:off x="8321040" y="2523744"/>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9" name="Text 27"/>
          <p:cNvSpPr/>
          <p:nvPr/>
        </p:nvSpPr>
        <p:spPr>
          <a:xfrm>
            <a:off x="8321040" y="2523744"/>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03c</a:t>
            </a:r>
            <a:endParaRPr lang="en-US" sz="700" dirty="0"/>
          </a:p>
        </p:txBody>
      </p:sp>
      <p:sp>
        <p:nvSpPr>
          <p:cNvPr id="30" name="Shape 28"/>
          <p:cNvSpPr/>
          <p:nvPr/>
        </p:nvSpPr>
        <p:spPr>
          <a:xfrm>
            <a:off x="4005072" y="3346704"/>
            <a:ext cx="4773168" cy="0"/>
          </a:xfrm>
          <a:prstGeom prst="line">
            <a:avLst/>
          </a:prstGeom>
          <a:noFill/>
          <a:ln w="7620">
            <a:solidFill>
              <a:srgbClr val="F5F5F5"/>
            </a:solidFill>
            <a:prstDash val="solid"/>
          </a:ln>
        </p:spPr>
        <p:txBody>
          <a:bodyPr/>
          <a:lstStyle/>
          <a:p>
            <a:endParaRPr lang="en-CA"/>
          </a:p>
        </p:txBody>
      </p:sp>
      <p:sp>
        <p:nvSpPr>
          <p:cNvPr id="31" name="Shape 29"/>
          <p:cNvSpPr/>
          <p:nvPr/>
        </p:nvSpPr>
        <p:spPr>
          <a:xfrm>
            <a:off x="3675888" y="3456432"/>
            <a:ext cx="256032" cy="256032"/>
          </a:xfrm>
          <a:prstGeom prst="ellipse">
            <a:avLst/>
          </a:prstGeom>
          <a:solidFill>
            <a:srgbClr val="0A0A0A"/>
          </a:solidFill>
          <a:ln w="12700">
            <a:solidFill>
              <a:srgbClr val="0A0A0A"/>
            </a:solidFill>
            <a:prstDash val="solid"/>
          </a:ln>
        </p:spPr>
        <p:txBody>
          <a:bodyPr/>
          <a:lstStyle/>
          <a:p>
            <a:endParaRPr lang="en-CA"/>
          </a:p>
        </p:txBody>
      </p:sp>
      <p:sp>
        <p:nvSpPr>
          <p:cNvPr id="32" name="Text 30"/>
          <p:cNvSpPr/>
          <p:nvPr/>
        </p:nvSpPr>
        <p:spPr>
          <a:xfrm>
            <a:off x="3675888" y="3456432"/>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4</a:t>
            </a:r>
            <a:endParaRPr lang="en-US" sz="900" dirty="0"/>
          </a:p>
        </p:txBody>
      </p:sp>
      <p:sp>
        <p:nvSpPr>
          <p:cNvPr id="33" name="Text 31"/>
          <p:cNvSpPr/>
          <p:nvPr/>
        </p:nvSpPr>
        <p:spPr>
          <a:xfrm>
            <a:off x="4005072" y="3419856"/>
            <a:ext cx="4206240" cy="237744"/>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Pipeline de mesure</a:t>
            </a:r>
            <a:endParaRPr lang="en-US" sz="950" dirty="0"/>
          </a:p>
        </p:txBody>
      </p:sp>
      <p:sp>
        <p:nvSpPr>
          <p:cNvPr id="34" name="Text 32"/>
          <p:cNvSpPr/>
          <p:nvPr/>
        </p:nvSpPr>
        <p:spPr>
          <a:xfrm>
            <a:off x="4005072" y="3675888"/>
            <a:ext cx="4206240" cy="347472"/>
          </a:xfrm>
          <a:prstGeom prst="rect">
            <a:avLst/>
          </a:prstGeom>
          <a:noFill/>
          <a:ln/>
        </p:spPr>
        <p:txBody>
          <a:bodyPr wrap="square" lIns="0" tIns="0" rIns="0" bIns="0" rtlCol="0" anchor="t"/>
          <a:lstStyle/>
          <a:p>
            <a:pPr marL="0" indent="0">
              <a:lnSpc>
                <a:spcPct val="130000"/>
              </a:lnSpc>
              <a:buNone/>
            </a:pPr>
            <a:r>
              <a:rPr lang="en-US" sz="750" dirty="0">
                <a:solidFill>
                  <a:srgbClr val="888888"/>
                </a:solidFill>
                <a:latin typeface="Calibri" pitchFamily="34" charset="0"/>
                <a:ea typeface="Calibri" pitchFamily="34" charset="-122"/>
                <a:cs typeface="Calibri" pitchFamily="34" charset="-120"/>
              </a:rPr>
              <a:t>De experiment.py jusqu'au CSV — même </a:t>
            </a:r>
            <a:r>
              <a:rPr lang="en-US" sz="750" dirty="0" err="1">
                <a:solidFill>
                  <a:srgbClr val="888888"/>
                </a:solidFill>
                <a:latin typeface="Calibri" pitchFamily="34" charset="0"/>
                <a:ea typeface="Calibri" pitchFamily="34" charset="-122"/>
                <a:cs typeface="Calibri" pitchFamily="34" charset="-120"/>
              </a:rPr>
              <a:t>protocole</a:t>
            </a:r>
            <a:r>
              <a:rPr lang="en-US" sz="750" dirty="0">
                <a:solidFill>
                  <a:srgbClr val="888888"/>
                </a:solidFill>
                <a:latin typeface="Calibri" pitchFamily="34" charset="0"/>
                <a:ea typeface="Calibri" pitchFamily="34" charset="-122"/>
                <a:cs typeface="Calibri" pitchFamily="34" charset="-120"/>
              </a:rPr>
              <a:t> sur x86 et ARM </a:t>
            </a:r>
            <a:r>
              <a:rPr lang="fr-FR" sz="750" dirty="0">
                <a:solidFill>
                  <a:srgbClr val="888888"/>
                </a:solidFill>
                <a:latin typeface="Calibri" pitchFamily="34" charset="0"/>
                <a:ea typeface="Calibri" pitchFamily="34" charset="-122"/>
                <a:cs typeface="Calibri" pitchFamily="34" charset="-120"/>
              </a:rPr>
              <a:t>renforce la reproductibilité et la comparabilité inter-plateformes</a:t>
            </a:r>
            <a:r>
              <a:rPr lang="en-US" sz="750" dirty="0">
                <a:solidFill>
                  <a:srgbClr val="888888"/>
                </a:solidFill>
                <a:latin typeface="Calibri" pitchFamily="34" charset="0"/>
                <a:ea typeface="Calibri" pitchFamily="34" charset="-122"/>
                <a:cs typeface="Calibri" pitchFamily="34" charset="-120"/>
              </a:rPr>
              <a:t>.</a:t>
            </a:r>
            <a:endParaRPr lang="en-US" sz="750" dirty="0"/>
          </a:p>
        </p:txBody>
      </p:sp>
      <p:sp>
        <p:nvSpPr>
          <p:cNvPr id="35" name="Shape 33"/>
          <p:cNvSpPr/>
          <p:nvPr/>
        </p:nvSpPr>
        <p:spPr>
          <a:xfrm>
            <a:off x="8321040" y="3493008"/>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36" name="Text 34"/>
          <p:cNvSpPr/>
          <p:nvPr/>
        </p:nvSpPr>
        <p:spPr>
          <a:xfrm>
            <a:off x="8321040" y="3493008"/>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03d</a:t>
            </a:r>
            <a:endParaRPr lang="en-US" sz="700" dirty="0"/>
          </a:p>
        </p:txBody>
      </p:sp>
      <p:sp>
        <p:nvSpPr>
          <p:cNvPr id="37" name="Text 35"/>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75488" y="182880"/>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03a  ·  VALIDATION CRYPTOGRAPHIQUE — KAT</a:t>
            </a:r>
            <a:endParaRPr lang="en-US" sz="800" dirty="0"/>
          </a:p>
        </p:txBody>
      </p:sp>
      <p:sp>
        <p:nvSpPr>
          <p:cNvPr id="4" name="Text 2"/>
          <p:cNvSpPr/>
          <p:nvPr/>
        </p:nvSpPr>
        <p:spPr>
          <a:xfrm>
            <a:off x="475488" y="365760"/>
            <a:ext cx="6400800" cy="347472"/>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Qu’est-ce qu’un </a:t>
            </a:r>
            <a:r>
              <a:rPr lang="en-US" sz="1500" b="1" dirty="0">
                <a:solidFill>
                  <a:srgbClr val="C9A84C"/>
                </a:solidFill>
                <a:latin typeface="Calibri" pitchFamily="34" charset="0"/>
                <a:ea typeface="Calibri" pitchFamily="34" charset="-122"/>
                <a:cs typeface="Calibri" pitchFamily="34" charset="-120"/>
              </a:rPr>
              <a:t>KAT</a:t>
            </a:r>
            <a:r>
              <a:rPr lang="en-US" sz="1500" b="1" dirty="0">
                <a:solidFill>
                  <a:srgbClr val="0A0A0A"/>
                </a:solidFill>
                <a:latin typeface="Calibri" pitchFamily="34" charset="0"/>
                <a:ea typeface="Calibri" pitchFamily="34" charset="-122"/>
                <a:cs typeface="Calibri" pitchFamily="34" charset="-120"/>
              </a:rPr>
              <a:t> ?</a:t>
            </a:r>
            <a:endParaRPr lang="en-US" sz="1500" dirty="0"/>
          </a:p>
        </p:txBody>
      </p:sp>
      <p:sp>
        <p:nvSpPr>
          <p:cNvPr id="5" name="Text 3"/>
          <p:cNvSpPr/>
          <p:nvPr/>
        </p:nvSpPr>
        <p:spPr>
          <a:xfrm>
            <a:off x="475488" y="841248"/>
            <a:ext cx="4754880" cy="512064"/>
          </a:xfrm>
          <a:prstGeom prst="rect">
            <a:avLst/>
          </a:prstGeom>
          <a:noFill/>
          <a:ln/>
        </p:spPr>
        <p:txBody>
          <a:bodyPr wrap="square" lIns="0" tIns="0" rIns="0" bIns="0" rtlCol="0" anchor="ctr"/>
          <a:lstStyle/>
          <a:p>
            <a:pPr marL="0" indent="0">
              <a:buNone/>
            </a:pPr>
            <a:r>
              <a:rPr lang="en-US" sz="2400" b="1" dirty="0">
                <a:solidFill>
                  <a:srgbClr val="0A0A0A"/>
                </a:solidFill>
                <a:latin typeface="Calibri" pitchFamily="34" charset="0"/>
                <a:ea typeface="Calibri" pitchFamily="34" charset="-122"/>
                <a:cs typeface="Calibri" pitchFamily="34" charset="-120"/>
              </a:rPr>
              <a:t>Known Answer Test</a:t>
            </a:r>
            <a:endParaRPr lang="en-US" sz="2400" dirty="0"/>
          </a:p>
        </p:txBody>
      </p:sp>
      <p:sp>
        <p:nvSpPr>
          <p:cNvPr id="6" name="Shape 4"/>
          <p:cNvSpPr/>
          <p:nvPr/>
        </p:nvSpPr>
        <p:spPr>
          <a:xfrm>
            <a:off x="475488" y="1408176"/>
            <a:ext cx="365760" cy="0"/>
          </a:xfrm>
          <a:prstGeom prst="line">
            <a:avLst/>
          </a:prstGeom>
          <a:noFill/>
          <a:ln w="31750">
            <a:solidFill>
              <a:srgbClr val="C9A84C"/>
            </a:solidFill>
            <a:prstDash val="solid"/>
          </a:ln>
        </p:spPr>
        <p:txBody>
          <a:bodyPr/>
          <a:lstStyle/>
          <a:p>
            <a:endParaRPr lang="en-CA"/>
          </a:p>
        </p:txBody>
      </p:sp>
      <p:sp>
        <p:nvSpPr>
          <p:cNvPr id="7" name="Text 5"/>
          <p:cNvSpPr/>
          <p:nvPr/>
        </p:nvSpPr>
        <p:spPr>
          <a:xfrm>
            <a:off x="475488" y="1554480"/>
            <a:ext cx="4754880" cy="1005840"/>
          </a:xfrm>
          <a:prstGeom prst="rect">
            <a:avLst/>
          </a:prstGeom>
          <a:noFill/>
          <a:ln/>
        </p:spPr>
        <p:txBody>
          <a:bodyPr wrap="square" lIns="0" tIns="0" rIns="0" bIns="0" rtlCol="0" anchor="t"/>
          <a:lstStyle/>
          <a:p>
            <a:pPr marL="0" indent="0">
              <a:lnSpc>
                <a:spcPct val="160000"/>
              </a:lnSpc>
              <a:buNone/>
            </a:pPr>
            <a:r>
              <a:rPr lang="en-US" sz="1100" dirty="0">
                <a:solidFill>
                  <a:srgbClr val="333333"/>
                </a:solidFill>
                <a:latin typeface="Calibri" pitchFamily="34" charset="0"/>
                <a:ea typeface="Calibri" pitchFamily="34" charset="-122"/>
                <a:cs typeface="Calibri" pitchFamily="34" charset="-120"/>
              </a:rPr>
              <a:t>On soumet une entrée </a:t>
            </a:r>
            <a:r>
              <a:rPr lang="en-US" sz="1100" b="1" dirty="0">
                <a:solidFill>
                  <a:srgbClr val="0A0A0A"/>
                </a:solidFill>
                <a:latin typeface="Calibri" pitchFamily="34" charset="0"/>
                <a:ea typeface="Calibri" pitchFamily="34" charset="-122"/>
                <a:cs typeface="Calibri" pitchFamily="34" charset="-120"/>
              </a:rPr>
              <a:t>connue</a:t>
            </a:r>
            <a:r>
              <a:rPr lang="en-US" sz="1100" dirty="0">
                <a:solidFill>
                  <a:srgbClr val="333333"/>
                </a:solidFill>
                <a:latin typeface="Calibri" pitchFamily="34" charset="0"/>
                <a:ea typeface="Calibri" pitchFamily="34" charset="-122"/>
                <a:cs typeface="Calibri" pitchFamily="34" charset="-120"/>
              </a:rPr>
              <a:t> à l'algorithme.
On compare la sortie à une valeur </a:t>
            </a:r>
            <a:r>
              <a:rPr lang="en-US" sz="1100" b="1" dirty="0">
                <a:solidFill>
                  <a:srgbClr val="0A0A0A"/>
                </a:solidFill>
                <a:latin typeface="Calibri" pitchFamily="34" charset="0"/>
                <a:ea typeface="Calibri" pitchFamily="34" charset="-122"/>
                <a:cs typeface="Calibri" pitchFamily="34" charset="-120"/>
              </a:rPr>
              <a:t>de référence normative</a:t>
            </a:r>
            <a:r>
              <a:rPr lang="en-US" sz="1100" dirty="0">
                <a:solidFill>
                  <a:srgbClr val="333333"/>
                </a:solidFill>
                <a:latin typeface="Calibri" pitchFamily="34" charset="0"/>
                <a:ea typeface="Calibri" pitchFamily="34" charset="-122"/>
                <a:cs typeface="Calibri" pitchFamily="34" charset="-120"/>
              </a:rPr>
              <a:t>.
Si elles sont identiques → l'implémentation est </a:t>
            </a:r>
            <a:r>
              <a:rPr lang="en-US" sz="1100" b="1" dirty="0">
                <a:solidFill>
                  <a:srgbClr val="3A7A3A"/>
                </a:solidFill>
                <a:latin typeface="Calibri" pitchFamily="34" charset="0"/>
                <a:ea typeface="Calibri" pitchFamily="34" charset="-122"/>
                <a:cs typeface="Calibri" pitchFamily="34" charset="-120"/>
              </a:rPr>
              <a:t>cryptographiquement correcte</a:t>
            </a:r>
            <a:r>
              <a:rPr lang="en-US" sz="1100" dirty="0">
                <a:solidFill>
                  <a:srgbClr val="333333"/>
                </a:solidFill>
                <a:latin typeface="Calibri" pitchFamily="34" charset="0"/>
                <a:ea typeface="Calibri" pitchFamily="34" charset="-122"/>
                <a:cs typeface="Calibri" pitchFamily="34" charset="-120"/>
              </a:rPr>
              <a:t>.</a:t>
            </a:r>
            <a:endParaRPr lang="en-US" sz="1100" dirty="0"/>
          </a:p>
        </p:txBody>
      </p:sp>
      <p:sp>
        <p:nvSpPr>
          <p:cNvPr id="8" name="Shape 6"/>
          <p:cNvSpPr/>
          <p:nvPr/>
        </p:nvSpPr>
        <p:spPr>
          <a:xfrm>
            <a:off x="475488" y="2761488"/>
            <a:ext cx="4535423" cy="1005840"/>
          </a:xfrm>
          <a:prstGeom prst="roundRect">
            <a:avLst>
              <a:gd name="adj" fmla="val 9091"/>
            </a:avLst>
          </a:prstGeom>
          <a:solidFill>
            <a:srgbClr val="FFFBF0"/>
          </a:solidFill>
          <a:ln w="10160">
            <a:solidFill>
              <a:srgbClr val="E8D090"/>
            </a:solidFill>
            <a:prstDash val="solid"/>
          </a:ln>
        </p:spPr>
        <p:txBody>
          <a:bodyPr/>
          <a:lstStyle/>
          <a:p>
            <a:endParaRPr lang="en-CA"/>
          </a:p>
        </p:txBody>
      </p:sp>
      <p:sp>
        <p:nvSpPr>
          <p:cNvPr id="9" name="Shape 7"/>
          <p:cNvSpPr/>
          <p:nvPr/>
        </p:nvSpPr>
        <p:spPr>
          <a:xfrm>
            <a:off x="603504" y="2834640"/>
            <a:ext cx="0" cy="859536"/>
          </a:xfrm>
          <a:prstGeom prst="line">
            <a:avLst/>
          </a:prstGeom>
          <a:noFill/>
          <a:ln w="31750">
            <a:solidFill>
              <a:srgbClr val="C9A84C"/>
            </a:solidFill>
            <a:prstDash val="solid"/>
          </a:ln>
        </p:spPr>
        <p:txBody>
          <a:bodyPr/>
          <a:lstStyle/>
          <a:p>
            <a:endParaRPr lang="en-CA"/>
          </a:p>
        </p:txBody>
      </p:sp>
      <p:sp>
        <p:nvSpPr>
          <p:cNvPr id="10" name="Text 8"/>
          <p:cNvSpPr/>
          <p:nvPr/>
        </p:nvSpPr>
        <p:spPr>
          <a:xfrm>
            <a:off x="749808" y="2798064"/>
            <a:ext cx="4071572" cy="640080"/>
          </a:xfrm>
          <a:prstGeom prst="rect">
            <a:avLst/>
          </a:prstGeom>
          <a:noFill/>
          <a:ln/>
        </p:spPr>
        <p:txBody>
          <a:bodyPr wrap="square" lIns="0" tIns="0" rIns="0" bIns="0" rtlCol="0" anchor="ctr"/>
          <a:lstStyle/>
          <a:p>
            <a:pPr marL="0" indent="0">
              <a:lnSpc>
                <a:spcPct val="150000"/>
              </a:lnSpc>
              <a:buNone/>
            </a:pPr>
            <a:r>
              <a:rPr lang="en-US" sz="950" i="1" dirty="0">
                <a:solidFill>
                  <a:srgbClr val="777777"/>
                </a:solidFill>
                <a:latin typeface="Calibri" pitchFamily="34" charset="0"/>
                <a:ea typeface="Calibri" pitchFamily="34" charset="-122"/>
                <a:cs typeface="Calibri" pitchFamily="34" charset="-120"/>
              </a:rPr>
              <a:t>"Un algorithme rapide mais incorrect invalide toute mesure de performance. Le KAT est le prérequis méthodologique avant toute expérimentation."</a:t>
            </a:r>
            <a:endParaRPr lang="en-US" sz="950" dirty="0"/>
          </a:p>
        </p:txBody>
      </p:sp>
      <p:sp>
        <p:nvSpPr>
          <p:cNvPr id="11" name="Text 9"/>
          <p:cNvSpPr/>
          <p:nvPr/>
        </p:nvSpPr>
        <p:spPr>
          <a:xfrm>
            <a:off x="749808" y="3456432"/>
            <a:ext cx="4352544" cy="219456"/>
          </a:xfrm>
          <a:prstGeom prst="rect">
            <a:avLst/>
          </a:prstGeom>
          <a:noFill/>
          <a:ln/>
        </p:spPr>
        <p:txBody>
          <a:bodyPr wrap="square" lIns="0" tIns="0" rIns="0" bIns="0" rtlCol="0" anchor="ctr"/>
          <a:lstStyle/>
          <a:p>
            <a:pPr marL="0" indent="0">
              <a:buNone/>
            </a:pPr>
            <a:r>
              <a:rPr lang="en-US" sz="800" b="1" dirty="0">
                <a:solidFill>
                  <a:srgbClr val="C9A84C"/>
                </a:solidFill>
                <a:latin typeface="Calibri" pitchFamily="34" charset="0"/>
                <a:ea typeface="Calibri" pitchFamily="34" charset="-122"/>
                <a:cs typeface="Calibri" pitchFamily="34" charset="-120"/>
              </a:rPr>
              <a:t>Prérequis avant toute mesure de performance</a:t>
            </a:r>
            <a:endParaRPr lang="en-US" sz="800" dirty="0"/>
          </a:p>
        </p:txBody>
      </p:sp>
      <p:sp>
        <p:nvSpPr>
          <p:cNvPr id="12" name="Shape 10"/>
          <p:cNvSpPr/>
          <p:nvPr/>
        </p:nvSpPr>
        <p:spPr>
          <a:xfrm>
            <a:off x="5394960" y="932688"/>
            <a:ext cx="0" cy="3383280"/>
          </a:xfrm>
          <a:prstGeom prst="line">
            <a:avLst/>
          </a:prstGeom>
          <a:noFill/>
          <a:ln w="10160">
            <a:solidFill>
              <a:srgbClr val="EBEBEB"/>
            </a:solidFill>
            <a:prstDash val="solid"/>
          </a:ln>
        </p:spPr>
        <p:txBody>
          <a:bodyPr/>
          <a:lstStyle/>
          <a:p>
            <a:endParaRPr lang="en-CA"/>
          </a:p>
        </p:txBody>
      </p:sp>
      <p:sp>
        <p:nvSpPr>
          <p:cNvPr id="13" name="Text 11"/>
          <p:cNvSpPr/>
          <p:nvPr/>
        </p:nvSpPr>
        <p:spPr>
          <a:xfrm>
            <a:off x="5614416" y="841248"/>
            <a:ext cx="3163824" cy="201168"/>
          </a:xfrm>
          <a:prstGeom prst="rect">
            <a:avLst/>
          </a:prstGeom>
          <a:noFill/>
          <a:ln/>
        </p:spPr>
        <p:txBody>
          <a:bodyPr wrap="square" lIns="0" tIns="0" rIns="0" bIns="0" rtlCol="0" anchor="ctr"/>
          <a:lstStyle/>
          <a:p>
            <a:pPr marL="0" indent="0">
              <a:buNone/>
            </a:pPr>
            <a:r>
              <a:rPr lang="en-US" sz="750" b="1" kern="0" spc="200" dirty="0">
                <a:solidFill>
                  <a:srgbClr val="C9A84C"/>
                </a:solidFill>
                <a:latin typeface="Calibri" pitchFamily="34" charset="0"/>
                <a:ea typeface="Calibri" pitchFamily="34" charset="-122"/>
                <a:cs typeface="Calibri" pitchFamily="34" charset="-120"/>
              </a:rPr>
              <a:t>SOURCES NORMATIVES</a:t>
            </a:r>
            <a:endParaRPr lang="en-US" sz="750" dirty="0"/>
          </a:p>
        </p:txBody>
      </p:sp>
      <p:sp>
        <p:nvSpPr>
          <p:cNvPr id="14" name="Shape 12"/>
          <p:cNvSpPr/>
          <p:nvPr/>
        </p:nvSpPr>
        <p:spPr>
          <a:xfrm>
            <a:off x="5614416" y="1353312"/>
            <a:ext cx="73152" cy="73152"/>
          </a:xfrm>
          <a:prstGeom prst="ellipse">
            <a:avLst/>
          </a:prstGeom>
          <a:solidFill>
            <a:srgbClr val="C9A84C"/>
          </a:solidFill>
          <a:ln w="12700">
            <a:solidFill>
              <a:srgbClr val="C9A84C"/>
            </a:solidFill>
            <a:prstDash val="solid"/>
          </a:ln>
        </p:spPr>
        <p:txBody>
          <a:bodyPr/>
          <a:lstStyle/>
          <a:p>
            <a:endParaRPr lang="en-CA"/>
          </a:p>
        </p:txBody>
      </p:sp>
      <p:sp>
        <p:nvSpPr>
          <p:cNvPr id="15" name="Text 13"/>
          <p:cNvSpPr/>
          <p:nvPr/>
        </p:nvSpPr>
        <p:spPr>
          <a:xfrm>
            <a:off x="5779008" y="1243584"/>
            <a:ext cx="2999232" cy="201168"/>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NIST FIPS 197</a:t>
            </a:r>
            <a:endParaRPr lang="en-US" sz="950" dirty="0"/>
          </a:p>
        </p:txBody>
      </p:sp>
      <p:sp>
        <p:nvSpPr>
          <p:cNvPr id="16" name="Text 14"/>
          <p:cNvSpPr/>
          <p:nvPr/>
        </p:nvSpPr>
        <p:spPr>
          <a:xfrm>
            <a:off x="5779008" y="1444752"/>
            <a:ext cx="2999232" cy="164592"/>
          </a:xfrm>
          <a:prstGeom prst="rect">
            <a:avLst/>
          </a:prstGeom>
          <a:noFill/>
          <a:ln/>
        </p:spPr>
        <p:txBody>
          <a:bodyPr wrap="square" lIns="0" tIns="0" rIns="0" bIns="0" rtlCol="0" anchor="ctr"/>
          <a:lstStyle/>
          <a:p>
            <a:pPr marL="0" indent="0">
              <a:buNone/>
            </a:pPr>
            <a:r>
              <a:rPr lang="en-US" sz="800" dirty="0">
                <a:solidFill>
                  <a:srgbClr val="C0C0C0"/>
                </a:solidFill>
                <a:latin typeface="Calibri" pitchFamily="34" charset="0"/>
                <a:ea typeface="Calibri" pitchFamily="34" charset="-122"/>
                <a:cs typeface="Calibri" pitchFamily="34" charset="-120"/>
              </a:rPr>
              <a:t>AES</a:t>
            </a:r>
            <a:endParaRPr lang="en-US" sz="800" dirty="0"/>
          </a:p>
        </p:txBody>
      </p:sp>
      <p:sp>
        <p:nvSpPr>
          <p:cNvPr id="17" name="Shape 15"/>
          <p:cNvSpPr/>
          <p:nvPr/>
        </p:nvSpPr>
        <p:spPr>
          <a:xfrm>
            <a:off x="5614416" y="1627632"/>
            <a:ext cx="3163824" cy="0"/>
          </a:xfrm>
          <a:prstGeom prst="line">
            <a:avLst/>
          </a:prstGeom>
          <a:noFill/>
          <a:ln w="7620">
            <a:solidFill>
              <a:srgbClr val="F5F5F5"/>
            </a:solidFill>
            <a:prstDash val="solid"/>
          </a:ln>
        </p:spPr>
        <p:txBody>
          <a:bodyPr/>
          <a:lstStyle/>
          <a:p>
            <a:endParaRPr lang="en-CA"/>
          </a:p>
        </p:txBody>
      </p:sp>
      <p:sp>
        <p:nvSpPr>
          <p:cNvPr id="18" name="Shape 16"/>
          <p:cNvSpPr/>
          <p:nvPr/>
        </p:nvSpPr>
        <p:spPr>
          <a:xfrm>
            <a:off x="5614416" y="1847088"/>
            <a:ext cx="73152" cy="73152"/>
          </a:xfrm>
          <a:prstGeom prst="ellipse">
            <a:avLst/>
          </a:prstGeom>
          <a:solidFill>
            <a:srgbClr val="C9A84C"/>
          </a:solidFill>
          <a:ln w="12700">
            <a:solidFill>
              <a:srgbClr val="C9A84C"/>
            </a:solidFill>
            <a:prstDash val="solid"/>
          </a:ln>
        </p:spPr>
        <p:txBody>
          <a:bodyPr/>
          <a:lstStyle/>
          <a:p>
            <a:endParaRPr lang="en-CA"/>
          </a:p>
        </p:txBody>
      </p:sp>
      <p:sp>
        <p:nvSpPr>
          <p:cNvPr id="19" name="Text 17"/>
          <p:cNvSpPr/>
          <p:nvPr/>
        </p:nvSpPr>
        <p:spPr>
          <a:xfrm>
            <a:off x="5779008" y="1737360"/>
            <a:ext cx="2999232" cy="201168"/>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NIST SP 800-17</a:t>
            </a:r>
            <a:endParaRPr lang="en-US" sz="950" dirty="0"/>
          </a:p>
        </p:txBody>
      </p:sp>
      <p:sp>
        <p:nvSpPr>
          <p:cNvPr id="20" name="Text 18"/>
          <p:cNvSpPr/>
          <p:nvPr/>
        </p:nvSpPr>
        <p:spPr>
          <a:xfrm>
            <a:off x="5779008" y="1938528"/>
            <a:ext cx="2999232" cy="164592"/>
          </a:xfrm>
          <a:prstGeom prst="rect">
            <a:avLst/>
          </a:prstGeom>
          <a:noFill/>
          <a:ln/>
        </p:spPr>
        <p:txBody>
          <a:bodyPr wrap="square" lIns="0" tIns="0" rIns="0" bIns="0" rtlCol="0" anchor="ctr"/>
          <a:lstStyle/>
          <a:p>
            <a:pPr marL="0" indent="0">
              <a:buNone/>
            </a:pPr>
            <a:r>
              <a:rPr lang="en-US" sz="800" dirty="0">
                <a:solidFill>
                  <a:srgbClr val="C0C0C0"/>
                </a:solidFill>
                <a:latin typeface="Calibri" pitchFamily="34" charset="0"/>
                <a:ea typeface="Calibri" pitchFamily="34" charset="-122"/>
                <a:cs typeface="Calibri" pitchFamily="34" charset="-120"/>
              </a:rPr>
              <a:t>DES</a:t>
            </a:r>
            <a:endParaRPr lang="en-US" sz="800" dirty="0"/>
          </a:p>
        </p:txBody>
      </p:sp>
      <p:sp>
        <p:nvSpPr>
          <p:cNvPr id="21" name="Shape 19"/>
          <p:cNvSpPr/>
          <p:nvPr/>
        </p:nvSpPr>
        <p:spPr>
          <a:xfrm>
            <a:off x="5614416" y="2121408"/>
            <a:ext cx="3163824" cy="0"/>
          </a:xfrm>
          <a:prstGeom prst="line">
            <a:avLst/>
          </a:prstGeom>
          <a:noFill/>
          <a:ln w="7620">
            <a:solidFill>
              <a:srgbClr val="F5F5F5"/>
            </a:solidFill>
            <a:prstDash val="solid"/>
          </a:ln>
        </p:spPr>
        <p:txBody>
          <a:bodyPr/>
          <a:lstStyle/>
          <a:p>
            <a:endParaRPr lang="en-CA"/>
          </a:p>
        </p:txBody>
      </p:sp>
      <p:sp>
        <p:nvSpPr>
          <p:cNvPr id="22" name="Shape 20"/>
          <p:cNvSpPr/>
          <p:nvPr/>
        </p:nvSpPr>
        <p:spPr>
          <a:xfrm>
            <a:off x="5614416" y="2340864"/>
            <a:ext cx="73152" cy="73152"/>
          </a:xfrm>
          <a:prstGeom prst="ellipse">
            <a:avLst/>
          </a:prstGeom>
          <a:solidFill>
            <a:srgbClr val="C9A84C"/>
          </a:solidFill>
          <a:ln w="12700">
            <a:solidFill>
              <a:srgbClr val="C9A84C"/>
            </a:solidFill>
            <a:prstDash val="solid"/>
          </a:ln>
        </p:spPr>
        <p:txBody>
          <a:bodyPr/>
          <a:lstStyle/>
          <a:p>
            <a:endParaRPr lang="en-CA"/>
          </a:p>
        </p:txBody>
      </p:sp>
      <p:sp>
        <p:nvSpPr>
          <p:cNvPr id="23" name="Text 21"/>
          <p:cNvSpPr/>
          <p:nvPr/>
        </p:nvSpPr>
        <p:spPr>
          <a:xfrm>
            <a:off x="5779008" y="2231136"/>
            <a:ext cx="2999232" cy="201168"/>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NIST SP 800-67 Rev.2</a:t>
            </a:r>
            <a:endParaRPr lang="en-US" sz="950" dirty="0"/>
          </a:p>
        </p:txBody>
      </p:sp>
      <p:sp>
        <p:nvSpPr>
          <p:cNvPr id="24" name="Text 22"/>
          <p:cNvSpPr/>
          <p:nvPr/>
        </p:nvSpPr>
        <p:spPr>
          <a:xfrm>
            <a:off x="5779008" y="2432304"/>
            <a:ext cx="2999232" cy="164592"/>
          </a:xfrm>
          <a:prstGeom prst="rect">
            <a:avLst/>
          </a:prstGeom>
          <a:noFill/>
          <a:ln/>
        </p:spPr>
        <p:txBody>
          <a:bodyPr wrap="square" lIns="0" tIns="0" rIns="0" bIns="0" rtlCol="0" anchor="ctr"/>
          <a:lstStyle/>
          <a:p>
            <a:pPr marL="0" indent="0">
              <a:buNone/>
            </a:pPr>
            <a:r>
              <a:rPr lang="en-US" sz="800" dirty="0">
                <a:solidFill>
                  <a:srgbClr val="C0C0C0"/>
                </a:solidFill>
                <a:latin typeface="Calibri" pitchFamily="34" charset="0"/>
                <a:ea typeface="Calibri" pitchFamily="34" charset="-122"/>
                <a:cs typeface="Calibri" pitchFamily="34" charset="-120"/>
              </a:rPr>
              <a:t>3DES</a:t>
            </a:r>
            <a:endParaRPr lang="en-US" sz="800" dirty="0"/>
          </a:p>
        </p:txBody>
      </p:sp>
      <p:sp>
        <p:nvSpPr>
          <p:cNvPr id="25" name="Shape 23"/>
          <p:cNvSpPr/>
          <p:nvPr/>
        </p:nvSpPr>
        <p:spPr>
          <a:xfrm>
            <a:off x="5614416" y="2615184"/>
            <a:ext cx="3163824" cy="0"/>
          </a:xfrm>
          <a:prstGeom prst="line">
            <a:avLst/>
          </a:prstGeom>
          <a:noFill/>
          <a:ln w="7620">
            <a:solidFill>
              <a:srgbClr val="F5F5F5"/>
            </a:solidFill>
            <a:prstDash val="solid"/>
          </a:ln>
        </p:spPr>
        <p:txBody>
          <a:bodyPr/>
          <a:lstStyle/>
          <a:p>
            <a:endParaRPr lang="en-CA"/>
          </a:p>
        </p:txBody>
      </p:sp>
      <p:sp>
        <p:nvSpPr>
          <p:cNvPr id="26" name="Shape 24"/>
          <p:cNvSpPr/>
          <p:nvPr/>
        </p:nvSpPr>
        <p:spPr>
          <a:xfrm>
            <a:off x="5614416" y="2834640"/>
            <a:ext cx="73152" cy="73152"/>
          </a:xfrm>
          <a:prstGeom prst="ellipse">
            <a:avLst/>
          </a:prstGeom>
          <a:solidFill>
            <a:srgbClr val="C9A84C"/>
          </a:solidFill>
          <a:ln w="12700">
            <a:solidFill>
              <a:srgbClr val="C9A84C"/>
            </a:solidFill>
            <a:prstDash val="solid"/>
          </a:ln>
        </p:spPr>
        <p:txBody>
          <a:bodyPr/>
          <a:lstStyle/>
          <a:p>
            <a:endParaRPr lang="en-CA"/>
          </a:p>
        </p:txBody>
      </p:sp>
      <p:sp>
        <p:nvSpPr>
          <p:cNvPr id="27" name="Text 25"/>
          <p:cNvSpPr/>
          <p:nvPr/>
        </p:nvSpPr>
        <p:spPr>
          <a:xfrm>
            <a:off x="5779008" y="2724912"/>
            <a:ext cx="2999232" cy="201168"/>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NIST SP 800-38A/D</a:t>
            </a:r>
            <a:endParaRPr lang="en-US" sz="950" dirty="0"/>
          </a:p>
        </p:txBody>
      </p:sp>
      <p:sp>
        <p:nvSpPr>
          <p:cNvPr id="28" name="Text 26"/>
          <p:cNvSpPr/>
          <p:nvPr/>
        </p:nvSpPr>
        <p:spPr>
          <a:xfrm>
            <a:off x="5779008" y="2926080"/>
            <a:ext cx="2999232" cy="164592"/>
          </a:xfrm>
          <a:prstGeom prst="rect">
            <a:avLst/>
          </a:prstGeom>
          <a:noFill/>
          <a:ln/>
        </p:spPr>
        <p:txBody>
          <a:bodyPr wrap="square" lIns="0" tIns="0" rIns="0" bIns="0" rtlCol="0" anchor="ctr"/>
          <a:lstStyle/>
          <a:p>
            <a:pPr marL="0" indent="0">
              <a:buNone/>
            </a:pPr>
            <a:r>
              <a:rPr lang="en-US" sz="800" dirty="0">
                <a:solidFill>
                  <a:srgbClr val="C0C0C0"/>
                </a:solidFill>
                <a:latin typeface="Calibri" pitchFamily="34" charset="0"/>
                <a:ea typeface="Calibri" pitchFamily="34" charset="-122"/>
                <a:cs typeface="Calibri" pitchFamily="34" charset="-120"/>
              </a:rPr>
              <a:t>NIST SP 800-38A (ECB, CBC, CTR) / NIST SP 800-38D (GCM)  </a:t>
            </a:r>
            <a:endParaRPr lang="en-US" sz="800" dirty="0"/>
          </a:p>
        </p:txBody>
      </p:sp>
      <p:sp>
        <p:nvSpPr>
          <p:cNvPr id="29" name="Shape 27"/>
          <p:cNvSpPr/>
          <p:nvPr/>
        </p:nvSpPr>
        <p:spPr>
          <a:xfrm>
            <a:off x="5614416" y="3108960"/>
            <a:ext cx="3163824" cy="0"/>
          </a:xfrm>
          <a:prstGeom prst="line">
            <a:avLst/>
          </a:prstGeom>
          <a:noFill/>
          <a:ln w="7620">
            <a:solidFill>
              <a:srgbClr val="F5F5F5"/>
            </a:solidFill>
            <a:prstDash val="solid"/>
          </a:ln>
        </p:spPr>
        <p:txBody>
          <a:bodyPr/>
          <a:lstStyle/>
          <a:p>
            <a:endParaRPr lang="en-CA"/>
          </a:p>
        </p:txBody>
      </p:sp>
      <p:sp>
        <p:nvSpPr>
          <p:cNvPr id="30" name="Shape 28"/>
          <p:cNvSpPr/>
          <p:nvPr/>
        </p:nvSpPr>
        <p:spPr>
          <a:xfrm>
            <a:off x="5614416" y="3328416"/>
            <a:ext cx="73152" cy="73152"/>
          </a:xfrm>
          <a:prstGeom prst="ellipse">
            <a:avLst/>
          </a:prstGeom>
          <a:solidFill>
            <a:srgbClr val="C9A84C"/>
          </a:solidFill>
          <a:ln w="12700">
            <a:solidFill>
              <a:srgbClr val="C9A84C"/>
            </a:solidFill>
            <a:prstDash val="solid"/>
          </a:ln>
        </p:spPr>
        <p:txBody>
          <a:bodyPr/>
          <a:lstStyle/>
          <a:p>
            <a:endParaRPr lang="en-CA"/>
          </a:p>
        </p:txBody>
      </p:sp>
      <p:sp>
        <p:nvSpPr>
          <p:cNvPr id="31" name="Text 29"/>
          <p:cNvSpPr/>
          <p:nvPr/>
        </p:nvSpPr>
        <p:spPr>
          <a:xfrm>
            <a:off x="5779008" y="3218688"/>
            <a:ext cx="2999232" cy="201168"/>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RFC 8439</a:t>
            </a:r>
            <a:endParaRPr lang="en-US" sz="950" dirty="0"/>
          </a:p>
        </p:txBody>
      </p:sp>
      <p:sp>
        <p:nvSpPr>
          <p:cNvPr id="32" name="Text 30"/>
          <p:cNvSpPr/>
          <p:nvPr/>
        </p:nvSpPr>
        <p:spPr>
          <a:xfrm>
            <a:off x="5779008" y="3419856"/>
            <a:ext cx="2999232" cy="164592"/>
          </a:xfrm>
          <a:prstGeom prst="rect">
            <a:avLst/>
          </a:prstGeom>
          <a:noFill/>
          <a:ln/>
        </p:spPr>
        <p:txBody>
          <a:bodyPr wrap="square" lIns="0" tIns="0" rIns="0" bIns="0" rtlCol="0" anchor="ctr"/>
          <a:lstStyle/>
          <a:p>
            <a:pPr marL="0" indent="0">
              <a:buNone/>
            </a:pPr>
            <a:r>
              <a:rPr lang="en-US" sz="800" dirty="0">
                <a:solidFill>
                  <a:srgbClr val="C0C0C0"/>
                </a:solidFill>
                <a:latin typeface="Calibri" pitchFamily="34" charset="0"/>
                <a:ea typeface="Calibri" pitchFamily="34" charset="-122"/>
                <a:cs typeface="Calibri" pitchFamily="34" charset="-120"/>
              </a:rPr>
              <a:t>ChaCha20</a:t>
            </a:r>
            <a:endParaRPr lang="en-US" sz="800" dirty="0"/>
          </a:p>
        </p:txBody>
      </p:sp>
      <p:sp>
        <p:nvSpPr>
          <p:cNvPr id="33" name="Shape 31"/>
          <p:cNvSpPr/>
          <p:nvPr/>
        </p:nvSpPr>
        <p:spPr>
          <a:xfrm>
            <a:off x="5614416" y="3602736"/>
            <a:ext cx="3163824" cy="0"/>
          </a:xfrm>
          <a:prstGeom prst="line">
            <a:avLst/>
          </a:prstGeom>
          <a:noFill/>
          <a:ln w="7620">
            <a:solidFill>
              <a:srgbClr val="F5F5F5"/>
            </a:solidFill>
            <a:prstDash val="solid"/>
          </a:ln>
        </p:spPr>
        <p:txBody>
          <a:bodyPr/>
          <a:lstStyle/>
          <a:p>
            <a:endParaRPr lang="en-CA"/>
          </a:p>
        </p:txBody>
      </p:sp>
      <p:sp>
        <p:nvSpPr>
          <p:cNvPr id="34" name="Shape 32"/>
          <p:cNvSpPr/>
          <p:nvPr/>
        </p:nvSpPr>
        <p:spPr>
          <a:xfrm>
            <a:off x="5614416" y="3822192"/>
            <a:ext cx="73152" cy="73152"/>
          </a:xfrm>
          <a:prstGeom prst="ellipse">
            <a:avLst/>
          </a:prstGeom>
          <a:solidFill>
            <a:srgbClr val="C9A84C"/>
          </a:solidFill>
          <a:ln w="12700">
            <a:solidFill>
              <a:srgbClr val="C9A84C"/>
            </a:solidFill>
            <a:prstDash val="solid"/>
          </a:ln>
        </p:spPr>
        <p:txBody>
          <a:bodyPr/>
          <a:lstStyle/>
          <a:p>
            <a:endParaRPr lang="en-CA"/>
          </a:p>
        </p:txBody>
      </p:sp>
      <p:sp>
        <p:nvSpPr>
          <p:cNvPr id="35" name="Text 33"/>
          <p:cNvSpPr/>
          <p:nvPr/>
        </p:nvSpPr>
        <p:spPr>
          <a:xfrm>
            <a:off x="5779008" y="3712464"/>
            <a:ext cx="2999232" cy="201168"/>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Validation interne Twofish</a:t>
            </a:r>
            <a:endParaRPr lang="en-US" sz="950" dirty="0"/>
          </a:p>
        </p:txBody>
      </p:sp>
      <p:sp>
        <p:nvSpPr>
          <p:cNvPr id="36" name="Text 34"/>
          <p:cNvSpPr/>
          <p:nvPr/>
        </p:nvSpPr>
        <p:spPr>
          <a:xfrm>
            <a:off x="5779008" y="3913632"/>
            <a:ext cx="2999232" cy="164592"/>
          </a:xfrm>
          <a:prstGeom prst="rect">
            <a:avLst/>
          </a:prstGeom>
          <a:noFill/>
          <a:ln/>
        </p:spPr>
        <p:txBody>
          <a:bodyPr wrap="square" lIns="0" tIns="0" rIns="0" bIns="0" rtlCol="0" anchor="ctr"/>
          <a:lstStyle/>
          <a:p>
            <a:pPr marL="0" indent="0">
              <a:buNone/>
            </a:pPr>
            <a:r>
              <a:rPr lang="en-US" sz="800" dirty="0">
                <a:solidFill>
                  <a:srgbClr val="C0C0C0"/>
                </a:solidFill>
                <a:latin typeface="Calibri" pitchFamily="34" charset="0"/>
                <a:ea typeface="Calibri" pitchFamily="34" charset="-122"/>
                <a:cs typeface="Calibri" pitchFamily="34" charset="-120"/>
              </a:rPr>
              <a:t>test aller-retour (non normatif)</a:t>
            </a:r>
            <a:endParaRPr lang="en-US" sz="800" dirty="0"/>
          </a:p>
        </p:txBody>
      </p:sp>
      <p:sp>
        <p:nvSpPr>
          <p:cNvPr id="37" name="Text 35"/>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943600" cy="0"/>
          </a:xfrm>
          <a:prstGeom prst="line">
            <a:avLst/>
          </a:prstGeom>
          <a:noFill/>
          <a:ln w="31750">
            <a:solidFill>
              <a:srgbClr val="C9A84C"/>
            </a:solidFill>
            <a:prstDash val="solid"/>
          </a:ln>
        </p:spPr>
        <p:txBody>
          <a:bodyPr/>
          <a:lstStyle/>
          <a:p>
            <a:endParaRPr lang="en-CA"/>
          </a:p>
        </p:txBody>
      </p:sp>
      <p:sp>
        <p:nvSpPr>
          <p:cNvPr id="3" name="Text 1"/>
          <p:cNvSpPr/>
          <p:nvPr/>
        </p:nvSpPr>
        <p:spPr>
          <a:xfrm>
            <a:off x="475488" y="182880"/>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03b  ·  VALIDATION CRYPTOGRAPHIQUE — KAT</a:t>
            </a:r>
            <a:endParaRPr lang="en-US" sz="800" dirty="0"/>
          </a:p>
        </p:txBody>
      </p:sp>
      <p:sp>
        <p:nvSpPr>
          <p:cNvPr id="4" name="Text 2"/>
          <p:cNvSpPr/>
          <p:nvPr/>
        </p:nvSpPr>
        <p:spPr>
          <a:xfrm>
            <a:off x="475488" y="365760"/>
            <a:ext cx="6400800" cy="347472"/>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Résultats </a:t>
            </a:r>
            <a:r>
              <a:rPr lang="en-US" sz="1500" b="1" dirty="0">
                <a:solidFill>
                  <a:srgbClr val="C9A84C"/>
                </a:solidFill>
                <a:latin typeface="Calibri" pitchFamily="34" charset="0"/>
                <a:ea typeface="Calibri" pitchFamily="34" charset="-122"/>
                <a:cs typeface="Calibri" pitchFamily="34" charset="-120"/>
              </a:rPr>
              <a:t>KAT</a:t>
            </a:r>
            <a:endParaRPr lang="en-US" sz="1500" dirty="0"/>
          </a:p>
        </p:txBody>
      </p:sp>
      <p:sp>
        <p:nvSpPr>
          <p:cNvPr id="5" name="Text 3"/>
          <p:cNvSpPr/>
          <p:nvPr/>
        </p:nvSpPr>
        <p:spPr>
          <a:xfrm>
            <a:off x="475488" y="1207008"/>
            <a:ext cx="3200400" cy="1371600"/>
          </a:xfrm>
          <a:prstGeom prst="rect">
            <a:avLst/>
          </a:prstGeom>
          <a:noFill/>
          <a:ln/>
        </p:spPr>
        <p:txBody>
          <a:bodyPr wrap="square" lIns="0" tIns="0" rIns="0" bIns="0" rtlCol="0" anchor="ctr"/>
          <a:lstStyle/>
          <a:p>
            <a:pPr marL="0" indent="0" algn="ctr">
              <a:buNone/>
            </a:pPr>
            <a:r>
              <a:rPr lang="en-US" sz="9000" b="1" dirty="0">
                <a:solidFill>
                  <a:srgbClr val="C9A84C"/>
                </a:solidFill>
                <a:latin typeface="Calibri" pitchFamily="34" charset="0"/>
                <a:ea typeface="Calibri" pitchFamily="34" charset="-122"/>
                <a:cs typeface="Calibri" pitchFamily="34" charset="-120"/>
              </a:rPr>
              <a:t>48</a:t>
            </a:r>
            <a:endParaRPr lang="en-US" sz="9000" dirty="0"/>
          </a:p>
        </p:txBody>
      </p:sp>
      <p:sp>
        <p:nvSpPr>
          <p:cNvPr id="6" name="Text 4"/>
          <p:cNvSpPr/>
          <p:nvPr/>
        </p:nvSpPr>
        <p:spPr>
          <a:xfrm>
            <a:off x="475488" y="2615184"/>
            <a:ext cx="3200400" cy="457200"/>
          </a:xfrm>
          <a:prstGeom prst="rect">
            <a:avLst/>
          </a:prstGeom>
          <a:noFill/>
          <a:ln/>
        </p:spPr>
        <p:txBody>
          <a:bodyPr wrap="square" lIns="0" tIns="0" rIns="0" bIns="0" rtlCol="0" anchor="ctr"/>
          <a:lstStyle/>
          <a:p>
            <a:pPr marL="0" indent="0" algn="ctr">
              <a:lnSpc>
                <a:spcPct val="130000"/>
              </a:lnSpc>
              <a:buNone/>
            </a:pPr>
            <a:r>
              <a:rPr lang="en-US" sz="1000" b="1" kern="0" spc="150" dirty="0">
                <a:solidFill>
                  <a:srgbClr val="888888"/>
                </a:solidFill>
                <a:latin typeface="Calibri" pitchFamily="34" charset="0"/>
                <a:ea typeface="Calibri" pitchFamily="34" charset="-122"/>
                <a:cs typeface="Calibri" pitchFamily="34" charset="-120"/>
              </a:rPr>
              <a:t>ASSERTIONS</a:t>
            </a:r>
            <a:endParaRPr lang="en-US" sz="1000" dirty="0"/>
          </a:p>
          <a:p>
            <a:pPr marL="0" indent="0" algn="ctr">
              <a:lnSpc>
                <a:spcPct val="130000"/>
              </a:lnSpc>
              <a:buNone/>
            </a:pPr>
            <a:r>
              <a:rPr lang="en-US" sz="1000" b="1" kern="0" spc="150" dirty="0">
                <a:solidFill>
                  <a:srgbClr val="888888"/>
                </a:solidFill>
                <a:latin typeface="Calibri" pitchFamily="34" charset="0"/>
                <a:ea typeface="Calibri" pitchFamily="34" charset="-122"/>
                <a:cs typeface="Calibri" pitchFamily="34" charset="-120"/>
              </a:rPr>
              <a:t>6 SUITES KAT</a:t>
            </a:r>
            <a:endParaRPr lang="en-US" sz="1000" dirty="0"/>
          </a:p>
        </p:txBody>
      </p:sp>
      <p:sp>
        <p:nvSpPr>
          <p:cNvPr id="7" name="Shape 5"/>
          <p:cNvSpPr/>
          <p:nvPr/>
        </p:nvSpPr>
        <p:spPr>
          <a:xfrm>
            <a:off x="1344168" y="3218688"/>
            <a:ext cx="1463040" cy="347472"/>
          </a:xfrm>
          <a:prstGeom prst="roundRect">
            <a:avLst>
              <a:gd name="adj" fmla="val 50000"/>
            </a:avLst>
          </a:prstGeom>
          <a:solidFill>
            <a:srgbClr val="FFFBF0"/>
          </a:solidFill>
          <a:ln w="15240">
            <a:solidFill>
              <a:srgbClr val="C9A84C"/>
            </a:solidFill>
            <a:prstDash val="solid"/>
          </a:ln>
        </p:spPr>
        <p:txBody>
          <a:bodyPr/>
          <a:lstStyle/>
          <a:p>
            <a:endParaRPr lang="en-CA"/>
          </a:p>
        </p:txBody>
      </p:sp>
      <p:sp>
        <p:nvSpPr>
          <p:cNvPr id="8" name="Text 6"/>
          <p:cNvSpPr/>
          <p:nvPr/>
        </p:nvSpPr>
        <p:spPr>
          <a:xfrm>
            <a:off x="1344168" y="3218688"/>
            <a:ext cx="1463040" cy="347472"/>
          </a:xfrm>
          <a:prstGeom prst="rect">
            <a:avLst/>
          </a:prstGeom>
          <a:noFill/>
          <a:ln/>
        </p:spPr>
        <p:txBody>
          <a:bodyPr wrap="square" lIns="0" tIns="0" rIns="0" bIns="0" rtlCol="0" anchor="ctr"/>
          <a:lstStyle/>
          <a:p>
            <a:pPr marL="0" indent="0" algn="ctr">
              <a:buNone/>
            </a:pPr>
            <a:r>
              <a:rPr lang="en-US" sz="1000" b="1" dirty="0">
                <a:solidFill>
                  <a:srgbClr val="C9A84C"/>
                </a:solidFill>
                <a:latin typeface="Calibri" pitchFamily="34" charset="0"/>
                <a:ea typeface="Calibri" pitchFamily="34" charset="-122"/>
                <a:cs typeface="Calibri" pitchFamily="34" charset="-120"/>
              </a:rPr>
              <a:t>100% PASS</a:t>
            </a:r>
            <a:endParaRPr lang="en-US" sz="1000" dirty="0"/>
          </a:p>
        </p:txBody>
      </p:sp>
      <p:sp>
        <p:nvSpPr>
          <p:cNvPr id="9" name="Shape 7"/>
          <p:cNvSpPr/>
          <p:nvPr/>
        </p:nvSpPr>
        <p:spPr>
          <a:xfrm>
            <a:off x="3822192" y="856343"/>
            <a:ext cx="0" cy="3679081"/>
          </a:xfrm>
          <a:prstGeom prst="line">
            <a:avLst/>
          </a:prstGeom>
          <a:noFill/>
          <a:ln w="10160">
            <a:solidFill>
              <a:srgbClr val="EBEBEB"/>
            </a:solidFill>
            <a:prstDash val="solid"/>
          </a:ln>
        </p:spPr>
        <p:txBody>
          <a:bodyPr/>
          <a:lstStyle/>
          <a:p>
            <a:endParaRPr lang="en-CA"/>
          </a:p>
        </p:txBody>
      </p:sp>
      <p:sp>
        <p:nvSpPr>
          <p:cNvPr id="10" name="Text 8"/>
          <p:cNvSpPr/>
          <p:nvPr/>
        </p:nvSpPr>
        <p:spPr>
          <a:xfrm>
            <a:off x="4078224" y="932688"/>
            <a:ext cx="4663440" cy="201168"/>
          </a:xfrm>
          <a:prstGeom prst="rect">
            <a:avLst/>
          </a:prstGeom>
          <a:noFill/>
          <a:ln/>
        </p:spPr>
        <p:txBody>
          <a:bodyPr wrap="square" lIns="0" tIns="0" rIns="0" bIns="0" rtlCol="0" anchor="ctr"/>
          <a:lstStyle/>
          <a:p>
            <a:pPr marL="0" indent="0">
              <a:buNone/>
            </a:pPr>
            <a:r>
              <a:rPr lang="en-US" sz="750" b="1" kern="0" spc="200" dirty="0">
                <a:solidFill>
                  <a:srgbClr val="C9A84C"/>
                </a:solidFill>
                <a:latin typeface="Calibri" pitchFamily="34" charset="0"/>
                <a:ea typeface="Calibri" pitchFamily="34" charset="-122"/>
                <a:cs typeface="Calibri" pitchFamily="34" charset="-120"/>
              </a:rPr>
              <a:t>DÉTAIL PAR SUITE</a:t>
            </a:r>
            <a:endParaRPr lang="en-US" sz="750" dirty="0"/>
          </a:p>
        </p:txBody>
      </p:sp>
      <p:sp>
        <p:nvSpPr>
          <p:cNvPr id="11" name="Text 9"/>
          <p:cNvSpPr/>
          <p:nvPr/>
        </p:nvSpPr>
        <p:spPr>
          <a:xfrm>
            <a:off x="4078224" y="1225296"/>
            <a:ext cx="2743200" cy="274320"/>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AES</a:t>
            </a:r>
            <a:endParaRPr lang="en-US" sz="1000" dirty="0"/>
          </a:p>
        </p:txBody>
      </p:sp>
      <p:sp>
        <p:nvSpPr>
          <p:cNvPr id="12" name="Text 10"/>
          <p:cNvSpPr/>
          <p:nvPr/>
        </p:nvSpPr>
        <p:spPr>
          <a:xfrm>
            <a:off x="6821424" y="1225296"/>
            <a:ext cx="1280160" cy="274320"/>
          </a:xfrm>
          <a:prstGeom prst="rect">
            <a:avLst/>
          </a:prstGeom>
          <a:noFill/>
          <a:ln/>
        </p:spPr>
        <p:txBody>
          <a:bodyPr wrap="square" lIns="0" tIns="0" rIns="0" bIns="0" rtlCol="0" anchor="ctr"/>
          <a:lstStyle/>
          <a:p>
            <a:pPr marL="0" indent="0">
              <a:buNone/>
            </a:pPr>
            <a:r>
              <a:rPr lang="en-US" sz="900" dirty="0">
                <a:solidFill>
                  <a:srgbClr val="888888"/>
                </a:solidFill>
                <a:latin typeface="Calibri" pitchFamily="34" charset="0"/>
                <a:ea typeface="Calibri" pitchFamily="34" charset="-122"/>
                <a:cs typeface="Calibri" pitchFamily="34" charset="-120"/>
              </a:rPr>
              <a:t>8 assertions</a:t>
            </a:r>
            <a:endParaRPr lang="en-US" sz="900" dirty="0"/>
          </a:p>
        </p:txBody>
      </p:sp>
      <p:sp>
        <p:nvSpPr>
          <p:cNvPr id="13" name="Text 11"/>
          <p:cNvSpPr/>
          <p:nvPr/>
        </p:nvSpPr>
        <p:spPr>
          <a:xfrm>
            <a:off x="8101584" y="1225296"/>
            <a:ext cx="365760" cy="274320"/>
          </a:xfrm>
          <a:prstGeom prst="rect">
            <a:avLst/>
          </a:prstGeom>
          <a:noFill/>
          <a:ln/>
        </p:spPr>
        <p:txBody>
          <a:bodyPr wrap="square" lIns="0" tIns="0" rIns="0" bIns="0" rtlCol="0" anchor="ctr"/>
          <a:lstStyle/>
          <a:p>
            <a:pPr marL="0" indent="0" algn="ctr">
              <a:buNone/>
            </a:pPr>
            <a:r>
              <a:rPr lang="en-US" sz="1100" b="1" dirty="0">
                <a:solidFill>
                  <a:srgbClr val="3A7A3A"/>
                </a:solidFill>
                <a:latin typeface="Calibri" pitchFamily="34" charset="0"/>
                <a:ea typeface="Calibri" pitchFamily="34" charset="-122"/>
                <a:cs typeface="Calibri" pitchFamily="34" charset="-120"/>
              </a:rPr>
              <a:t>✓</a:t>
            </a:r>
            <a:endParaRPr lang="en-US" sz="1100" dirty="0"/>
          </a:p>
        </p:txBody>
      </p:sp>
      <p:sp>
        <p:nvSpPr>
          <p:cNvPr id="14" name="Shape 12"/>
          <p:cNvSpPr/>
          <p:nvPr/>
        </p:nvSpPr>
        <p:spPr>
          <a:xfrm>
            <a:off x="4078224" y="1517904"/>
            <a:ext cx="4663440" cy="0"/>
          </a:xfrm>
          <a:prstGeom prst="line">
            <a:avLst/>
          </a:prstGeom>
          <a:noFill/>
          <a:ln w="7620">
            <a:solidFill>
              <a:srgbClr val="F5F5F5"/>
            </a:solidFill>
            <a:prstDash val="solid"/>
          </a:ln>
        </p:spPr>
        <p:txBody>
          <a:bodyPr/>
          <a:lstStyle/>
          <a:p>
            <a:endParaRPr lang="en-CA"/>
          </a:p>
        </p:txBody>
      </p:sp>
      <p:sp>
        <p:nvSpPr>
          <p:cNvPr id="15" name="Text 13"/>
          <p:cNvSpPr/>
          <p:nvPr/>
        </p:nvSpPr>
        <p:spPr>
          <a:xfrm>
            <a:off x="4078224" y="1536192"/>
            <a:ext cx="2743200" cy="274320"/>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DES</a:t>
            </a:r>
            <a:endParaRPr lang="en-US" sz="1000" dirty="0"/>
          </a:p>
        </p:txBody>
      </p:sp>
      <p:sp>
        <p:nvSpPr>
          <p:cNvPr id="16" name="Text 14"/>
          <p:cNvSpPr/>
          <p:nvPr/>
        </p:nvSpPr>
        <p:spPr>
          <a:xfrm>
            <a:off x="6821424" y="1536192"/>
            <a:ext cx="1280160" cy="274320"/>
          </a:xfrm>
          <a:prstGeom prst="rect">
            <a:avLst/>
          </a:prstGeom>
          <a:noFill/>
          <a:ln/>
        </p:spPr>
        <p:txBody>
          <a:bodyPr wrap="square" lIns="0" tIns="0" rIns="0" bIns="0" rtlCol="0" anchor="ctr"/>
          <a:lstStyle/>
          <a:p>
            <a:pPr marL="0" indent="0">
              <a:buNone/>
            </a:pPr>
            <a:r>
              <a:rPr lang="en-US" sz="900" dirty="0">
                <a:solidFill>
                  <a:srgbClr val="888888"/>
                </a:solidFill>
                <a:latin typeface="Calibri" pitchFamily="34" charset="0"/>
                <a:ea typeface="Calibri" pitchFamily="34" charset="-122"/>
                <a:cs typeface="Calibri" pitchFamily="34" charset="-120"/>
              </a:rPr>
              <a:t>18 assertions</a:t>
            </a:r>
            <a:endParaRPr lang="en-US" sz="900" dirty="0"/>
          </a:p>
        </p:txBody>
      </p:sp>
      <p:sp>
        <p:nvSpPr>
          <p:cNvPr id="17" name="Text 15"/>
          <p:cNvSpPr/>
          <p:nvPr/>
        </p:nvSpPr>
        <p:spPr>
          <a:xfrm>
            <a:off x="8101584" y="1536192"/>
            <a:ext cx="365760" cy="274320"/>
          </a:xfrm>
          <a:prstGeom prst="rect">
            <a:avLst/>
          </a:prstGeom>
          <a:noFill/>
          <a:ln/>
        </p:spPr>
        <p:txBody>
          <a:bodyPr wrap="square" lIns="0" tIns="0" rIns="0" bIns="0" rtlCol="0" anchor="ctr"/>
          <a:lstStyle/>
          <a:p>
            <a:pPr marL="0" indent="0" algn="ctr">
              <a:buNone/>
            </a:pPr>
            <a:r>
              <a:rPr lang="en-US" sz="1100" b="1" dirty="0">
                <a:solidFill>
                  <a:srgbClr val="3A7A3A"/>
                </a:solidFill>
                <a:latin typeface="Calibri" pitchFamily="34" charset="0"/>
                <a:ea typeface="Calibri" pitchFamily="34" charset="-122"/>
                <a:cs typeface="Calibri" pitchFamily="34" charset="-120"/>
              </a:rPr>
              <a:t>✓</a:t>
            </a:r>
            <a:endParaRPr lang="en-US" sz="1100" dirty="0"/>
          </a:p>
        </p:txBody>
      </p:sp>
      <p:sp>
        <p:nvSpPr>
          <p:cNvPr id="18" name="Shape 16"/>
          <p:cNvSpPr/>
          <p:nvPr/>
        </p:nvSpPr>
        <p:spPr>
          <a:xfrm>
            <a:off x="4078224" y="1828800"/>
            <a:ext cx="4663440" cy="0"/>
          </a:xfrm>
          <a:prstGeom prst="line">
            <a:avLst/>
          </a:prstGeom>
          <a:noFill/>
          <a:ln w="7620">
            <a:solidFill>
              <a:srgbClr val="F5F5F5"/>
            </a:solidFill>
            <a:prstDash val="solid"/>
          </a:ln>
        </p:spPr>
        <p:txBody>
          <a:bodyPr/>
          <a:lstStyle/>
          <a:p>
            <a:endParaRPr lang="en-CA"/>
          </a:p>
        </p:txBody>
      </p:sp>
      <p:sp>
        <p:nvSpPr>
          <p:cNvPr id="19" name="Text 17"/>
          <p:cNvSpPr/>
          <p:nvPr/>
        </p:nvSpPr>
        <p:spPr>
          <a:xfrm>
            <a:off x="4078224" y="1847088"/>
            <a:ext cx="2743200" cy="274320"/>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3DES</a:t>
            </a:r>
            <a:endParaRPr lang="en-US" sz="1000" dirty="0"/>
          </a:p>
        </p:txBody>
      </p:sp>
      <p:sp>
        <p:nvSpPr>
          <p:cNvPr id="20" name="Text 18"/>
          <p:cNvSpPr/>
          <p:nvPr/>
        </p:nvSpPr>
        <p:spPr>
          <a:xfrm>
            <a:off x="6821424" y="1847088"/>
            <a:ext cx="1280160" cy="274320"/>
          </a:xfrm>
          <a:prstGeom prst="rect">
            <a:avLst/>
          </a:prstGeom>
          <a:noFill/>
          <a:ln/>
        </p:spPr>
        <p:txBody>
          <a:bodyPr wrap="square" lIns="0" tIns="0" rIns="0" bIns="0" rtlCol="0" anchor="ctr"/>
          <a:lstStyle/>
          <a:p>
            <a:pPr marL="0" indent="0">
              <a:buNone/>
            </a:pPr>
            <a:r>
              <a:rPr lang="en-US" sz="900" dirty="0">
                <a:solidFill>
                  <a:srgbClr val="888888"/>
                </a:solidFill>
                <a:latin typeface="Calibri" pitchFamily="34" charset="0"/>
                <a:ea typeface="Calibri" pitchFamily="34" charset="-122"/>
                <a:cs typeface="Calibri" pitchFamily="34" charset="-120"/>
              </a:rPr>
              <a:t>4 assertions</a:t>
            </a:r>
            <a:endParaRPr lang="en-US" sz="900" dirty="0"/>
          </a:p>
        </p:txBody>
      </p:sp>
      <p:sp>
        <p:nvSpPr>
          <p:cNvPr id="21" name="Text 19"/>
          <p:cNvSpPr/>
          <p:nvPr/>
        </p:nvSpPr>
        <p:spPr>
          <a:xfrm>
            <a:off x="8101584" y="1847088"/>
            <a:ext cx="365760" cy="274320"/>
          </a:xfrm>
          <a:prstGeom prst="rect">
            <a:avLst/>
          </a:prstGeom>
          <a:noFill/>
          <a:ln/>
        </p:spPr>
        <p:txBody>
          <a:bodyPr wrap="square" lIns="0" tIns="0" rIns="0" bIns="0" rtlCol="0" anchor="ctr"/>
          <a:lstStyle/>
          <a:p>
            <a:pPr marL="0" indent="0" algn="ctr">
              <a:buNone/>
            </a:pPr>
            <a:r>
              <a:rPr lang="en-US" sz="1100" b="1" dirty="0">
                <a:solidFill>
                  <a:srgbClr val="3A7A3A"/>
                </a:solidFill>
                <a:latin typeface="Calibri" pitchFamily="34" charset="0"/>
                <a:ea typeface="Calibri" pitchFamily="34" charset="-122"/>
                <a:cs typeface="Calibri" pitchFamily="34" charset="-120"/>
              </a:rPr>
              <a:t>✓</a:t>
            </a:r>
            <a:endParaRPr lang="en-US" sz="1100" dirty="0"/>
          </a:p>
        </p:txBody>
      </p:sp>
      <p:sp>
        <p:nvSpPr>
          <p:cNvPr id="22" name="Shape 20"/>
          <p:cNvSpPr/>
          <p:nvPr/>
        </p:nvSpPr>
        <p:spPr>
          <a:xfrm>
            <a:off x="4078224" y="2139696"/>
            <a:ext cx="4663440" cy="0"/>
          </a:xfrm>
          <a:prstGeom prst="line">
            <a:avLst/>
          </a:prstGeom>
          <a:noFill/>
          <a:ln w="7620">
            <a:solidFill>
              <a:srgbClr val="F5F5F5"/>
            </a:solidFill>
            <a:prstDash val="solid"/>
          </a:ln>
        </p:spPr>
        <p:txBody>
          <a:bodyPr/>
          <a:lstStyle/>
          <a:p>
            <a:endParaRPr lang="en-CA"/>
          </a:p>
        </p:txBody>
      </p:sp>
      <p:sp>
        <p:nvSpPr>
          <p:cNvPr id="23" name="Text 21"/>
          <p:cNvSpPr/>
          <p:nvPr/>
        </p:nvSpPr>
        <p:spPr>
          <a:xfrm>
            <a:off x="4078224" y="2157984"/>
            <a:ext cx="2743200" cy="274320"/>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Modes (ECB · CBC · CTR)</a:t>
            </a:r>
            <a:endParaRPr lang="en-US" sz="1000" dirty="0"/>
          </a:p>
        </p:txBody>
      </p:sp>
      <p:sp>
        <p:nvSpPr>
          <p:cNvPr id="24" name="Text 22"/>
          <p:cNvSpPr/>
          <p:nvPr/>
        </p:nvSpPr>
        <p:spPr>
          <a:xfrm>
            <a:off x="6821424" y="2157984"/>
            <a:ext cx="1280160" cy="274320"/>
          </a:xfrm>
          <a:prstGeom prst="rect">
            <a:avLst/>
          </a:prstGeom>
          <a:noFill/>
          <a:ln/>
        </p:spPr>
        <p:txBody>
          <a:bodyPr wrap="square" lIns="0" tIns="0" rIns="0" bIns="0" rtlCol="0" anchor="ctr"/>
          <a:lstStyle/>
          <a:p>
            <a:pPr marL="0" indent="0">
              <a:buNone/>
            </a:pPr>
            <a:r>
              <a:rPr lang="en-US" sz="900" dirty="0">
                <a:solidFill>
                  <a:srgbClr val="888888"/>
                </a:solidFill>
                <a:latin typeface="Calibri" pitchFamily="34" charset="0"/>
                <a:ea typeface="Calibri" pitchFamily="34" charset="-122"/>
                <a:cs typeface="Calibri" pitchFamily="34" charset="-120"/>
              </a:rPr>
              <a:t>6 assertions</a:t>
            </a:r>
            <a:endParaRPr lang="en-US" sz="900" dirty="0"/>
          </a:p>
        </p:txBody>
      </p:sp>
      <p:sp>
        <p:nvSpPr>
          <p:cNvPr id="25" name="Text 23"/>
          <p:cNvSpPr/>
          <p:nvPr/>
        </p:nvSpPr>
        <p:spPr>
          <a:xfrm>
            <a:off x="8101584" y="2157984"/>
            <a:ext cx="365760" cy="274320"/>
          </a:xfrm>
          <a:prstGeom prst="rect">
            <a:avLst/>
          </a:prstGeom>
          <a:noFill/>
          <a:ln/>
        </p:spPr>
        <p:txBody>
          <a:bodyPr wrap="square" lIns="0" tIns="0" rIns="0" bIns="0" rtlCol="0" anchor="ctr"/>
          <a:lstStyle/>
          <a:p>
            <a:pPr marL="0" indent="0" algn="ctr">
              <a:buNone/>
            </a:pPr>
            <a:r>
              <a:rPr lang="en-US" sz="1100" b="1" dirty="0">
                <a:solidFill>
                  <a:srgbClr val="3A7A3A"/>
                </a:solidFill>
                <a:latin typeface="Calibri" pitchFamily="34" charset="0"/>
                <a:ea typeface="Calibri" pitchFamily="34" charset="-122"/>
                <a:cs typeface="Calibri" pitchFamily="34" charset="-120"/>
              </a:rPr>
              <a:t>✓</a:t>
            </a:r>
            <a:endParaRPr lang="en-US" sz="1100" dirty="0"/>
          </a:p>
        </p:txBody>
      </p:sp>
      <p:sp>
        <p:nvSpPr>
          <p:cNvPr id="26" name="Shape 24"/>
          <p:cNvSpPr/>
          <p:nvPr/>
        </p:nvSpPr>
        <p:spPr>
          <a:xfrm>
            <a:off x="4078224" y="2450592"/>
            <a:ext cx="4663440" cy="0"/>
          </a:xfrm>
          <a:prstGeom prst="line">
            <a:avLst/>
          </a:prstGeom>
          <a:noFill/>
          <a:ln w="7620">
            <a:solidFill>
              <a:srgbClr val="F5F5F5"/>
            </a:solidFill>
            <a:prstDash val="solid"/>
          </a:ln>
        </p:spPr>
        <p:txBody>
          <a:bodyPr/>
          <a:lstStyle/>
          <a:p>
            <a:endParaRPr lang="en-CA"/>
          </a:p>
        </p:txBody>
      </p:sp>
      <p:sp>
        <p:nvSpPr>
          <p:cNvPr id="27" name="Text 25"/>
          <p:cNvSpPr/>
          <p:nvPr/>
        </p:nvSpPr>
        <p:spPr>
          <a:xfrm>
            <a:off x="4078224" y="2468880"/>
            <a:ext cx="2743200" cy="274320"/>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GCM</a:t>
            </a:r>
            <a:endParaRPr lang="en-US" sz="1000" dirty="0"/>
          </a:p>
        </p:txBody>
      </p:sp>
      <p:sp>
        <p:nvSpPr>
          <p:cNvPr id="28" name="Text 26"/>
          <p:cNvSpPr/>
          <p:nvPr/>
        </p:nvSpPr>
        <p:spPr>
          <a:xfrm>
            <a:off x="6821424" y="2468880"/>
            <a:ext cx="1280160" cy="274320"/>
          </a:xfrm>
          <a:prstGeom prst="rect">
            <a:avLst/>
          </a:prstGeom>
          <a:noFill/>
          <a:ln/>
        </p:spPr>
        <p:txBody>
          <a:bodyPr wrap="square" lIns="0" tIns="0" rIns="0" bIns="0" rtlCol="0" anchor="ctr"/>
          <a:lstStyle/>
          <a:p>
            <a:pPr marL="0" indent="0">
              <a:buNone/>
            </a:pPr>
            <a:r>
              <a:rPr lang="en-US" sz="900" dirty="0">
                <a:solidFill>
                  <a:srgbClr val="888888"/>
                </a:solidFill>
                <a:latin typeface="Calibri" pitchFamily="34" charset="0"/>
                <a:ea typeface="Calibri" pitchFamily="34" charset="-122"/>
                <a:cs typeface="Calibri" pitchFamily="34" charset="-120"/>
              </a:rPr>
              <a:t>6 assertions</a:t>
            </a:r>
            <a:endParaRPr lang="en-US" sz="900" dirty="0"/>
          </a:p>
        </p:txBody>
      </p:sp>
      <p:sp>
        <p:nvSpPr>
          <p:cNvPr id="29" name="Text 27"/>
          <p:cNvSpPr/>
          <p:nvPr/>
        </p:nvSpPr>
        <p:spPr>
          <a:xfrm>
            <a:off x="8101584" y="2468880"/>
            <a:ext cx="365760" cy="274320"/>
          </a:xfrm>
          <a:prstGeom prst="rect">
            <a:avLst/>
          </a:prstGeom>
          <a:noFill/>
          <a:ln/>
        </p:spPr>
        <p:txBody>
          <a:bodyPr wrap="square" lIns="0" tIns="0" rIns="0" bIns="0" rtlCol="0" anchor="ctr"/>
          <a:lstStyle/>
          <a:p>
            <a:pPr marL="0" indent="0" algn="ctr">
              <a:buNone/>
            </a:pPr>
            <a:r>
              <a:rPr lang="en-US" sz="1100" b="1" dirty="0">
                <a:solidFill>
                  <a:srgbClr val="3A7A3A"/>
                </a:solidFill>
                <a:latin typeface="Calibri" pitchFamily="34" charset="0"/>
                <a:ea typeface="Calibri" pitchFamily="34" charset="-122"/>
                <a:cs typeface="Calibri" pitchFamily="34" charset="-120"/>
              </a:rPr>
              <a:t>✓</a:t>
            </a:r>
            <a:endParaRPr lang="en-US" sz="1100" dirty="0"/>
          </a:p>
        </p:txBody>
      </p:sp>
      <p:sp>
        <p:nvSpPr>
          <p:cNvPr id="30" name="Shape 28"/>
          <p:cNvSpPr/>
          <p:nvPr/>
        </p:nvSpPr>
        <p:spPr>
          <a:xfrm>
            <a:off x="4078224" y="2761488"/>
            <a:ext cx="4663440" cy="0"/>
          </a:xfrm>
          <a:prstGeom prst="line">
            <a:avLst/>
          </a:prstGeom>
          <a:noFill/>
          <a:ln w="7620">
            <a:solidFill>
              <a:srgbClr val="F5F5F5"/>
            </a:solidFill>
            <a:prstDash val="solid"/>
          </a:ln>
        </p:spPr>
        <p:txBody>
          <a:bodyPr/>
          <a:lstStyle/>
          <a:p>
            <a:endParaRPr lang="en-CA"/>
          </a:p>
        </p:txBody>
      </p:sp>
      <p:sp>
        <p:nvSpPr>
          <p:cNvPr id="31" name="Text 29"/>
          <p:cNvSpPr/>
          <p:nvPr/>
        </p:nvSpPr>
        <p:spPr>
          <a:xfrm>
            <a:off x="4078224" y="2779776"/>
            <a:ext cx="2743200" cy="274320"/>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ChaCha20</a:t>
            </a:r>
            <a:endParaRPr lang="en-US" sz="1000" dirty="0"/>
          </a:p>
        </p:txBody>
      </p:sp>
      <p:sp>
        <p:nvSpPr>
          <p:cNvPr id="32" name="Text 30"/>
          <p:cNvSpPr/>
          <p:nvPr/>
        </p:nvSpPr>
        <p:spPr>
          <a:xfrm>
            <a:off x="6821424" y="2779776"/>
            <a:ext cx="1280160" cy="274320"/>
          </a:xfrm>
          <a:prstGeom prst="rect">
            <a:avLst/>
          </a:prstGeom>
          <a:noFill/>
          <a:ln/>
        </p:spPr>
        <p:txBody>
          <a:bodyPr wrap="square" lIns="0" tIns="0" rIns="0" bIns="0" rtlCol="0" anchor="ctr"/>
          <a:lstStyle/>
          <a:p>
            <a:pPr marL="0" indent="0">
              <a:buNone/>
            </a:pPr>
            <a:r>
              <a:rPr lang="en-US" sz="900" dirty="0">
                <a:solidFill>
                  <a:srgbClr val="888888"/>
                </a:solidFill>
                <a:latin typeface="Calibri" pitchFamily="34" charset="0"/>
                <a:ea typeface="Calibri" pitchFamily="34" charset="-122"/>
                <a:cs typeface="Calibri" pitchFamily="34" charset="-120"/>
              </a:rPr>
              <a:t>6 assertions</a:t>
            </a:r>
            <a:endParaRPr lang="en-US" sz="900" dirty="0"/>
          </a:p>
        </p:txBody>
      </p:sp>
      <p:sp>
        <p:nvSpPr>
          <p:cNvPr id="33" name="Text 31"/>
          <p:cNvSpPr/>
          <p:nvPr/>
        </p:nvSpPr>
        <p:spPr>
          <a:xfrm>
            <a:off x="8101584" y="2779776"/>
            <a:ext cx="365760" cy="274320"/>
          </a:xfrm>
          <a:prstGeom prst="rect">
            <a:avLst/>
          </a:prstGeom>
          <a:noFill/>
          <a:ln/>
        </p:spPr>
        <p:txBody>
          <a:bodyPr wrap="square" lIns="0" tIns="0" rIns="0" bIns="0" rtlCol="0" anchor="ctr"/>
          <a:lstStyle/>
          <a:p>
            <a:pPr marL="0" indent="0" algn="ctr">
              <a:buNone/>
            </a:pPr>
            <a:r>
              <a:rPr lang="en-US" sz="1100" b="1" dirty="0">
                <a:solidFill>
                  <a:srgbClr val="3A7A3A"/>
                </a:solidFill>
                <a:latin typeface="Calibri" pitchFamily="34" charset="0"/>
                <a:ea typeface="Calibri" pitchFamily="34" charset="-122"/>
                <a:cs typeface="Calibri" pitchFamily="34" charset="-120"/>
              </a:rPr>
              <a:t>✓</a:t>
            </a:r>
            <a:endParaRPr lang="en-US" sz="1100" dirty="0"/>
          </a:p>
        </p:txBody>
      </p:sp>
      <p:sp>
        <p:nvSpPr>
          <p:cNvPr id="34" name="Shape 32"/>
          <p:cNvSpPr/>
          <p:nvPr/>
        </p:nvSpPr>
        <p:spPr>
          <a:xfrm>
            <a:off x="4078224" y="3255264"/>
            <a:ext cx="2258568" cy="347472"/>
          </a:xfrm>
          <a:prstGeom prst="roundRect">
            <a:avLst>
              <a:gd name="adj" fmla="val 21053"/>
            </a:avLst>
          </a:prstGeom>
          <a:solidFill>
            <a:srgbClr val="E8F4E8"/>
          </a:solidFill>
          <a:ln w="12700">
            <a:solidFill>
              <a:srgbClr val="90C090"/>
            </a:solidFill>
            <a:prstDash val="solid"/>
          </a:ln>
        </p:spPr>
        <p:txBody>
          <a:bodyPr/>
          <a:lstStyle/>
          <a:p>
            <a:endParaRPr lang="en-CA"/>
          </a:p>
        </p:txBody>
      </p:sp>
      <p:sp>
        <p:nvSpPr>
          <p:cNvPr id="35" name="Text 33"/>
          <p:cNvSpPr/>
          <p:nvPr/>
        </p:nvSpPr>
        <p:spPr>
          <a:xfrm>
            <a:off x="4078224" y="3255264"/>
            <a:ext cx="2258568" cy="347472"/>
          </a:xfrm>
          <a:prstGeom prst="rect">
            <a:avLst/>
          </a:prstGeom>
          <a:noFill/>
          <a:ln/>
        </p:spPr>
        <p:txBody>
          <a:bodyPr wrap="square" lIns="0" tIns="0" rIns="0" bIns="0" rtlCol="0" anchor="ctr"/>
          <a:lstStyle/>
          <a:p>
            <a:pPr marL="0" indent="0" algn="ctr">
              <a:buNone/>
            </a:pPr>
            <a:r>
              <a:rPr lang="en-US" sz="950" b="1" dirty="0">
                <a:solidFill>
                  <a:srgbClr val="3A7A3A"/>
                </a:solidFill>
                <a:latin typeface="Calibri" pitchFamily="34" charset="0"/>
                <a:ea typeface="Calibri" pitchFamily="34" charset="-122"/>
                <a:cs typeface="Calibri" pitchFamily="34" charset="-120"/>
              </a:rPr>
              <a:t>x86 — 48/48 ✓</a:t>
            </a:r>
            <a:endParaRPr lang="en-US" sz="950" dirty="0"/>
          </a:p>
        </p:txBody>
      </p:sp>
      <p:sp>
        <p:nvSpPr>
          <p:cNvPr id="36" name="Shape 34"/>
          <p:cNvSpPr/>
          <p:nvPr/>
        </p:nvSpPr>
        <p:spPr>
          <a:xfrm>
            <a:off x="6483096" y="3255264"/>
            <a:ext cx="2258568" cy="347472"/>
          </a:xfrm>
          <a:prstGeom prst="roundRect">
            <a:avLst>
              <a:gd name="adj" fmla="val 21053"/>
            </a:avLst>
          </a:prstGeom>
          <a:solidFill>
            <a:srgbClr val="E8F4E8"/>
          </a:solidFill>
          <a:ln w="12700">
            <a:solidFill>
              <a:srgbClr val="90C090"/>
            </a:solidFill>
            <a:prstDash val="solid"/>
          </a:ln>
        </p:spPr>
        <p:txBody>
          <a:bodyPr/>
          <a:lstStyle/>
          <a:p>
            <a:endParaRPr lang="en-CA"/>
          </a:p>
        </p:txBody>
      </p:sp>
      <p:sp>
        <p:nvSpPr>
          <p:cNvPr id="37" name="Text 35"/>
          <p:cNvSpPr/>
          <p:nvPr/>
        </p:nvSpPr>
        <p:spPr>
          <a:xfrm>
            <a:off x="6483096" y="3255264"/>
            <a:ext cx="2258568" cy="347472"/>
          </a:xfrm>
          <a:prstGeom prst="rect">
            <a:avLst/>
          </a:prstGeom>
          <a:noFill/>
          <a:ln/>
        </p:spPr>
        <p:txBody>
          <a:bodyPr wrap="square" lIns="0" tIns="0" rIns="0" bIns="0" rtlCol="0" anchor="ctr"/>
          <a:lstStyle/>
          <a:p>
            <a:pPr marL="0" indent="0" algn="ctr">
              <a:buNone/>
            </a:pPr>
            <a:r>
              <a:rPr lang="en-US" sz="950" b="1" dirty="0">
                <a:solidFill>
                  <a:srgbClr val="3A7A3A"/>
                </a:solidFill>
                <a:latin typeface="Calibri" pitchFamily="34" charset="0"/>
                <a:ea typeface="Calibri" pitchFamily="34" charset="-122"/>
                <a:cs typeface="Calibri" pitchFamily="34" charset="-120"/>
              </a:rPr>
              <a:t>ARM — 48/48 ✓</a:t>
            </a:r>
            <a:endParaRPr lang="en-US" sz="950" dirty="0"/>
          </a:p>
        </p:txBody>
      </p:sp>
      <p:sp>
        <p:nvSpPr>
          <p:cNvPr id="38" name="Text 36"/>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pic>
        <p:nvPicPr>
          <p:cNvPr id="40" name="Picture 39">
            <a:extLst>
              <a:ext uri="{FF2B5EF4-FFF2-40B4-BE49-F238E27FC236}">
                <a16:creationId xmlns:a16="http://schemas.microsoft.com/office/drawing/2014/main" id="{BAC9D251-3130-7E6A-6CE9-E198D4381433}"/>
              </a:ext>
            </a:extLst>
          </p:cNvPr>
          <p:cNvPicPr>
            <a:picLocks noChangeAspect="1"/>
          </p:cNvPicPr>
          <p:nvPr/>
        </p:nvPicPr>
        <p:blipFill>
          <a:blip r:embed="rId3">
            <a:alphaModFix amt="5000"/>
          </a:blip>
          <a:stretch>
            <a:fillRect/>
          </a:stretch>
        </p:blipFill>
        <p:spPr>
          <a:xfrm>
            <a:off x="105156" y="2000250"/>
            <a:ext cx="1143000" cy="1143000"/>
          </a:xfrm>
          <a:prstGeom prst="rect">
            <a:avLst/>
          </a:prstGeom>
        </p:spPr>
      </p:pic>
      <p:pic>
        <p:nvPicPr>
          <p:cNvPr id="44" name="Picture 43">
            <a:extLst>
              <a:ext uri="{FF2B5EF4-FFF2-40B4-BE49-F238E27FC236}">
                <a16:creationId xmlns:a16="http://schemas.microsoft.com/office/drawing/2014/main" id="{E6165A5E-0D74-B2A4-8668-4CB7A996CCA9}"/>
              </a:ext>
            </a:extLst>
          </p:cNvPr>
          <p:cNvPicPr>
            <a:picLocks noChangeAspect="1"/>
          </p:cNvPicPr>
          <p:nvPr/>
        </p:nvPicPr>
        <p:blipFill>
          <a:blip r:embed="rId4">
            <a:alphaModFix amt="5000"/>
          </a:blip>
          <a:stretch>
            <a:fillRect/>
          </a:stretch>
        </p:blipFill>
        <p:spPr>
          <a:xfrm>
            <a:off x="289712" y="1892808"/>
            <a:ext cx="347472" cy="3474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943600" cy="0"/>
          </a:xfrm>
          <a:prstGeom prst="line">
            <a:avLst/>
          </a:prstGeom>
          <a:noFill/>
          <a:ln w="31750">
            <a:solidFill>
              <a:srgbClr val="C9A84C"/>
            </a:solidFill>
            <a:prstDash val="solid"/>
          </a:ln>
        </p:spPr>
        <p:txBody>
          <a:bodyPr/>
          <a:lstStyle/>
          <a:p>
            <a:endParaRPr lang="en-CA"/>
          </a:p>
        </p:txBody>
      </p:sp>
      <p:sp>
        <p:nvSpPr>
          <p:cNvPr id="3" name="Text 1"/>
          <p:cNvSpPr/>
          <p:nvPr/>
        </p:nvSpPr>
        <p:spPr>
          <a:xfrm>
            <a:off x="475488" y="182880"/>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03c  ·  VALIDATION CRYPTOGRAPHIQUE — KAT</a:t>
            </a:r>
            <a:endParaRPr lang="en-US" sz="800" dirty="0"/>
          </a:p>
        </p:txBody>
      </p:sp>
      <p:sp>
        <p:nvSpPr>
          <p:cNvPr id="4" name="Text 2"/>
          <p:cNvSpPr/>
          <p:nvPr/>
        </p:nvSpPr>
        <p:spPr>
          <a:xfrm>
            <a:off x="475488" y="365760"/>
            <a:ext cx="8229600" cy="347472"/>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Tableau </a:t>
            </a:r>
            <a:r>
              <a:rPr lang="en-US" sz="1500" b="1" dirty="0">
                <a:solidFill>
                  <a:srgbClr val="C9A84C"/>
                </a:solidFill>
                <a:latin typeface="Calibri" pitchFamily="34" charset="0"/>
                <a:ea typeface="Calibri" pitchFamily="34" charset="-122"/>
                <a:cs typeface="Calibri" pitchFamily="34" charset="-120"/>
              </a:rPr>
              <a:t>détaillé des suites KAT</a:t>
            </a:r>
            <a:endParaRPr lang="en-US" sz="1500" dirty="0"/>
          </a:p>
        </p:txBody>
      </p:sp>
      <p:sp>
        <p:nvSpPr>
          <p:cNvPr id="5" name="Shape 3"/>
          <p:cNvSpPr/>
          <p:nvPr/>
        </p:nvSpPr>
        <p:spPr>
          <a:xfrm>
            <a:off x="475488" y="1097280"/>
            <a:ext cx="8321040" cy="0"/>
          </a:xfrm>
          <a:prstGeom prst="line">
            <a:avLst/>
          </a:prstGeom>
          <a:noFill/>
          <a:ln w="15240">
            <a:solidFill>
              <a:srgbClr val="0A0A0A"/>
            </a:solidFill>
            <a:prstDash val="solid"/>
          </a:ln>
        </p:spPr>
        <p:txBody>
          <a:bodyPr/>
          <a:lstStyle/>
          <a:p>
            <a:endParaRPr lang="en-CA"/>
          </a:p>
        </p:txBody>
      </p:sp>
      <p:sp>
        <p:nvSpPr>
          <p:cNvPr id="6" name="Text 4"/>
          <p:cNvSpPr/>
          <p:nvPr/>
        </p:nvSpPr>
        <p:spPr>
          <a:xfrm>
            <a:off x="566928" y="822960"/>
            <a:ext cx="1280160" cy="274320"/>
          </a:xfrm>
          <a:prstGeom prst="rect">
            <a:avLst/>
          </a:prstGeom>
          <a:noFill/>
          <a:ln/>
        </p:spPr>
        <p:txBody>
          <a:bodyPr wrap="square" lIns="0" tIns="0" rIns="0" bIns="0" rtlCol="0" anchor="ctr"/>
          <a:lstStyle/>
          <a:p>
            <a:pPr marL="0" indent="0" algn="l">
              <a:buNone/>
            </a:pPr>
            <a:r>
              <a:rPr lang="en-US" sz="750" b="1" kern="0" spc="100" dirty="0">
                <a:solidFill>
                  <a:srgbClr val="888888"/>
                </a:solidFill>
                <a:latin typeface="Calibri" pitchFamily="34" charset="0"/>
                <a:ea typeface="Calibri" pitchFamily="34" charset="-122"/>
                <a:cs typeface="Calibri" pitchFamily="34" charset="-120"/>
              </a:rPr>
              <a:t>SUITE</a:t>
            </a:r>
            <a:endParaRPr lang="en-US" sz="750" dirty="0"/>
          </a:p>
        </p:txBody>
      </p:sp>
      <p:sp>
        <p:nvSpPr>
          <p:cNvPr id="7" name="Text 5"/>
          <p:cNvSpPr/>
          <p:nvPr/>
        </p:nvSpPr>
        <p:spPr>
          <a:xfrm>
            <a:off x="1938528" y="822960"/>
            <a:ext cx="1828800" cy="274320"/>
          </a:xfrm>
          <a:prstGeom prst="rect">
            <a:avLst/>
          </a:prstGeom>
          <a:noFill/>
          <a:ln/>
        </p:spPr>
        <p:txBody>
          <a:bodyPr wrap="square" lIns="0" tIns="0" rIns="0" bIns="0" rtlCol="0" anchor="ctr"/>
          <a:lstStyle/>
          <a:p>
            <a:pPr marL="0" indent="0" algn="l">
              <a:buNone/>
            </a:pPr>
            <a:r>
              <a:rPr lang="en-US" sz="750" b="1" kern="0" spc="100" dirty="0">
                <a:solidFill>
                  <a:srgbClr val="888888"/>
                </a:solidFill>
                <a:latin typeface="Calibri" pitchFamily="34" charset="0"/>
                <a:ea typeface="Calibri" pitchFamily="34" charset="-122"/>
                <a:cs typeface="Calibri" pitchFamily="34" charset="-120"/>
              </a:rPr>
              <a:t>SOURCE</a:t>
            </a:r>
            <a:endParaRPr lang="en-US" sz="750" dirty="0"/>
          </a:p>
        </p:txBody>
      </p:sp>
      <p:sp>
        <p:nvSpPr>
          <p:cNvPr id="8" name="Text 6"/>
          <p:cNvSpPr/>
          <p:nvPr/>
        </p:nvSpPr>
        <p:spPr>
          <a:xfrm>
            <a:off x="3858768" y="822960"/>
            <a:ext cx="3474720" cy="274320"/>
          </a:xfrm>
          <a:prstGeom prst="rect">
            <a:avLst/>
          </a:prstGeom>
          <a:noFill/>
          <a:ln/>
        </p:spPr>
        <p:txBody>
          <a:bodyPr wrap="square" lIns="0" tIns="0" rIns="0" bIns="0" rtlCol="0" anchor="ctr"/>
          <a:lstStyle/>
          <a:p>
            <a:pPr marL="0" indent="0" algn="l">
              <a:buNone/>
            </a:pPr>
            <a:r>
              <a:rPr lang="en-US" sz="750" b="1" kern="0" spc="100" dirty="0">
                <a:solidFill>
                  <a:srgbClr val="888888"/>
                </a:solidFill>
                <a:latin typeface="Calibri" pitchFamily="34" charset="0"/>
                <a:ea typeface="Calibri" pitchFamily="34" charset="-122"/>
                <a:cs typeface="Calibri" pitchFamily="34" charset="-120"/>
              </a:rPr>
              <a:t>RÉFÉRENCE EXACTE</a:t>
            </a:r>
            <a:endParaRPr lang="en-US" sz="750" dirty="0"/>
          </a:p>
        </p:txBody>
      </p:sp>
      <p:sp>
        <p:nvSpPr>
          <p:cNvPr id="9" name="Text 7"/>
          <p:cNvSpPr/>
          <p:nvPr/>
        </p:nvSpPr>
        <p:spPr>
          <a:xfrm>
            <a:off x="6899945" y="792188"/>
            <a:ext cx="987552" cy="274320"/>
          </a:xfrm>
          <a:prstGeom prst="rect">
            <a:avLst/>
          </a:prstGeom>
          <a:noFill/>
          <a:ln/>
        </p:spPr>
        <p:txBody>
          <a:bodyPr wrap="square" lIns="0" tIns="0" rIns="0" bIns="0" rtlCol="0" anchor="ctr"/>
          <a:lstStyle/>
          <a:p>
            <a:pPr marL="0" indent="0" algn="ctr">
              <a:buNone/>
            </a:pPr>
            <a:r>
              <a:rPr lang="en-US" sz="750" b="1" kern="0" spc="100" dirty="0">
                <a:solidFill>
                  <a:srgbClr val="888888"/>
                </a:solidFill>
                <a:latin typeface="Calibri" pitchFamily="34" charset="0"/>
                <a:ea typeface="Calibri" pitchFamily="34" charset="-122"/>
                <a:cs typeface="Calibri" pitchFamily="34" charset="-120"/>
              </a:rPr>
              <a:t>ASSERTATIONS PAR PLATEFORME</a:t>
            </a:r>
            <a:endParaRPr lang="en-US" sz="750" dirty="0"/>
          </a:p>
        </p:txBody>
      </p:sp>
      <p:sp>
        <p:nvSpPr>
          <p:cNvPr id="10" name="Text 8"/>
          <p:cNvSpPr/>
          <p:nvPr/>
        </p:nvSpPr>
        <p:spPr>
          <a:xfrm>
            <a:off x="8247888" y="822960"/>
            <a:ext cx="548640" cy="274320"/>
          </a:xfrm>
          <a:prstGeom prst="rect">
            <a:avLst/>
          </a:prstGeom>
          <a:noFill/>
          <a:ln/>
        </p:spPr>
        <p:txBody>
          <a:bodyPr wrap="square" lIns="0" tIns="0" rIns="0" bIns="0" rtlCol="0" anchor="ctr"/>
          <a:lstStyle/>
          <a:p>
            <a:pPr marL="0" indent="0" algn="ctr">
              <a:buNone/>
            </a:pPr>
            <a:endParaRPr lang="en-US" sz="750" dirty="0"/>
          </a:p>
        </p:txBody>
      </p:sp>
      <p:sp>
        <p:nvSpPr>
          <p:cNvPr id="11" name="Shape 9"/>
          <p:cNvSpPr/>
          <p:nvPr/>
        </p:nvSpPr>
        <p:spPr>
          <a:xfrm>
            <a:off x="475488" y="1133856"/>
            <a:ext cx="8321040" cy="438912"/>
          </a:xfrm>
          <a:prstGeom prst="rect">
            <a:avLst/>
          </a:prstGeom>
          <a:solidFill>
            <a:srgbClr val="FAFAFA"/>
          </a:solidFill>
          <a:ln w="12700">
            <a:solidFill>
              <a:srgbClr val="FAFAFA"/>
            </a:solidFill>
            <a:prstDash val="solid"/>
          </a:ln>
        </p:spPr>
        <p:txBody>
          <a:bodyPr/>
          <a:lstStyle/>
          <a:p>
            <a:endParaRPr lang="en-CA"/>
          </a:p>
        </p:txBody>
      </p:sp>
      <p:sp>
        <p:nvSpPr>
          <p:cNvPr id="12" name="Text 10"/>
          <p:cNvSpPr/>
          <p:nvPr/>
        </p:nvSpPr>
        <p:spPr>
          <a:xfrm>
            <a:off x="566928" y="1133856"/>
            <a:ext cx="1280160" cy="43891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AES</a:t>
            </a:r>
            <a:endParaRPr lang="en-US" sz="1000" dirty="0"/>
          </a:p>
        </p:txBody>
      </p:sp>
      <p:sp>
        <p:nvSpPr>
          <p:cNvPr id="13" name="Text 11"/>
          <p:cNvSpPr/>
          <p:nvPr/>
        </p:nvSpPr>
        <p:spPr>
          <a:xfrm>
            <a:off x="1938528" y="1133856"/>
            <a:ext cx="1828800" cy="438912"/>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NIST FIPS 197</a:t>
            </a:r>
            <a:endParaRPr lang="en-US" sz="900" dirty="0"/>
          </a:p>
        </p:txBody>
      </p:sp>
      <p:sp>
        <p:nvSpPr>
          <p:cNvPr id="14" name="Text 12"/>
          <p:cNvSpPr/>
          <p:nvPr/>
        </p:nvSpPr>
        <p:spPr>
          <a:xfrm>
            <a:off x="3858768" y="1133856"/>
            <a:ext cx="3474720" cy="438912"/>
          </a:xfrm>
          <a:prstGeom prst="rect">
            <a:avLst/>
          </a:prstGeom>
          <a:noFill/>
          <a:ln/>
        </p:spPr>
        <p:txBody>
          <a:bodyPr wrap="square" lIns="0" tIns="0" rIns="0" bIns="0" rtlCol="0" anchor="ctr"/>
          <a:lstStyle/>
          <a:p>
            <a:pPr marL="0" indent="0">
              <a:buNone/>
            </a:pPr>
            <a:r>
              <a:rPr lang="en-US" sz="850" dirty="0">
                <a:solidFill>
                  <a:srgbClr val="888888"/>
                </a:solidFill>
                <a:latin typeface="Calibri" pitchFamily="34" charset="0"/>
                <a:ea typeface="Calibri" pitchFamily="34" charset="-122"/>
                <a:cs typeface="Calibri" pitchFamily="34" charset="-120"/>
              </a:rPr>
              <a:t>Annexe B, C.1 (AES-128) · A.1 / A.2 / A.3 (128/192/256)</a:t>
            </a:r>
            <a:endParaRPr lang="en-US" sz="850" dirty="0"/>
          </a:p>
        </p:txBody>
      </p:sp>
      <p:sp>
        <p:nvSpPr>
          <p:cNvPr id="15" name="Text 13"/>
          <p:cNvSpPr/>
          <p:nvPr/>
        </p:nvSpPr>
        <p:spPr>
          <a:xfrm>
            <a:off x="7013448" y="1127470"/>
            <a:ext cx="822960" cy="438912"/>
          </a:xfrm>
          <a:prstGeom prst="rect">
            <a:avLst/>
          </a:prstGeom>
          <a:noFill/>
          <a:ln/>
        </p:spPr>
        <p:txBody>
          <a:bodyPr wrap="square" lIns="0" tIns="0" rIns="0" bIns="0" rtlCol="0" anchor="ctr"/>
          <a:lstStyle/>
          <a:p>
            <a:pPr marL="0" indent="0" algn="ctr">
              <a:buNone/>
            </a:pPr>
            <a:r>
              <a:rPr lang="en-US" sz="1100" b="1" dirty="0">
                <a:solidFill>
                  <a:srgbClr val="0A0A0A"/>
                </a:solidFill>
                <a:latin typeface="Calibri" pitchFamily="34" charset="0"/>
                <a:ea typeface="Calibri" pitchFamily="34" charset="-122"/>
                <a:cs typeface="Calibri" pitchFamily="34" charset="-120"/>
              </a:rPr>
              <a:t>8</a:t>
            </a:r>
            <a:endParaRPr lang="en-US" sz="1100" dirty="0"/>
          </a:p>
        </p:txBody>
      </p:sp>
      <p:sp>
        <p:nvSpPr>
          <p:cNvPr id="16" name="Text 14"/>
          <p:cNvSpPr/>
          <p:nvPr/>
        </p:nvSpPr>
        <p:spPr>
          <a:xfrm>
            <a:off x="8156448" y="1133856"/>
            <a:ext cx="640080" cy="438912"/>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17" name="Shape 15"/>
          <p:cNvSpPr/>
          <p:nvPr/>
        </p:nvSpPr>
        <p:spPr>
          <a:xfrm>
            <a:off x="475488" y="1572768"/>
            <a:ext cx="8321040" cy="0"/>
          </a:xfrm>
          <a:prstGeom prst="line">
            <a:avLst/>
          </a:prstGeom>
          <a:noFill/>
          <a:ln w="6350">
            <a:solidFill>
              <a:srgbClr val="EEEEEE"/>
            </a:solidFill>
            <a:prstDash val="solid"/>
          </a:ln>
        </p:spPr>
        <p:txBody>
          <a:bodyPr/>
          <a:lstStyle/>
          <a:p>
            <a:endParaRPr lang="en-CA"/>
          </a:p>
        </p:txBody>
      </p:sp>
      <p:sp>
        <p:nvSpPr>
          <p:cNvPr id="18" name="Text 16"/>
          <p:cNvSpPr/>
          <p:nvPr/>
        </p:nvSpPr>
        <p:spPr>
          <a:xfrm>
            <a:off x="566928" y="1572768"/>
            <a:ext cx="1280160" cy="43891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DES</a:t>
            </a:r>
            <a:endParaRPr lang="en-US" sz="1000" dirty="0"/>
          </a:p>
        </p:txBody>
      </p:sp>
      <p:sp>
        <p:nvSpPr>
          <p:cNvPr id="19" name="Text 17"/>
          <p:cNvSpPr/>
          <p:nvPr/>
        </p:nvSpPr>
        <p:spPr>
          <a:xfrm>
            <a:off x="1938528" y="1572768"/>
            <a:ext cx="1828800" cy="438912"/>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NIST SP 800-17</a:t>
            </a:r>
            <a:endParaRPr lang="en-US" sz="900" dirty="0"/>
          </a:p>
        </p:txBody>
      </p:sp>
      <p:sp>
        <p:nvSpPr>
          <p:cNvPr id="20" name="Text 18"/>
          <p:cNvSpPr/>
          <p:nvPr/>
        </p:nvSpPr>
        <p:spPr>
          <a:xfrm>
            <a:off x="3858768" y="1572768"/>
            <a:ext cx="3474720" cy="438912"/>
          </a:xfrm>
          <a:prstGeom prst="rect">
            <a:avLst/>
          </a:prstGeom>
          <a:noFill/>
          <a:ln/>
        </p:spPr>
        <p:txBody>
          <a:bodyPr wrap="square" lIns="0" tIns="0" rIns="0" bIns="0" rtlCol="0" anchor="ctr"/>
          <a:lstStyle/>
          <a:p>
            <a:pPr marL="0" indent="0">
              <a:buNone/>
            </a:pPr>
            <a:r>
              <a:rPr lang="en-US" sz="850" dirty="0">
                <a:solidFill>
                  <a:srgbClr val="888888"/>
                </a:solidFill>
                <a:latin typeface="Calibri" pitchFamily="34" charset="0"/>
                <a:ea typeface="Calibri" pitchFamily="34" charset="-122"/>
                <a:cs typeface="Calibri" pitchFamily="34" charset="-120"/>
              </a:rPr>
              <a:t>Tableau 1 — KAT à texte clair variable</a:t>
            </a:r>
            <a:endParaRPr lang="en-US" sz="850" dirty="0"/>
          </a:p>
        </p:txBody>
      </p:sp>
      <p:sp>
        <p:nvSpPr>
          <p:cNvPr id="21" name="Text 19"/>
          <p:cNvSpPr/>
          <p:nvPr/>
        </p:nvSpPr>
        <p:spPr>
          <a:xfrm>
            <a:off x="7013448" y="1566382"/>
            <a:ext cx="822960" cy="438912"/>
          </a:xfrm>
          <a:prstGeom prst="rect">
            <a:avLst/>
          </a:prstGeom>
          <a:noFill/>
          <a:ln/>
        </p:spPr>
        <p:txBody>
          <a:bodyPr wrap="square" lIns="0" tIns="0" rIns="0" bIns="0" rtlCol="0" anchor="ctr"/>
          <a:lstStyle/>
          <a:p>
            <a:pPr marL="0" indent="0" algn="ctr">
              <a:buNone/>
            </a:pPr>
            <a:r>
              <a:rPr lang="en-US" sz="1100" b="1" dirty="0">
                <a:solidFill>
                  <a:srgbClr val="0A0A0A"/>
                </a:solidFill>
                <a:latin typeface="Calibri" pitchFamily="34" charset="0"/>
                <a:ea typeface="Calibri" pitchFamily="34" charset="-122"/>
                <a:cs typeface="Calibri" pitchFamily="34" charset="-120"/>
              </a:rPr>
              <a:t>18</a:t>
            </a:r>
            <a:endParaRPr lang="en-US" sz="1100" dirty="0"/>
          </a:p>
        </p:txBody>
      </p:sp>
      <p:sp>
        <p:nvSpPr>
          <p:cNvPr id="22" name="Text 20"/>
          <p:cNvSpPr/>
          <p:nvPr/>
        </p:nvSpPr>
        <p:spPr>
          <a:xfrm>
            <a:off x="8156448" y="1572768"/>
            <a:ext cx="640080" cy="438912"/>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23" name="Shape 21"/>
          <p:cNvSpPr/>
          <p:nvPr/>
        </p:nvSpPr>
        <p:spPr>
          <a:xfrm>
            <a:off x="475488" y="2011680"/>
            <a:ext cx="8321040" cy="0"/>
          </a:xfrm>
          <a:prstGeom prst="line">
            <a:avLst/>
          </a:prstGeom>
          <a:noFill/>
          <a:ln w="6350">
            <a:solidFill>
              <a:srgbClr val="EEEEEE"/>
            </a:solidFill>
            <a:prstDash val="solid"/>
          </a:ln>
        </p:spPr>
        <p:txBody>
          <a:bodyPr/>
          <a:lstStyle/>
          <a:p>
            <a:endParaRPr lang="en-CA"/>
          </a:p>
        </p:txBody>
      </p:sp>
      <p:sp>
        <p:nvSpPr>
          <p:cNvPr id="24" name="Shape 22"/>
          <p:cNvSpPr/>
          <p:nvPr/>
        </p:nvSpPr>
        <p:spPr>
          <a:xfrm>
            <a:off x="475488" y="2011680"/>
            <a:ext cx="8321040" cy="438912"/>
          </a:xfrm>
          <a:prstGeom prst="rect">
            <a:avLst/>
          </a:prstGeom>
          <a:solidFill>
            <a:srgbClr val="FAFAFA"/>
          </a:solidFill>
          <a:ln w="12700">
            <a:solidFill>
              <a:srgbClr val="FAFAFA"/>
            </a:solidFill>
            <a:prstDash val="solid"/>
          </a:ln>
        </p:spPr>
        <p:txBody>
          <a:bodyPr/>
          <a:lstStyle/>
          <a:p>
            <a:endParaRPr lang="en-CA"/>
          </a:p>
        </p:txBody>
      </p:sp>
      <p:sp>
        <p:nvSpPr>
          <p:cNvPr id="25" name="Text 23"/>
          <p:cNvSpPr/>
          <p:nvPr/>
        </p:nvSpPr>
        <p:spPr>
          <a:xfrm>
            <a:off x="566928" y="2011680"/>
            <a:ext cx="1280160" cy="43891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3DES</a:t>
            </a:r>
            <a:endParaRPr lang="en-US" sz="1000" dirty="0"/>
          </a:p>
        </p:txBody>
      </p:sp>
      <p:sp>
        <p:nvSpPr>
          <p:cNvPr id="26" name="Text 24"/>
          <p:cNvSpPr/>
          <p:nvPr/>
        </p:nvSpPr>
        <p:spPr>
          <a:xfrm>
            <a:off x="1938528" y="2011680"/>
            <a:ext cx="1828800" cy="438912"/>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NIST SP 800-67 Rev.2</a:t>
            </a:r>
            <a:endParaRPr lang="en-US" sz="900" dirty="0"/>
          </a:p>
        </p:txBody>
      </p:sp>
      <p:sp>
        <p:nvSpPr>
          <p:cNvPr id="27" name="Text 25"/>
          <p:cNvSpPr/>
          <p:nvPr/>
        </p:nvSpPr>
        <p:spPr>
          <a:xfrm>
            <a:off x="3858768" y="2011680"/>
            <a:ext cx="3474720" cy="438912"/>
          </a:xfrm>
          <a:prstGeom prst="rect">
            <a:avLst/>
          </a:prstGeom>
          <a:noFill/>
          <a:ln/>
        </p:spPr>
        <p:txBody>
          <a:bodyPr wrap="square" lIns="0" tIns="0" rIns="0" bIns="0" rtlCol="0" anchor="ctr"/>
          <a:lstStyle/>
          <a:p>
            <a:pPr marL="0" indent="0">
              <a:buNone/>
            </a:pPr>
            <a:r>
              <a:rPr lang="en-US" sz="850" dirty="0">
                <a:solidFill>
                  <a:srgbClr val="888888"/>
                </a:solidFill>
                <a:latin typeface="Calibri" pitchFamily="34" charset="0"/>
                <a:ea typeface="Calibri" pitchFamily="34" charset="-122"/>
                <a:cs typeface="Calibri" pitchFamily="34" charset="-120"/>
              </a:rPr>
              <a:t>Spécification EDE — vecteurs TDEA 2 clés et 3 clés</a:t>
            </a:r>
            <a:endParaRPr lang="en-US" sz="850" dirty="0"/>
          </a:p>
        </p:txBody>
      </p:sp>
      <p:sp>
        <p:nvSpPr>
          <p:cNvPr id="28" name="Text 26"/>
          <p:cNvSpPr/>
          <p:nvPr/>
        </p:nvSpPr>
        <p:spPr>
          <a:xfrm>
            <a:off x="7013448" y="2005294"/>
            <a:ext cx="822960" cy="438912"/>
          </a:xfrm>
          <a:prstGeom prst="rect">
            <a:avLst/>
          </a:prstGeom>
          <a:noFill/>
          <a:ln/>
        </p:spPr>
        <p:txBody>
          <a:bodyPr wrap="square" lIns="0" tIns="0" rIns="0" bIns="0" rtlCol="0" anchor="ctr"/>
          <a:lstStyle/>
          <a:p>
            <a:pPr marL="0" indent="0" algn="ctr">
              <a:buNone/>
            </a:pPr>
            <a:r>
              <a:rPr lang="en-US" sz="1100" b="1" dirty="0">
                <a:solidFill>
                  <a:srgbClr val="0A0A0A"/>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8156448" y="2011680"/>
            <a:ext cx="640080" cy="438912"/>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30" name="Shape 28"/>
          <p:cNvSpPr/>
          <p:nvPr/>
        </p:nvSpPr>
        <p:spPr>
          <a:xfrm>
            <a:off x="475488" y="2450592"/>
            <a:ext cx="8321040" cy="0"/>
          </a:xfrm>
          <a:prstGeom prst="line">
            <a:avLst/>
          </a:prstGeom>
          <a:noFill/>
          <a:ln w="6350">
            <a:solidFill>
              <a:srgbClr val="EEEEEE"/>
            </a:solidFill>
            <a:prstDash val="solid"/>
          </a:ln>
        </p:spPr>
        <p:txBody>
          <a:bodyPr/>
          <a:lstStyle/>
          <a:p>
            <a:endParaRPr lang="en-CA"/>
          </a:p>
        </p:txBody>
      </p:sp>
      <p:sp>
        <p:nvSpPr>
          <p:cNvPr id="31" name="Text 29"/>
          <p:cNvSpPr/>
          <p:nvPr/>
        </p:nvSpPr>
        <p:spPr>
          <a:xfrm>
            <a:off x="566928" y="2450592"/>
            <a:ext cx="1280160" cy="43891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Twofish</a:t>
            </a:r>
            <a:endParaRPr lang="en-US" sz="1000" dirty="0"/>
          </a:p>
        </p:txBody>
      </p:sp>
      <p:sp>
        <p:nvSpPr>
          <p:cNvPr id="32" name="Text 30"/>
          <p:cNvSpPr/>
          <p:nvPr/>
        </p:nvSpPr>
        <p:spPr>
          <a:xfrm>
            <a:off x="1938528" y="2450592"/>
            <a:ext cx="1828800" cy="438912"/>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Validation interne </a:t>
            </a:r>
            <a:endParaRPr lang="en-US" sz="900" dirty="0"/>
          </a:p>
        </p:txBody>
      </p:sp>
      <p:sp>
        <p:nvSpPr>
          <p:cNvPr id="33" name="Text 31"/>
          <p:cNvSpPr/>
          <p:nvPr/>
        </p:nvSpPr>
        <p:spPr>
          <a:xfrm>
            <a:off x="3858768" y="2450592"/>
            <a:ext cx="3474720" cy="438912"/>
          </a:xfrm>
          <a:prstGeom prst="rect">
            <a:avLst/>
          </a:prstGeom>
          <a:noFill/>
          <a:ln/>
        </p:spPr>
        <p:txBody>
          <a:bodyPr wrap="square" lIns="0" tIns="0" rIns="0" bIns="0" rtlCol="0" anchor="ctr"/>
          <a:lstStyle/>
          <a:p>
            <a:pPr marL="0" indent="0">
              <a:buNone/>
            </a:pPr>
            <a:r>
              <a:rPr lang="fr-FR" sz="850" dirty="0">
                <a:solidFill>
                  <a:srgbClr val="888888"/>
                </a:solidFill>
                <a:latin typeface="Calibri" pitchFamily="34" charset="0"/>
                <a:ea typeface="Calibri" pitchFamily="34" charset="-122"/>
                <a:cs typeface="Calibri" pitchFamily="34" charset="-120"/>
              </a:rPr>
              <a:t>Test aller-retour chiffrement/déchiffrement (non normatif)</a:t>
            </a:r>
            <a:endParaRPr lang="en-US" sz="850" dirty="0"/>
          </a:p>
        </p:txBody>
      </p:sp>
      <p:sp>
        <p:nvSpPr>
          <p:cNvPr id="34" name="Text 32"/>
          <p:cNvSpPr/>
          <p:nvPr/>
        </p:nvSpPr>
        <p:spPr>
          <a:xfrm>
            <a:off x="7013448" y="2444206"/>
            <a:ext cx="822960" cy="438912"/>
          </a:xfrm>
          <a:prstGeom prst="rect">
            <a:avLst/>
          </a:prstGeom>
          <a:noFill/>
          <a:ln/>
        </p:spPr>
        <p:txBody>
          <a:bodyPr wrap="square" lIns="0" tIns="0" rIns="0" bIns="0" rtlCol="0" anchor="ctr"/>
          <a:lstStyle/>
          <a:p>
            <a:pPr marL="0" indent="0" algn="ctr">
              <a:buNone/>
            </a:pPr>
            <a:r>
              <a:rPr lang="en-US" sz="1100" b="1" dirty="0">
                <a:solidFill>
                  <a:srgbClr val="C0C0C0"/>
                </a:solidFill>
                <a:latin typeface="Calibri" pitchFamily="34" charset="0"/>
                <a:ea typeface="Calibri" pitchFamily="34" charset="-122"/>
                <a:cs typeface="Calibri" pitchFamily="34" charset="-120"/>
              </a:rPr>
              <a:t>—</a:t>
            </a:r>
            <a:endParaRPr lang="en-US" sz="1100" dirty="0"/>
          </a:p>
        </p:txBody>
      </p:sp>
      <p:sp>
        <p:nvSpPr>
          <p:cNvPr id="35" name="Text 33"/>
          <p:cNvSpPr/>
          <p:nvPr/>
        </p:nvSpPr>
        <p:spPr>
          <a:xfrm>
            <a:off x="8156448" y="2450592"/>
            <a:ext cx="640080" cy="438912"/>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36" name="Shape 34"/>
          <p:cNvSpPr/>
          <p:nvPr/>
        </p:nvSpPr>
        <p:spPr>
          <a:xfrm>
            <a:off x="475488" y="2889504"/>
            <a:ext cx="8321040" cy="0"/>
          </a:xfrm>
          <a:prstGeom prst="line">
            <a:avLst/>
          </a:prstGeom>
          <a:noFill/>
          <a:ln w="6350">
            <a:solidFill>
              <a:srgbClr val="EEEEEE"/>
            </a:solidFill>
            <a:prstDash val="solid"/>
          </a:ln>
        </p:spPr>
        <p:txBody>
          <a:bodyPr/>
          <a:lstStyle/>
          <a:p>
            <a:endParaRPr lang="en-CA"/>
          </a:p>
        </p:txBody>
      </p:sp>
      <p:sp>
        <p:nvSpPr>
          <p:cNvPr id="37" name="Shape 35"/>
          <p:cNvSpPr/>
          <p:nvPr/>
        </p:nvSpPr>
        <p:spPr>
          <a:xfrm>
            <a:off x="475488" y="2889504"/>
            <a:ext cx="8321040" cy="438912"/>
          </a:xfrm>
          <a:prstGeom prst="rect">
            <a:avLst/>
          </a:prstGeom>
          <a:solidFill>
            <a:srgbClr val="FAFAFA"/>
          </a:solidFill>
          <a:ln w="12700">
            <a:solidFill>
              <a:srgbClr val="FAFAFA"/>
            </a:solidFill>
            <a:prstDash val="solid"/>
          </a:ln>
        </p:spPr>
        <p:txBody>
          <a:bodyPr/>
          <a:lstStyle/>
          <a:p>
            <a:endParaRPr lang="en-CA"/>
          </a:p>
        </p:txBody>
      </p:sp>
      <p:sp>
        <p:nvSpPr>
          <p:cNvPr id="38" name="Text 36"/>
          <p:cNvSpPr/>
          <p:nvPr/>
        </p:nvSpPr>
        <p:spPr>
          <a:xfrm>
            <a:off x="566928" y="2889504"/>
            <a:ext cx="1280160" cy="43891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Modes</a:t>
            </a:r>
            <a:endParaRPr lang="en-US" sz="1000" dirty="0"/>
          </a:p>
        </p:txBody>
      </p:sp>
      <p:sp>
        <p:nvSpPr>
          <p:cNvPr id="39" name="Text 37"/>
          <p:cNvSpPr/>
          <p:nvPr/>
        </p:nvSpPr>
        <p:spPr>
          <a:xfrm>
            <a:off x="1938528" y="2889504"/>
            <a:ext cx="1828800" cy="438912"/>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NIST SP 800-38A</a:t>
            </a:r>
            <a:endParaRPr lang="en-US" sz="900" dirty="0"/>
          </a:p>
        </p:txBody>
      </p:sp>
      <p:sp>
        <p:nvSpPr>
          <p:cNvPr id="40" name="Text 38"/>
          <p:cNvSpPr/>
          <p:nvPr/>
        </p:nvSpPr>
        <p:spPr>
          <a:xfrm>
            <a:off x="3858768" y="2889504"/>
            <a:ext cx="3474720" cy="438912"/>
          </a:xfrm>
          <a:prstGeom prst="rect">
            <a:avLst/>
          </a:prstGeom>
          <a:noFill/>
          <a:ln/>
        </p:spPr>
        <p:txBody>
          <a:bodyPr wrap="square" lIns="0" tIns="0" rIns="0" bIns="0" rtlCol="0" anchor="ctr"/>
          <a:lstStyle/>
          <a:p>
            <a:pPr marL="0" indent="0">
              <a:buNone/>
            </a:pPr>
            <a:r>
              <a:rPr lang="en-US" sz="850" dirty="0">
                <a:solidFill>
                  <a:srgbClr val="888888"/>
                </a:solidFill>
                <a:latin typeface="Calibri" pitchFamily="34" charset="0"/>
                <a:ea typeface="Calibri" pitchFamily="34" charset="-122"/>
                <a:cs typeface="Calibri" pitchFamily="34" charset="-120"/>
              </a:rPr>
              <a:t>Annexe F.1 (ECB) · F.2 (CBC) · F.5 (CTR)</a:t>
            </a:r>
            <a:endParaRPr lang="en-US" sz="850" dirty="0"/>
          </a:p>
        </p:txBody>
      </p:sp>
      <p:sp>
        <p:nvSpPr>
          <p:cNvPr id="41" name="Text 39"/>
          <p:cNvSpPr/>
          <p:nvPr/>
        </p:nvSpPr>
        <p:spPr>
          <a:xfrm>
            <a:off x="7013448" y="2883118"/>
            <a:ext cx="822960" cy="438912"/>
          </a:xfrm>
          <a:prstGeom prst="rect">
            <a:avLst/>
          </a:prstGeom>
          <a:noFill/>
          <a:ln/>
        </p:spPr>
        <p:txBody>
          <a:bodyPr wrap="square" lIns="0" tIns="0" rIns="0" bIns="0" rtlCol="0" anchor="ctr"/>
          <a:lstStyle/>
          <a:p>
            <a:pPr marL="0" indent="0" algn="ctr">
              <a:buNone/>
            </a:pPr>
            <a:r>
              <a:rPr lang="en-US" sz="1100" b="1" dirty="0">
                <a:solidFill>
                  <a:srgbClr val="0A0A0A"/>
                </a:solidFill>
                <a:latin typeface="Calibri" pitchFamily="34" charset="0"/>
                <a:ea typeface="Calibri" pitchFamily="34" charset="-122"/>
                <a:cs typeface="Calibri" pitchFamily="34" charset="-120"/>
              </a:rPr>
              <a:t>6</a:t>
            </a:r>
            <a:endParaRPr lang="en-US" sz="1100" dirty="0"/>
          </a:p>
        </p:txBody>
      </p:sp>
      <p:sp>
        <p:nvSpPr>
          <p:cNvPr id="42" name="Text 40"/>
          <p:cNvSpPr/>
          <p:nvPr/>
        </p:nvSpPr>
        <p:spPr>
          <a:xfrm>
            <a:off x="8156448" y="2889504"/>
            <a:ext cx="640080" cy="438912"/>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43" name="Shape 41"/>
          <p:cNvSpPr/>
          <p:nvPr/>
        </p:nvSpPr>
        <p:spPr>
          <a:xfrm>
            <a:off x="475488" y="3328416"/>
            <a:ext cx="8321040" cy="0"/>
          </a:xfrm>
          <a:prstGeom prst="line">
            <a:avLst/>
          </a:prstGeom>
          <a:noFill/>
          <a:ln w="6350">
            <a:solidFill>
              <a:srgbClr val="EEEEEE"/>
            </a:solidFill>
            <a:prstDash val="solid"/>
          </a:ln>
        </p:spPr>
        <p:txBody>
          <a:bodyPr/>
          <a:lstStyle/>
          <a:p>
            <a:endParaRPr lang="en-CA"/>
          </a:p>
        </p:txBody>
      </p:sp>
      <p:sp>
        <p:nvSpPr>
          <p:cNvPr id="44" name="Text 42"/>
          <p:cNvSpPr/>
          <p:nvPr/>
        </p:nvSpPr>
        <p:spPr>
          <a:xfrm>
            <a:off x="566928" y="3328416"/>
            <a:ext cx="1280160" cy="43891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GCM</a:t>
            </a:r>
            <a:endParaRPr lang="en-US" sz="1000" dirty="0"/>
          </a:p>
        </p:txBody>
      </p:sp>
      <p:sp>
        <p:nvSpPr>
          <p:cNvPr id="45" name="Text 43"/>
          <p:cNvSpPr/>
          <p:nvPr/>
        </p:nvSpPr>
        <p:spPr>
          <a:xfrm>
            <a:off x="1938528" y="3328416"/>
            <a:ext cx="1828800" cy="438912"/>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NIST SP 800-38D</a:t>
            </a:r>
            <a:endParaRPr lang="en-US" sz="900" dirty="0"/>
          </a:p>
        </p:txBody>
      </p:sp>
      <p:sp>
        <p:nvSpPr>
          <p:cNvPr id="46" name="Text 44"/>
          <p:cNvSpPr/>
          <p:nvPr/>
        </p:nvSpPr>
        <p:spPr>
          <a:xfrm>
            <a:off x="3858768" y="3328416"/>
            <a:ext cx="3474720" cy="438912"/>
          </a:xfrm>
          <a:prstGeom prst="rect">
            <a:avLst/>
          </a:prstGeom>
          <a:noFill/>
          <a:ln/>
        </p:spPr>
        <p:txBody>
          <a:bodyPr wrap="square" lIns="0" tIns="0" rIns="0" bIns="0" rtlCol="0" anchor="ctr"/>
          <a:lstStyle/>
          <a:p>
            <a:pPr marL="0" indent="0">
              <a:buNone/>
            </a:pPr>
            <a:r>
              <a:rPr lang="en-US" sz="850" dirty="0">
                <a:solidFill>
                  <a:srgbClr val="888888"/>
                </a:solidFill>
                <a:latin typeface="Calibri" pitchFamily="34" charset="0"/>
                <a:ea typeface="Calibri" pitchFamily="34" charset="-122"/>
                <a:cs typeface="Calibri" pitchFamily="34" charset="-120"/>
              </a:rPr>
              <a:t>Annexe B — cas de test 3 et 4</a:t>
            </a:r>
            <a:endParaRPr lang="en-US" sz="850" dirty="0"/>
          </a:p>
        </p:txBody>
      </p:sp>
      <p:sp>
        <p:nvSpPr>
          <p:cNvPr id="47" name="Text 45"/>
          <p:cNvSpPr/>
          <p:nvPr/>
        </p:nvSpPr>
        <p:spPr>
          <a:xfrm>
            <a:off x="7013448" y="3322030"/>
            <a:ext cx="822960" cy="438912"/>
          </a:xfrm>
          <a:prstGeom prst="rect">
            <a:avLst/>
          </a:prstGeom>
          <a:noFill/>
          <a:ln/>
        </p:spPr>
        <p:txBody>
          <a:bodyPr wrap="square" lIns="0" tIns="0" rIns="0" bIns="0" rtlCol="0" anchor="ctr"/>
          <a:lstStyle/>
          <a:p>
            <a:pPr marL="0" indent="0" algn="ctr">
              <a:buNone/>
            </a:pPr>
            <a:r>
              <a:rPr lang="en-US" sz="1100" b="1" dirty="0">
                <a:solidFill>
                  <a:srgbClr val="0A0A0A"/>
                </a:solidFill>
                <a:latin typeface="Calibri" pitchFamily="34" charset="0"/>
                <a:ea typeface="Calibri" pitchFamily="34" charset="-122"/>
                <a:cs typeface="Calibri" pitchFamily="34" charset="-120"/>
              </a:rPr>
              <a:t>6</a:t>
            </a:r>
            <a:endParaRPr lang="en-US" sz="1100" dirty="0"/>
          </a:p>
        </p:txBody>
      </p:sp>
      <p:sp>
        <p:nvSpPr>
          <p:cNvPr id="48" name="Text 46"/>
          <p:cNvSpPr/>
          <p:nvPr/>
        </p:nvSpPr>
        <p:spPr>
          <a:xfrm>
            <a:off x="8156448" y="3328416"/>
            <a:ext cx="640080" cy="438912"/>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49" name="Shape 47"/>
          <p:cNvSpPr/>
          <p:nvPr/>
        </p:nvSpPr>
        <p:spPr>
          <a:xfrm>
            <a:off x="475488" y="3767328"/>
            <a:ext cx="8321040" cy="0"/>
          </a:xfrm>
          <a:prstGeom prst="line">
            <a:avLst/>
          </a:prstGeom>
          <a:noFill/>
          <a:ln w="6350">
            <a:solidFill>
              <a:srgbClr val="EEEEEE"/>
            </a:solidFill>
            <a:prstDash val="solid"/>
          </a:ln>
        </p:spPr>
        <p:txBody>
          <a:bodyPr/>
          <a:lstStyle/>
          <a:p>
            <a:endParaRPr lang="en-CA"/>
          </a:p>
        </p:txBody>
      </p:sp>
      <p:sp>
        <p:nvSpPr>
          <p:cNvPr id="50" name="Shape 48"/>
          <p:cNvSpPr/>
          <p:nvPr/>
        </p:nvSpPr>
        <p:spPr>
          <a:xfrm>
            <a:off x="475488" y="3767328"/>
            <a:ext cx="8321040" cy="438912"/>
          </a:xfrm>
          <a:prstGeom prst="rect">
            <a:avLst/>
          </a:prstGeom>
          <a:solidFill>
            <a:srgbClr val="FAFAFA"/>
          </a:solidFill>
          <a:ln w="12700">
            <a:solidFill>
              <a:srgbClr val="FAFAFA"/>
            </a:solidFill>
            <a:prstDash val="solid"/>
          </a:ln>
        </p:spPr>
        <p:txBody>
          <a:bodyPr/>
          <a:lstStyle/>
          <a:p>
            <a:endParaRPr lang="en-CA"/>
          </a:p>
        </p:txBody>
      </p:sp>
      <p:sp>
        <p:nvSpPr>
          <p:cNvPr id="51" name="Text 49"/>
          <p:cNvSpPr/>
          <p:nvPr/>
        </p:nvSpPr>
        <p:spPr>
          <a:xfrm>
            <a:off x="566928" y="3767328"/>
            <a:ext cx="1280160" cy="43891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ChaCha20</a:t>
            </a:r>
            <a:endParaRPr lang="en-US" sz="1000" dirty="0"/>
          </a:p>
        </p:txBody>
      </p:sp>
      <p:sp>
        <p:nvSpPr>
          <p:cNvPr id="52" name="Text 50"/>
          <p:cNvSpPr/>
          <p:nvPr/>
        </p:nvSpPr>
        <p:spPr>
          <a:xfrm>
            <a:off x="1938528" y="3767328"/>
            <a:ext cx="1828800" cy="438912"/>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RFC 8439</a:t>
            </a:r>
            <a:endParaRPr lang="en-US" sz="900" dirty="0"/>
          </a:p>
        </p:txBody>
      </p:sp>
      <p:sp>
        <p:nvSpPr>
          <p:cNvPr id="53" name="Text 51"/>
          <p:cNvSpPr/>
          <p:nvPr/>
        </p:nvSpPr>
        <p:spPr>
          <a:xfrm>
            <a:off x="3858768" y="3767328"/>
            <a:ext cx="3474720" cy="438912"/>
          </a:xfrm>
          <a:prstGeom prst="rect">
            <a:avLst/>
          </a:prstGeom>
          <a:noFill/>
          <a:ln/>
        </p:spPr>
        <p:txBody>
          <a:bodyPr wrap="square" lIns="0" tIns="0" rIns="0" bIns="0" rtlCol="0" anchor="ctr"/>
          <a:lstStyle/>
          <a:p>
            <a:pPr marL="0" indent="0">
              <a:buNone/>
            </a:pPr>
            <a:r>
              <a:rPr lang="en-US" sz="850" dirty="0">
                <a:solidFill>
                  <a:srgbClr val="888888"/>
                </a:solidFill>
                <a:latin typeface="Calibri" pitchFamily="34" charset="0"/>
                <a:ea typeface="Calibri" pitchFamily="34" charset="-122"/>
                <a:cs typeface="Calibri" pitchFamily="34" charset="-120"/>
              </a:rPr>
              <a:t>§2.1.1 · §2.3.2 · §2.4.2</a:t>
            </a:r>
            <a:endParaRPr lang="en-US" sz="850" dirty="0"/>
          </a:p>
        </p:txBody>
      </p:sp>
      <p:sp>
        <p:nvSpPr>
          <p:cNvPr id="54" name="Text 52"/>
          <p:cNvSpPr/>
          <p:nvPr/>
        </p:nvSpPr>
        <p:spPr>
          <a:xfrm>
            <a:off x="7013448" y="3760942"/>
            <a:ext cx="822960" cy="438912"/>
          </a:xfrm>
          <a:prstGeom prst="rect">
            <a:avLst/>
          </a:prstGeom>
          <a:noFill/>
          <a:ln/>
        </p:spPr>
        <p:txBody>
          <a:bodyPr wrap="square" lIns="0" tIns="0" rIns="0" bIns="0" rtlCol="0" anchor="ctr"/>
          <a:lstStyle/>
          <a:p>
            <a:pPr marL="0" indent="0" algn="ctr">
              <a:buNone/>
            </a:pPr>
            <a:r>
              <a:rPr lang="en-US" sz="1100" b="1" dirty="0">
                <a:solidFill>
                  <a:srgbClr val="0A0A0A"/>
                </a:solidFill>
                <a:latin typeface="Calibri" pitchFamily="34" charset="0"/>
                <a:ea typeface="Calibri" pitchFamily="34" charset="-122"/>
                <a:cs typeface="Calibri" pitchFamily="34" charset="-120"/>
              </a:rPr>
              <a:t>6</a:t>
            </a:r>
            <a:endParaRPr lang="en-US" sz="1100" dirty="0"/>
          </a:p>
        </p:txBody>
      </p:sp>
      <p:sp>
        <p:nvSpPr>
          <p:cNvPr id="55" name="Text 53"/>
          <p:cNvSpPr/>
          <p:nvPr/>
        </p:nvSpPr>
        <p:spPr>
          <a:xfrm>
            <a:off x="8156448" y="3767328"/>
            <a:ext cx="640080" cy="438912"/>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56" name="Shape 54"/>
          <p:cNvSpPr/>
          <p:nvPr/>
        </p:nvSpPr>
        <p:spPr>
          <a:xfrm>
            <a:off x="475488" y="4261104"/>
            <a:ext cx="8321040" cy="0"/>
          </a:xfrm>
          <a:prstGeom prst="line">
            <a:avLst/>
          </a:prstGeom>
          <a:noFill/>
          <a:ln w="15240">
            <a:solidFill>
              <a:srgbClr val="0A0A0A"/>
            </a:solidFill>
            <a:prstDash val="solid"/>
          </a:ln>
        </p:spPr>
        <p:txBody>
          <a:bodyPr/>
          <a:lstStyle/>
          <a:p>
            <a:endParaRPr lang="en-CA"/>
          </a:p>
        </p:txBody>
      </p:sp>
      <p:sp>
        <p:nvSpPr>
          <p:cNvPr id="57" name="Text 55"/>
          <p:cNvSpPr/>
          <p:nvPr/>
        </p:nvSpPr>
        <p:spPr>
          <a:xfrm>
            <a:off x="566928" y="4279392"/>
            <a:ext cx="3200400" cy="329184"/>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TOTAL</a:t>
            </a:r>
            <a:endParaRPr lang="en-US" sz="1000" dirty="0"/>
          </a:p>
        </p:txBody>
      </p:sp>
      <p:sp>
        <p:nvSpPr>
          <p:cNvPr id="59" name="Text 57"/>
          <p:cNvSpPr/>
          <p:nvPr/>
        </p:nvSpPr>
        <p:spPr>
          <a:xfrm>
            <a:off x="7013448" y="4273006"/>
            <a:ext cx="822960" cy="329184"/>
          </a:xfrm>
          <a:prstGeom prst="rect">
            <a:avLst/>
          </a:prstGeom>
          <a:noFill/>
          <a:ln/>
        </p:spPr>
        <p:txBody>
          <a:bodyPr wrap="square" lIns="0" tIns="0" rIns="0" bIns="0" rtlCol="0" anchor="ctr"/>
          <a:lstStyle/>
          <a:p>
            <a:pPr marL="0" indent="0" algn="ctr">
              <a:buNone/>
            </a:pPr>
            <a:r>
              <a:rPr lang="en-US" sz="1300" b="1" dirty="0">
                <a:solidFill>
                  <a:srgbClr val="C9A84C"/>
                </a:solidFill>
                <a:latin typeface="Calibri" pitchFamily="34" charset="0"/>
                <a:ea typeface="Calibri" pitchFamily="34" charset="-122"/>
                <a:cs typeface="Calibri" pitchFamily="34" charset="-120"/>
              </a:rPr>
              <a:t>48</a:t>
            </a:r>
            <a:endParaRPr lang="en-US" sz="1300" dirty="0"/>
          </a:p>
        </p:txBody>
      </p:sp>
      <p:sp>
        <p:nvSpPr>
          <p:cNvPr id="60" name="Text 58"/>
          <p:cNvSpPr/>
          <p:nvPr/>
        </p:nvSpPr>
        <p:spPr>
          <a:xfrm>
            <a:off x="8156448" y="4279392"/>
            <a:ext cx="640080" cy="329184"/>
          </a:xfrm>
          <a:prstGeom prst="rect">
            <a:avLst/>
          </a:prstGeom>
          <a:noFill/>
          <a:ln/>
        </p:spPr>
        <p:txBody>
          <a:bodyPr wrap="square" lIns="0" tIns="0" rIns="0" bIns="0" rtlCol="0" anchor="ctr"/>
          <a:lstStyle/>
          <a:p>
            <a:pPr marL="0" indent="0" algn="ctr">
              <a:buNone/>
            </a:pPr>
            <a:r>
              <a:rPr lang="en-US" sz="1400" b="1" dirty="0">
                <a:solidFill>
                  <a:srgbClr val="3A7A3A"/>
                </a:solidFill>
                <a:latin typeface="Calibri" pitchFamily="34" charset="0"/>
                <a:ea typeface="Calibri" pitchFamily="34" charset="-122"/>
                <a:cs typeface="Calibri" pitchFamily="34" charset="-120"/>
              </a:rPr>
              <a:t>✓</a:t>
            </a:r>
            <a:endParaRPr lang="en-US" sz="1400" dirty="0"/>
          </a:p>
        </p:txBody>
      </p:sp>
      <p:sp>
        <p:nvSpPr>
          <p:cNvPr id="61" name="Text 59"/>
          <p:cNvSpPr/>
          <p:nvPr/>
        </p:nvSpPr>
        <p:spPr>
          <a:xfrm>
            <a:off x="521208" y="4777740"/>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67" name="Text 7">
            <a:extLst>
              <a:ext uri="{FF2B5EF4-FFF2-40B4-BE49-F238E27FC236}">
                <a16:creationId xmlns:a16="http://schemas.microsoft.com/office/drawing/2014/main" id="{6F9210CF-4CCB-6FB8-0211-A93EC8F8FCF3}"/>
              </a:ext>
            </a:extLst>
          </p:cNvPr>
          <p:cNvSpPr/>
          <p:nvPr/>
        </p:nvSpPr>
        <p:spPr>
          <a:xfrm>
            <a:off x="7981259" y="781813"/>
            <a:ext cx="987552" cy="274320"/>
          </a:xfrm>
          <a:prstGeom prst="rect">
            <a:avLst/>
          </a:prstGeom>
          <a:noFill/>
          <a:ln/>
        </p:spPr>
        <p:txBody>
          <a:bodyPr wrap="square" lIns="0" tIns="0" rIns="0" bIns="0" rtlCol="0" anchor="ctr"/>
          <a:lstStyle/>
          <a:p>
            <a:pPr marL="0" indent="0" algn="ctr">
              <a:buNone/>
            </a:pPr>
            <a:r>
              <a:rPr lang="en-US" sz="750" b="1" kern="0" spc="100" dirty="0">
                <a:solidFill>
                  <a:srgbClr val="888888"/>
                </a:solidFill>
                <a:latin typeface="Calibri" pitchFamily="34" charset="0"/>
                <a:ea typeface="Calibri" pitchFamily="34" charset="-122"/>
                <a:cs typeface="Calibri" pitchFamily="34" charset="-120"/>
              </a:rPr>
              <a:t>STATUS</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943600" cy="0"/>
          </a:xfrm>
          <a:prstGeom prst="line">
            <a:avLst/>
          </a:prstGeom>
          <a:noFill/>
          <a:ln w="31750">
            <a:solidFill>
              <a:srgbClr val="C9A84C"/>
            </a:solidFill>
            <a:prstDash val="solid"/>
          </a:ln>
        </p:spPr>
        <p:txBody>
          <a:bodyPr/>
          <a:lstStyle/>
          <a:p>
            <a:endParaRPr lang="en-CA"/>
          </a:p>
        </p:txBody>
      </p:sp>
      <p:sp>
        <p:nvSpPr>
          <p:cNvPr id="3" name="Text 1"/>
          <p:cNvSpPr/>
          <p:nvPr/>
        </p:nvSpPr>
        <p:spPr>
          <a:xfrm>
            <a:off x="475488" y="182880"/>
            <a:ext cx="4572000" cy="182880"/>
          </a:xfrm>
          <a:prstGeom prst="rect">
            <a:avLst/>
          </a:prstGeom>
          <a:noFill/>
          <a:ln/>
        </p:spPr>
        <p:txBody>
          <a:bodyPr wrap="square" lIns="0" tIns="0" rIns="0" bIns="0" rtlCol="0" anchor="ctr"/>
          <a:lstStyle/>
          <a:p>
            <a:r>
              <a:rPr lang="en-US" sz="800" b="1" kern="0" spc="200" dirty="0">
                <a:solidFill>
                  <a:srgbClr val="C0C0C0"/>
                </a:solidFill>
                <a:latin typeface="Calibri" pitchFamily="34" charset="0"/>
                <a:ea typeface="Calibri" pitchFamily="34" charset="-122"/>
                <a:cs typeface="Calibri" pitchFamily="34" charset="-120"/>
              </a:rPr>
              <a:t>03d  · VALIDATION CRYPTOGRAPHIQUE — KAT</a:t>
            </a:r>
            <a:endParaRPr lang="en-US" sz="800" dirty="0"/>
          </a:p>
        </p:txBody>
      </p:sp>
      <p:sp>
        <p:nvSpPr>
          <p:cNvPr id="4" name="Text 2"/>
          <p:cNvSpPr/>
          <p:nvPr/>
        </p:nvSpPr>
        <p:spPr>
          <a:xfrm>
            <a:off x="475488" y="365760"/>
            <a:ext cx="6400800" cy="347472"/>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Pipeline de </a:t>
            </a:r>
            <a:r>
              <a:rPr lang="en-US" sz="1500" b="1" dirty="0">
                <a:solidFill>
                  <a:srgbClr val="C9A84C"/>
                </a:solidFill>
                <a:latin typeface="Calibri" pitchFamily="34" charset="0"/>
                <a:ea typeface="Calibri" pitchFamily="34" charset="-122"/>
                <a:cs typeface="Calibri" pitchFamily="34" charset="-120"/>
              </a:rPr>
              <a:t>mesure</a:t>
            </a:r>
            <a:endParaRPr lang="en-US" sz="1500" dirty="0"/>
          </a:p>
        </p:txBody>
      </p:sp>
      <p:sp>
        <p:nvSpPr>
          <p:cNvPr id="5" name="Shape 3"/>
          <p:cNvSpPr/>
          <p:nvPr/>
        </p:nvSpPr>
        <p:spPr>
          <a:xfrm>
            <a:off x="201168" y="1033271"/>
            <a:ext cx="2450592" cy="2948942"/>
          </a:xfrm>
          <a:prstGeom prst="roundRect">
            <a:avLst>
              <a:gd name="adj" fmla="val 3731"/>
            </a:avLst>
          </a:prstGeom>
          <a:solidFill>
            <a:srgbClr val="FFFFFF"/>
          </a:solidFill>
          <a:ln w="10160">
            <a:solidFill>
              <a:srgbClr val="E8E8E8"/>
            </a:solidFill>
            <a:prstDash val="solid"/>
          </a:ln>
        </p:spPr>
        <p:txBody>
          <a:bodyPr/>
          <a:lstStyle/>
          <a:p>
            <a:endParaRPr lang="en-CA"/>
          </a:p>
        </p:txBody>
      </p:sp>
      <p:sp>
        <p:nvSpPr>
          <p:cNvPr id="6" name="Shape 4"/>
          <p:cNvSpPr/>
          <p:nvPr/>
        </p:nvSpPr>
        <p:spPr>
          <a:xfrm>
            <a:off x="201168" y="1033271"/>
            <a:ext cx="2450592" cy="73152"/>
          </a:xfrm>
          <a:prstGeom prst="roundRect">
            <a:avLst>
              <a:gd name="adj" fmla="val 50000"/>
            </a:avLst>
          </a:prstGeom>
          <a:solidFill>
            <a:srgbClr val="0A0A0A"/>
          </a:solidFill>
          <a:ln w="12700">
            <a:solidFill>
              <a:srgbClr val="0A0A0A"/>
            </a:solidFill>
            <a:prstDash val="solid"/>
          </a:ln>
        </p:spPr>
        <p:txBody>
          <a:bodyPr/>
          <a:lstStyle/>
          <a:p>
            <a:endParaRPr lang="en-CA"/>
          </a:p>
        </p:txBody>
      </p:sp>
      <p:sp>
        <p:nvSpPr>
          <p:cNvPr id="7" name="Text 5"/>
          <p:cNvSpPr/>
          <p:nvPr/>
        </p:nvSpPr>
        <p:spPr>
          <a:xfrm>
            <a:off x="329184" y="1161287"/>
            <a:ext cx="2194560" cy="182880"/>
          </a:xfrm>
          <a:prstGeom prst="rect">
            <a:avLst/>
          </a:prstGeom>
          <a:noFill/>
          <a:ln/>
        </p:spPr>
        <p:txBody>
          <a:bodyPr wrap="square" lIns="0" tIns="0" rIns="0" bIns="0" rtlCol="0" anchor="ctr"/>
          <a:lstStyle/>
          <a:p>
            <a:pPr marL="0" indent="0">
              <a:buNone/>
            </a:pPr>
            <a:r>
              <a:rPr lang="en-US" sz="700" b="1" kern="0" spc="200" dirty="0">
                <a:solidFill>
                  <a:srgbClr val="C0C0C0"/>
                </a:solidFill>
                <a:latin typeface="Calibri" pitchFamily="34" charset="0"/>
                <a:ea typeface="Calibri" pitchFamily="34" charset="-122"/>
                <a:cs typeface="Calibri" pitchFamily="34" charset="-120"/>
              </a:rPr>
              <a:t>CONFIGURE</a:t>
            </a:r>
            <a:endParaRPr lang="en-US" sz="700" dirty="0"/>
          </a:p>
        </p:txBody>
      </p:sp>
      <p:sp>
        <p:nvSpPr>
          <p:cNvPr id="8" name="Text 6"/>
          <p:cNvSpPr/>
          <p:nvPr/>
        </p:nvSpPr>
        <p:spPr>
          <a:xfrm>
            <a:off x="329184" y="1380743"/>
            <a:ext cx="2194560" cy="274320"/>
          </a:xfrm>
          <a:prstGeom prst="rect">
            <a:avLst/>
          </a:prstGeom>
          <a:noFill/>
          <a:ln/>
        </p:spPr>
        <p:txBody>
          <a:bodyPr wrap="square" lIns="0" tIns="0" rIns="0" bIns="0" rtlCol="0" anchor="ctr"/>
          <a:lstStyle/>
          <a:p>
            <a:pPr marL="0" indent="0">
              <a:buNone/>
            </a:pPr>
            <a:r>
              <a:rPr lang="en-US" sz="950" b="1" dirty="0">
                <a:solidFill>
                  <a:srgbClr val="0A0A0A"/>
                </a:solidFill>
                <a:latin typeface="Courier New" pitchFamily="34" charset="0"/>
                <a:ea typeface="Courier New" pitchFamily="34" charset="-122"/>
                <a:cs typeface="Courier New" pitchFamily="34" charset="-120"/>
              </a:rPr>
              <a:t>experiment.py</a:t>
            </a:r>
            <a:endParaRPr lang="en-US" sz="950" dirty="0"/>
          </a:p>
        </p:txBody>
      </p:sp>
      <p:sp>
        <p:nvSpPr>
          <p:cNvPr id="9" name="Shape 7"/>
          <p:cNvSpPr/>
          <p:nvPr/>
        </p:nvSpPr>
        <p:spPr>
          <a:xfrm>
            <a:off x="329184" y="1709927"/>
            <a:ext cx="2194560" cy="0"/>
          </a:xfrm>
          <a:prstGeom prst="line">
            <a:avLst/>
          </a:prstGeom>
          <a:noFill/>
          <a:ln w="7620">
            <a:solidFill>
              <a:srgbClr val="F0F0F0"/>
            </a:solidFill>
            <a:prstDash val="solid"/>
          </a:ln>
        </p:spPr>
        <p:txBody>
          <a:bodyPr/>
          <a:lstStyle/>
          <a:p>
            <a:endParaRPr lang="en-CA"/>
          </a:p>
        </p:txBody>
      </p:sp>
      <p:sp>
        <p:nvSpPr>
          <p:cNvPr id="10" name="Text 8"/>
          <p:cNvSpPr/>
          <p:nvPr/>
        </p:nvSpPr>
        <p:spPr>
          <a:xfrm>
            <a:off x="329184" y="1819655"/>
            <a:ext cx="2194560" cy="219456"/>
          </a:xfrm>
          <a:prstGeom prst="rect">
            <a:avLst/>
          </a:prstGeom>
          <a:noFill/>
          <a:ln/>
        </p:spPr>
        <p:txBody>
          <a:bodyPr wrap="square" lIns="0" tIns="0" rIns="0" bIns="0" rtlCol="0" anchor="ctr"/>
          <a:lstStyle/>
          <a:p>
            <a:pPr marL="0" indent="0">
              <a:buNone/>
            </a:pPr>
            <a:r>
              <a:rPr lang="en-US" sz="850" b="1" dirty="0">
                <a:solidFill>
                  <a:srgbClr val="555555"/>
                </a:solidFill>
                <a:latin typeface="Courier New" pitchFamily="34" charset="0"/>
                <a:ea typeface="Courier New" pitchFamily="34" charset="-122"/>
                <a:cs typeface="Courier New" pitchFamily="34" charset="-120"/>
              </a:rPr>
              <a:t>EXPERIMENT_MATRIX</a:t>
            </a:r>
            <a:endParaRPr lang="en-US" sz="850" dirty="0"/>
          </a:p>
        </p:txBody>
      </p:sp>
      <p:sp>
        <p:nvSpPr>
          <p:cNvPr id="11" name="Text 9"/>
          <p:cNvSpPr/>
          <p:nvPr/>
        </p:nvSpPr>
        <p:spPr>
          <a:xfrm>
            <a:off x="329184" y="2039111"/>
            <a:ext cx="2194560"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liste de tuples algo/mode/clé</a:t>
            </a:r>
            <a:endParaRPr lang="en-US" sz="750" dirty="0"/>
          </a:p>
        </p:txBody>
      </p:sp>
      <p:sp>
        <p:nvSpPr>
          <p:cNvPr id="12" name="Text 10"/>
          <p:cNvSpPr/>
          <p:nvPr/>
        </p:nvSpPr>
        <p:spPr>
          <a:xfrm>
            <a:off x="329184" y="2313431"/>
            <a:ext cx="2194560" cy="219456"/>
          </a:xfrm>
          <a:prstGeom prst="rect">
            <a:avLst/>
          </a:prstGeom>
          <a:noFill/>
          <a:ln/>
        </p:spPr>
        <p:txBody>
          <a:bodyPr wrap="square" lIns="0" tIns="0" rIns="0" bIns="0" rtlCol="0" anchor="ctr"/>
          <a:lstStyle/>
          <a:p>
            <a:pPr marL="0" indent="0">
              <a:buNone/>
            </a:pPr>
            <a:r>
              <a:rPr lang="en-US" sz="850" b="1" dirty="0">
                <a:solidFill>
                  <a:srgbClr val="555555"/>
                </a:solidFill>
                <a:latin typeface="Courier New" pitchFamily="34" charset="0"/>
                <a:ea typeface="Courier New" pitchFamily="34" charset="-122"/>
                <a:cs typeface="Courier New" pitchFamily="34" charset="-120"/>
              </a:rPr>
              <a:t>MESSAGE_SIZES</a:t>
            </a:r>
            <a:endParaRPr lang="en-US" sz="850" dirty="0"/>
          </a:p>
        </p:txBody>
      </p:sp>
      <p:sp>
        <p:nvSpPr>
          <p:cNvPr id="13" name="Text 11"/>
          <p:cNvSpPr/>
          <p:nvPr/>
        </p:nvSpPr>
        <p:spPr>
          <a:xfrm>
            <a:off x="329184" y="2532887"/>
            <a:ext cx="2194560"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liste d'entiers</a:t>
            </a:r>
            <a:endParaRPr lang="en-US" sz="750" dirty="0"/>
          </a:p>
        </p:txBody>
      </p:sp>
      <p:sp>
        <p:nvSpPr>
          <p:cNvPr id="14" name="Text 12"/>
          <p:cNvSpPr/>
          <p:nvPr/>
        </p:nvSpPr>
        <p:spPr>
          <a:xfrm>
            <a:off x="329184" y="2807207"/>
            <a:ext cx="2194560" cy="219456"/>
          </a:xfrm>
          <a:prstGeom prst="rect">
            <a:avLst/>
          </a:prstGeom>
          <a:noFill/>
          <a:ln/>
        </p:spPr>
        <p:txBody>
          <a:bodyPr wrap="square" lIns="0" tIns="0" rIns="0" bIns="0" rtlCol="0" anchor="ctr"/>
          <a:lstStyle/>
          <a:p>
            <a:pPr marL="0" indent="0">
              <a:buNone/>
            </a:pPr>
            <a:r>
              <a:rPr lang="en-US" sz="850" b="1" dirty="0">
                <a:solidFill>
                  <a:srgbClr val="C9A84C"/>
                </a:solidFill>
                <a:latin typeface="Courier New" pitchFamily="34" charset="0"/>
                <a:ea typeface="Courier New" pitchFamily="34" charset="-122"/>
                <a:cs typeface="Courier New" pitchFamily="34" charset="-120"/>
              </a:rPr>
              <a:t>REPETITIONS = 100</a:t>
            </a:r>
            <a:endParaRPr lang="en-US" sz="850" dirty="0"/>
          </a:p>
        </p:txBody>
      </p:sp>
      <p:sp>
        <p:nvSpPr>
          <p:cNvPr id="15" name="Text 13"/>
          <p:cNvSpPr/>
          <p:nvPr/>
        </p:nvSpPr>
        <p:spPr>
          <a:xfrm>
            <a:off x="2724912" y="2285999"/>
            <a:ext cx="548640" cy="182880"/>
          </a:xfrm>
          <a:prstGeom prst="rect">
            <a:avLst/>
          </a:prstGeom>
          <a:noFill/>
          <a:ln/>
        </p:spPr>
        <p:txBody>
          <a:bodyPr wrap="square" lIns="0" tIns="0" rIns="0" bIns="0" rtlCol="0" anchor="ctr"/>
          <a:lstStyle/>
          <a:p>
            <a:pPr marL="0" indent="0" algn="ctr">
              <a:buNone/>
            </a:pPr>
            <a:r>
              <a:rPr lang="en-US" sz="700" b="1" dirty="0">
                <a:solidFill>
                  <a:srgbClr val="C9A84C"/>
                </a:solidFill>
                <a:latin typeface="Calibri" pitchFamily="34" charset="0"/>
                <a:ea typeface="Calibri" pitchFamily="34" charset="-122"/>
                <a:cs typeface="Calibri" pitchFamily="34" charset="-120"/>
              </a:rPr>
              <a:t>instancie</a:t>
            </a:r>
            <a:endParaRPr lang="en-US" sz="700" dirty="0"/>
          </a:p>
        </p:txBody>
      </p:sp>
      <p:sp>
        <p:nvSpPr>
          <p:cNvPr id="19" name="Shape 17"/>
          <p:cNvSpPr/>
          <p:nvPr/>
        </p:nvSpPr>
        <p:spPr>
          <a:xfrm>
            <a:off x="3346704" y="1033272"/>
            <a:ext cx="2450592" cy="2948942"/>
          </a:xfrm>
          <a:prstGeom prst="roundRect">
            <a:avLst>
              <a:gd name="adj" fmla="val 3731"/>
            </a:avLst>
          </a:prstGeom>
          <a:solidFill>
            <a:srgbClr val="FFFFFF"/>
          </a:solidFill>
          <a:ln w="10160">
            <a:solidFill>
              <a:srgbClr val="E8E8E8"/>
            </a:solidFill>
            <a:prstDash val="solid"/>
          </a:ln>
        </p:spPr>
        <p:txBody>
          <a:bodyPr/>
          <a:lstStyle/>
          <a:p>
            <a:endParaRPr lang="en-CA"/>
          </a:p>
        </p:txBody>
      </p:sp>
      <p:sp>
        <p:nvSpPr>
          <p:cNvPr id="20" name="Shape 18"/>
          <p:cNvSpPr/>
          <p:nvPr/>
        </p:nvSpPr>
        <p:spPr>
          <a:xfrm>
            <a:off x="3346704" y="1033271"/>
            <a:ext cx="2450592" cy="73152"/>
          </a:xfrm>
          <a:prstGeom prst="roundRect">
            <a:avLst>
              <a:gd name="adj" fmla="val 50000"/>
            </a:avLst>
          </a:prstGeom>
          <a:solidFill>
            <a:srgbClr val="555555"/>
          </a:solidFill>
          <a:ln w="12700">
            <a:solidFill>
              <a:srgbClr val="555555"/>
            </a:solidFill>
            <a:prstDash val="solid"/>
          </a:ln>
        </p:spPr>
        <p:txBody>
          <a:bodyPr/>
          <a:lstStyle/>
          <a:p>
            <a:endParaRPr lang="en-CA"/>
          </a:p>
        </p:txBody>
      </p:sp>
      <p:sp>
        <p:nvSpPr>
          <p:cNvPr id="21" name="Text 19"/>
          <p:cNvSpPr/>
          <p:nvPr/>
        </p:nvSpPr>
        <p:spPr>
          <a:xfrm>
            <a:off x="3474720" y="1161287"/>
            <a:ext cx="2194560" cy="182880"/>
          </a:xfrm>
          <a:prstGeom prst="rect">
            <a:avLst/>
          </a:prstGeom>
          <a:noFill/>
          <a:ln/>
        </p:spPr>
        <p:txBody>
          <a:bodyPr wrap="square" lIns="0" tIns="0" rIns="0" bIns="0" rtlCol="0" anchor="ctr"/>
          <a:lstStyle/>
          <a:p>
            <a:pPr marL="0" indent="0">
              <a:buNone/>
            </a:pPr>
            <a:r>
              <a:rPr lang="en-US" sz="700" b="1" kern="0" spc="200" dirty="0">
                <a:solidFill>
                  <a:srgbClr val="C0C0C0"/>
                </a:solidFill>
                <a:latin typeface="Calibri" pitchFamily="34" charset="0"/>
                <a:ea typeface="Calibri" pitchFamily="34" charset="-122"/>
                <a:cs typeface="Calibri" pitchFamily="34" charset="-120"/>
              </a:rPr>
              <a:t>MESURE</a:t>
            </a:r>
            <a:endParaRPr lang="en-US" sz="700" dirty="0"/>
          </a:p>
        </p:txBody>
      </p:sp>
      <p:sp>
        <p:nvSpPr>
          <p:cNvPr id="22" name="Text 20"/>
          <p:cNvSpPr/>
          <p:nvPr/>
        </p:nvSpPr>
        <p:spPr>
          <a:xfrm>
            <a:off x="3474720" y="1380743"/>
            <a:ext cx="2194560" cy="274320"/>
          </a:xfrm>
          <a:prstGeom prst="rect">
            <a:avLst/>
          </a:prstGeom>
          <a:noFill/>
          <a:ln/>
        </p:spPr>
        <p:txBody>
          <a:bodyPr wrap="square" lIns="0" tIns="0" rIns="0" bIns="0" rtlCol="0" anchor="ctr"/>
          <a:lstStyle/>
          <a:p>
            <a:pPr marL="0" indent="0">
              <a:buNone/>
            </a:pPr>
            <a:r>
              <a:rPr lang="en-US" sz="950" b="1" dirty="0">
                <a:solidFill>
                  <a:srgbClr val="0A0A0A"/>
                </a:solidFill>
                <a:latin typeface="Courier New" pitchFamily="34" charset="0"/>
                <a:ea typeface="Courier New" pitchFamily="34" charset="-122"/>
                <a:cs typeface="Courier New" pitchFamily="34" charset="-120"/>
              </a:rPr>
              <a:t>ExperimentController</a:t>
            </a:r>
            <a:endParaRPr lang="en-US" sz="950" dirty="0"/>
          </a:p>
        </p:txBody>
      </p:sp>
      <p:sp>
        <p:nvSpPr>
          <p:cNvPr id="23" name="Shape 21"/>
          <p:cNvSpPr/>
          <p:nvPr/>
        </p:nvSpPr>
        <p:spPr>
          <a:xfrm>
            <a:off x="3474720" y="1709927"/>
            <a:ext cx="2194560" cy="0"/>
          </a:xfrm>
          <a:prstGeom prst="line">
            <a:avLst/>
          </a:prstGeom>
          <a:noFill/>
          <a:ln w="7620">
            <a:solidFill>
              <a:srgbClr val="F0F0F0"/>
            </a:solidFill>
            <a:prstDash val="solid"/>
          </a:ln>
        </p:spPr>
        <p:txBody>
          <a:bodyPr/>
          <a:lstStyle/>
          <a:p>
            <a:endParaRPr lang="en-CA"/>
          </a:p>
        </p:txBody>
      </p:sp>
      <p:sp>
        <p:nvSpPr>
          <p:cNvPr id="24" name="Text 22"/>
          <p:cNvSpPr/>
          <p:nvPr/>
        </p:nvSpPr>
        <p:spPr>
          <a:xfrm>
            <a:off x="3474720" y="1819655"/>
            <a:ext cx="2194560" cy="219456"/>
          </a:xfrm>
          <a:prstGeom prst="rect">
            <a:avLst/>
          </a:prstGeom>
          <a:noFill/>
          <a:ln/>
        </p:spPr>
        <p:txBody>
          <a:bodyPr wrap="square" lIns="0" tIns="0" rIns="0" bIns="0" rtlCol="0" anchor="ctr"/>
          <a:lstStyle/>
          <a:p>
            <a:pPr marL="0" indent="0">
              <a:buNone/>
            </a:pPr>
            <a:r>
              <a:rPr lang="en-US" sz="850" b="1" dirty="0">
                <a:solidFill>
                  <a:srgbClr val="555555"/>
                </a:solidFill>
                <a:latin typeface="Courier New" pitchFamily="34" charset="0"/>
                <a:ea typeface="Courier New" pitchFamily="34" charset="-122"/>
                <a:cs typeface="Courier New" pitchFamily="34" charset="-120"/>
              </a:rPr>
              <a:t>run_performance()</a:t>
            </a:r>
            <a:endParaRPr lang="en-US" sz="850" dirty="0"/>
          </a:p>
        </p:txBody>
      </p:sp>
      <p:sp>
        <p:nvSpPr>
          <p:cNvPr id="25" name="Text 23"/>
          <p:cNvSpPr/>
          <p:nvPr/>
        </p:nvSpPr>
        <p:spPr>
          <a:xfrm>
            <a:off x="3474720" y="2039111"/>
            <a:ext cx="2194560"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exécute l'algorithme</a:t>
            </a:r>
            <a:endParaRPr lang="en-US" sz="750" dirty="0"/>
          </a:p>
        </p:txBody>
      </p:sp>
      <p:sp>
        <p:nvSpPr>
          <p:cNvPr id="26" name="Text 24"/>
          <p:cNvSpPr/>
          <p:nvPr/>
        </p:nvSpPr>
        <p:spPr>
          <a:xfrm>
            <a:off x="3474720" y="2313431"/>
            <a:ext cx="2194560" cy="219456"/>
          </a:xfrm>
          <a:prstGeom prst="rect">
            <a:avLst/>
          </a:prstGeom>
          <a:noFill/>
          <a:ln/>
        </p:spPr>
        <p:txBody>
          <a:bodyPr wrap="square" lIns="0" tIns="0" rIns="0" bIns="0" rtlCol="0" anchor="ctr"/>
          <a:lstStyle/>
          <a:p>
            <a:pPr marL="0" indent="0">
              <a:buNone/>
            </a:pPr>
            <a:r>
              <a:rPr lang="en-US" sz="850" b="1" dirty="0">
                <a:solidFill>
                  <a:srgbClr val="C9A84C"/>
                </a:solidFill>
                <a:latin typeface="Courier New" pitchFamily="34" charset="0"/>
                <a:ea typeface="Courier New" pitchFamily="34" charset="-122"/>
                <a:cs typeface="Courier New" pitchFamily="34" charset="-120"/>
              </a:rPr>
              <a:t>perf_counter × 100</a:t>
            </a:r>
            <a:endParaRPr lang="en-US" sz="850" dirty="0"/>
          </a:p>
        </p:txBody>
      </p:sp>
      <p:sp>
        <p:nvSpPr>
          <p:cNvPr id="27" name="Text 25"/>
          <p:cNvSpPr/>
          <p:nvPr/>
        </p:nvSpPr>
        <p:spPr>
          <a:xfrm>
            <a:off x="3474720" y="2532887"/>
            <a:ext cx="2194560"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répétitions chronométrées</a:t>
            </a:r>
            <a:endParaRPr lang="en-US" sz="750" dirty="0"/>
          </a:p>
        </p:txBody>
      </p:sp>
      <p:sp>
        <p:nvSpPr>
          <p:cNvPr id="28" name="Text 26"/>
          <p:cNvSpPr/>
          <p:nvPr/>
        </p:nvSpPr>
        <p:spPr>
          <a:xfrm>
            <a:off x="3474720" y="2807207"/>
            <a:ext cx="2194560" cy="219456"/>
          </a:xfrm>
          <a:prstGeom prst="rect">
            <a:avLst/>
          </a:prstGeom>
          <a:noFill/>
          <a:ln/>
        </p:spPr>
        <p:txBody>
          <a:bodyPr wrap="square" lIns="0" tIns="0" rIns="0" bIns="0" rtlCol="0" anchor="ctr"/>
          <a:lstStyle/>
          <a:p>
            <a:pPr marL="0" indent="0">
              <a:buNone/>
            </a:pPr>
            <a:r>
              <a:rPr lang="en-US" sz="850" b="1" dirty="0">
                <a:solidFill>
                  <a:srgbClr val="C9A84C"/>
                </a:solidFill>
                <a:latin typeface="Courier New" pitchFamily="34" charset="0"/>
                <a:ea typeface="Courier New" pitchFamily="34" charset="-122"/>
                <a:cs typeface="Courier New" pitchFamily="34" charset="-120"/>
              </a:rPr>
              <a:t>IC 95%</a:t>
            </a:r>
            <a:endParaRPr lang="en-US" sz="850" dirty="0"/>
          </a:p>
        </p:txBody>
      </p:sp>
      <p:sp>
        <p:nvSpPr>
          <p:cNvPr id="29" name="Text 27"/>
          <p:cNvSpPr/>
          <p:nvPr/>
        </p:nvSpPr>
        <p:spPr>
          <a:xfrm>
            <a:off x="5870448" y="2285999"/>
            <a:ext cx="548640" cy="182880"/>
          </a:xfrm>
          <a:prstGeom prst="rect">
            <a:avLst/>
          </a:prstGeom>
          <a:noFill/>
          <a:ln/>
        </p:spPr>
        <p:txBody>
          <a:bodyPr wrap="square" lIns="0" tIns="0" rIns="0" bIns="0" rtlCol="0" anchor="ctr"/>
          <a:lstStyle/>
          <a:p>
            <a:pPr algn="ctr"/>
            <a:r>
              <a:rPr lang="en-US" sz="700" b="1" dirty="0">
                <a:solidFill>
                  <a:srgbClr val="C9A84C"/>
                </a:solidFill>
                <a:latin typeface="Calibri" pitchFamily="34" charset="0"/>
                <a:ea typeface="Calibri" pitchFamily="34" charset="-122"/>
                <a:cs typeface="Calibri" pitchFamily="34" charset="-120"/>
              </a:rPr>
              <a:t>écrit</a:t>
            </a:r>
            <a:endParaRPr lang="en-US" sz="700" dirty="0"/>
          </a:p>
        </p:txBody>
      </p:sp>
      <p:sp>
        <p:nvSpPr>
          <p:cNvPr id="33" name="Shape 31"/>
          <p:cNvSpPr/>
          <p:nvPr/>
        </p:nvSpPr>
        <p:spPr>
          <a:xfrm>
            <a:off x="6492240" y="1033271"/>
            <a:ext cx="2450592" cy="2948941"/>
          </a:xfrm>
          <a:prstGeom prst="roundRect">
            <a:avLst>
              <a:gd name="adj" fmla="val 3731"/>
            </a:avLst>
          </a:prstGeom>
          <a:solidFill>
            <a:srgbClr val="FFFBF0"/>
          </a:solidFill>
          <a:ln w="15240">
            <a:solidFill>
              <a:srgbClr val="C9A84C"/>
            </a:solidFill>
            <a:prstDash val="solid"/>
          </a:ln>
        </p:spPr>
        <p:txBody>
          <a:bodyPr/>
          <a:lstStyle/>
          <a:p>
            <a:endParaRPr lang="en-CA"/>
          </a:p>
        </p:txBody>
      </p:sp>
      <p:sp>
        <p:nvSpPr>
          <p:cNvPr id="34" name="Shape 32"/>
          <p:cNvSpPr/>
          <p:nvPr/>
        </p:nvSpPr>
        <p:spPr>
          <a:xfrm>
            <a:off x="6492240" y="1033271"/>
            <a:ext cx="2450592" cy="73152"/>
          </a:xfrm>
          <a:prstGeom prst="roundRect">
            <a:avLst>
              <a:gd name="adj" fmla="val 50000"/>
            </a:avLst>
          </a:prstGeom>
          <a:solidFill>
            <a:srgbClr val="C9A84C"/>
          </a:solidFill>
          <a:ln w="12700">
            <a:solidFill>
              <a:srgbClr val="C9A84C"/>
            </a:solidFill>
            <a:prstDash val="solid"/>
          </a:ln>
        </p:spPr>
        <p:txBody>
          <a:bodyPr/>
          <a:lstStyle/>
          <a:p>
            <a:endParaRPr lang="en-CA"/>
          </a:p>
        </p:txBody>
      </p:sp>
      <p:sp>
        <p:nvSpPr>
          <p:cNvPr id="35" name="Text 33"/>
          <p:cNvSpPr/>
          <p:nvPr/>
        </p:nvSpPr>
        <p:spPr>
          <a:xfrm>
            <a:off x="6620256" y="1161287"/>
            <a:ext cx="2194560" cy="182880"/>
          </a:xfrm>
          <a:prstGeom prst="rect">
            <a:avLst/>
          </a:prstGeom>
          <a:noFill/>
          <a:ln/>
        </p:spPr>
        <p:txBody>
          <a:bodyPr wrap="square" lIns="0" tIns="0" rIns="0" bIns="0" rtlCol="0" anchor="ctr"/>
          <a:lstStyle/>
          <a:p>
            <a:pPr marL="0" indent="0">
              <a:buNone/>
            </a:pPr>
            <a:r>
              <a:rPr lang="en-US" sz="700" b="1" kern="0" spc="200" dirty="0">
                <a:solidFill>
                  <a:srgbClr val="C9A84C"/>
                </a:solidFill>
                <a:latin typeface="Calibri" pitchFamily="34" charset="0"/>
                <a:ea typeface="Calibri" pitchFamily="34" charset="-122"/>
                <a:cs typeface="Calibri" pitchFamily="34" charset="-120"/>
              </a:rPr>
              <a:t>EXPORTE</a:t>
            </a:r>
            <a:endParaRPr lang="en-US" sz="700" dirty="0"/>
          </a:p>
        </p:txBody>
      </p:sp>
      <p:pic>
        <p:nvPicPr>
          <p:cNvPr id="36" name="Image 0" descr="preencoded.png"/>
          <p:cNvPicPr>
            <a:picLocks noChangeAspect="1"/>
          </p:cNvPicPr>
          <p:nvPr/>
        </p:nvPicPr>
        <p:blipFill>
          <a:blip r:embed="rId3"/>
          <a:stretch>
            <a:fillRect/>
          </a:stretch>
        </p:blipFill>
        <p:spPr>
          <a:xfrm>
            <a:off x="8467344" y="1344167"/>
            <a:ext cx="274320" cy="274320"/>
          </a:xfrm>
          <a:prstGeom prst="rect">
            <a:avLst/>
          </a:prstGeom>
        </p:spPr>
      </p:pic>
      <p:sp>
        <p:nvSpPr>
          <p:cNvPr id="37" name="Text 34"/>
          <p:cNvSpPr/>
          <p:nvPr/>
        </p:nvSpPr>
        <p:spPr>
          <a:xfrm>
            <a:off x="6620256" y="1380743"/>
            <a:ext cx="2194560" cy="274320"/>
          </a:xfrm>
          <a:prstGeom prst="rect">
            <a:avLst/>
          </a:prstGeom>
          <a:noFill/>
          <a:ln/>
        </p:spPr>
        <p:txBody>
          <a:bodyPr wrap="square" lIns="0" tIns="0" rIns="0" bIns="0" rtlCol="0" anchor="ctr"/>
          <a:lstStyle/>
          <a:p>
            <a:pPr marL="0" indent="0">
              <a:buNone/>
            </a:pPr>
            <a:r>
              <a:rPr lang="en-US" sz="950" b="1" dirty="0">
                <a:solidFill>
                  <a:srgbClr val="C9A84C"/>
                </a:solidFill>
                <a:latin typeface="Courier New" pitchFamily="34" charset="0"/>
                <a:ea typeface="Courier New" pitchFamily="34" charset="-122"/>
                <a:cs typeface="Courier New" pitchFamily="34" charset="-120"/>
              </a:rPr>
              <a:t>data/results/</a:t>
            </a:r>
            <a:endParaRPr lang="en-US" sz="950" dirty="0"/>
          </a:p>
        </p:txBody>
      </p:sp>
      <p:sp>
        <p:nvSpPr>
          <p:cNvPr id="38" name="Shape 35"/>
          <p:cNvSpPr/>
          <p:nvPr/>
        </p:nvSpPr>
        <p:spPr>
          <a:xfrm>
            <a:off x="6620256" y="1709927"/>
            <a:ext cx="2194560" cy="0"/>
          </a:xfrm>
          <a:prstGeom prst="line">
            <a:avLst/>
          </a:prstGeom>
          <a:noFill/>
          <a:ln w="7620">
            <a:solidFill>
              <a:srgbClr val="E8D090"/>
            </a:solidFill>
            <a:prstDash val="solid"/>
          </a:ln>
        </p:spPr>
        <p:txBody>
          <a:bodyPr/>
          <a:lstStyle/>
          <a:p>
            <a:endParaRPr lang="en-CA"/>
          </a:p>
        </p:txBody>
      </p:sp>
      <p:sp>
        <p:nvSpPr>
          <p:cNvPr id="39" name="Text 36"/>
          <p:cNvSpPr/>
          <p:nvPr/>
        </p:nvSpPr>
        <p:spPr>
          <a:xfrm>
            <a:off x="6620256" y="1819655"/>
            <a:ext cx="2194560" cy="219456"/>
          </a:xfrm>
          <a:prstGeom prst="rect">
            <a:avLst/>
          </a:prstGeom>
          <a:noFill/>
          <a:ln/>
        </p:spPr>
        <p:txBody>
          <a:bodyPr wrap="square" lIns="0" tIns="0" rIns="0" bIns="0" rtlCol="0" anchor="ctr"/>
          <a:lstStyle/>
          <a:p>
            <a:pPr marL="0" indent="0">
              <a:buNone/>
            </a:pPr>
            <a:r>
              <a:rPr lang="en-US" sz="800" b="1" dirty="0">
                <a:solidFill>
                  <a:srgbClr val="B8942A"/>
                </a:solidFill>
                <a:latin typeface="Courier New" pitchFamily="34" charset="0"/>
                <a:ea typeface="Courier New" pitchFamily="34" charset="-122"/>
                <a:cs typeface="Courier New" pitchFamily="34" charset="-120"/>
              </a:rPr>
              <a:t>Plateforme_experiment_YYYYMMDD.csv</a:t>
            </a:r>
            <a:endParaRPr lang="en-US" sz="800" dirty="0"/>
          </a:p>
        </p:txBody>
      </p:sp>
      <p:sp>
        <p:nvSpPr>
          <p:cNvPr id="40" name="Text 37"/>
          <p:cNvSpPr/>
          <p:nvPr/>
        </p:nvSpPr>
        <p:spPr>
          <a:xfrm>
            <a:off x="6620256" y="2039111"/>
            <a:ext cx="2194560" cy="182880"/>
          </a:xfrm>
          <a:prstGeom prst="rect">
            <a:avLst/>
          </a:prstGeom>
          <a:noFill/>
          <a:ln/>
        </p:spPr>
        <p:txBody>
          <a:bodyPr wrap="square" lIns="0" tIns="0" rIns="0" bIns="0" rtlCol="0" anchor="ctr"/>
          <a:lstStyle/>
          <a:p>
            <a:pPr marL="0" indent="0">
              <a:buNone/>
            </a:pPr>
            <a:r>
              <a:rPr lang="en-US" sz="750" dirty="0">
                <a:solidFill>
                  <a:srgbClr val="C0A050"/>
                </a:solidFill>
                <a:latin typeface="Calibri" pitchFamily="34" charset="0"/>
                <a:ea typeface="Calibri" pitchFamily="34" charset="-122"/>
                <a:cs typeface="Calibri" pitchFamily="34" charset="-120"/>
              </a:rPr>
              <a:t>horodaté à l'exécution</a:t>
            </a:r>
            <a:endParaRPr lang="en-US" sz="750" dirty="0"/>
          </a:p>
        </p:txBody>
      </p:sp>
      <p:sp>
        <p:nvSpPr>
          <p:cNvPr id="41" name="Shape 38"/>
          <p:cNvSpPr/>
          <p:nvPr/>
        </p:nvSpPr>
        <p:spPr>
          <a:xfrm>
            <a:off x="6620256" y="2313431"/>
            <a:ext cx="2194560" cy="310896"/>
          </a:xfrm>
          <a:prstGeom prst="roundRect">
            <a:avLst>
              <a:gd name="adj" fmla="val 23529"/>
            </a:avLst>
          </a:prstGeom>
          <a:solidFill>
            <a:srgbClr val="F5E8C0"/>
          </a:solidFill>
          <a:ln w="10160">
            <a:solidFill>
              <a:srgbClr val="C9A84C"/>
            </a:solidFill>
            <a:prstDash val="solid"/>
          </a:ln>
        </p:spPr>
        <p:txBody>
          <a:bodyPr/>
          <a:lstStyle/>
          <a:p>
            <a:endParaRPr lang="en-CA"/>
          </a:p>
        </p:txBody>
      </p:sp>
      <p:sp>
        <p:nvSpPr>
          <p:cNvPr id="42" name="Text 39"/>
          <p:cNvSpPr/>
          <p:nvPr/>
        </p:nvSpPr>
        <p:spPr>
          <a:xfrm>
            <a:off x="6620256" y="2313431"/>
            <a:ext cx="2194560" cy="310896"/>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155 lignes / plateforme</a:t>
            </a:r>
            <a:endParaRPr lang="en-US" sz="900" dirty="0"/>
          </a:p>
        </p:txBody>
      </p:sp>
      <p:sp>
        <p:nvSpPr>
          <p:cNvPr id="43" name="Text 40"/>
          <p:cNvSpPr/>
          <p:nvPr/>
        </p:nvSpPr>
        <p:spPr>
          <a:xfrm>
            <a:off x="201168" y="4132154"/>
            <a:ext cx="8229600" cy="237744"/>
          </a:xfrm>
          <a:prstGeom prst="rect">
            <a:avLst/>
          </a:prstGeom>
          <a:noFill/>
          <a:ln/>
        </p:spPr>
        <p:txBody>
          <a:bodyPr wrap="square" lIns="0" tIns="0" rIns="0" bIns="0" rtlCol="0" anchor="ctr"/>
          <a:lstStyle/>
          <a:p>
            <a:pPr marL="0" indent="0" algn="ctr">
              <a:buNone/>
            </a:pPr>
            <a:r>
              <a:rPr lang="fr-FR" sz="850" i="1" dirty="0">
                <a:solidFill>
                  <a:srgbClr val="C0C0C0"/>
                </a:solidFill>
                <a:latin typeface="Calibri" pitchFamily="34" charset="0"/>
                <a:ea typeface="Calibri" pitchFamily="34" charset="-122"/>
                <a:cs typeface="Calibri" pitchFamily="34" charset="-120"/>
              </a:rPr>
              <a:t>Un protocole identique sur les deux plateformes permet d’attribuer les écarts mesurés à des causes d’origine matérielle, non logicielle</a:t>
            </a:r>
            <a:r>
              <a:rPr lang="en-US" sz="850" i="1" dirty="0">
                <a:solidFill>
                  <a:srgbClr val="C0C0C0"/>
                </a:solidFill>
                <a:latin typeface="Calibri" pitchFamily="34" charset="0"/>
                <a:ea typeface="Calibri" pitchFamily="34" charset="-122"/>
                <a:cs typeface="Calibri" pitchFamily="34" charset="-120"/>
              </a:rPr>
              <a:t>.</a:t>
            </a:r>
            <a:endParaRPr lang="en-US" sz="850" dirty="0"/>
          </a:p>
        </p:txBody>
      </p:sp>
      <p:sp>
        <p:nvSpPr>
          <p:cNvPr id="44" name="Text 41"/>
          <p:cNvSpPr/>
          <p:nvPr/>
        </p:nvSpPr>
        <p:spPr>
          <a:xfrm>
            <a:off x="475488" y="4899041"/>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48" name="Shape 8">
            <a:extLst>
              <a:ext uri="{FF2B5EF4-FFF2-40B4-BE49-F238E27FC236}">
                <a16:creationId xmlns:a16="http://schemas.microsoft.com/office/drawing/2014/main" id="{30C8A1A8-9C85-74C0-E844-E9902FCB1356}"/>
              </a:ext>
            </a:extLst>
          </p:cNvPr>
          <p:cNvSpPr/>
          <p:nvPr/>
        </p:nvSpPr>
        <p:spPr>
          <a:xfrm>
            <a:off x="5870448" y="2532887"/>
            <a:ext cx="548640" cy="0"/>
          </a:xfrm>
          <a:prstGeom prst="line">
            <a:avLst/>
          </a:prstGeom>
          <a:noFill/>
          <a:ln w="19050">
            <a:solidFill>
              <a:srgbClr val="C9A84C"/>
            </a:solidFill>
            <a:prstDash val="solid"/>
            <a:tailEnd type="triangle"/>
          </a:ln>
        </p:spPr>
        <p:txBody>
          <a:bodyPr/>
          <a:lstStyle/>
          <a:p>
            <a:endParaRPr lang="en-CA"/>
          </a:p>
        </p:txBody>
      </p:sp>
      <p:sp>
        <p:nvSpPr>
          <p:cNvPr id="50" name="Shape 8">
            <a:extLst>
              <a:ext uri="{FF2B5EF4-FFF2-40B4-BE49-F238E27FC236}">
                <a16:creationId xmlns:a16="http://schemas.microsoft.com/office/drawing/2014/main" id="{D82A9ACA-2611-6BC3-6CEE-3B122341D5F4}"/>
              </a:ext>
            </a:extLst>
          </p:cNvPr>
          <p:cNvSpPr/>
          <p:nvPr/>
        </p:nvSpPr>
        <p:spPr>
          <a:xfrm>
            <a:off x="2724912" y="2542355"/>
            <a:ext cx="548640" cy="0"/>
          </a:xfrm>
          <a:prstGeom prst="line">
            <a:avLst/>
          </a:prstGeom>
          <a:noFill/>
          <a:ln w="19050">
            <a:solidFill>
              <a:srgbClr val="C9A84C"/>
            </a:solidFill>
            <a:prstDash val="solid"/>
            <a:tailEnd type="triangle"/>
          </a:ln>
        </p:spPr>
        <p:txBody>
          <a:bodyPr/>
          <a:lstStyle/>
          <a:p>
            <a:endParaRPr lang="en-CA"/>
          </a:p>
        </p:txBody>
      </p:sp>
      <p:sp>
        <p:nvSpPr>
          <p:cNvPr id="17" name="TextBox 16">
            <a:extLst>
              <a:ext uri="{FF2B5EF4-FFF2-40B4-BE49-F238E27FC236}">
                <a16:creationId xmlns:a16="http://schemas.microsoft.com/office/drawing/2014/main" id="{2CE29931-A33C-CAF3-1C3B-1288F13007C0}"/>
              </a:ext>
            </a:extLst>
          </p:cNvPr>
          <p:cNvSpPr txBox="1"/>
          <p:nvPr/>
        </p:nvSpPr>
        <p:spPr>
          <a:xfrm>
            <a:off x="6598992" y="2915467"/>
            <a:ext cx="2237087" cy="900246"/>
          </a:xfrm>
          <a:prstGeom prst="rect">
            <a:avLst/>
          </a:prstGeom>
          <a:noFill/>
        </p:spPr>
        <p:txBody>
          <a:bodyPr wrap="square">
            <a:spAutoFit/>
          </a:bodyPr>
          <a:lstStyle/>
          <a:p>
            <a:r>
              <a:rPr lang="en-CA" sz="750" dirty="0">
                <a:solidFill>
                  <a:srgbClr val="C0A050"/>
                </a:solidFill>
                <a:latin typeface="Calibri" pitchFamily="34" charset="0"/>
                <a:cs typeface="Calibri" pitchFamily="34" charset="-120"/>
              </a:rPr>
              <a:t>Si plusieurs campagnes sont exécutées le même jour, le nom de sortie est incrémenté automatiquement: </a:t>
            </a:r>
          </a:p>
          <a:p>
            <a:endParaRPr lang="en-CA" sz="750" dirty="0">
              <a:solidFill>
                <a:srgbClr val="C0A050"/>
              </a:solidFill>
              <a:latin typeface="Calibri" pitchFamily="34" charset="0"/>
              <a:cs typeface="Calibri" pitchFamily="34" charset="-120"/>
            </a:endParaRPr>
          </a:p>
          <a:p>
            <a:pPr marL="171450" indent="-171450">
              <a:buFont typeface="Arial" panose="020B0604020202020204" pitchFamily="34" charset="0"/>
              <a:buChar char="•"/>
            </a:pPr>
            <a:r>
              <a:rPr lang="en-CA" sz="750" dirty="0">
                <a:solidFill>
                  <a:srgbClr val="C0A050"/>
                </a:solidFill>
                <a:latin typeface="Calibri" pitchFamily="34" charset="0"/>
                <a:cs typeface="Calibri" pitchFamily="34" charset="-120"/>
              </a:rPr>
              <a:t>Plateofme_experiment_YYYYMMDD.csv,</a:t>
            </a:r>
          </a:p>
          <a:p>
            <a:pPr marL="171450" indent="-171450">
              <a:buFont typeface="Arial" panose="020B0604020202020204" pitchFamily="34" charset="0"/>
              <a:buChar char="•"/>
            </a:pPr>
            <a:r>
              <a:rPr lang="en-CA" sz="750" dirty="0">
                <a:solidFill>
                  <a:srgbClr val="C0A050"/>
                </a:solidFill>
                <a:latin typeface="Calibri" pitchFamily="34" charset="0"/>
                <a:cs typeface="Calibri" pitchFamily="34" charset="-120"/>
              </a:rPr>
              <a:t>experiment_YYYYMMDD_1.csv,</a:t>
            </a:r>
          </a:p>
          <a:p>
            <a:pPr marL="171450" indent="-171450">
              <a:buFont typeface="Arial" panose="020B0604020202020204" pitchFamily="34" charset="0"/>
              <a:buChar char="•"/>
            </a:pPr>
            <a:r>
              <a:rPr lang="en-CA" sz="750" dirty="0">
                <a:solidFill>
                  <a:srgbClr val="C0A050"/>
                </a:solidFill>
                <a:latin typeface="Calibri" pitchFamily="34" charset="0"/>
                <a:cs typeface="Calibri" pitchFamily="34" charset="-120"/>
              </a:rPr>
              <a:t>experiment_YYYYMMDD_2.csv, etc.</a:t>
            </a:r>
          </a:p>
        </p:txBody>
      </p:sp>
      <p:pic>
        <p:nvPicPr>
          <p:cNvPr id="30" name="Picture 29">
            <a:extLst>
              <a:ext uri="{FF2B5EF4-FFF2-40B4-BE49-F238E27FC236}">
                <a16:creationId xmlns:a16="http://schemas.microsoft.com/office/drawing/2014/main" id="{070FF843-7F9A-DAB2-4FEF-04426EA686FD}"/>
              </a:ext>
            </a:extLst>
          </p:cNvPr>
          <p:cNvPicPr>
            <a:picLocks noChangeAspect="1"/>
          </p:cNvPicPr>
          <p:nvPr/>
        </p:nvPicPr>
        <p:blipFill>
          <a:blip r:embed="rId4">
            <a:alphaModFix amt="5000"/>
          </a:blip>
          <a:stretch>
            <a:fillRect/>
          </a:stretch>
        </p:blipFill>
        <p:spPr>
          <a:xfrm>
            <a:off x="914705" y="3177637"/>
            <a:ext cx="671825" cy="671825"/>
          </a:xfrm>
          <a:prstGeom prst="rect">
            <a:avLst/>
          </a:prstGeom>
        </p:spPr>
      </p:pic>
      <p:pic>
        <p:nvPicPr>
          <p:cNvPr id="32" name="Picture 31">
            <a:extLst>
              <a:ext uri="{FF2B5EF4-FFF2-40B4-BE49-F238E27FC236}">
                <a16:creationId xmlns:a16="http://schemas.microsoft.com/office/drawing/2014/main" id="{58AAF622-8633-096B-A700-5D4F4F5B3088}"/>
              </a:ext>
            </a:extLst>
          </p:cNvPr>
          <p:cNvPicPr>
            <a:picLocks noChangeAspect="1"/>
          </p:cNvPicPr>
          <p:nvPr/>
        </p:nvPicPr>
        <p:blipFill>
          <a:blip r:embed="rId5">
            <a:alphaModFix amt="5000"/>
          </a:blip>
          <a:stretch>
            <a:fillRect/>
          </a:stretch>
        </p:blipFill>
        <p:spPr>
          <a:xfrm>
            <a:off x="4246245" y="3162096"/>
            <a:ext cx="651510" cy="651510"/>
          </a:xfrm>
          <a:prstGeom prst="rect">
            <a:avLst/>
          </a:prstGeom>
        </p:spPr>
      </p:pic>
      <p:sp>
        <p:nvSpPr>
          <p:cNvPr id="46" name="Shape 38">
            <a:extLst>
              <a:ext uri="{FF2B5EF4-FFF2-40B4-BE49-F238E27FC236}">
                <a16:creationId xmlns:a16="http://schemas.microsoft.com/office/drawing/2014/main" id="{8F959135-7AF0-3453-C8FB-0C20E9120ACF}"/>
              </a:ext>
            </a:extLst>
          </p:cNvPr>
          <p:cNvSpPr/>
          <p:nvPr/>
        </p:nvSpPr>
        <p:spPr>
          <a:xfrm>
            <a:off x="505506" y="4415467"/>
            <a:ext cx="8128185" cy="452677"/>
          </a:xfrm>
          <a:prstGeom prst="roundRect">
            <a:avLst>
              <a:gd name="adj" fmla="val 23529"/>
            </a:avLst>
          </a:prstGeom>
          <a:solidFill>
            <a:schemeClr val="accent2">
              <a:lumMod val="20000"/>
              <a:lumOff val="80000"/>
            </a:schemeClr>
          </a:solidFill>
          <a:ln w="10160">
            <a:solidFill>
              <a:schemeClr val="accent2">
                <a:lumMod val="50000"/>
              </a:schemeClr>
            </a:solidFill>
            <a:prstDash val="solid"/>
          </a:ln>
        </p:spPr>
        <p:txBody>
          <a:bodyPr/>
          <a:lstStyle/>
          <a:p>
            <a:endParaRPr lang="en-CA" dirty="0"/>
          </a:p>
        </p:txBody>
      </p:sp>
      <p:sp>
        <p:nvSpPr>
          <p:cNvPr id="54" name="TextBox 53">
            <a:extLst>
              <a:ext uri="{FF2B5EF4-FFF2-40B4-BE49-F238E27FC236}">
                <a16:creationId xmlns:a16="http://schemas.microsoft.com/office/drawing/2014/main" id="{CB0F78AE-FF02-1C38-D0B4-DE3F4BEAE600}"/>
              </a:ext>
            </a:extLst>
          </p:cNvPr>
          <p:cNvSpPr txBox="1"/>
          <p:nvPr/>
        </p:nvSpPr>
        <p:spPr>
          <a:xfrm>
            <a:off x="572655" y="4452646"/>
            <a:ext cx="7954818" cy="415498"/>
          </a:xfrm>
          <a:prstGeom prst="rect">
            <a:avLst/>
          </a:prstGeom>
          <a:noFill/>
        </p:spPr>
        <p:txBody>
          <a:bodyPr wrap="square">
            <a:spAutoFit/>
          </a:bodyPr>
          <a:lstStyle/>
          <a:p>
            <a:r>
              <a:rPr lang="en-CA" sz="700" b="1" kern="0" spc="200" dirty="0">
                <a:solidFill>
                  <a:schemeClr val="accent2">
                    <a:lumMod val="50000"/>
                  </a:schemeClr>
                </a:solidFill>
                <a:latin typeface="Calibri" pitchFamily="34" charset="0"/>
                <a:cs typeface="Calibri" pitchFamily="34" charset="-120"/>
              </a:rPr>
              <a:t>* </a:t>
            </a:r>
            <a:r>
              <a:rPr lang="fr-FR" sz="700" b="1" kern="0" spc="200" dirty="0">
                <a:solidFill>
                  <a:schemeClr val="accent2">
                    <a:lumMod val="50000"/>
                  </a:schemeClr>
                </a:solidFill>
                <a:latin typeface="Calibri" pitchFamily="34" charset="0"/>
                <a:cs typeface="Calibri" pitchFamily="34" charset="-120"/>
              </a:rPr>
              <a:t>Le script experiment.py a été modifié afin d’automatiser le nommage des fichiers de résultats au format plateforme_experienceX_YYYYMMDD au lieu de experience_YYYYMMDD, ce qui améliore la traçabilité et élimine le renommage manuel avant la génération des graphes.</a:t>
            </a:r>
            <a:endParaRPr lang="en-CA" sz="700" b="1" kern="0" spc="200" dirty="0">
              <a:solidFill>
                <a:schemeClr val="accent2">
                  <a:lumMod val="50000"/>
                </a:schemeClr>
              </a:solidFill>
              <a:latin typeface="Calibri" pitchFamily="34" charset="0"/>
              <a:cs typeface="Calibri" pitchFamily="34" charset="-120"/>
            </a:endParaRPr>
          </a:p>
        </p:txBody>
      </p:sp>
      <p:sp>
        <p:nvSpPr>
          <p:cNvPr id="60" name="Shape 38">
            <a:extLst>
              <a:ext uri="{FF2B5EF4-FFF2-40B4-BE49-F238E27FC236}">
                <a16:creationId xmlns:a16="http://schemas.microsoft.com/office/drawing/2014/main" id="{F2C21C45-6C22-2516-4817-605FFF08749A}"/>
              </a:ext>
            </a:extLst>
          </p:cNvPr>
          <p:cNvSpPr/>
          <p:nvPr/>
        </p:nvSpPr>
        <p:spPr>
          <a:xfrm>
            <a:off x="6821701" y="868505"/>
            <a:ext cx="1782803" cy="201698"/>
          </a:xfrm>
          <a:prstGeom prst="roundRect">
            <a:avLst>
              <a:gd name="adj" fmla="val 23529"/>
            </a:avLst>
          </a:prstGeom>
          <a:solidFill>
            <a:schemeClr val="accent2">
              <a:lumMod val="20000"/>
              <a:lumOff val="80000"/>
            </a:schemeClr>
          </a:solidFill>
          <a:ln w="10160">
            <a:solidFill>
              <a:schemeClr val="accent2">
                <a:lumMod val="50000"/>
              </a:schemeClr>
            </a:solidFill>
            <a:prstDash val="solid"/>
          </a:ln>
        </p:spPr>
        <p:txBody>
          <a:bodyPr/>
          <a:lstStyle/>
          <a:p>
            <a:r>
              <a:rPr lang="en-CA" sz="700" b="1" kern="0" spc="200" dirty="0">
                <a:solidFill>
                  <a:schemeClr val="accent2">
                    <a:lumMod val="50000"/>
                  </a:schemeClr>
                </a:solidFill>
                <a:latin typeface="Calibri" pitchFamily="34" charset="0"/>
                <a:cs typeface="Calibri" pitchFamily="34" charset="-120"/>
              </a:rPr>
              <a:t>* Nouvelle fonctionnalité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12468" y="2025536"/>
            <a:ext cx="2324793" cy="2834640"/>
          </a:xfrm>
          <a:prstGeom prst="rect">
            <a:avLst/>
          </a:prstGeom>
          <a:noFill/>
          <a:ln/>
        </p:spPr>
        <p:txBody>
          <a:bodyPr wrap="square" lIns="0" tIns="0" rIns="0" bIns="0" rtlCol="0" anchor="ctr"/>
          <a:lstStyle/>
          <a:p>
            <a:pPr marL="0" indent="0">
              <a:buNone/>
            </a:pPr>
            <a:r>
              <a:rPr lang="en-US" sz="16000" b="1" dirty="0">
                <a:solidFill>
                  <a:srgbClr val="0A0A0A">
                    <a:alpha val="3000"/>
                  </a:srgbClr>
                </a:solidFill>
                <a:latin typeface="Calibri" pitchFamily="34" charset="0"/>
                <a:ea typeface="Calibri" pitchFamily="34" charset="-122"/>
                <a:cs typeface="Calibri" pitchFamily="34" charset="-120"/>
              </a:rPr>
              <a:t>04</a:t>
            </a:r>
            <a:endParaRPr lang="en-US" sz="16000" dirty="0"/>
          </a:p>
        </p:txBody>
      </p:sp>
      <p:sp>
        <p:nvSpPr>
          <p:cNvPr id="4" name="Text 2"/>
          <p:cNvSpPr/>
          <p:nvPr/>
        </p:nvSpPr>
        <p:spPr>
          <a:xfrm>
            <a:off x="475488" y="164592"/>
            <a:ext cx="73152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04  ·  GÉNÉRATION DES SORTIES EXPÉRIMENTALES</a:t>
            </a:r>
            <a:endParaRPr lang="en-US" sz="800" dirty="0"/>
          </a:p>
        </p:txBody>
      </p:sp>
      <p:sp>
        <p:nvSpPr>
          <p:cNvPr id="5" name="Text 3"/>
          <p:cNvSpPr/>
          <p:nvPr/>
        </p:nvSpPr>
        <p:spPr>
          <a:xfrm>
            <a:off x="475488" y="402336"/>
            <a:ext cx="2834640" cy="1371600"/>
          </a:xfrm>
          <a:prstGeom prst="rect">
            <a:avLst/>
          </a:prstGeom>
          <a:noFill/>
          <a:ln/>
        </p:spPr>
        <p:txBody>
          <a:bodyPr wrap="square" lIns="0" tIns="0" rIns="0" bIns="0" rtlCol="0" anchor="ctr"/>
          <a:lstStyle/>
          <a:p>
            <a:pPr marL="0" indent="0">
              <a:lnSpc>
                <a:spcPct val="115000"/>
              </a:lnSpc>
              <a:buNone/>
            </a:pPr>
            <a:r>
              <a:rPr lang="en-US" sz="2100" b="1" dirty="0">
                <a:solidFill>
                  <a:srgbClr val="0A0A0A"/>
                </a:solidFill>
                <a:latin typeface="Calibri" pitchFamily="34" charset="0"/>
                <a:ea typeface="Calibri" pitchFamily="34" charset="-122"/>
                <a:cs typeface="Calibri" pitchFamily="34" charset="-120"/>
              </a:rPr>
              <a:t>Génération
des sorties
</a:t>
            </a:r>
            <a:r>
              <a:rPr lang="en-US" sz="2100" b="1" dirty="0">
                <a:solidFill>
                  <a:srgbClr val="C9A84C"/>
                </a:solidFill>
                <a:latin typeface="Calibri" pitchFamily="34" charset="0"/>
                <a:ea typeface="Calibri" pitchFamily="34" charset="-122"/>
                <a:cs typeface="Calibri" pitchFamily="34" charset="-120"/>
              </a:rPr>
              <a:t>expérimentales.</a:t>
            </a:r>
            <a:endParaRPr lang="en-US" sz="2100" dirty="0"/>
          </a:p>
        </p:txBody>
      </p:sp>
      <p:sp>
        <p:nvSpPr>
          <p:cNvPr id="6" name="Shape 4"/>
          <p:cNvSpPr/>
          <p:nvPr/>
        </p:nvSpPr>
        <p:spPr>
          <a:xfrm>
            <a:off x="475488" y="1847088"/>
            <a:ext cx="329184" cy="0"/>
          </a:xfrm>
          <a:prstGeom prst="line">
            <a:avLst/>
          </a:prstGeom>
          <a:noFill/>
          <a:ln w="31750">
            <a:solidFill>
              <a:srgbClr val="C9A84C"/>
            </a:solidFill>
            <a:prstDash val="solid"/>
          </a:ln>
        </p:spPr>
        <p:txBody>
          <a:bodyPr/>
          <a:lstStyle/>
          <a:p>
            <a:endParaRPr lang="en-CA"/>
          </a:p>
        </p:txBody>
      </p:sp>
      <p:sp>
        <p:nvSpPr>
          <p:cNvPr id="7" name="Text 5"/>
          <p:cNvSpPr/>
          <p:nvPr/>
        </p:nvSpPr>
        <p:spPr>
          <a:xfrm>
            <a:off x="475488" y="1993392"/>
            <a:ext cx="2834640" cy="1005840"/>
          </a:xfrm>
          <a:prstGeom prst="rect">
            <a:avLst/>
          </a:prstGeom>
          <a:noFill/>
          <a:ln/>
        </p:spPr>
        <p:txBody>
          <a:bodyPr wrap="square" lIns="0" tIns="0" rIns="0" bIns="0" rtlCol="0" anchor="t"/>
          <a:lstStyle/>
          <a:p>
            <a:pPr marL="0" indent="0">
              <a:lnSpc>
                <a:spcPct val="150000"/>
              </a:lnSpc>
              <a:buNone/>
            </a:pPr>
            <a:r>
              <a:rPr lang="en-US" sz="900" dirty="0">
                <a:solidFill>
                  <a:srgbClr val="555555"/>
                </a:solidFill>
                <a:latin typeface="Calibri" pitchFamily="34" charset="0"/>
                <a:ea typeface="Calibri" pitchFamily="34" charset="-122"/>
                <a:cs typeface="Calibri" pitchFamily="34" charset="-120"/>
              </a:rPr>
              <a:t>Cette section montre comment le système collecte, structure et exporte les mesures sur les deux plateformes. Les sorties couvrent deux familles de métriques : performance temporelle et robustesse cryptographique.</a:t>
            </a:r>
            <a:endParaRPr lang="en-US" sz="900" dirty="0"/>
          </a:p>
        </p:txBody>
      </p:sp>
      <p:sp>
        <p:nvSpPr>
          <p:cNvPr id="9" name="Shape 7"/>
          <p:cNvSpPr/>
          <p:nvPr/>
        </p:nvSpPr>
        <p:spPr>
          <a:xfrm>
            <a:off x="3438144" y="402336"/>
            <a:ext cx="0" cy="4315968"/>
          </a:xfrm>
          <a:prstGeom prst="line">
            <a:avLst/>
          </a:prstGeom>
          <a:noFill/>
          <a:ln w="10160">
            <a:solidFill>
              <a:srgbClr val="E8E8E8"/>
            </a:solidFill>
            <a:prstDash val="solid"/>
          </a:ln>
        </p:spPr>
        <p:txBody>
          <a:bodyPr/>
          <a:lstStyle/>
          <a:p>
            <a:endParaRPr lang="en-CA"/>
          </a:p>
        </p:txBody>
      </p:sp>
      <p:sp>
        <p:nvSpPr>
          <p:cNvPr id="10" name="Shape 8"/>
          <p:cNvSpPr/>
          <p:nvPr/>
        </p:nvSpPr>
        <p:spPr>
          <a:xfrm>
            <a:off x="3675888" y="804672"/>
            <a:ext cx="256032" cy="256032"/>
          </a:xfrm>
          <a:prstGeom prst="ellipse">
            <a:avLst/>
          </a:prstGeom>
          <a:solidFill>
            <a:srgbClr val="0A0A0A"/>
          </a:solidFill>
          <a:ln w="12700">
            <a:solidFill>
              <a:srgbClr val="0A0A0A"/>
            </a:solidFill>
            <a:prstDash val="solid"/>
          </a:ln>
        </p:spPr>
        <p:txBody>
          <a:bodyPr/>
          <a:lstStyle/>
          <a:p>
            <a:endParaRPr lang="en-CA"/>
          </a:p>
        </p:txBody>
      </p:sp>
      <p:sp>
        <p:nvSpPr>
          <p:cNvPr id="11" name="Text 9"/>
          <p:cNvSpPr/>
          <p:nvPr/>
        </p:nvSpPr>
        <p:spPr>
          <a:xfrm>
            <a:off x="3675888" y="804672"/>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1</a:t>
            </a:r>
            <a:endParaRPr lang="en-US" sz="900" dirty="0"/>
          </a:p>
        </p:txBody>
      </p:sp>
      <p:sp>
        <p:nvSpPr>
          <p:cNvPr id="12" name="Text 10"/>
          <p:cNvSpPr/>
          <p:nvPr/>
        </p:nvSpPr>
        <p:spPr>
          <a:xfrm>
            <a:off x="4005072" y="768096"/>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Pipeline de génération des sorties</a:t>
            </a:r>
            <a:endParaRPr lang="en-US" sz="1000" dirty="0"/>
          </a:p>
        </p:txBody>
      </p:sp>
      <p:sp>
        <p:nvSpPr>
          <p:cNvPr id="13" name="Text 11"/>
          <p:cNvSpPr/>
          <p:nvPr/>
        </p:nvSpPr>
        <p:spPr>
          <a:xfrm>
            <a:off x="4005072" y="1042416"/>
            <a:ext cx="4206240" cy="457200"/>
          </a:xfrm>
          <a:prstGeom prst="rect">
            <a:avLst/>
          </a:prstGeom>
          <a:noFill/>
          <a:ln/>
        </p:spPr>
        <p:txBody>
          <a:bodyPr wrap="square" lIns="0" tIns="0" rIns="0" bIns="0" rtlCol="0" anchor="t"/>
          <a:lstStyle/>
          <a:p>
            <a:pPr marL="0" indent="0">
              <a:lnSpc>
                <a:spcPct val="135000"/>
              </a:lnSpc>
              <a:buNone/>
            </a:pPr>
            <a:r>
              <a:rPr lang="en-US" sz="750" dirty="0">
                <a:solidFill>
                  <a:srgbClr val="888888"/>
                </a:solidFill>
                <a:latin typeface="Calibri" pitchFamily="34" charset="0"/>
                <a:ea typeface="Calibri" pitchFamily="34" charset="-122"/>
                <a:cs typeface="Calibri" pitchFamily="34" charset="-120"/>
              </a:rPr>
              <a:t>Un seul script orchestre débit, IC95 et avalanche — deux familles de métriques, une sortie structurée.</a:t>
            </a:r>
            <a:endParaRPr lang="en-US" sz="750" dirty="0"/>
          </a:p>
        </p:txBody>
      </p:sp>
      <p:sp>
        <p:nvSpPr>
          <p:cNvPr id="14" name="Shape 12"/>
          <p:cNvSpPr/>
          <p:nvPr/>
        </p:nvSpPr>
        <p:spPr>
          <a:xfrm>
            <a:off x="8321040" y="859536"/>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5" name="Text 13"/>
          <p:cNvSpPr/>
          <p:nvPr/>
        </p:nvSpPr>
        <p:spPr>
          <a:xfrm>
            <a:off x="8321040" y="859536"/>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04a</a:t>
            </a:r>
            <a:endParaRPr lang="en-US" sz="700" dirty="0"/>
          </a:p>
        </p:txBody>
      </p:sp>
      <p:sp>
        <p:nvSpPr>
          <p:cNvPr id="16" name="Shape 14"/>
          <p:cNvSpPr/>
          <p:nvPr/>
        </p:nvSpPr>
        <p:spPr>
          <a:xfrm>
            <a:off x="4005072" y="1956816"/>
            <a:ext cx="4773168" cy="0"/>
          </a:xfrm>
          <a:prstGeom prst="line">
            <a:avLst/>
          </a:prstGeom>
          <a:noFill/>
          <a:ln w="7620">
            <a:solidFill>
              <a:srgbClr val="F5F5F5"/>
            </a:solidFill>
            <a:prstDash val="solid"/>
          </a:ln>
        </p:spPr>
        <p:txBody>
          <a:bodyPr/>
          <a:lstStyle/>
          <a:p>
            <a:endParaRPr lang="en-CA"/>
          </a:p>
        </p:txBody>
      </p:sp>
      <p:sp>
        <p:nvSpPr>
          <p:cNvPr id="17" name="Shape 15"/>
          <p:cNvSpPr/>
          <p:nvPr/>
        </p:nvSpPr>
        <p:spPr>
          <a:xfrm>
            <a:off x="3675888" y="2066544"/>
            <a:ext cx="256032" cy="256032"/>
          </a:xfrm>
          <a:prstGeom prst="ellipse">
            <a:avLst/>
          </a:prstGeom>
          <a:solidFill>
            <a:srgbClr val="0A0A0A"/>
          </a:solidFill>
          <a:ln w="12700">
            <a:solidFill>
              <a:srgbClr val="0A0A0A"/>
            </a:solidFill>
            <a:prstDash val="solid"/>
          </a:ln>
        </p:spPr>
        <p:txBody>
          <a:bodyPr/>
          <a:lstStyle/>
          <a:p>
            <a:endParaRPr lang="en-CA"/>
          </a:p>
        </p:txBody>
      </p:sp>
      <p:sp>
        <p:nvSpPr>
          <p:cNvPr id="18" name="Text 16"/>
          <p:cNvSpPr/>
          <p:nvPr/>
        </p:nvSpPr>
        <p:spPr>
          <a:xfrm>
            <a:off x="3675888" y="2066544"/>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4005072" y="2029968"/>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Sorties produites sur les deux plateformes</a:t>
            </a:r>
            <a:endParaRPr lang="en-US" sz="1000" dirty="0"/>
          </a:p>
        </p:txBody>
      </p:sp>
      <p:sp>
        <p:nvSpPr>
          <p:cNvPr id="20" name="Text 18"/>
          <p:cNvSpPr/>
          <p:nvPr/>
        </p:nvSpPr>
        <p:spPr>
          <a:xfrm>
            <a:off x="4005072" y="2304288"/>
            <a:ext cx="4206240" cy="457200"/>
          </a:xfrm>
          <a:prstGeom prst="rect">
            <a:avLst/>
          </a:prstGeom>
          <a:noFill/>
          <a:ln/>
        </p:spPr>
        <p:txBody>
          <a:bodyPr wrap="square" lIns="0" tIns="0" rIns="0" bIns="0" rtlCol="0" anchor="t"/>
          <a:lstStyle/>
          <a:p>
            <a:pPr marL="0" indent="0">
              <a:lnSpc>
                <a:spcPct val="135000"/>
              </a:lnSpc>
              <a:buNone/>
            </a:pPr>
            <a:r>
              <a:rPr lang="en-US" sz="750" dirty="0">
                <a:solidFill>
                  <a:srgbClr val="888888"/>
                </a:solidFill>
                <a:latin typeface="Calibri" pitchFamily="34" charset="0"/>
                <a:ea typeface="Calibri" pitchFamily="34" charset="-122"/>
                <a:cs typeface="Calibri" pitchFamily="34" charset="-120"/>
              </a:rPr>
              <a:t>CSV horodatés sur x86 et ARM, structure identique. Les fichiers sont directement comparables.</a:t>
            </a:r>
            <a:endParaRPr lang="en-US" sz="750" dirty="0"/>
          </a:p>
        </p:txBody>
      </p:sp>
      <p:sp>
        <p:nvSpPr>
          <p:cNvPr id="21" name="Shape 19"/>
          <p:cNvSpPr/>
          <p:nvPr/>
        </p:nvSpPr>
        <p:spPr>
          <a:xfrm>
            <a:off x="8321040" y="2121408"/>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2" name="Text 20"/>
          <p:cNvSpPr/>
          <p:nvPr/>
        </p:nvSpPr>
        <p:spPr>
          <a:xfrm>
            <a:off x="8321040" y="2121408"/>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04b</a:t>
            </a:r>
            <a:endParaRPr lang="en-US" sz="700" dirty="0"/>
          </a:p>
        </p:txBody>
      </p:sp>
      <p:sp>
        <p:nvSpPr>
          <p:cNvPr id="23" name="Shape 21"/>
          <p:cNvSpPr/>
          <p:nvPr/>
        </p:nvSpPr>
        <p:spPr>
          <a:xfrm>
            <a:off x="4005072" y="3218688"/>
            <a:ext cx="4773168" cy="0"/>
          </a:xfrm>
          <a:prstGeom prst="line">
            <a:avLst/>
          </a:prstGeom>
          <a:noFill/>
          <a:ln w="7620">
            <a:solidFill>
              <a:srgbClr val="F5F5F5"/>
            </a:solidFill>
            <a:prstDash val="solid"/>
          </a:ln>
        </p:spPr>
        <p:txBody>
          <a:bodyPr/>
          <a:lstStyle/>
          <a:p>
            <a:endParaRPr lang="en-CA"/>
          </a:p>
        </p:txBody>
      </p:sp>
      <p:sp>
        <p:nvSpPr>
          <p:cNvPr id="24" name="Shape 22"/>
          <p:cNvSpPr/>
          <p:nvPr/>
        </p:nvSpPr>
        <p:spPr>
          <a:xfrm>
            <a:off x="3675888" y="3328416"/>
            <a:ext cx="256032" cy="256032"/>
          </a:xfrm>
          <a:prstGeom prst="ellipse">
            <a:avLst/>
          </a:prstGeom>
          <a:solidFill>
            <a:srgbClr val="0A0A0A"/>
          </a:solidFill>
          <a:ln w="12700">
            <a:solidFill>
              <a:srgbClr val="0A0A0A"/>
            </a:solidFill>
            <a:prstDash val="solid"/>
          </a:ln>
        </p:spPr>
        <p:txBody>
          <a:bodyPr/>
          <a:lstStyle/>
          <a:p>
            <a:endParaRPr lang="en-CA"/>
          </a:p>
        </p:txBody>
      </p:sp>
      <p:sp>
        <p:nvSpPr>
          <p:cNvPr id="25" name="Text 23"/>
          <p:cNvSpPr/>
          <p:nvPr/>
        </p:nvSpPr>
        <p:spPr>
          <a:xfrm>
            <a:off x="3675888" y="3328416"/>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3</a:t>
            </a:r>
            <a:endParaRPr lang="en-US" sz="900" dirty="0"/>
          </a:p>
        </p:txBody>
      </p:sp>
      <p:sp>
        <p:nvSpPr>
          <p:cNvPr id="26" name="Text 24"/>
          <p:cNvSpPr/>
          <p:nvPr/>
        </p:nvSpPr>
        <p:spPr>
          <a:xfrm>
            <a:off x="4005072" y="3291840"/>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Structure des sorties CSV</a:t>
            </a:r>
            <a:endParaRPr lang="en-US" sz="1000" dirty="0"/>
          </a:p>
        </p:txBody>
      </p:sp>
      <p:sp>
        <p:nvSpPr>
          <p:cNvPr id="27" name="Text 25"/>
          <p:cNvSpPr/>
          <p:nvPr/>
        </p:nvSpPr>
        <p:spPr>
          <a:xfrm>
            <a:off x="4005072" y="3566160"/>
            <a:ext cx="4206240" cy="457200"/>
          </a:xfrm>
          <a:prstGeom prst="rect">
            <a:avLst/>
          </a:prstGeom>
          <a:noFill/>
          <a:ln/>
        </p:spPr>
        <p:txBody>
          <a:bodyPr wrap="square" lIns="0" tIns="0" rIns="0" bIns="0" rtlCol="0" anchor="t"/>
          <a:lstStyle/>
          <a:p>
            <a:pPr marL="0" indent="0">
              <a:lnSpc>
                <a:spcPct val="135000"/>
              </a:lnSpc>
              <a:buNone/>
            </a:pPr>
            <a:r>
              <a:rPr lang="en-US" sz="750" dirty="0">
                <a:solidFill>
                  <a:srgbClr val="888888"/>
                </a:solidFill>
                <a:latin typeface="Calibri" pitchFamily="34" charset="0"/>
                <a:ea typeface="Calibri" pitchFamily="34" charset="-122"/>
                <a:cs typeface="Calibri" pitchFamily="34" charset="-120"/>
              </a:rPr>
              <a:t>13 colonnes par ligne, 155 lignes par plateforme — chaque mesure est structurée et traçable.</a:t>
            </a:r>
            <a:endParaRPr lang="en-US" sz="750" dirty="0"/>
          </a:p>
        </p:txBody>
      </p:sp>
      <p:sp>
        <p:nvSpPr>
          <p:cNvPr id="28" name="Shape 26"/>
          <p:cNvSpPr/>
          <p:nvPr/>
        </p:nvSpPr>
        <p:spPr>
          <a:xfrm>
            <a:off x="8321040" y="3383280"/>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9" name="Text 27"/>
          <p:cNvSpPr/>
          <p:nvPr/>
        </p:nvSpPr>
        <p:spPr>
          <a:xfrm>
            <a:off x="8321040" y="3383280"/>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04c</a:t>
            </a:r>
            <a:endParaRPr lang="en-US" sz="700" dirty="0"/>
          </a:p>
        </p:txBody>
      </p:sp>
      <p:sp>
        <p:nvSpPr>
          <p:cNvPr id="30" name="Text 28"/>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pic>
        <p:nvPicPr>
          <p:cNvPr id="32" name="Graphic 31" descr="Video camera with solid fill">
            <a:extLst>
              <a:ext uri="{FF2B5EF4-FFF2-40B4-BE49-F238E27FC236}">
                <a16:creationId xmlns:a16="http://schemas.microsoft.com/office/drawing/2014/main" id="{5A3F580A-6AC2-B723-6E37-752BF6C22F5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585115" y="107527"/>
            <a:ext cx="430857" cy="430857"/>
          </a:xfrm>
          <a:prstGeom prst="rect">
            <a:avLst/>
          </a:prstGeom>
        </p:spPr>
      </p:pic>
      <p:sp>
        <p:nvSpPr>
          <p:cNvPr id="34" name="Text 15">
            <a:extLst>
              <a:ext uri="{FF2B5EF4-FFF2-40B4-BE49-F238E27FC236}">
                <a16:creationId xmlns:a16="http://schemas.microsoft.com/office/drawing/2014/main" id="{38A70DA7-02A8-D48D-846A-45C929D71C92}"/>
              </a:ext>
            </a:extLst>
          </p:cNvPr>
          <p:cNvSpPr/>
          <p:nvPr/>
        </p:nvSpPr>
        <p:spPr>
          <a:xfrm>
            <a:off x="8121636" y="272289"/>
            <a:ext cx="691412" cy="205231"/>
          </a:xfrm>
          <a:prstGeom prst="rect">
            <a:avLst/>
          </a:prstGeom>
          <a:noFill/>
          <a:ln/>
        </p:spPr>
        <p:txBody>
          <a:bodyPr wrap="square" lIns="0" tIns="0" rIns="0" bIns="0" rtlCol="0" anchor="ctr"/>
          <a:lstStyle/>
          <a:p>
            <a:pPr marL="0" indent="0">
              <a:buNone/>
            </a:pPr>
            <a:r>
              <a:rPr lang="en-US" sz="1300" b="1" u="sng" dirty="0">
                <a:solidFill>
                  <a:srgbClr val="555555"/>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Vidéo 3</a:t>
            </a:r>
            <a:endParaRPr lang="en-US" sz="1300" u="sng" dirty="0">
              <a:solidFill>
                <a:srgbClr val="555555"/>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475488" y="164592"/>
            <a:ext cx="73152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04a  ·  GÉNÉRATION DES SORTIES EXPÉRIMENTALES</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Pipeline de </a:t>
            </a:r>
            <a:r>
              <a:rPr lang="en-US" sz="1500" b="1" dirty="0">
                <a:solidFill>
                  <a:srgbClr val="C9A84C"/>
                </a:solidFill>
                <a:latin typeface="Calibri" pitchFamily="34" charset="0"/>
                <a:ea typeface="Calibri" pitchFamily="34" charset="-122"/>
                <a:cs typeface="Calibri" pitchFamily="34" charset="-120"/>
              </a:rPr>
              <a:t>génération des graphiques</a:t>
            </a:r>
            <a:endParaRPr lang="en-US" sz="1500" dirty="0"/>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sp>
        <p:nvSpPr>
          <p:cNvPr id="6" name="Shape 4"/>
          <p:cNvSpPr/>
          <p:nvPr/>
        </p:nvSpPr>
        <p:spPr>
          <a:xfrm>
            <a:off x="266368" y="1161158"/>
            <a:ext cx="1133856" cy="2775204"/>
          </a:xfrm>
          <a:prstGeom prst="roundRect">
            <a:avLst>
              <a:gd name="adj" fmla="val 6173"/>
            </a:avLst>
          </a:prstGeom>
          <a:solidFill>
            <a:srgbClr val="FAFAFA"/>
          </a:solidFill>
          <a:ln w="12700">
            <a:solidFill>
              <a:srgbClr val="0A0A0A"/>
            </a:solidFill>
            <a:prstDash val="solid"/>
          </a:ln>
        </p:spPr>
        <p:txBody>
          <a:bodyPr/>
          <a:lstStyle/>
          <a:p>
            <a:endParaRPr lang="en-CA"/>
          </a:p>
        </p:txBody>
      </p:sp>
      <p:sp>
        <p:nvSpPr>
          <p:cNvPr id="7" name="Shape 5"/>
          <p:cNvSpPr/>
          <p:nvPr/>
        </p:nvSpPr>
        <p:spPr>
          <a:xfrm>
            <a:off x="258814" y="1139622"/>
            <a:ext cx="1148963" cy="80837"/>
          </a:xfrm>
          <a:prstGeom prst="rect">
            <a:avLst/>
          </a:prstGeom>
          <a:solidFill>
            <a:srgbClr val="0A0A0A"/>
          </a:solidFill>
          <a:ln w="12700">
            <a:solidFill>
              <a:srgbClr val="0A0A0A"/>
            </a:solidFill>
            <a:prstDash val="solid"/>
          </a:ln>
        </p:spPr>
        <p:txBody>
          <a:bodyPr/>
          <a:lstStyle/>
          <a:p>
            <a:endParaRPr lang="en-CA"/>
          </a:p>
        </p:txBody>
      </p:sp>
      <p:sp>
        <p:nvSpPr>
          <p:cNvPr id="9" name="Shape 7"/>
          <p:cNvSpPr/>
          <p:nvPr/>
        </p:nvSpPr>
        <p:spPr>
          <a:xfrm>
            <a:off x="405913" y="1334894"/>
            <a:ext cx="768096" cy="219456"/>
          </a:xfrm>
          <a:prstGeom prst="roundRect">
            <a:avLst>
              <a:gd name="adj" fmla="val 20833"/>
            </a:avLst>
          </a:prstGeom>
          <a:solidFill>
            <a:srgbClr val="1A1A1A"/>
          </a:solidFill>
          <a:ln w="6350">
            <a:solidFill>
              <a:srgbClr val="333333"/>
            </a:solidFill>
            <a:prstDash val="solid"/>
          </a:ln>
        </p:spPr>
        <p:txBody>
          <a:bodyPr/>
          <a:lstStyle/>
          <a:p>
            <a:endParaRPr lang="en-CA"/>
          </a:p>
        </p:txBody>
      </p:sp>
      <p:sp>
        <p:nvSpPr>
          <p:cNvPr id="10" name="Text 8"/>
          <p:cNvSpPr/>
          <p:nvPr/>
        </p:nvSpPr>
        <p:spPr>
          <a:xfrm>
            <a:off x="395974" y="1334894"/>
            <a:ext cx="768096" cy="219456"/>
          </a:xfrm>
          <a:prstGeom prst="rect">
            <a:avLst/>
          </a:prstGeom>
          <a:noFill/>
          <a:ln/>
        </p:spPr>
        <p:txBody>
          <a:bodyPr wrap="square" lIns="0" tIns="0" rIns="0" bIns="0" rtlCol="0" anchor="ctr"/>
          <a:lstStyle/>
          <a:p>
            <a:pPr marL="0" indent="0" algn="ctr">
              <a:buNone/>
            </a:pPr>
            <a:r>
              <a:rPr lang="en-US" sz="750" b="1" dirty="0">
                <a:solidFill>
                  <a:srgbClr val="C9A84C"/>
                </a:solidFill>
                <a:latin typeface="Calibri" pitchFamily="34" charset="0"/>
                <a:ea typeface="Calibri" pitchFamily="34" charset="-122"/>
                <a:cs typeface="Calibri" pitchFamily="34" charset="-120"/>
              </a:rPr>
              <a:t>Entrée</a:t>
            </a:r>
            <a:endParaRPr lang="en-US" sz="750" dirty="0"/>
          </a:p>
        </p:txBody>
      </p:sp>
      <p:sp>
        <p:nvSpPr>
          <p:cNvPr id="11" name="Shape 9"/>
          <p:cNvSpPr/>
          <p:nvPr/>
        </p:nvSpPr>
        <p:spPr>
          <a:xfrm>
            <a:off x="357808" y="1645790"/>
            <a:ext cx="864307" cy="6890"/>
          </a:xfrm>
          <a:prstGeom prst="line">
            <a:avLst/>
          </a:prstGeom>
          <a:noFill/>
          <a:ln w="7620">
            <a:solidFill>
              <a:srgbClr val="EEEEEE"/>
            </a:solidFill>
            <a:prstDash val="solid"/>
          </a:ln>
        </p:spPr>
        <p:txBody>
          <a:bodyPr/>
          <a:lstStyle/>
          <a:p>
            <a:endParaRPr lang="en-CA"/>
          </a:p>
        </p:txBody>
      </p:sp>
      <p:sp>
        <p:nvSpPr>
          <p:cNvPr id="12" name="Text 10"/>
          <p:cNvSpPr/>
          <p:nvPr/>
        </p:nvSpPr>
        <p:spPr>
          <a:xfrm>
            <a:off x="348262" y="1730207"/>
            <a:ext cx="1298448" cy="274320"/>
          </a:xfrm>
          <a:prstGeom prst="rect">
            <a:avLst/>
          </a:prstGeom>
          <a:noFill/>
          <a:ln/>
        </p:spPr>
        <p:txBody>
          <a:bodyPr wrap="square" lIns="0" tIns="0" rIns="0" bIns="0" rtlCol="0" anchor="ctr"/>
          <a:lstStyle/>
          <a:p>
            <a:pPr marL="0" indent="0">
              <a:buNone/>
            </a:pPr>
            <a:r>
              <a:rPr lang="en-US" sz="900" b="1" dirty="0">
                <a:latin typeface="Courier New" pitchFamily="34" charset="0"/>
                <a:ea typeface="Courier New" pitchFamily="34" charset="-122"/>
                <a:cs typeface="Courier New" pitchFamily="34" charset="-120"/>
              </a:rPr>
              <a:t>run_charts.py</a:t>
            </a:r>
            <a:endParaRPr lang="en-US" sz="900" dirty="0"/>
          </a:p>
        </p:txBody>
      </p:sp>
      <p:sp>
        <p:nvSpPr>
          <p:cNvPr id="13" name="Text 11"/>
          <p:cNvSpPr/>
          <p:nvPr/>
        </p:nvSpPr>
        <p:spPr>
          <a:xfrm>
            <a:off x="399016" y="2141124"/>
            <a:ext cx="864307" cy="536377"/>
          </a:xfrm>
          <a:prstGeom prst="rect">
            <a:avLst/>
          </a:prstGeom>
          <a:noFill/>
          <a:ln/>
        </p:spPr>
        <p:txBody>
          <a:bodyPr wrap="square" lIns="0" tIns="0" rIns="0" bIns="0" rtlCol="0" anchor="t"/>
          <a:lstStyle/>
          <a:p>
            <a:pPr marL="0" indent="0" algn="ctr">
              <a:lnSpc>
                <a:spcPct val="130000"/>
              </a:lnSpc>
              <a:buNone/>
            </a:pPr>
            <a:r>
              <a:rPr lang="en-US" sz="700" b="1" dirty="0">
                <a:solidFill>
                  <a:srgbClr val="CFB260"/>
                </a:solidFill>
                <a:latin typeface="Courier New" pitchFamily="34" charset="0"/>
                <a:ea typeface="Courier New" pitchFamily="34" charset="-122"/>
                <a:cs typeface="Courier New" pitchFamily="34" charset="-120"/>
              </a:rPr>
              <a:t>run_charts.py </a:t>
            </a:r>
          </a:p>
          <a:p>
            <a:pPr marL="0" indent="0" algn="ctr">
              <a:lnSpc>
                <a:spcPct val="130000"/>
              </a:lnSpc>
              <a:buNone/>
            </a:pPr>
            <a:r>
              <a:rPr lang="fr-FR" sz="700" b="1" dirty="0">
                <a:solidFill>
                  <a:srgbClr val="CFB260"/>
                </a:solidFill>
                <a:latin typeface="Courier New" pitchFamily="34" charset="0"/>
                <a:ea typeface="Courier New" pitchFamily="34" charset="-122"/>
                <a:cs typeface="Courier New" pitchFamily="34" charset="-120"/>
              </a:rPr>
              <a:t>cibles : 01,02,03,04</a:t>
            </a:r>
            <a:endParaRPr lang="en-US" sz="700" b="1" dirty="0">
              <a:solidFill>
                <a:srgbClr val="CFB260"/>
              </a:solidFill>
              <a:latin typeface="Courier New" pitchFamily="34" charset="0"/>
              <a:ea typeface="Courier New" pitchFamily="34" charset="-122"/>
              <a:cs typeface="Courier New" pitchFamily="34" charset="-120"/>
            </a:endParaRPr>
          </a:p>
        </p:txBody>
      </p:sp>
      <p:sp>
        <p:nvSpPr>
          <p:cNvPr id="14" name="Shape 12"/>
          <p:cNvSpPr/>
          <p:nvPr/>
        </p:nvSpPr>
        <p:spPr>
          <a:xfrm>
            <a:off x="363774" y="2713550"/>
            <a:ext cx="915194" cy="9079"/>
          </a:xfrm>
          <a:prstGeom prst="line">
            <a:avLst/>
          </a:prstGeom>
          <a:noFill/>
          <a:ln w="6350">
            <a:solidFill>
              <a:srgbClr val="F0F0F0"/>
            </a:solidFill>
            <a:prstDash val="solid"/>
          </a:ln>
        </p:spPr>
        <p:txBody>
          <a:bodyPr/>
          <a:lstStyle/>
          <a:p>
            <a:endParaRPr lang="en-CA"/>
          </a:p>
        </p:txBody>
      </p:sp>
      <p:sp>
        <p:nvSpPr>
          <p:cNvPr id="15" name="Text 13"/>
          <p:cNvSpPr/>
          <p:nvPr/>
        </p:nvSpPr>
        <p:spPr>
          <a:xfrm>
            <a:off x="357808" y="2943241"/>
            <a:ext cx="864307" cy="832302"/>
          </a:xfrm>
          <a:prstGeom prst="rect">
            <a:avLst/>
          </a:prstGeom>
          <a:noFill/>
          <a:ln/>
        </p:spPr>
        <p:txBody>
          <a:bodyPr wrap="square" lIns="0" tIns="0" rIns="0" bIns="0" rtlCol="0" anchor="t"/>
          <a:lstStyle/>
          <a:p>
            <a:pPr algn="ctr">
              <a:lnSpc>
                <a:spcPct val="145000"/>
              </a:lnSpc>
            </a:pPr>
            <a:r>
              <a:rPr lang="fr-FR" sz="800" dirty="0">
                <a:solidFill>
                  <a:srgbClr val="555555"/>
                </a:solidFill>
                <a:latin typeface="Calibri" pitchFamily="34" charset="0"/>
                <a:ea typeface="Calibri" pitchFamily="34" charset="-122"/>
                <a:cs typeface="Calibri" pitchFamily="34" charset="-120"/>
              </a:rPr>
              <a:t>Route la cible via TARGETS</a:t>
            </a:r>
          </a:p>
        </p:txBody>
      </p:sp>
      <p:sp>
        <p:nvSpPr>
          <p:cNvPr id="16" name="Text 14"/>
          <p:cNvSpPr/>
          <p:nvPr/>
        </p:nvSpPr>
        <p:spPr>
          <a:xfrm>
            <a:off x="1407777" y="2324300"/>
            <a:ext cx="219456" cy="329184"/>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17" name="Shape 15"/>
          <p:cNvSpPr/>
          <p:nvPr/>
        </p:nvSpPr>
        <p:spPr>
          <a:xfrm>
            <a:off x="1608545" y="1167784"/>
            <a:ext cx="1354107" cy="2775204"/>
          </a:xfrm>
          <a:prstGeom prst="roundRect">
            <a:avLst>
              <a:gd name="adj" fmla="val 6173"/>
            </a:avLst>
          </a:prstGeom>
          <a:solidFill>
            <a:srgbClr val="FAFAFA"/>
          </a:solidFill>
          <a:ln w="8890">
            <a:solidFill>
              <a:srgbClr val="E8E8E8"/>
            </a:solidFill>
            <a:prstDash val="solid"/>
          </a:ln>
        </p:spPr>
        <p:txBody>
          <a:bodyPr/>
          <a:lstStyle/>
          <a:p>
            <a:endParaRPr lang="en-CA"/>
          </a:p>
        </p:txBody>
      </p:sp>
      <p:sp>
        <p:nvSpPr>
          <p:cNvPr id="18" name="Shape 16"/>
          <p:cNvSpPr/>
          <p:nvPr/>
        </p:nvSpPr>
        <p:spPr>
          <a:xfrm>
            <a:off x="1604139" y="1139622"/>
            <a:ext cx="1354107" cy="75207"/>
          </a:xfrm>
          <a:prstGeom prst="rect">
            <a:avLst/>
          </a:prstGeom>
          <a:solidFill>
            <a:srgbClr val="888888"/>
          </a:solidFill>
          <a:ln w="12700">
            <a:solidFill>
              <a:srgbClr val="888888"/>
            </a:solidFill>
            <a:prstDash val="solid"/>
          </a:ln>
        </p:spPr>
        <p:txBody>
          <a:bodyPr/>
          <a:lstStyle/>
          <a:p>
            <a:endParaRPr lang="en-CA"/>
          </a:p>
        </p:txBody>
      </p:sp>
      <p:sp>
        <p:nvSpPr>
          <p:cNvPr id="20" name="Shape 18"/>
          <p:cNvSpPr/>
          <p:nvPr/>
        </p:nvSpPr>
        <p:spPr>
          <a:xfrm>
            <a:off x="1965162" y="1346092"/>
            <a:ext cx="768096" cy="219456"/>
          </a:xfrm>
          <a:prstGeom prst="roundRect">
            <a:avLst>
              <a:gd name="adj" fmla="val 20833"/>
            </a:avLst>
          </a:prstGeom>
          <a:solidFill>
            <a:srgbClr val="F0F0F0"/>
          </a:solidFill>
          <a:ln w="6350">
            <a:solidFill>
              <a:srgbClr val="E0E0E0"/>
            </a:solidFill>
            <a:prstDash val="solid"/>
          </a:ln>
        </p:spPr>
        <p:txBody>
          <a:bodyPr/>
          <a:lstStyle/>
          <a:p>
            <a:endParaRPr lang="en-CA"/>
          </a:p>
        </p:txBody>
      </p:sp>
      <p:sp>
        <p:nvSpPr>
          <p:cNvPr id="21" name="Text 19"/>
          <p:cNvSpPr/>
          <p:nvPr/>
        </p:nvSpPr>
        <p:spPr>
          <a:xfrm>
            <a:off x="1965162" y="1346092"/>
            <a:ext cx="768096"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Préparation</a:t>
            </a:r>
            <a:endParaRPr lang="en-US" sz="750" dirty="0"/>
          </a:p>
        </p:txBody>
      </p:sp>
      <p:sp>
        <p:nvSpPr>
          <p:cNvPr id="22" name="Shape 20"/>
          <p:cNvSpPr/>
          <p:nvPr/>
        </p:nvSpPr>
        <p:spPr>
          <a:xfrm>
            <a:off x="1699986" y="1656988"/>
            <a:ext cx="1298448" cy="0"/>
          </a:xfrm>
          <a:prstGeom prst="line">
            <a:avLst/>
          </a:prstGeom>
          <a:noFill/>
          <a:ln w="7620">
            <a:solidFill>
              <a:srgbClr val="EEEEEE"/>
            </a:solidFill>
            <a:prstDash val="solid"/>
          </a:ln>
        </p:spPr>
        <p:txBody>
          <a:bodyPr/>
          <a:lstStyle/>
          <a:p>
            <a:endParaRPr lang="en-CA"/>
          </a:p>
        </p:txBody>
      </p:sp>
      <p:sp>
        <p:nvSpPr>
          <p:cNvPr id="23" name="Text 21"/>
          <p:cNvSpPr/>
          <p:nvPr/>
        </p:nvSpPr>
        <p:spPr>
          <a:xfrm>
            <a:off x="1699986" y="1748428"/>
            <a:ext cx="1244544" cy="274320"/>
          </a:xfrm>
          <a:prstGeom prst="rect">
            <a:avLst/>
          </a:prstGeom>
          <a:noFill/>
          <a:ln/>
        </p:spPr>
        <p:txBody>
          <a:bodyPr wrap="square" lIns="0" tIns="0" rIns="0" bIns="0" rtlCol="0" anchor="ctr"/>
          <a:lstStyle/>
          <a:p>
            <a:pPr marL="0" indent="0" algn="ctr">
              <a:buNone/>
            </a:pPr>
            <a:r>
              <a:rPr lang="en-US" sz="900" b="1" dirty="0">
                <a:solidFill>
                  <a:srgbClr val="0A0A0A"/>
                </a:solidFill>
                <a:latin typeface="Courier New" pitchFamily="34" charset="0"/>
                <a:ea typeface="Courier New" pitchFamily="34" charset="-122"/>
                <a:cs typeface="Courier New" pitchFamily="34" charset="-120"/>
              </a:rPr>
              <a:t>data_*.py</a:t>
            </a:r>
            <a:endParaRPr lang="en-US" sz="900" dirty="0"/>
          </a:p>
        </p:txBody>
      </p:sp>
      <p:sp>
        <p:nvSpPr>
          <p:cNvPr id="24" name="Text 22"/>
          <p:cNvSpPr/>
          <p:nvPr/>
        </p:nvSpPr>
        <p:spPr>
          <a:xfrm>
            <a:off x="1686668" y="2184092"/>
            <a:ext cx="1212583" cy="469392"/>
          </a:xfrm>
          <a:prstGeom prst="rect">
            <a:avLst/>
          </a:prstGeom>
          <a:noFill/>
          <a:ln/>
        </p:spPr>
        <p:txBody>
          <a:bodyPr wrap="square" lIns="0" tIns="0" rIns="0" bIns="0" rtlCol="0" anchor="t"/>
          <a:lstStyle/>
          <a:p>
            <a:pPr marL="0" indent="0" algn="ctr">
              <a:lnSpc>
                <a:spcPct val="130000"/>
              </a:lnSpc>
              <a:buNone/>
            </a:pPr>
            <a:r>
              <a:rPr lang="fr-FR" sz="700" b="1" dirty="0">
                <a:solidFill>
                  <a:srgbClr val="CFB260"/>
                </a:solidFill>
                <a:latin typeface="Courier New" pitchFamily="34" charset="0"/>
                <a:ea typeface="Courier New" pitchFamily="34" charset="-122"/>
                <a:cs typeface="Courier New" pitchFamily="34" charset="-120"/>
              </a:rPr>
              <a:t>sources : CSV de data/results/ selon la cible</a:t>
            </a:r>
            <a:endParaRPr lang="en-US" sz="700" dirty="0">
              <a:solidFill>
                <a:srgbClr val="CFB260"/>
              </a:solidFill>
            </a:endParaRPr>
          </a:p>
        </p:txBody>
      </p:sp>
      <p:sp>
        <p:nvSpPr>
          <p:cNvPr id="26" name="Text 24"/>
          <p:cNvSpPr/>
          <p:nvPr/>
        </p:nvSpPr>
        <p:spPr>
          <a:xfrm>
            <a:off x="1693763" y="2936785"/>
            <a:ext cx="1250767" cy="923544"/>
          </a:xfrm>
          <a:prstGeom prst="rect">
            <a:avLst/>
          </a:prstGeom>
          <a:noFill/>
          <a:ln/>
        </p:spPr>
        <p:txBody>
          <a:bodyPr wrap="square" lIns="0" tIns="0" rIns="0" bIns="0" rtlCol="0" anchor="t"/>
          <a:lstStyle/>
          <a:p>
            <a:pPr marL="0" indent="0" algn="ctr">
              <a:lnSpc>
                <a:spcPct val="145000"/>
              </a:lnSpc>
              <a:buNone/>
            </a:pPr>
            <a:r>
              <a:rPr lang="fr-FR" sz="800" dirty="0">
                <a:solidFill>
                  <a:srgbClr val="555555"/>
                </a:solidFill>
                <a:latin typeface="Calibri" pitchFamily="34" charset="0"/>
                <a:ea typeface="Calibri" pitchFamily="34" charset="-122"/>
                <a:cs typeface="Calibri" pitchFamily="34" charset="-120"/>
              </a:rPr>
              <a:t>Lit et normalise les CSV de data/results/</a:t>
            </a:r>
            <a:endParaRPr lang="en-US" sz="800" dirty="0"/>
          </a:p>
        </p:txBody>
      </p:sp>
      <p:sp>
        <p:nvSpPr>
          <p:cNvPr id="27" name="Text 25"/>
          <p:cNvSpPr/>
          <p:nvPr/>
        </p:nvSpPr>
        <p:spPr>
          <a:xfrm>
            <a:off x="2962653" y="2341065"/>
            <a:ext cx="219456" cy="329184"/>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3204372" y="1161157"/>
            <a:ext cx="1344168" cy="2775204"/>
          </a:xfrm>
          <a:prstGeom prst="roundRect">
            <a:avLst>
              <a:gd name="adj" fmla="val 6173"/>
            </a:avLst>
          </a:prstGeom>
          <a:solidFill>
            <a:srgbClr val="FAFAFA"/>
          </a:solidFill>
          <a:ln w="8890">
            <a:solidFill>
              <a:srgbClr val="E8E8E8"/>
            </a:solidFill>
            <a:prstDash val="solid"/>
          </a:ln>
        </p:spPr>
        <p:txBody>
          <a:bodyPr/>
          <a:lstStyle/>
          <a:p>
            <a:endParaRPr lang="en-CA"/>
          </a:p>
        </p:txBody>
      </p:sp>
      <p:sp>
        <p:nvSpPr>
          <p:cNvPr id="29" name="Shape 27"/>
          <p:cNvSpPr/>
          <p:nvPr/>
        </p:nvSpPr>
        <p:spPr>
          <a:xfrm>
            <a:off x="3204372" y="1151585"/>
            <a:ext cx="1335350" cy="68512"/>
          </a:xfrm>
          <a:prstGeom prst="rect">
            <a:avLst/>
          </a:prstGeom>
          <a:solidFill>
            <a:srgbClr val="888888"/>
          </a:solidFill>
          <a:ln w="12700">
            <a:solidFill>
              <a:srgbClr val="888888"/>
            </a:solidFill>
            <a:prstDash val="solid"/>
          </a:ln>
        </p:spPr>
        <p:txBody>
          <a:bodyPr/>
          <a:lstStyle/>
          <a:p>
            <a:endParaRPr lang="en-CA"/>
          </a:p>
        </p:txBody>
      </p:sp>
      <p:sp>
        <p:nvSpPr>
          <p:cNvPr id="31" name="Shape 29"/>
          <p:cNvSpPr/>
          <p:nvPr/>
        </p:nvSpPr>
        <p:spPr>
          <a:xfrm>
            <a:off x="3515268" y="1379721"/>
            <a:ext cx="768096" cy="219456"/>
          </a:xfrm>
          <a:prstGeom prst="roundRect">
            <a:avLst>
              <a:gd name="adj" fmla="val 20833"/>
            </a:avLst>
          </a:prstGeom>
          <a:solidFill>
            <a:srgbClr val="F0F0F0"/>
          </a:solidFill>
          <a:ln w="6350">
            <a:solidFill>
              <a:srgbClr val="E0E0E0"/>
            </a:solidFill>
            <a:prstDash val="solid"/>
          </a:ln>
        </p:spPr>
        <p:txBody>
          <a:bodyPr/>
          <a:lstStyle/>
          <a:p>
            <a:endParaRPr lang="en-CA"/>
          </a:p>
        </p:txBody>
      </p:sp>
      <p:sp>
        <p:nvSpPr>
          <p:cNvPr id="32" name="Text 30"/>
          <p:cNvSpPr/>
          <p:nvPr/>
        </p:nvSpPr>
        <p:spPr>
          <a:xfrm>
            <a:off x="3515268" y="1379721"/>
            <a:ext cx="768096"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Construction</a:t>
            </a:r>
            <a:endParaRPr lang="en-US" sz="750" dirty="0"/>
          </a:p>
        </p:txBody>
      </p:sp>
      <p:sp>
        <p:nvSpPr>
          <p:cNvPr id="33" name="Shape 31"/>
          <p:cNvSpPr/>
          <p:nvPr/>
        </p:nvSpPr>
        <p:spPr>
          <a:xfrm>
            <a:off x="3250092" y="1690617"/>
            <a:ext cx="1298448" cy="0"/>
          </a:xfrm>
          <a:prstGeom prst="line">
            <a:avLst/>
          </a:prstGeom>
          <a:noFill/>
          <a:ln w="7620">
            <a:solidFill>
              <a:srgbClr val="EEEEEE"/>
            </a:solidFill>
            <a:prstDash val="solid"/>
          </a:ln>
        </p:spPr>
        <p:txBody>
          <a:bodyPr/>
          <a:lstStyle/>
          <a:p>
            <a:endParaRPr lang="en-CA"/>
          </a:p>
        </p:txBody>
      </p:sp>
      <p:sp>
        <p:nvSpPr>
          <p:cNvPr id="34" name="Text 32"/>
          <p:cNvSpPr/>
          <p:nvPr/>
        </p:nvSpPr>
        <p:spPr>
          <a:xfrm>
            <a:off x="3250092" y="1782057"/>
            <a:ext cx="1298448" cy="274320"/>
          </a:xfrm>
          <a:prstGeom prst="rect">
            <a:avLst/>
          </a:prstGeom>
          <a:noFill/>
          <a:ln/>
        </p:spPr>
        <p:txBody>
          <a:bodyPr wrap="square" lIns="0" tIns="0" rIns="0" bIns="0" rtlCol="0" anchor="ctr"/>
          <a:lstStyle/>
          <a:p>
            <a:pPr marL="0" indent="0" algn="ctr">
              <a:buNone/>
            </a:pPr>
            <a:r>
              <a:rPr lang="en-US" sz="900" b="1" dirty="0">
                <a:solidFill>
                  <a:srgbClr val="0A0A0A"/>
                </a:solidFill>
                <a:latin typeface="Courier New" pitchFamily="34" charset="0"/>
                <a:ea typeface="Courier New" pitchFamily="34" charset="-122"/>
                <a:cs typeface="Courier New" pitchFamily="34" charset="-120"/>
              </a:rPr>
              <a:t>build_*.py</a:t>
            </a:r>
            <a:endParaRPr lang="en-US" sz="900" dirty="0"/>
          </a:p>
        </p:txBody>
      </p:sp>
      <p:sp>
        <p:nvSpPr>
          <p:cNvPr id="35" name="Text 33"/>
          <p:cNvSpPr/>
          <p:nvPr/>
        </p:nvSpPr>
        <p:spPr>
          <a:xfrm>
            <a:off x="3375134" y="2156392"/>
            <a:ext cx="1058387" cy="497589"/>
          </a:xfrm>
          <a:prstGeom prst="rect">
            <a:avLst/>
          </a:prstGeom>
          <a:noFill/>
          <a:ln/>
        </p:spPr>
        <p:txBody>
          <a:bodyPr wrap="square" lIns="0" tIns="0" rIns="0" bIns="0" rtlCol="0" anchor="t"/>
          <a:lstStyle/>
          <a:p>
            <a:pPr marL="0" indent="0" algn="ctr">
              <a:lnSpc>
                <a:spcPct val="130000"/>
              </a:lnSpc>
              <a:buNone/>
            </a:pPr>
            <a:r>
              <a:rPr lang="en-US" sz="700" b="1" dirty="0">
                <a:solidFill>
                  <a:srgbClr val="CFB260"/>
                </a:solidFill>
                <a:latin typeface="Courier New" pitchFamily="34" charset="0"/>
                <a:ea typeface="Courier New" pitchFamily="34" charset="-122"/>
                <a:cs typeface="Courier New" pitchFamily="34" charset="-120"/>
              </a:rPr>
              <a:t>débit </a:t>
            </a:r>
          </a:p>
          <a:p>
            <a:pPr marL="0" indent="0" algn="ctr">
              <a:lnSpc>
                <a:spcPct val="130000"/>
              </a:lnSpc>
              <a:buNone/>
            </a:pPr>
            <a:r>
              <a:rPr lang="en-US" sz="700" b="1" dirty="0">
                <a:solidFill>
                  <a:srgbClr val="CFB260"/>
                </a:solidFill>
                <a:latin typeface="Courier New" pitchFamily="34" charset="0"/>
                <a:ea typeface="Courier New" pitchFamily="34" charset="-122"/>
                <a:cs typeface="Courier New" pitchFamily="34" charset="-120"/>
              </a:rPr>
              <a:t> comparaison  </a:t>
            </a:r>
          </a:p>
          <a:p>
            <a:pPr marL="0" indent="0" algn="ctr">
              <a:lnSpc>
                <a:spcPct val="130000"/>
              </a:lnSpc>
              <a:buNone/>
            </a:pPr>
            <a:r>
              <a:rPr lang="en-US" sz="700" b="1" dirty="0">
                <a:solidFill>
                  <a:srgbClr val="CFB260"/>
                </a:solidFill>
                <a:latin typeface="Courier New" pitchFamily="34" charset="0"/>
                <a:ea typeface="Courier New" pitchFamily="34" charset="-122"/>
                <a:cs typeface="Courier New" pitchFamily="34" charset="-120"/>
              </a:rPr>
              <a:t>modes</a:t>
            </a:r>
            <a:endParaRPr lang="en-US" sz="700" dirty="0">
              <a:solidFill>
                <a:srgbClr val="CFB260"/>
              </a:solidFill>
            </a:endParaRPr>
          </a:p>
        </p:txBody>
      </p:sp>
      <p:sp>
        <p:nvSpPr>
          <p:cNvPr id="37" name="Text 35"/>
          <p:cNvSpPr/>
          <p:nvPr/>
        </p:nvSpPr>
        <p:spPr>
          <a:xfrm>
            <a:off x="3250092" y="2936785"/>
            <a:ext cx="1270753" cy="856952"/>
          </a:xfrm>
          <a:prstGeom prst="rect">
            <a:avLst/>
          </a:prstGeom>
          <a:noFill/>
          <a:ln/>
        </p:spPr>
        <p:txBody>
          <a:bodyPr wrap="square" lIns="0" tIns="0" rIns="0" bIns="0" rtlCol="0" anchor="t"/>
          <a:lstStyle/>
          <a:p>
            <a:pPr marL="0" indent="0" algn="ctr">
              <a:lnSpc>
                <a:spcPct val="145000"/>
              </a:lnSpc>
              <a:buNone/>
            </a:pPr>
            <a:r>
              <a:rPr lang="fr-FR" sz="800" dirty="0">
                <a:solidFill>
                  <a:srgbClr val="555555"/>
                </a:solidFill>
                <a:latin typeface="Calibri" pitchFamily="34" charset="0"/>
                <a:ea typeface="Calibri" pitchFamily="34" charset="-122"/>
                <a:cs typeface="Calibri" pitchFamily="34" charset="-120"/>
              </a:rPr>
              <a:t>Génère les figures à partir des données préparées</a:t>
            </a:r>
            <a:endParaRPr lang="en-US" sz="800" dirty="0"/>
          </a:p>
        </p:txBody>
      </p:sp>
      <p:sp>
        <p:nvSpPr>
          <p:cNvPr id="38" name="Text 36"/>
          <p:cNvSpPr/>
          <p:nvPr/>
        </p:nvSpPr>
        <p:spPr>
          <a:xfrm>
            <a:off x="4539722" y="2339273"/>
            <a:ext cx="219456" cy="329184"/>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39" name="Shape 37"/>
          <p:cNvSpPr/>
          <p:nvPr/>
        </p:nvSpPr>
        <p:spPr>
          <a:xfrm>
            <a:off x="4732748" y="1177226"/>
            <a:ext cx="1298448" cy="2775204"/>
          </a:xfrm>
          <a:prstGeom prst="roundRect">
            <a:avLst>
              <a:gd name="adj" fmla="val 6173"/>
            </a:avLst>
          </a:prstGeom>
          <a:solidFill>
            <a:srgbClr val="FAFAFA"/>
          </a:solidFill>
          <a:ln w="8890">
            <a:solidFill>
              <a:srgbClr val="FAFAFA"/>
            </a:solidFill>
            <a:prstDash val="solid"/>
          </a:ln>
        </p:spPr>
        <p:txBody>
          <a:bodyPr/>
          <a:lstStyle/>
          <a:p>
            <a:endParaRPr lang="en-CA"/>
          </a:p>
        </p:txBody>
      </p:sp>
      <p:sp>
        <p:nvSpPr>
          <p:cNvPr id="40" name="Shape 38"/>
          <p:cNvSpPr/>
          <p:nvPr/>
        </p:nvSpPr>
        <p:spPr>
          <a:xfrm>
            <a:off x="4732748" y="1151585"/>
            <a:ext cx="1298448" cy="68743"/>
          </a:xfrm>
          <a:prstGeom prst="rect">
            <a:avLst/>
          </a:prstGeom>
          <a:solidFill>
            <a:srgbClr val="888888"/>
          </a:solidFill>
          <a:ln w="12700">
            <a:solidFill>
              <a:srgbClr val="888888"/>
            </a:solidFill>
            <a:prstDash val="solid"/>
          </a:ln>
        </p:spPr>
        <p:txBody>
          <a:bodyPr/>
          <a:lstStyle/>
          <a:p>
            <a:endParaRPr lang="en-CA"/>
          </a:p>
        </p:txBody>
      </p:sp>
      <p:sp>
        <p:nvSpPr>
          <p:cNvPr id="42" name="Shape 40"/>
          <p:cNvSpPr/>
          <p:nvPr/>
        </p:nvSpPr>
        <p:spPr>
          <a:xfrm>
            <a:off x="4997924" y="1348146"/>
            <a:ext cx="768096" cy="219456"/>
          </a:xfrm>
          <a:prstGeom prst="roundRect">
            <a:avLst>
              <a:gd name="adj" fmla="val 20833"/>
            </a:avLst>
          </a:prstGeom>
          <a:solidFill>
            <a:srgbClr val="F0F0F0"/>
          </a:solidFill>
          <a:ln w="6350">
            <a:solidFill>
              <a:srgbClr val="E0E0E0"/>
            </a:solidFill>
            <a:prstDash val="solid"/>
          </a:ln>
        </p:spPr>
        <p:txBody>
          <a:bodyPr/>
          <a:lstStyle/>
          <a:p>
            <a:endParaRPr lang="en-CA" dirty="0"/>
          </a:p>
        </p:txBody>
      </p:sp>
      <p:sp>
        <p:nvSpPr>
          <p:cNvPr id="43" name="Text 41"/>
          <p:cNvSpPr/>
          <p:nvPr/>
        </p:nvSpPr>
        <p:spPr>
          <a:xfrm>
            <a:off x="4997924" y="1355534"/>
            <a:ext cx="768096"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Style</a:t>
            </a:r>
            <a:endParaRPr lang="en-US" sz="750" dirty="0">
              <a:solidFill>
                <a:srgbClr val="888888"/>
              </a:solidFill>
            </a:endParaRPr>
          </a:p>
        </p:txBody>
      </p:sp>
      <p:sp>
        <p:nvSpPr>
          <p:cNvPr id="45" name="Text 43"/>
          <p:cNvSpPr/>
          <p:nvPr/>
        </p:nvSpPr>
        <p:spPr>
          <a:xfrm>
            <a:off x="4732748" y="1757870"/>
            <a:ext cx="1298448" cy="274320"/>
          </a:xfrm>
          <a:prstGeom prst="rect">
            <a:avLst/>
          </a:prstGeom>
          <a:noFill/>
          <a:ln/>
        </p:spPr>
        <p:txBody>
          <a:bodyPr wrap="square" lIns="0" tIns="0" rIns="0" bIns="0" rtlCol="0" anchor="ctr"/>
          <a:lstStyle/>
          <a:p>
            <a:pPr marL="0" indent="0" algn="ctr">
              <a:buNone/>
            </a:pPr>
            <a:r>
              <a:rPr lang="en-US" sz="900" b="1" dirty="0">
                <a:latin typeface="Courier New" pitchFamily="34" charset="0"/>
                <a:ea typeface="Courier New" pitchFamily="34" charset="-122"/>
                <a:cs typeface="Courier New" pitchFamily="34" charset="-120"/>
              </a:rPr>
              <a:t>style_charts.py</a:t>
            </a:r>
            <a:endParaRPr lang="en-US" sz="900" dirty="0"/>
          </a:p>
        </p:txBody>
      </p:sp>
      <p:sp>
        <p:nvSpPr>
          <p:cNvPr id="46" name="Text 44"/>
          <p:cNvSpPr/>
          <p:nvPr/>
        </p:nvSpPr>
        <p:spPr>
          <a:xfrm>
            <a:off x="4835997" y="2141124"/>
            <a:ext cx="1147573" cy="512858"/>
          </a:xfrm>
          <a:prstGeom prst="rect">
            <a:avLst/>
          </a:prstGeom>
          <a:noFill/>
          <a:ln/>
        </p:spPr>
        <p:txBody>
          <a:bodyPr wrap="square" lIns="0" tIns="0" rIns="0" bIns="0" rtlCol="0" anchor="t"/>
          <a:lstStyle/>
          <a:p>
            <a:pPr marL="0" indent="0" algn="ctr">
              <a:lnSpc>
                <a:spcPct val="130000"/>
              </a:lnSpc>
              <a:buNone/>
            </a:pPr>
            <a:r>
              <a:rPr lang="fr-FR" sz="700" b="1" dirty="0">
                <a:solidFill>
                  <a:srgbClr val="CFB260"/>
                </a:solidFill>
                <a:latin typeface="Courier New" pitchFamily="34" charset="0"/>
                <a:ea typeface="Courier New" pitchFamily="34" charset="-122"/>
                <a:cs typeface="Courier New" pitchFamily="34" charset="-120"/>
              </a:rPr>
              <a:t>Palette</a:t>
            </a:r>
          </a:p>
          <a:p>
            <a:pPr marL="0" indent="0" algn="ctr">
              <a:lnSpc>
                <a:spcPct val="130000"/>
              </a:lnSpc>
              <a:buNone/>
            </a:pPr>
            <a:r>
              <a:rPr lang="fr-FR" sz="700" b="1" dirty="0">
                <a:solidFill>
                  <a:srgbClr val="CFB260"/>
                </a:solidFill>
                <a:latin typeface="Courier New" pitchFamily="34" charset="0"/>
                <a:ea typeface="Courier New" pitchFamily="34" charset="-122"/>
                <a:cs typeface="Courier New" pitchFamily="34" charset="-120"/>
              </a:rPr>
              <a:t>mise en page</a:t>
            </a:r>
          </a:p>
          <a:p>
            <a:pPr marL="0" indent="0" algn="ctr">
              <a:lnSpc>
                <a:spcPct val="130000"/>
              </a:lnSpc>
              <a:buNone/>
            </a:pPr>
            <a:r>
              <a:rPr lang="fr-FR" sz="700" b="1" dirty="0">
                <a:solidFill>
                  <a:srgbClr val="CFB260"/>
                </a:solidFill>
                <a:latin typeface="Courier New" pitchFamily="34" charset="0"/>
                <a:ea typeface="Courier New" pitchFamily="34" charset="-122"/>
                <a:cs typeface="Courier New" pitchFamily="34" charset="-120"/>
              </a:rPr>
              <a:t>typographie</a:t>
            </a:r>
          </a:p>
        </p:txBody>
      </p:sp>
      <p:sp>
        <p:nvSpPr>
          <p:cNvPr id="48" name="Text 46"/>
          <p:cNvSpPr/>
          <p:nvPr/>
        </p:nvSpPr>
        <p:spPr>
          <a:xfrm>
            <a:off x="4824188" y="2912598"/>
            <a:ext cx="1147573" cy="856952"/>
          </a:xfrm>
          <a:prstGeom prst="rect">
            <a:avLst/>
          </a:prstGeom>
          <a:noFill/>
          <a:ln/>
        </p:spPr>
        <p:txBody>
          <a:bodyPr wrap="square" lIns="0" tIns="0" rIns="0" bIns="0" rtlCol="0" anchor="t"/>
          <a:lstStyle/>
          <a:p>
            <a:pPr marL="0" indent="0" algn="ctr">
              <a:lnSpc>
                <a:spcPct val="145000"/>
              </a:lnSpc>
              <a:buNone/>
            </a:pPr>
            <a:r>
              <a:rPr lang="fr-FR" sz="800" dirty="0">
                <a:solidFill>
                  <a:srgbClr val="555555"/>
                </a:solidFill>
                <a:latin typeface="Calibri" pitchFamily="34" charset="0"/>
                <a:ea typeface="Calibri" pitchFamily="34" charset="-122"/>
                <a:cs typeface="Calibri" pitchFamily="34" charset="-120"/>
              </a:rPr>
              <a:t>Applique le style visuel commun</a:t>
            </a:r>
            <a:endParaRPr lang="en-US" sz="800" dirty="0">
              <a:solidFill>
                <a:srgbClr val="555555"/>
              </a:solidFill>
            </a:endParaRPr>
          </a:p>
        </p:txBody>
      </p:sp>
      <p:sp>
        <p:nvSpPr>
          <p:cNvPr id="49" name="Text 47"/>
          <p:cNvSpPr/>
          <p:nvPr/>
        </p:nvSpPr>
        <p:spPr>
          <a:xfrm>
            <a:off x="6031196" y="2324798"/>
            <a:ext cx="219456" cy="329184"/>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50" name="Shape 48"/>
          <p:cNvSpPr/>
          <p:nvPr/>
        </p:nvSpPr>
        <p:spPr>
          <a:xfrm>
            <a:off x="7773025" y="1167783"/>
            <a:ext cx="1173585" cy="2791103"/>
          </a:xfrm>
          <a:prstGeom prst="roundRect">
            <a:avLst>
              <a:gd name="adj" fmla="val 6173"/>
            </a:avLst>
          </a:prstGeom>
          <a:solidFill>
            <a:srgbClr val="FAFAFA"/>
          </a:solidFill>
          <a:ln w="12700">
            <a:solidFill>
              <a:srgbClr val="0A0A0A"/>
            </a:solidFill>
            <a:prstDash val="solid"/>
          </a:ln>
        </p:spPr>
        <p:txBody>
          <a:bodyPr/>
          <a:lstStyle/>
          <a:p>
            <a:endParaRPr lang="en-CA" dirty="0"/>
          </a:p>
        </p:txBody>
      </p:sp>
      <p:sp>
        <p:nvSpPr>
          <p:cNvPr id="51" name="Shape 49"/>
          <p:cNvSpPr/>
          <p:nvPr/>
        </p:nvSpPr>
        <p:spPr>
          <a:xfrm>
            <a:off x="7773024" y="1150954"/>
            <a:ext cx="1173586" cy="75831"/>
          </a:xfrm>
          <a:prstGeom prst="rect">
            <a:avLst/>
          </a:prstGeom>
          <a:solidFill>
            <a:srgbClr val="0A0A0A"/>
          </a:solidFill>
          <a:ln w="12700">
            <a:solidFill>
              <a:srgbClr val="0A0A0A"/>
            </a:solidFill>
            <a:prstDash val="solid"/>
          </a:ln>
        </p:spPr>
        <p:txBody>
          <a:bodyPr/>
          <a:lstStyle/>
          <a:p>
            <a:endParaRPr lang="en-CA"/>
          </a:p>
        </p:txBody>
      </p:sp>
      <p:sp>
        <p:nvSpPr>
          <p:cNvPr id="53" name="Shape 51"/>
          <p:cNvSpPr/>
          <p:nvPr/>
        </p:nvSpPr>
        <p:spPr>
          <a:xfrm>
            <a:off x="7972773" y="1366600"/>
            <a:ext cx="768096" cy="219456"/>
          </a:xfrm>
          <a:prstGeom prst="roundRect">
            <a:avLst>
              <a:gd name="adj" fmla="val 20833"/>
            </a:avLst>
          </a:prstGeom>
          <a:solidFill>
            <a:srgbClr val="1A1A1A"/>
          </a:solidFill>
          <a:ln w="6350">
            <a:solidFill>
              <a:srgbClr val="333333"/>
            </a:solidFill>
            <a:prstDash val="solid"/>
          </a:ln>
        </p:spPr>
        <p:txBody>
          <a:bodyPr/>
          <a:lstStyle/>
          <a:p>
            <a:endParaRPr lang="en-CA"/>
          </a:p>
        </p:txBody>
      </p:sp>
      <p:sp>
        <p:nvSpPr>
          <p:cNvPr id="54" name="Text 52"/>
          <p:cNvSpPr/>
          <p:nvPr/>
        </p:nvSpPr>
        <p:spPr>
          <a:xfrm>
            <a:off x="7972773" y="1366600"/>
            <a:ext cx="768096" cy="219456"/>
          </a:xfrm>
          <a:prstGeom prst="rect">
            <a:avLst/>
          </a:prstGeom>
          <a:noFill/>
          <a:ln/>
        </p:spPr>
        <p:txBody>
          <a:bodyPr wrap="square" lIns="0" tIns="0" rIns="0" bIns="0" rtlCol="0" anchor="ctr"/>
          <a:lstStyle/>
          <a:p>
            <a:pPr marL="0" indent="0" algn="ctr">
              <a:buNone/>
            </a:pPr>
            <a:r>
              <a:rPr lang="en-US" sz="750" b="1" dirty="0">
                <a:solidFill>
                  <a:srgbClr val="C9A84C"/>
                </a:solidFill>
                <a:latin typeface="Calibri" pitchFamily="34" charset="0"/>
                <a:ea typeface="Calibri" pitchFamily="34" charset="-122"/>
                <a:cs typeface="Calibri" pitchFamily="34" charset="-120"/>
              </a:rPr>
              <a:t>Export</a:t>
            </a:r>
            <a:endParaRPr lang="en-US" sz="750" dirty="0"/>
          </a:p>
        </p:txBody>
      </p:sp>
      <p:sp>
        <p:nvSpPr>
          <p:cNvPr id="56" name="Text 54"/>
          <p:cNvSpPr/>
          <p:nvPr/>
        </p:nvSpPr>
        <p:spPr>
          <a:xfrm>
            <a:off x="7798243" y="1702974"/>
            <a:ext cx="1148366" cy="274320"/>
          </a:xfrm>
          <a:prstGeom prst="rect">
            <a:avLst/>
          </a:prstGeom>
          <a:noFill/>
          <a:ln/>
        </p:spPr>
        <p:txBody>
          <a:bodyPr wrap="square" lIns="0" tIns="0" rIns="0" bIns="0" rtlCol="0" anchor="ctr"/>
          <a:lstStyle/>
          <a:p>
            <a:pPr marL="0" indent="0" algn="ctr">
              <a:buNone/>
            </a:pPr>
            <a:r>
              <a:rPr lang="en-US" sz="900" b="1" dirty="0">
                <a:latin typeface="Courier New" pitchFamily="34" charset="0"/>
                <a:ea typeface="Courier New" pitchFamily="34" charset="-122"/>
                <a:cs typeface="Courier New" pitchFamily="34" charset="-120"/>
              </a:rPr>
              <a:t>data/charts/</a:t>
            </a:r>
            <a:endParaRPr lang="en-US" sz="900" dirty="0"/>
          </a:p>
        </p:txBody>
      </p:sp>
      <p:sp>
        <p:nvSpPr>
          <p:cNvPr id="57" name="Text 55"/>
          <p:cNvSpPr/>
          <p:nvPr/>
        </p:nvSpPr>
        <p:spPr>
          <a:xfrm>
            <a:off x="7773024" y="2071073"/>
            <a:ext cx="1137494" cy="593928"/>
          </a:xfrm>
          <a:prstGeom prst="rect">
            <a:avLst/>
          </a:prstGeom>
          <a:noFill/>
          <a:ln/>
        </p:spPr>
        <p:txBody>
          <a:bodyPr wrap="square" lIns="0" tIns="0" rIns="0" bIns="0" rtlCol="0" anchor="t"/>
          <a:lstStyle/>
          <a:p>
            <a:pPr marL="0" indent="0" algn="ctr">
              <a:lnSpc>
                <a:spcPct val="130000"/>
              </a:lnSpc>
              <a:buNone/>
            </a:pPr>
            <a:r>
              <a:rPr lang="en-US" sz="700" b="1" dirty="0">
                <a:solidFill>
                  <a:srgbClr val="CFB260"/>
                </a:solidFill>
                <a:latin typeface="Courier New" pitchFamily="34" charset="0"/>
                <a:ea typeface="Courier New" pitchFamily="34" charset="-122"/>
                <a:cs typeface="Courier New" pitchFamily="34" charset="-120"/>
              </a:rPr>
              <a:t>01-debit</a:t>
            </a:r>
          </a:p>
          <a:p>
            <a:pPr marL="0" indent="0" algn="ctr">
              <a:lnSpc>
                <a:spcPct val="130000"/>
              </a:lnSpc>
              <a:buNone/>
            </a:pPr>
            <a:r>
              <a:rPr lang="en-US" sz="700" b="1" dirty="0">
                <a:solidFill>
                  <a:srgbClr val="CFB260"/>
                </a:solidFill>
                <a:latin typeface="Courier New" pitchFamily="34" charset="0"/>
                <a:ea typeface="Courier New" pitchFamily="34" charset="-122"/>
                <a:cs typeface="Courier New" pitchFamily="34" charset="-120"/>
              </a:rPr>
              <a:t>02-effet-avalanche</a:t>
            </a:r>
          </a:p>
          <a:p>
            <a:pPr marL="0" indent="0" algn="ctr">
              <a:lnSpc>
                <a:spcPct val="130000"/>
              </a:lnSpc>
              <a:buNone/>
            </a:pPr>
            <a:r>
              <a:rPr lang="en-US" sz="700" b="1" dirty="0">
                <a:solidFill>
                  <a:srgbClr val="CFB260"/>
                </a:solidFill>
                <a:latin typeface="Courier New" pitchFamily="34" charset="0"/>
                <a:ea typeface="Courier New" pitchFamily="34" charset="-122"/>
                <a:cs typeface="Courier New" pitchFamily="34" charset="-120"/>
              </a:rPr>
              <a:t>03-modes-chiffrement </a:t>
            </a:r>
          </a:p>
          <a:p>
            <a:pPr marL="0" indent="0" algn="ctr">
              <a:lnSpc>
                <a:spcPct val="130000"/>
              </a:lnSpc>
              <a:buNone/>
            </a:pPr>
            <a:r>
              <a:rPr lang="en-US" sz="700" b="1" dirty="0">
                <a:solidFill>
                  <a:srgbClr val="CFB260"/>
                </a:solidFill>
                <a:latin typeface="Courier New" pitchFamily="34" charset="0"/>
                <a:ea typeface="Courier New" pitchFamily="34" charset="-122"/>
                <a:cs typeface="Courier New" pitchFamily="34" charset="-120"/>
              </a:rPr>
              <a:t>04-synthèse</a:t>
            </a:r>
          </a:p>
        </p:txBody>
      </p:sp>
      <p:sp>
        <p:nvSpPr>
          <p:cNvPr id="59" name="Text 57"/>
          <p:cNvSpPr/>
          <p:nvPr/>
        </p:nvSpPr>
        <p:spPr>
          <a:xfrm>
            <a:off x="7931226" y="2868103"/>
            <a:ext cx="906051" cy="800497"/>
          </a:xfrm>
          <a:prstGeom prst="rect">
            <a:avLst/>
          </a:prstGeom>
          <a:noFill/>
          <a:ln/>
        </p:spPr>
        <p:txBody>
          <a:bodyPr wrap="square" lIns="0" tIns="0" rIns="0" bIns="0" rtlCol="0" anchor="t"/>
          <a:lstStyle/>
          <a:p>
            <a:pPr marL="0" indent="0">
              <a:lnSpc>
                <a:spcPct val="145000"/>
              </a:lnSpc>
              <a:buNone/>
            </a:pPr>
            <a:r>
              <a:rPr lang="fr-FR" sz="800" dirty="0">
                <a:solidFill>
                  <a:srgbClr val="555555"/>
                </a:solidFill>
                <a:latin typeface="Calibri" pitchFamily="34" charset="0"/>
                <a:ea typeface="Calibri" pitchFamily="34" charset="-122"/>
                <a:cs typeface="Calibri" pitchFamily="34" charset="-120"/>
              </a:rPr>
              <a:t>Écrit les figures dans data/charts/&lt;cible&gt;/</a:t>
            </a:r>
            <a:endParaRPr lang="en-US" sz="800" dirty="0">
              <a:solidFill>
                <a:srgbClr val="555555"/>
              </a:solidFill>
            </a:endParaRPr>
          </a:p>
        </p:txBody>
      </p:sp>
      <p:sp>
        <p:nvSpPr>
          <p:cNvPr id="60" name="Text 58"/>
          <p:cNvSpPr/>
          <p:nvPr/>
        </p:nvSpPr>
        <p:spPr>
          <a:xfrm>
            <a:off x="379202" y="4353576"/>
            <a:ext cx="8321040" cy="237744"/>
          </a:xfrm>
          <a:prstGeom prst="rect">
            <a:avLst/>
          </a:prstGeom>
          <a:noFill/>
          <a:ln/>
        </p:spPr>
        <p:txBody>
          <a:bodyPr wrap="square" lIns="0" tIns="0" rIns="0" bIns="0" rtlCol="0" anchor="ctr"/>
          <a:lstStyle/>
          <a:p>
            <a:pPr marL="0" indent="0" algn="ctr">
              <a:buNone/>
            </a:pPr>
            <a:r>
              <a:rPr lang="fr-FR" sz="850" i="1" dirty="0">
                <a:solidFill>
                  <a:srgbClr val="C0C0C0"/>
                </a:solidFill>
                <a:latin typeface="Calibri" pitchFamily="34" charset="0"/>
                <a:ea typeface="Calibri" pitchFamily="34" charset="-122"/>
                <a:cs typeface="Calibri" pitchFamily="34" charset="-120"/>
              </a:rPr>
              <a:t>Une même commande déclenche la lecture des CSV, la construction des figures, l’application du style commun et l’écriture dans le bon dossier.</a:t>
            </a:r>
          </a:p>
        </p:txBody>
      </p:sp>
      <p:sp>
        <p:nvSpPr>
          <p:cNvPr id="61" name="Text 59"/>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63" name="Shape 12">
            <a:extLst>
              <a:ext uri="{FF2B5EF4-FFF2-40B4-BE49-F238E27FC236}">
                <a16:creationId xmlns:a16="http://schemas.microsoft.com/office/drawing/2014/main" id="{63240631-3504-99F4-E093-0AAC05FC2CDF}"/>
              </a:ext>
            </a:extLst>
          </p:cNvPr>
          <p:cNvSpPr/>
          <p:nvPr/>
        </p:nvSpPr>
        <p:spPr>
          <a:xfrm>
            <a:off x="1699986" y="2722629"/>
            <a:ext cx="1136907" cy="0"/>
          </a:xfrm>
          <a:prstGeom prst="line">
            <a:avLst/>
          </a:prstGeom>
          <a:noFill/>
          <a:ln w="6350">
            <a:solidFill>
              <a:srgbClr val="F0F0F0"/>
            </a:solidFill>
            <a:prstDash val="solid"/>
          </a:ln>
        </p:spPr>
        <p:txBody>
          <a:bodyPr/>
          <a:lstStyle/>
          <a:p>
            <a:endParaRPr lang="en-CA"/>
          </a:p>
        </p:txBody>
      </p:sp>
      <p:sp>
        <p:nvSpPr>
          <p:cNvPr id="69" name="Shape 12">
            <a:extLst>
              <a:ext uri="{FF2B5EF4-FFF2-40B4-BE49-F238E27FC236}">
                <a16:creationId xmlns:a16="http://schemas.microsoft.com/office/drawing/2014/main" id="{4E4174BB-8BAD-E572-0817-88F40EFB8A10}"/>
              </a:ext>
            </a:extLst>
          </p:cNvPr>
          <p:cNvSpPr/>
          <p:nvPr/>
        </p:nvSpPr>
        <p:spPr>
          <a:xfrm>
            <a:off x="7931226" y="2724847"/>
            <a:ext cx="941832" cy="10138"/>
          </a:xfrm>
          <a:prstGeom prst="line">
            <a:avLst/>
          </a:prstGeom>
          <a:noFill/>
          <a:ln w="6350">
            <a:solidFill>
              <a:srgbClr val="F0F0F0"/>
            </a:solidFill>
            <a:prstDash val="solid"/>
          </a:ln>
        </p:spPr>
        <p:txBody>
          <a:bodyPr/>
          <a:lstStyle/>
          <a:p>
            <a:endParaRPr lang="en-CA" dirty="0"/>
          </a:p>
        </p:txBody>
      </p:sp>
      <p:sp>
        <p:nvSpPr>
          <p:cNvPr id="71" name="Shape 9">
            <a:extLst>
              <a:ext uri="{FF2B5EF4-FFF2-40B4-BE49-F238E27FC236}">
                <a16:creationId xmlns:a16="http://schemas.microsoft.com/office/drawing/2014/main" id="{C208B12A-4259-4532-0730-ABC2C0811418}"/>
              </a:ext>
            </a:extLst>
          </p:cNvPr>
          <p:cNvSpPr/>
          <p:nvPr/>
        </p:nvSpPr>
        <p:spPr>
          <a:xfrm>
            <a:off x="4824188" y="1666430"/>
            <a:ext cx="1298448" cy="0"/>
          </a:xfrm>
          <a:prstGeom prst="line">
            <a:avLst/>
          </a:prstGeom>
          <a:noFill/>
          <a:ln w="7620">
            <a:solidFill>
              <a:srgbClr val="EEEEEE"/>
            </a:solidFill>
            <a:prstDash val="solid"/>
          </a:ln>
        </p:spPr>
        <p:txBody>
          <a:bodyPr/>
          <a:lstStyle/>
          <a:p>
            <a:endParaRPr lang="en-CA"/>
          </a:p>
        </p:txBody>
      </p:sp>
      <p:sp>
        <p:nvSpPr>
          <p:cNvPr id="73" name="Shape 9">
            <a:extLst>
              <a:ext uri="{FF2B5EF4-FFF2-40B4-BE49-F238E27FC236}">
                <a16:creationId xmlns:a16="http://schemas.microsoft.com/office/drawing/2014/main" id="{83D2D315-E12D-32D5-EA80-1B0E12E8863A}"/>
              </a:ext>
            </a:extLst>
          </p:cNvPr>
          <p:cNvSpPr/>
          <p:nvPr/>
        </p:nvSpPr>
        <p:spPr>
          <a:xfrm>
            <a:off x="7913336" y="1709301"/>
            <a:ext cx="939977" cy="0"/>
          </a:xfrm>
          <a:prstGeom prst="line">
            <a:avLst/>
          </a:prstGeom>
          <a:noFill/>
          <a:ln w="7620">
            <a:solidFill>
              <a:srgbClr val="EEEEEE"/>
            </a:solidFill>
            <a:prstDash val="solid"/>
          </a:ln>
        </p:spPr>
        <p:txBody>
          <a:bodyPr/>
          <a:lstStyle/>
          <a:p>
            <a:endParaRPr lang="en-CA"/>
          </a:p>
        </p:txBody>
      </p:sp>
      <p:sp>
        <p:nvSpPr>
          <p:cNvPr id="82" name="Shape 37">
            <a:extLst>
              <a:ext uri="{FF2B5EF4-FFF2-40B4-BE49-F238E27FC236}">
                <a16:creationId xmlns:a16="http://schemas.microsoft.com/office/drawing/2014/main" id="{B6E11190-EA80-A038-5604-D4C345AE24D7}"/>
              </a:ext>
            </a:extLst>
          </p:cNvPr>
          <p:cNvSpPr/>
          <p:nvPr/>
        </p:nvSpPr>
        <p:spPr>
          <a:xfrm>
            <a:off x="6217887" y="1177226"/>
            <a:ext cx="1298448" cy="2775204"/>
          </a:xfrm>
          <a:prstGeom prst="roundRect">
            <a:avLst>
              <a:gd name="adj" fmla="val 6173"/>
            </a:avLst>
          </a:prstGeom>
          <a:solidFill>
            <a:srgbClr val="FAFAFA"/>
          </a:solidFill>
          <a:ln w="8890">
            <a:solidFill>
              <a:srgbClr val="FAFAFA"/>
            </a:solidFill>
            <a:prstDash val="solid"/>
          </a:ln>
        </p:spPr>
        <p:txBody>
          <a:bodyPr/>
          <a:lstStyle/>
          <a:p>
            <a:endParaRPr lang="en-CA"/>
          </a:p>
        </p:txBody>
      </p:sp>
      <p:sp>
        <p:nvSpPr>
          <p:cNvPr id="84" name="Text 47">
            <a:extLst>
              <a:ext uri="{FF2B5EF4-FFF2-40B4-BE49-F238E27FC236}">
                <a16:creationId xmlns:a16="http://schemas.microsoft.com/office/drawing/2014/main" id="{91699A66-EB6D-0F3C-63D8-06C56F3538C1}"/>
              </a:ext>
            </a:extLst>
          </p:cNvPr>
          <p:cNvSpPr/>
          <p:nvPr/>
        </p:nvSpPr>
        <p:spPr>
          <a:xfrm>
            <a:off x="7546325" y="2345141"/>
            <a:ext cx="219456" cy="329184"/>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86" name="Shape 37">
            <a:extLst>
              <a:ext uri="{FF2B5EF4-FFF2-40B4-BE49-F238E27FC236}">
                <a16:creationId xmlns:a16="http://schemas.microsoft.com/office/drawing/2014/main" id="{A805338B-2543-8274-55D7-9D487DC35EB3}"/>
              </a:ext>
            </a:extLst>
          </p:cNvPr>
          <p:cNvSpPr/>
          <p:nvPr/>
        </p:nvSpPr>
        <p:spPr>
          <a:xfrm>
            <a:off x="6224222" y="1183683"/>
            <a:ext cx="1298448" cy="2775204"/>
          </a:xfrm>
          <a:prstGeom prst="roundRect">
            <a:avLst>
              <a:gd name="adj" fmla="val 6173"/>
            </a:avLst>
          </a:prstGeom>
          <a:solidFill>
            <a:srgbClr val="FAFAFA"/>
          </a:solidFill>
          <a:ln w="8890">
            <a:solidFill>
              <a:srgbClr val="FAFAFA"/>
            </a:solidFill>
            <a:prstDash val="solid"/>
          </a:ln>
        </p:spPr>
        <p:txBody>
          <a:bodyPr/>
          <a:lstStyle/>
          <a:p>
            <a:endParaRPr lang="en-CA"/>
          </a:p>
        </p:txBody>
      </p:sp>
      <p:sp>
        <p:nvSpPr>
          <p:cNvPr id="88" name="Shape 38">
            <a:extLst>
              <a:ext uri="{FF2B5EF4-FFF2-40B4-BE49-F238E27FC236}">
                <a16:creationId xmlns:a16="http://schemas.microsoft.com/office/drawing/2014/main" id="{5E2DCD68-E83D-1CDA-EA5D-42B654B08E20}"/>
              </a:ext>
            </a:extLst>
          </p:cNvPr>
          <p:cNvSpPr/>
          <p:nvPr/>
        </p:nvSpPr>
        <p:spPr>
          <a:xfrm>
            <a:off x="6224222" y="1158042"/>
            <a:ext cx="1298448" cy="68743"/>
          </a:xfrm>
          <a:prstGeom prst="rect">
            <a:avLst/>
          </a:prstGeom>
          <a:solidFill>
            <a:srgbClr val="888888"/>
          </a:solidFill>
          <a:ln w="12700">
            <a:solidFill>
              <a:srgbClr val="888888"/>
            </a:solidFill>
            <a:prstDash val="solid"/>
          </a:ln>
        </p:spPr>
        <p:txBody>
          <a:bodyPr/>
          <a:lstStyle/>
          <a:p>
            <a:endParaRPr lang="en-CA"/>
          </a:p>
        </p:txBody>
      </p:sp>
      <p:sp>
        <p:nvSpPr>
          <p:cNvPr id="90" name="Shape 40">
            <a:extLst>
              <a:ext uri="{FF2B5EF4-FFF2-40B4-BE49-F238E27FC236}">
                <a16:creationId xmlns:a16="http://schemas.microsoft.com/office/drawing/2014/main" id="{B0270E7E-4943-2199-9638-1332761627D3}"/>
              </a:ext>
            </a:extLst>
          </p:cNvPr>
          <p:cNvSpPr/>
          <p:nvPr/>
        </p:nvSpPr>
        <p:spPr>
          <a:xfrm>
            <a:off x="6489398" y="1354603"/>
            <a:ext cx="768096" cy="219456"/>
          </a:xfrm>
          <a:prstGeom prst="roundRect">
            <a:avLst>
              <a:gd name="adj" fmla="val 20833"/>
            </a:avLst>
          </a:prstGeom>
          <a:solidFill>
            <a:srgbClr val="F0F0F0"/>
          </a:solidFill>
          <a:ln w="6350">
            <a:solidFill>
              <a:srgbClr val="E0E0E0"/>
            </a:solidFill>
            <a:prstDash val="solid"/>
          </a:ln>
        </p:spPr>
        <p:txBody>
          <a:bodyPr/>
          <a:lstStyle/>
          <a:p>
            <a:endParaRPr lang="en-CA" dirty="0"/>
          </a:p>
        </p:txBody>
      </p:sp>
      <p:sp>
        <p:nvSpPr>
          <p:cNvPr id="92" name="Text 41">
            <a:extLst>
              <a:ext uri="{FF2B5EF4-FFF2-40B4-BE49-F238E27FC236}">
                <a16:creationId xmlns:a16="http://schemas.microsoft.com/office/drawing/2014/main" id="{23CC53B2-CAEC-76A1-CC86-C4DE05AF19EE}"/>
              </a:ext>
            </a:extLst>
          </p:cNvPr>
          <p:cNvSpPr/>
          <p:nvPr/>
        </p:nvSpPr>
        <p:spPr>
          <a:xfrm>
            <a:off x="6489398" y="1361991"/>
            <a:ext cx="768096"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Chemins</a:t>
            </a:r>
            <a:endParaRPr lang="en-US" sz="750" dirty="0">
              <a:solidFill>
                <a:srgbClr val="888888"/>
              </a:solidFill>
            </a:endParaRPr>
          </a:p>
        </p:txBody>
      </p:sp>
      <p:sp>
        <p:nvSpPr>
          <p:cNvPr id="94" name="Text 43">
            <a:extLst>
              <a:ext uri="{FF2B5EF4-FFF2-40B4-BE49-F238E27FC236}">
                <a16:creationId xmlns:a16="http://schemas.microsoft.com/office/drawing/2014/main" id="{B5FE885B-B150-5330-45E7-9542A59D8C5A}"/>
              </a:ext>
            </a:extLst>
          </p:cNvPr>
          <p:cNvSpPr/>
          <p:nvPr/>
        </p:nvSpPr>
        <p:spPr>
          <a:xfrm>
            <a:off x="6224222" y="1764327"/>
            <a:ext cx="1298448" cy="274320"/>
          </a:xfrm>
          <a:prstGeom prst="rect">
            <a:avLst/>
          </a:prstGeom>
          <a:noFill/>
          <a:ln/>
        </p:spPr>
        <p:txBody>
          <a:bodyPr wrap="square" lIns="0" tIns="0" rIns="0" bIns="0" rtlCol="0" anchor="ctr"/>
          <a:lstStyle/>
          <a:p>
            <a:pPr marL="0" indent="0" algn="ctr">
              <a:buNone/>
            </a:pPr>
            <a:r>
              <a:rPr lang="en-US" sz="900" b="1" dirty="0">
                <a:latin typeface="Courier New" pitchFamily="34" charset="0"/>
                <a:ea typeface="Courier New" pitchFamily="34" charset="-122"/>
                <a:cs typeface="Courier New" pitchFamily="34" charset="-120"/>
              </a:rPr>
              <a:t>shared_paths.py</a:t>
            </a:r>
            <a:endParaRPr lang="en-US" sz="900" dirty="0"/>
          </a:p>
        </p:txBody>
      </p:sp>
      <p:sp>
        <p:nvSpPr>
          <p:cNvPr id="96" name="Text 44">
            <a:extLst>
              <a:ext uri="{FF2B5EF4-FFF2-40B4-BE49-F238E27FC236}">
                <a16:creationId xmlns:a16="http://schemas.microsoft.com/office/drawing/2014/main" id="{B50E569C-AD52-FD5A-0F23-1B43B7FB43A8}"/>
              </a:ext>
            </a:extLst>
          </p:cNvPr>
          <p:cNvSpPr/>
          <p:nvPr/>
        </p:nvSpPr>
        <p:spPr>
          <a:xfrm>
            <a:off x="6236857" y="2242719"/>
            <a:ext cx="1277007" cy="338088"/>
          </a:xfrm>
          <a:prstGeom prst="rect">
            <a:avLst/>
          </a:prstGeom>
          <a:noFill/>
          <a:ln/>
        </p:spPr>
        <p:txBody>
          <a:bodyPr wrap="square" lIns="0" tIns="0" rIns="0" bIns="0" rtlCol="0" anchor="t"/>
          <a:lstStyle/>
          <a:p>
            <a:pPr marL="0" indent="0" algn="ctr">
              <a:lnSpc>
                <a:spcPct val="130000"/>
              </a:lnSpc>
              <a:buNone/>
            </a:pPr>
            <a:r>
              <a:rPr lang="en-CA" sz="700" b="1" dirty="0">
                <a:solidFill>
                  <a:srgbClr val="CFB260"/>
                </a:solidFill>
                <a:latin typeface="Courier New" pitchFamily="34" charset="0"/>
                <a:ea typeface="Courier New" pitchFamily="34" charset="-122"/>
                <a:cs typeface="Courier New" pitchFamily="34" charset="-120"/>
              </a:rPr>
              <a:t>sources: data/results</a:t>
            </a:r>
          </a:p>
          <a:p>
            <a:pPr marL="0" indent="0" algn="ctr">
              <a:lnSpc>
                <a:spcPct val="130000"/>
              </a:lnSpc>
              <a:buNone/>
            </a:pPr>
            <a:r>
              <a:rPr lang="en-CA" sz="700" b="1" dirty="0">
                <a:solidFill>
                  <a:srgbClr val="CFB260"/>
                </a:solidFill>
                <a:latin typeface="Courier New" pitchFamily="34" charset="0"/>
                <a:ea typeface="Courier New" pitchFamily="34" charset="-122"/>
                <a:cs typeface="Courier New" pitchFamily="34" charset="-120"/>
              </a:rPr>
              <a:t>sorties: data/charts</a:t>
            </a:r>
            <a:endParaRPr lang="en-US" sz="700" dirty="0">
              <a:solidFill>
                <a:srgbClr val="CFB260"/>
              </a:solidFill>
            </a:endParaRPr>
          </a:p>
        </p:txBody>
      </p:sp>
      <p:sp>
        <p:nvSpPr>
          <p:cNvPr id="98" name="Text 46">
            <a:extLst>
              <a:ext uri="{FF2B5EF4-FFF2-40B4-BE49-F238E27FC236}">
                <a16:creationId xmlns:a16="http://schemas.microsoft.com/office/drawing/2014/main" id="{12D3F11F-0CD5-A163-6547-BC99A6767593}"/>
              </a:ext>
            </a:extLst>
          </p:cNvPr>
          <p:cNvSpPr/>
          <p:nvPr/>
        </p:nvSpPr>
        <p:spPr>
          <a:xfrm>
            <a:off x="6315662" y="2919055"/>
            <a:ext cx="1147573" cy="856952"/>
          </a:xfrm>
          <a:prstGeom prst="rect">
            <a:avLst/>
          </a:prstGeom>
          <a:noFill/>
          <a:ln/>
        </p:spPr>
        <p:txBody>
          <a:bodyPr wrap="square" lIns="0" tIns="0" rIns="0" bIns="0" rtlCol="0" anchor="t"/>
          <a:lstStyle/>
          <a:p>
            <a:pPr marL="0" indent="0" algn="ctr">
              <a:lnSpc>
                <a:spcPct val="145000"/>
              </a:lnSpc>
              <a:buNone/>
            </a:pPr>
            <a:r>
              <a:rPr lang="fr-FR" sz="800" dirty="0">
                <a:solidFill>
                  <a:srgbClr val="555555"/>
                </a:solidFill>
                <a:latin typeface="Calibri" pitchFamily="34" charset="0"/>
                <a:ea typeface="Calibri" pitchFamily="34" charset="-122"/>
                <a:cs typeface="Calibri" pitchFamily="34" charset="-120"/>
              </a:rPr>
              <a:t>crée automatiquement le dossier cible avant export</a:t>
            </a:r>
            <a:endParaRPr lang="en-US" sz="800" dirty="0">
              <a:solidFill>
                <a:srgbClr val="555555"/>
              </a:solidFill>
            </a:endParaRPr>
          </a:p>
        </p:txBody>
      </p:sp>
      <p:sp>
        <p:nvSpPr>
          <p:cNvPr id="102" name="Shape 9">
            <a:extLst>
              <a:ext uri="{FF2B5EF4-FFF2-40B4-BE49-F238E27FC236}">
                <a16:creationId xmlns:a16="http://schemas.microsoft.com/office/drawing/2014/main" id="{FA70DC1C-561D-971A-17A8-2370707F5602}"/>
              </a:ext>
            </a:extLst>
          </p:cNvPr>
          <p:cNvSpPr/>
          <p:nvPr/>
        </p:nvSpPr>
        <p:spPr>
          <a:xfrm>
            <a:off x="6315662" y="1672887"/>
            <a:ext cx="1298448" cy="0"/>
          </a:xfrm>
          <a:prstGeom prst="line">
            <a:avLst/>
          </a:prstGeom>
          <a:noFill/>
          <a:ln w="7620">
            <a:solidFill>
              <a:srgbClr val="EEEEEE"/>
            </a:solidFill>
            <a:prstDash val="solid"/>
          </a:ln>
        </p:spPr>
        <p:txBody>
          <a:bodyPr/>
          <a:lstStyle/>
          <a:p>
            <a:endParaRPr lang="en-CA"/>
          </a:p>
        </p:txBody>
      </p:sp>
      <p:sp>
        <p:nvSpPr>
          <p:cNvPr id="104" name="Shape 12">
            <a:extLst>
              <a:ext uri="{FF2B5EF4-FFF2-40B4-BE49-F238E27FC236}">
                <a16:creationId xmlns:a16="http://schemas.microsoft.com/office/drawing/2014/main" id="{6DA2D8DE-CB14-63C9-F3D5-BAC64FEB5061}"/>
              </a:ext>
            </a:extLst>
          </p:cNvPr>
          <p:cNvSpPr/>
          <p:nvPr/>
        </p:nvSpPr>
        <p:spPr>
          <a:xfrm>
            <a:off x="3303593" y="2722629"/>
            <a:ext cx="1136907" cy="0"/>
          </a:xfrm>
          <a:prstGeom prst="line">
            <a:avLst/>
          </a:prstGeom>
          <a:noFill/>
          <a:ln w="6350">
            <a:solidFill>
              <a:srgbClr val="F0F0F0"/>
            </a:solidFill>
            <a:prstDash val="solid"/>
          </a:ln>
        </p:spPr>
        <p:txBody>
          <a:bodyPr/>
          <a:lstStyle/>
          <a:p>
            <a:endParaRPr lang="en-CA"/>
          </a:p>
        </p:txBody>
      </p:sp>
      <p:sp>
        <p:nvSpPr>
          <p:cNvPr id="106" name="Shape 12">
            <a:extLst>
              <a:ext uri="{FF2B5EF4-FFF2-40B4-BE49-F238E27FC236}">
                <a16:creationId xmlns:a16="http://schemas.microsoft.com/office/drawing/2014/main" id="{060EE0D1-6CAF-CA29-993D-202872041786}"/>
              </a:ext>
            </a:extLst>
          </p:cNvPr>
          <p:cNvSpPr/>
          <p:nvPr/>
        </p:nvSpPr>
        <p:spPr>
          <a:xfrm>
            <a:off x="4824188" y="2722629"/>
            <a:ext cx="1136907" cy="0"/>
          </a:xfrm>
          <a:prstGeom prst="line">
            <a:avLst/>
          </a:prstGeom>
          <a:noFill/>
          <a:ln w="6350">
            <a:solidFill>
              <a:srgbClr val="F0F0F0"/>
            </a:solidFill>
            <a:prstDash val="solid"/>
          </a:ln>
        </p:spPr>
        <p:txBody>
          <a:bodyPr/>
          <a:lstStyle/>
          <a:p>
            <a:endParaRPr lang="en-CA"/>
          </a:p>
        </p:txBody>
      </p:sp>
      <p:sp>
        <p:nvSpPr>
          <p:cNvPr id="108" name="Shape 12">
            <a:extLst>
              <a:ext uri="{FF2B5EF4-FFF2-40B4-BE49-F238E27FC236}">
                <a16:creationId xmlns:a16="http://schemas.microsoft.com/office/drawing/2014/main" id="{BAF7D5A0-6D22-91C7-6536-22BD2D3BE969}"/>
              </a:ext>
            </a:extLst>
          </p:cNvPr>
          <p:cNvSpPr/>
          <p:nvPr/>
        </p:nvSpPr>
        <p:spPr>
          <a:xfrm>
            <a:off x="6326328" y="2722629"/>
            <a:ext cx="1136907" cy="0"/>
          </a:xfrm>
          <a:prstGeom prst="line">
            <a:avLst/>
          </a:prstGeom>
          <a:noFill/>
          <a:ln w="6350">
            <a:solidFill>
              <a:srgbClr val="F0F0F0"/>
            </a:solidFill>
            <a:prstDash val="solid"/>
          </a:ln>
        </p:spPr>
        <p:txBody>
          <a:bodyPr/>
          <a:lstStyle/>
          <a:p>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475488" y="164592"/>
            <a:ext cx="73152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04b  ·  GÉNÉRATION DES SORTIES EXPÉRIMENTALES</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Sorties produites </a:t>
            </a:r>
            <a:r>
              <a:rPr lang="en-US" sz="1500" b="1" dirty="0">
                <a:solidFill>
                  <a:srgbClr val="C9A84C"/>
                </a:solidFill>
                <a:latin typeface="Calibri" pitchFamily="34" charset="0"/>
                <a:ea typeface="Calibri" pitchFamily="34" charset="-122"/>
                <a:cs typeface="Calibri" pitchFamily="34" charset="-120"/>
              </a:rPr>
              <a:t>sur les deux plateformes</a:t>
            </a:r>
            <a:endParaRPr lang="en-US" sz="1500" dirty="0"/>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sp>
        <p:nvSpPr>
          <p:cNvPr id="6" name="Shape 4"/>
          <p:cNvSpPr/>
          <p:nvPr/>
        </p:nvSpPr>
        <p:spPr>
          <a:xfrm>
            <a:off x="475488" y="914399"/>
            <a:ext cx="8321040" cy="402336"/>
          </a:xfrm>
          <a:prstGeom prst="rect">
            <a:avLst/>
          </a:prstGeom>
          <a:solidFill>
            <a:srgbClr val="0A0A0A"/>
          </a:solidFill>
          <a:ln w="12700">
            <a:solidFill>
              <a:srgbClr val="0A0A0A"/>
            </a:solidFill>
            <a:prstDash val="solid"/>
          </a:ln>
        </p:spPr>
        <p:txBody>
          <a:bodyPr/>
          <a:lstStyle/>
          <a:p>
            <a:endParaRPr lang="en-CA"/>
          </a:p>
        </p:txBody>
      </p:sp>
      <p:sp>
        <p:nvSpPr>
          <p:cNvPr id="7" name="Text 5"/>
          <p:cNvSpPr/>
          <p:nvPr/>
        </p:nvSpPr>
        <p:spPr>
          <a:xfrm>
            <a:off x="822960" y="914399"/>
            <a:ext cx="548640" cy="402336"/>
          </a:xfrm>
          <a:prstGeom prst="rect">
            <a:avLst/>
          </a:prstGeom>
          <a:noFill/>
          <a:ln/>
        </p:spPr>
        <p:txBody>
          <a:bodyPr wrap="square" lIns="0" tIns="0" rIns="0" bIns="0" rtlCol="0" anchor="ctr"/>
          <a:lstStyle/>
          <a:p>
            <a:pPr marL="0" indent="0">
              <a:buNone/>
            </a:pPr>
            <a:r>
              <a:rPr lang="en-US" sz="850" b="1" dirty="0">
                <a:solidFill>
                  <a:srgbClr val="C9A84C"/>
                </a:solidFill>
                <a:latin typeface="Calibri" pitchFamily="34" charset="0"/>
                <a:ea typeface="Calibri" pitchFamily="34" charset="-122"/>
                <a:cs typeface="Calibri" pitchFamily="34" charset="-120"/>
              </a:rPr>
              <a:t>EXP</a:t>
            </a:r>
            <a:endParaRPr lang="en-US" sz="850" dirty="0"/>
          </a:p>
        </p:txBody>
      </p:sp>
      <p:sp>
        <p:nvSpPr>
          <p:cNvPr id="8" name="Text 6"/>
          <p:cNvSpPr/>
          <p:nvPr/>
        </p:nvSpPr>
        <p:spPr>
          <a:xfrm>
            <a:off x="1463040" y="912459"/>
            <a:ext cx="3474720" cy="402336"/>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x86 Windows — Intel i5-10300H</a:t>
            </a:r>
            <a:endParaRPr lang="en-US" sz="850" dirty="0"/>
          </a:p>
        </p:txBody>
      </p:sp>
      <p:sp>
        <p:nvSpPr>
          <p:cNvPr id="9" name="Text 7"/>
          <p:cNvSpPr/>
          <p:nvPr/>
        </p:nvSpPr>
        <p:spPr>
          <a:xfrm>
            <a:off x="4828032" y="914399"/>
            <a:ext cx="2113095" cy="402336"/>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ARM Raspberry Pi 4 — Cortex-A72</a:t>
            </a:r>
            <a:endParaRPr lang="en-US" sz="850" dirty="0"/>
          </a:p>
        </p:txBody>
      </p:sp>
      <p:sp>
        <p:nvSpPr>
          <p:cNvPr id="10" name="Shape 8"/>
          <p:cNvSpPr/>
          <p:nvPr/>
        </p:nvSpPr>
        <p:spPr>
          <a:xfrm>
            <a:off x="475488" y="1316735"/>
            <a:ext cx="8321040" cy="932688"/>
          </a:xfrm>
          <a:prstGeom prst="rect">
            <a:avLst/>
          </a:prstGeom>
          <a:solidFill>
            <a:srgbClr val="FAFAFA"/>
          </a:solidFill>
          <a:ln w="12700">
            <a:solidFill>
              <a:srgbClr val="FAFAFA"/>
            </a:solidFill>
            <a:prstDash val="solid"/>
          </a:ln>
        </p:spPr>
        <p:txBody>
          <a:bodyPr/>
          <a:lstStyle/>
          <a:p>
            <a:endParaRPr lang="en-CA"/>
          </a:p>
        </p:txBody>
      </p:sp>
      <p:sp>
        <p:nvSpPr>
          <p:cNvPr id="11" name="Shape 9"/>
          <p:cNvSpPr/>
          <p:nvPr/>
        </p:nvSpPr>
        <p:spPr>
          <a:xfrm>
            <a:off x="475488" y="2249423"/>
            <a:ext cx="8321040" cy="0"/>
          </a:xfrm>
          <a:prstGeom prst="line">
            <a:avLst/>
          </a:prstGeom>
          <a:noFill/>
          <a:ln w="6350">
            <a:solidFill>
              <a:srgbClr val="EEEEEE"/>
            </a:solidFill>
            <a:prstDash val="solid"/>
          </a:ln>
        </p:spPr>
        <p:txBody>
          <a:bodyPr/>
          <a:lstStyle/>
          <a:p>
            <a:endParaRPr lang="en-CA"/>
          </a:p>
        </p:txBody>
      </p:sp>
      <p:sp>
        <p:nvSpPr>
          <p:cNvPr id="12" name="Shape 10"/>
          <p:cNvSpPr/>
          <p:nvPr/>
        </p:nvSpPr>
        <p:spPr>
          <a:xfrm>
            <a:off x="475488" y="1316735"/>
            <a:ext cx="36576" cy="932688"/>
          </a:xfrm>
          <a:prstGeom prst="rect">
            <a:avLst/>
          </a:prstGeom>
          <a:solidFill>
            <a:srgbClr val="C9A84C"/>
          </a:solidFill>
          <a:ln w="12700">
            <a:solidFill>
              <a:srgbClr val="C9A84C"/>
            </a:solidFill>
            <a:prstDash val="solid"/>
          </a:ln>
        </p:spPr>
        <p:txBody>
          <a:bodyPr/>
          <a:lstStyle/>
          <a:p>
            <a:endParaRPr lang="en-CA"/>
          </a:p>
        </p:txBody>
      </p:sp>
      <p:sp>
        <p:nvSpPr>
          <p:cNvPr id="13" name="Text 11"/>
          <p:cNvSpPr/>
          <p:nvPr/>
        </p:nvSpPr>
        <p:spPr>
          <a:xfrm>
            <a:off x="603504" y="1316735"/>
            <a:ext cx="548640" cy="932688"/>
          </a:xfrm>
          <a:prstGeom prst="rect">
            <a:avLst/>
          </a:prstGeom>
          <a:noFill/>
          <a:ln/>
        </p:spPr>
        <p:txBody>
          <a:bodyPr wrap="square" lIns="0" tIns="0" rIns="0" bIns="0" rtlCol="0" anchor="ctr"/>
          <a:lstStyle/>
          <a:p>
            <a:pPr marL="0" indent="0" algn="ctr">
              <a:buNone/>
            </a:pPr>
            <a:r>
              <a:rPr lang="en-US" sz="1800" b="1" dirty="0">
                <a:solidFill>
                  <a:srgbClr val="E8E8E8"/>
                </a:solidFill>
                <a:latin typeface="Calibri" pitchFamily="34" charset="0"/>
                <a:ea typeface="Calibri" pitchFamily="34" charset="-122"/>
                <a:cs typeface="Calibri" pitchFamily="34" charset="-120"/>
              </a:rPr>
              <a:t>1</a:t>
            </a:r>
            <a:endParaRPr lang="en-US" sz="1800" dirty="0"/>
          </a:p>
        </p:txBody>
      </p:sp>
      <p:sp>
        <p:nvSpPr>
          <p:cNvPr id="14" name="Text 12"/>
          <p:cNvSpPr/>
          <p:nvPr/>
        </p:nvSpPr>
        <p:spPr>
          <a:xfrm>
            <a:off x="1463040" y="1461099"/>
            <a:ext cx="3474720" cy="256032"/>
          </a:xfrm>
          <a:prstGeom prst="rect">
            <a:avLst/>
          </a:prstGeom>
          <a:noFill/>
          <a:ln/>
        </p:spPr>
        <p:txBody>
          <a:bodyPr wrap="square" lIns="0" tIns="0" rIns="0" bIns="0" rtlCol="0" anchor="ctr"/>
          <a:lstStyle/>
          <a:p>
            <a:pPr marL="0" indent="0">
              <a:buNone/>
            </a:pPr>
            <a:r>
              <a:rPr lang="en-US" sz="800" b="1" dirty="0">
                <a:solidFill>
                  <a:srgbClr val="0A0A0A"/>
                </a:solidFill>
                <a:latin typeface="Courier New" pitchFamily="34" charset="0"/>
                <a:ea typeface="Courier New" pitchFamily="34" charset="-122"/>
                <a:cs typeface="Courier New" pitchFamily="34" charset="-120"/>
              </a:rPr>
              <a:t>laptop-windows-x86_experience1.csv</a:t>
            </a:r>
            <a:endParaRPr lang="en-US" sz="800" dirty="0"/>
          </a:p>
        </p:txBody>
      </p:sp>
      <p:sp>
        <p:nvSpPr>
          <p:cNvPr id="15" name="Text 13"/>
          <p:cNvSpPr/>
          <p:nvPr/>
        </p:nvSpPr>
        <p:spPr>
          <a:xfrm>
            <a:off x="1463040" y="1753707"/>
            <a:ext cx="3474720"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155 lignes · 13 colonnes</a:t>
            </a:r>
            <a:endParaRPr lang="en-US" sz="750" dirty="0"/>
          </a:p>
        </p:txBody>
      </p:sp>
      <p:sp>
        <p:nvSpPr>
          <p:cNvPr id="16" name="Shape 14"/>
          <p:cNvSpPr/>
          <p:nvPr/>
        </p:nvSpPr>
        <p:spPr>
          <a:xfrm>
            <a:off x="4572000" y="1442811"/>
            <a:ext cx="0" cy="676656"/>
          </a:xfrm>
          <a:prstGeom prst="line">
            <a:avLst/>
          </a:prstGeom>
          <a:noFill/>
          <a:ln w="7620">
            <a:solidFill>
              <a:srgbClr val="EEEEEE"/>
            </a:solidFill>
            <a:prstDash val="solid"/>
          </a:ln>
        </p:spPr>
        <p:txBody>
          <a:bodyPr/>
          <a:lstStyle/>
          <a:p>
            <a:endParaRPr lang="en-CA"/>
          </a:p>
        </p:txBody>
      </p:sp>
      <p:sp>
        <p:nvSpPr>
          <p:cNvPr id="17" name="Text 15"/>
          <p:cNvSpPr/>
          <p:nvPr/>
        </p:nvSpPr>
        <p:spPr>
          <a:xfrm>
            <a:off x="4901184" y="1463039"/>
            <a:ext cx="3401568" cy="256032"/>
          </a:xfrm>
          <a:prstGeom prst="rect">
            <a:avLst/>
          </a:prstGeom>
          <a:noFill/>
          <a:ln/>
        </p:spPr>
        <p:txBody>
          <a:bodyPr wrap="square" lIns="0" tIns="0" rIns="0" bIns="0" rtlCol="0" anchor="ctr"/>
          <a:lstStyle/>
          <a:p>
            <a:pPr marL="0" indent="0">
              <a:buNone/>
            </a:pPr>
            <a:r>
              <a:rPr lang="en-US" sz="800" b="1" dirty="0">
                <a:solidFill>
                  <a:srgbClr val="0A0A0A"/>
                </a:solidFill>
                <a:latin typeface="Courier New" pitchFamily="34" charset="0"/>
                <a:ea typeface="Courier New" pitchFamily="34" charset="-122"/>
                <a:cs typeface="Courier New" pitchFamily="34" charset="-120"/>
              </a:rPr>
              <a:t>raspberry-pi_experience1.csv</a:t>
            </a:r>
            <a:endParaRPr lang="en-US" sz="800" dirty="0"/>
          </a:p>
        </p:txBody>
      </p:sp>
      <p:sp>
        <p:nvSpPr>
          <p:cNvPr id="18" name="Text 16"/>
          <p:cNvSpPr/>
          <p:nvPr/>
        </p:nvSpPr>
        <p:spPr>
          <a:xfrm>
            <a:off x="4901184" y="1755647"/>
            <a:ext cx="3401568"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155 lignes · 13 colonnes</a:t>
            </a:r>
            <a:endParaRPr lang="en-US" sz="750" dirty="0"/>
          </a:p>
        </p:txBody>
      </p:sp>
      <p:sp>
        <p:nvSpPr>
          <p:cNvPr id="19" name="Shape 17"/>
          <p:cNvSpPr/>
          <p:nvPr/>
        </p:nvSpPr>
        <p:spPr>
          <a:xfrm>
            <a:off x="475488" y="2249423"/>
            <a:ext cx="8321040" cy="932688"/>
          </a:xfrm>
          <a:prstGeom prst="rect">
            <a:avLst/>
          </a:prstGeom>
          <a:solidFill>
            <a:srgbClr val="FFFFFF"/>
          </a:solidFill>
          <a:ln w="12700">
            <a:solidFill>
              <a:srgbClr val="FFFFFF"/>
            </a:solidFill>
            <a:prstDash val="solid"/>
          </a:ln>
        </p:spPr>
        <p:txBody>
          <a:bodyPr/>
          <a:lstStyle/>
          <a:p>
            <a:endParaRPr lang="en-CA"/>
          </a:p>
        </p:txBody>
      </p:sp>
      <p:sp>
        <p:nvSpPr>
          <p:cNvPr id="20" name="Shape 18"/>
          <p:cNvSpPr/>
          <p:nvPr/>
        </p:nvSpPr>
        <p:spPr>
          <a:xfrm>
            <a:off x="475488" y="3182111"/>
            <a:ext cx="8321040" cy="0"/>
          </a:xfrm>
          <a:prstGeom prst="line">
            <a:avLst/>
          </a:prstGeom>
          <a:noFill/>
          <a:ln w="6350">
            <a:solidFill>
              <a:srgbClr val="EEEEEE"/>
            </a:solidFill>
            <a:prstDash val="solid"/>
          </a:ln>
        </p:spPr>
        <p:txBody>
          <a:bodyPr/>
          <a:lstStyle/>
          <a:p>
            <a:endParaRPr lang="en-CA"/>
          </a:p>
        </p:txBody>
      </p:sp>
      <p:sp>
        <p:nvSpPr>
          <p:cNvPr id="21" name="Shape 19"/>
          <p:cNvSpPr/>
          <p:nvPr/>
        </p:nvSpPr>
        <p:spPr>
          <a:xfrm>
            <a:off x="475488" y="2249423"/>
            <a:ext cx="36576" cy="932688"/>
          </a:xfrm>
          <a:prstGeom prst="rect">
            <a:avLst/>
          </a:prstGeom>
          <a:solidFill>
            <a:srgbClr val="C9A84C"/>
          </a:solidFill>
          <a:ln w="12700">
            <a:solidFill>
              <a:srgbClr val="C9A84C"/>
            </a:solidFill>
            <a:prstDash val="solid"/>
          </a:ln>
        </p:spPr>
        <p:txBody>
          <a:bodyPr/>
          <a:lstStyle/>
          <a:p>
            <a:endParaRPr lang="en-CA"/>
          </a:p>
        </p:txBody>
      </p:sp>
      <p:sp>
        <p:nvSpPr>
          <p:cNvPr id="22" name="Text 20"/>
          <p:cNvSpPr/>
          <p:nvPr/>
        </p:nvSpPr>
        <p:spPr>
          <a:xfrm>
            <a:off x="603504" y="2249423"/>
            <a:ext cx="548640" cy="932688"/>
          </a:xfrm>
          <a:prstGeom prst="rect">
            <a:avLst/>
          </a:prstGeom>
          <a:noFill/>
          <a:ln/>
        </p:spPr>
        <p:txBody>
          <a:bodyPr wrap="square" lIns="0" tIns="0" rIns="0" bIns="0" rtlCol="0" anchor="ctr"/>
          <a:lstStyle/>
          <a:p>
            <a:pPr marL="0" indent="0" algn="ctr">
              <a:buNone/>
            </a:pPr>
            <a:r>
              <a:rPr lang="en-US" sz="1800" b="1" dirty="0">
                <a:solidFill>
                  <a:srgbClr val="E8E8E8"/>
                </a:solidFill>
                <a:latin typeface="Calibri" pitchFamily="34" charset="0"/>
                <a:ea typeface="Calibri" pitchFamily="34" charset="-122"/>
                <a:cs typeface="Calibri" pitchFamily="34" charset="-120"/>
              </a:rPr>
              <a:t>2</a:t>
            </a:r>
            <a:endParaRPr lang="en-US" sz="1800" dirty="0"/>
          </a:p>
        </p:txBody>
      </p:sp>
      <p:sp>
        <p:nvSpPr>
          <p:cNvPr id="23" name="Text 21"/>
          <p:cNvSpPr/>
          <p:nvPr/>
        </p:nvSpPr>
        <p:spPr>
          <a:xfrm>
            <a:off x="1463040" y="2393787"/>
            <a:ext cx="3474720" cy="256032"/>
          </a:xfrm>
          <a:prstGeom prst="rect">
            <a:avLst/>
          </a:prstGeom>
          <a:noFill/>
          <a:ln/>
        </p:spPr>
        <p:txBody>
          <a:bodyPr wrap="square" lIns="0" tIns="0" rIns="0" bIns="0" rtlCol="0" anchor="ctr"/>
          <a:lstStyle/>
          <a:p>
            <a:r>
              <a:rPr lang="en-US" sz="800" b="1" dirty="0">
                <a:solidFill>
                  <a:srgbClr val="0A0A0A"/>
                </a:solidFill>
                <a:latin typeface="Courier New" pitchFamily="34" charset="0"/>
                <a:ea typeface="Courier New" pitchFamily="34" charset="-122"/>
                <a:cs typeface="Courier New" pitchFamily="34" charset="-120"/>
              </a:rPr>
              <a:t>laptop-windows-x86_experience2.csv</a:t>
            </a:r>
            <a:endParaRPr lang="en-US" sz="800" dirty="0"/>
          </a:p>
        </p:txBody>
      </p:sp>
      <p:sp>
        <p:nvSpPr>
          <p:cNvPr id="24" name="Text 22"/>
          <p:cNvSpPr/>
          <p:nvPr/>
        </p:nvSpPr>
        <p:spPr>
          <a:xfrm>
            <a:off x="1463040" y="2686395"/>
            <a:ext cx="3474720"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155 lignes · 13 colonnes</a:t>
            </a:r>
            <a:endParaRPr lang="en-US" sz="750" dirty="0"/>
          </a:p>
        </p:txBody>
      </p:sp>
      <p:sp>
        <p:nvSpPr>
          <p:cNvPr id="25" name="Shape 23"/>
          <p:cNvSpPr/>
          <p:nvPr/>
        </p:nvSpPr>
        <p:spPr>
          <a:xfrm>
            <a:off x="4560639" y="2375499"/>
            <a:ext cx="0" cy="676656"/>
          </a:xfrm>
          <a:prstGeom prst="line">
            <a:avLst/>
          </a:prstGeom>
          <a:noFill/>
          <a:ln w="7620">
            <a:solidFill>
              <a:srgbClr val="EEEEEE"/>
            </a:solidFill>
            <a:prstDash val="solid"/>
          </a:ln>
        </p:spPr>
        <p:txBody>
          <a:bodyPr/>
          <a:lstStyle/>
          <a:p>
            <a:endParaRPr lang="en-CA"/>
          </a:p>
        </p:txBody>
      </p:sp>
      <p:sp>
        <p:nvSpPr>
          <p:cNvPr id="26" name="Text 24"/>
          <p:cNvSpPr/>
          <p:nvPr/>
        </p:nvSpPr>
        <p:spPr>
          <a:xfrm>
            <a:off x="4901184" y="2395727"/>
            <a:ext cx="3401568" cy="256032"/>
          </a:xfrm>
          <a:prstGeom prst="rect">
            <a:avLst/>
          </a:prstGeom>
          <a:noFill/>
          <a:ln/>
        </p:spPr>
        <p:txBody>
          <a:bodyPr wrap="square" lIns="0" tIns="0" rIns="0" bIns="0" rtlCol="0" anchor="ctr"/>
          <a:lstStyle/>
          <a:p>
            <a:pPr marL="0" indent="0">
              <a:buNone/>
            </a:pPr>
            <a:r>
              <a:rPr lang="en-US" sz="800" b="1" dirty="0">
                <a:solidFill>
                  <a:srgbClr val="0A0A0A"/>
                </a:solidFill>
                <a:latin typeface="Courier New" pitchFamily="34" charset="0"/>
                <a:ea typeface="Courier New" pitchFamily="34" charset="-122"/>
                <a:cs typeface="Courier New" pitchFamily="34" charset="-120"/>
              </a:rPr>
              <a:t>raspberry-pi_experience2.csv</a:t>
            </a:r>
            <a:endParaRPr lang="en-US" sz="800" dirty="0"/>
          </a:p>
        </p:txBody>
      </p:sp>
      <p:sp>
        <p:nvSpPr>
          <p:cNvPr id="27" name="Text 25"/>
          <p:cNvSpPr/>
          <p:nvPr/>
        </p:nvSpPr>
        <p:spPr>
          <a:xfrm>
            <a:off x="4901184" y="2688335"/>
            <a:ext cx="3401568"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155 lignes · 13 colonnes</a:t>
            </a:r>
            <a:endParaRPr lang="en-US" sz="750" dirty="0"/>
          </a:p>
        </p:txBody>
      </p:sp>
      <p:sp>
        <p:nvSpPr>
          <p:cNvPr id="28" name="Shape 26"/>
          <p:cNvSpPr/>
          <p:nvPr/>
        </p:nvSpPr>
        <p:spPr>
          <a:xfrm>
            <a:off x="475488" y="3182111"/>
            <a:ext cx="8321040" cy="932688"/>
          </a:xfrm>
          <a:prstGeom prst="rect">
            <a:avLst/>
          </a:prstGeom>
          <a:solidFill>
            <a:srgbClr val="FAFAFA"/>
          </a:solidFill>
          <a:ln w="12700">
            <a:solidFill>
              <a:srgbClr val="FAFAFA"/>
            </a:solidFill>
            <a:prstDash val="solid"/>
          </a:ln>
        </p:spPr>
        <p:txBody>
          <a:bodyPr/>
          <a:lstStyle/>
          <a:p>
            <a:endParaRPr lang="en-CA"/>
          </a:p>
        </p:txBody>
      </p:sp>
      <p:sp>
        <p:nvSpPr>
          <p:cNvPr id="29" name="Shape 27"/>
          <p:cNvSpPr/>
          <p:nvPr/>
        </p:nvSpPr>
        <p:spPr>
          <a:xfrm>
            <a:off x="475488" y="4114799"/>
            <a:ext cx="8321040" cy="0"/>
          </a:xfrm>
          <a:prstGeom prst="line">
            <a:avLst/>
          </a:prstGeom>
          <a:noFill/>
          <a:ln w="6350">
            <a:solidFill>
              <a:srgbClr val="EEEEEE"/>
            </a:solidFill>
            <a:prstDash val="solid"/>
          </a:ln>
        </p:spPr>
        <p:txBody>
          <a:bodyPr/>
          <a:lstStyle/>
          <a:p>
            <a:endParaRPr lang="en-CA"/>
          </a:p>
        </p:txBody>
      </p:sp>
      <p:sp>
        <p:nvSpPr>
          <p:cNvPr id="30" name="Shape 28"/>
          <p:cNvSpPr/>
          <p:nvPr/>
        </p:nvSpPr>
        <p:spPr>
          <a:xfrm>
            <a:off x="475488" y="3182111"/>
            <a:ext cx="36576" cy="932688"/>
          </a:xfrm>
          <a:prstGeom prst="rect">
            <a:avLst/>
          </a:prstGeom>
          <a:solidFill>
            <a:srgbClr val="C9A84C"/>
          </a:solidFill>
          <a:ln w="12700">
            <a:solidFill>
              <a:srgbClr val="C9A84C"/>
            </a:solidFill>
            <a:prstDash val="solid"/>
          </a:ln>
        </p:spPr>
        <p:txBody>
          <a:bodyPr/>
          <a:lstStyle/>
          <a:p>
            <a:endParaRPr lang="en-CA"/>
          </a:p>
        </p:txBody>
      </p:sp>
      <p:sp>
        <p:nvSpPr>
          <p:cNvPr id="31" name="Text 29"/>
          <p:cNvSpPr/>
          <p:nvPr/>
        </p:nvSpPr>
        <p:spPr>
          <a:xfrm>
            <a:off x="603504" y="3182111"/>
            <a:ext cx="548640" cy="932688"/>
          </a:xfrm>
          <a:prstGeom prst="rect">
            <a:avLst/>
          </a:prstGeom>
          <a:noFill/>
          <a:ln/>
        </p:spPr>
        <p:txBody>
          <a:bodyPr wrap="square" lIns="0" tIns="0" rIns="0" bIns="0" rtlCol="0" anchor="ctr"/>
          <a:lstStyle/>
          <a:p>
            <a:pPr marL="0" indent="0" algn="ctr">
              <a:buNone/>
            </a:pPr>
            <a:r>
              <a:rPr lang="en-US" sz="1800" b="1" dirty="0">
                <a:solidFill>
                  <a:srgbClr val="E8E8E8"/>
                </a:solidFill>
                <a:latin typeface="Calibri" pitchFamily="34" charset="0"/>
                <a:ea typeface="Calibri" pitchFamily="34" charset="-122"/>
                <a:cs typeface="Calibri" pitchFamily="34" charset="-120"/>
              </a:rPr>
              <a:t>3</a:t>
            </a:r>
            <a:endParaRPr lang="en-US" sz="1800" dirty="0"/>
          </a:p>
        </p:txBody>
      </p:sp>
      <p:sp>
        <p:nvSpPr>
          <p:cNvPr id="32" name="Text 30"/>
          <p:cNvSpPr/>
          <p:nvPr/>
        </p:nvSpPr>
        <p:spPr>
          <a:xfrm>
            <a:off x="1463040" y="3326475"/>
            <a:ext cx="3474720" cy="256032"/>
          </a:xfrm>
          <a:prstGeom prst="rect">
            <a:avLst/>
          </a:prstGeom>
          <a:noFill/>
          <a:ln/>
        </p:spPr>
        <p:txBody>
          <a:bodyPr wrap="square" lIns="0" tIns="0" rIns="0" bIns="0" rtlCol="0" anchor="ctr"/>
          <a:lstStyle/>
          <a:p>
            <a:r>
              <a:rPr lang="en-US" sz="800" b="1" dirty="0">
                <a:solidFill>
                  <a:srgbClr val="0A0A0A"/>
                </a:solidFill>
                <a:latin typeface="Courier New" pitchFamily="34" charset="0"/>
                <a:ea typeface="Courier New" pitchFamily="34" charset="-122"/>
                <a:cs typeface="Courier New" pitchFamily="34" charset="-120"/>
              </a:rPr>
              <a:t>laptop-windows-x86_experience3.csv</a:t>
            </a:r>
            <a:endParaRPr lang="en-US" sz="800" dirty="0"/>
          </a:p>
        </p:txBody>
      </p:sp>
      <p:sp>
        <p:nvSpPr>
          <p:cNvPr id="33" name="Text 31"/>
          <p:cNvSpPr/>
          <p:nvPr/>
        </p:nvSpPr>
        <p:spPr>
          <a:xfrm>
            <a:off x="1463040" y="3619083"/>
            <a:ext cx="3474720"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155 lignes · 13 colonnes</a:t>
            </a:r>
            <a:endParaRPr lang="en-US" sz="750" dirty="0"/>
          </a:p>
        </p:txBody>
      </p:sp>
      <p:sp>
        <p:nvSpPr>
          <p:cNvPr id="34" name="Shape 32"/>
          <p:cNvSpPr/>
          <p:nvPr/>
        </p:nvSpPr>
        <p:spPr>
          <a:xfrm>
            <a:off x="4560639" y="3308187"/>
            <a:ext cx="0" cy="676656"/>
          </a:xfrm>
          <a:prstGeom prst="line">
            <a:avLst/>
          </a:prstGeom>
          <a:noFill/>
          <a:ln w="7620">
            <a:solidFill>
              <a:srgbClr val="EEEEEE"/>
            </a:solidFill>
            <a:prstDash val="solid"/>
          </a:ln>
        </p:spPr>
        <p:txBody>
          <a:bodyPr/>
          <a:lstStyle/>
          <a:p>
            <a:endParaRPr lang="en-CA"/>
          </a:p>
        </p:txBody>
      </p:sp>
      <p:sp>
        <p:nvSpPr>
          <p:cNvPr id="35" name="Text 33"/>
          <p:cNvSpPr/>
          <p:nvPr/>
        </p:nvSpPr>
        <p:spPr>
          <a:xfrm>
            <a:off x="4901184" y="3328415"/>
            <a:ext cx="3401568" cy="256032"/>
          </a:xfrm>
          <a:prstGeom prst="rect">
            <a:avLst/>
          </a:prstGeom>
          <a:noFill/>
          <a:ln/>
        </p:spPr>
        <p:txBody>
          <a:bodyPr wrap="square" lIns="0" tIns="0" rIns="0" bIns="0" rtlCol="0" anchor="ctr"/>
          <a:lstStyle/>
          <a:p>
            <a:pPr marL="0" indent="0">
              <a:buNone/>
            </a:pPr>
            <a:r>
              <a:rPr lang="en-US" sz="800" b="1" dirty="0">
                <a:solidFill>
                  <a:srgbClr val="0A0A0A"/>
                </a:solidFill>
                <a:latin typeface="Courier New" pitchFamily="34" charset="0"/>
                <a:ea typeface="Courier New" pitchFamily="34" charset="-122"/>
                <a:cs typeface="Courier New" pitchFamily="34" charset="-120"/>
              </a:rPr>
              <a:t>raspberry-pi_experience3.csv</a:t>
            </a:r>
            <a:endParaRPr lang="en-US" sz="800" dirty="0"/>
          </a:p>
        </p:txBody>
      </p:sp>
      <p:sp>
        <p:nvSpPr>
          <p:cNvPr id="36" name="Text 34"/>
          <p:cNvSpPr/>
          <p:nvPr/>
        </p:nvSpPr>
        <p:spPr>
          <a:xfrm>
            <a:off x="4901184" y="3621023"/>
            <a:ext cx="3401568"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155 lignes · 13 colonnes</a:t>
            </a:r>
            <a:endParaRPr lang="en-US" sz="750" dirty="0"/>
          </a:p>
        </p:txBody>
      </p:sp>
      <p:sp>
        <p:nvSpPr>
          <p:cNvPr id="37" name="Shape 35"/>
          <p:cNvSpPr/>
          <p:nvPr/>
        </p:nvSpPr>
        <p:spPr>
          <a:xfrm>
            <a:off x="475488" y="4187951"/>
            <a:ext cx="8321040" cy="0"/>
          </a:xfrm>
          <a:prstGeom prst="line">
            <a:avLst/>
          </a:prstGeom>
          <a:noFill/>
          <a:ln w="12700">
            <a:solidFill>
              <a:srgbClr val="0A0A0A"/>
            </a:solidFill>
            <a:prstDash val="solid"/>
          </a:ln>
        </p:spPr>
        <p:txBody>
          <a:bodyPr/>
          <a:lstStyle/>
          <a:p>
            <a:endParaRPr lang="en-CA"/>
          </a:p>
        </p:txBody>
      </p:sp>
      <p:sp>
        <p:nvSpPr>
          <p:cNvPr id="38" name="Text 36"/>
          <p:cNvSpPr/>
          <p:nvPr/>
        </p:nvSpPr>
        <p:spPr>
          <a:xfrm>
            <a:off x="603504" y="4224527"/>
            <a:ext cx="1371600" cy="292608"/>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TOTAL</a:t>
            </a:r>
            <a:endParaRPr lang="en-US" sz="950" dirty="0"/>
          </a:p>
        </p:txBody>
      </p:sp>
      <p:sp>
        <p:nvSpPr>
          <p:cNvPr id="40" name="Text 38"/>
          <p:cNvSpPr/>
          <p:nvPr/>
        </p:nvSpPr>
        <p:spPr>
          <a:xfrm>
            <a:off x="4901184" y="4224527"/>
            <a:ext cx="3401568" cy="292608"/>
          </a:xfrm>
          <a:prstGeom prst="rect">
            <a:avLst/>
          </a:prstGeom>
          <a:noFill/>
          <a:ln/>
        </p:spPr>
        <p:txBody>
          <a:bodyPr wrap="square" lIns="0" tIns="0" rIns="0" bIns="0" rtlCol="0" anchor="ctr"/>
          <a:lstStyle/>
          <a:p>
            <a:pPr marL="0" indent="0">
              <a:buNone/>
            </a:pPr>
            <a:r>
              <a:rPr lang="en-US" sz="900" dirty="0">
                <a:solidFill>
                  <a:srgbClr val="888888"/>
                </a:solidFill>
                <a:latin typeface="Calibri" pitchFamily="34" charset="0"/>
                <a:ea typeface="Calibri" pitchFamily="34" charset="-122"/>
                <a:cs typeface="Calibri" pitchFamily="34" charset="-120"/>
              </a:rPr>
              <a:t>3 fichiers · 465 lignes</a:t>
            </a:r>
            <a:endParaRPr lang="en-US" sz="900" dirty="0"/>
          </a:p>
        </p:txBody>
      </p:sp>
      <p:sp>
        <p:nvSpPr>
          <p:cNvPr id="41" name="Text 39"/>
          <p:cNvSpPr/>
          <p:nvPr/>
        </p:nvSpPr>
        <p:spPr>
          <a:xfrm>
            <a:off x="6583680" y="4224527"/>
            <a:ext cx="2103120" cy="292608"/>
          </a:xfrm>
          <a:prstGeom prst="rect">
            <a:avLst/>
          </a:prstGeom>
          <a:noFill/>
          <a:ln/>
        </p:spPr>
        <p:txBody>
          <a:bodyPr wrap="square" lIns="0" tIns="0" rIns="0" bIns="0" rtlCol="0" anchor="ctr"/>
          <a:lstStyle/>
          <a:p>
            <a:pPr marL="0" indent="0" algn="r">
              <a:buNone/>
            </a:pPr>
            <a:r>
              <a:rPr lang="fr-FR" sz="900" b="1" dirty="0">
                <a:solidFill>
                  <a:srgbClr val="C9A84C"/>
                </a:solidFill>
                <a:latin typeface="Calibri" pitchFamily="34" charset="0"/>
                <a:ea typeface="Calibri" pitchFamily="34" charset="-122"/>
                <a:cs typeface="Calibri" pitchFamily="34" charset="-120"/>
              </a:rPr>
              <a:t>6 CSV · 930 lignes au total</a:t>
            </a:r>
            <a:endParaRPr lang="en-US" sz="900" dirty="0"/>
          </a:p>
        </p:txBody>
      </p:sp>
      <p:sp>
        <p:nvSpPr>
          <p:cNvPr id="43" name="Text 41"/>
          <p:cNvSpPr/>
          <p:nvPr/>
        </p:nvSpPr>
        <p:spPr>
          <a:xfrm>
            <a:off x="177615" y="4873752"/>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44" name="Text 38">
            <a:extLst>
              <a:ext uri="{FF2B5EF4-FFF2-40B4-BE49-F238E27FC236}">
                <a16:creationId xmlns:a16="http://schemas.microsoft.com/office/drawing/2014/main" id="{EC9D7D08-A6C8-71BB-4E0F-0CD06279E77E}"/>
              </a:ext>
            </a:extLst>
          </p:cNvPr>
          <p:cNvSpPr/>
          <p:nvPr/>
        </p:nvSpPr>
        <p:spPr>
          <a:xfrm>
            <a:off x="1536192" y="4238244"/>
            <a:ext cx="3401568" cy="292608"/>
          </a:xfrm>
          <a:prstGeom prst="rect">
            <a:avLst/>
          </a:prstGeom>
          <a:noFill/>
          <a:ln/>
        </p:spPr>
        <p:txBody>
          <a:bodyPr wrap="square" lIns="0" tIns="0" rIns="0" bIns="0" rtlCol="0" anchor="ctr"/>
          <a:lstStyle/>
          <a:p>
            <a:pPr marL="0" indent="0">
              <a:buNone/>
            </a:pPr>
            <a:r>
              <a:rPr lang="en-US" sz="900" dirty="0">
                <a:solidFill>
                  <a:srgbClr val="888888"/>
                </a:solidFill>
                <a:latin typeface="Calibri" pitchFamily="34" charset="0"/>
                <a:ea typeface="Calibri" pitchFamily="34" charset="-122"/>
                <a:cs typeface="Calibri" pitchFamily="34" charset="-120"/>
              </a:rPr>
              <a:t>3 fichiers · 465 lignes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475488" y="164592"/>
            <a:ext cx="73152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04c  ·  GÉNÉRATION DES SORTIES EXPÉRIMENTALES</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Structure </a:t>
            </a:r>
            <a:r>
              <a:rPr lang="en-US" sz="1500" b="1" dirty="0">
                <a:solidFill>
                  <a:srgbClr val="C9A84C"/>
                </a:solidFill>
                <a:latin typeface="Calibri" pitchFamily="34" charset="0"/>
                <a:ea typeface="Calibri" pitchFamily="34" charset="-122"/>
                <a:cs typeface="Calibri" pitchFamily="34" charset="-120"/>
              </a:rPr>
              <a:t>des sorties CSV</a:t>
            </a:r>
            <a:endParaRPr lang="en-US" sz="1500" dirty="0"/>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sp>
        <p:nvSpPr>
          <p:cNvPr id="6" name="Text 4"/>
          <p:cNvSpPr/>
          <p:nvPr/>
        </p:nvSpPr>
        <p:spPr>
          <a:xfrm>
            <a:off x="475488" y="822960"/>
            <a:ext cx="8321040" cy="201168"/>
          </a:xfrm>
          <a:prstGeom prst="rect">
            <a:avLst/>
          </a:prstGeom>
          <a:noFill/>
          <a:ln/>
        </p:spPr>
        <p:txBody>
          <a:bodyPr wrap="square" lIns="0" tIns="0" rIns="0" bIns="0" rtlCol="0" anchor="ctr"/>
          <a:lstStyle/>
          <a:p>
            <a:pPr marL="0" indent="0">
              <a:buNone/>
            </a:pPr>
            <a:r>
              <a:rPr lang="en-US" sz="750" b="1" kern="0" spc="150" dirty="0">
                <a:solidFill>
                  <a:srgbClr val="C0C0C0"/>
                </a:solidFill>
                <a:latin typeface="Calibri" pitchFamily="34" charset="0"/>
                <a:ea typeface="Calibri" pitchFamily="34" charset="-122"/>
                <a:cs typeface="Calibri" pitchFamily="34" charset="-120"/>
              </a:rPr>
              <a:t>6 COLONNES CLÉS</a:t>
            </a:r>
            <a:endParaRPr lang="en-US" sz="750" dirty="0"/>
          </a:p>
        </p:txBody>
      </p:sp>
      <p:sp>
        <p:nvSpPr>
          <p:cNvPr id="7" name="Shape 5"/>
          <p:cNvSpPr/>
          <p:nvPr/>
        </p:nvSpPr>
        <p:spPr>
          <a:xfrm>
            <a:off x="630936" y="1116399"/>
            <a:ext cx="1207008" cy="475488"/>
          </a:xfrm>
          <a:prstGeom prst="roundRect">
            <a:avLst>
              <a:gd name="adj" fmla="val 15385"/>
            </a:avLst>
          </a:prstGeom>
          <a:solidFill>
            <a:srgbClr val="FAFAFA"/>
          </a:solidFill>
          <a:ln w="7620">
            <a:solidFill>
              <a:srgbClr val="E8E8E8"/>
            </a:solidFill>
            <a:prstDash val="solid"/>
          </a:ln>
        </p:spPr>
        <p:txBody>
          <a:bodyPr/>
          <a:lstStyle/>
          <a:p>
            <a:endParaRPr lang="en-CA"/>
          </a:p>
        </p:txBody>
      </p:sp>
      <p:sp>
        <p:nvSpPr>
          <p:cNvPr id="8" name="Shape 6"/>
          <p:cNvSpPr/>
          <p:nvPr/>
        </p:nvSpPr>
        <p:spPr>
          <a:xfrm>
            <a:off x="630936" y="1116399"/>
            <a:ext cx="1207008" cy="45720"/>
          </a:xfrm>
          <a:prstGeom prst="rect">
            <a:avLst/>
          </a:prstGeom>
          <a:solidFill>
            <a:srgbClr val="0A0A0A"/>
          </a:solidFill>
          <a:ln w="12700">
            <a:solidFill>
              <a:srgbClr val="0A0A0A"/>
            </a:solidFill>
            <a:prstDash val="solid"/>
          </a:ln>
        </p:spPr>
        <p:txBody>
          <a:bodyPr/>
          <a:lstStyle/>
          <a:p>
            <a:endParaRPr lang="en-CA"/>
          </a:p>
        </p:txBody>
      </p:sp>
      <p:sp>
        <p:nvSpPr>
          <p:cNvPr id="9" name="Text 7"/>
          <p:cNvSpPr/>
          <p:nvPr/>
        </p:nvSpPr>
        <p:spPr>
          <a:xfrm>
            <a:off x="704088" y="1207839"/>
            <a:ext cx="1060704" cy="201168"/>
          </a:xfrm>
          <a:prstGeom prst="rect">
            <a:avLst/>
          </a:prstGeom>
          <a:noFill/>
          <a:ln/>
        </p:spPr>
        <p:txBody>
          <a:bodyPr wrap="square" lIns="0" tIns="0" rIns="0" bIns="0" rtlCol="0" anchor="ctr"/>
          <a:lstStyle/>
          <a:p>
            <a:pPr marL="0" indent="0">
              <a:buNone/>
            </a:pPr>
            <a:r>
              <a:rPr lang="en-US" sz="700" b="1" dirty="0">
                <a:solidFill>
                  <a:srgbClr val="0A0A0A"/>
                </a:solidFill>
                <a:latin typeface="Courier New" pitchFamily="34" charset="0"/>
                <a:ea typeface="Courier New" pitchFamily="34" charset="-122"/>
                <a:cs typeface="Courier New" pitchFamily="34" charset="-120"/>
              </a:rPr>
              <a:t>algorithm</a:t>
            </a:r>
            <a:endParaRPr lang="en-US" sz="700" dirty="0"/>
          </a:p>
        </p:txBody>
      </p:sp>
      <p:sp>
        <p:nvSpPr>
          <p:cNvPr id="10" name="Text 8"/>
          <p:cNvSpPr/>
          <p:nvPr/>
        </p:nvSpPr>
        <p:spPr>
          <a:xfrm>
            <a:off x="704088" y="1409007"/>
            <a:ext cx="1060704" cy="146304"/>
          </a:xfrm>
          <a:prstGeom prst="rect">
            <a:avLst/>
          </a:prstGeom>
          <a:noFill/>
          <a:ln/>
        </p:spPr>
        <p:txBody>
          <a:bodyPr wrap="square" lIns="0" tIns="0" rIns="0" bIns="0" rtlCol="0" anchor="ctr"/>
          <a:lstStyle/>
          <a:p>
            <a:pPr marL="0" indent="0">
              <a:buNone/>
            </a:pPr>
            <a:r>
              <a:rPr lang="en-US" sz="700" dirty="0">
                <a:solidFill>
                  <a:srgbClr val="888888"/>
                </a:solidFill>
                <a:latin typeface="Calibri" pitchFamily="34" charset="0"/>
                <a:ea typeface="Calibri" pitchFamily="34" charset="-122"/>
                <a:cs typeface="Calibri" pitchFamily="34" charset="-120"/>
              </a:rPr>
              <a:t>string</a:t>
            </a:r>
            <a:endParaRPr lang="en-US" sz="700" dirty="0"/>
          </a:p>
        </p:txBody>
      </p:sp>
      <p:sp>
        <p:nvSpPr>
          <p:cNvPr id="11" name="Shape 9"/>
          <p:cNvSpPr/>
          <p:nvPr/>
        </p:nvSpPr>
        <p:spPr>
          <a:xfrm>
            <a:off x="1965960" y="1116399"/>
            <a:ext cx="1207008" cy="475488"/>
          </a:xfrm>
          <a:prstGeom prst="roundRect">
            <a:avLst>
              <a:gd name="adj" fmla="val 15385"/>
            </a:avLst>
          </a:prstGeom>
          <a:solidFill>
            <a:srgbClr val="FAFAFA"/>
          </a:solidFill>
          <a:ln w="7620">
            <a:solidFill>
              <a:srgbClr val="E8E8E8"/>
            </a:solidFill>
            <a:prstDash val="solid"/>
          </a:ln>
        </p:spPr>
        <p:txBody>
          <a:bodyPr/>
          <a:lstStyle/>
          <a:p>
            <a:endParaRPr lang="en-CA"/>
          </a:p>
        </p:txBody>
      </p:sp>
      <p:sp>
        <p:nvSpPr>
          <p:cNvPr id="12" name="Shape 10"/>
          <p:cNvSpPr/>
          <p:nvPr/>
        </p:nvSpPr>
        <p:spPr>
          <a:xfrm>
            <a:off x="1965960" y="1116399"/>
            <a:ext cx="1207008" cy="45720"/>
          </a:xfrm>
          <a:prstGeom prst="rect">
            <a:avLst/>
          </a:prstGeom>
          <a:solidFill>
            <a:srgbClr val="0A0A0A"/>
          </a:solidFill>
          <a:ln w="12700">
            <a:solidFill>
              <a:srgbClr val="0A0A0A"/>
            </a:solidFill>
            <a:prstDash val="solid"/>
          </a:ln>
        </p:spPr>
        <p:txBody>
          <a:bodyPr/>
          <a:lstStyle/>
          <a:p>
            <a:endParaRPr lang="en-CA"/>
          </a:p>
        </p:txBody>
      </p:sp>
      <p:sp>
        <p:nvSpPr>
          <p:cNvPr id="13" name="Text 11"/>
          <p:cNvSpPr/>
          <p:nvPr/>
        </p:nvSpPr>
        <p:spPr>
          <a:xfrm>
            <a:off x="2039112" y="1207839"/>
            <a:ext cx="1060704" cy="201168"/>
          </a:xfrm>
          <a:prstGeom prst="rect">
            <a:avLst/>
          </a:prstGeom>
          <a:noFill/>
          <a:ln/>
        </p:spPr>
        <p:txBody>
          <a:bodyPr wrap="square" lIns="0" tIns="0" rIns="0" bIns="0" rtlCol="0" anchor="ctr"/>
          <a:lstStyle/>
          <a:p>
            <a:pPr marL="0" indent="0">
              <a:buNone/>
            </a:pPr>
            <a:r>
              <a:rPr lang="en-US" sz="700" b="1" dirty="0">
                <a:solidFill>
                  <a:srgbClr val="0A0A0A"/>
                </a:solidFill>
                <a:latin typeface="Courier New" pitchFamily="34" charset="0"/>
                <a:ea typeface="Courier New" pitchFamily="34" charset="-122"/>
                <a:cs typeface="Courier New" pitchFamily="34" charset="-120"/>
              </a:rPr>
              <a:t>mode</a:t>
            </a:r>
            <a:endParaRPr lang="en-US" sz="700" dirty="0"/>
          </a:p>
        </p:txBody>
      </p:sp>
      <p:sp>
        <p:nvSpPr>
          <p:cNvPr id="14" name="Text 12"/>
          <p:cNvSpPr/>
          <p:nvPr/>
        </p:nvSpPr>
        <p:spPr>
          <a:xfrm>
            <a:off x="2039112" y="1409007"/>
            <a:ext cx="1060704" cy="146304"/>
          </a:xfrm>
          <a:prstGeom prst="rect">
            <a:avLst/>
          </a:prstGeom>
          <a:noFill/>
          <a:ln/>
        </p:spPr>
        <p:txBody>
          <a:bodyPr wrap="square" lIns="0" tIns="0" rIns="0" bIns="0" rtlCol="0" anchor="ctr"/>
          <a:lstStyle/>
          <a:p>
            <a:pPr marL="0" indent="0">
              <a:buNone/>
            </a:pPr>
            <a:r>
              <a:rPr lang="en-US" sz="700" dirty="0">
                <a:solidFill>
                  <a:srgbClr val="888888"/>
                </a:solidFill>
                <a:latin typeface="Calibri" pitchFamily="34" charset="0"/>
                <a:ea typeface="Calibri" pitchFamily="34" charset="-122"/>
                <a:cs typeface="Calibri" pitchFamily="34" charset="-120"/>
              </a:rPr>
              <a:t>string</a:t>
            </a:r>
            <a:endParaRPr lang="en-US" sz="700" dirty="0"/>
          </a:p>
        </p:txBody>
      </p:sp>
      <p:sp>
        <p:nvSpPr>
          <p:cNvPr id="15" name="Shape 13"/>
          <p:cNvSpPr/>
          <p:nvPr/>
        </p:nvSpPr>
        <p:spPr>
          <a:xfrm>
            <a:off x="3300984" y="1116399"/>
            <a:ext cx="1207008" cy="475488"/>
          </a:xfrm>
          <a:prstGeom prst="roundRect">
            <a:avLst>
              <a:gd name="adj" fmla="val 15385"/>
            </a:avLst>
          </a:prstGeom>
          <a:solidFill>
            <a:srgbClr val="FAFAFA"/>
          </a:solidFill>
          <a:ln w="7620">
            <a:solidFill>
              <a:srgbClr val="E8E8E8"/>
            </a:solidFill>
            <a:prstDash val="solid"/>
          </a:ln>
        </p:spPr>
        <p:txBody>
          <a:bodyPr/>
          <a:lstStyle/>
          <a:p>
            <a:endParaRPr lang="en-CA"/>
          </a:p>
        </p:txBody>
      </p:sp>
      <p:sp>
        <p:nvSpPr>
          <p:cNvPr id="16" name="Shape 14"/>
          <p:cNvSpPr/>
          <p:nvPr/>
        </p:nvSpPr>
        <p:spPr>
          <a:xfrm>
            <a:off x="3300984" y="1116399"/>
            <a:ext cx="1207008" cy="45720"/>
          </a:xfrm>
          <a:prstGeom prst="rect">
            <a:avLst/>
          </a:prstGeom>
          <a:solidFill>
            <a:srgbClr val="888888"/>
          </a:solidFill>
          <a:ln w="12700">
            <a:solidFill>
              <a:srgbClr val="888888"/>
            </a:solidFill>
            <a:prstDash val="solid"/>
          </a:ln>
        </p:spPr>
        <p:txBody>
          <a:bodyPr/>
          <a:lstStyle/>
          <a:p>
            <a:endParaRPr lang="en-CA"/>
          </a:p>
        </p:txBody>
      </p:sp>
      <p:sp>
        <p:nvSpPr>
          <p:cNvPr id="17" name="Text 15"/>
          <p:cNvSpPr/>
          <p:nvPr/>
        </p:nvSpPr>
        <p:spPr>
          <a:xfrm>
            <a:off x="3374136" y="1207839"/>
            <a:ext cx="1060704" cy="201168"/>
          </a:xfrm>
          <a:prstGeom prst="rect">
            <a:avLst/>
          </a:prstGeom>
          <a:noFill/>
          <a:ln/>
        </p:spPr>
        <p:txBody>
          <a:bodyPr wrap="square" lIns="0" tIns="0" rIns="0" bIns="0" rtlCol="0" anchor="ctr"/>
          <a:lstStyle/>
          <a:p>
            <a:pPr marL="0" indent="0">
              <a:buNone/>
            </a:pPr>
            <a:r>
              <a:rPr lang="en-US" sz="700" b="1" dirty="0">
                <a:solidFill>
                  <a:srgbClr val="0A0A0A"/>
                </a:solidFill>
                <a:latin typeface="Courier New" pitchFamily="34" charset="0"/>
                <a:ea typeface="Courier New" pitchFamily="34" charset="-122"/>
                <a:cs typeface="Courier New" pitchFamily="34" charset="-120"/>
              </a:rPr>
              <a:t>key_size_bytes</a:t>
            </a:r>
            <a:endParaRPr lang="en-US" sz="700" dirty="0"/>
          </a:p>
        </p:txBody>
      </p:sp>
      <p:sp>
        <p:nvSpPr>
          <p:cNvPr id="18" name="Text 16"/>
          <p:cNvSpPr/>
          <p:nvPr/>
        </p:nvSpPr>
        <p:spPr>
          <a:xfrm>
            <a:off x="3374136" y="1409007"/>
            <a:ext cx="1060704" cy="146304"/>
          </a:xfrm>
          <a:prstGeom prst="rect">
            <a:avLst/>
          </a:prstGeom>
          <a:noFill/>
          <a:ln/>
        </p:spPr>
        <p:txBody>
          <a:bodyPr wrap="square" lIns="0" tIns="0" rIns="0" bIns="0" rtlCol="0" anchor="ctr"/>
          <a:lstStyle/>
          <a:p>
            <a:pPr marL="0" indent="0">
              <a:buNone/>
            </a:pPr>
            <a:r>
              <a:rPr lang="en-US" sz="700" dirty="0">
                <a:solidFill>
                  <a:srgbClr val="888888"/>
                </a:solidFill>
                <a:latin typeface="Calibri" pitchFamily="34" charset="0"/>
                <a:ea typeface="Calibri" pitchFamily="34" charset="-122"/>
                <a:cs typeface="Calibri" pitchFamily="34" charset="-120"/>
              </a:rPr>
              <a:t>int</a:t>
            </a:r>
            <a:endParaRPr lang="en-US" sz="700" dirty="0"/>
          </a:p>
        </p:txBody>
      </p:sp>
      <p:sp>
        <p:nvSpPr>
          <p:cNvPr id="19" name="Shape 17"/>
          <p:cNvSpPr/>
          <p:nvPr/>
        </p:nvSpPr>
        <p:spPr>
          <a:xfrm>
            <a:off x="4636008" y="1116399"/>
            <a:ext cx="1207008" cy="475488"/>
          </a:xfrm>
          <a:prstGeom prst="roundRect">
            <a:avLst>
              <a:gd name="adj" fmla="val 15385"/>
            </a:avLst>
          </a:prstGeom>
          <a:solidFill>
            <a:srgbClr val="FAFAFA"/>
          </a:solidFill>
          <a:ln w="7620">
            <a:solidFill>
              <a:srgbClr val="E8E8E8"/>
            </a:solidFill>
            <a:prstDash val="solid"/>
          </a:ln>
        </p:spPr>
        <p:txBody>
          <a:bodyPr/>
          <a:lstStyle/>
          <a:p>
            <a:endParaRPr lang="en-CA"/>
          </a:p>
        </p:txBody>
      </p:sp>
      <p:sp>
        <p:nvSpPr>
          <p:cNvPr id="20" name="Shape 18"/>
          <p:cNvSpPr/>
          <p:nvPr/>
        </p:nvSpPr>
        <p:spPr>
          <a:xfrm>
            <a:off x="4636008" y="1116399"/>
            <a:ext cx="1207008" cy="45720"/>
          </a:xfrm>
          <a:prstGeom prst="rect">
            <a:avLst/>
          </a:prstGeom>
          <a:solidFill>
            <a:srgbClr val="888888"/>
          </a:solidFill>
          <a:ln w="12700">
            <a:solidFill>
              <a:srgbClr val="888888"/>
            </a:solidFill>
            <a:prstDash val="solid"/>
          </a:ln>
        </p:spPr>
        <p:txBody>
          <a:bodyPr/>
          <a:lstStyle/>
          <a:p>
            <a:endParaRPr lang="en-CA"/>
          </a:p>
        </p:txBody>
      </p:sp>
      <p:sp>
        <p:nvSpPr>
          <p:cNvPr id="21" name="Text 19"/>
          <p:cNvSpPr/>
          <p:nvPr/>
        </p:nvSpPr>
        <p:spPr>
          <a:xfrm>
            <a:off x="4709160" y="1207839"/>
            <a:ext cx="1060704" cy="201168"/>
          </a:xfrm>
          <a:prstGeom prst="rect">
            <a:avLst/>
          </a:prstGeom>
          <a:noFill/>
          <a:ln/>
        </p:spPr>
        <p:txBody>
          <a:bodyPr wrap="square" lIns="0" tIns="0" rIns="0" bIns="0" rtlCol="0" anchor="ctr"/>
          <a:lstStyle/>
          <a:p>
            <a:pPr marL="0" indent="0">
              <a:buNone/>
            </a:pPr>
            <a:r>
              <a:rPr lang="en-US" sz="700" b="1" dirty="0">
                <a:solidFill>
                  <a:srgbClr val="0A0A0A"/>
                </a:solidFill>
                <a:latin typeface="Courier New" pitchFamily="34" charset="0"/>
                <a:ea typeface="Courier New" pitchFamily="34" charset="-122"/>
                <a:cs typeface="Courier New" pitchFamily="34" charset="-120"/>
              </a:rPr>
              <a:t>message_size_bytes</a:t>
            </a:r>
            <a:endParaRPr lang="en-US" sz="700" dirty="0"/>
          </a:p>
        </p:txBody>
      </p:sp>
      <p:sp>
        <p:nvSpPr>
          <p:cNvPr id="22" name="Text 20"/>
          <p:cNvSpPr/>
          <p:nvPr/>
        </p:nvSpPr>
        <p:spPr>
          <a:xfrm>
            <a:off x="4709160" y="1409007"/>
            <a:ext cx="1060704" cy="146304"/>
          </a:xfrm>
          <a:prstGeom prst="rect">
            <a:avLst/>
          </a:prstGeom>
          <a:noFill/>
          <a:ln/>
        </p:spPr>
        <p:txBody>
          <a:bodyPr wrap="square" lIns="0" tIns="0" rIns="0" bIns="0" rtlCol="0" anchor="ctr"/>
          <a:lstStyle/>
          <a:p>
            <a:pPr marL="0" indent="0">
              <a:buNone/>
            </a:pPr>
            <a:r>
              <a:rPr lang="en-US" sz="700" dirty="0">
                <a:solidFill>
                  <a:srgbClr val="888888"/>
                </a:solidFill>
                <a:latin typeface="Calibri" pitchFamily="34" charset="0"/>
                <a:ea typeface="Calibri" pitchFamily="34" charset="-122"/>
                <a:cs typeface="Calibri" pitchFamily="34" charset="-120"/>
              </a:rPr>
              <a:t>int</a:t>
            </a:r>
            <a:endParaRPr lang="en-US" sz="700" dirty="0"/>
          </a:p>
        </p:txBody>
      </p:sp>
      <p:sp>
        <p:nvSpPr>
          <p:cNvPr id="23" name="Shape 21"/>
          <p:cNvSpPr/>
          <p:nvPr/>
        </p:nvSpPr>
        <p:spPr>
          <a:xfrm>
            <a:off x="5971032" y="1116399"/>
            <a:ext cx="1207008" cy="475488"/>
          </a:xfrm>
          <a:prstGeom prst="roundRect">
            <a:avLst>
              <a:gd name="adj" fmla="val 15385"/>
            </a:avLst>
          </a:prstGeom>
          <a:solidFill>
            <a:srgbClr val="FAFAFA"/>
          </a:solidFill>
          <a:ln w="7620">
            <a:solidFill>
              <a:srgbClr val="E8E8E8"/>
            </a:solidFill>
            <a:prstDash val="solid"/>
          </a:ln>
        </p:spPr>
        <p:txBody>
          <a:bodyPr/>
          <a:lstStyle/>
          <a:p>
            <a:endParaRPr lang="en-CA"/>
          </a:p>
        </p:txBody>
      </p:sp>
      <p:sp>
        <p:nvSpPr>
          <p:cNvPr id="24" name="Shape 22"/>
          <p:cNvSpPr/>
          <p:nvPr/>
        </p:nvSpPr>
        <p:spPr>
          <a:xfrm>
            <a:off x="5971032" y="1116399"/>
            <a:ext cx="1207008" cy="45720"/>
          </a:xfrm>
          <a:prstGeom prst="rect">
            <a:avLst/>
          </a:prstGeom>
          <a:solidFill>
            <a:srgbClr val="C9A84C"/>
          </a:solidFill>
          <a:ln w="12700">
            <a:solidFill>
              <a:srgbClr val="C9A84C"/>
            </a:solidFill>
            <a:prstDash val="solid"/>
          </a:ln>
        </p:spPr>
        <p:txBody>
          <a:bodyPr/>
          <a:lstStyle/>
          <a:p>
            <a:endParaRPr lang="en-CA"/>
          </a:p>
        </p:txBody>
      </p:sp>
      <p:sp>
        <p:nvSpPr>
          <p:cNvPr id="25" name="Text 23"/>
          <p:cNvSpPr/>
          <p:nvPr/>
        </p:nvSpPr>
        <p:spPr>
          <a:xfrm>
            <a:off x="6044184" y="1207839"/>
            <a:ext cx="1060704" cy="201168"/>
          </a:xfrm>
          <a:prstGeom prst="rect">
            <a:avLst/>
          </a:prstGeom>
          <a:noFill/>
          <a:ln/>
        </p:spPr>
        <p:txBody>
          <a:bodyPr wrap="square" lIns="0" tIns="0" rIns="0" bIns="0" rtlCol="0" anchor="ctr"/>
          <a:lstStyle/>
          <a:p>
            <a:pPr marL="0" indent="0">
              <a:buNone/>
            </a:pPr>
            <a:r>
              <a:rPr lang="en-US" sz="700" b="1" dirty="0">
                <a:solidFill>
                  <a:srgbClr val="0A0A0A"/>
                </a:solidFill>
                <a:latin typeface="Courier New" pitchFamily="34" charset="0"/>
                <a:ea typeface="Courier New" pitchFamily="34" charset="-122"/>
                <a:cs typeface="Courier New" pitchFamily="34" charset="-120"/>
              </a:rPr>
              <a:t>throughput_encrypt_mbps</a:t>
            </a:r>
            <a:endParaRPr lang="en-US" sz="700" dirty="0"/>
          </a:p>
        </p:txBody>
      </p:sp>
      <p:sp>
        <p:nvSpPr>
          <p:cNvPr id="26" name="Text 24"/>
          <p:cNvSpPr/>
          <p:nvPr/>
        </p:nvSpPr>
        <p:spPr>
          <a:xfrm>
            <a:off x="6044184" y="1409007"/>
            <a:ext cx="1060704" cy="146304"/>
          </a:xfrm>
          <a:prstGeom prst="rect">
            <a:avLst/>
          </a:prstGeom>
          <a:noFill/>
          <a:ln/>
        </p:spPr>
        <p:txBody>
          <a:bodyPr wrap="square" lIns="0" tIns="0" rIns="0" bIns="0" rtlCol="0" anchor="ctr"/>
          <a:lstStyle/>
          <a:p>
            <a:pPr marL="0" indent="0">
              <a:buNone/>
            </a:pPr>
            <a:r>
              <a:rPr lang="en-US" sz="700" dirty="0">
                <a:solidFill>
                  <a:srgbClr val="888888"/>
                </a:solidFill>
                <a:latin typeface="Calibri" pitchFamily="34" charset="0"/>
                <a:ea typeface="Calibri" pitchFamily="34" charset="-122"/>
                <a:cs typeface="Calibri" pitchFamily="34" charset="-120"/>
              </a:rPr>
              <a:t>float</a:t>
            </a:r>
            <a:endParaRPr lang="en-US" sz="700" dirty="0"/>
          </a:p>
        </p:txBody>
      </p:sp>
      <p:sp>
        <p:nvSpPr>
          <p:cNvPr id="27" name="Shape 25"/>
          <p:cNvSpPr/>
          <p:nvPr/>
        </p:nvSpPr>
        <p:spPr>
          <a:xfrm>
            <a:off x="7306056" y="1116399"/>
            <a:ext cx="1207008" cy="475488"/>
          </a:xfrm>
          <a:prstGeom prst="roundRect">
            <a:avLst>
              <a:gd name="adj" fmla="val 15385"/>
            </a:avLst>
          </a:prstGeom>
          <a:solidFill>
            <a:srgbClr val="FAFAFA"/>
          </a:solidFill>
          <a:ln w="7620">
            <a:solidFill>
              <a:srgbClr val="E8E8E8"/>
            </a:solidFill>
            <a:prstDash val="solid"/>
          </a:ln>
        </p:spPr>
        <p:txBody>
          <a:bodyPr/>
          <a:lstStyle/>
          <a:p>
            <a:endParaRPr lang="en-CA"/>
          </a:p>
        </p:txBody>
      </p:sp>
      <p:sp>
        <p:nvSpPr>
          <p:cNvPr id="28" name="Shape 26"/>
          <p:cNvSpPr/>
          <p:nvPr/>
        </p:nvSpPr>
        <p:spPr>
          <a:xfrm>
            <a:off x="7306056" y="1116399"/>
            <a:ext cx="1207008" cy="45720"/>
          </a:xfrm>
          <a:prstGeom prst="rect">
            <a:avLst/>
          </a:prstGeom>
          <a:solidFill>
            <a:srgbClr val="C9A84C"/>
          </a:solidFill>
          <a:ln w="12700">
            <a:solidFill>
              <a:srgbClr val="C9A84C"/>
            </a:solidFill>
            <a:prstDash val="solid"/>
          </a:ln>
        </p:spPr>
        <p:txBody>
          <a:bodyPr/>
          <a:lstStyle/>
          <a:p>
            <a:endParaRPr lang="en-CA"/>
          </a:p>
        </p:txBody>
      </p:sp>
      <p:sp>
        <p:nvSpPr>
          <p:cNvPr id="29" name="Text 27"/>
          <p:cNvSpPr/>
          <p:nvPr/>
        </p:nvSpPr>
        <p:spPr>
          <a:xfrm>
            <a:off x="7379208" y="1207839"/>
            <a:ext cx="1060704" cy="201168"/>
          </a:xfrm>
          <a:prstGeom prst="rect">
            <a:avLst/>
          </a:prstGeom>
          <a:noFill/>
          <a:ln/>
        </p:spPr>
        <p:txBody>
          <a:bodyPr wrap="square" lIns="0" tIns="0" rIns="0" bIns="0" rtlCol="0" anchor="ctr"/>
          <a:lstStyle/>
          <a:p>
            <a:pPr marL="0" indent="0">
              <a:buNone/>
            </a:pPr>
            <a:r>
              <a:rPr lang="en-US" sz="700" b="1" dirty="0">
                <a:solidFill>
                  <a:srgbClr val="0A0A0A"/>
                </a:solidFill>
                <a:latin typeface="Courier New" pitchFamily="34" charset="0"/>
                <a:ea typeface="Courier New" pitchFamily="34" charset="-122"/>
                <a:cs typeface="Courier New" pitchFamily="34" charset="-120"/>
              </a:rPr>
              <a:t>avalanche_score</a:t>
            </a:r>
            <a:endParaRPr lang="en-US" sz="700" dirty="0"/>
          </a:p>
        </p:txBody>
      </p:sp>
      <p:sp>
        <p:nvSpPr>
          <p:cNvPr id="30" name="Text 28"/>
          <p:cNvSpPr/>
          <p:nvPr/>
        </p:nvSpPr>
        <p:spPr>
          <a:xfrm>
            <a:off x="7379208" y="1409007"/>
            <a:ext cx="1060704" cy="146304"/>
          </a:xfrm>
          <a:prstGeom prst="rect">
            <a:avLst/>
          </a:prstGeom>
          <a:noFill/>
          <a:ln/>
        </p:spPr>
        <p:txBody>
          <a:bodyPr wrap="square" lIns="0" tIns="0" rIns="0" bIns="0" rtlCol="0" anchor="ctr"/>
          <a:lstStyle/>
          <a:p>
            <a:pPr marL="0" indent="0">
              <a:buNone/>
            </a:pPr>
            <a:r>
              <a:rPr lang="en-US" sz="700" dirty="0">
                <a:solidFill>
                  <a:srgbClr val="888888"/>
                </a:solidFill>
                <a:latin typeface="Calibri" pitchFamily="34" charset="0"/>
                <a:ea typeface="Calibri" pitchFamily="34" charset="-122"/>
                <a:cs typeface="Calibri" pitchFamily="34" charset="-120"/>
              </a:rPr>
              <a:t>float</a:t>
            </a:r>
            <a:endParaRPr lang="en-US" sz="700" dirty="0"/>
          </a:p>
        </p:txBody>
      </p:sp>
      <p:sp>
        <p:nvSpPr>
          <p:cNvPr id="31" name="Text 29"/>
          <p:cNvSpPr/>
          <p:nvPr/>
        </p:nvSpPr>
        <p:spPr>
          <a:xfrm>
            <a:off x="471898" y="1668593"/>
            <a:ext cx="8321040" cy="182880"/>
          </a:xfrm>
          <a:prstGeom prst="rect">
            <a:avLst/>
          </a:prstGeom>
          <a:noFill/>
          <a:ln/>
        </p:spPr>
        <p:txBody>
          <a:bodyPr wrap="square" lIns="0" tIns="0" rIns="0" bIns="0" rtlCol="0" anchor="ctr"/>
          <a:lstStyle/>
          <a:p>
            <a:pPr marL="0" indent="0" algn="ctr">
              <a:buNone/>
            </a:pPr>
            <a:r>
              <a:rPr lang="en-US" sz="750" i="1" dirty="0">
                <a:solidFill>
                  <a:srgbClr val="C0C0C0"/>
                </a:solidFill>
                <a:latin typeface="Calibri" pitchFamily="34" charset="0"/>
                <a:ea typeface="Calibri" pitchFamily="34" charset="-122"/>
                <a:cs typeface="Calibri" pitchFamily="34" charset="-120"/>
              </a:rPr>
              <a:t>7 colonnes supplémentaires : repetitions, avg_encrypt_time_s, avg_decrypt_time_s, throughput_decrypt_mbps, key_avalanche_score, ci95_encrypt_mbps, ci95_decrypt_mbps</a:t>
            </a:r>
            <a:endParaRPr lang="en-US" sz="750" dirty="0"/>
          </a:p>
        </p:txBody>
      </p:sp>
      <p:sp>
        <p:nvSpPr>
          <p:cNvPr id="32" name="Text 30"/>
          <p:cNvSpPr/>
          <p:nvPr/>
        </p:nvSpPr>
        <p:spPr>
          <a:xfrm>
            <a:off x="471898" y="2219726"/>
            <a:ext cx="6632990" cy="261851"/>
          </a:xfrm>
          <a:prstGeom prst="rect">
            <a:avLst/>
          </a:prstGeom>
          <a:noFill/>
          <a:ln/>
        </p:spPr>
        <p:txBody>
          <a:bodyPr wrap="square" lIns="0" tIns="0" rIns="0" bIns="0" rtlCol="0" anchor="ctr"/>
          <a:lstStyle/>
          <a:p>
            <a:pPr marL="0" indent="0">
              <a:buNone/>
            </a:pPr>
            <a:r>
              <a:rPr lang="en-US" sz="750" b="1" kern="0" spc="150" dirty="0">
                <a:solidFill>
                  <a:srgbClr val="C0C0C0"/>
                </a:solidFill>
                <a:latin typeface="Calibri" pitchFamily="34" charset="0"/>
                <a:ea typeface="Calibri" pitchFamily="34" charset="-122"/>
                <a:cs typeface="Calibri" pitchFamily="34" charset="-120"/>
              </a:rPr>
              <a:t>EXTRAIT RÉEL — laptop-windows-x86_experience1.csv</a:t>
            </a:r>
          </a:p>
        </p:txBody>
      </p:sp>
      <p:sp>
        <p:nvSpPr>
          <p:cNvPr id="68" name="Text 66"/>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38" name="Text 30">
            <a:extLst>
              <a:ext uri="{FF2B5EF4-FFF2-40B4-BE49-F238E27FC236}">
                <a16:creationId xmlns:a16="http://schemas.microsoft.com/office/drawing/2014/main" id="{A4AA062E-58EB-FB1E-DB6D-EAE09C816BAD}"/>
              </a:ext>
            </a:extLst>
          </p:cNvPr>
          <p:cNvSpPr/>
          <p:nvPr/>
        </p:nvSpPr>
        <p:spPr>
          <a:xfrm>
            <a:off x="472163" y="3373046"/>
            <a:ext cx="6400800" cy="201168"/>
          </a:xfrm>
          <a:prstGeom prst="rect">
            <a:avLst/>
          </a:prstGeom>
          <a:noFill/>
          <a:ln/>
        </p:spPr>
        <p:txBody>
          <a:bodyPr wrap="square" lIns="0" tIns="0" rIns="0" bIns="0" rtlCol="0" anchor="ctr"/>
          <a:lstStyle/>
          <a:p>
            <a:pPr marL="0" indent="0">
              <a:buNone/>
            </a:pPr>
            <a:r>
              <a:rPr lang="en-US" sz="750" b="1" kern="0" spc="150" dirty="0">
                <a:solidFill>
                  <a:srgbClr val="C0C0C0"/>
                </a:solidFill>
                <a:latin typeface="Calibri" pitchFamily="34" charset="0"/>
                <a:ea typeface="Calibri" pitchFamily="34" charset="-122"/>
                <a:cs typeface="Calibri" pitchFamily="34" charset="-120"/>
              </a:rPr>
              <a:t>EXTRAIT RÉEL — raspberry-pi_experience1.csv</a:t>
            </a:r>
          </a:p>
        </p:txBody>
      </p:sp>
      <p:pic>
        <p:nvPicPr>
          <p:cNvPr id="40" name="Picture 39">
            <a:extLst>
              <a:ext uri="{FF2B5EF4-FFF2-40B4-BE49-F238E27FC236}">
                <a16:creationId xmlns:a16="http://schemas.microsoft.com/office/drawing/2014/main" id="{08E38E2E-445B-55CC-3E20-0C8160C30071}"/>
              </a:ext>
            </a:extLst>
          </p:cNvPr>
          <p:cNvPicPr>
            <a:picLocks noChangeAspect="1"/>
          </p:cNvPicPr>
          <p:nvPr/>
        </p:nvPicPr>
        <p:blipFill>
          <a:blip r:embed="rId3"/>
          <a:stretch>
            <a:fillRect/>
          </a:stretch>
        </p:blipFill>
        <p:spPr>
          <a:xfrm>
            <a:off x="471898" y="2500460"/>
            <a:ext cx="8037576" cy="713156"/>
          </a:xfrm>
          <a:prstGeom prst="rect">
            <a:avLst/>
          </a:prstGeom>
        </p:spPr>
      </p:pic>
      <p:pic>
        <p:nvPicPr>
          <p:cNvPr id="42" name="Picture 41">
            <a:extLst>
              <a:ext uri="{FF2B5EF4-FFF2-40B4-BE49-F238E27FC236}">
                <a16:creationId xmlns:a16="http://schemas.microsoft.com/office/drawing/2014/main" id="{44EC1893-A3FF-B81D-9DF6-39749BF62D2A}"/>
              </a:ext>
            </a:extLst>
          </p:cNvPr>
          <p:cNvPicPr>
            <a:picLocks noChangeAspect="1"/>
          </p:cNvPicPr>
          <p:nvPr/>
        </p:nvPicPr>
        <p:blipFill>
          <a:blip r:embed="rId4"/>
          <a:stretch>
            <a:fillRect/>
          </a:stretch>
        </p:blipFill>
        <p:spPr>
          <a:xfrm>
            <a:off x="472163" y="3593092"/>
            <a:ext cx="8037311" cy="8006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97260" y="2103952"/>
            <a:ext cx="2768136" cy="2505456"/>
          </a:xfrm>
          <a:prstGeom prst="rect">
            <a:avLst/>
          </a:prstGeom>
          <a:noFill/>
          <a:ln/>
        </p:spPr>
        <p:txBody>
          <a:bodyPr wrap="square" lIns="0" tIns="0" rIns="0" bIns="0" rtlCol="0" anchor="ctr"/>
          <a:lstStyle/>
          <a:p>
            <a:pPr marL="0" indent="0">
              <a:buNone/>
            </a:pPr>
            <a:r>
              <a:rPr lang="en-US" sz="16000" b="1" dirty="0">
                <a:solidFill>
                  <a:srgbClr val="0A0A0A">
                    <a:alpha val="3000"/>
                  </a:srgbClr>
                </a:solidFill>
                <a:latin typeface="Calibri" pitchFamily="34" charset="0"/>
                <a:ea typeface="Calibri" pitchFamily="34" charset="-122"/>
                <a:cs typeface="Calibri" pitchFamily="34" charset="-120"/>
              </a:rPr>
              <a:t>05</a:t>
            </a:r>
            <a:endParaRPr lang="en-US" sz="16000" dirty="0"/>
          </a:p>
        </p:txBody>
      </p:sp>
      <p:sp>
        <p:nvSpPr>
          <p:cNvPr id="4" name="Text 2"/>
          <p:cNvSpPr/>
          <p:nvPr/>
        </p:nvSpPr>
        <p:spPr>
          <a:xfrm>
            <a:off x="475488" y="164592"/>
            <a:ext cx="64008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05  ·  SYNTHÈSE ET DÉMONSTRATION</a:t>
            </a:r>
            <a:endParaRPr lang="en-US" sz="800" dirty="0"/>
          </a:p>
        </p:txBody>
      </p:sp>
      <p:sp>
        <p:nvSpPr>
          <p:cNvPr id="5" name="Text 3"/>
          <p:cNvSpPr/>
          <p:nvPr/>
        </p:nvSpPr>
        <p:spPr>
          <a:xfrm>
            <a:off x="475488" y="402336"/>
            <a:ext cx="2834640" cy="1097280"/>
          </a:xfrm>
          <a:prstGeom prst="rect">
            <a:avLst/>
          </a:prstGeom>
          <a:noFill/>
          <a:ln/>
        </p:spPr>
        <p:txBody>
          <a:bodyPr wrap="square" lIns="0" tIns="0" rIns="0" bIns="0" rtlCol="0" anchor="ctr"/>
          <a:lstStyle/>
          <a:p>
            <a:pPr marL="0" indent="0">
              <a:lnSpc>
                <a:spcPct val="115000"/>
              </a:lnSpc>
              <a:buNone/>
            </a:pPr>
            <a:r>
              <a:rPr lang="en-US" sz="2100" b="1" dirty="0">
                <a:solidFill>
                  <a:srgbClr val="0A0A0A"/>
                </a:solidFill>
                <a:latin typeface="Calibri" pitchFamily="34" charset="0"/>
                <a:ea typeface="Calibri" pitchFamily="34" charset="-122"/>
                <a:cs typeface="Calibri" pitchFamily="34" charset="-120"/>
              </a:rPr>
              <a:t>Synthèse
</a:t>
            </a:r>
            <a:r>
              <a:rPr lang="en-US" sz="2100" b="1" dirty="0">
                <a:solidFill>
                  <a:srgbClr val="C9A84C"/>
                </a:solidFill>
                <a:latin typeface="Calibri" pitchFamily="34" charset="0"/>
                <a:ea typeface="Calibri" pitchFamily="34" charset="-122"/>
                <a:cs typeface="Calibri" pitchFamily="34" charset="-120"/>
              </a:rPr>
              <a:t>et démonstration.</a:t>
            </a:r>
            <a:endParaRPr lang="en-US" sz="2100" dirty="0"/>
          </a:p>
        </p:txBody>
      </p:sp>
      <p:sp>
        <p:nvSpPr>
          <p:cNvPr id="6" name="Shape 4"/>
          <p:cNvSpPr/>
          <p:nvPr/>
        </p:nvSpPr>
        <p:spPr>
          <a:xfrm>
            <a:off x="475488" y="1572768"/>
            <a:ext cx="329184" cy="0"/>
          </a:xfrm>
          <a:prstGeom prst="line">
            <a:avLst/>
          </a:prstGeom>
          <a:noFill/>
          <a:ln w="31750">
            <a:solidFill>
              <a:srgbClr val="C9A84C"/>
            </a:solidFill>
            <a:prstDash val="solid"/>
          </a:ln>
        </p:spPr>
        <p:txBody>
          <a:bodyPr/>
          <a:lstStyle/>
          <a:p>
            <a:endParaRPr lang="en-CA"/>
          </a:p>
        </p:txBody>
      </p:sp>
      <p:sp>
        <p:nvSpPr>
          <p:cNvPr id="7" name="Text 5"/>
          <p:cNvSpPr/>
          <p:nvPr/>
        </p:nvSpPr>
        <p:spPr>
          <a:xfrm>
            <a:off x="475488" y="1719071"/>
            <a:ext cx="2834640" cy="2111707"/>
          </a:xfrm>
          <a:prstGeom prst="rect">
            <a:avLst/>
          </a:prstGeom>
          <a:noFill/>
          <a:ln/>
        </p:spPr>
        <p:txBody>
          <a:bodyPr wrap="square" lIns="0" tIns="0" rIns="0" bIns="0" rtlCol="0" anchor="t"/>
          <a:lstStyle/>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Cette section rassemble les preuves concrètes d’exécution du système.</a:t>
            </a:r>
          </a:p>
          <a:p>
            <a:pPr marL="0" indent="0">
              <a:lnSpc>
                <a:spcPct val="150000"/>
              </a:lnSpc>
              <a:buNone/>
            </a:pPr>
            <a:endParaRPr lang="fr-FR" sz="950" dirty="0">
              <a:solidFill>
                <a:srgbClr val="555555"/>
              </a:solidFill>
              <a:latin typeface="Calibri" pitchFamily="34" charset="0"/>
              <a:ea typeface="Calibri" pitchFamily="34" charset="-122"/>
              <a:cs typeface="Calibri" pitchFamily="34" charset="-120"/>
            </a:endParaRPr>
          </a:p>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On y voit les résultats des tests unitaires, les commandes principales du pipeline et la validation complète sur x86 et ARM.</a:t>
            </a:r>
          </a:p>
          <a:p>
            <a:pPr marL="0" indent="0">
              <a:lnSpc>
                <a:spcPct val="150000"/>
              </a:lnSpc>
              <a:buNone/>
            </a:pPr>
            <a:endParaRPr lang="fr-FR" sz="950" dirty="0">
              <a:solidFill>
                <a:srgbClr val="555555"/>
              </a:solidFill>
              <a:latin typeface="Calibri" pitchFamily="34" charset="0"/>
              <a:ea typeface="Calibri" pitchFamily="34" charset="-122"/>
              <a:cs typeface="Calibri" pitchFamily="34" charset="-120"/>
            </a:endParaRPr>
          </a:p>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L’objectif est de montrer un enchaînement clair, reproductible et vérifiable, du lancement des scripts jusqu’aux sorties finales.</a:t>
            </a:r>
            <a:endParaRPr lang="en-US" sz="950" dirty="0"/>
          </a:p>
        </p:txBody>
      </p:sp>
      <p:sp>
        <p:nvSpPr>
          <p:cNvPr id="9" name="Shape 7"/>
          <p:cNvSpPr/>
          <p:nvPr/>
        </p:nvSpPr>
        <p:spPr>
          <a:xfrm>
            <a:off x="3438144" y="402336"/>
            <a:ext cx="0" cy="4315968"/>
          </a:xfrm>
          <a:prstGeom prst="line">
            <a:avLst/>
          </a:prstGeom>
          <a:noFill/>
          <a:ln w="10160">
            <a:solidFill>
              <a:srgbClr val="E8E8E8"/>
            </a:solidFill>
            <a:prstDash val="solid"/>
          </a:ln>
        </p:spPr>
        <p:txBody>
          <a:bodyPr/>
          <a:lstStyle/>
          <a:p>
            <a:endParaRPr lang="en-CA"/>
          </a:p>
        </p:txBody>
      </p:sp>
      <p:sp>
        <p:nvSpPr>
          <p:cNvPr id="10" name="Shape 8"/>
          <p:cNvSpPr/>
          <p:nvPr/>
        </p:nvSpPr>
        <p:spPr>
          <a:xfrm>
            <a:off x="3675888" y="804672"/>
            <a:ext cx="256032" cy="256032"/>
          </a:xfrm>
          <a:prstGeom prst="ellipse">
            <a:avLst/>
          </a:prstGeom>
          <a:solidFill>
            <a:srgbClr val="0A0A0A"/>
          </a:solidFill>
          <a:ln w="12700">
            <a:solidFill>
              <a:srgbClr val="0A0A0A"/>
            </a:solidFill>
            <a:prstDash val="solid"/>
          </a:ln>
        </p:spPr>
        <p:txBody>
          <a:bodyPr/>
          <a:lstStyle/>
          <a:p>
            <a:endParaRPr lang="en-CA"/>
          </a:p>
        </p:txBody>
      </p:sp>
      <p:sp>
        <p:nvSpPr>
          <p:cNvPr id="11" name="Text 9"/>
          <p:cNvSpPr/>
          <p:nvPr/>
        </p:nvSpPr>
        <p:spPr>
          <a:xfrm>
            <a:off x="3675888" y="804672"/>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1</a:t>
            </a:r>
            <a:endParaRPr lang="en-US" sz="900" dirty="0"/>
          </a:p>
        </p:txBody>
      </p:sp>
      <p:sp>
        <p:nvSpPr>
          <p:cNvPr id="12" name="Text 10"/>
          <p:cNvSpPr/>
          <p:nvPr/>
        </p:nvSpPr>
        <p:spPr>
          <a:xfrm>
            <a:off x="4005072" y="768096"/>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Validation logicielle du pipeline</a:t>
            </a:r>
            <a:endParaRPr lang="en-US" sz="1000" dirty="0"/>
          </a:p>
        </p:txBody>
      </p:sp>
      <p:sp>
        <p:nvSpPr>
          <p:cNvPr id="13" name="Text 11"/>
          <p:cNvSpPr/>
          <p:nvPr/>
        </p:nvSpPr>
        <p:spPr>
          <a:xfrm>
            <a:off x="4005072" y="1042416"/>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26 tests sont passés avec 100 % de couverture sur le périmètre testé (domain, mode, engine, application).</a:t>
            </a:r>
          </a:p>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La qualité logicielle est mesurable et documentée.</a:t>
            </a:r>
            <a:endParaRPr lang="en-US" sz="750" dirty="0"/>
          </a:p>
        </p:txBody>
      </p:sp>
      <p:sp>
        <p:nvSpPr>
          <p:cNvPr id="14" name="Shape 12"/>
          <p:cNvSpPr/>
          <p:nvPr/>
        </p:nvSpPr>
        <p:spPr>
          <a:xfrm>
            <a:off x="8321040" y="859536"/>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5" name="Text 13"/>
          <p:cNvSpPr/>
          <p:nvPr/>
        </p:nvSpPr>
        <p:spPr>
          <a:xfrm>
            <a:off x="8321040" y="859536"/>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05a</a:t>
            </a:r>
            <a:endParaRPr lang="en-US" sz="700" dirty="0"/>
          </a:p>
        </p:txBody>
      </p:sp>
      <p:sp>
        <p:nvSpPr>
          <p:cNvPr id="16" name="Shape 14"/>
          <p:cNvSpPr/>
          <p:nvPr/>
        </p:nvSpPr>
        <p:spPr>
          <a:xfrm>
            <a:off x="4005072" y="1956816"/>
            <a:ext cx="4773168" cy="0"/>
          </a:xfrm>
          <a:prstGeom prst="line">
            <a:avLst/>
          </a:prstGeom>
          <a:noFill/>
          <a:ln w="7620">
            <a:solidFill>
              <a:srgbClr val="F5F5F5"/>
            </a:solidFill>
            <a:prstDash val="solid"/>
          </a:ln>
        </p:spPr>
        <p:txBody>
          <a:bodyPr/>
          <a:lstStyle/>
          <a:p>
            <a:endParaRPr lang="en-CA"/>
          </a:p>
        </p:txBody>
      </p:sp>
      <p:sp>
        <p:nvSpPr>
          <p:cNvPr id="17" name="Shape 15"/>
          <p:cNvSpPr/>
          <p:nvPr/>
        </p:nvSpPr>
        <p:spPr>
          <a:xfrm>
            <a:off x="3675888" y="2066544"/>
            <a:ext cx="256032" cy="256032"/>
          </a:xfrm>
          <a:prstGeom prst="ellipse">
            <a:avLst/>
          </a:prstGeom>
          <a:solidFill>
            <a:srgbClr val="0A0A0A"/>
          </a:solidFill>
          <a:ln w="12700">
            <a:solidFill>
              <a:srgbClr val="0A0A0A"/>
            </a:solidFill>
            <a:prstDash val="solid"/>
          </a:ln>
        </p:spPr>
        <p:txBody>
          <a:bodyPr/>
          <a:lstStyle/>
          <a:p>
            <a:endParaRPr lang="en-CA"/>
          </a:p>
        </p:txBody>
      </p:sp>
      <p:sp>
        <p:nvSpPr>
          <p:cNvPr id="18" name="Text 16"/>
          <p:cNvSpPr/>
          <p:nvPr/>
        </p:nvSpPr>
        <p:spPr>
          <a:xfrm>
            <a:off x="3675888" y="2066544"/>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4005072" y="2029968"/>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Les 3 scripts d’exécution</a:t>
            </a:r>
            <a:endParaRPr lang="en-US" sz="1000" dirty="0"/>
          </a:p>
        </p:txBody>
      </p:sp>
      <p:sp>
        <p:nvSpPr>
          <p:cNvPr id="20" name="Text 18"/>
          <p:cNvSpPr/>
          <p:nvPr/>
        </p:nvSpPr>
        <p:spPr>
          <a:xfrm>
            <a:off x="4005072" y="2304288"/>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Le pipeline fonctionne avec trois scripts complémentaires.</a:t>
            </a:r>
          </a:p>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experiment.py produit les mesures, run_kat.py valide la conformité cryptographique, run_charts.py génère les figures.</a:t>
            </a:r>
            <a:endParaRPr lang="en-US" sz="750" dirty="0"/>
          </a:p>
        </p:txBody>
      </p:sp>
      <p:sp>
        <p:nvSpPr>
          <p:cNvPr id="21" name="Shape 19"/>
          <p:cNvSpPr/>
          <p:nvPr/>
        </p:nvSpPr>
        <p:spPr>
          <a:xfrm>
            <a:off x="8321040" y="2121408"/>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2" name="Text 20"/>
          <p:cNvSpPr/>
          <p:nvPr/>
        </p:nvSpPr>
        <p:spPr>
          <a:xfrm>
            <a:off x="8321040" y="2121408"/>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05b</a:t>
            </a:r>
            <a:endParaRPr lang="en-US" sz="700" dirty="0"/>
          </a:p>
        </p:txBody>
      </p:sp>
      <p:sp>
        <p:nvSpPr>
          <p:cNvPr id="23" name="Shape 21"/>
          <p:cNvSpPr/>
          <p:nvPr/>
        </p:nvSpPr>
        <p:spPr>
          <a:xfrm>
            <a:off x="4005072" y="3218688"/>
            <a:ext cx="4773168" cy="0"/>
          </a:xfrm>
          <a:prstGeom prst="line">
            <a:avLst/>
          </a:prstGeom>
          <a:noFill/>
          <a:ln w="7620">
            <a:solidFill>
              <a:srgbClr val="F5F5F5"/>
            </a:solidFill>
            <a:prstDash val="solid"/>
          </a:ln>
        </p:spPr>
        <p:txBody>
          <a:bodyPr/>
          <a:lstStyle/>
          <a:p>
            <a:endParaRPr lang="en-CA"/>
          </a:p>
        </p:txBody>
      </p:sp>
      <p:sp>
        <p:nvSpPr>
          <p:cNvPr id="24" name="Shape 22"/>
          <p:cNvSpPr/>
          <p:nvPr/>
        </p:nvSpPr>
        <p:spPr>
          <a:xfrm>
            <a:off x="3675888" y="3328416"/>
            <a:ext cx="256032" cy="256032"/>
          </a:xfrm>
          <a:prstGeom prst="ellipse">
            <a:avLst/>
          </a:prstGeom>
          <a:solidFill>
            <a:srgbClr val="0A0A0A"/>
          </a:solidFill>
          <a:ln w="12700">
            <a:solidFill>
              <a:srgbClr val="0A0A0A"/>
            </a:solidFill>
            <a:prstDash val="solid"/>
          </a:ln>
        </p:spPr>
        <p:txBody>
          <a:bodyPr/>
          <a:lstStyle/>
          <a:p>
            <a:endParaRPr lang="en-CA"/>
          </a:p>
        </p:txBody>
      </p:sp>
      <p:sp>
        <p:nvSpPr>
          <p:cNvPr id="25" name="Text 23"/>
          <p:cNvSpPr/>
          <p:nvPr/>
        </p:nvSpPr>
        <p:spPr>
          <a:xfrm>
            <a:off x="3675888" y="3328416"/>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3</a:t>
            </a:r>
            <a:endParaRPr lang="en-US" sz="900" dirty="0"/>
          </a:p>
        </p:txBody>
      </p:sp>
      <p:sp>
        <p:nvSpPr>
          <p:cNvPr id="26" name="Text 24"/>
          <p:cNvSpPr/>
          <p:nvPr/>
        </p:nvSpPr>
        <p:spPr>
          <a:xfrm>
            <a:off x="4005072" y="3291840"/>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Conclusion générale</a:t>
            </a:r>
            <a:endParaRPr lang="en-US" sz="1000" dirty="0"/>
          </a:p>
        </p:txBody>
      </p:sp>
      <p:sp>
        <p:nvSpPr>
          <p:cNvPr id="27" name="Text 25"/>
          <p:cNvSpPr/>
          <p:nvPr/>
        </p:nvSpPr>
        <p:spPr>
          <a:xfrm>
            <a:off x="4005072" y="3566160"/>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Le système démontre une chaîne complète et cohérente.</a:t>
            </a:r>
          </a:p>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Les résultats sont traçables, comparables entre plateformes et interprétables de manière rigoureuse.</a:t>
            </a:r>
            <a:endParaRPr lang="en-US" sz="750" dirty="0"/>
          </a:p>
        </p:txBody>
      </p:sp>
      <p:sp>
        <p:nvSpPr>
          <p:cNvPr id="28" name="Shape 26"/>
          <p:cNvSpPr/>
          <p:nvPr/>
        </p:nvSpPr>
        <p:spPr>
          <a:xfrm>
            <a:off x="8321040" y="3383280"/>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9" name="Text 27"/>
          <p:cNvSpPr/>
          <p:nvPr/>
        </p:nvSpPr>
        <p:spPr>
          <a:xfrm>
            <a:off x="8321040" y="3383280"/>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05c</a:t>
            </a:r>
            <a:endParaRPr lang="en-US" sz="700" dirty="0"/>
          </a:p>
        </p:txBody>
      </p:sp>
      <p:sp>
        <p:nvSpPr>
          <p:cNvPr id="30" name="Text 28"/>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pic>
        <p:nvPicPr>
          <p:cNvPr id="32" name="Graphic 31" descr="Video camera with solid fill">
            <a:extLst>
              <a:ext uri="{FF2B5EF4-FFF2-40B4-BE49-F238E27FC236}">
                <a16:creationId xmlns:a16="http://schemas.microsoft.com/office/drawing/2014/main" id="{8A4B55BB-6AE6-0991-6FE4-3EB9BEBD7AA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4323" y="49748"/>
            <a:ext cx="430857" cy="430857"/>
          </a:xfrm>
          <a:prstGeom prst="rect">
            <a:avLst/>
          </a:prstGeom>
        </p:spPr>
      </p:pic>
      <p:sp>
        <p:nvSpPr>
          <p:cNvPr id="34" name="Text 15">
            <a:extLst>
              <a:ext uri="{FF2B5EF4-FFF2-40B4-BE49-F238E27FC236}">
                <a16:creationId xmlns:a16="http://schemas.microsoft.com/office/drawing/2014/main" id="{1FDBEFD4-6932-A96B-3F34-9A6794E3A583}"/>
              </a:ext>
            </a:extLst>
          </p:cNvPr>
          <p:cNvSpPr/>
          <p:nvPr/>
        </p:nvSpPr>
        <p:spPr>
          <a:xfrm>
            <a:off x="7473722" y="209206"/>
            <a:ext cx="1249654" cy="205231"/>
          </a:xfrm>
          <a:prstGeom prst="rect">
            <a:avLst/>
          </a:prstGeom>
          <a:noFill/>
          <a:ln/>
        </p:spPr>
        <p:txBody>
          <a:bodyPr wrap="square" lIns="0" tIns="0" rIns="0" bIns="0" rtlCol="0" anchor="ctr"/>
          <a:lstStyle/>
          <a:p>
            <a:pPr marL="0" indent="0">
              <a:buNone/>
            </a:pPr>
            <a:r>
              <a:rPr lang="en-US" sz="1300" b="1" u="sng" dirty="0">
                <a:solidFill>
                  <a:srgbClr val="888888"/>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Démo complète</a:t>
            </a:r>
            <a:endParaRPr lang="en-US" sz="1300" u="sng" dirty="0">
              <a:solidFill>
                <a:srgbClr val="888888"/>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475488" y="164592"/>
            <a:ext cx="6400800" cy="182880"/>
          </a:xfrm>
          <a:prstGeom prst="rect">
            <a:avLst/>
          </a:prstGeom>
          <a:noFill/>
          <a:ln/>
        </p:spPr>
        <p:txBody>
          <a:bodyPr wrap="square" lIns="0" tIns="0" rIns="0" bIns="0" rtlCol="0" anchor="ctr"/>
          <a:lstStyle/>
          <a:p>
            <a:r>
              <a:rPr lang="en-US" sz="800" b="1" kern="0" spc="200" dirty="0">
                <a:solidFill>
                  <a:srgbClr val="C0C0C0"/>
                </a:solidFill>
                <a:latin typeface="Calibri" pitchFamily="34" charset="0"/>
                <a:ea typeface="Calibri" pitchFamily="34" charset="-122"/>
                <a:cs typeface="Calibri" pitchFamily="34" charset="-120"/>
              </a:rPr>
              <a:t>05a  ·  SYNTHÈSE ET DÉMONSTRATION</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Validation logicielle </a:t>
            </a:r>
            <a:r>
              <a:rPr lang="en-US" sz="1500" b="1" dirty="0">
                <a:solidFill>
                  <a:srgbClr val="C9A84C"/>
                </a:solidFill>
                <a:latin typeface="Calibri" pitchFamily="34" charset="0"/>
                <a:ea typeface="Calibri" pitchFamily="34" charset="-122"/>
                <a:cs typeface="Calibri" pitchFamily="34" charset="-120"/>
              </a:rPr>
              <a:t>du pipeline</a:t>
            </a:r>
            <a:endParaRPr lang="en-US" sz="1500" dirty="0"/>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sp>
        <p:nvSpPr>
          <p:cNvPr id="6" name="Text 4"/>
          <p:cNvSpPr/>
          <p:nvPr/>
        </p:nvSpPr>
        <p:spPr>
          <a:xfrm>
            <a:off x="475488" y="841248"/>
            <a:ext cx="1280160" cy="438912"/>
          </a:xfrm>
          <a:prstGeom prst="rect">
            <a:avLst/>
          </a:prstGeom>
          <a:noFill/>
          <a:ln/>
        </p:spPr>
        <p:txBody>
          <a:bodyPr wrap="square" lIns="0" tIns="0" rIns="0" bIns="0" rtlCol="0" anchor="ctr"/>
          <a:lstStyle/>
          <a:p>
            <a:pPr marL="0" indent="0">
              <a:buNone/>
            </a:pPr>
            <a:r>
              <a:rPr lang="en-US" sz="2600" b="1" dirty="0">
                <a:solidFill>
                  <a:srgbClr val="C9A84C"/>
                </a:solidFill>
                <a:latin typeface="Calibri" pitchFamily="34" charset="0"/>
                <a:ea typeface="Calibri" pitchFamily="34" charset="-122"/>
                <a:cs typeface="Calibri" pitchFamily="34" charset="-120"/>
              </a:rPr>
              <a:t>26</a:t>
            </a:r>
            <a:endParaRPr lang="en-US" sz="2600" dirty="0"/>
          </a:p>
        </p:txBody>
      </p:sp>
      <p:sp>
        <p:nvSpPr>
          <p:cNvPr id="7" name="Text 5"/>
          <p:cNvSpPr/>
          <p:nvPr/>
        </p:nvSpPr>
        <p:spPr>
          <a:xfrm>
            <a:off x="1028700" y="960120"/>
            <a:ext cx="1956816" cy="310896"/>
          </a:xfrm>
          <a:prstGeom prst="rect">
            <a:avLst/>
          </a:prstGeom>
          <a:noFill/>
          <a:ln/>
        </p:spPr>
        <p:txBody>
          <a:bodyPr wrap="square" lIns="0" tIns="0" rIns="0" bIns="0" rtlCol="0" anchor="ctr"/>
          <a:lstStyle/>
          <a:p>
            <a:pPr marL="0" indent="0">
              <a:lnSpc>
                <a:spcPct val="130000"/>
              </a:lnSpc>
              <a:buNone/>
            </a:pPr>
            <a:r>
              <a:rPr lang="en-US" sz="900" dirty="0">
                <a:solidFill>
                  <a:srgbClr val="555555"/>
                </a:solidFill>
                <a:latin typeface="Calibri" pitchFamily="34" charset="0"/>
                <a:ea typeface="Calibri" pitchFamily="34" charset="-122"/>
                <a:cs typeface="Calibri" pitchFamily="34" charset="-120"/>
              </a:rPr>
              <a:t>tests exécutés</a:t>
            </a:r>
            <a:endParaRPr lang="en-US" sz="900" dirty="0"/>
          </a:p>
        </p:txBody>
      </p:sp>
      <p:sp>
        <p:nvSpPr>
          <p:cNvPr id="8" name="Text 6"/>
          <p:cNvSpPr/>
          <p:nvPr/>
        </p:nvSpPr>
        <p:spPr>
          <a:xfrm>
            <a:off x="471055" y="1528156"/>
            <a:ext cx="1280160" cy="438912"/>
          </a:xfrm>
          <a:prstGeom prst="rect">
            <a:avLst/>
          </a:prstGeom>
          <a:noFill/>
          <a:ln/>
        </p:spPr>
        <p:txBody>
          <a:bodyPr wrap="square" lIns="0" tIns="0" rIns="0" bIns="0" rtlCol="0" anchor="ctr"/>
          <a:lstStyle/>
          <a:p>
            <a:pPr marL="0" indent="0">
              <a:buNone/>
            </a:pPr>
            <a:r>
              <a:rPr lang="en-US" sz="2600" b="1" dirty="0">
                <a:solidFill>
                  <a:srgbClr val="C9A84C"/>
                </a:solidFill>
                <a:latin typeface="Calibri" pitchFamily="34" charset="0"/>
                <a:ea typeface="Calibri" pitchFamily="34" charset="-122"/>
                <a:cs typeface="Calibri" pitchFamily="34" charset="-120"/>
              </a:rPr>
              <a:t>100%</a:t>
            </a:r>
            <a:endParaRPr lang="en-US" sz="2600" dirty="0"/>
          </a:p>
        </p:txBody>
      </p:sp>
      <p:sp>
        <p:nvSpPr>
          <p:cNvPr id="9" name="Text 7"/>
          <p:cNvSpPr/>
          <p:nvPr/>
        </p:nvSpPr>
        <p:spPr>
          <a:xfrm>
            <a:off x="1353312" y="1646197"/>
            <a:ext cx="1956816" cy="310896"/>
          </a:xfrm>
          <a:prstGeom prst="rect">
            <a:avLst/>
          </a:prstGeom>
          <a:noFill/>
          <a:ln/>
        </p:spPr>
        <p:txBody>
          <a:bodyPr wrap="square" lIns="0" tIns="0" rIns="0" bIns="0" rtlCol="0" anchor="ctr"/>
          <a:lstStyle/>
          <a:p>
            <a:pPr marL="0" indent="0">
              <a:lnSpc>
                <a:spcPct val="130000"/>
              </a:lnSpc>
              <a:buNone/>
            </a:pPr>
            <a:r>
              <a:rPr lang="fr-FR" sz="900" dirty="0">
                <a:solidFill>
                  <a:srgbClr val="555555"/>
                </a:solidFill>
                <a:latin typeface="Calibri" pitchFamily="34" charset="0"/>
                <a:ea typeface="Calibri" pitchFamily="34" charset="-122"/>
                <a:cs typeface="Calibri" pitchFamily="34" charset="-120"/>
              </a:rPr>
              <a:t>de couverture sur le code métier</a:t>
            </a:r>
            <a:endParaRPr lang="en-US" sz="900" dirty="0"/>
          </a:p>
        </p:txBody>
      </p:sp>
      <p:sp>
        <p:nvSpPr>
          <p:cNvPr id="10" name="Text 8"/>
          <p:cNvSpPr/>
          <p:nvPr/>
        </p:nvSpPr>
        <p:spPr>
          <a:xfrm>
            <a:off x="475488" y="2212848"/>
            <a:ext cx="2834640" cy="274320"/>
          </a:xfrm>
          <a:prstGeom prst="rect">
            <a:avLst/>
          </a:prstGeom>
          <a:noFill/>
          <a:ln/>
        </p:spPr>
        <p:txBody>
          <a:bodyPr wrap="square" lIns="0" tIns="0" rIns="0" bIns="0" rtlCol="0" anchor="ctr"/>
          <a:lstStyle/>
          <a:p>
            <a:pPr marL="0" indent="0">
              <a:buNone/>
            </a:pPr>
            <a:r>
              <a:rPr lang="fr-FR" sz="800" i="1" dirty="0">
                <a:solidFill>
                  <a:srgbClr val="888888"/>
                </a:solidFill>
                <a:latin typeface="Calibri" pitchFamily="34" charset="0"/>
                <a:ea typeface="Calibri" pitchFamily="34" charset="-122"/>
                <a:cs typeface="Calibri" pitchFamily="34" charset="-120"/>
              </a:rPr>
              <a:t>Le seuil de couverture est imposé automatiquement via pytest.ini.</a:t>
            </a:r>
            <a:endParaRPr lang="en-US" sz="800" dirty="0"/>
          </a:p>
        </p:txBody>
      </p:sp>
      <p:sp>
        <p:nvSpPr>
          <p:cNvPr id="11" name="Shape 9"/>
          <p:cNvSpPr/>
          <p:nvPr/>
        </p:nvSpPr>
        <p:spPr>
          <a:xfrm>
            <a:off x="475488" y="2578608"/>
            <a:ext cx="2834640" cy="0"/>
          </a:xfrm>
          <a:prstGeom prst="line">
            <a:avLst/>
          </a:prstGeom>
          <a:noFill/>
          <a:ln w="10160">
            <a:solidFill>
              <a:srgbClr val="F0F0F0"/>
            </a:solidFill>
            <a:prstDash val="solid"/>
          </a:ln>
        </p:spPr>
        <p:txBody>
          <a:bodyPr/>
          <a:lstStyle/>
          <a:p>
            <a:endParaRPr lang="en-CA"/>
          </a:p>
        </p:txBody>
      </p:sp>
      <p:sp>
        <p:nvSpPr>
          <p:cNvPr id="12" name="Text 10"/>
          <p:cNvSpPr/>
          <p:nvPr/>
        </p:nvSpPr>
        <p:spPr>
          <a:xfrm>
            <a:off x="475488" y="2706624"/>
            <a:ext cx="2834640" cy="182880"/>
          </a:xfrm>
          <a:prstGeom prst="rect">
            <a:avLst/>
          </a:prstGeom>
          <a:noFill/>
          <a:ln/>
        </p:spPr>
        <p:txBody>
          <a:bodyPr wrap="square" lIns="0" tIns="0" rIns="0" bIns="0" rtlCol="0" anchor="ctr"/>
          <a:lstStyle/>
          <a:p>
            <a:pPr marL="0" indent="0">
              <a:buNone/>
            </a:pPr>
            <a:r>
              <a:rPr lang="en-US" sz="700" b="1" kern="0" spc="150" dirty="0">
                <a:solidFill>
                  <a:srgbClr val="C0C0C0"/>
                </a:solidFill>
                <a:latin typeface="Calibri" pitchFamily="34" charset="0"/>
                <a:ea typeface="Calibri" pitchFamily="34" charset="-122"/>
                <a:cs typeface="Calibri" pitchFamily="34" charset="-120"/>
              </a:rPr>
              <a:t>CE QUE ÇA GARANTIT</a:t>
            </a:r>
            <a:endParaRPr lang="en-US" sz="700" dirty="0"/>
          </a:p>
        </p:txBody>
      </p:sp>
      <p:sp>
        <p:nvSpPr>
          <p:cNvPr id="13" name="Shape 11"/>
          <p:cNvSpPr/>
          <p:nvPr/>
        </p:nvSpPr>
        <p:spPr>
          <a:xfrm>
            <a:off x="475488" y="2980944"/>
            <a:ext cx="128016" cy="128016"/>
          </a:xfrm>
          <a:prstGeom prst="ellipse">
            <a:avLst/>
          </a:prstGeom>
          <a:solidFill>
            <a:srgbClr val="C9A84C"/>
          </a:solidFill>
          <a:ln w="12700">
            <a:solidFill>
              <a:srgbClr val="C9A84C"/>
            </a:solidFill>
            <a:prstDash val="solid"/>
          </a:ln>
        </p:spPr>
        <p:txBody>
          <a:bodyPr/>
          <a:lstStyle/>
          <a:p>
            <a:endParaRPr lang="en-CA"/>
          </a:p>
        </p:txBody>
      </p:sp>
      <p:sp>
        <p:nvSpPr>
          <p:cNvPr id="14" name="Text 12"/>
          <p:cNvSpPr/>
          <p:nvPr/>
        </p:nvSpPr>
        <p:spPr>
          <a:xfrm>
            <a:off x="694944" y="2889504"/>
            <a:ext cx="2615184" cy="329184"/>
          </a:xfrm>
          <a:prstGeom prst="rect">
            <a:avLst/>
          </a:prstGeom>
          <a:noFill/>
          <a:ln/>
        </p:spPr>
        <p:txBody>
          <a:bodyPr wrap="square" lIns="0" tIns="0" rIns="0" bIns="0" rtlCol="0" anchor="ctr"/>
          <a:lstStyle/>
          <a:p>
            <a:pPr marL="0" indent="0">
              <a:lnSpc>
                <a:spcPct val="120000"/>
              </a:lnSpc>
              <a:buNone/>
            </a:pPr>
            <a:r>
              <a:rPr lang="en-US" sz="800" dirty="0">
                <a:solidFill>
                  <a:srgbClr val="555555"/>
                </a:solidFill>
                <a:latin typeface="Calibri" pitchFamily="34" charset="0"/>
                <a:ea typeface="Calibri" pitchFamily="34" charset="-122"/>
                <a:cs typeface="Calibri" pitchFamily="34" charset="-120"/>
              </a:rPr>
              <a:t>Cœur cryptographique validé fonctionnellement</a:t>
            </a:r>
            <a:endParaRPr lang="en-US" sz="800" dirty="0"/>
          </a:p>
        </p:txBody>
      </p:sp>
      <p:sp>
        <p:nvSpPr>
          <p:cNvPr id="15" name="Shape 13"/>
          <p:cNvSpPr/>
          <p:nvPr/>
        </p:nvSpPr>
        <p:spPr>
          <a:xfrm>
            <a:off x="475488" y="3328416"/>
            <a:ext cx="128016" cy="128016"/>
          </a:xfrm>
          <a:prstGeom prst="ellipse">
            <a:avLst/>
          </a:prstGeom>
          <a:solidFill>
            <a:srgbClr val="C9A84C"/>
          </a:solidFill>
          <a:ln w="12700">
            <a:solidFill>
              <a:srgbClr val="C9A84C"/>
            </a:solidFill>
            <a:prstDash val="solid"/>
          </a:ln>
        </p:spPr>
        <p:txBody>
          <a:bodyPr/>
          <a:lstStyle/>
          <a:p>
            <a:endParaRPr lang="en-CA"/>
          </a:p>
        </p:txBody>
      </p:sp>
      <p:sp>
        <p:nvSpPr>
          <p:cNvPr id="16" name="Text 14"/>
          <p:cNvSpPr/>
          <p:nvPr/>
        </p:nvSpPr>
        <p:spPr>
          <a:xfrm>
            <a:off x="694944" y="3229772"/>
            <a:ext cx="2615184" cy="329184"/>
          </a:xfrm>
          <a:prstGeom prst="rect">
            <a:avLst/>
          </a:prstGeom>
          <a:noFill/>
          <a:ln/>
        </p:spPr>
        <p:txBody>
          <a:bodyPr wrap="square" lIns="0" tIns="0" rIns="0" bIns="0" rtlCol="0" anchor="ctr"/>
          <a:lstStyle/>
          <a:p>
            <a:pPr marL="0" indent="0">
              <a:lnSpc>
                <a:spcPct val="120000"/>
              </a:lnSpc>
              <a:buNone/>
            </a:pPr>
            <a:r>
              <a:rPr lang="en-US" sz="800" dirty="0">
                <a:solidFill>
                  <a:srgbClr val="555555"/>
                </a:solidFill>
                <a:latin typeface="Calibri" pitchFamily="34" charset="0"/>
                <a:ea typeface="Calibri" pitchFamily="34" charset="-122"/>
                <a:cs typeface="Calibri" pitchFamily="34" charset="-120"/>
              </a:rPr>
              <a:t>Chemins critiques et erreurs attendues testés</a:t>
            </a:r>
            <a:endParaRPr lang="en-US" sz="800" dirty="0"/>
          </a:p>
        </p:txBody>
      </p:sp>
      <p:sp>
        <p:nvSpPr>
          <p:cNvPr id="17" name="Shape 15"/>
          <p:cNvSpPr/>
          <p:nvPr/>
        </p:nvSpPr>
        <p:spPr>
          <a:xfrm>
            <a:off x="475488" y="3675888"/>
            <a:ext cx="128016" cy="128016"/>
          </a:xfrm>
          <a:prstGeom prst="ellipse">
            <a:avLst/>
          </a:prstGeom>
          <a:solidFill>
            <a:srgbClr val="C9A84C"/>
          </a:solidFill>
          <a:ln w="12700">
            <a:solidFill>
              <a:srgbClr val="C9A84C"/>
            </a:solidFill>
            <a:prstDash val="solid"/>
          </a:ln>
        </p:spPr>
        <p:txBody>
          <a:bodyPr/>
          <a:lstStyle/>
          <a:p>
            <a:endParaRPr lang="en-CA"/>
          </a:p>
        </p:txBody>
      </p:sp>
      <p:sp>
        <p:nvSpPr>
          <p:cNvPr id="18" name="Text 16"/>
          <p:cNvSpPr/>
          <p:nvPr/>
        </p:nvSpPr>
        <p:spPr>
          <a:xfrm>
            <a:off x="694944" y="3577798"/>
            <a:ext cx="2615184" cy="329184"/>
          </a:xfrm>
          <a:prstGeom prst="rect">
            <a:avLst/>
          </a:prstGeom>
          <a:noFill/>
          <a:ln/>
        </p:spPr>
        <p:txBody>
          <a:bodyPr wrap="square" lIns="0" tIns="0" rIns="0" bIns="0" rtlCol="0" anchor="ctr"/>
          <a:lstStyle/>
          <a:p>
            <a:pPr marL="0" indent="0">
              <a:lnSpc>
                <a:spcPct val="120000"/>
              </a:lnSpc>
              <a:buNone/>
            </a:pPr>
            <a:r>
              <a:rPr lang="en-US" sz="800" dirty="0">
                <a:solidFill>
                  <a:srgbClr val="555555"/>
                </a:solidFill>
                <a:latin typeface="Calibri" pitchFamily="34" charset="0"/>
                <a:ea typeface="Calibri" pitchFamily="34" charset="-122"/>
                <a:cs typeface="Calibri" pitchFamily="34" charset="-120"/>
              </a:rPr>
              <a:t>Contrôleur d'expériences vérifié, pas seulement les primitives</a:t>
            </a:r>
            <a:endParaRPr lang="en-US" sz="800" dirty="0"/>
          </a:p>
        </p:txBody>
      </p:sp>
      <p:sp>
        <p:nvSpPr>
          <p:cNvPr id="19" name="Shape 17"/>
          <p:cNvSpPr/>
          <p:nvPr/>
        </p:nvSpPr>
        <p:spPr>
          <a:xfrm>
            <a:off x="475488" y="4023360"/>
            <a:ext cx="128016" cy="128016"/>
          </a:xfrm>
          <a:prstGeom prst="ellipse">
            <a:avLst/>
          </a:prstGeom>
          <a:solidFill>
            <a:srgbClr val="C9A84C"/>
          </a:solidFill>
          <a:ln w="12700">
            <a:solidFill>
              <a:srgbClr val="C9A84C"/>
            </a:solidFill>
            <a:prstDash val="solid"/>
          </a:ln>
        </p:spPr>
        <p:txBody>
          <a:bodyPr/>
          <a:lstStyle/>
          <a:p>
            <a:endParaRPr lang="en-CA"/>
          </a:p>
        </p:txBody>
      </p:sp>
      <p:sp>
        <p:nvSpPr>
          <p:cNvPr id="20" name="Text 18"/>
          <p:cNvSpPr/>
          <p:nvPr/>
        </p:nvSpPr>
        <p:spPr>
          <a:xfrm>
            <a:off x="694944" y="3946883"/>
            <a:ext cx="2615184" cy="329184"/>
          </a:xfrm>
          <a:prstGeom prst="rect">
            <a:avLst/>
          </a:prstGeom>
          <a:noFill/>
          <a:ln/>
        </p:spPr>
        <p:txBody>
          <a:bodyPr wrap="square" lIns="0" tIns="0" rIns="0" bIns="0" rtlCol="0" anchor="ctr"/>
          <a:lstStyle/>
          <a:p>
            <a:pPr marL="0" indent="0">
              <a:lnSpc>
                <a:spcPct val="120000"/>
              </a:lnSpc>
              <a:buNone/>
            </a:pPr>
            <a:r>
              <a:rPr lang="en-US" sz="800" dirty="0">
                <a:solidFill>
                  <a:srgbClr val="555555"/>
                </a:solidFill>
                <a:latin typeface="Calibri" pitchFamily="34" charset="0"/>
                <a:ea typeface="Calibri" pitchFamily="34" charset="-122"/>
                <a:cs typeface="Calibri" pitchFamily="34" charset="-120"/>
              </a:rPr>
              <a:t>Une régression fait échouer les tests et bloque la validation qualité</a:t>
            </a:r>
            <a:endParaRPr lang="en-US" sz="800" dirty="0"/>
          </a:p>
        </p:txBody>
      </p:sp>
      <p:sp>
        <p:nvSpPr>
          <p:cNvPr id="21" name="Shape 19"/>
          <p:cNvSpPr/>
          <p:nvPr/>
        </p:nvSpPr>
        <p:spPr>
          <a:xfrm>
            <a:off x="3438144" y="804672"/>
            <a:ext cx="0" cy="3913632"/>
          </a:xfrm>
          <a:prstGeom prst="line">
            <a:avLst/>
          </a:prstGeom>
          <a:noFill/>
          <a:ln w="10160">
            <a:solidFill>
              <a:srgbClr val="EBEBEB"/>
            </a:solidFill>
            <a:prstDash val="solid"/>
          </a:ln>
        </p:spPr>
        <p:txBody>
          <a:bodyPr/>
          <a:lstStyle/>
          <a:p>
            <a:endParaRPr lang="en-CA"/>
          </a:p>
        </p:txBody>
      </p:sp>
      <p:sp>
        <p:nvSpPr>
          <p:cNvPr id="22" name="Shape 20"/>
          <p:cNvSpPr/>
          <p:nvPr/>
        </p:nvSpPr>
        <p:spPr>
          <a:xfrm>
            <a:off x="3621024" y="822960"/>
            <a:ext cx="5175504" cy="694944"/>
          </a:xfrm>
          <a:prstGeom prst="roundRect">
            <a:avLst>
              <a:gd name="adj" fmla="val 10526"/>
            </a:avLst>
          </a:prstGeom>
          <a:solidFill>
            <a:srgbClr val="FAFAFA"/>
          </a:solidFill>
          <a:ln w="6350">
            <a:solidFill>
              <a:srgbClr val="EEEEEE"/>
            </a:solidFill>
            <a:prstDash val="solid"/>
          </a:ln>
        </p:spPr>
        <p:txBody>
          <a:bodyPr/>
          <a:lstStyle/>
          <a:p>
            <a:endParaRPr lang="en-CA"/>
          </a:p>
        </p:txBody>
      </p:sp>
      <p:sp>
        <p:nvSpPr>
          <p:cNvPr id="23" name="Shape 21"/>
          <p:cNvSpPr/>
          <p:nvPr/>
        </p:nvSpPr>
        <p:spPr>
          <a:xfrm>
            <a:off x="3621024" y="822960"/>
            <a:ext cx="45720" cy="694944"/>
          </a:xfrm>
          <a:prstGeom prst="rect">
            <a:avLst/>
          </a:prstGeom>
          <a:solidFill>
            <a:srgbClr val="888888"/>
          </a:solidFill>
          <a:ln w="12700">
            <a:solidFill>
              <a:srgbClr val="888888"/>
            </a:solidFill>
            <a:prstDash val="solid"/>
          </a:ln>
        </p:spPr>
        <p:txBody>
          <a:bodyPr/>
          <a:lstStyle/>
          <a:p>
            <a:endParaRPr lang="en-CA"/>
          </a:p>
        </p:txBody>
      </p:sp>
      <p:sp>
        <p:nvSpPr>
          <p:cNvPr id="24" name="Shape 22"/>
          <p:cNvSpPr/>
          <p:nvPr/>
        </p:nvSpPr>
        <p:spPr>
          <a:xfrm>
            <a:off x="8083296" y="932688"/>
            <a:ext cx="621792" cy="219456"/>
          </a:xfrm>
          <a:prstGeom prst="roundRect">
            <a:avLst>
              <a:gd name="adj" fmla="val 20833"/>
            </a:avLst>
          </a:prstGeom>
          <a:solidFill>
            <a:srgbClr val="F2F2F2"/>
          </a:solidFill>
          <a:ln w="6350">
            <a:solidFill>
              <a:srgbClr val="E0E0E0"/>
            </a:solidFill>
            <a:prstDash val="solid"/>
          </a:ln>
        </p:spPr>
        <p:txBody>
          <a:bodyPr/>
          <a:lstStyle/>
          <a:p>
            <a:endParaRPr lang="en-CA"/>
          </a:p>
        </p:txBody>
      </p:sp>
      <p:sp>
        <p:nvSpPr>
          <p:cNvPr id="25" name="Text 23"/>
          <p:cNvSpPr/>
          <p:nvPr/>
        </p:nvSpPr>
        <p:spPr>
          <a:xfrm>
            <a:off x="8083296" y="932688"/>
            <a:ext cx="621792"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4 tests</a:t>
            </a:r>
            <a:endParaRPr lang="en-US" sz="750" dirty="0"/>
          </a:p>
        </p:txBody>
      </p:sp>
      <p:sp>
        <p:nvSpPr>
          <p:cNvPr id="26" name="Text 24"/>
          <p:cNvSpPr/>
          <p:nvPr/>
        </p:nvSpPr>
        <p:spPr>
          <a:xfrm>
            <a:off x="3749040" y="896112"/>
            <a:ext cx="4206240" cy="219456"/>
          </a:xfrm>
          <a:prstGeom prst="rect">
            <a:avLst/>
          </a:prstGeom>
          <a:noFill/>
          <a:ln/>
        </p:spPr>
        <p:txBody>
          <a:bodyPr wrap="square" lIns="0" tIns="0" rIns="0" bIns="0" rtlCol="0" anchor="ctr"/>
          <a:lstStyle/>
          <a:p>
            <a:pPr marL="0" indent="0">
              <a:buNone/>
            </a:pPr>
            <a:r>
              <a:rPr lang="en-US" sz="800" b="1" dirty="0">
                <a:solidFill>
                  <a:srgbClr val="0A0A0A"/>
                </a:solidFill>
                <a:latin typeface="Courier New" pitchFamily="34" charset="0"/>
                <a:ea typeface="Courier New" pitchFamily="34" charset="-122"/>
                <a:cs typeface="Courier New" pitchFamily="34" charset="-120"/>
              </a:rPr>
              <a:t>test_abstractions_and_engine.py</a:t>
            </a:r>
            <a:endParaRPr lang="en-US" sz="800" dirty="0"/>
          </a:p>
        </p:txBody>
      </p:sp>
      <p:sp>
        <p:nvSpPr>
          <p:cNvPr id="27" name="Text 25"/>
          <p:cNvSpPr/>
          <p:nvPr/>
        </p:nvSpPr>
        <p:spPr>
          <a:xfrm>
            <a:off x="3749040" y="1133856"/>
            <a:ext cx="4206240" cy="384048"/>
          </a:xfrm>
          <a:prstGeom prst="rect">
            <a:avLst/>
          </a:prstGeom>
          <a:noFill/>
          <a:ln/>
        </p:spPr>
        <p:txBody>
          <a:bodyPr wrap="square" lIns="0" tIns="0" rIns="0" bIns="0" rtlCol="0" anchor="t"/>
          <a:lstStyle/>
          <a:p>
            <a:pPr marL="0" indent="0">
              <a:lnSpc>
                <a:spcPct val="130000"/>
              </a:lnSpc>
              <a:buNone/>
            </a:pPr>
            <a:r>
              <a:rPr lang="en-US" sz="750" dirty="0">
                <a:solidFill>
                  <a:srgbClr val="555555"/>
                </a:solidFill>
                <a:latin typeface="Calibri" pitchFamily="34" charset="0"/>
                <a:ea typeface="Calibri" pitchFamily="34" charset="-122"/>
                <a:cs typeface="Calibri" pitchFamily="34" charset="-120"/>
              </a:rPr>
              <a:t>Abstractions de base, cohérence Engine/Mode/Primitive, erreurs de configuration et parcours nominaux.</a:t>
            </a:r>
            <a:endParaRPr lang="en-US" sz="750" dirty="0"/>
          </a:p>
        </p:txBody>
      </p:sp>
      <p:sp>
        <p:nvSpPr>
          <p:cNvPr id="28" name="Shape 26"/>
          <p:cNvSpPr/>
          <p:nvPr/>
        </p:nvSpPr>
        <p:spPr>
          <a:xfrm>
            <a:off x="3621024" y="1591056"/>
            <a:ext cx="5175504" cy="694944"/>
          </a:xfrm>
          <a:prstGeom prst="roundRect">
            <a:avLst>
              <a:gd name="adj" fmla="val 10526"/>
            </a:avLst>
          </a:prstGeom>
          <a:solidFill>
            <a:srgbClr val="FAFAFA"/>
          </a:solidFill>
          <a:ln w="6350">
            <a:solidFill>
              <a:srgbClr val="EEEEEE"/>
            </a:solidFill>
            <a:prstDash val="solid"/>
          </a:ln>
        </p:spPr>
        <p:txBody>
          <a:bodyPr/>
          <a:lstStyle/>
          <a:p>
            <a:endParaRPr lang="en-CA"/>
          </a:p>
        </p:txBody>
      </p:sp>
      <p:sp>
        <p:nvSpPr>
          <p:cNvPr id="29" name="Shape 27"/>
          <p:cNvSpPr/>
          <p:nvPr/>
        </p:nvSpPr>
        <p:spPr>
          <a:xfrm>
            <a:off x="3621024" y="1591056"/>
            <a:ext cx="45720" cy="694944"/>
          </a:xfrm>
          <a:prstGeom prst="rect">
            <a:avLst/>
          </a:prstGeom>
          <a:solidFill>
            <a:srgbClr val="888888"/>
          </a:solidFill>
          <a:ln w="12700">
            <a:solidFill>
              <a:srgbClr val="888888"/>
            </a:solidFill>
            <a:prstDash val="solid"/>
          </a:ln>
        </p:spPr>
        <p:txBody>
          <a:bodyPr/>
          <a:lstStyle/>
          <a:p>
            <a:endParaRPr lang="en-CA"/>
          </a:p>
        </p:txBody>
      </p:sp>
      <p:sp>
        <p:nvSpPr>
          <p:cNvPr id="30" name="Shape 28"/>
          <p:cNvSpPr/>
          <p:nvPr/>
        </p:nvSpPr>
        <p:spPr>
          <a:xfrm>
            <a:off x="8083296" y="1700784"/>
            <a:ext cx="621792" cy="219456"/>
          </a:xfrm>
          <a:prstGeom prst="roundRect">
            <a:avLst>
              <a:gd name="adj" fmla="val 20833"/>
            </a:avLst>
          </a:prstGeom>
          <a:solidFill>
            <a:srgbClr val="F2F2F2"/>
          </a:solidFill>
          <a:ln w="6350">
            <a:solidFill>
              <a:srgbClr val="E0E0E0"/>
            </a:solidFill>
            <a:prstDash val="solid"/>
          </a:ln>
        </p:spPr>
        <p:txBody>
          <a:bodyPr/>
          <a:lstStyle/>
          <a:p>
            <a:endParaRPr lang="en-CA"/>
          </a:p>
        </p:txBody>
      </p:sp>
      <p:sp>
        <p:nvSpPr>
          <p:cNvPr id="31" name="Text 29"/>
          <p:cNvSpPr/>
          <p:nvPr/>
        </p:nvSpPr>
        <p:spPr>
          <a:xfrm>
            <a:off x="8083296" y="1700784"/>
            <a:ext cx="621792"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13 tests</a:t>
            </a:r>
            <a:endParaRPr lang="en-US" sz="750" dirty="0">
              <a:solidFill>
                <a:srgbClr val="888888"/>
              </a:solidFill>
            </a:endParaRPr>
          </a:p>
        </p:txBody>
      </p:sp>
      <p:sp>
        <p:nvSpPr>
          <p:cNvPr id="32" name="Text 30"/>
          <p:cNvSpPr/>
          <p:nvPr/>
        </p:nvSpPr>
        <p:spPr>
          <a:xfrm>
            <a:off x="3749040" y="1664208"/>
            <a:ext cx="4206240" cy="219456"/>
          </a:xfrm>
          <a:prstGeom prst="rect">
            <a:avLst/>
          </a:prstGeom>
          <a:noFill/>
          <a:ln/>
        </p:spPr>
        <p:txBody>
          <a:bodyPr wrap="square" lIns="0" tIns="0" rIns="0" bIns="0" rtlCol="0" anchor="ctr"/>
          <a:lstStyle/>
          <a:p>
            <a:pPr marL="0" indent="0">
              <a:buNone/>
            </a:pPr>
            <a:r>
              <a:rPr lang="en-US" sz="800" b="1" dirty="0">
                <a:solidFill>
                  <a:srgbClr val="0A0A0A"/>
                </a:solidFill>
                <a:latin typeface="Courier New" pitchFamily="34" charset="0"/>
                <a:ea typeface="Courier New" pitchFamily="34" charset="-122"/>
                <a:cs typeface="Courier New" pitchFamily="34" charset="-120"/>
              </a:rPr>
              <a:t>test_core_crypto.py</a:t>
            </a:r>
            <a:endParaRPr lang="en-US" sz="800" dirty="0">
              <a:solidFill>
                <a:srgbClr val="0A0A0A"/>
              </a:solidFill>
            </a:endParaRPr>
          </a:p>
        </p:txBody>
      </p:sp>
      <p:sp>
        <p:nvSpPr>
          <p:cNvPr id="33" name="Text 31"/>
          <p:cNvSpPr/>
          <p:nvPr/>
        </p:nvSpPr>
        <p:spPr>
          <a:xfrm>
            <a:off x="3749040" y="1901952"/>
            <a:ext cx="4206240" cy="384048"/>
          </a:xfrm>
          <a:prstGeom prst="rect">
            <a:avLst/>
          </a:prstGeom>
          <a:noFill/>
          <a:ln/>
        </p:spPr>
        <p:txBody>
          <a:bodyPr wrap="square" lIns="0" tIns="0" rIns="0" bIns="0" rtlCol="0" anchor="t"/>
          <a:lstStyle/>
          <a:p>
            <a:pPr marL="0" indent="0">
              <a:lnSpc>
                <a:spcPct val="130000"/>
              </a:lnSpc>
              <a:buNone/>
            </a:pPr>
            <a:r>
              <a:rPr lang="en-US" sz="750" dirty="0">
                <a:solidFill>
                  <a:srgbClr val="555555"/>
                </a:solidFill>
                <a:latin typeface="Calibri" pitchFamily="34" charset="0"/>
                <a:ea typeface="Calibri" pitchFamily="34" charset="-122"/>
                <a:cs typeface="Calibri" pitchFamily="34" charset="-120"/>
              </a:rPr>
              <a:t>Primitives et modes — round-trip chiffrement/déchiffrement, validations d'entrées, chemins d'erreur.</a:t>
            </a:r>
            <a:endParaRPr lang="en-US" sz="750" dirty="0">
              <a:solidFill>
                <a:srgbClr val="555555"/>
              </a:solidFill>
            </a:endParaRPr>
          </a:p>
        </p:txBody>
      </p:sp>
      <p:sp>
        <p:nvSpPr>
          <p:cNvPr id="34" name="Shape 32"/>
          <p:cNvSpPr/>
          <p:nvPr/>
        </p:nvSpPr>
        <p:spPr>
          <a:xfrm>
            <a:off x="3621024" y="2359152"/>
            <a:ext cx="5175504" cy="694944"/>
          </a:xfrm>
          <a:prstGeom prst="roundRect">
            <a:avLst>
              <a:gd name="adj" fmla="val 10526"/>
            </a:avLst>
          </a:prstGeom>
          <a:solidFill>
            <a:srgbClr val="FAFAFA"/>
          </a:solidFill>
          <a:ln w="6350">
            <a:solidFill>
              <a:srgbClr val="EEEEEE"/>
            </a:solidFill>
            <a:prstDash val="solid"/>
          </a:ln>
        </p:spPr>
        <p:txBody>
          <a:bodyPr/>
          <a:lstStyle/>
          <a:p>
            <a:endParaRPr lang="en-CA"/>
          </a:p>
        </p:txBody>
      </p:sp>
      <p:sp>
        <p:nvSpPr>
          <p:cNvPr id="35" name="Shape 33"/>
          <p:cNvSpPr/>
          <p:nvPr/>
        </p:nvSpPr>
        <p:spPr>
          <a:xfrm>
            <a:off x="3621024" y="2359152"/>
            <a:ext cx="45720" cy="694944"/>
          </a:xfrm>
          <a:prstGeom prst="rect">
            <a:avLst/>
          </a:prstGeom>
          <a:solidFill>
            <a:srgbClr val="888888"/>
          </a:solidFill>
          <a:ln w="12700">
            <a:solidFill>
              <a:srgbClr val="888888"/>
            </a:solidFill>
            <a:prstDash val="solid"/>
          </a:ln>
        </p:spPr>
        <p:txBody>
          <a:bodyPr/>
          <a:lstStyle/>
          <a:p>
            <a:endParaRPr lang="en-CA"/>
          </a:p>
        </p:txBody>
      </p:sp>
      <p:sp>
        <p:nvSpPr>
          <p:cNvPr id="36" name="Shape 34"/>
          <p:cNvSpPr/>
          <p:nvPr/>
        </p:nvSpPr>
        <p:spPr>
          <a:xfrm>
            <a:off x="8083296" y="2468880"/>
            <a:ext cx="621792" cy="219456"/>
          </a:xfrm>
          <a:prstGeom prst="roundRect">
            <a:avLst>
              <a:gd name="adj" fmla="val 20833"/>
            </a:avLst>
          </a:prstGeom>
          <a:solidFill>
            <a:srgbClr val="F2F2F2"/>
          </a:solidFill>
          <a:ln w="6350">
            <a:solidFill>
              <a:srgbClr val="E0E0E0"/>
            </a:solidFill>
            <a:prstDash val="solid"/>
          </a:ln>
        </p:spPr>
        <p:txBody>
          <a:bodyPr/>
          <a:lstStyle/>
          <a:p>
            <a:endParaRPr lang="en-CA"/>
          </a:p>
        </p:txBody>
      </p:sp>
      <p:sp>
        <p:nvSpPr>
          <p:cNvPr id="37" name="Text 35"/>
          <p:cNvSpPr/>
          <p:nvPr/>
        </p:nvSpPr>
        <p:spPr>
          <a:xfrm>
            <a:off x="8083296" y="2468880"/>
            <a:ext cx="621792"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5 tests</a:t>
            </a:r>
            <a:endParaRPr lang="en-US" sz="750" dirty="0"/>
          </a:p>
        </p:txBody>
      </p:sp>
      <p:sp>
        <p:nvSpPr>
          <p:cNvPr id="38" name="Text 36"/>
          <p:cNvSpPr/>
          <p:nvPr/>
        </p:nvSpPr>
        <p:spPr>
          <a:xfrm>
            <a:off x="3749040" y="2432304"/>
            <a:ext cx="4206240" cy="219456"/>
          </a:xfrm>
          <a:prstGeom prst="rect">
            <a:avLst/>
          </a:prstGeom>
          <a:noFill/>
          <a:ln/>
        </p:spPr>
        <p:txBody>
          <a:bodyPr wrap="square" lIns="0" tIns="0" rIns="0" bIns="0" rtlCol="0" anchor="ctr"/>
          <a:lstStyle/>
          <a:p>
            <a:pPr marL="0" indent="0">
              <a:buNone/>
            </a:pPr>
            <a:r>
              <a:rPr lang="en-US" sz="800" b="1" dirty="0">
                <a:solidFill>
                  <a:srgbClr val="0A0A0A"/>
                </a:solidFill>
                <a:latin typeface="Courier New" pitchFamily="34" charset="0"/>
                <a:ea typeface="Courier New" pitchFamily="34" charset="-122"/>
                <a:cs typeface="Courier New" pitchFamily="34" charset="-120"/>
              </a:rPr>
              <a:t>test_experiment_controller.py</a:t>
            </a:r>
            <a:endParaRPr lang="en-US" sz="800" dirty="0"/>
          </a:p>
        </p:txBody>
      </p:sp>
      <p:sp>
        <p:nvSpPr>
          <p:cNvPr id="39" name="Text 37"/>
          <p:cNvSpPr/>
          <p:nvPr/>
        </p:nvSpPr>
        <p:spPr>
          <a:xfrm>
            <a:off x="3749040" y="2670048"/>
            <a:ext cx="4206240" cy="384048"/>
          </a:xfrm>
          <a:prstGeom prst="rect">
            <a:avLst/>
          </a:prstGeom>
          <a:noFill/>
          <a:ln/>
        </p:spPr>
        <p:txBody>
          <a:bodyPr wrap="square" lIns="0" tIns="0" rIns="0" bIns="0" rtlCol="0" anchor="t"/>
          <a:lstStyle/>
          <a:p>
            <a:pPr marL="0" indent="0">
              <a:lnSpc>
                <a:spcPct val="130000"/>
              </a:lnSpc>
              <a:buNone/>
            </a:pPr>
            <a:r>
              <a:rPr lang="en-US" sz="750" dirty="0">
                <a:solidFill>
                  <a:srgbClr val="555555"/>
                </a:solidFill>
                <a:latin typeface="Calibri" pitchFamily="34" charset="0"/>
                <a:ea typeface="Calibri" pitchFamily="34" charset="-122"/>
                <a:cs typeface="Calibri" pitchFamily="34" charset="-120"/>
              </a:rPr>
              <a:t>ExperimentController, métriques de performance, scores d'avalanche, branches d'exception.</a:t>
            </a:r>
            <a:endParaRPr lang="en-US" sz="750" dirty="0"/>
          </a:p>
        </p:txBody>
      </p:sp>
      <p:sp>
        <p:nvSpPr>
          <p:cNvPr id="40" name="Shape 38"/>
          <p:cNvSpPr/>
          <p:nvPr/>
        </p:nvSpPr>
        <p:spPr>
          <a:xfrm>
            <a:off x="3621024" y="3127248"/>
            <a:ext cx="5175504" cy="694944"/>
          </a:xfrm>
          <a:prstGeom prst="roundRect">
            <a:avLst>
              <a:gd name="adj" fmla="val 10526"/>
            </a:avLst>
          </a:prstGeom>
          <a:solidFill>
            <a:srgbClr val="FAFAFA"/>
          </a:solidFill>
          <a:ln w="6350">
            <a:solidFill>
              <a:srgbClr val="EEEEEE"/>
            </a:solidFill>
            <a:prstDash val="solid"/>
          </a:ln>
        </p:spPr>
        <p:txBody>
          <a:bodyPr/>
          <a:lstStyle/>
          <a:p>
            <a:endParaRPr lang="en-CA"/>
          </a:p>
        </p:txBody>
      </p:sp>
      <p:sp>
        <p:nvSpPr>
          <p:cNvPr id="41" name="Shape 39"/>
          <p:cNvSpPr/>
          <p:nvPr/>
        </p:nvSpPr>
        <p:spPr>
          <a:xfrm>
            <a:off x="3621024" y="3127248"/>
            <a:ext cx="45720" cy="694944"/>
          </a:xfrm>
          <a:prstGeom prst="rect">
            <a:avLst/>
          </a:prstGeom>
          <a:solidFill>
            <a:srgbClr val="888888"/>
          </a:solidFill>
          <a:ln w="12700">
            <a:solidFill>
              <a:srgbClr val="888888"/>
            </a:solidFill>
            <a:prstDash val="solid"/>
          </a:ln>
        </p:spPr>
        <p:txBody>
          <a:bodyPr/>
          <a:lstStyle/>
          <a:p>
            <a:endParaRPr lang="en-CA"/>
          </a:p>
        </p:txBody>
      </p:sp>
      <p:sp>
        <p:nvSpPr>
          <p:cNvPr id="42" name="Shape 40"/>
          <p:cNvSpPr/>
          <p:nvPr/>
        </p:nvSpPr>
        <p:spPr>
          <a:xfrm>
            <a:off x="8083296" y="3236976"/>
            <a:ext cx="621792" cy="219456"/>
          </a:xfrm>
          <a:prstGeom prst="roundRect">
            <a:avLst>
              <a:gd name="adj" fmla="val 20833"/>
            </a:avLst>
          </a:prstGeom>
          <a:solidFill>
            <a:srgbClr val="F2F2F2"/>
          </a:solidFill>
          <a:ln w="6350">
            <a:solidFill>
              <a:srgbClr val="E0E0E0"/>
            </a:solidFill>
            <a:prstDash val="solid"/>
          </a:ln>
        </p:spPr>
        <p:txBody>
          <a:bodyPr/>
          <a:lstStyle/>
          <a:p>
            <a:endParaRPr lang="en-CA"/>
          </a:p>
        </p:txBody>
      </p:sp>
      <p:sp>
        <p:nvSpPr>
          <p:cNvPr id="43" name="Text 41"/>
          <p:cNvSpPr/>
          <p:nvPr/>
        </p:nvSpPr>
        <p:spPr>
          <a:xfrm>
            <a:off x="8083296" y="3236976"/>
            <a:ext cx="621792"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2 tests</a:t>
            </a:r>
            <a:endParaRPr lang="en-US" sz="750" dirty="0"/>
          </a:p>
        </p:txBody>
      </p:sp>
      <p:sp>
        <p:nvSpPr>
          <p:cNvPr id="44" name="Text 42"/>
          <p:cNvSpPr/>
          <p:nvPr/>
        </p:nvSpPr>
        <p:spPr>
          <a:xfrm>
            <a:off x="3749040" y="3200400"/>
            <a:ext cx="4206240" cy="219456"/>
          </a:xfrm>
          <a:prstGeom prst="rect">
            <a:avLst/>
          </a:prstGeom>
          <a:noFill/>
          <a:ln/>
        </p:spPr>
        <p:txBody>
          <a:bodyPr wrap="square" lIns="0" tIns="0" rIns="0" bIns="0" rtlCol="0" anchor="ctr"/>
          <a:lstStyle/>
          <a:p>
            <a:pPr marL="0" indent="0">
              <a:buNone/>
            </a:pPr>
            <a:r>
              <a:rPr lang="en-US" sz="800" b="1" dirty="0">
                <a:solidFill>
                  <a:srgbClr val="0A0A0A"/>
                </a:solidFill>
                <a:latin typeface="Courier New" pitchFamily="34" charset="0"/>
                <a:ea typeface="Courier New" pitchFamily="34" charset="-122"/>
                <a:cs typeface="Courier New" pitchFamily="34" charset="-120"/>
              </a:rPr>
              <a:t>test_run_kat.py</a:t>
            </a:r>
            <a:endParaRPr lang="en-US" sz="800" dirty="0"/>
          </a:p>
        </p:txBody>
      </p:sp>
      <p:sp>
        <p:nvSpPr>
          <p:cNvPr id="45" name="Text 43"/>
          <p:cNvSpPr/>
          <p:nvPr/>
        </p:nvSpPr>
        <p:spPr>
          <a:xfrm>
            <a:off x="3749040" y="3438144"/>
            <a:ext cx="4206240" cy="384048"/>
          </a:xfrm>
          <a:prstGeom prst="rect">
            <a:avLst/>
          </a:prstGeom>
          <a:noFill/>
          <a:ln/>
        </p:spPr>
        <p:txBody>
          <a:bodyPr wrap="square" lIns="0" tIns="0" rIns="0" bIns="0" rtlCol="0" anchor="t"/>
          <a:lstStyle/>
          <a:p>
            <a:pPr marL="0" indent="0">
              <a:lnSpc>
                <a:spcPct val="130000"/>
              </a:lnSpc>
              <a:buNone/>
            </a:pPr>
            <a:r>
              <a:rPr lang="en-US" sz="750" dirty="0">
                <a:solidFill>
                  <a:srgbClr val="555555"/>
                </a:solidFill>
                <a:latin typeface="Calibri" pitchFamily="34" charset="0"/>
                <a:ea typeface="Calibri" pitchFamily="34" charset="-122"/>
                <a:cs typeface="Calibri" pitchFamily="34" charset="-120"/>
              </a:rPr>
              <a:t>Comportement succès/échec de l'exécution KAT.</a:t>
            </a:r>
            <a:endParaRPr lang="en-US" sz="750" dirty="0"/>
          </a:p>
        </p:txBody>
      </p:sp>
      <p:sp>
        <p:nvSpPr>
          <p:cNvPr id="46" name="Shape 44"/>
          <p:cNvSpPr/>
          <p:nvPr/>
        </p:nvSpPr>
        <p:spPr>
          <a:xfrm>
            <a:off x="3621024" y="3895344"/>
            <a:ext cx="5175504" cy="694944"/>
          </a:xfrm>
          <a:prstGeom prst="roundRect">
            <a:avLst>
              <a:gd name="adj" fmla="val 10526"/>
            </a:avLst>
          </a:prstGeom>
          <a:solidFill>
            <a:srgbClr val="FAFAFA"/>
          </a:solidFill>
          <a:ln w="6350">
            <a:solidFill>
              <a:srgbClr val="EEEEEE"/>
            </a:solidFill>
            <a:prstDash val="solid"/>
          </a:ln>
        </p:spPr>
        <p:txBody>
          <a:bodyPr/>
          <a:lstStyle/>
          <a:p>
            <a:endParaRPr lang="en-CA"/>
          </a:p>
        </p:txBody>
      </p:sp>
      <p:sp>
        <p:nvSpPr>
          <p:cNvPr id="47" name="Shape 45"/>
          <p:cNvSpPr/>
          <p:nvPr/>
        </p:nvSpPr>
        <p:spPr>
          <a:xfrm>
            <a:off x="3621024" y="3895344"/>
            <a:ext cx="45720" cy="694944"/>
          </a:xfrm>
          <a:prstGeom prst="rect">
            <a:avLst/>
          </a:prstGeom>
          <a:solidFill>
            <a:srgbClr val="888888"/>
          </a:solidFill>
          <a:ln w="12700">
            <a:solidFill>
              <a:srgbClr val="888888"/>
            </a:solidFill>
            <a:prstDash val="solid"/>
          </a:ln>
        </p:spPr>
        <p:txBody>
          <a:bodyPr/>
          <a:lstStyle/>
          <a:p>
            <a:endParaRPr lang="en-CA"/>
          </a:p>
        </p:txBody>
      </p:sp>
      <p:sp>
        <p:nvSpPr>
          <p:cNvPr id="48" name="Shape 46"/>
          <p:cNvSpPr/>
          <p:nvPr/>
        </p:nvSpPr>
        <p:spPr>
          <a:xfrm>
            <a:off x="8083296" y="4005072"/>
            <a:ext cx="621792" cy="219456"/>
          </a:xfrm>
          <a:prstGeom prst="roundRect">
            <a:avLst>
              <a:gd name="adj" fmla="val 20833"/>
            </a:avLst>
          </a:prstGeom>
          <a:solidFill>
            <a:srgbClr val="F2F2F2"/>
          </a:solidFill>
          <a:ln w="6350">
            <a:solidFill>
              <a:srgbClr val="E0E0E0"/>
            </a:solidFill>
            <a:prstDash val="solid"/>
          </a:ln>
        </p:spPr>
        <p:txBody>
          <a:bodyPr/>
          <a:lstStyle/>
          <a:p>
            <a:endParaRPr lang="en-CA"/>
          </a:p>
        </p:txBody>
      </p:sp>
      <p:sp>
        <p:nvSpPr>
          <p:cNvPr id="49" name="Text 47"/>
          <p:cNvSpPr/>
          <p:nvPr/>
        </p:nvSpPr>
        <p:spPr>
          <a:xfrm>
            <a:off x="8083296" y="4005072"/>
            <a:ext cx="621792"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2 tests</a:t>
            </a:r>
            <a:endParaRPr lang="en-US" sz="750" dirty="0"/>
          </a:p>
        </p:txBody>
      </p:sp>
      <p:sp>
        <p:nvSpPr>
          <p:cNvPr id="50" name="Text 48"/>
          <p:cNvSpPr/>
          <p:nvPr/>
        </p:nvSpPr>
        <p:spPr>
          <a:xfrm>
            <a:off x="3749040" y="3968496"/>
            <a:ext cx="4206240" cy="219456"/>
          </a:xfrm>
          <a:prstGeom prst="rect">
            <a:avLst/>
          </a:prstGeom>
          <a:noFill/>
          <a:ln/>
        </p:spPr>
        <p:txBody>
          <a:bodyPr wrap="square" lIns="0" tIns="0" rIns="0" bIns="0" rtlCol="0" anchor="ctr"/>
          <a:lstStyle/>
          <a:p>
            <a:pPr marL="0" indent="0">
              <a:buNone/>
            </a:pPr>
            <a:r>
              <a:rPr lang="en-US" sz="800" b="1" dirty="0">
                <a:solidFill>
                  <a:srgbClr val="0A0A0A"/>
                </a:solidFill>
                <a:latin typeface="Courier New" pitchFamily="34" charset="0"/>
                <a:ea typeface="Courier New" pitchFamily="34" charset="-122"/>
                <a:cs typeface="Courier New" pitchFamily="34" charset="-120"/>
              </a:rPr>
              <a:t>test_chart_data_loaders.py</a:t>
            </a:r>
            <a:endParaRPr lang="en-US" sz="800" dirty="0"/>
          </a:p>
        </p:txBody>
      </p:sp>
      <p:sp>
        <p:nvSpPr>
          <p:cNvPr id="51" name="Text 49"/>
          <p:cNvSpPr/>
          <p:nvPr/>
        </p:nvSpPr>
        <p:spPr>
          <a:xfrm>
            <a:off x="3749040" y="4206240"/>
            <a:ext cx="4206240" cy="384048"/>
          </a:xfrm>
          <a:prstGeom prst="rect">
            <a:avLst/>
          </a:prstGeom>
          <a:noFill/>
          <a:ln/>
        </p:spPr>
        <p:txBody>
          <a:bodyPr wrap="square" lIns="0" tIns="0" rIns="0" bIns="0" rtlCol="0" anchor="t"/>
          <a:lstStyle/>
          <a:p>
            <a:pPr marL="0" indent="0">
              <a:lnSpc>
                <a:spcPct val="130000"/>
              </a:lnSpc>
              <a:buNone/>
            </a:pPr>
            <a:r>
              <a:rPr lang="en-US" sz="750" dirty="0">
                <a:solidFill>
                  <a:srgbClr val="555555"/>
                </a:solidFill>
                <a:latin typeface="Calibri" pitchFamily="34" charset="0"/>
                <a:ea typeface="Calibri" pitchFamily="34" charset="-122"/>
                <a:cs typeface="Calibri" pitchFamily="34" charset="-120"/>
              </a:rPr>
              <a:t>Lecture, normalisation et agrégation des données de graphes.</a:t>
            </a:r>
            <a:endParaRPr lang="en-US" sz="750" dirty="0"/>
          </a:p>
        </p:txBody>
      </p:sp>
      <p:sp>
        <p:nvSpPr>
          <p:cNvPr id="52" name="Text 50"/>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475488" y="164592"/>
            <a:ext cx="6400800" cy="182880"/>
          </a:xfrm>
          <a:prstGeom prst="rect">
            <a:avLst/>
          </a:prstGeom>
          <a:noFill/>
          <a:ln/>
        </p:spPr>
        <p:txBody>
          <a:bodyPr wrap="square" lIns="0" tIns="0" rIns="0" bIns="0" rtlCol="0" anchor="ctr"/>
          <a:lstStyle/>
          <a:p>
            <a:r>
              <a:rPr lang="en-US" sz="800" b="1" kern="0" spc="200" dirty="0">
                <a:solidFill>
                  <a:srgbClr val="C0C0C0"/>
                </a:solidFill>
                <a:latin typeface="Calibri" pitchFamily="34" charset="0"/>
                <a:ea typeface="Calibri" pitchFamily="34" charset="-122"/>
                <a:cs typeface="Calibri" pitchFamily="34" charset="-120"/>
              </a:rPr>
              <a:t>05b  ·  SYNTHÈSE ET DÉMONSTRATION</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Les trois commandes </a:t>
            </a:r>
            <a:r>
              <a:rPr lang="en-US" sz="1500" b="1" dirty="0">
                <a:solidFill>
                  <a:srgbClr val="C9A84C"/>
                </a:solidFill>
                <a:latin typeface="Calibri" pitchFamily="34" charset="0"/>
                <a:ea typeface="Calibri" pitchFamily="34" charset="-122"/>
                <a:cs typeface="Calibri" pitchFamily="34" charset="-120"/>
              </a:rPr>
              <a:t>qui font tourner le système</a:t>
            </a:r>
            <a:endParaRPr lang="en-US" sz="1500" dirty="0"/>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sp>
        <p:nvSpPr>
          <p:cNvPr id="6" name="Shape 4"/>
          <p:cNvSpPr/>
          <p:nvPr/>
        </p:nvSpPr>
        <p:spPr>
          <a:xfrm>
            <a:off x="475488" y="841248"/>
            <a:ext cx="8321040" cy="1188720"/>
          </a:xfrm>
          <a:prstGeom prst="roundRect">
            <a:avLst>
              <a:gd name="adj" fmla="val 7692"/>
            </a:avLst>
          </a:prstGeom>
          <a:solidFill>
            <a:srgbClr val="FAFAFA"/>
          </a:solidFill>
          <a:ln w="7620">
            <a:solidFill>
              <a:srgbClr val="EEEEEE"/>
            </a:solidFill>
            <a:prstDash val="solid"/>
          </a:ln>
        </p:spPr>
        <p:txBody>
          <a:bodyPr/>
          <a:lstStyle/>
          <a:p>
            <a:endParaRPr lang="en-CA"/>
          </a:p>
        </p:txBody>
      </p:sp>
      <p:sp>
        <p:nvSpPr>
          <p:cNvPr id="7" name="Text 5"/>
          <p:cNvSpPr/>
          <p:nvPr/>
        </p:nvSpPr>
        <p:spPr>
          <a:xfrm>
            <a:off x="509450" y="987552"/>
            <a:ext cx="1020208" cy="1133856"/>
          </a:xfrm>
          <a:prstGeom prst="rect">
            <a:avLst/>
          </a:prstGeom>
          <a:noFill/>
          <a:ln/>
        </p:spPr>
        <p:txBody>
          <a:bodyPr wrap="square" lIns="0" tIns="0" rIns="0" bIns="0" rtlCol="0" anchor="ctr"/>
          <a:lstStyle/>
          <a:p>
            <a:pPr marL="0" indent="0" algn="ctr">
              <a:buNone/>
            </a:pPr>
            <a:r>
              <a:rPr lang="en-US" sz="5400" b="1" dirty="0">
                <a:solidFill>
                  <a:srgbClr val="0A0A0A">
                    <a:alpha val="12000"/>
                  </a:srgbClr>
                </a:solidFill>
                <a:latin typeface="Calibri" pitchFamily="34" charset="0"/>
                <a:ea typeface="Calibri" pitchFamily="34" charset="-122"/>
                <a:cs typeface="Calibri" pitchFamily="34" charset="-120"/>
              </a:rPr>
              <a:t>01</a:t>
            </a:r>
            <a:endParaRPr lang="en-US" sz="5400" dirty="0"/>
          </a:p>
        </p:txBody>
      </p:sp>
      <p:sp>
        <p:nvSpPr>
          <p:cNvPr id="8" name="Shape 6"/>
          <p:cNvSpPr/>
          <p:nvPr/>
        </p:nvSpPr>
        <p:spPr>
          <a:xfrm>
            <a:off x="475488" y="841248"/>
            <a:ext cx="54864" cy="1188720"/>
          </a:xfrm>
          <a:prstGeom prst="rect">
            <a:avLst/>
          </a:prstGeom>
          <a:solidFill>
            <a:srgbClr val="0A0A0A"/>
          </a:solidFill>
          <a:ln w="12700">
            <a:solidFill>
              <a:srgbClr val="0A0A0A"/>
            </a:solidFill>
            <a:prstDash val="solid"/>
          </a:ln>
        </p:spPr>
        <p:txBody>
          <a:bodyPr/>
          <a:lstStyle/>
          <a:p>
            <a:endParaRPr lang="en-CA"/>
          </a:p>
        </p:txBody>
      </p:sp>
      <p:sp>
        <p:nvSpPr>
          <p:cNvPr id="9" name="Shape 7"/>
          <p:cNvSpPr/>
          <p:nvPr/>
        </p:nvSpPr>
        <p:spPr>
          <a:xfrm>
            <a:off x="694944" y="950976"/>
            <a:ext cx="658368" cy="219456"/>
          </a:xfrm>
          <a:prstGeom prst="roundRect">
            <a:avLst>
              <a:gd name="adj" fmla="val 20833"/>
            </a:avLst>
          </a:prstGeom>
          <a:solidFill>
            <a:srgbClr val="EEEEEE"/>
          </a:solidFill>
          <a:ln w="6350">
            <a:solidFill>
              <a:srgbClr val="E0E0E0"/>
            </a:solidFill>
            <a:prstDash val="solid"/>
          </a:ln>
        </p:spPr>
        <p:txBody>
          <a:bodyPr/>
          <a:lstStyle/>
          <a:p>
            <a:endParaRPr lang="en-CA"/>
          </a:p>
        </p:txBody>
      </p:sp>
      <p:sp>
        <p:nvSpPr>
          <p:cNvPr id="10" name="Text 8"/>
          <p:cNvSpPr/>
          <p:nvPr/>
        </p:nvSpPr>
        <p:spPr>
          <a:xfrm>
            <a:off x="694944" y="950976"/>
            <a:ext cx="658368" cy="219456"/>
          </a:xfrm>
          <a:prstGeom prst="rect">
            <a:avLst/>
          </a:prstGeom>
          <a:noFill/>
          <a:ln/>
        </p:spPr>
        <p:txBody>
          <a:bodyPr wrap="square" lIns="0" tIns="0" rIns="0" bIns="0" rtlCol="0" anchor="ctr"/>
          <a:lstStyle/>
          <a:p>
            <a:pPr marL="0" indent="0" algn="ctr">
              <a:buNone/>
            </a:pPr>
            <a:r>
              <a:rPr lang="en-US" sz="650" b="1" kern="0" spc="80" dirty="0">
                <a:solidFill>
                  <a:srgbClr val="888888"/>
                </a:solidFill>
                <a:latin typeface="Calibri" pitchFamily="34" charset="0"/>
                <a:ea typeface="Calibri" pitchFamily="34" charset="-122"/>
                <a:cs typeface="Calibri" pitchFamily="34" charset="-120"/>
              </a:rPr>
              <a:t>VALIDE</a:t>
            </a:r>
            <a:endParaRPr lang="en-US" sz="650" dirty="0"/>
          </a:p>
        </p:txBody>
      </p:sp>
      <p:sp>
        <p:nvSpPr>
          <p:cNvPr id="11" name="Text 9"/>
          <p:cNvSpPr/>
          <p:nvPr/>
        </p:nvSpPr>
        <p:spPr>
          <a:xfrm>
            <a:off x="1572768" y="1316736"/>
            <a:ext cx="3840480" cy="347472"/>
          </a:xfrm>
          <a:prstGeom prst="rect">
            <a:avLst/>
          </a:prstGeom>
          <a:noFill/>
          <a:ln/>
        </p:spPr>
        <p:txBody>
          <a:bodyPr wrap="square" lIns="0" tIns="0" rIns="0" bIns="0" rtlCol="0" anchor="ctr"/>
          <a:lstStyle/>
          <a:p>
            <a:pPr marL="0" indent="0">
              <a:buNone/>
            </a:pPr>
            <a:r>
              <a:rPr lang="en-US" sz="1100" b="1" dirty="0">
                <a:solidFill>
                  <a:srgbClr val="0A0A0A"/>
                </a:solidFill>
                <a:latin typeface="Courier New" pitchFamily="34" charset="0"/>
                <a:ea typeface="Courier New" pitchFamily="34" charset="-122"/>
                <a:cs typeface="Courier New" pitchFamily="34" charset="-120"/>
              </a:rPr>
              <a:t>python scripts/run_kat.py</a:t>
            </a:r>
            <a:endParaRPr lang="en-US" sz="1100" dirty="0"/>
          </a:p>
        </p:txBody>
      </p:sp>
      <p:sp>
        <p:nvSpPr>
          <p:cNvPr id="12" name="Shape 10"/>
          <p:cNvSpPr/>
          <p:nvPr/>
        </p:nvSpPr>
        <p:spPr>
          <a:xfrm>
            <a:off x="5166360" y="982980"/>
            <a:ext cx="0" cy="896112"/>
          </a:xfrm>
          <a:prstGeom prst="line">
            <a:avLst/>
          </a:prstGeom>
          <a:noFill/>
          <a:ln w="7620">
            <a:solidFill>
              <a:srgbClr val="EEEEEE"/>
            </a:solidFill>
            <a:prstDash val="solid"/>
          </a:ln>
        </p:spPr>
        <p:txBody>
          <a:bodyPr/>
          <a:lstStyle/>
          <a:p>
            <a:endParaRPr lang="en-CA"/>
          </a:p>
        </p:txBody>
      </p:sp>
      <p:sp>
        <p:nvSpPr>
          <p:cNvPr id="13" name="Text 11"/>
          <p:cNvSpPr/>
          <p:nvPr/>
        </p:nvSpPr>
        <p:spPr>
          <a:xfrm>
            <a:off x="5312664" y="836676"/>
            <a:ext cx="3392424" cy="1188720"/>
          </a:xfrm>
          <a:prstGeom prst="rect">
            <a:avLst/>
          </a:prstGeom>
          <a:noFill/>
          <a:ln/>
        </p:spPr>
        <p:txBody>
          <a:bodyPr wrap="square" lIns="0" tIns="0" rIns="0" bIns="0" rtlCol="0" anchor="ctr"/>
          <a:lstStyle/>
          <a:p>
            <a:pPr marL="0" indent="0">
              <a:lnSpc>
                <a:spcPct val="150000"/>
              </a:lnSpc>
              <a:buNone/>
            </a:pPr>
            <a:r>
              <a:rPr lang="en-US" sz="800" dirty="0">
                <a:solidFill>
                  <a:srgbClr val="555555"/>
                </a:solidFill>
                <a:latin typeface="Calibri" pitchFamily="34" charset="0"/>
                <a:ea typeface="Calibri" pitchFamily="34" charset="-122"/>
                <a:cs typeface="Calibri" pitchFamily="34" charset="-120"/>
              </a:rPr>
              <a:t>Exécute les suites KAT de validation  ·  Vérifie la conformité des implémentations  ·  100% PASS confirme la validité cryptographique</a:t>
            </a:r>
            <a:endParaRPr lang="en-US" sz="800" dirty="0"/>
          </a:p>
        </p:txBody>
      </p:sp>
      <p:sp>
        <p:nvSpPr>
          <p:cNvPr id="14" name="Shape 12"/>
          <p:cNvSpPr/>
          <p:nvPr/>
        </p:nvSpPr>
        <p:spPr>
          <a:xfrm>
            <a:off x="475488" y="2084832"/>
            <a:ext cx="8321040" cy="1188720"/>
          </a:xfrm>
          <a:prstGeom prst="roundRect">
            <a:avLst>
              <a:gd name="adj" fmla="val 7692"/>
            </a:avLst>
          </a:prstGeom>
          <a:solidFill>
            <a:srgbClr val="FAFAFA"/>
          </a:solidFill>
          <a:ln w="7620">
            <a:solidFill>
              <a:srgbClr val="EEEEEE"/>
            </a:solidFill>
            <a:prstDash val="solid"/>
          </a:ln>
        </p:spPr>
        <p:txBody>
          <a:bodyPr/>
          <a:lstStyle/>
          <a:p>
            <a:endParaRPr lang="en-CA"/>
          </a:p>
        </p:txBody>
      </p:sp>
      <p:sp>
        <p:nvSpPr>
          <p:cNvPr id="15" name="Text 13"/>
          <p:cNvSpPr/>
          <p:nvPr/>
        </p:nvSpPr>
        <p:spPr>
          <a:xfrm>
            <a:off x="475488" y="2299716"/>
            <a:ext cx="1097280" cy="1060704"/>
          </a:xfrm>
          <a:prstGeom prst="rect">
            <a:avLst/>
          </a:prstGeom>
          <a:noFill/>
          <a:ln/>
        </p:spPr>
        <p:txBody>
          <a:bodyPr wrap="square" lIns="0" tIns="0" rIns="0" bIns="0" rtlCol="0" anchor="ctr"/>
          <a:lstStyle/>
          <a:p>
            <a:pPr marL="0" indent="0" algn="ctr">
              <a:buNone/>
            </a:pPr>
            <a:r>
              <a:rPr lang="en-US" sz="6000" b="1" dirty="0">
                <a:solidFill>
                  <a:srgbClr val="CCCCCC">
                    <a:alpha val="12000"/>
                  </a:srgbClr>
                </a:solidFill>
                <a:latin typeface="Calibri" pitchFamily="34" charset="0"/>
                <a:ea typeface="Calibri" pitchFamily="34" charset="-122"/>
                <a:cs typeface="Calibri" pitchFamily="34" charset="-120"/>
              </a:rPr>
              <a:t>02</a:t>
            </a:r>
            <a:endParaRPr lang="en-US" sz="7200" dirty="0"/>
          </a:p>
        </p:txBody>
      </p:sp>
      <p:sp>
        <p:nvSpPr>
          <p:cNvPr id="16" name="Shape 14"/>
          <p:cNvSpPr/>
          <p:nvPr/>
        </p:nvSpPr>
        <p:spPr>
          <a:xfrm>
            <a:off x="475488" y="2084832"/>
            <a:ext cx="54864" cy="1188720"/>
          </a:xfrm>
          <a:prstGeom prst="rect">
            <a:avLst/>
          </a:prstGeom>
          <a:solidFill>
            <a:srgbClr val="888888"/>
          </a:solidFill>
          <a:ln w="12700">
            <a:solidFill>
              <a:srgbClr val="888888"/>
            </a:solidFill>
            <a:prstDash val="solid"/>
          </a:ln>
        </p:spPr>
        <p:txBody>
          <a:bodyPr/>
          <a:lstStyle/>
          <a:p>
            <a:endParaRPr lang="en-CA"/>
          </a:p>
        </p:txBody>
      </p:sp>
      <p:sp>
        <p:nvSpPr>
          <p:cNvPr id="17" name="Shape 15"/>
          <p:cNvSpPr/>
          <p:nvPr/>
        </p:nvSpPr>
        <p:spPr>
          <a:xfrm>
            <a:off x="694944" y="2194560"/>
            <a:ext cx="658368" cy="219456"/>
          </a:xfrm>
          <a:prstGeom prst="roundRect">
            <a:avLst>
              <a:gd name="adj" fmla="val 20833"/>
            </a:avLst>
          </a:prstGeom>
          <a:solidFill>
            <a:srgbClr val="EEEEEE"/>
          </a:solidFill>
          <a:ln w="6350">
            <a:solidFill>
              <a:srgbClr val="E0E0E0"/>
            </a:solidFill>
            <a:prstDash val="solid"/>
          </a:ln>
        </p:spPr>
        <p:txBody>
          <a:bodyPr/>
          <a:lstStyle/>
          <a:p>
            <a:endParaRPr lang="en-CA"/>
          </a:p>
        </p:txBody>
      </p:sp>
      <p:sp>
        <p:nvSpPr>
          <p:cNvPr id="18" name="Text 16"/>
          <p:cNvSpPr/>
          <p:nvPr/>
        </p:nvSpPr>
        <p:spPr>
          <a:xfrm>
            <a:off x="694944" y="2194560"/>
            <a:ext cx="658368" cy="219456"/>
          </a:xfrm>
          <a:prstGeom prst="rect">
            <a:avLst/>
          </a:prstGeom>
          <a:noFill/>
          <a:ln/>
        </p:spPr>
        <p:txBody>
          <a:bodyPr wrap="square" lIns="0" tIns="0" rIns="0" bIns="0" rtlCol="0" anchor="ctr"/>
          <a:lstStyle/>
          <a:p>
            <a:pPr marL="0" indent="0" algn="ctr">
              <a:buNone/>
            </a:pPr>
            <a:r>
              <a:rPr lang="en-US" sz="650" b="1" kern="0" spc="80" dirty="0">
                <a:solidFill>
                  <a:srgbClr val="888888"/>
                </a:solidFill>
                <a:latin typeface="Calibri" pitchFamily="34" charset="0"/>
                <a:ea typeface="Calibri" pitchFamily="34" charset="-122"/>
                <a:cs typeface="Calibri" pitchFamily="34" charset="-120"/>
              </a:rPr>
              <a:t>MESURE</a:t>
            </a:r>
            <a:endParaRPr lang="en-US" sz="650" dirty="0"/>
          </a:p>
        </p:txBody>
      </p:sp>
      <p:sp>
        <p:nvSpPr>
          <p:cNvPr id="19" name="Text 17"/>
          <p:cNvSpPr/>
          <p:nvPr/>
        </p:nvSpPr>
        <p:spPr>
          <a:xfrm>
            <a:off x="1529658" y="2596896"/>
            <a:ext cx="3840480" cy="347472"/>
          </a:xfrm>
          <a:prstGeom prst="rect">
            <a:avLst/>
          </a:prstGeom>
          <a:noFill/>
          <a:ln/>
        </p:spPr>
        <p:txBody>
          <a:bodyPr wrap="square" lIns="0" tIns="0" rIns="0" bIns="0" rtlCol="0" anchor="ctr"/>
          <a:lstStyle/>
          <a:p>
            <a:pPr marL="0" indent="0">
              <a:buNone/>
            </a:pPr>
            <a:r>
              <a:rPr lang="en-US" sz="1100" b="1" dirty="0">
                <a:solidFill>
                  <a:srgbClr val="0A0A0A"/>
                </a:solidFill>
                <a:latin typeface="Courier New" pitchFamily="34" charset="0"/>
                <a:ea typeface="Courier New" pitchFamily="34" charset="-122"/>
                <a:cs typeface="Courier New" pitchFamily="34" charset="-120"/>
              </a:rPr>
              <a:t>python scripts/experiment.py</a:t>
            </a:r>
            <a:endParaRPr lang="en-US" sz="1100" dirty="0"/>
          </a:p>
        </p:txBody>
      </p:sp>
      <p:sp>
        <p:nvSpPr>
          <p:cNvPr id="20" name="Shape 18"/>
          <p:cNvSpPr/>
          <p:nvPr/>
        </p:nvSpPr>
        <p:spPr>
          <a:xfrm>
            <a:off x="5166360" y="2226564"/>
            <a:ext cx="0" cy="896112"/>
          </a:xfrm>
          <a:prstGeom prst="line">
            <a:avLst/>
          </a:prstGeom>
          <a:noFill/>
          <a:ln w="7620">
            <a:solidFill>
              <a:srgbClr val="EEEEEE"/>
            </a:solidFill>
            <a:prstDash val="solid"/>
          </a:ln>
        </p:spPr>
        <p:txBody>
          <a:bodyPr/>
          <a:lstStyle/>
          <a:p>
            <a:endParaRPr lang="en-CA"/>
          </a:p>
        </p:txBody>
      </p:sp>
      <p:sp>
        <p:nvSpPr>
          <p:cNvPr id="21" name="Text 19"/>
          <p:cNvSpPr/>
          <p:nvPr/>
        </p:nvSpPr>
        <p:spPr>
          <a:xfrm>
            <a:off x="5312664" y="2080260"/>
            <a:ext cx="3392424" cy="1188720"/>
          </a:xfrm>
          <a:prstGeom prst="rect">
            <a:avLst/>
          </a:prstGeom>
          <a:noFill/>
          <a:ln/>
        </p:spPr>
        <p:txBody>
          <a:bodyPr wrap="square" lIns="0" tIns="0" rIns="0" bIns="0" rtlCol="0" anchor="ctr"/>
          <a:lstStyle/>
          <a:p>
            <a:pPr marL="0" indent="0">
              <a:lnSpc>
                <a:spcPct val="150000"/>
              </a:lnSpc>
              <a:buNone/>
            </a:pPr>
            <a:r>
              <a:rPr lang="en-US" sz="800" dirty="0">
                <a:solidFill>
                  <a:srgbClr val="555555"/>
                </a:solidFill>
                <a:latin typeface="Calibri" pitchFamily="34" charset="0"/>
                <a:ea typeface="Calibri" pitchFamily="34" charset="-122"/>
                <a:cs typeface="Calibri" pitchFamily="34" charset="-120"/>
              </a:rPr>
              <a:t>Lance la matrice expérimentale complète  ·  Exécute les mesures sur toutes les configurations  ·  Produit les CSV horodatés dans data/results/</a:t>
            </a:r>
            <a:endParaRPr lang="en-US" sz="800" dirty="0"/>
          </a:p>
        </p:txBody>
      </p:sp>
      <p:sp>
        <p:nvSpPr>
          <p:cNvPr id="22" name="Shape 20"/>
          <p:cNvSpPr/>
          <p:nvPr/>
        </p:nvSpPr>
        <p:spPr>
          <a:xfrm>
            <a:off x="475488" y="3316778"/>
            <a:ext cx="8321040" cy="1188720"/>
          </a:xfrm>
          <a:prstGeom prst="roundRect">
            <a:avLst>
              <a:gd name="adj" fmla="val 7692"/>
            </a:avLst>
          </a:prstGeom>
          <a:solidFill>
            <a:srgbClr val="FFFBF0"/>
          </a:solidFill>
          <a:ln w="12700">
            <a:solidFill>
              <a:srgbClr val="C9A84C"/>
            </a:solidFill>
            <a:prstDash val="solid"/>
          </a:ln>
        </p:spPr>
        <p:txBody>
          <a:bodyPr/>
          <a:lstStyle/>
          <a:p>
            <a:endParaRPr lang="en-CA"/>
          </a:p>
        </p:txBody>
      </p:sp>
      <p:sp>
        <p:nvSpPr>
          <p:cNvPr id="23" name="Text 21"/>
          <p:cNvSpPr/>
          <p:nvPr/>
        </p:nvSpPr>
        <p:spPr>
          <a:xfrm>
            <a:off x="534922" y="3438144"/>
            <a:ext cx="969263" cy="1156716"/>
          </a:xfrm>
          <a:prstGeom prst="rect">
            <a:avLst/>
          </a:prstGeom>
          <a:noFill/>
          <a:ln/>
        </p:spPr>
        <p:txBody>
          <a:bodyPr wrap="square" lIns="0" tIns="0" rIns="0" bIns="0" rtlCol="0" anchor="ctr"/>
          <a:lstStyle/>
          <a:p>
            <a:pPr marL="0" indent="0" algn="ctr">
              <a:buNone/>
            </a:pPr>
            <a:r>
              <a:rPr lang="en-US" sz="5400" b="1" dirty="0">
                <a:solidFill>
                  <a:srgbClr val="C9A84C">
                    <a:alpha val="12000"/>
                  </a:srgbClr>
                </a:solidFill>
                <a:latin typeface="Calibri" pitchFamily="34" charset="0"/>
                <a:ea typeface="Calibri" pitchFamily="34" charset="-122"/>
                <a:cs typeface="Calibri" pitchFamily="34" charset="-120"/>
              </a:rPr>
              <a:t>03</a:t>
            </a:r>
            <a:endParaRPr lang="en-US" sz="7200" dirty="0"/>
          </a:p>
        </p:txBody>
      </p:sp>
      <p:sp>
        <p:nvSpPr>
          <p:cNvPr id="24" name="Shape 22"/>
          <p:cNvSpPr/>
          <p:nvPr/>
        </p:nvSpPr>
        <p:spPr>
          <a:xfrm>
            <a:off x="475488" y="3328416"/>
            <a:ext cx="54864" cy="1188720"/>
          </a:xfrm>
          <a:prstGeom prst="rect">
            <a:avLst/>
          </a:prstGeom>
          <a:solidFill>
            <a:srgbClr val="C9A84C"/>
          </a:solidFill>
          <a:ln w="12700">
            <a:solidFill>
              <a:srgbClr val="C9A84C"/>
            </a:solidFill>
            <a:prstDash val="solid"/>
          </a:ln>
        </p:spPr>
        <p:txBody>
          <a:bodyPr/>
          <a:lstStyle/>
          <a:p>
            <a:endParaRPr lang="en-CA"/>
          </a:p>
        </p:txBody>
      </p:sp>
      <p:sp>
        <p:nvSpPr>
          <p:cNvPr id="25" name="Shape 23"/>
          <p:cNvSpPr/>
          <p:nvPr/>
        </p:nvSpPr>
        <p:spPr>
          <a:xfrm>
            <a:off x="694944" y="3438144"/>
            <a:ext cx="658368" cy="219456"/>
          </a:xfrm>
          <a:prstGeom prst="roundRect">
            <a:avLst>
              <a:gd name="adj" fmla="val 20833"/>
            </a:avLst>
          </a:prstGeom>
          <a:solidFill>
            <a:srgbClr val="F0E8CC"/>
          </a:solidFill>
          <a:ln w="6350">
            <a:solidFill>
              <a:srgbClr val="C9A84C"/>
            </a:solidFill>
            <a:prstDash val="solid"/>
          </a:ln>
        </p:spPr>
        <p:txBody>
          <a:bodyPr/>
          <a:lstStyle/>
          <a:p>
            <a:endParaRPr lang="en-CA"/>
          </a:p>
        </p:txBody>
      </p:sp>
      <p:sp>
        <p:nvSpPr>
          <p:cNvPr id="26" name="Text 24"/>
          <p:cNvSpPr/>
          <p:nvPr/>
        </p:nvSpPr>
        <p:spPr>
          <a:xfrm>
            <a:off x="694944" y="3438144"/>
            <a:ext cx="658368" cy="219456"/>
          </a:xfrm>
          <a:prstGeom prst="rect">
            <a:avLst/>
          </a:prstGeom>
          <a:noFill/>
          <a:ln/>
        </p:spPr>
        <p:txBody>
          <a:bodyPr wrap="square" lIns="0" tIns="0" rIns="0" bIns="0" rtlCol="0" anchor="ctr"/>
          <a:lstStyle/>
          <a:p>
            <a:pPr marL="0" indent="0" algn="ctr">
              <a:buNone/>
            </a:pPr>
            <a:r>
              <a:rPr lang="en-US" sz="650" b="1" kern="0" spc="80" dirty="0">
                <a:solidFill>
                  <a:srgbClr val="C9A84C"/>
                </a:solidFill>
                <a:latin typeface="Calibri" pitchFamily="34" charset="0"/>
                <a:ea typeface="Calibri" pitchFamily="34" charset="-122"/>
                <a:cs typeface="Calibri" pitchFamily="34" charset="-120"/>
              </a:rPr>
              <a:t>GÉNÈRE</a:t>
            </a:r>
            <a:endParaRPr lang="en-US" sz="650" dirty="0"/>
          </a:p>
        </p:txBody>
      </p:sp>
      <p:sp>
        <p:nvSpPr>
          <p:cNvPr id="27" name="Text 25"/>
          <p:cNvSpPr/>
          <p:nvPr/>
        </p:nvSpPr>
        <p:spPr>
          <a:xfrm>
            <a:off x="1481328" y="3815542"/>
            <a:ext cx="3840480" cy="347472"/>
          </a:xfrm>
          <a:prstGeom prst="rect">
            <a:avLst/>
          </a:prstGeom>
          <a:noFill/>
          <a:ln/>
        </p:spPr>
        <p:txBody>
          <a:bodyPr wrap="square" lIns="0" tIns="0" rIns="0" bIns="0" rtlCol="0" anchor="ctr"/>
          <a:lstStyle/>
          <a:p>
            <a:pPr marL="0" indent="0">
              <a:buNone/>
            </a:pPr>
            <a:r>
              <a:rPr lang="en-US" sz="1100" b="1" dirty="0">
                <a:solidFill>
                  <a:srgbClr val="C9A84C"/>
                </a:solidFill>
                <a:latin typeface="Courier New" pitchFamily="34" charset="0"/>
                <a:ea typeface="Courier New" pitchFamily="34" charset="-122"/>
                <a:cs typeface="Courier New" pitchFamily="34" charset="-120"/>
              </a:rPr>
              <a:t>python scripts/run_charts.py</a:t>
            </a:r>
            <a:endParaRPr lang="en-US" sz="1100" dirty="0"/>
          </a:p>
        </p:txBody>
      </p:sp>
      <p:sp>
        <p:nvSpPr>
          <p:cNvPr id="28" name="Shape 26"/>
          <p:cNvSpPr/>
          <p:nvPr/>
        </p:nvSpPr>
        <p:spPr>
          <a:xfrm>
            <a:off x="5166360" y="3470148"/>
            <a:ext cx="0" cy="896112"/>
          </a:xfrm>
          <a:prstGeom prst="line">
            <a:avLst/>
          </a:prstGeom>
          <a:noFill/>
          <a:ln w="7620">
            <a:solidFill>
              <a:srgbClr val="E8D090"/>
            </a:solidFill>
            <a:prstDash val="solid"/>
          </a:ln>
        </p:spPr>
        <p:txBody>
          <a:bodyPr/>
          <a:lstStyle/>
          <a:p>
            <a:endParaRPr lang="en-CA"/>
          </a:p>
        </p:txBody>
      </p:sp>
      <p:sp>
        <p:nvSpPr>
          <p:cNvPr id="29" name="Text 27"/>
          <p:cNvSpPr/>
          <p:nvPr/>
        </p:nvSpPr>
        <p:spPr>
          <a:xfrm>
            <a:off x="5312664" y="3323844"/>
            <a:ext cx="3392424" cy="1188720"/>
          </a:xfrm>
          <a:prstGeom prst="rect">
            <a:avLst/>
          </a:prstGeom>
          <a:noFill/>
          <a:ln/>
        </p:spPr>
        <p:txBody>
          <a:bodyPr wrap="square" lIns="0" tIns="0" rIns="0" bIns="0" rtlCol="0" anchor="ctr"/>
          <a:lstStyle/>
          <a:p>
            <a:pPr marL="0" indent="0">
              <a:lnSpc>
                <a:spcPct val="150000"/>
              </a:lnSpc>
              <a:buNone/>
            </a:pPr>
            <a:r>
              <a:rPr lang="en-US" sz="800" dirty="0">
                <a:solidFill>
                  <a:srgbClr val="B8942A"/>
                </a:solidFill>
                <a:latin typeface="Calibri" pitchFamily="34" charset="0"/>
                <a:ea typeface="Calibri" pitchFamily="34" charset="-122"/>
                <a:cs typeface="Calibri" pitchFamily="34" charset="-120"/>
              </a:rPr>
              <a:t>Lit les CSV présents dans data/results/  ·  Construit les figures via les modules build_*  ·  Écrit les sorties dans data/charts/</a:t>
            </a:r>
            <a:endParaRPr lang="en-US" sz="800" dirty="0"/>
          </a:p>
        </p:txBody>
      </p:sp>
      <p:sp>
        <p:nvSpPr>
          <p:cNvPr id="33" name="Text 31"/>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39" name="TextBox 38">
            <a:extLst>
              <a:ext uri="{FF2B5EF4-FFF2-40B4-BE49-F238E27FC236}">
                <a16:creationId xmlns:a16="http://schemas.microsoft.com/office/drawing/2014/main" id="{854FE409-3515-30BE-9170-EB4028788800}"/>
              </a:ext>
            </a:extLst>
          </p:cNvPr>
          <p:cNvSpPr txBox="1"/>
          <p:nvPr/>
        </p:nvSpPr>
        <p:spPr>
          <a:xfrm>
            <a:off x="5806717" y="483684"/>
            <a:ext cx="3080974" cy="215444"/>
          </a:xfrm>
          <a:prstGeom prst="rect">
            <a:avLst/>
          </a:prstGeom>
          <a:noFill/>
        </p:spPr>
        <p:txBody>
          <a:bodyPr wrap="square">
            <a:spAutoFit/>
          </a:bodyPr>
          <a:lstStyle/>
          <a:p>
            <a:r>
              <a:rPr lang="en-CA" sz="800" i="1" dirty="0">
                <a:solidFill>
                  <a:srgbClr val="CBCBCB"/>
                </a:solidFill>
                <a:latin typeface="Calibri" pitchFamily="34" charset="0"/>
                <a:cs typeface="Calibri" pitchFamily="34" charset="-120"/>
              </a:rPr>
              <a:t>* Depuis le dossier crypto-experiments (environnement virtuel activé)</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623178" y="932688"/>
            <a:ext cx="2376055" cy="2743200"/>
          </a:xfrm>
          <a:prstGeom prst="rect">
            <a:avLst/>
          </a:prstGeom>
          <a:noFill/>
          <a:ln/>
        </p:spPr>
        <p:txBody>
          <a:bodyPr wrap="square" lIns="0" tIns="0" rIns="0" bIns="0" rtlCol="0" anchor="ctr"/>
          <a:lstStyle/>
          <a:p>
            <a:r>
              <a:rPr lang="en-US" sz="12000" b="1" dirty="0">
                <a:solidFill>
                  <a:srgbClr val="0A0A0A">
                    <a:alpha val="3000"/>
                  </a:srgbClr>
                </a:solidFill>
                <a:latin typeface="Calibri" pitchFamily="34" charset="0"/>
                <a:ea typeface="Calibri" pitchFamily="34" charset="-122"/>
                <a:cs typeface="Calibri" pitchFamily="34" charset="-120"/>
              </a:rPr>
              <a:t>FIN</a:t>
            </a:r>
            <a:endParaRPr lang="en-US" sz="12000" dirty="0"/>
          </a:p>
        </p:txBody>
      </p:sp>
      <p:sp>
        <p:nvSpPr>
          <p:cNvPr id="4" name="Text 2"/>
          <p:cNvSpPr/>
          <p:nvPr/>
        </p:nvSpPr>
        <p:spPr>
          <a:xfrm>
            <a:off x="475488" y="164592"/>
            <a:ext cx="6400800" cy="182880"/>
          </a:xfrm>
          <a:prstGeom prst="rect">
            <a:avLst/>
          </a:prstGeom>
          <a:noFill/>
          <a:ln/>
        </p:spPr>
        <p:txBody>
          <a:bodyPr wrap="square" lIns="0" tIns="0" rIns="0" bIns="0" rtlCol="0" anchor="ctr"/>
          <a:lstStyle/>
          <a:p>
            <a:r>
              <a:rPr lang="en-US" sz="800" b="1" kern="0" spc="200" dirty="0">
                <a:solidFill>
                  <a:srgbClr val="C0C0C0"/>
                </a:solidFill>
                <a:latin typeface="Calibri" pitchFamily="34" charset="0"/>
                <a:ea typeface="Calibri" pitchFamily="34" charset="-122"/>
                <a:cs typeface="Calibri" pitchFamily="34" charset="-120"/>
              </a:rPr>
              <a:t>05c  ·  SYNTHÈSE ET DÉMONSTRATION</a:t>
            </a:r>
            <a:endParaRPr lang="en-US" sz="800" dirty="0"/>
          </a:p>
        </p:txBody>
      </p:sp>
      <p:sp>
        <p:nvSpPr>
          <p:cNvPr id="5" name="Text 3"/>
          <p:cNvSpPr/>
          <p:nvPr/>
        </p:nvSpPr>
        <p:spPr>
          <a:xfrm>
            <a:off x="475488" y="329184"/>
            <a:ext cx="8229600" cy="329184"/>
          </a:xfrm>
          <a:prstGeom prst="rect">
            <a:avLst/>
          </a:prstGeom>
          <a:noFill/>
          <a:ln/>
        </p:spPr>
        <p:txBody>
          <a:bodyPr wrap="square" lIns="0" tIns="0" rIns="0" bIns="0" rtlCol="0" anchor="ctr"/>
          <a:lstStyle/>
          <a:p>
            <a:r>
              <a:rPr lang="en-US" sz="1500" b="1" dirty="0">
                <a:solidFill>
                  <a:srgbClr val="0A0A0A"/>
                </a:solidFill>
                <a:latin typeface="Calibri" pitchFamily="34" charset="0"/>
                <a:ea typeface="Calibri" pitchFamily="34" charset="-122"/>
                <a:cs typeface="Calibri" pitchFamily="34" charset="-120"/>
              </a:rPr>
              <a:t>Conclusion </a:t>
            </a:r>
            <a:r>
              <a:rPr lang="en-US" sz="1500" b="1" dirty="0">
                <a:solidFill>
                  <a:srgbClr val="C9A84C"/>
                </a:solidFill>
                <a:latin typeface="Calibri" pitchFamily="34" charset="0"/>
                <a:ea typeface="Calibri" pitchFamily="34" charset="-122"/>
                <a:cs typeface="Calibri" pitchFamily="34" charset="-120"/>
              </a:rPr>
              <a:t>générale</a:t>
            </a:r>
            <a:endParaRPr lang="en-US" sz="1500" dirty="0"/>
          </a:p>
        </p:txBody>
      </p:sp>
      <p:sp>
        <p:nvSpPr>
          <p:cNvPr id="7" name="Shape 5"/>
          <p:cNvSpPr/>
          <p:nvPr/>
        </p:nvSpPr>
        <p:spPr>
          <a:xfrm>
            <a:off x="475488" y="786384"/>
            <a:ext cx="54864" cy="2980944"/>
          </a:xfrm>
          <a:prstGeom prst="rect">
            <a:avLst/>
          </a:prstGeom>
          <a:solidFill>
            <a:srgbClr val="C9A84C"/>
          </a:solidFill>
          <a:ln w="12700">
            <a:solidFill>
              <a:srgbClr val="C9A84C"/>
            </a:solidFill>
            <a:prstDash val="solid"/>
          </a:ln>
        </p:spPr>
        <p:txBody>
          <a:bodyPr/>
          <a:lstStyle/>
          <a:p>
            <a:endParaRPr lang="en-CA"/>
          </a:p>
        </p:txBody>
      </p:sp>
      <p:sp>
        <p:nvSpPr>
          <p:cNvPr id="8" name="Text 6"/>
          <p:cNvSpPr/>
          <p:nvPr/>
        </p:nvSpPr>
        <p:spPr>
          <a:xfrm>
            <a:off x="731520" y="914400"/>
            <a:ext cx="7863840" cy="1207008"/>
          </a:xfrm>
          <a:prstGeom prst="rect">
            <a:avLst/>
          </a:prstGeom>
          <a:noFill/>
          <a:ln/>
        </p:spPr>
        <p:txBody>
          <a:bodyPr wrap="square" lIns="0" tIns="0" rIns="0" bIns="0" rtlCol="0" anchor="ctr"/>
          <a:lstStyle/>
          <a:p>
            <a:pPr>
              <a:lnSpc>
                <a:spcPct val="160000"/>
              </a:lnSpc>
            </a:pPr>
            <a:r>
              <a:rPr lang="fr-FR" sz="1300" b="1" dirty="0">
                <a:solidFill>
                  <a:srgbClr val="0A0A0A"/>
                </a:solidFill>
                <a:latin typeface="Calibri" pitchFamily="34" charset="0"/>
                <a:ea typeface="Calibri" pitchFamily="34" charset="-122"/>
                <a:cs typeface="Calibri" pitchFamily="34" charset="-120"/>
              </a:rPr>
              <a:t>Le système est implémenté, validé et opérationnel sur les deux plateformes. Les vecteurs de test NIST et RFC confirment la conformité cryptographique. Les campagnes de mesure produisent des sorties structurées, reproductibles et directement comparables entre x86 et ARM</a:t>
            </a:r>
            <a:r>
              <a:rPr lang="en-US" sz="1300" b="1" dirty="0">
                <a:solidFill>
                  <a:srgbClr val="0A0A0A"/>
                </a:solidFill>
                <a:latin typeface="Calibri" pitchFamily="34" charset="0"/>
                <a:ea typeface="Calibri" pitchFamily="34" charset="-122"/>
                <a:cs typeface="Calibri" pitchFamily="34" charset="-120"/>
              </a:rPr>
              <a:t>.</a:t>
            </a:r>
            <a:endParaRPr lang="en-US" sz="1300" dirty="0"/>
          </a:p>
        </p:txBody>
      </p:sp>
      <p:sp>
        <p:nvSpPr>
          <p:cNvPr id="9" name="Shape 7"/>
          <p:cNvSpPr/>
          <p:nvPr/>
        </p:nvSpPr>
        <p:spPr>
          <a:xfrm>
            <a:off x="731520" y="2157984"/>
            <a:ext cx="7863840" cy="0"/>
          </a:xfrm>
          <a:prstGeom prst="line">
            <a:avLst/>
          </a:prstGeom>
          <a:noFill/>
          <a:ln w="10160">
            <a:solidFill>
              <a:srgbClr val="EEEEEE"/>
            </a:solidFill>
            <a:prstDash val="solid"/>
          </a:ln>
        </p:spPr>
        <p:txBody>
          <a:bodyPr/>
          <a:lstStyle/>
          <a:p>
            <a:endParaRPr lang="en-CA"/>
          </a:p>
        </p:txBody>
      </p:sp>
      <p:sp>
        <p:nvSpPr>
          <p:cNvPr id="10" name="Text 8"/>
          <p:cNvSpPr/>
          <p:nvPr/>
        </p:nvSpPr>
        <p:spPr>
          <a:xfrm>
            <a:off x="731520" y="2249424"/>
            <a:ext cx="7863840" cy="1207008"/>
          </a:xfrm>
          <a:prstGeom prst="rect">
            <a:avLst/>
          </a:prstGeom>
          <a:noFill/>
          <a:ln/>
        </p:spPr>
        <p:txBody>
          <a:bodyPr wrap="square" lIns="0" tIns="0" rIns="0" bIns="0" rtlCol="0" anchor="ctr"/>
          <a:lstStyle/>
          <a:p>
            <a:pPr>
              <a:lnSpc>
                <a:spcPct val="160000"/>
              </a:lnSpc>
            </a:pPr>
            <a:r>
              <a:rPr lang="fr-FR" sz="1200" i="1" dirty="0">
                <a:solidFill>
                  <a:srgbClr val="555555"/>
                </a:solidFill>
                <a:latin typeface="Calibri" pitchFamily="34" charset="0"/>
                <a:ea typeface="Calibri" pitchFamily="34" charset="-122"/>
                <a:cs typeface="Calibri" pitchFamily="34" charset="-120"/>
              </a:rPr>
              <a:t>De la primitive cryptographique validée par vecteurs normatifs à l'artefact CSV horodaté, en passant par un protocole identique sur x86 et ARM. Ce système ne présume pas de sa correction, il la démontre.</a:t>
            </a:r>
            <a:endParaRPr lang="en-US" sz="1200" dirty="0"/>
          </a:p>
        </p:txBody>
      </p:sp>
      <p:sp>
        <p:nvSpPr>
          <p:cNvPr id="11" name="Shape 9"/>
          <p:cNvSpPr>
            <a:spLocks noGrp="1" noRot="1" noMove="1" noResize="1" noEditPoints="1" noAdjustHandles="1" noChangeArrowheads="1" noChangeShapeType="1"/>
          </p:cNvSpPr>
          <p:nvPr/>
        </p:nvSpPr>
        <p:spPr>
          <a:xfrm>
            <a:off x="475487" y="3950208"/>
            <a:ext cx="2706623" cy="676656"/>
          </a:xfrm>
          <a:prstGeom prst="roundRect">
            <a:avLst>
              <a:gd name="adj" fmla="val 16000"/>
            </a:avLst>
          </a:prstGeom>
          <a:solidFill>
            <a:srgbClr val="FFFBF0"/>
          </a:solidFill>
          <a:ln w="10160">
            <a:solidFill>
              <a:srgbClr val="C9A84C"/>
            </a:solidFill>
            <a:prstDash val="solid"/>
          </a:ln>
        </p:spPr>
        <p:txBody>
          <a:bodyPr/>
          <a:lstStyle/>
          <a:p>
            <a:endParaRPr lang="en-CA"/>
          </a:p>
        </p:txBody>
      </p:sp>
      <p:sp>
        <p:nvSpPr>
          <p:cNvPr id="12" name="Text 10"/>
          <p:cNvSpPr/>
          <p:nvPr/>
        </p:nvSpPr>
        <p:spPr>
          <a:xfrm>
            <a:off x="799355" y="4000500"/>
            <a:ext cx="2199878" cy="457200"/>
          </a:xfrm>
          <a:prstGeom prst="rect">
            <a:avLst/>
          </a:prstGeom>
          <a:noFill/>
          <a:ln/>
        </p:spPr>
        <p:txBody>
          <a:bodyPr wrap="square" lIns="0" tIns="0" rIns="0" bIns="0" rtlCol="0" anchor="ctr"/>
          <a:lstStyle/>
          <a:p>
            <a:r>
              <a:rPr lang="fr-FR" sz="850" b="1" dirty="0">
                <a:solidFill>
                  <a:srgbClr val="0A0A0A"/>
                </a:solidFill>
                <a:latin typeface="Calibri" pitchFamily="34" charset="0"/>
                <a:ea typeface="Calibri" pitchFamily="34" charset="-122"/>
                <a:cs typeface="Calibri" pitchFamily="34" charset="-120"/>
              </a:rPr>
              <a:t>Conformité démontrée  </a:t>
            </a:r>
          </a:p>
          <a:p>
            <a:r>
              <a:rPr lang="fr-FR" sz="850" i="1" dirty="0">
                <a:solidFill>
                  <a:srgbClr val="0A0A0A"/>
                </a:solidFill>
                <a:latin typeface="Calibri" pitchFamily="34" charset="0"/>
                <a:ea typeface="Calibri" pitchFamily="34" charset="-122"/>
                <a:cs typeface="Calibri" pitchFamily="34" charset="-120"/>
              </a:rPr>
              <a:t>96 assertions au total, 100% PASS sur x86 et ARM</a:t>
            </a:r>
            <a:endParaRPr lang="en-US" sz="850" i="1" dirty="0"/>
          </a:p>
        </p:txBody>
      </p:sp>
      <p:sp>
        <p:nvSpPr>
          <p:cNvPr id="13" name="Shape 11"/>
          <p:cNvSpPr/>
          <p:nvPr/>
        </p:nvSpPr>
        <p:spPr>
          <a:xfrm>
            <a:off x="3310127" y="3950208"/>
            <a:ext cx="2706623" cy="676656"/>
          </a:xfrm>
          <a:prstGeom prst="roundRect">
            <a:avLst>
              <a:gd name="adj" fmla="val 16000"/>
            </a:avLst>
          </a:prstGeom>
          <a:solidFill>
            <a:srgbClr val="FFFBF0"/>
          </a:solidFill>
          <a:ln w="10160">
            <a:solidFill>
              <a:srgbClr val="C9A84C"/>
            </a:solidFill>
            <a:prstDash val="solid"/>
          </a:ln>
        </p:spPr>
        <p:txBody>
          <a:bodyPr/>
          <a:lstStyle/>
          <a:p>
            <a:endParaRPr lang="en-CA"/>
          </a:p>
        </p:txBody>
      </p:sp>
      <p:sp>
        <p:nvSpPr>
          <p:cNvPr id="14" name="Text 12"/>
          <p:cNvSpPr/>
          <p:nvPr/>
        </p:nvSpPr>
        <p:spPr>
          <a:xfrm>
            <a:off x="3633993" y="4032504"/>
            <a:ext cx="2297379" cy="457200"/>
          </a:xfrm>
          <a:prstGeom prst="rect">
            <a:avLst/>
          </a:prstGeom>
          <a:noFill/>
          <a:ln/>
        </p:spPr>
        <p:txBody>
          <a:bodyPr wrap="square" lIns="0" tIns="0" rIns="0" bIns="0" rtlCol="0" anchor="ctr"/>
          <a:lstStyle/>
          <a:p>
            <a:r>
              <a:rPr lang="fr-FR" sz="850" b="1" dirty="0">
                <a:solidFill>
                  <a:srgbClr val="0A0A0A"/>
                </a:solidFill>
                <a:latin typeface="Calibri" pitchFamily="34" charset="0"/>
                <a:cs typeface="Calibri" pitchFamily="34" charset="-120"/>
              </a:rPr>
              <a:t>Mesures reproductibles</a:t>
            </a:r>
          </a:p>
          <a:p>
            <a:r>
              <a:rPr lang="fr-FR" sz="850" i="1" dirty="0">
                <a:solidFill>
                  <a:srgbClr val="0A0A0A"/>
                </a:solidFill>
                <a:latin typeface="Calibri" pitchFamily="34" charset="0"/>
                <a:cs typeface="Calibri" pitchFamily="34" charset="-120"/>
              </a:rPr>
              <a:t>même protocole et même format CSV à 13 colonnes sur les deux plateformes</a:t>
            </a:r>
            <a:endParaRPr lang="en-US" sz="850" i="1" dirty="0">
              <a:solidFill>
                <a:srgbClr val="0A0A0A"/>
              </a:solidFill>
              <a:latin typeface="Calibri" pitchFamily="34" charset="0"/>
              <a:cs typeface="Calibri" pitchFamily="34" charset="-120"/>
            </a:endParaRPr>
          </a:p>
        </p:txBody>
      </p:sp>
      <p:sp>
        <p:nvSpPr>
          <p:cNvPr id="15" name="Shape 13"/>
          <p:cNvSpPr/>
          <p:nvPr/>
        </p:nvSpPr>
        <p:spPr>
          <a:xfrm>
            <a:off x="6144768" y="3942172"/>
            <a:ext cx="2651760" cy="676656"/>
          </a:xfrm>
          <a:prstGeom prst="roundRect">
            <a:avLst>
              <a:gd name="adj" fmla="val 16000"/>
            </a:avLst>
          </a:prstGeom>
          <a:solidFill>
            <a:srgbClr val="FFFBF0"/>
          </a:solidFill>
          <a:ln w="10160">
            <a:solidFill>
              <a:srgbClr val="C9A84C"/>
            </a:solidFill>
            <a:prstDash val="solid"/>
          </a:ln>
        </p:spPr>
        <p:txBody>
          <a:bodyPr/>
          <a:lstStyle/>
          <a:p>
            <a:endParaRPr lang="en-CA"/>
          </a:p>
        </p:txBody>
      </p:sp>
      <p:sp>
        <p:nvSpPr>
          <p:cNvPr id="16" name="Text 14"/>
          <p:cNvSpPr/>
          <p:nvPr/>
        </p:nvSpPr>
        <p:spPr>
          <a:xfrm>
            <a:off x="6472136" y="4039985"/>
            <a:ext cx="2232951" cy="457200"/>
          </a:xfrm>
          <a:prstGeom prst="rect">
            <a:avLst/>
          </a:prstGeom>
          <a:noFill/>
          <a:ln/>
        </p:spPr>
        <p:txBody>
          <a:bodyPr wrap="square" lIns="0" tIns="0" rIns="0" bIns="0" rtlCol="0" anchor="ctr"/>
          <a:lstStyle/>
          <a:p>
            <a:r>
              <a:rPr lang="fr-FR" sz="850" b="1" dirty="0">
                <a:solidFill>
                  <a:srgbClr val="0A0A0A"/>
                </a:solidFill>
                <a:latin typeface="Calibri" pitchFamily="34" charset="0"/>
                <a:ea typeface="Calibri" pitchFamily="34" charset="-122"/>
                <a:cs typeface="Calibri" pitchFamily="34" charset="-120"/>
              </a:rPr>
              <a:t>Prêt pour l'analyse</a:t>
            </a:r>
          </a:p>
          <a:p>
            <a:r>
              <a:rPr lang="fr-FR" sz="850" i="1" dirty="0">
                <a:solidFill>
                  <a:srgbClr val="0A0A0A"/>
                </a:solidFill>
                <a:latin typeface="Calibri" pitchFamily="34" charset="0"/>
                <a:ea typeface="Calibri" pitchFamily="34" charset="-122"/>
                <a:cs typeface="Calibri" pitchFamily="34" charset="-120"/>
              </a:rPr>
              <a:t>les sorties alimentent directement le pipeline de génération des figures</a:t>
            </a:r>
            <a:endParaRPr lang="en-US" sz="850" i="1" dirty="0"/>
          </a:p>
        </p:txBody>
      </p:sp>
      <p:sp>
        <p:nvSpPr>
          <p:cNvPr id="17" name="Text 15"/>
          <p:cNvSpPr/>
          <p:nvPr/>
        </p:nvSpPr>
        <p:spPr>
          <a:xfrm>
            <a:off x="475488" y="4773168"/>
            <a:ext cx="8229600" cy="201168"/>
          </a:xfrm>
          <a:prstGeom prst="rect">
            <a:avLst/>
          </a:prstGeom>
          <a:noFill/>
          <a:ln/>
        </p:spPr>
        <p:txBody>
          <a:bodyPr wrap="square" lIns="0" tIns="0" rIns="0" bIns="0" rtlCol="0" anchor="ctr"/>
          <a:lstStyle/>
          <a:p>
            <a:pPr algn="ct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pic>
        <p:nvPicPr>
          <p:cNvPr id="19" name="Picture 18">
            <a:extLst>
              <a:ext uri="{FF2B5EF4-FFF2-40B4-BE49-F238E27FC236}">
                <a16:creationId xmlns:a16="http://schemas.microsoft.com/office/drawing/2014/main" id="{D6A6D7B7-3E8B-9765-2311-4A352C15A5DB}"/>
              </a:ext>
            </a:extLst>
          </p:cNvPr>
          <p:cNvPicPr>
            <a:picLocks noChangeAspect="1"/>
          </p:cNvPicPr>
          <p:nvPr/>
        </p:nvPicPr>
        <p:blipFill>
          <a:blip r:embed="rId3">
            <a:alphaModFix amt="5000"/>
          </a:blip>
          <a:stretch>
            <a:fillRect/>
          </a:stretch>
        </p:blipFill>
        <p:spPr>
          <a:xfrm>
            <a:off x="6053328" y="1078992"/>
            <a:ext cx="2743200" cy="2743200"/>
          </a:xfrm>
          <a:prstGeom prst="rect">
            <a:avLst/>
          </a:prstGeom>
        </p:spPr>
      </p:pic>
      <p:sp>
        <p:nvSpPr>
          <p:cNvPr id="18" name="TextBox 17">
            <a:extLst>
              <a:ext uri="{FF2B5EF4-FFF2-40B4-BE49-F238E27FC236}">
                <a16:creationId xmlns:a16="http://schemas.microsoft.com/office/drawing/2014/main" id="{1EA714FE-0EFE-0363-3D88-9AB3C49786D6}"/>
              </a:ext>
            </a:extLst>
          </p:cNvPr>
          <p:cNvSpPr txBox="1"/>
          <p:nvPr/>
        </p:nvSpPr>
        <p:spPr>
          <a:xfrm>
            <a:off x="502920" y="4149535"/>
            <a:ext cx="358302" cy="223138"/>
          </a:xfrm>
          <a:prstGeom prst="rect">
            <a:avLst/>
          </a:prstGeom>
          <a:noFill/>
        </p:spPr>
        <p:txBody>
          <a:bodyPr wrap="square">
            <a:spAutoFit/>
          </a:bodyPr>
          <a:lstStyle/>
          <a:p>
            <a:r>
              <a:rPr lang="en-US" sz="850" b="1" dirty="0">
                <a:solidFill>
                  <a:srgbClr val="C9A84C"/>
                </a:solidFill>
                <a:latin typeface="Calibri" pitchFamily="34" charset="0"/>
                <a:ea typeface="Calibri" pitchFamily="34" charset="-122"/>
                <a:cs typeface="Calibri" pitchFamily="34" charset="-120"/>
              </a:rPr>
              <a:t>✓ </a:t>
            </a:r>
            <a:endParaRPr lang="en-CA" dirty="0"/>
          </a:p>
        </p:txBody>
      </p:sp>
      <p:sp>
        <p:nvSpPr>
          <p:cNvPr id="25" name="TextBox 24">
            <a:extLst>
              <a:ext uri="{FF2B5EF4-FFF2-40B4-BE49-F238E27FC236}">
                <a16:creationId xmlns:a16="http://schemas.microsoft.com/office/drawing/2014/main" id="{06322940-9960-6B7F-82A4-DEF472DE1C32}"/>
              </a:ext>
            </a:extLst>
          </p:cNvPr>
          <p:cNvSpPr txBox="1"/>
          <p:nvPr/>
        </p:nvSpPr>
        <p:spPr>
          <a:xfrm>
            <a:off x="6201545" y="4157016"/>
            <a:ext cx="358302" cy="223138"/>
          </a:xfrm>
          <a:prstGeom prst="rect">
            <a:avLst/>
          </a:prstGeom>
          <a:noFill/>
        </p:spPr>
        <p:txBody>
          <a:bodyPr wrap="square">
            <a:spAutoFit/>
          </a:bodyPr>
          <a:lstStyle/>
          <a:p>
            <a:r>
              <a:rPr lang="en-US" sz="850" b="1" dirty="0">
                <a:solidFill>
                  <a:srgbClr val="C9A84C"/>
                </a:solidFill>
                <a:latin typeface="Calibri" pitchFamily="34" charset="0"/>
                <a:ea typeface="Calibri" pitchFamily="34" charset="-122"/>
                <a:cs typeface="Calibri" pitchFamily="34" charset="-120"/>
              </a:rPr>
              <a:t>✓ </a:t>
            </a:r>
            <a:endParaRPr lang="en-CA" dirty="0"/>
          </a:p>
        </p:txBody>
      </p:sp>
      <p:sp>
        <p:nvSpPr>
          <p:cNvPr id="27" name="TextBox 26">
            <a:extLst>
              <a:ext uri="{FF2B5EF4-FFF2-40B4-BE49-F238E27FC236}">
                <a16:creationId xmlns:a16="http://schemas.microsoft.com/office/drawing/2014/main" id="{7B5A9E0B-9165-A0BA-262B-78ECB3CEC796}"/>
              </a:ext>
            </a:extLst>
          </p:cNvPr>
          <p:cNvSpPr txBox="1"/>
          <p:nvPr/>
        </p:nvSpPr>
        <p:spPr>
          <a:xfrm>
            <a:off x="3326824" y="4157016"/>
            <a:ext cx="358302" cy="223138"/>
          </a:xfrm>
          <a:prstGeom prst="rect">
            <a:avLst/>
          </a:prstGeom>
          <a:noFill/>
        </p:spPr>
        <p:txBody>
          <a:bodyPr wrap="square">
            <a:spAutoFit/>
          </a:bodyPr>
          <a:lstStyle/>
          <a:p>
            <a:r>
              <a:rPr lang="en-US" sz="850" b="1" dirty="0">
                <a:solidFill>
                  <a:srgbClr val="C9A84C"/>
                </a:solidFill>
                <a:latin typeface="Calibri" pitchFamily="34" charset="0"/>
                <a:ea typeface="Calibri" pitchFamily="34" charset="-122"/>
                <a:cs typeface="Calibri" pitchFamily="34" charset="-120"/>
              </a:rPr>
              <a:t>✓ </a:t>
            </a:r>
            <a:endParaRPr lang="en-CA"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27647</TotalTime>
  <Words>3269</Words>
  <Application>Microsoft Office PowerPoint</Application>
  <PresentationFormat>On-screen Show (16:9)</PresentationFormat>
  <Paragraphs>612</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Melissa Moya-Dery</cp:lastModifiedBy>
  <cp:revision>45</cp:revision>
  <dcterms:created xsi:type="dcterms:W3CDTF">2026-06-28T20:11:50Z</dcterms:created>
  <dcterms:modified xsi:type="dcterms:W3CDTF">2026-07-18T01:16:33Z</dcterms:modified>
</cp:coreProperties>
</file>