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8" r:id="rId3"/>
    <p:sldId id="260" r:id="rId4"/>
    <p:sldId id="261" r:id="rId5"/>
    <p:sldId id="263" r:id="rId6"/>
    <p:sldId id="264" r:id="rId7"/>
    <p:sldId id="265" r:id="rId8"/>
    <p:sldId id="266" r:id="rId9"/>
    <p:sldId id="267" r:id="rId10"/>
    <p:sldId id="268" r:id="rId11"/>
    <p:sldId id="269" r:id="rId12"/>
    <p:sldId id="270" r:id="rId13"/>
    <p:sldId id="271" r:id="rId14"/>
    <p:sldId id="272" r:id="rId15"/>
    <p:sldId id="274" r:id="rId16"/>
    <p:sldId id="275" r:id="rId17"/>
    <p:sldId id="276" r:id="rId18"/>
    <p:sldId id="277" r:id="rId19"/>
    <p:sldId id="278" r:id="rId20"/>
    <p:sldId id="279" r:id="rId21"/>
    <p:sldId id="280"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B793B33-A6B1-4C1C-B2F3-EA5BD2223ADF}">
          <p14:sldIdLst>
            <p14:sldId id="256"/>
            <p14:sldId id="258"/>
            <p14:sldId id="260"/>
            <p14:sldId id="261"/>
            <p14:sldId id="263"/>
            <p14:sldId id="264"/>
            <p14:sldId id="265"/>
            <p14:sldId id="266"/>
            <p14:sldId id="267"/>
            <p14:sldId id="268"/>
            <p14:sldId id="269"/>
            <p14:sldId id="270"/>
            <p14:sldId id="271"/>
            <p14:sldId id="272"/>
            <p14:sldId id="274"/>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892A4"/>
    <a:srgbClr val="00F5FF"/>
    <a:srgbClr val="13B181"/>
    <a:srgbClr val="D84A8F"/>
    <a:srgbClr val="EF9C1B"/>
    <a:srgbClr val="3580F8"/>
    <a:srgbClr val="3663AF"/>
    <a:srgbClr val="F59F00"/>
    <a:srgbClr val="182336"/>
    <a:srgbClr val="5B38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131" autoAdjust="0"/>
    <p:restoredTop sz="94610"/>
  </p:normalViewPr>
  <p:slideViewPr>
    <p:cSldViewPr snapToGrid="0" snapToObjects="1">
      <p:cViewPr varScale="1">
        <p:scale>
          <a:sx n="110" d="100"/>
          <a:sy n="110" d="100"/>
        </p:scale>
        <p:origin x="105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6124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2.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github.com/moyamelissa/INF1430-Comparaison-Chiffrement-Symetrique/blob/main/crypto-experiments/data/charts/comparison/cmp6_ci95_stability.png" TargetMode="External"/><Relationship Id="rId5" Type="http://schemas.openxmlformats.org/officeDocument/2006/relationships/image" Target="../media/image7.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5.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5.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9.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19.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19.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256032" y="201168"/>
            <a:ext cx="640080" cy="640080"/>
          </a:xfrm>
          <a:prstGeom prst="rect">
            <a:avLst/>
          </a:prstGeom>
        </p:spPr>
      </p:pic>
      <p:pic>
        <p:nvPicPr>
          <p:cNvPr id="4" name="Image 2" descr="preencoded.png"/>
          <p:cNvPicPr>
            <a:picLocks noChangeAspect="1"/>
          </p:cNvPicPr>
          <p:nvPr/>
        </p:nvPicPr>
        <p:blipFill>
          <a:blip r:embed="rId4"/>
          <a:stretch>
            <a:fillRect/>
          </a:stretch>
        </p:blipFill>
        <p:spPr>
          <a:xfrm flipH="1" flipV="1">
            <a:off x="8247888" y="4320540"/>
            <a:ext cx="640080" cy="640080"/>
          </a:xfrm>
          <a:prstGeom prst="rect">
            <a:avLst/>
          </a:prstGeom>
        </p:spPr>
      </p:pic>
      <p:pic>
        <p:nvPicPr>
          <p:cNvPr id="5" name="Image 3" descr="preencoded.png"/>
          <p:cNvPicPr>
            <a:picLocks noChangeAspect="1"/>
          </p:cNvPicPr>
          <p:nvPr/>
        </p:nvPicPr>
        <p:blipFill>
          <a:blip r:embed="rId4"/>
          <a:stretch>
            <a:fillRect/>
          </a:stretch>
        </p:blipFill>
        <p:spPr>
          <a:xfrm flipH="1">
            <a:off x="8247888" y="201168"/>
            <a:ext cx="640080" cy="640080"/>
          </a:xfrm>
          <a:prstGeom prst="rect">
            <a:avLst/>
          </a:prstGeom>
        </p:spPr>
      </p:pic>
      <p:pic>
        <p:nvPicPr>
          <p:cNvPr id="6" name="Image 4" descr="preencoded.png"/>
          <p:cNvPicPr>
            <a:picLocks noChangeAspect="1"/>
          </p:cNvPicPr>
          <p:nvPr/>
        </p:nvPicPr>
        <p:blipFill>
          <a:blip r:embed="rId4"/>
          <a:stretch>
            <a:fillRect/>
          </a:stretch>
        </p:blipFill>
        <p:spPr>
          <a:xfrm flipV="1">
            <a:off x="256032" y="4320540"/>
            <a:ext cx="640080" cy="640080"/>
          </a:xfrm>
          <a:prstGeom prst="rect">
            <a:avLst/>
          </a:prstGeom>
        </p:spPr>
      </p:pic>
      <p:pic>
        <p:nvPicPr>
          <p:cNvPr id="7" name="Image 5" descr="preencoded.png"/>
          <p:cNvPicPr>
            <a:picLocks noChangeAspect="1"/>
          </p:cNvPicPr>
          <p:nvPr/>
        </p:nvPicPr>
        <p:blipFill>
          <a:blip r:embed="rId5">
            <a:alphaModFix amt="15000"/>
          </a:blip>
          <a:stretch>
            <a:fillRect/>
          </a:stretch>
        </p:blipFill>
        <p:spPr>
          <a:xfrm>
            <a:off x="274320" y="1920240"/>
            <a:ext cx="1188720" cy="1188720"/>
          </a:xfrm>
          <a:prstGeom prst="rect">
            <a:avLst/>
          </a:prstGeom>
        </p:spPr>
      </p:pic>
      <p:pic>
        <p:nvPicPr>
          <p:cNvPr id="8" name="Image 6" descr="preencoded.png"/>
          <p:cNvPicPr>
            <a:picLocks noChangeAspect="1"/>
          </p:cNvPicPr>
          <p:nvPr/>
        </p:nvPicPr>
        <p:blipFill>
          <a:blip r:embed="rId6">
            <a:alphaModFix amt="18000"/>
          </a:blip>
          <a:stretch>
            <a:fillRect/>
          </a:stretch>
        </p:blipFill>
        <p:spPr>
          <a:xfrm>
            <a:off x="7680960" y="1920240"/>
            <a:ext cx="1188720" cy="1188720"/>
          </a:xfrm>
          <a:prstGeom prst="rect">
            <a:avLst/>
          </a:prstGeom>
        </p:spPr>
      </p:pic>
      <p:sp>
        <p:nvSpPr>
          <p:cNvPr id="9" name="Text 0"/>
          <p:cNvSpPr/>
          <p:nvPr/>
        </p:nvSpPr>
        <p:spPr>
          <a:xfrm>
            <a:off x="1097280" y="960120"/>
            <a:ext cx="6949440" cy="1920240"/>
          </a:xfrm>
          <a:prstGeom prst="rect">
            <a:avLst/>
          </a:prstGeom>
          <a:noFill/>
          <a:ln/>
        </p:spPr>
        <p:txBody>
          <a:bodyPr wrap="square" rtlCol="0" anchor="ctr"/>
          <a:lstStyle/>
          <a:p>
            <a:pPr marL="0" indent="0" algn="ctr">
              <a:lnSpc>
                <a:spcPct val="120000"/>
              </a:lnSpc>
              <a:buNone/>
            </a:pPr>
            <a:r>
              <a:rPr lang="en-US" sz="3100" b="1" dirty="0">
                <a:solidFill>
                  <a:srgbClr val="FFFFFF"/>
                </a:solidFill>
                <a:latin typeface="Calibri" pitchFamily="34" charset="0"/>
                <a:ea typeface="Calibri" pitchFamily="34" charset="-122"/>
                <a:cs typeface="Calibri" pitchFamily="34" charset="-120"/>
              </a:rPr>
              <a:t>Comparaison expérimentale des</a:t>
            </a:r>
            <a:endParaRPr lang="en-US" sz="3100" dirty="0"/>
          </a:p>
          <a:p>
            <a:pPr marL="0" indent="0" algn="ctr">
              <a:lnSpc>
                <a:spcPct val="120000"/>
              </a:lnSpc>
              <a:buNone/>
            </a:pPr>
            <a:r>
              <a:rPr lang="en-US" sz="3100" b="1" dirty="0">
                <a:solidFill>
                  <a:srgbClr val="FFFFFF"/>
                </a:solidFill>
                <a:latin typeface="Calibri" pitchFamily="34" charset="0"/>
                <a:ea typeface="Calibri" pitchFamily="34" charset="-122"/>
                <a:cs typeface="Calibri" pitchFamily="34" charset="-120"/>
              </a:rPr>
              <a:t>algorithmes de </a:t>
            </a:r>
            <a:endParaRPr lang="en-US" sz="3100" dirty="0"/>
          </a:p>
          <a:p>
            <a:pPr marL="0" indent="0" algn="ctr">
              <a:lnSpc>
                <a:spcPct val="120000"/>
              </a:lnSpc>
              <a:buNone/>
            </a:pPr>
            <a:r>
              <a:rPr lang="en-US" sz="3100" b="1" dirty="0">
                <a:solidFill>
                  <a:srgbClr val="00F5FF"/>
                </a:solidFill>
                <a:latin typeface="Calibri" pitchFamily="34" charset="0"/>
                <a:ea typeface="Calibri" pitchFamily="34" charset="-122"/>
                <a:cs typeface="Calibri" pitchFamily="34" charset="-120"/>
              </a:rPr>
              <a:t>chiffrement symétrique</a:t>
            </a:r>
            <a:endParaRPr lang="en-US" sz="3100" dirty="0"/>
          </a:p>
        </p:txBody>
      </p:sp>
      <p:pic>
        <p:nvPicPr>
          <p:cNvPr id="10" name="Image 7" descr="preencoded.png"/>
          <p:cNvPicPr>
            <a:picLocks noChangeAspect="1"/>
          </p:cNvPicPr>
          <p:nvPr/>
        </p:nvPicPr>
        <p:blipFill>
          <a:blip r:embed="rId7"/>
          <a:stretch>
            <a:fillRect/>
          </a:stretch>
        </p:blipFill>
        <p:spPr>
          <a:xfrm>
            <a:off x="1828800" y="2944368"/>
            <a:ext cx="5486400" cy="45720"/>
          </a:xfrm>
          <a:prstGeom prst="rect">
            <a:avLst/>
          </a:prstGeom>
        </p:spPr>
      </p:pic>
      <p:sp>
        <p:nvSpPr>
          <p:cNvPr id="11" name="Text 1"/>
          <p:cNvSpPr/>
          <p:nvPr/>
        </p:nvSpPr>
        <p:spPr>
          <a:xfrm>
            <a:off x="1280160" y="3035808"/>
            <a:ext cx="6583680" cy="411480"/>
          </a:xfrm>
          <a:prstGeom prst="rect">
            <a:avLst/>
          </a:prstGeom>
          <a:noFill/>
          <a:ln/>
        </p:spPr>
        <p:txBody>
          <a:bodyPr wrap="square" rtlCol="0" anchor="ctr"/>
          <a:lstStyle/>
          <a:p>
            <a:pPr marL="0" indent="0" algn="ctr">
              <a:buNone/>
            </a:pPr>
            <a:r>
              <a:rPr lang="en-US" sz="1100" i="1" dirty="0">
                <a:solidFill>
                  <a:srgbClr val="8892A4"/>
                </a:solidFill>
                <a:latin typeface="Calibri" pitchFamily="34" charset="0"/>
                <a:ea typeface="Calibri" pitchFamily="34" charset="-122"/>
                <a:cs typeface="Calibri" pitchFamily="34" charset="-120"/>
              </a:rPr>
              <a:t>Performance et robustesse : architecture x86 (Windows) vs ARM (Raspberry Pi)</a:t>
            </a:r>
            <a:endParaRPr lang="en-US" sz="1100" dirty="0"/>
          </a:p>
        </p:txBody>
      </p:sp>
      <p:sp>
        <p:nvSpPr>
          <p:cNvPr id="12" name="Text 2"/>
          <p:cNvSpPr/>
          <p:nvPr/>
        </p:nvSpPr>
        <p:spPr>
          <a:xfrm>
            <a:off x="1371600" y="4526280"/>
            <a:ext cx="6400800" cy="320040"/>
          </a:xfrm>
          <a:prstGeom prst="rect">
            <a:avLst/>
          </a:prstGeom>
          <a:noFill/>
          <a:ln/>
        </p:spPr>
        <p:txBody>
          <a:bodyPr wrap="square" rtlCol="0" anchor="ctr"/>
          <a:lstStyle/>
          <a:p>
            <a:pPr marL="0" indent="0" algn="ctr">
              <a:buNone/>
            </a:pPr>
            <a:r>
              <a:rPr lang="en-US" sz="900" b="1" kern="0" spc="100" dirty="0">
                <a:solidFill>
                  <a:srgbClr val="00F5FF"/>
                </a:solidFill>
                <a:latin typeface="Calibri" pitchFamily="34" charset="0"/>
                <a:ea typeface="Calibri" pitchFamily="34" charset="-122"/>
                <a:cs typeface="Calibri" pitchFamily="34" charset="-120"/>
              </a:rPr>
              <a:t>INF1430</a:t>
            </a:r>
            <a:r>
              <a:rPr lang="en-US" sz="900" kern="0" spc="100" dirty="0">
                <a:solidFill>
                  <a:srgbClr val="4A5568"/>
                </a:solidFill>
                <a:latin typeface="Calibri" pitchFamily="34" charset="0"/>
                <a:ea typeface="Calibri" pitchFamily="34" charset="-122"/>
                <a:cs typeface="Calibri" pitchFamily="34" charset="-120"/>
              </a:rPr>
              <a:t>  ·  Université TÉLUQ  ·  TN3  ·  Melissa Moya  ·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256032" y="201168"/>
            <a:ext cx="548640" cy="548640"/>
          </a:xfrm>
          <a:prstGeom prst="rect">
            <a:avLst/>
          </a:prstGeom>
        </p:spPr>
      </p:pic>
      <p:pic>
        <p:nvPicPr>
          <p:cNvPr id="4" name="Image 2" descr="preencoded.png"/>
          <p:cNvPicPr>
            <a:picLocks noChangeAspect="1"/>
          </p:cNvPicPr>
          <p:nvPr/>
        </p:nvPicPr>
        <p:blipFill>
          <a:blip r:embed="rId4"/>
          <a:stretch>
            <a:fillRect/>
          </a:stretch>
        </p:blipFill>
        <p:spPr>
          <a:xfrm flipH="1">
            <a:off x="8339328" y="201168"/>
            <a:ext cx="548640" cy="548640"/>
          </a:xfrm>
          <a:prstGeom prst="rect">
            <a:avLst/>
          </a:prstGeom>
        </p:spPr>
      </p:pic>
      <p:pic>
        <p:nvPicPr>
          <p:cNvPr id="5" name="Image 3" descr="preencoded.png"/>
          <p:cNvPicPr>
            <a:picLocks noChangeAspect="1"/>
          </p:cNvPicPr>
          <p:nvPr/>
        </p:nvPicPr>
        <p:blipFill>
          <a:blip r:embed="rId4"/>
          <a:stretch>
            <a:fillRect/>
          </a:stretch>
        </p:blipFill>
        <p:spPr>
          <a:xfrm flipV="1">
            <a:off x="256032" y="4393692"/>
            <a:ext cx="548640" cy="548640"/>
          </a:xfrm>
          <a:prstGeom prst="rect">
            <a:avLst/>
          </a:prstGeom>
        </p:spPr>
      </p:pic>
      <p:pic>
        <p:nvPicPr>
          <p:cNvPr id="6" name="Image 4" descr="preencoded.png"/>
          <p:cNvPicPr>
            <a:picLocks noChangeAspect="1"/>
          </p:cNvPicPr>
          <p:nvPr/>
        </p:nvPicPr>
        <p:blipFill>
          <a:blip r:embed="rId4"/>
          <a:stretch>
            <a:fillRect/>
          </a:stretch>
        </p:blipFill>
        <p:spPr>
          <a:xfrm flipH="1" flipV="1">
            <a:off x="8339328" y="4393692"/>
            <a:ext cx="548640" cy="548640"/>
          </a:xfrm>
          <a:prstGeom prst="rect">
            <a:avLst/>
          </a:prstGeom>
        </p:spPr>
      </p:pic>
      <p:sp>
        <p:nvSpPr>
          <p:cNvPr id="7" name="Text 0"/>
          <p:cNvSpPr/>
          <p:nvPr/>
        </p:nvSpPr>
        <p:spPr>
          <a:xfrm>
            <a:off x="594360" y="292608"/>
            <a:ext cx="2743200" cy="457200"/>
          </a:xfrm>
          <a:prstGeom prst="rect">
            <a:avLst/>
          </a:prstGeom>
          <a:noFill/>
          <a:ln/>
        </p:spPr>
        <p:txBody>
          <a:bodyPr wrap="square" rtlCol="0" anchor="ctr"/>
          <a:lstStyle/>
          <a:p>
            <a:pPr marL="0" indent="0">
              <a:buNone/>
            </a:pPr>
            <a:r>
              <a:rPr lang="en-US" sz="1300" b="1" kern="0" spc="400" dirty="0">
                <a:solidFill>
                  <a:srgbClr val="00F5FF"/>
                </a:solidFill>
                <a:latin typeface="Calibri" pitchFamily="34" charset="0"/>
                <a:ea typeface="Calibri" pitchFamily="34" charset="-122"/>
                <a:cs typeface="Calibri" pitchFamily="34" charset="-120"/>
              </a:rPr>
              <a:t>Agenda</a:t>
            </a:r>
            <a:endParaRPr lang="en-US" sz="1300" dirty="0"/>
          </a:p>
        </p:txBody>
      </p:sp>
      <p:pic>
        <p:nvPicPr>
          <p:cNvPr id="8" name="Image 5" descr="preencoded.png"/>
          <p:cNvPicPr>
            <a:picLocks noChangeAspect="1"/>
          </p:cNvPicPr>
          <p:nvPr/>
        </p:nvPicPr>
        <p:blipFill>
          <a:blip r:embed="rId5"/>
          <a:stretch>
            <a:fillRect/>
          </a:stretch>
        </p:blipFill>
        <p:spPr>
          <a:xfrm>
            <a:off x="594360" y="749808"/>
            <a:ext cx="1645920" cy="36576"/>
          </a:xfrm>
          <a:prstGeom prst="rect">
            <a:avLst/>
          </a:prstGeom>
        </p:spPr>
      </p:pic>
      <p:sp>
        <p:nvSpPr>
          <p:cNvPr id="9" name="Shape 1"/>
          <p:cNvSpPr/>
          <p:nvPr/>
        </p:nvSpPr>
        <p:spPr>
          <a:xfrm>
            <a:off x="594360" y="877824"/>
            <a:ext cx="3977640" cy="932688"/>
          </a:xfrm>
          <a:prstGeom prst="roundRect">
            <a:avLst>
              <a:gd name="adj" fmla="val 6863"/>
            </a:avLst>
          </a:prstGeom>
          <a:solidFill>
            <a:srgbClr val="0A1628">
              <a:alpha val="90000"/>
            </a:srgbClr>
          </a:solidFill>
          <a:ln w="9525">
            <a:solidFill>
              <a:srgbClr val="0D3D5C"/>
            </a:solidFill>
            <a:prstDash val="solid"/>
          </a:ln>
        </p:spPr>
        <p:txBody>
          <a:bodyPr/>
          <a:lstStyle/>
          <a:p>
            <a:endParaRPr lang="en-CA"/>
          </a:p>
        </p:txBody>
      </p:sp>
      <p:pic>
        <p:nvPicPr>
          <p:cNvPr id="10" name="Image 6" descr="preencoded.png"/>
          <p:cNvPicPr>
            <a:picLocks noChangeAspect="1"/>
          </p:cNvPicPr>
          <p:nvPr/>
        </p:nvPicPr>
        <p:blipFill>
          <a:blip r:embed="rId6">
            <a:alphaModFix amt="10000"/>
          </a:blip>
          <a:stretch>
            <a:fillRect/>
          </a:stretch>
        </p:blipFill>
        <p:spPr>
          <a:xfrm>
            <a:off x="758952" y="1069848"/>
            <a:ext cx="612648" cy="612648"/>
          </a:xfrm>
          <a:prstGeom prst="rect">
            <a:avLst/>
          </a:prstGeom>
        </p:spPr>
      </p:pic>
      <p:sp>
        <p:nvSpPr>
          <p:cNvPr id="11" name="Text 2"/>
          <p:cNvSpPr/>
          <p:nvPr/>
        </p:nvSpPr>
        <p:spPr>
          <a:xfrm>
            <a:off x="1179576" y="877824"/>
            <a:ext cx="384048" cy="932688"/>
          </a:xfrm>
          <a:prstGeom prst="rect">
            <a:avLst/>
          </a:prstGeom>
          <a:noFill/>
          <a:ln/>
        </p:spPr>
        <p:txBody>
          <a:bodyPr wrap="square" lIns="0" tIns="0" rIns="0" bIns="0" rtlCol="0" anchor="ctr"/>
          <a:lstStyle/>
          <a:p>
            <a:pPr marL="0" indent="0">
              <a:buNone/>
            </a:pPr>
            <a:r>
              <a:rPr lang="en-US" sz="1200" b="1" dirty="0">
                <a:solidFill>
                  <a:srgbClr val="00F5FF"/>
                </a:solidFill>
                <a:latin typeface="Calibri" pitchFamily="34" charset="0"/>
                <a:ea typeface="Calibri" pitchFamily="34" charset="-122"/>
                <a:cs typeface="Calibri" pitchFamily="34" charset="-120"/>
              </a:rPr>
              <a:t>01</a:t>
            </a:r>
            <a:endParaRPr lang="en-US" sz="1200" dirty="0"/>
          </a:p>
        </p:txBody>
      </p:sp>
      <p:sp>
        <p:nvSpPr>
          <p:cNvPr id="12" name="Text 3"/>
          <p:cNvSpPr/>
          <p:nvPr/>
        </p:nvSpPr>
        <p:spPr>
          <a:xfrm>
            <a:off x="1554480" y="877824"/>
            <a:ext cx="2907792" cy="93268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Nature du système &amp; architecture</a:t>
            </a:r>
            <a:endParaRPr lang="en-US" sz="1250" dirty="0"/>
          </a:p>
        </p:txBody>
      </p:sp>
      <p:sp>
        <p:nvSpPr>
          <p:cNvPr id="13" name="Shape 4"/>
          <p:cNvSpPr/>
          <p:nvPr/>
        </p:nvSpPr>
        <p:spPr>
          <a:xfrm>
            <a:off x="594360" y="2066544"/>
            <a:ext cx="3977640" cy="932688"/>
          </a:xfrm>
          <a:prstGeom prst="roundRect">
            <a:avLst>
              <a:gd name="adj" fmla="val 6863"/>
            </a:avLst>
          </a:prstGeom>
          <a:solidFill>
            <a:srgbClr val="100A22">
              <a:alpha val="90000"/>
            </a:srgbClr>
          </a:solidFill>
          <a:ln w="9525">
            <a:solidFill>
              <a:srgbClr val="2A1460"/>
            </a:solidFill>
            <a:prstDash val="solid"/>
          </a:ln>
        </p:spPr>
        <p:txBody>
          <a:bodyPr/>
          <a:lstStyle/>
          <a:p>
            <a:endParaRPr lang="en-CA"/>
          </a:p>
        </p:txBody>
      </p:sp>
      <p:pic>
        <p:nvPicPr>
          <p:cNvPr id="14" name="Image 7" descr="preencoded.png"/>
          <p:cNvPicPr>
            <a:picLocks noChangeAspect="1"/>
          </p:cNvPicPr>
          <p:nvPr/>
        </p:nvPicPr>
        <p:blipFill>
          <a:blip r:embed="rId7">
            <a:alphaModFix amt="10000"/>
          </a:blip>
          <a:stretch>
            <a:fillRect/>
          </a:stretch>
        </p:blipFill>
        <p:spPr>
          <a:xfrm>
            <a:off x="798576" y="2293620"/>
            <a:ext cx="521208" cy="521208"/>
          </a:xfrm>
          <a:prstGeom prst="rect">
            <a:avLst/>
          </a:prstGeom>
        </p:spPr>
      </p:pic>
      <p:sp>
        <p:nvSpPr>
          <p:cNvPr id="15" name="Text 5"/>
          <p:cNvSpPr/>
          <p:nvPr/>
        </p:nvSpPr>
        <p:spPr>
          <a:xfrm>
            <a:off x="1179576" y="2066544"/>
            <a:ext cx="384048" cy="932688"/>
          </a:xfrm>
          <a:prstGeom prst="rect">
            <a:avLst/>
          </a:prstGeom>
          <a:noFill/>
          <a:ln/>
        </p:spPr>
        <p:txBody>
          <a:bodyPr wrap="square" lIns="0" tIns="0" rIns="0" bIns="0" rtlCol="0" anchor="ctr"/>
          <a:lstStyle/>
          <a:p>
            <a:pPr marL="0" indent="0">
              <a:buNone/>
            </a:pPr>
            <a:r>
              <a:rPr lang="en-US" sz="1200" b="1" dirty="0">
                <a:solidFill>
                  <a:srgbClr val="9B6DFF"/>
                </a:solidFill>
                <a:latin typeface="Calibri" pitchFamily="34" charset="0"/>
                <a:ea typeface="Calibri" pitchFamily="34" charset="-122"/>
                <a:cs typeface="Calibri" pitchFamily="34" charset="-120"/>
              </a:rPr>
              <a:t>02</a:t>
            </a:r>
            <a:endParaRPr lang="en-US" sz="1200" dirty="0"/>
          </a:p>
        </p:txBody>
      </p:sp>
      <p:sp>
        <p:nvSpPr>
          <p:cNvPr id="16" name="Text 6"/>
          <p:cNvSpPr/>
          <p:nvPr/>
        </p:nvSpPr>
        <p:spPr>
          <a:xfrm>
            <a:off x="1554480" y="2066544"/>
            <a:ext cx="2907792" cy="93268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Protocole expérimental</a:t>
            </a:r>
            <a:endParaRPr lang="en-US" sz="1250" dirty="0"/>
          </a:p>
        </p:txBody>
      </p:sp>
      <p:sp>
        <p:nvSpPr>
          <p:cNvPr id="17" name="Shape 7"/>
          <p:cNvSpPr/>
          <p:nvPr/>
        </p:nvSpPr>
        <p:spPr>
          <a:xfrm>
            <a:off x="594360" y="3255264"/>
            <a:ext cx="3977640" cy="932688"/>
          </a:xfrm>
          <a:prstGeom prst="roundRect">
            <a:avLst>
              <a:gd name="adj" fmla="val 6863"/>
            </a:avLst>
          </a:prstGeom>
          <a:solidFill>
            <a:srgbClr val="0A1628">
              <a:alpha val="90000"/>
            </a:srgbClr>
          </a:solidFill>
          <a:ln w="9525">
            <a:solidFill>
              <a:srgbClr val="0D3D5C"/>
            </a:solidFill>
            <a:prstDash val="solid"/>
          </a:ln>
        </p:spPr>
        <p:txBody>
          <a:bodyPr/>
          <a:lstStyle/>
          <a:p>
            <a:endParaRPr lang="en-CA"/>
          </a:p>
        </p:txBody>
      </p:sp>
      <p:pic>
        <p:nvPicPr>
          <p:cNvPr id="18" name="Image 8" descr="preencoded.png"/>
          <p:cNvPicPr>
            <a:picLocks noChangeAspect="1"/>
          </p:cNvPicPr>
          <p:nvPr/>
        </p:nvPicPr>
        <p:blipFill>
          <a:blip r:embed="rId8">
            <a:alphaModFix amt="10000"/>
          </a:blip>
          <a:stretch>
            <a:fillRect/>
          </a:stretch>
        </p:blipFill>
        <p:spPr>
          <a:xfrm>
            <a:off x="758952" y="3493770"/>
            <a:ext cx="560832" cy="560832"/>
          </a:xfrm>
          <a:prstGeom prst="rect">
            <a:avLst/>
          </a:prstGeom>
        </p:spPr>
      </p:pic>
      <p:sp>
        <p:nvSpPr>
          <p:cNvPr id="19" name="Text 8"/>
          <p:cNvSpPr/>
          <p:nvPr/>
        </p:nvSpPr>
        <p:spPr>
          <a:xfrm>
            <a:off x="1179576" y="3255264"/>
            <a:ext cx="384048" cy="932688"/>
          </a:xfrm>
          <a:prstGeom prst="rect">
            <a:avLst/>
          </a:prstGeom>
          <a:noFill/>
          <a:ln/>
        </p:spPr>
        <p:txBody>
          <a:bodyPr wrap="square" lIns="0" tIns="0" rIns="0" bIns="0" rtlCol="0" anchor="ctr"/>
          <a:lstStyle/>
          <a:p>
            <a:pPr marL="0" indent="0">
              <a:buNone/>
            </a:pPr>
            <a:r>
              <a:rPr lang="en-US" sz="1200" b="1" dirty="0">
                <a:solidFill>
                  <a:srgbClr val="00F5FF"/>
                </a:solidFill>
                <a:latin typeface="Calibri" pitchFamily="34" charset="0"/>
                <a:ea typeface="Calibri" pitchFamily="34" charset="-122"/>
                <a:cs typeface="Calibri" pitchFamily="34" charset="-120"/>
              </a:rPr>
              <a:t>03</a:t>
            </a:r>
            <a:endParaRPr lang="en-US" sz="1200" dirty="0"/>
          </a:p>
        </p:txBody>
      </p:sp>
      <p:sp>
        <p:nvSpPr>
          <p:cNvPr id="20" name="Text 9"/>
          <p:cNvSpPr/>
          <p:nvPr/>
        </p:nvSpPr>
        <p:spPr>
          <a:xfrm>
            <a:off x="1554480" y="3255264"/>
            <a:ext cx="2907792" cy="93268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Validation fonctionnelle — KAT</a:t>
            </a:r>
            <a:endParaRPr lang="en-US" sz="1250" dirty="0"/>
          </a:p>
        </p:txBody>
      </p:sp>
      <p:sp>
        <p:nvSpPr>
          <p:cNvPr id="21" name="Shape 10"/>
          <p:cNvSpPr/>
          <p:nvPr/>
        </p:nvSpPr>
        <p:spPr>
          <a:xfrm>
            <a:off x="4892040" y="877824"/>
            <a:ext cx="3977640" cy="932688"/>
          </a:xfrm>
          <a:prstGeom prst="roundRect">
            <a:avLst>
              <a:gd name="adj" fmla="val 6863"/>
            </a:avLst>
          </a:prstGeom>
          <a:solidFill>
            <a:srgbClr val="100A22">
              <a:alpha val="90000"/>
            </a:srgbClr>
          </a:solidFill>
          <a:ln w="9525">
            <a:solidFill>
              <a:srgbClr val="2A1460"/>
            </a:solidFill>
            <a:prstDash val="solid"/>
          </a:ln>
        </p:spPr>
        <p:txBody>
          <a:bodyPr/>
          <a:lstStyle/>
          <a:p>
            <a:endParaRPr lang="en-CA"/>
          </a:p>
        </p:txBody>
      </p:sp>
      <p:pic>
        <p:nvPicPr>
          <p:cNvPr id="22" name="Image 9" descr="preencoded.png"/>
          <p:cNvPicPr>
            <a:picLocks noChangeAspect="1"/>
          </p:cNvPicPr>
          <p:nvPr/>
        </p:nvPicPr>
        <p:blipFill>
          <a:blip r:embed="rId9">
            <a:alphaModFix amt="10000"/>
          </a:blip>
          <a:stretch>
            <a:fillRect/>
          </a:stretch>
        </p:blipFill>
        <p:spPr>
          <a:xfrm>
            <a:off x="5066919" y="1089088"/>
            <a:ext cx="610743" cy="610743"/>
          </a:xfrm>
          <a:prstGeom prst="rect">
            <a:avLst/>
          </a:prstGeom>
        </p:spPr>
      </p:pic>
      <p:sp>
        <p:nvSpPr>
          <p:cNvPr id="23" name="Text 11"/>
          <p:cNvSpPr/>
          <p:nvPr/>
        </p:nvSpPr>
        <p:spPr>
          <a:xfrm>
            <a:off x="5477256" y="877824"/>
            <a:ext cx="384048" cy="932688"/>
          </a:xfrm>
          <a:prstGeom prst="rect">
            <a:avLst/>
          </a:prstGeom>
          <a:noFill/>
          <a:ln/>
        </p:spPr>
        <p:txBody>
          <a:bodyPr wrap="square" lIns="0" tIns="0" rIns="0" bIns="0" rtlCol="0" anchor="ctr"/>
          <a:lstStyle/>
          <a:p>
            <a:pPr marL="0" indent="0">
              <a:buNone/>
            </a:pPr>
            <a:r>
              <a:rPr lang="en-US" sz="1200" b="1" dirty="0">
                <a:solidFill>
                  <a:srgbClr val="9B6DFF"/>
                </a:solidFill>
                <a:latin typeface="Calibri" pitchFamily="34" charset="0"/>
                <a:ea typeface="Calibri" pitchFamily="34" charset="-122"/>
                <a:cs typeface="Calibri" pitchFamily="34" charset="-120"/>
              </a:rPr>
              <a:t>04</a:t>
            </a:r>
            <a:endParaRPr lang="en-US" sz="1200" dirty="0"/>
          </a:p>
        </p:txBody>
      </p:sp>
      <p:sp>
        <p:nvSpPr>
          <p:cNvPr id="24" name="Text 12"/>
          <p:cNvSpPr/>
          <p:nvPr/>
        </p:nvSpPr>
        <p:spPr>
          <a:xfrm>
            <a:off x="5852160" y="877824"/>
            <a:ext cx="2907792" cy="93268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Résultats de performance</a:t>
            </a:r>
            <a:endParaRPr lang="en-US" sz="1250" dirty="0"/>
          </a:p>
        </p:txBody>
      </p:sp>
      <p:sp>
        <p:nvSpPr>
          <p:cNvPr id="25" name="Shape 13"/>
          <p:cNvSpPr/>
          <p:nvPr/>
        </p:nvSpPr>
        <p:spPr>
          <a:xfrm>
            <a:off x="4892040" y="2066544"/>
            <a:ext cx="3977640" cy="932688"/>
          </a:xfrm>
          <a:prstGeom prst="roundRect">
            <a:avLst>
              <a:gd name="adj" fmla="val 6863"/>
            </a:avLst>
          </a:prstGeom>
          <a:solidFill>
            <a:srgbClr val="0A1628">
              <a:alpha val="90000"/>
            </a:srgbClr>
          </a:solidFill>
          <a:ln w="9525">
            <a:solidFill>
              <a:srgbClr val="0D3D5C"/>
            </a:solidFill>
            <a:prstDash val="solid"/>
          </a:ln>
        </p:spPr>
        <p:txBody>
          <a:bodyPr/>
          <a:lstStyle/>
          <a:p>
            <a:endParaRPr lang="en-CA"/>
          </a:p>
        </p:txBody>
      </p:sp>
      <p:pic>
        <p:nvPicPr>
          <p:cNvPr id="26" name="Image 10" descr="preencoded.png"/>
          <p:cNvPicPr>
            <a:picLocks noChangeAspect="1"/>
          </p:cNvPicPr>
          <p:nvPr/>
        </p:nvPicPr>
        <p:blipFill>
          <a:blip r:embed="rId10">
            <a:alphaModFix amt="10000"/>
          </a:blip>
          <a:stretch>
            <a:fillRect/>
          </a:stretch>
        </p:blipFill>
        <p:spPr>
          <a:xfrm>
            <a:off x="5085588" y="2230183"/>
            <a:ext cx="621030" cy="621030"/>
          </a:xfrm>
          <a:prstGeom prst="rect">
            <a:avLst/>
          </a:prstGeom>
        </p:spPr>
      </p:pic>
      <p:sp>
        <p:nvSpPr>
          <p:cNvPr id="27" name="Text 14"/>
          <p:cNvSpPr/>
          <p:nvPr/>
        </p:nvSpPr>
        <p:spPr>
          <a:xfrm>
            <a:off x="5477256" y="2066544"/>
            <a:ext cx="384048" cy="932688"/>
          </a:xfrm>
          <a:prstGeom prst="rect">
            <a:avLst/>
          </a:prstGeom>
          <a:noFill/>
          <a:ln/>
        </p:spPr>
        <p:txBody>
          <a:bodyPr wrap="square" lIns="0" tIns="0" rIns="0" bIns="0" rtlCol="0" anchor="ctr"/>
          <a:lstStyle/>
          <a:p>
            <a:pPr marL="0" indent="0">
              <a:buNone/>
            </a:pPr>
            <a:r>
              <a:rPr lang="en-US" sz="1200" b="1" dirty="0">
                <a:solidFill>
                  <a:srgbClr val="00F5FF"/>
                </a:solidFill>
                <a:latin typeface="Calibri" pitchFamily="34" charset="0"/>
                <a:ea typeface="Calibri" pitchFamily="34" charset="-122"/>
                <a:cs typeface="Calibri" pitchFamily="34" charset="-120"/>
              </a:rPr>
              <a:t>05</a:t>
            </a:r>
            <a:endParaRPr lang="en-US" sz="1200" dirty="0"/>
          </a:p>
        </p:txBody>
      </p:sp>
      <p:sp>
        <p:nvSpPr>
          <p:cNvPr id="28" name="Text 15"/>
          <p:cNvSpPr/>
          <p:nvPr/>
        </p:nvSpPr>
        <p:spPr>
          <a:xfrm>
            <a:off x="5852160" y="2066544"/>
            <a:ext cx="2907792" cy="93268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Robustesse cryptographique</a:t>
            </a:r>
            <a:endParaRPr lang="en-US" sz="1250" dirty="0"/>
          </a:p>
        </p:txBody>
      </p:sp>
      <p:sp>
        <p:nvSpPr>
          <p:cNvPr id="29" name="Shape 16"/>
          <p:cNvSpPr/>
          <p:nvPr/>
        </p:nvSpPr>
        <p:spPr>
          <a:xfrm>
            <a:off x="4892040" y="3255264"/>
            <a:ext cx="3977640" cy="932688"/>
          </a:xfrm>
          <a:prstGeom prst="roundRect">
            <a:avLst>
              <a:gd name="adj" fmla="val 6863"/>
            </a:avLst>
          </a:prstGeom>
          <a:solidFill>
            <a:srgbClr val="100A22">
              <a:alpha val="90000"/>
            </a:srgbClr>
          </a:solidFill>
          <a:ln w="9525">
            <a:solidFill>
              <a:srgbClr val="2A1460"/>
            </a:solidFill>
            <a:prstDash val="solid"/>
          </a:ln>
        </p:spPr>
        <p:txBody>
          <a:bodyPr/>
          <a:lstStyle/>
          <a:p>
            <a:endParaRPr lang="en-CA"/>
          </a:p>
        </p:txBody>
      </p:sp>
      <p:pic>
        <p:nvPicPr>
          <p:cNvPr id="30" name="Image 11" descr="preencoded.png"/>
          <p:cNvPicPr>
            <a:picLocks noChangeAspect="1"/>
          </p:cNvPicPr>
          <p:nvPr/>
        </p:nvPicPr>
        <p:blipFill>
          <a:blip r:embed="rId11">
            <a:alphaModFix amt="10000"/>
          </a:blip>
          <a:stretch>
            <a:fillRect/>
          </a:stretch>
        </p:blipFill>
        <p:spPr>
          <a:xfrm>
            <a:off x="5056632" y="3381565"/>
            <a:ext cx="621030" cy="621030"/>
          </a:xfrm>
          <a:prstGeom prst="rect">
            <a:avLst/>
          </a:prstGeom>
        </p:spPr>
      </p:pic>
      <p:sp>
        <p:nvSpPr>
          <p:cNvPr id="31" name="Text 17"/>
          <p:cNvSpPr/>
          <p:nvPr/>
        </p:nvSpPr>
        <p:spPr>
          <a:xfrm>
            <a:off x="5477256" y="3255264"/>
            <a:ext cx="384048" cy="932688"/>
          </a:xfrm>
          <a:prstGeom prst="rect">
            <a:avLst/>
          </a:prstGeom>
          <a:noFill/>
          <a:ln/>
        </p:spPr>
        <p:txBody>
          <a:bodyPr wrap="square" lIns="0" tIns="0" rIns="0" bIns="0" rtlCol="0" anchor="ctr"/>
          <a:lstStyle/>
          <a:p>
            <a:pPr marL="0" indent="0">
              <a:buNone/>
            </a:pPr>
            <a:r>
              <a:rPr lang="en-US" sz="1200" b="1" dirty="0">
                <a:solidFill>
                  <a:srgbClr val="9B6DFF"/>
                </a:solidFill>
                <a:latin typeface="Calibri" pitchFamily="34" charset="0"/>
                <a:ea typeface="Calibri" pitchFamily="34" charset="-122"/>
                <a:cs typeface="Calibri" pitchFamily="34" charset="-120"/>
              </a:rPr>
              <a:t>06</a:t>
            </a:r>
            <a:endParaRPr lang="en-US" sz="1200" dirty="0"/>
          </a:p>
        </p:txBody>
      </p:sp>
      <p:sp>
        <p:nvSpPr>
          <p:cNvPr id="32" name="Text 18"/>
          <p:cNvSpPr/>
          <p:nvPr/>
        </p:nvSpPr>
        <p:spPr>
          <a:xfrm>
            <a:off x="5852160" y="3255264"/>
            <a:ext cx="2907792" cy="93268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Synthèse &amp; recommandations</a:t>
            </a:r>
            <a:endParaRPr lang="en-US" sz="1250" dirty="0"/>
          </a:p>
        </p:txBody>
      </p:sp>
      <p:sp>
        <p:nvSpPr>
          <p:cNvPr id="34" name="Text 20"/>
          <p:cNvSpPr/>
          <p:nvPr/>
        </p:nvSpPr>
        <p:spPr>
          <a:xfrm>
            <a:off x="1371600" y="4754880"/>
            <a:ext cx="6400800" cy="256032"/>
          </a:xfrm>
          <a:prstGeom prst="rect">
            <a:avLst/>
          </a:prstGeom>
          <a:noFill/>
          <a:ln/>
        </p:spPr>
        <p:txBody>
          <a:bodyPr wrap="square" rtlCol="0" anchor="ctr"/>
          <a:lstStyle/>
          <a:p>
            <a:pPr marL="0" indent="0" algn="ctr">
              <a:buNone/>
            </a:pPr>
            <a:r>
              <a:rPr lang="en-US" sz="850" b="1" kern="0" spc="100" dirty="0">
                <a:solidFill>
                  <a:srgbClr val="00F5FF"/>
                </a:solidFill>
                <a:latin typeface="Calibri" pitchFamily="34" charset="0"/>
                <a:ea typeface="Calibri" pitchFamily="34" charset="-122"/>
                <a:cs typeface="Calibri" pitchFamily="34" charset="-120"/>
              </a:rPr>
              <a:t>INF1430</a:t>
            </a:r>
            <a:r>
              <a:rPr lang="en-US" sz="850" kern="0" spc="100" dirty="0">
                <a:solidFill>
                  <a:srgbClr val="3A4A65"/>
                </a:solidFill>
                <a:latin typeface="Calibri" pitchFamily="34" charset="0"/>
                <a:ea typeface="Calibri" pitchFamily="34" charset="-122"/>
                <a:cs typeface="Calibri" pitchFamily="34" charset="-120"/>
              </a:rPr>
              <a:t>  ·  Université TÉLUQ  ·  TN3  ·  Melissa Moya  ·  2026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Grp="1" noRot="1" noChangeAspect="1" noMove="1" noResize="1" noEditPoints="1" noAdjustHandles="1" noChangeArrowheads="1" noChangeShapeType="1" noCrop="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256032" y="201168"/>
            <a:ext cx="548640" cy="548640"/>
          </a:xfrm>
          <a:prstGeom prst="rect">
            <a:avLst/>
          </a:prstGeom>
        </p:spPr>
      </p:pic>
      <p:pic>
        <p:nvPicPr>
          <p:cNvPr id="4" name="Image 2" descr="preencoded.png"/>
          <p:cNvPicPr>
            <a:picLocks noChangeAspect="1"/>
          </p:cNvPicPr>
          <p:nvPr/>
        </p:nvPicPr>
        <p:blipFill>
          <a:blip r:embed="rId4"/>
          <a:stretch>
            <a:fillRect/>
          </a:stretch>
        </p:blipFill>
        <p:spPr>
          <a:xfrm flipH="1">
            <a:off x="8339328" y="201168"/>
            <a:ext cx="548640" cy="548640"/>
          </a:xfrm>
          <a:prstGeom prst="rect">
            <a:avLst/>
          </a:prstGeom>
        </p:spPr>
      </p:pic>
      <p:pic>
        <p:nvPicPr>
          <p:cNvPr id="5" name="Image 3" descr="preencoded.png"/>
          <p:cNvPicPr>
            <a:picLocks noChangeAspect="1"/>
          </p:cNvPicPr>
          <p:nvPr/>
        </p:nvPicPr>
        <p:blipFill>
          <a:blip r:embed="rId4"/>
          <a:stretch>
            <a:fillRect/>
          </a:stretch>
        </p:blipFill>
        <p:spPr>
          <a:xfrm flipV="1">
            <a:off x="256032" y="4393692"/>
            <a:ext cx="548640" cy="548640"/>
          </a:xfrm>
          <a:prstGeom prst="rect">
            <a:avLst/>
          </a:prstGeom>
        </p:spPr>
      </p:pic>
      <p:pic>
        <p:nvPicPr>
          <p:cNvPr id="6" name="Image 4" descr="preencoded.png"/>
          <p:cNvPicPr>
            <a:picLocks noChangeAspect="1"/>
          </p:cNvPicPr>
          <p:nvPr/>
        </p:nvPicPr>
        <p:blipFill>
          <a:blip r:embed="rId4"/>
          <a:stretch>
            <a:fillRect/>
          </a:stretch>
        </p:blipFill>
        <p:spPr>
          <a:xfrm flipH="1" flipV="1">
            <a:off x="8339328" y="4393692"/>
            <a:ext cx="548640" cy="548640"/>
          </a:xfrm>
          <a:prstGeom prst="rect">
            <a:avLst/>
          </a:prstGeom>
        </p:spPr>
      </p:pic>
      <p:pic>
        <p:nvPicPr>
          <p:cNvPr id="7" name="Image 5" descr="preencoded.png"/>
          <p:cNvPicPr>
            <a:picLocks noChangeAspect="1"/>
          </p:cNvPicPr>
          <p:nvPr/>
        </p:nvPicPr>
        <p:blipFill>
          <a:blip r:embed="rId5">
            <a:alphaModFix/>
          </a:blip>
          <a:stretch>
            <a:fillRect/>
          </a:stretch>
        </p:blipFill>
        <p:spPr>
          <a:xfrm>
            <a:off x="566928" y="256032"/>
            <a:ext cx="301752" cy="301752"/>
          </a:xfrm>
          <a:prstGeom prst="rect">
            <a:avLst/>
          </a:prstGeom>
        </p:spPr>
      </p:pic>
      <p:sp>
        <p:nvSpPr>
          <p:cNvPr id="8" name="Text 0"/>
          <p:cNvSpPr/>
          <p:nvPr/>
        </p:nvSpPr>
        <p:spPr>
          <a:xfrm>
            <a:off x="868680" y="256032"/>
            <a:ext cx="4572000" cy="274320"/>
          </a:xfrm>
          <a:prstGeom prst="rect">
            <a:avLst/>
          </a:prstGeom>
          <a:noFill/>
          <a:ln/>
        </p:spPr>
        <p:txBody>
          <a:bodyPr wrap="square" rtlCol="0" anchor="ctr"/>
          <a:lstStyle/>
          <a:p>
            <a:pPr marL="0" indent="0">
              <a:buNone/>
            </a:pPr>
            <a:r>
              <a:rPr lang="en-US" sz="1000" b="1" kern="0" spc="50" dirty="0">
                <a:solidFill>
                  <a:srgbClr val="00F5FF"/>
                </a:solidFill>
                <a:latin typeface="Calibri" pitchFamily="34" charset="0"/>
                <a:ea typeface="Calibri" pitchFamily="34" charset="-122"/>
                <a:cs typeface="Calibri" pitchFamily="34" charset="-120"/>
              </a:rPr>
              <a:t>01  </a:t>
            </a:r>
            <a:r>
              <a:rPr lang="en-US" sz="1000" kern="0" spc="50" dirty="0">
                <a:solidFill>
                  <a:srgbClr val="8892A4"/>
                </a:solidFill>
                <a:latin typeface="Calibri" pitchFamily="34" charset="0"/>
                <a:ea typeface="Calibri" pitchFamily="34" charset="-122"/>
                <a:cs typeface="Calibri" pitchFamily="34" charset="-120"/>
              </a:rPr>
              <a:t>Nature du système</a:t>
            </a:r>
            <a:endParaRPr lang="en-US" sz="1000" dirty="0"/>
          </a:p>
        </p:txBody>
      </p:sp>
      <p:sp>
        <p:nvSpPr>
          <p:cNvPr id="9" name="Text 1"/>
          <p:cNvSpPr/>
          <p:nvPr/>
        </p:nvSpPr>
        <p:spPr>
          <a:xfrm>
            <a:off x="566928" y="566928"/>
            <a:ext cx="4754880"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Nature du système</a:t>
            </a:r>
            <a:endParaRPr lang="en-US" sz="2600" dirty="0"/>
          </a:p>
        </p:txBody>
      </p:sp>
      <p:sp>
        <p:nvSpPr>
          <p:cNvPr id="10" name="Shape 2"/>
          <p:cNvSpPr/>
          <p:nvPr/>
        </p:nvSpPr>
        <p:spPr>
          <a:xfrm>
            <a:off x="573024" y="1361875"/>
            <a:ext cx="109728" cy="109728"/>
          </a:xfrm>
          <a:prstGeom prst="ellipse">
            <a:avLst/>
          </a:prstGeom>
          <a:solidFill>
            <a:srgbClr val="00F5FF"/>
          </a:solidFill>
          <a:ln w="12700">
            <a:solidFill>
              <a:srgbClr val="00F5FF"/>
            </a:solidFill>
            <a:prstDash val="solid"/>
          </a:ln>
        </p:spPr>
        <p:txBody>
          <a:bodyPr/>
          <a:lstStyle/>
          <a:p>
            <a:endParaRPr lang="en-CA"/>
          </a:p>
        </p:txBody>
      </p:sp>
      <p:sp>
        <p:nvSpPr>
          <p:cNvPr id="11" name="Text 3"/>
          <p:cNvSpPr/>
          <p:nvPr/>
        </p:nvSpPr>
        <p:spPr>
          <a:xfrm>
            <a:off x="777240" y="1261872"/>
            <a:ext cx="374904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Moteur expérimental</a:t>
            </a:r>
            <a:endParaRPr lang="en-US" sz="1300" dirty="0"/>
          </a:p>
        </p:txBody>
      </p:sp>
      <p:sp>
        <p:nvSpPr>
          <p:cNvPr id="12" name="Text 4"/>
          <p:cNvSpPr/>
          <p:nvPr/>
        </p:nvSpPr>
        <p:spPr>
          <a:xfrm>
            <a:off x="777240" y="1536192"/>
            <a:ext cx="3749040" cy="237744"/>
          </a:xfrm>
          <a:prstGeom prst="rect">
            <a:avLst/>
          </a:prstGeom>
          <a:noFill/>
          <a:ln/>
        </p:spPr>
        <p:txBody>
          <a:bodyPr wrap="square" lIns="0" tIns="0" rIns="0" bIns="0" rtlCol="0" anchor="ctr"/>
          <a:lstStyle/>
          <a:p>
            <a:pPr marL="0" indent="0">
              <a:buNone/>
            </a:pPr>
            <a:r>
              <a:rPr lang="fr-FR" sz="1050" i="1" dirty="0">
                <a:solidFill>
                  <a:srgbClr val="8892A4"/>
                </a:solidFill>
                <a:latin typeface="Calibri" pitchFamily="34" charset="0"/>
                <a:ea typeface="Calibri" pitchFamily="34" charset="-122"/>
                <a:cs typeface="Calibri" pitchFamily="34" charset="-120"/>
              </a:rPr>
              <a:t>Aucune interface utilisateur — mesures uniquement</a:t>
            </a:r>
            <a:endParaRPr lang="en-US" sz="1050" dirty="0"/>
          </a:p>
        </p:txBody>
      </p:sp>
      <p:sp>
        <p:nvSpPr>
          <p:cNvPr id="13" name="Shape 5"/>
          <p:cNvSpPr/>
          <p:nvPr/>
        </p:nvSpPr>
        <p:spPr>
          <a:xfrm>
            <a:off x="566928" y="2153832"/>
            <a:ext cx="109728" cy="109728"/>
          </a:xfrm>
          <a:prstGeom prst="ellipse">
            <a:avLst/>
          </a:prstGeom>
          <a:solidFill>
            <a:srgbClr val="9B6DFF"/>
          </a:solidFill>
          <a:ln w="12700">
            <a:solidFill>
              <a:srgbClr val="9B6DFF"/>
            </a:solidFill>
            <a:prstDash val="solid"/>
          </a:ln>
        </p:spPr>
        <p:txBody>
          <a:bodyPr/>
          <a:lstStyle/>
          <a:p>
            <a:endParaRPr lang="en-CA"/>
          </a:p>
        </p:txBody>
      </p:sp>
      <p:sp>
        <p:nvSpPr>
          <p:cNvPr id="14" name="Text 6"/>
          <p:cNvSpPr/>
          <p:nvPr/>
        </p:nvSpPr>
        <p:spPr>
          <a:xfrm>
            <a:off x="777240" y="2056420"/>
            <a:ext cx="374904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Aucune interface graphique</a:t>
            </a:r>
            <a:endParaRPr lang="en-US" sz="1300" dirty="0"/>
          </a:p>
        </p:txBody>
      </p:sp>
      <p:sp>
        <p:nvSpPr>
          <p:cNvPr id="15" name="Text 7"/>
          <p:cNvSpPr/>
          <p:nvPr/>
        </p:nvSpPr>
        <p:spPr>
          <a:xfrm>
            <a:off x="777240" y="2340864"/>
            <a:ext cx="3749040" cy="237744"/>
          </a:xfrm>
          <a:prstGeom prst="rect">
            <a:avLst/>
          </a:prstGeom>
          <a:noFill/>
          <a:ln/>
        </p:spPr>
        <p:txBody>
          <a:bodyPr wrap="square" lIns="0" tIns="0" rIns="0" bIns="0" rtlCol="0" anchor="ctr"/>
          <a:lstStyle/>
          <a:p>
            <a:pPr marL="0" indent="0">
              <a:buNone/>
            </a:pPr>
            <a:r>
              <a:rPr lang="fr-FR" sz="1050" i="1" dirty="0">
                <a:solidFill>
                  <a:srgbClr val="8892A4"/>
                </a:solidFill>
                <a:latin typeface="Calibri" pitchFamily="34" charset="0"/>
                <a:ea typeface="Calibri" pitchFamily="34" charset="-122"/>
                <a:cs typeface="Calibri" pitchFamily="34" charset="-120"/>
              </a:rPr>
              <a:t>Paramètres en entrée, fichiers CSV en sortie</a:t>
            </a:r>
            <a:endParaRPr lang="en-US" sz="1050" dirty="0"/>
          </a:p>
        </p:txBody>
      </p:sp>
      <p:sp>
        <p:nvSpPr>
          <p:cNvPr id="16" name="Shape 8"/>
          <p:cNvSpPr/>
          <p:nvPr/>
        </p:nvSpPr>
        <p:spPr>
          <a:xfrm>
            <a:off x="566928" y="2935224"/>
            <a:ext cx="109728" cy="109728"/>
          </a:xfrm>
          <a:prstGeom prst="ellipse">
            <a:avLst/>
          </a:prstGeom>
          <a:solidFill>
            <a:srgbClr val="00F5FF"/>
          </a:solidFill>
          <a:ln w="12700">
            <a:solidFill>
              <a:srgbClr val="00F5FF"/>
            </a:solidFill>
            <a:prstDash val="solid"/>
          </a:ln>
        </p:spPr>
        <p:txBody>
          <a:bodyPr/>
          <a:lstStyle/>
          <a:p>
            <a:endParaRPr lang="en-CA"/>
          </a:p>
        </p:txBody>
      </p:sp>
      <p:sp>
        <p:nvSpPr>
          <p:cNvPr id="17" name="Text 9"/>
          <p:cNvSpPr/>
          <p:nvPr/>
        </p:nvSpPr>
        <p:spPr>
          <a:xfrm>
            <a:off x="777240" y="2839212"/>
            <a:ext cx="374904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Conçu pour isoler la variable matérielle</a:t>
            </a:r>
            <a:endParaRPr lang="en-US" sz="1300" dirty="0"/>
          </a:p>
        </p:txBody>
      </p:sp>
      <p:sp>
        <p:nvSpPr>
          <p:cNvPr id="18" name="Text 10"/>
          <p:cNvSpPr/>
          <p:nvPr/>
        </p:nvSpPr>
        <p:spPr>
          <a:xfrm>
            <a:off x="777240" y="3145536"/>
            <a:ext cx="3749040" cy="237744"/>
          </a:xfrm>
          <a:prstGeom prst="rect">
            <a:avLst/>
          </a:prstGeom>
          <a:noFill/>
          <a:ln/>
        </p:spPr>
        <p:txBody>
          <a:bodyPr wrap="square" lIns="0" tIns="0" rIns="0" bIns="0" rtlCol="0" anchor="ctr"/>
          <a:lstStyle/>
          <a:p>
            <a:pPr marL="0" indent="0">
              <a:buNone/>
            </a:pPr>
            <a:r>
              <a:rPr lang="fr-FR" sz="1050" i="1" dirty="0">
                <a:solidFill>
                  <a:srgbClr val="8892A4"/>
                </a:solidFill>
                <a:latin typeface="Calibri" pitchFamily="34" charset="0"/>
                <a:ea typeface="Calibri" pitchFamily="34" charset="-122"/>
                <a:cs typeface="Calibri" pitchFamily="34" charset="-120"/>
              </a:rPr>
              <a:t>Code identique sur les deux plateformes pour garantir la comparabilité</a:t>
            </a:r>
            <a:endParaRPr lang="en-US" sz="1050" dirty="0"/>
          </a:p>
        </p:txBody>
      </p:sp>
      <p:sp>
        <p:nvSpPr>
          <p:cNvPr id="19" name="Shape 11"/>
          <p:cNvSpPr/>
          <p:nvPr/>
        </p:nvSpPr>
        <p:spPr>
          <a:xfrm>
            <a:off x="566927" y="3647294"/>
            <a:ext cx="3935983" cy="686961"/>
          </a:xfrm>
          <a:prstGeom prst="roundRect">
            <a:avLst>
              <a:gd name="adj" fmla="val 8571"/>
            </a:avLst>
          </a:prstGeom>
          <a:solidFill>
            <a:srgbClr val="071A2E">
              <a:alpha val="95000"/>
            </a:srgbClr>
          </a:solidFill>
          <a:ln w="9525">
            <a:solidFill>
              <a:srgbClr val="0D3D5C"/>
            </a:solidFill>
            <a:prstDash val="solid"/>
          </a:ln>
        </p:spPr>
        <p:txBody>
          <a:bodyPr/>
          <a:lstStyle/>
          <a:p>
            <a:endParaRPr lang="en-CA"/>
          </a:p>
        </p:txBody>
      </p:sp>
      <p:sp>
        <p:nvSpPr>
          <p:cNvPr id="20" name="Text 12"/>
          <p:cNvSpPr/>
          <p:nvPr/>
        </p:nvSpPr>
        <p:spPr>
          <a:xfrm>
            <a:off x="549912" y="3699292"/>
            <a:ext cx="3884202" cy="640080"/>
          </a:xfrm>
          <a:prstGeom prst="rect">
            <a:avLst/>
          </a:prstGeom>
          <a:noFill/>
          <a:ln/>
        </p:spPr>
        <p:txBody>
          <a:bodyPr wrap="square" rtlCol="0" anchor="ctr"/>
          <a:lstStyle/>
          <a:p>
            <a:pPr marL="0" indent="0" algn="ctr">
              <a:buNone/>
            </a:pPr>
            <a:r>
              <a:rPr lang="en-US" sz="950" b="1" dirty="0">
                <a:solidFill>
                  <a:srgbClr val="00F5FF"/>
                </a:solidFill>
                <a:latin typeface="Calibri" pitchFamily="34" charset="0"/>
                <a:ea typeface="Calibri" pitchFamily="34" charset="-122"/>
                <a:cs typeface="Calibri" pitchFamily="34" charset="-120"/>
              </a:rPr>
              <a:t>Répétabilité garantie  </a:t>
            </a:r>
            <a:r>
              <a:rPr lang="en-US" sz="950" dirty="0">
                <a:solidFill>
                  <a:srgbClr val="8892A4"/>
                </a:solidFill>
                <a:latin typeface="Calibri" pitchFamily="34" charset="0"/>
                <a:ea typeface="Calibri" pitchFamily="34" charset="-122"/>
                <a:cs typeface="Calibri" pitchFamily="34" charset="-120"/>
              </a:rPr>
              <a:t>— </a:t>
            </a:r>
            <a:r>
              <a:rPr lang="fr-FR" sz="950" dirty="0">
                <a:solidFill>
                  <a:srgbClr val="8892A4"/>
                </a:solidFill>
                <a:latin typeface="Calibri" pitchFamily="34" charset="0"/>
                <a:ea typeface="Calibri" pitchFamily="34" charset="-122"/>
                <a:cs typeface="Calibri" pitchFamily="34" charset="-120"/>
              </a:rPr>
              <a:t>PyCryptodome s'appuie sur les mêmes routines C compilées sur les deux OS. Le comportement binaire est identique quelle que soit la plateforme</a:t>
            </a:r>
            <a:r>
              <a:rPr lang="en-US" sz="950" dirty="0">
                <a:solidFill>
                  <a:srgbClr val="8892A4"/>
                </a:solidFill>
                <a:latin typeface="Calibri" pitchFamily="34" charset="0"/>
                <a:ea typeface="Calibri" pitchFamily="34" charset="-122"/>
                <a:cs typeface="Calibri" pitchFamily="34" charset="-120"/>
              </a:rPr>
              <a:t>.</a:t>
            </a:r>
            <a:endParaRPr lang="en-US" sz="950" dirty="0"/>
          </a:p>
        </p:txBody>
      </p:sp>
      <p:sp>
        <p:nvSpPr>
          <p:cNvPr id="22" name="Shape 13"/>
          <p:cNvSpPr/>
          <p:nvPr/>
        </p:nvSpPr>
        <p:spPr>
          <a:xfrm>
            <a:off x="7626096" y="320040"/>
            <a:ext cx="1115568" cy="329184"/>
          </a:xfrm>
          <a:prstGeom prst="roundRect">
            <a:avLst>
              <a:gd name="adj" fmla="val 22222"/>
            </a:avLst>
          </a:prstGeom>
          <a:solidFill>
            <a:srgbClr val="15082E">
              <a:alpha val="90000"/>
            </a:srgbClr>
          </a:solidFill>
          <a:ln w="9525">
            <a:solidFill>
              <a:srgbClr val="9B6DFF"/>
            </a:solidFill>
            <a:prstDash val="solid"/>
          </a:ln>
        </p:spPr>
        <p:txBody>
          <a:bodyPr/>
          <a:lstStyle/>
          <a:p>
            <a:endParaRPr lang="en-CA"/>
          </a:p>
        </p:txBody>
      </p:sp>
      <p:sp>
        <p:nvSpPr>
          <p:cNvPr id="23" name="Text 14"/>
          <p:cNvSpPr/>
          <p:nvPr/>
        </p:nvSpPr>
        <p:spPr>
          <a:xfrm>
            <a:off x="7626096" y="310896"/>
            <a:ext cx="1115568" cy="329184"/>
          </a:xfrm>
          <a:prstGeom prst="rect">
            <a:avLst/>
          </a:prstGeom>
          <a:noFill/>
          <a:ln/>
        </p:spPr>
        <p:txBody>
          <a:bodyPr wrap="square" lIns="0" tIns="0" rIns="0" bIns="0" rtlCol="0" anchor="ctr"/>
          <a:lstStyle/>
          <a:p>
            <a:pPr marL="0" indent="0" algn="ctr">
              <a:buNone/>
            </a:pPr>
            <a:r>
              <a:rPr lang="en-US" sz="950" b="1" dirty="0">
                <a:solidFill>
                  <a:srgbClr val="9B6DFF"/>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  Vidéo 1</a:t>
            </a:r>
            <a:endParaRPr lang="en-US" sz="950" dirty="0">
              <a:solidFill>
                <a:srgbClr val="9B6DFF"/>
              </a:solidFill>
            </a:endParaRPr>
          </a:p>
        </p:txBody>
      </p:sp>
      <p:sp>
        <p:nvSpPr>
          <p:cNvPr id="24" name="Text 15"/>
          <p:cNvSpPr/>
          <p:nvPr/>
        </p:nvSpPr>
        <p:spPr>
          <a:xfrm>
            <a:off x="1371600" y="4828032"/>
            <a:ext cx="6400800" cy="228600"/>
          </a:xfrm>
          <a:prstGeom prst="rect">
            <a:avLst/>
          </a:prstGeom>
          <a:noFill/>
          <a:ln/>
        </p:spPr>
        <p:txBody>
          <a:bodyPr wrap="square" rtlCol="0" anchor="ctr"/>
          <a:lstStyle/>
          <a:p>
            <a:pPr marL="0" indent="0" algn="ctr">
              <a:buNone/>
            </a:pPr>
            <a:r>
              <a:rPr lang="en-US" sz="850" b="1" kern="0" spc="100" dirty="0">
                <a:solidFill>
                  <a:srgbClr val="00F5FF"/>
                </a:solidFill>
                <a:latin typeface="Calibri" pitchFamily="34" charset="0"/>
                <a:ea typeface="Calibri" pitchFamily="34" charset="-122"/>
                <a:cs typeface="Calibri" pitchFamily="34" charset="-120"/>
              </a:rPr>
              <a:t>INF1430</a:t>
            </a:r>
            <a:r>
              <a:rPr lang="en-US" sz="850" kern="0" spc="100" dirty="0">
                <a:solidFill>
                  <a:srgbClr val="3A4A65"/>
                </a:solidFill>
                <a:latin typeface="Calibri" pitchFamily="34" charset="0"/>
                <a:ea typeface="Calibri" pitchFamily="34" charset="-122"/>
                <a:cs typeface="Calibri" pitchFamily="34" charset="-120"/>
              </a:rPr>
              <a:t>  ·  Université TÉLUQ  ·  TN3  ·  Melissa Moya  ·  2026</a:t>
            </a:r>
            <a:endParaRPr lang="en-US" sz="850" dirty="0"/>
          </a:p>
        </p:txBody>
      </p:sp>
      <p:sp>
        <p:nvSpPr>
          <p:cNvPr id="26" name="Shape 11">
            <a:extLst>
              <a:ext uri="{FF2B5EF4-FFF2-40B4-BE49-F238E27FC236}">
                <a16:creationId xmlns:a16="http://schemas.microsoft.com/office/drawing/2014/main" id="{053EB0BF-BB76-CA3E-2CE4-1A3EC6B66B96}"/>
              </a:ext>
            </a:extLst>
          </p:cNvPr>
          <p:cNvSpPr/>
          <p:nvPr/>
        </p:nvSpPr>
        <p:spPr>
          <a:xfrm>
            <a:off x="4966854" y="960120"/>
            <a:ext cx="3587357" cy="475488"/>
          </a:xfrm>
          <a:prstGeom prst="roundRect">
            <a:avLst>
              <a:gd name="adj" fmla="val 8571"/>
            </a:avLst>
          </a:prstGeom>
          <a:solidFill>
            <a:srgbClr val="071A2E">
              <a:alpha val="95000"/>
            </a:srgbClr>
          </a:solidFill>
          <a:ln w="9525">
            <a:solidFill>
              <a:srgbClr val="0D3D5C"/>
            </a:solidFill>
            <a:prstDash val="solid"/>
          </a:ln>
        </p:spPr>
        <p:txBody>
          <a:bodyPr/>
          <a:lstStyle/>
          <a:p>
            <a:endParaRPr lang="en-CA" dirty="0"/>
          </a:p>
        </p:txBody>
      </p:sp>
      <p:sp>
        <p:nvSpPr>
          <p:cNvPr id="30" name="Shape 10">
            <a:extLst>
              <a:ext uri="{FF2B5EF4-FFF2-40B4-BE49-F238E27FC236}">
                <a16:creationId xmlns:a16="http://schemas.microsoft.com/office/drawing/2014/main" id="{E93D9EFB-3A41-B46F-3803-523338BA2152}"/>
              </a:ext>
            </a:extLst>
          </p:cNvPr>
          <p:cNvSpPr/>
          <p:nvPr/>
        </p:nvSpPr>
        <p:spPr>
          <a:xfrm>
            <a:off x="4967823" y="2360661"/>
            <a:ext cx="3587357" cy="475488"/>
          </a:xfrm>
          <a:prstGeom prst="roundRect">
            <a:avLst>
              <a:gd name="adj" fmla="val 6863"/>
            </a:avLst>
          </a:prstGeom>
          <a:solidFill>
            <a:srgbClr val="100A22">
              <a:alpha val="90000"/>
            </a:srgbClr>
          </a:solidFill>
          <a:ln w="9525">
            <a:solidFill>
              <a:srgbClr val="2A1460"/>
            </a:solidFill>
            <a:prstDash val="solid"/>
          </a:ln>
        </p:spPr>
        <p:txBody>
          <a:bodyPr/>
          <a:lstStyle/>
          <a:p>
            <a:r>
              <a:rPr lang="fr-CA" dirty="0"/>
              <a:t>v</a:t>
            </a:r>
            <a:endParaRPr lang="en-CA" dirty="0"/>
          </a:p>
        </p:txBody>
      </p:sp>
      <p:sp>
        <p:nvSpPr>
          <p:cNvPr id="32" name="Shape 11">
            <a:extLst>
              <a:ext uri="{FF2B5EF4-FFF2-40B4-BE49-F238E27FC236}">
                <a16:creationId xmlns:a16="http://schemas.microsoft.com/office/drawing/2014/main" id="{81E323DE-61D2-EE6C-F646-7D5B96434B82}"/>
              </a:ext>
            </a:extLst>
          </p:cNvPr>
          <p:cNvSpPr/>
          <p:nvPr/>
        </p:nvSpPr>
        <p:spPr>
          <a:xfrm>
            <a:off x="4967824" y="1671102"/>
            <a:ext cx="3587357" cy="475488"/>
          </a:xfrm>
          <a:prstGeom prst="roundRect">
            <a:avLst>
              <a:gd name="adj" fmla="val 8571"/>
            </a:avLst>
          </a:prstGeom>
          <a:solidFill>
            <a:srgbClr val="071A2E">
              <a:alpha val="95000"/>
            </a:srgbClr>
          </a:solidFill>
          <a:ln w="9525">
            <a:solidFill>
              <a:srgbClr val="0D3D5C"/>
            </a:solidFill>
            <a:prstDash val="solid"/>
          </a:ln>
        </p:spPr>
        <p:txBody>
          <a:bodyPr/>
          <a:lstStyle/>
          <a:p>
            <a:endParaRPr lang="en-CA" dirty="0"/>
          </a:p>
        </p:txBody>
      </p:sp>
      <p:sp>
        <p:nvSpPr>
          <p:cNvPr id="34" name="Shape 10">
            <a:extLst>
              <a:ext uri="{FF2B5EF4-FFF2-40B4-BE49-F238E27FC236}">
                <a16:creationId xmlns:a16="http://schemas.microsoft.com/office/drawing/2014/main" id="{BC4BD089-94E3-5046-4A28-88F1B22EF568}"/>
              </a:ext>
            </a:extLst>
          </p:cNvPr>
          <p:cNvSpPr/>
          <p:nvPr/>
        </p:nvSpPr>
        <p:spPr>
          <a:xfrm>
            <a:off x="4966855" y="3051992"/>
            <a:ext cx="3587356" cy="475488"/>
          </a:xfrm>
          <a:prstGeom prst="roundRect">
            <a:avLst>
              <a:gd name="adj" fmla="val 6863"/>
            </a:avLst>
          </a:prstGeom>
          <a:solidFill>
            <a:srgbClr val="100A22">
              <a:alpha val="90000"/>
            </a:srgbClr>
          </a:solidFill>
          <a:ln w="9525">
            <a:solidFill>
              <a:srgbClr val="2A1460"/>
            </a:solidFill>
            <a:prstDash val="solid"/>
          </a:ln>
        </p:spPr>
        <p:txBody>
          <a:bodyPr/>
          <a:lstStyle/>
          <a:p>
            <a:r>
              <a:rPr lang="fr-CA" dirty="0"/>
              <a:t>v</a:t>
            </a:r>
            <a:endParaRPr lang="en-CA" dirty="0"/>
          </a:p>
        </p:txBody>
      </p:sp>
      <p:sp>
        <p:nvSpPr>
          <p:cNvPr id="36" name="Shape 11">
            <a:extLst>
              <a:ext uri="{FF2B5EF4-FFF2-40B4-BE49-F238E27FC236}">
                <a16:creationId xmlns:a16="http://schemas.microsoft.com/office/drawing/2014/main" id="{D2B038C9-C87D-BBFC-AA29-5889FED0EAD7}"/>
              </a:ext>
            </a:extLst>
          </p:cNvPr>
          <p:cNvSpPr/>
          <p:nvPr/>
        </p:nvSpPr>
        <p:spPr>
          <a:xfrm>
            <a:off x="4966854" y="3745666"/>
            <a:ext cx="3587358" cy="475488"/>
          </a:xfrm>
          <a:prstGeom prst="roundRect">
            <a:avLst>
              <a:gd name="adj" fmla="val 8571"/>
            </a:avLst>
          </a:prstGeom>
          <a:solidFill>
            <a:srgbClr val="0D1526"/>
          </a:solidFill>
          <a:ln w="9525">
            <a:solidFill>
              <a:srgbClr val="182336"/>
            </a:solidFill>
            <a:prstDash val="solid"/>
          </a:ln>
        </p:spPr>
        <p:txBody>
          <a:bodyPr/>
          <a:lstStyle/>
          <a:p>
            <a:endParaRPr lang="en-CA" dirty="0"/>
          </a:p>
        </p:txBody>
      </p:sp>
      <p:sp>
        <p:nvSpPr>
          <p:cNvPr id="38" name="Text 28">
            <a:extLst>
              <a:ext uri="{FF2B5EF4-FFF2-40B4-BE49-F238E27FC236}">
                <a16:creationId xmlns:a16="http://schemas.microsoft.com/office/drawing/2014/main" id="{49E0DAE3-B935-B2DC-E9D2-EA6BE819224E}"/>
              </a:ext>
            </a:extLst>
          </p:cNvPr>
          <p:cNvSpPr/>
          <p:nvPr/>
        </p:nvSpPr>
        <p:spPr>
          <a:xfrm>
            <a:off x="5107409" y="993996"/>
            <a:ext cx="1645920" cy="292608"/>
          </a:xfrm>
          <a:prstGeom prst="rect">
            <a:avLst/>
          </a:prstGeom>
          <a:noFill/>
          <a:ln/>
        </p:spPr>
        <p:txBody>
          <a:bodyPr wrap="square" lIns="0" tIns="0" rIns="0" bIns="0" rtlCol="0" anchor="ctr"/>
          <a:lstStyle/>
          <a:p>
            <a:pPr marL="0" indent="0">
              <a:buNone/>
            </a:pPr>
            <a:r>
              <a:rPr lang="en-US" sz="1100" b="1" dirty="0">
                <a:solidFill>
                  <a:srgbClr val="00F5FF"/>
                </a:solidFill>
                <a:latin typeface="Calibri" pitchFamily="34" charset="0"/>
                <a:cs typeface="Calibri" pitchFamily="34" charset="-120"/>
              </a:rPr>
              <a:t>experiment.py</a:t>
            </a:r>
            <a:endParaRPr lang="en-US" sz="1100" dirty="0"/>
          </a:p>
        </p:txBody>
      </p:sp>
      <p:sp>
        <p:nvSpPr>
          <p:cNvPr id="40" name="Text 28">
            <a:extLst>
              <a:ext uri="{FF2B5EF4-FFF2-40B4-BE49-F238E27FC236}">
                <a16:creationId xmlns:a16="http://schemas.microsoft.com/office/drawing/2014/main" id="{4A04C217-FD5C-2330-4871-6FADF8B6732F}"/>
              </a:ext>
            </a:extLst>
          </p:cNvPr>
          <p:cNvSpPr/>
          <p:nvPr/>
        </p:nvSpPr>
        <p:spPr>
          <a:xfrm>
            <a:off x="5107409" y="1711452"/>
            <a:ext cx="1645920" cy="292608"/>
          </a:xfrm>
          <a:prstGeom prst="rect">
            <a:avLst/>
          </a:prstGeom>
          <a:noFill/>
          <a:ln/>
        </p:spPr>
        <p:txBody>
          <a:bodyPr wrap="square" lIns="0" tIns="0" rIns="0" bIns="0" rtlCol="0" anchor="ctr"/>
          <a:lstStyle/>
          <a:p>
            <a:pPr marL="0" indent="0">
              <a:buNone/>
            </a:pPr>
            <a:r>
              <a:rPr lang="en-US" sz="1100" b="1" dirty="0">
                <a:solidFill>
                  <a:srgbClr val="00F5FF"/>
                </a:solidFill>
                <a:latin typeface="Calibri" pitchFamily="34" charset="0"/>
                <a:cs typeface="Calibri" pitchFamily="34" charset="-120"/>
              </a:rPr>
              <a:t>EncryptionEngine</a:t>
            </a:r>
            <a:endParaRPr lang="en-US" sz="1100" dirty="0"/>
          </a:p>
        </p:txBody>
      </p:sp>
      <p:sp>
        <p:nvSpPr>
          <p:cNvPr id="42" name="Text 28">
            <a:extLst>
              <a:ext uri="{FF2B5EF4-FFF2-40B4-BE49-F238E27FC236}">
                <a16:creationId xmlns:a16="http://schemas.microsoft.com/office/drawing/2014/main" id="{A69EF63A-1373-AF9A-B84F-64C31782A134}"/>
              </a:ext>
            </a:extLst>
          </p:cNvPr>
          <p:cNvSpPr/>
          <p:nvPr/>
        </p:nvSpPr>
        <p:spPr>
          <a:xfrm>
            <a:off x="5107409" y="2365974"/>
            <a:ext cx="1645920" cy="292608"/>
          </a:xfrm>
          <a:prstGeom prst="rect">
            <a:avLst/>
          </a:prstGeom>
          <a:noFill/>
          <a:ln/>
        </p:spPr>
        <p:txBody>
          <a:bodyPr wrap="square" lIns="0" tIns="0" rIns="0" bIns="0" rtlCol="0" anchor="ctr"/>
          <a:lstStyle/>
          <a:p>
            <a:pPr marL="0" indent="0">
              <a:buNone/>
            </a:pPr>
            <a:r>
              <a:rPr lang="en-US" sz="1100" b="1" dirty="0">
                <a:solidFill>
                  <a:srgbClr val="9266F1"/>
                </a:solidFill>
                <a:latin typeface="Calibri" pitchFamily="34" charset="0"/>
                <a:cs typeface="Calibri" pitchFamily="34" charset="-120"/>
              </a:rPr>
              <a:t>OperationMode</a:t>
            </a:r>
            <a:endParaRPr lang="en-US" sz="1100" dirty="0">
              <a:solidFill>
                <a:srgbClr val="9266F1"/>
              </a:solidFill>
            </a:endParaRPr>
          </a:p>
        </p:txBody>
      </p:sp>
      <p:sp>
        <p:nvSpPr>
          <p:cNvPr id="44" name="Text 28">
            <a:extLst>
              <a:ext uri="{FF2B5EF4-FFF2-40B4-BE49-F238E27FC236}">
                <a16:creationId xmlns:a16="http://schemas.microsoft.com/office/drawing/2014/main" id="{A49331C2-54A1-AFCD-59B0-CF9922300B08}"/>
              </a:ext>
            </a:extLst>
          </p:cNvPr>
          <p:cNvSpPr/>
          <p:nvPr/>
        </p:nvSpPr>
        <p:spPr>
          <a:xfrm>
            <a:off x="5107409" y="3067884"/>
            <a:ext cx="1645920" cy="292608"/>
          </a:xfrm>
          <a:prstGeom prst="rect">
            <a:avLst/>
          </a:prstGeom>
          <a:noFill/>
          <a:ln/>
        </p:spPr>
        <p:txBody>
          <a:bodyPr wrap="square" lIns="0" tIns="0" rIns="0" bIns="0" rtlCol="0" anchor="ctr"/>
          <a:lstStyle/>
          <a:p>
            <a:pPr marL="0" indent="0">
              <a:buNone/>
            </a:pPr>
            <a:r>
              <a:rPr lang="en-US" sz="1100" b="1" dirty="0">
                <a:solidFill>
                  <a:srgbClr val="9266F1"/>
                </a:solidFill>
                <a:latin typeface="Calibri" pitchFamily="34" charset="0"/>
                <a:cs typeface="Calibri" pitchFamily="34" charset="-120"/>
              </a:rPr>
              <a:t>CipherPrimitive</a:t>
            </a:r>
            <a:endParaRPr lang="en-US" sz="1100" dirty="0">
              <a:solidFill>
                <a:srgbClr val="9266F1"/>
              </a:solidFill>
            </a:endParaRPr>
          </a:p>
        </p:txBody>
      </p:sp>
      <p:sp>
        <p:nvSpPr>
          <p:cNvPr id="46" name="Text 28">
            <a:extLst>
              <a:ext uri="{FF2B5EF4-FFF2-40B4-BE49-F238E27FC236}">
                <a16:creationId xmlns:a16="http://schemas.microsoft.com/office/drawing/2014/main" id="{A9EB7807-D053-0DE0-D28F-1029B42E7470}"/>
              </a:ext>
            </a:extLst>
          </p:cNvPr>
          <p:cNvSpPr/>
          <p:nvPr/>
        </p:nvSpPr>
        <p:spPr>
          <a:xfrm>
            <a:off x="5107409" y="3730243"/>
            <a:ext cx="1645920" cy="292608"/>
          </a:xfrm>
          <a:prstGeom prst="rect">
            <a:avLst/>
          </a:prstGeom>
          <a:noFill/>
          <a:ln/>
        </p:spPr>
        <p:txBody>
          <a:bodyPr wrap="square" lIns="0" tIns="0" rIns="0" bIns="0" rtlCol="0" anchor="ctr"/>
          <a:lstStyle/>
          <a:p>
            <a:pPr marL="0" indent="0">
              <a:buNone/>
            </a:pPr>
            <a:r>
              <a:rPr lang="en-US" sz="1100" b="1" dirty="0">
                <a:solidFill>
                  <a:srgbClr val="3D506C"/>
                </a:solidFill>
                <a:latin typeface="Calibri" pitchFamily="34" charset="0"/>
                <a:cs typeface="Calibri" pitchFamily="34" charset="-120"/>
              </a:rPr>
              <a:t>PyCryptodome</a:t>
            </a:r>
            <a:endParaRPr lang="en-US" sz="1100" dirty="0">
              <a:solidFill>
                <a:srgbClr val="3D506C"/>
              </a:solidFill>
            </a:endParaRPr>
          </a:p>
        </p:txBody>
      </p:sp>
      <p:sp>
        <p:nvSpPr>
          <p:cNvPr id="48" name="Text 28">
            <a:extLst>
              <a:ext uri="{FF2B5EF4-FFF2-40B4-BE49-F238E27FC236}">
                <a16:creationId xmlns:a16="http://schemas.microsoft.com/office/drawing/2014/main" id="{725AB0E2-937B-C117-4447-732CCD8B19F8}"/>
              </a:ext>
            </a:extLst>
          </p:cNvPr>
          <p:cNvSpPr/>
          <p:nvPr/>
        </p:nvSpPr>
        <p:spPr>
          <a:xfrm>
            <a:off x="5115583" y="1161273"/>
            <a:ext cx="1645920" cy="292608"/>
          </a:xfrm>
          <a:prstGeom prst="rect">
            <a:avLst/>
          </a:prstGeom>
          <a:noFill/>
          <a:ln/>
        </p:spPr>
        <p:txBody>
          <a:bodyPr wrap="square" lIns="0" tIns="0" rIns="0" bIns="0" rtlCol="0" anchor="ctr"/>
          <a:lstStyle/>
          <a:p>
            <a:pPr marL="0" indent="0">
              <a:buNone/>
            </a:pPr>
            <a:r>
              <a:rPr lang="en-US" sz="1000" dirty="0">
                <a:solidFill>
                  <a:schemeClr val="tx1">
                    <a:lumMod val="50000"/>
                    <a:lumOff val="50000"/>
                  </a:schemeClr>
                </a:solidFill>
                <a:latin typeface="Calibri" pitchFamily="34" charset="0"/>
                <a:cs typeface="Calibri" pitchFamily="34" charset="-120"/>
              </a:rPr>
              <a:t>ExperimentController</a:t>
            </a:r>
            <a:endParaRPr lang="en-US" sz="1000" dirty="0">
              <a:solidFill>
                <a:schemeClr val="tx1">
                  <a:lumMod val="50000"/>
                  <a:lumOff val="50000"/>
                </a:schemeClr>
              </a:solidFill>
            </a:endParaRPr>
          </a:p>
        </p:txBody>
      </p:sp>
      <p:sp>
        <p:nvSpPr>
          <p:cNvPr id="50" name="Text 28">
            <a:extLst>
              <a:ext uri="{FF2B5EF4-FFF2-40B4-BE49-F238E27FC236}">
                <a16:creationId xmlns:a16="http://schemas.microsoft.com/office/drawing/2014/main" id="{9793EB6C-B49D-6B2D-3ECE-2B3F43CDC2CB}"/>
              </a:ext>
            </a:extLst>
          </p:cNvPr>
          <p:cNvSpPr/>
          <p:nvPr/>
        </p:nvSpPr>
        <p:spPr>
          <a:xfrm>
            <a:off x="5115583" y="1915290"/>
            <a:ext cx="1645920" cy="292608"/>
          </a:xfrm>
          <a:prstGeom prst="rect">
            <a:avLst/>
          </a:prstGeom>
          <a:noFill/>
          <a:ln/>
        </p:spPr>
        <p:txBody>
          <a:bodyPr wrap="square" lIns="0" tIns="0" rIns="0" bIns="0" rtlCol="0" anchor="ctr"/>
          <a:lstStyle/>
          <a:p>
            <a:pPr marL="0" indent="0">
              <a:buNone/>
            </a:pPr>
            <a:r>
              <a:rPr lang="en-US" sz="1000" dirty="0">
                <a:solidFill>
                  <a:schemeClr val="tx1">
                    <a:lumMod val="50000"/>
                    <a:lumOff val="50000"/>
                  </a:schemeClr>
                </a:solidFill>
                <a:latin typeface="Calibri" pitchFamily="34" charset="0"/>
                <a:cs typeface="Calibri" pitchFamily="34" charset="-120"/>
              </a:rPr>
              <a:t>Orchestration et délégation</a:t>
            </a:r>
            <a:endParaRPr lang="en-US" sz="1000" dirty="0">
              <a:solidFill>
                <a:schemeClr val="tx1">
                  <a:lumMod val="50000"/>
                  <a:lumOff val="50000"/>
                </a:schemeClr>
              </a:solidFill>
            </a:endParaRPr>
          </a:p>
        </p:txBody>
      </p:sp>
      <p:sp>
        <p:nvSpPr>
          <p:cNvPr id="52" name="Text 28">
            <a:extLst>
              <a:ext uri="{FF2B5EF4-FFF2-40B4-BE49-F238E27FC236}">
                <a16:creationId xmlns:a16="http://schemas.microsoft.com/office/drawing/2014/main" id="{521D31BB-CBD8-E476-8EA8-31532069A646}"/>
              </a:ext>
            </a:extLst>
          </p:cNvPr>
          <p:cNvSpPr/>
          <p:nvPr/>
        </p:nvSpPr>
        <p:spPr>
          <a:xfrm>
            <a:off x="5115582" y="2585095"/>
            <a:ext cx="2766546" cy="292608"/>
          </a:xfrm>
          <a:prstGeom prst="rect">
            <a:avLst/>
          </a:prstGeom>
          <a:noFill/>
          <a:ln/>
        </p:spPr>
        <p:txBody>
          <a:bodyPr wrap="square" lIns="0" tIns="0" rIns="0" bIns="0" rtlCol="0" anchor="ctr"/>
          <a:lstStyle/>
          <a:p>
            <a:pPr marL="0" indent="0">
              <a:buNone/>
            </a:pPr>
            <a:r>
              <a:rPr lang="en-US" sz="1000" dirty="0">
                <a:solidFill>
                  <a:schemeClr val="tx1">
                    <a:lumMod val="50000"/>
                    <a:lumOff val="50000"/>
                  </a:schemeClr>
                </a:solidFill>
                <a:latin typeface="Calibri" pitchFamily="34" charset="0"/>
                <a:cs typeface="Calibri" pitchFamily="34" charset="-120"/>
              </a:rPr>
              <a:t>ECB · CBC · CTR · GCM · StreamMode</a:t>
            </a:r>
            <a:endParaRPr lang="en-US" sz="1000" dirty="0">
              <a:solidFill>
                <a:schemeClr val="tx1">
                  <a:lumMod val="50000"/>
                  <a:lumOff val="50000"/>
                </a:schemeClr>
              </a:solidFill>
            </a:endParaRPr>
          </a:p>
        </p:txBody>
      </p:sp>
      <p:sp>
        <p:nvSpPr>
          <p:cNvPr id="54" name="Text 28">
            <a:extLst>
              <a:ext uri="{FF2B5EF4-FFF2-40B4-BE49-F238E27FC236}">
                <a16:creationId xmlns:a16="http://schemas.microsoft.com/office/drawing/2014/main" id="{4B30FB6C-11B6-CB18-61FC-B8C5DAF4C187}"/>
              </a:ext>
            </a:extLst>
          </p:cNvPr>
          <p:cNvSpPr/>
          <p:nvPr/>
        </p:nvSpPr>
        <p:spPr>
          <a:xfrm>
            <a:off x="5107409" y="3259509"/>
            <a:ext cx="2250418" cy="292608"/>
          </a:xfrm>
          <a:prstGeom prst="rect">
            <a:avLst/>
          </a:prstGeom>
          <a:noFill/>
          <a:ln/>
        </p:spPr>
        <p:txBody>
          <a:bodyPr wrap="square" lIns="0" tIns="0" rIns="0" bIns="0" rtlCol="0" anchor="ctr"/>
          <a:lstStyle/>
          <a:p>
            <a:r>
              <a:rPr lang="en-US" sz="1000" dirty="0">
                <a:solidFill>
                  <a:schemeClr val="tx1">
                    <a:lumMod val="50000"/>
                    <a:lumOff val="50000"/>
                  </a:schemeClr>
                </a:solidFill>
              </a:rPr>
              <a:t>AES </a:t>
            </a:r>
            <a:r>
              <a:rPr lang="en-US" sz="1000" dirty="0">
                <a:solidFill>
                  <a:schemeClr val="tx1">
                    <a:lumMod val="50000"/>
                    <a:lumOff val="50000"/>
                  </a:schemeClr>
                </a:solidFill>
                <a:latin typeface="Calibri" pitchFamily="34" charset="0"/>
                <a:cs typeface="Calibri" pitchFamily="34" charset="-120"/>
              </a:rPr>
              <a:t>·</a:t>
            </a:r>
            <a:r>
              <a:rPr lang="en-US" sz="1000" dirty="0">
                <a:solidFill>
                  <a:schemeClr val="tx1">
                    <a:lumMod val="50000"/>
                    <a:lumOff val="50000"/>
                  </a:schemeClr>
                </a:solidFill>
              </a:rPr>
              <a:t> DES </a:t>
            </a:r>
            <a:r>
              <a:rPr lang="en-US" sz="1000" dirty="0">
                <a:solidFill>
                  <a:schemeClr val="tx1">
                    <a:lumMod val="50000"/>
                    <a:lumOff val="50000"/>
                  </a:schemeClr>
                </a:solidFill>
                <a:latin typeface="Calibri" pitchFamily="34" charset="0"/>
                <a:cs typeface="Calibri" pitchFamily="34" charset="-120"/>
              </a:rPr>
              <a:t>·</a:t>
            </a:r>
            <a:r>
              <a:rPr lang="en-US" sz="1000" dirty="0">
                <a:solidFill>
                  <a:schemeClr val="tx1">
                    <a:lumMod val="50000"/>
                    <a:lumOff val="50000"/>
                  </a:schemeClr>
                </a:solidFill>
              </a:rPr>
              <a:t> 3DES </a:t>
            </a:r>
            <a:r>
              <a:rPr lang="en-US" sz="1000" dirty="0">
                <a:solidFill>
                  <a:schemeClr val="tx1">
                    <a:lumMod val="50000"/>
                    <a:lumOff val="50000"/>
                  </a:schemeClr>
                </a:solidFill>
                <a:latin typeface="Calibri" pitchFamily="34" charset="0"/>
                <a:cs typeface="Calibri" pitchFamily="34" charset="-120"/>
              </a:rPr>
              <a:t>·</a:t>
            </a:r>
            <a:r>
              <a:rPr lang="en-US" sz="1000" dirty="0">
                <a:solidFill>
                  <a:schemeClr val="tx1">
                    <a:lumMod val="50000"/>
                    <a:lumOff val="50000"/>
                  </a:schemeClr>
                </a:solidFill>
              </a:rPr>
              <a:t> Twofish </a:t>
            </a:r>
            <a:r>
              <a:rPr lang="en-US" sz="1000" dirty="0">
                <a:solidFill>
                  <a:schemeClr val="tx1">
                    <a:lumMod val="50000"/>
                    <a:lumOff val="50000"/>
                  </a:schemeClr>
                </a:solidFill>
                <a:latin typeface="Calibri" pitchFamily="34" charset="0"/>
                <a:cs typeface="Calibri" pitchFamily="34" charset="-120"/>
              </a:rPr>
              <a:t>·</a:t>
            </a:r>
            <a:r>
              <a:rPr lang="en-US" sz="1000" dirty="0">
                <a:solidFill>
                  <a:schemeClr val="tx1">
                    <a:lumMod val="50000"/>
                    <a:lumOff val="50000"/>
                  </a:schemeClr>
                </a:solidFill>
              </a:rPr>
              <a:t> ChaCha20</a:t>
            </a:r>
          </a:p>
        </p:txBody>
      </p:sp>
      <p:sp>
        <p:nvSpPr>
          <p:cNvPr id="56" name="Text 28">
            <a:extLst>
              <a:ext uri="{FF2B5EF4-FFF2-40B4-BE49-F238E27FC236}">
                <a16:creationId xmlns:a16="http://schemas.microsoft.com/office/drawing/2014/main" id="{350B21B3-F7D6-7568-8961-CA9E7188B600}"/>
              </a:ext>
            </a:extLst>
          </p:cNvPr>
          <p:cNvSpPr/>
          <p:nvPr/>
        </p:nvSpPr>
        <p:spPr>
          <a:xfrm>
            <a:off x="5107409" y="3952277"/>
            <a:ext cx="2250418" cy="292608"/>
          </a:xfrm>
          <a:prstGeom prst="rect">
            <a:avLst/>
          </a:prstGeom>
          <a:noFill/>
          <a:ln/>
        </p:spPr>
        <p:txBody>
          <a:bodyPr wrap="square" lIns="0" tIns="0" rIns="0" bIns="0" rtlCol="0" anchor="ctr"/>
          <a:lstStyle/>
          <a:p>
            <a:pPr marL="0" indent="0">
              <a:buNone/>
            </a:pPr>
            <a:r>
              <a:rPr lang="en-US" sz="1000" dirty="0">
                <a:solidFill>
                  <a:schemeClr val="tx1">
                    <a:lumMod val="50000"/>
                    <a:lumOff val="50000"/>
                  </a:schemeClr>
                </a:solidFill>
              </a:rPr>
              <a:t>Routines C compilées natives</a:t>
            </a:r>
          </a:p>
        </p:txBody>
      </p:sp>
      <p:cxnSp>
        <p:nvCxnSpPr>
          <p:cNvPr id="58" name="Straight Arrow Connector 57">
            <a:extLst>
              <a:ext uri="{FF2B5EF4-FFF2-40B4-BE49-F238E27FC236}">
                <a16:creationId xmlns:a16="http://schemas.microsoft.com/office/drawing/2014/main" id="{65DB5DA4-F34E-BE27-85C4-AD4C58078AF0}"/>
              </a:ext>
            </a:extLst>
          </p:cNvPr>
          <p:cNvCxnSpPr>
            <a:stCxn id="26" idx="2"/>
            <a:endCxn id="32" idx="0"/>
          </p:cNvCxnSpPr>
          <p:nvPr/>
        </p:nvCxnSpPr>
        <p:spPr>
          <a:xfrm>
            <a:off x="6760533" y="1435608"/>
            <a:ext cx="970" cy="235494"/>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821FC8D0-7419-0A73-F874-2A7869CBDF0E}"/>
              </a:ext>
            </a:extLst>
          </p:cNvPr>
          <p:cNvCxnSpPr>
            <a:cxnSpLocks/>
            <a:stCxn id="32" idx="2"/>
            <a:endCxn id="30" idx="0"/>
          </p:cNvCxnSpPr>
          <p:nvPr/>
        </p:nvCxnSpPr>
        <p:spPr>
          <a:xfrm flipH="1">
            <a:off x="6761502" y="2146590"/>
            <a:ext cx="1" cy="214071"/>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9EB762F1-B986-D34F-8A07-04C2BA56B182}"/>
              </a:ext>
            </a:extLst>
          </p:cNvPr>
          <p:cNvCxnSpPr>
            <a:cxnSpLocks/>
            <a:stCxn id="30" idx="2"/>
            <a:endCxn id="34" idx="0"/>
          </p:cNvCxnSpPr>
          <p:nvPr/>
        </p:nvCxnSpPr>
        <p:spPr>
          <a:xfrm flipH="1">
            <a:off x="6760533" y="2836149"/>
            <a:ext cx="969" cy="215843"/>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7C1455B3-48BB-4205-9F40-18179F1DFE3D}"/>
              </a:ext>
            </a:extLst>
          </p:cNvPr>
          <p:cNvCxnSpPr>
            <a:cxnSpLocks/>
            <a:stCxn id="34" idx="2"/>
            <a:endCxn id="36" idx="0"/>
          </p:cNvCxnSpPr>
          <p:nvPr/>
        </p:nvCxnSpPr>
        <p:spPr>
          <a:xfrm>
            <a:off x="6760533" y="3527480"/>
            <a:ext cx="0" cy="21818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Image 0" descr="preencoded.png">
            <a:extLst>
              <a:ext uri="{FF2B5EF4-FFF2-40B4-BE49-F238E27FC236}">
                <a16:creationId xmlns:a16="http://schemas.microsoft.com/office/drawing/2014/main" id="{08921C68-C8FB-8C57-C8FD-8771C16054F0}"/>
              </a:ext>
            </a:extLst>
          </p:cNvPr>
          <p:cNvPicPr>
            <a:picLocks noGrp="1" noRot="1" noChangeAspect="1" noMove="1" noResize="1" noEditPoints="1" noAdjustHandles="1" noChangeArrowheads="1" noChangeShapeType="1" noCrop="1"/>
          </p:cNvPicPr>
          <p:nvPr/>
        </p:nvPicPr>
        <p:blipFill>
          <a:blip r:embed="rId3"/>
          <a:stretch>
            <a:fillRect/>
          </a:stretch>
        </p:blipFill>
        <p:spPr>
          <a:xfrm>
            <a:off x="0" y="-17423"/>
            <a:ext cx="9144000" cy="5155485"/>
          </a:xfrm>
          <a:prstGeom prst="rect">
            <a:avLst/>
          </a:prstGeom>
        </p:spPr>
      </p:pic>
      <p:sp>
        <p:nvSpPr>
          <p:cNvPr id="58" name="Shape 25">
            <a:extLst>
              <a:ext uri="{FF2B5EF4-FFF2-40B4-BE49-F238E27FC236}">
                <a16:creationId xmlns:a16="http://schemas.microsoft.com/office/drawing/2014/main" id="{F555185C-2087-E73B-BE2F-09E94FC9B077}"/>
              </a:ext>
            </a:extLst>
          </p:cNvPr>
          <p:cNvSpPr/>
          <p:nvPr/>
        </p:nvSpPr>
        <p:spPr>
          <a:xfrm>
            <a:off x="5594743" y="2206474"/>
            <a:ext cx="3218688" cy="713232"/>
          </a:xfrm>
          <a:prstGeom prst="roundRect">
            <a:avLst>
              <a:gd name="adj" fmla="val 8333"/>
            </a:avLst>
          </a:prstGeom>
          <a:solidFill>
            <a:srgbClr val="060F1E"/>
          </a:solidFill>
          <a:ln w="9525">
            <a:solidFill>
              <a:srgbClr val="0D3D5C"/>
            </a:solidFill>
            <a:prstDash val="solid"/>
          </a:ln>
        </p:spPr>
        <p:txBody>
          <a:bodyPr/>
          <a:lstStyle/>
          <a:p>
            <a:endParaRPr lang="en-CA"/>
          </a:p>
        </p:txBody>
      </p:sp>
      <p:pic>
        <p:nvPicPr>
          <p:cNvPr id="3" name="Image 1" descr="preencoded.png"/>
          <p:cNvPicPr>
            <a:picLocks noChangeAspect="1"/>
          </p:cNvPicPr>
          <p:nvPr/>
        </p:nvPicPr>
        <p:blipFill>
          <a:blip r:embed="rId4"/>
          <a:stretch>
            <a:fillRect/>
          </a:stretch>
        </p:blipFill>
        <p:spPr>
          <a:xfrm>
            <a:off x="256032" y="201168"/>
            <a:ext cx="548640" cy="548640"/>
          </a:xfrm>
          <a:prstGeom prst="rect">
            <a:avLst/>
          </a:prstGeom>
        </p:spPr>
      </p:pic>
      <p:pic>
        <p:nvPicPr>
          <p:cNvPr id="4" name="Image 2" descr="preencoded.png"/>
          <p:cNvPicPr>
            <a:picLocks noChangeAspect="1"/>
          </p:cNvPicPr>
          <p:nvPr/>
        </p:nvPicPr>
        <p:blipFill>
          <a:blip r:embed="rId4"/>
          <a:stretch>
            <a:fillRect/>
          </a:stretch>
        </p:blipFill>
        <p:spPr>
          <a:xfrm flipH="1">
            <a:off x="8339328" y="201168"/>
            <a:ext cx="548640" cy="548640"/>
          </a:xfrm>
          <a:prstGeom prst="rect">
            <a:avLst/>
          </a:prstGeom>
        </p:spPr>
      </p:pic>
      <p:pic>
        <p:nvPicPr>
          <p:cNvPr id="5" name="Image 3" descr="preencoded.png"/>
          <p:cNvPicPr>
            <a:picLocks noChangeAspect="1"/>
          </p:cNvPicPr>
          <p:nvPr/>
        </p:nvPicPr>
        <p:blipFill>
          <a:blip r:embed="rId4"/>
          <a:stretch>
            <a:fillRect/>
          </a:stretch>
        </p:blipFill>
        <p:spPr>
          <a:xfrm flipV="1">
            <a:off x="256032" y="4393692"/>
            <a:ext cx="548640" cy="548640"/>
          </a:xfrm>
          <a:prstGeom prst="rect">
            <a:avLst/>
          </a:prstGeom>
        </p:spPr>
      </p:pic>
      <p:pic>
        <p:nvPicPr>
          <p:cNvPr id="6" name="Image 4" descr="preencoded.png"/>
          <p:cNvPicPr>
            <a:picLocks noChangeAspect="1"/>
          </p:cNvPicPr>
          <p:nvPr/>
        </p:nvPicPr>
        <p:blipFill>
          <a:blip r:embed="rId4"/>
          <a:stretch>
            <a:fillRect/>
          </a:stretch>
        </p:blipFill>
        <p:spPr>
          <a:xfrm flipH="1" flipV="1">
            <a:off x="8339328" y="4393692"/>
            <a:ext cx="548640" cy="548640"/>
          </a:xfrm>
          <a:prstGeom prst="rect">
            <a:avLst/>
          </a:prstGeom>
        </p:spPr>
      </p:pic>
      <p:pic>
        <p:nvPicPr>
          <p:cNvPr id="7" name="Image 5" descr="preencoded.png"/>
          <p:cNvPicPr>
            <a:picLocks noChangeAspect="1"/>
          </p:cNvPicPr>
          <p:nvPr/>
        </p:nvPicPr>
        <p:blipFill>
          <a:blip r:embed="rId5">
            <a:alphaModFix amt="80000"/>
          </a:blip>
          <a:stretch>
            <a:fillRect/>
          </a:stretch>
        </p:blipFill>
        <p:spPr>
          <a:xfrm>
            <a:off x="566928" y="256032"/>
            <a:ext cx="256032" cy="256032"/>
          </a:xfrm>
          <a:prstGeom prst="rect">
            <a:avLst/>
          </a:prstGeom>
        </p:spPr>
      </p:pic>
      <p:sp>
        <p:nvSpPr>
          <p:cNvPr id="8" name="Text 0"/>
          <p:cNvSpPr/>
          <p:nvPr/>
        </p:nvSpPr>
        <p:spPr>
          <a:xfrm>
            <a:off x="868680" y="256032"/>
            <a:ext cx="4572000" cy="274320"/>
          </a:xfrm>
          <a:prstGeom prst="rect">
            <a:avLst/>
          </a:prstGeom>
          <a:noFill/>
          <a:ln/>
        </p:spPr>
        <p:txBody>
          <a:bodyPr wrap="square" rtlCol="0" anchor="ctr"/>
          <a:lstStyle/>
          <a:p>
            <a:pPr marL="0" indent="0">
              <a:buNone/>
            </a:pPr>
            <a:r>
              <a:rPr lang="en-US" sz="1000" b="1" kern="0" spc="50" dirty="0">
                <a:solidFill>
                  <a:srgbClr val="9B6DFF"/>
                </a:solidFill>
                <a:latin typeface="Calibri" pitchFamily="34" charset="0"/>
                <a:ea typeface="Calibri" pitchFamily="34" charset="-122"/>
                <a:cs typeface="Calibri" pitchFamily="34" charset="-120"/>
              </a:rPr>
              <a:t>02  </a:t>
            </a:r>
            <a:r>
              <a:rPr lang="en-US" sz="1000" kern="0" spc="50" dirty="0">
                <a:solidFill>
                  <a:srgbClr val="8892A4"/>
                </a:solidFill>
                <a:latin typeface="Calibri" pitchFamily="34" charset="0"/>
                <a:ea typeface="Calibri" pitchFamily="34" charset="-122"/>
                <a:cs typeface="Calibri" pitchFamily="34" charset="-120"/>
              </a:rPr>
              <a:t>Protocole expérimental</a:t>
            </a:r>
            <a:endParaRPr lang="en-US" sz="1000" dirty="0"/>
          </a:p>
        </p:txBody>
      </p:sp>
      <p:sp>
        <p:nvSpPr>
          <p:cNvPr id="9" name="Text 1"/>
          <p:cNvSpPr/>
          <p:nvPr/>
        </p:nvSpPr>
        <p:spPr>
          <a:xfrm>
            <a:off x="566928" y="566928"/>
            <a:ext cx="5486400" cy="530352"/>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Protocole expérimental</a:t>
            </a:r>
            <a:endParaRPr lang="en-US" sz="2600" dirty="0"/>
          </a:p>
        </p:txBody>
      </p:sp>
      <p:sp>
        <p:nvSpPr>
          <p:cNvPr id="10" name="Shape 2"/>
          <p:cNvSpPr/>
          <p:nvPr/>
        </p:nvSpPr>
        <p:spPr>
          <a:xfrm>
            <a:off x="566928" y="1298448"/>
            <a:ext cx="4754880" cy="420624"/>
          </a:xfrm>
          <a:prstGeom prst="roundRect">
            <a:avLst>
              <a:gd name="adj" fmla="val 8696"/>
            </a:avLst>
          </a:prstGeom>
          <a:solidFill>
            <a:srgbClr val="0D1E35"/>
          </a:solidFill>
          <a:ln w="6350">
            <a:solidFill>
              <a:srgbClr val="1A3A55"/>
            </a:solidFill>
            <a:prstDash val="solid"/>
          </a:ln>
        </p:spPr>
        <p:txBody>
          <a:bodyPr/>
          <a:lstStyle/>
          <a:p>
            <a:endParaRPr lang="en-CA"/>
          </a:p>
        </p:txBody>
      </p:sp>
      <p:sp>
        <p:nvSpPr>
          <p:cNvPr id="11" name="Text 3"/>
          <p:cNvSpPr/>
          <p:nvPr/>
        </p:nvSpPr>
        <p:spPr>
          <a:xfrm>
            <a:off x="2029968" y="1298448"/>
            <a:ext cx="1645920" cy="420624"/>
          </a:xfrm>
          <a:prstGeom prst="rect">
            <a:avLst/>
          </a:prstGeom>
          <a:noFill/>
          <a:ln/>
        </p:spPr>
        <p:txBody>
          <a:bodyPr wrap="square" lIns="0" tIns="0" rIns="0" bIns="0" rtlCol="0" anchor="ctr"/>
          <a:lstStyle/>
          <a:p>
            <a:pPr marL="0" indent="0" algn="ctr">
              <a:buNone/>
            </a:pPr>
            <a:r>
              <a:rPr lang="en-US" sz="1050" b="1" dirty="0">
                <a:solidFill>
                  <a:srgbClr val="00F5FF"/>
                </a:solidFill>
                <a:latin typeface="Calibri" pitchFamily="34" charset="0"/>
                <a:ea typeface="Calibri" pitchFamily="34" charset="-122"/>
                <a:cs typeface="Calibri" pitchFamily="34" charset="-120"/>
              </a:rPr>
              <a:t>Ordinateur Portable x86</a:t>
            </a:r>
            <a:endParaRPr lang="en-US" sz="1050" dirty="0"/>
          </a:p>
        </p:txBody>
      </p:sp>
      <p:sp>
        <p:nvSpPr>
          <p:cNvPr id="12" name="Text 4"/>
          <p:cNvSpPr/>
          <p:nvPr/>
        </p:nvSpPr>
        <p:spPr>
          <a:xfrm>
            <a:off x="3675888" y="1298448"/>
            <a:ext cx="1645920" cy="420624"/>
          </a:xfrm>
          <a:prstGeom prst="rect">
            <a:avLst/>
          </a:prstGeom>
          <a:noFill/>
          <a:ln/>
        </p:spPr>
        <p:txBody>
          <a:bodyPr wrap="square" lIns="0" tIns="0" rIns="0" bIns="0" rtlCol="0" anchor="ctr"/>
          <a:lstStyle/>
          <a:p>
            <a:pPr marL="0" indent="0" algn="ctr">
              <a:buNone/>
            </a:pPr>
            <a:r>
              <a:rPr lang="en-US" sz="1050" b="1" dirty="0">
                <a:solidFill>
                  <a:srgbClr val="00F5FF"/>
                </a:solidFill>
                <a:latin typeface="Calibri" pitchFamily="34" charset="0"/>
                <a:ea typeface="Calibri" pitchFamily="34" charset="-122"/>
                <a:cs typeface="Calibri" pitchFamily="34" charset="-120"/>
              </a:rPr>
              <a:t>Raspberry Pi</a:t>
            </a:r>
            <a:endParaRPr lang="en-US" sz="1050" dirty="0"/>
          </a:p>
        </p:txBody>
      </p:sp>
      <p:sp>
        <p:nvSpPr>
          <p:cNvPr id="13" name="Shape 5"/>
          <p:cNvSpPr/>
          <p:nvPr/>
        </p:nvSpPr>
        <p:spPr>
          <a:xfrm>
            <a:off x="566928" y="1719072"/>
            <a:ext cx="4754880" cy="420624"/>
          </a:xfrm>
          <a:prstGeom prst="rect">
            <a:avLst/>
          </a:prstGeom>
          <a:solidFill>
            <a:srgbClr val="080D18"/>
          </a:solidFill>
          <a:ln w="6350">
            <a:solidFill>
              <a:srgbClr val="131F35"/>
            </a:solidFill>
            <a:prstDash val="solid"/>
          </a:ln>
        </p:spPr>
        <p:txBody>
          <a:bodyPr/>
          <a:lstStyle/>
          <a:p>
            <a:endParaRPr lang="en-CA"/>
          </a:p>
        </p:txBody>
      </p:sp>
      <p:sp>
        <p:nvSpPr>
          <p:cNvPr id="14" name="Text 6"/>
          <p:cNvSpPr/>
          <p:nvPr/>
        </p:nvSpPr>
        <p:spPr>
          <a:xfrm>
            <a:off x="694944" y="1719072"/>
            <a:ext cx="1335024" cy="420624"/>
          </a:xfrm>
          <a:prstGeom prst="rect">
            <a:avLst/>
          </a:prstGeom>
          <a:noFill/>
          <a:ln/>
        </p:spPr>
        <p:txBody>
          <a:bodyPr wrap="square" lIns="0" tIns="0" rIns="0" bIns="0" rtlCol="0" anchor="ctr"/>
          <a:lstStyle/>
          <a:p>
            <a:pPr marL="0" indent="0">
              <a:buNone/>
            </a:pPr>
            <a:r>
              <a:rPr lang="en-US" sz="1000" dirty="0">
                <a:solidFill>
                  <a:srgbClr val="8892A4"/>
                </a:solidFill>
                <a:latin typeface="Calibri" pitchFamily="34" charset="0"/>
                <a:ea typeface="Calibri" pitchFamily="34" charset="-122"/>
                <a:cs typeface="Calibri" pitchFamily="34" charset="-120"/>
              </a:rPr>
              <a:t>CPU</a:t>
            </a:r>
            <a:endParaRPr lang="en-US" sz="1000" dirty="0"/>
          </a:p>
        </p:txBody>
      </p:sp>
      <p:sp>
        <p:nvSpPr>
          <p:cNvPr id="15" name="Text 7"/>
          <p:cNvSpPr/>
          <p:nvPr/>
        </p:nvSpPr>
        <p:spPr>
          <a:xfrm>
            <a:off x="2029968" y="1719072"/>
            <a:ext cx="1645920" cy="420624"/>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Intel Core i5-10300H</a:t>
            </a:r>
            <a:endParaRPr lang="en-US" sz="1000" dirty="0"/>
          </a:p>
        </p:txBody>
      </p:sp>
      <p:sp>
        <p:nvSpPr>
          <p:cNvPr id="16" name="Text 8"/>
          <p:cNvSpPr/>
          <p:nvPr/>
        </p:nvSpPr>
        <p:spPr>
          <a:xfrm>
            <a:off x="3675888" y="1719072"/>
            <a:ext cx="1645920" cy="420624"/>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ARM Cortex-A72</a:t>
            </a:r>
            <a:endParaRPr lang="en-US" sz="1000" dirty="0"/>
          </a:p>
        </p:txBody>
      </p:sp>
      <p:sp>
        <p:nvSpPr>
          <p:cNvPr id="17" name="Shape 9"/>
          <p:cNvSpPr/>
          <p:nvPr/>
        </p:nvSpPr>
        <p:spPr>
          <a:xfrm>
            <a:off x="566928" y="2139696"/>
            <a:ext cx="4754880" cy="420624"/>
          </a:xfrm>
          <a:prstGeom prst="rect">
            <a:avLst/>
          </a:prstGeom>
          <a:solidFill>
            <a:srgbClr val="0A1020"/>
          </a:solidFill>
          <a:ln w="6350">
            <a:solidFill>
              <a:srgbClr val="131F35"/>
            </a:solidFill>
            <a:prstDash val="solid"/>
          </a:ln>
        </p:spPr>
        <p:txBody>
          <a:bodyPr/>
          <a:lstStyle/>
          <a:p>
            <a:endParaRPr lang="en-CA"/>
          </a:p>
        </p:txBody>
      </p:sp>
      <p:sp>
        <p:nvSpPr>
          <p:cNvPr id="18" name="Text 10"/>
          <p:cNvSpPr/>
          <p:nvPr/>
        </p:nvSpPr>
        <p:spPr>
          <a:xfrm>
            <a:off x="694944" y="2139696"/>
            <a:ext cx="1335024" cy="420624"/>
          </a:xfrm>
          <a:prstGeom prst="rect">
            <a:avLst/>
          </a:prstGeom>
          <a:noFill/>
          <a:ln/>
        </p:spPr>
        <p:txBody>
          <a:bodyPr wrap="square" lIns="0" tIns="0" rIns="0" bIns="0" rtlCol="0" anchor="ctr"/>
          <a:lstStyle/>
          <a:p>
            <a:pPr marL="0" indent="0">
              <a:buNone/>
            </a:pPr>
            <a:r>
              <a:rPr lang="en-US" sz="1000" dirty="0">
                <a:solidFill>
                  <a:srgbClr val="8892A4"/>
                </a:solidFill>
                <a:latin typeface="Calibri" pitchFamily="34" charset="0"/>
                <a:ea typeface="Calibri" pitchFamily="34" charset="-122"/>
                <a:cs typeface="Calibri" pitchFamily="34" charset="-120"/>
              </a:rPr>
              <a:t>OS</a:t>
            </a:r>
            <a:endParaRPr lang="en-US" sz="1000" dirty="0"/>
          </a:p>
        </p:txBody>
      </p:sp>
      <p:sp>
        <p:nvSpPr>
          <p:cNvPr id="19" name="Text 11"/>
          <p:cNvSpPr/>
          <p:nvPr/>
        </p:nvSpPr>
        <p:spPr>
          <a:xfrm>
            <a:off x="2029968" y="2139696"/>
            <a:ext cx="1645920" cy="420624"/>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Windows 11</a:t>
            </a:r>
            <a:endParaRPr lang="en-US" sz="1000" dirty="0"/>
          </a:p>
        </p:txBody>
      </p:sp>
      <p:sp>
        <p:nvSpPr>
          <p:cNvPr id="20" name="Text 12"/>
          <p:cNvSpPr/>
          <p:nvPr/>
        </p:nvSpPr>
        <p:spPr>
          <a:xfrm>
            <a:off x="3675888" y="2139696"/>
            <a:ext cx="1645920" cy="420624"/>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Raspberry Pi OS</a:t>
            </a:r>
            <a:endParaRPr lang="en-US" sz="1000" dirty="0"/>
          </a:p>
        </p:txBody>
      </p:sp>
      <p:sp>
        <p:nvSpPr>
          <p:cNvPr id="21" name="Shape 13"/>
          <p:cNvSpPr/>
          <p:nvPr/>
        </p:nvSpPr>
        <p:spPr>
          <a:xfrm>
            <a:off x="566928" y="2560320"/>
            <a:ext cx="4754880" cy="420624"/>
          </a:xfrm>
          <a:prstGeom prst="rect">
            <a:avLst/>
          </a:prstGeom>
          <a:solidFill>
            <a:srgbClr val="071F0F"/>
          </a:solidFill>
          <a:ln w="6350">
            <a:solidFill>
              <a:srgbClr val="0F3820"/>
            </a:solidFill>
            <a:prstDash val="solid"/>
          </a:ln>
        </p:spPr>
        <p:txBody>
          <a:bodyPr/>
          <a:lstStyle/>
          <a:p>
            <a:endParaRPr lang="en-CA"/>
          </a:p>
        </p:txBody>
      </p:sp>
      <p:sp>
        <p:nvSpPr>
          <p:cNvPr id="22" name="Text 14"/>
          <p:cNvSpPr/>
          <p:nvPr/>
        </p:nvSpPr>
        <p:spPr>
          <a:xfrm>
            <a:off x="694944" y="2560320"/>
            <a:ext cx="1335024" cy="420624"/>
          </a:xfrm>
          <a:prstGeom prst="rect">
            <a:avLst/>
          </a:prstGeom>
          <a:noFill/>
          <a:ln/>
        </p:spPr>
        <p:txBody>
          <a:bodyPr wrap="square" lIns="0" tIns="0" rIns="0" bIns="0" rtlCol="0" anchor="ctr"/>
          <a:lstStyle/>
          <a:p>
            <a:pPr marL="0" indent="0">
              <a:buNone/>
            </a:pPr>
            <a:r>
              <a:rPr lang="en-US" sz="1000" b="1" dirty="0">
                <a:solidFill>
                  <a:srgbClr val="5EFFA0"/>
                </a:solidFill>
                <a:latin typeface="Calibri" pitchFamily="34" charset="0"/>
                <a:ea typeface="Calibri" pitchFamily="34" charset="-122"/>
                <a:cs typeface="Calibri" pitchFamily="34" charset="-120"/>
              </a:rPr>
              <a:t>AES-NI</a:t>
            </a:r>
            <a:endParaRPr lang="en-US" sz="1000" dirty="0"/>
          </a:p>
        </p:txBody>
      </p:sp>
      <p:sp>
        <p:nvSpPr>
          <p:cNvPr id="23" name="Text 15"/>
          <p:cNvSpPr/>
          <p:nvPr/>
        </p:nvSpPr>
        <p:spPr>
          <a:xfrm>
            <a:off x="2029968" y="2560320"/>
            <a:ext cx="1645920" cy="420624"/>
          </a:xfrm>
          <a:prstGeom prst="rect">
            <a:avLst/>
          </a:prstGeom>
          <a:noFill/>
          <a:ln/>
        </p:spPr>
        <p:txBody>
          <a:bodyPr wrap="square" lIns="0" tIns="0" rIns="0" bIns="0" rtlCol="0" anchor="ctr"/>
          <a:lstStyle/>
          <a:p>
            <a:pPr marL="0" indent="0" algn="ctr">
              <a:buNone/>
            </a:pPr>
            <a:r>
              <a:rPr lang="en-US" sz="1000" b="1" dirty="0">
                <a:solidFill>
                  <a:srgbClr val="4DFFA0"/>
                </a:solidFill>
                <a:latin typeface="Calibri" pitchFamily="34" charset="0"/>
                <a:ea typeface="Calibri" pitchFamily="34" charset="-122"/>
                <a:cs typeface="Calibri" pitchFamily="34" charset="-120"/>
              </a:rPr>
              <a:t>✓  Oui</a:t>
            </a:r>
            <a:endParaRPr lang="en-US" sz="1000" dirty="0"/>
          </a:p>
        </p:txBody>
      </p:sp>
      <p:sp>
        <p:nvSpPr>
          <p:cNvPr id="24" name="Text 16"/>
          <p:cNvSpPr/>
          <p:nvPr/>
        </p:nvSpPr>
        <p:spPr>
          <a:xfrm>
            <a:off x="3675888" y="2560320"/>
            <a:ext cx="1645920" cy="420624"/>
          </a:xfrm>
          <a:prstGeom prst="rect">
            <a:avLst/>
          </a:prstGeom>
          <a:no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  Non</a:t>
            </a:r>
            <a:endParaRPr lang="en-US" sz="1000" dirty="0">
              <a:solidFill>
                <a:schemeClr val="bg1"/>
              </a:solidFill>
            </a:endParaRPr>
          </a:p>
        </p:txBody>
      </p:sp>
      <p:sp>
        <p:nvSpPr>
          <p:cNvPr id="25" name="Shape 17"/>
          <p:cNvSpPr/>
          <p:nvPr/>
        </p:nvSpPr>
        <p:spPr>
          <a:xfrm>
            <a:off x="566928" y="2980944"/>
            <a:ext cx="4754880" cy="420624"/>
          </a:xfrm>
          <a:prstGeom prst="rect">
            <a:avLst/>
          </a:prstGeom>
          <a:solidFill>
            <a:srgbClr val="0A1020"/>
          </a:solidFill>
          <a:ln w="6350">
            <a:solidFill>
              <a:srgbClr val="131F35"/>
            </a:solidFill>
            <a:prstDash val="solid"/>
          </a:ln>
        </p:spPr>
        <p:txBody>
          <a:bodyPr/>
          <a:lstStyle/>
          <a:p>
            <a:endParaRPr lang="en-CA"/>
          </a:p>
        </p:txBody>
      </p:sp>
      <p:sp>
        <p:nvSpPr>
          <p:cNvPr id="26" name="Text 18"/>
          <p:cNvSpPr/>
          <p:nvPr/>
        </p:nvSpPr>
        <p:spPr>
          <a:xfrm>
            <a:off x="694944" y="2980944"/>
            <a:ext cx="1335024" cy="420624"/>
          </a:xfrm>
          <a:prstGeom prst="rect">
            <a:avLst/>
          </a:prstGeom>
          <a:noFill/>
          <a:ln/>
        </p:spPr>
        <p:txBody>
          <a:bodyPr wrap="square" lIns="0" tIns="0" rIns="0" bIns="0" rtlCol="0" anchor="ctr"/>
          <a:lstStyle/>
          <a:p>
            <a:pPr marL="0" indent="0">
              <a:buNone/>
            </a:pPr>
            <a:r>
              <a:rPr lang="en-US" sz="1000" dirty="0">
                <a:solidFill>
                  <a:srgbClr val="8892A4"/>
                </a:solidFill>
                <a:latin typeface="Calibri" pitchFamily="34" charset="0"/>
                <a:ea typeface="Calibri" pitchFamily="34" charset="-122"/>
                <a:cs typeface="Calibri" pitchFamily="34" charset="-120"/>
              </a:rPr>
              <a:t>RAM</a:t>
            </a:r>
            <a:endParaRPr lang="en-US" sz="1000" dirty="0"/>
          </a:p>
        </p:txBody>
      </p:sp>
      <p:sp>
        <p:nvSpPr>
          <p:cNvPr id="27" name="Text 19"/>
          <p:cNvSpPr/>
          <p:nvPr/>
        </p:nvSpPr>
        <p:spPr>
          <a:xfrm>
            <a:off x="2029968" y="2980944"/>
            <a:ext cx="1645920" cy="420624"/>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~16 Go</a:t>
            </a:r>
            <a:endParaRPr lang="en-US" sz="1000" dirty="0"/>
          </a:p>
        </p:txBody>
      </p:sp>
      <p:sp>
        <p:nvSpPr>
          <p:cNvPr id="28" name="Text 20"/>
          <p:cNvSpPr/>
          <p:nvPr/>
        </p:nvSpPr>
        <p:spPr>
          <a:xfrm>
            <a:off x="3675888" y="2980944"/>
            <a:ext cx="1645920" cy="420624"/>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4 Go</a:t>
            </a:r>
            <a:endParaRPr lang="en-US" sz="1000" dirty="0"/>
          </a:p>
        </p:txBody>
      </p:sp>
      <p:sp>
        <p:nvSpPr>
          <p:cNvPr id="29" name="Shape 21"/>
          <p:cNvSpPr/>
          <p:nvPr/>
        </p:nvSpPr>
        <p:spPr>
          <a:xfrm>
            <a:off x="566928" y="3401568"/>
            <a:ext cx="4754880" cy="420624"/>
          </a:xfrm>
          <a:prstGeom prst="rect">
            <a:avLst/>
          </a:prstGeom>
          <a:solidFill>
            <a:srgbClr val="080D18"/>
          </a:solidFill>
          <a:ln w="6350">
            <a:solidFill>
              <a:srgbClr val="131F35"/>
            </a:solidFill>
            <a:prstDash val="solid"/>
          </a:ln>
        </p:spPr>
        <p:txBody>
          <a:bodyPr/>
          <a:lstStyle/>
          <a:p>
            <a:endParaRPr lang="en-CA"/>
          </a:p>
        </p:txBody>
      </p:sp>
      <p:sp>
        <p:nvSpPr>
          <p:cNvPr id="30" name="Text 22"/>
          <p:cNvSpPr/>
          <p:nvPr/>
        </p:nvSpPr>
        <p:spPr>
          <a:xfrm>
            <a:off x="694944" y="3401568"/>
            <a:ext cx="1335024" cy="420624"/>
          </a:xfrm>
          <a:prstGeom prst="rect">
            <a:avLst/>
          </a:prstGeom>
          <a:noFill/>
          <a:ln/>
        </p:spPr>
        <p:txBody>
          <a:bodyPr wrap="square" lIns="0" tIns="0" rIns="0" bIns="0" rtlCol="0" anchor="ctr"/>
          <a:lstStyle/>
          <a:p>
            <a:pPr marL="0" indent="0">
              <a:buNone/>
            </a:pPr>
            <a:r>
              <a:rPr lang="en-US" sz="1000" dirty="0">
                <a:solidFill>
                  <a:srgbClr val="8892A4"/>
                </a:solidFill>
                <a:latin typeface="Calibri" pitchFamily="34" charset="0"/>
                <a:ea typeface="Calibri" pitchFamily="34" charset="-122"/>
                <a:cs typeface="Calibri" pitchFamily="34" charset="-120"/>
              </a:rPr>
              <a:t>Contexte</a:t>
            </a:r>
            <a:endParaRPr lang="en-US" sz="1000" dirty="0"/>
          </a:p>
        </p:txBody>
      </p:sp>
      <p:sp>
        <p:nvSpPr>
          <p:cNvPr id="31" name="Text 23"/>
          <p:cNvSpPr/>
          <p:nvPr/>
        </p:nvSpPr>
        <p:spPr>
          <a:xfrm>
            <a:off x="2029968" y="3401568"/>
            <a:ext cx="1645920" cy="420624"/>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Multitâche</a:t>
            </a:r>
            <a:endParaRPr lang="en-US" sz="1000" dirty="0"/>
          </a:p>
        </p:txBody>
      </p:sp>
      <p:sp>
        <p:nvSpPr>
          <p:cNvPr id="32" name="Text 24"/>
          <p:cNvSpPr/>
          <p:nvPr/>
        </p:nvSpPr>
        <p:spPr>
          <a:xfrm>
            <a:off x="3675888" y="3401568"/>
            <a:ext cx="1645920" cy="420624"/>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Minimaliste</a:t>
            </a:r>
            <a:endParaRPr lang="en-US" sz="1000" dirty="0"/>
          </a:p>
        </p:txBody>
      </p:sp>
      <p:sp>
        <p:nvSpPr>
          <p:cNvPr id="33" name="Shape 25"/>
          <p:cNvSpPr/>
          <p:nvPr/>
        </p:nvSpPr>
        <p:spPr>
          <a:xfrm>
            <a:off x="5596128" y="1298448"/>
            <a:ext cx="3218688" cy="731520"/>
          </a:xfrm>
          <a:prstGeom prst="roundRect">
            <a:avLst>
              <a:gd name="adj" fmla="val 8333"/>
            </a:avLst>
          </a:prstGeom>
          <a:solidFill>
            <a:srgbClr val="060F1E"/>
          </a:solidFill>
          <a:ln w="9525">
            <a:solidFill>
              <a:srgbClr val="0D3D5C"/>
            </a:solidFill>
            <a:prstDash val="solid"/>
          </a:ln>
        </p:spPr>
        <p:txBody>
          <a:bodyPr/>
          <a:lstStyle/>
          <a:p>
            <a:endParaRPr lang="en-CA"/>
          </a:p>
        </p:txBody>
      </p:sp>
      <p:sp>
        <p:nvSpPr>
          <p:cNvPr id="34" name="Text 26"/>
          <p:cNvSpPr/>
          <p:nvPr/>
        </p:nvSpPr>
        <p:spPr>
          <a:xfrm>
            <a:off x="5982808" y="1341398"/>
            <a:ext cx="337774" cy="621792"/>
          </a:xfrm>
          <a:prstGeom prst="rect">
            <a:avLst/>
          </a:prstGeom>
          <a:noFill/>
          <a:ln/>
        </p:spPr>
        <p:txBody>
          <a:bodyPr wrap="square" lIns="0" tIns="0" rIns="0" bIns="0" rtlCol="0" anchor="ctr"/>
          <a:lstStyle/>
          <a:p>
            <a:pPr marL="0" indent="0">
              <a:buNone/>
            </a:pPr>
            <a:r>
              <a:rPr lang="en-US" sz="3200" b="1" dirty="0">
                <a:solidFill>
                  <a:srgbClr val="00F5FF"/>
                </a:solidFill>
                <a:latin typeface="Calibri" pitchFamily="34" charset="0"/>
                <a:ea typeface="Calibri" pitchFamily="34" charset="-122"/>
                <a:cs typeface="Calibri" pitchFamily="34" charset="-120"/>
              </a:rPr>
              <a:t>5</a:t>
            </a:r>
            <a:endParaRPr lang="en-US" sz="3200" dirty="0"/>
          </a:p>
        </p:txBody>
      </p:sp>
      <p:sp>
        <p:nvSpPr>
          <p:cNvPr id="35" name="Shape 27"/>
          <p:cNvSpPr/>
          <p:nvPr/>
        </p:nvSpPr>
        <p:spPr>
          <a:xfrm>
            <a:off x="6830568" y="1426464"/>
            <a:ext cx="0" cy="438912"/>
          </a:xfrm>
          <a:prstGeom prst="line">
            <a:avLst/>
          </a:prstGeom>
          <a:noFill/>
          <a:ln w="9525">
            <a:solidFill>
              <a:srgbClr val="0D3D5C"/>
            </a:solidFill>
            <a:prstDash val="solid"/>
          </a:ln>
        </p:spPr>
        <p:txBody>
          <a:bodyPr/>
          <a:lstStyle/>
          <a:p>
            <a:endParaRPr lang="en-CA"/>
          </a:p>
        </p:txBody>
      </p:sp>
      <p:sp>
        <p:nvSpPr>
          <p:cNvPr id="36" name="Text 28"/>
          <p:cNvSpPr/>
          <p:nvPr/>
        </p:nvSpPr>
        <p:spPr>
          <a:xfrm>
            <a:off x="6986016" y="1353312"/>
            <a:ext cx="1645920" cy="292608"/>
          </a:xfrm>
          <a:prstGeom prst="rect">
            <a:avLst/>
          </a:prstGeom>
          <a:noFill/>
          <a:ln/>
        </p:spPr>
        <p:txBody>
          <a:bodyPr wrap="square" lIns="0" tIns="0" rIns="0" bIns="0" rtlCol="0" anchor="ctr"/>
          <a:lstStyle/>
          <a:p>
            <a:pPr marL="0" indent="0">
              <a:buNone/>
            </a:pPr>
            <a:r>
              <a:rPr lang="en-US" sz="1100" b="1" dirty="0">
                <a:solidFill>
                  <a:srgbClr val="00F5FF"/>
                </a:solidFill>
                <a:latin typeface="Calibri" pitchFamily="34" charset="0"/>
                <a:ea typeface="Calibri" pitchFamily="34" charset="-122"/>
                <a:cs typeface="Calibri" pitchFamily="34" charset="-120"/>
              </a:rPr>
              <a:t>algorithmes</a:t>
            </a:r>
            <a:endParaRPr lang="en-US" sz="1100" dirty="0"/>
          </a:p>
        </p:txBody>
      </p:sp>
      <p:sp>
        <p:nvSpPr>
          <p:cNvPr id="37" name="Text 29"/>
          <p:cNvSpPr/>
          <p:nvPr/>
        </p:nvSpPr>
        <p:spPr>
          <a:xfrm>
            <a:off x="6986016" y="1645920"/>
            <a:ext cx="1828800" cy="329184"/>
          </a:xfrm>
          <a:prstGeom prst="rect">
            <a:avLst/>
          </a:prstGeom>
          <a:noFill/>
          <a:ln/>
        </p:spPr>
        <p:txBody>
          <a:bodyPr wrap="square" lIns="0" tIns="0" rIns="0" bIns="0" rtlCol="0" anchor="ctr"/>
          <a:lstStyle/>
          <a:p>
            <a:pPr marL="0" indent="0">
              <a:buNone/>
            </a:pPr>
            <a:r>
              <a:rPr lang="en-US" sz="900" i="1" dirty="0">
                <a:solidFill>
                  <a:srgbClr val="8892A4"/>
                </a:solidFill>
                <a:latin typeface="Calibri" pitchFamily="34" charset="0"/>
                <a:ea typeface="Calibri" pitchFamily="34" charset="-122"/>
                <a:cs typeface="Calibri" pitchFamily="34" charset="-120"/>
              </a:rPr>
              <a:t>AES · DES · 3DES · Twofish · ChaCha20</a:t>
            </a:r>
            <a:endParaRPr lang="en-US" sz="900" dirty="0"/>
          </a:p>
        </p:txBody>
      </p:sp>
      <p:sp>
        <p:nvSpPr>
          <p:cNvPr id="42" name="Text 34"/>
          <p:cNvSpPr/>
          <p:nvPr/>
        </p:nvSpPr>
        <p:spPr>
          <a:xfrm>
            <a:off x="6967728" y="2468880"/>
            <a:ext cx="1645920" cy="329184"/>
          </a:xfrm>
          <a:prstGeom prst="rect">
            <a:avLst/>
          </a:prstGeom>
          <a:noFill/>
          <a:ln/>
        </p:spPr>
        <p:txBody>
          <a:bodyPr wrap="square" lIns="0" tIns="0" rIns="0" bIns="0" rtlCol="0" anchor="ctr"/>
          <a:lstStyle/>
          <a:p>
            <a:pPr marL="0" indent="0">
              <a:buNone/>
            </a:pPr>
            <a:r>
              <a:rPr lang="en-US" sz="900" i="1" dirty="0">
                <a:solidFill>
                  <a:srgbClr val="8892A4"/>
                </a:solidFill>
                <a:latin typeface="Calibri" pitchFamily="34" charset="0"/>
                <a:ea typeface="Calibri" pitchFamily="34" charset="-122"/>
                <a:cs typeface="Calibri" pitchFamily="34" charset="-120"/>
              </a:rPr>
              <a:t>tailles : 64 octets → 16 384 octets</a:t>
            </a:r>
            <a:endParaRPr lang="en-US" sz="900" dirty="0"/>
          </a:p>
        </p:txBody>
      </p:sp>
      <p:sp>
        <p:nvSpPr>
          <p:cNvPr id="43" name="Shape 35"/>
          <p:cNvSpPr/>
          <p:nvPr/>
        </p:nvSpPr>
        <p:spPr>
          <a:xfrm>
            <a:off x="5596128" y="3108682"/>
            <a:ext cx="3218688" cy="719606"/>
          </a:xfrm>
          <a:prstGeom prst="roundRect">
            <a:avLst>
              <a:gd name="adj" fmla="val 8333"/>
            </a:avLst>
          </a:prstGeom>
          <a:solidFill>
            <a:srgbClr val="060F1E"/>
          </a:solidFill>
          <a:ln w="9525">
            <a:solidFill>
              <a:srgbClr val="0D3D5C"/>
            </a:solidFill>
            <a:prstDash val="solid"/>
          </a:ln>
        </p:spPr>
        <p:txBody>
          <a:bodyPr/>
          <a:lstStyle/>
          <a:p>
            <a:endParaRPr lang="en-CA"/>
          </a:p>
        </p:txBody>
      </p:sp>
      <p:sp>
        <p:nvSpPr>
          <p:cNvPr id="44" name="Text 36"/>
          <p:cNvSpPr/>
          <p:nvPr/>
        </p:nvSpPr>
        <p:spPr>
          <a:xfrm>
            <a:off x="5824729" y="3157450"/>
            <a:ext cx="777239" cy="621792"/>
          </a:xfrm>
          <a:prstGeom prst="rect">
            <a:avLst/>
          </a:prstGeom>
          <a:noFill/>
          <a:ln/>
        </p:spPr>
        <p:txBody>
          <a:bodyPr wrap="square" lIns="0" tIns="0" rIns="0" bIns="0" rtlCol="0" anchor="ctr"/>
          <a:lstStyle/>
          <a:p>
            <a:pPr marL="0" indent="0">
              <a:buNone/>
            </a:pPr>
            <a:r>
              <a:rPr lang="en-US" sz="3200" b="1" dirty="0">
                <a:solidFill>
                  <a:srgbClr val="00F5FF"/>
                </a:solidFill>
                <a:latin typeface="Calibri" pitchFamily="34" charset="0"/>
                <a:ea typeface="Calibri" pitchFamily="34" charset="-122"/>
                <a:cs typeface="Calibri" pitchFamily="34" charset="-120"/>
              </a:rPr>
              <a:t>100</a:t>
            </a:r>
            <a:endParaRPr lang="en-US" sz="3200" dirty="0"/>
          </a:p>
        </p:txBody>
      </p:sp>
      <p:sp>
        <p:nvSpPr>
          <p:cNvPr id="45" name="Shape 37"/>
          <p:cNvSpPr/>
          <p:nvPr/>
        </p:nvSpPr>
        <p:spPr>
          <a:xfrm>
            <a:off x="6830568" y="3291840"/>
            <a:ext cx="0" cy="438912"/>
          </a:xfrm>
          <a:prstGeom prst="line">
            <a:avLst/>
          </a:prstGeom>
          <a:noFill/>
          <a:ln w="9525">
            <a:solidFill>
              <a:srgbClr val="0D3D5C"/>
            </a:solidFill>
            <a:prstDash val="solid"/>
          </a:ln>
        </p:spPr>
        <p:txBody>
          <a:bodyPr/>
          <a:lstStyle/>
          <a:p>
            <a:endParaRPr lang="en-CA"/>
          </a:p>
        </p:txBody>
      </p:sp>
      <p:sp>
        <p:nvSpPr>
          <p:cNvPr id="46" name="Text 38"/>
          <p:cNvSpPr/>
          <p:nvPr/>
        </p:nvSpPr>
        <p:spPr>
          <a:xfrm>
            <a:off x="6986016" y="3218688"/>
            <a:ext cx="1645920" cy="292608"/>
          </a:xfrm>
          <a:prstGeom prst="rect">
            <a:avLst/>
          </a:prstGeom>
          <a:noFill/>
          <a:ln/>
        </p:spPr>
        <p:txBody>
          <a:bodyPr wrap="square" lIns="0" tIns="0" rIns="0" bIns="0" rtlCol="0" anchor="ctr"/>
          <a:lstStyle/>
          <a:p>
            <a:pPr marL="0" indent="0">
              <a:buNone/>
            </a:pPr>
            <a:r>
              <a:rPr lang="en-US" sz="1100" b="1" dirty="0">
                <a:solidFill>
                  <a:srgbClr val="00F5FF"/>
                </a:solidFill>
                <a:latin typeface="Calibri" pitchFamily="34" charset="0"/>
                <a:ea typeface="Calibri" pitchFamily="34" charset="-122"/>
                <a:cs typeface="Calibri" pitchFamily="34" charset="-120"/>
              </a:rPr>
              <a:t>répétitions</a:t>
            </a:r>
            <a:endParaRPr lang="en-US" sz="1100" dirty="0"/>
          </a:p>
        </p:txBody>
      </p:sp>
      <p:sp>
        <p:nvSpPr>
          <p:cNvPr id="47" name="Text 39"/>
          <p:cNvSpPr/>
          <p:nvPr/>
        </p:nvSpPr>
        <p:spPr>
          <a:xfrm>
            <a:off x="6986016" y="3419717"/>
            <a:ext cx="1645920" cy="329184"/>
          </a:xfrm>
          <a:prstGeom prst="rect">
            <a:avLst/>
          </a:prstGeom>
          <a:noFill/>
          <a:ln/>
        </p:spPr>
        <p:txBody>
          <a:bodyPr wrap="square" lIns="0" tIns="0" rIns="0" bIns="0" rtlCol="0" anchor="ctr"/>
          <a:lstStyle/>
          <a:p>
            <a:pPr marL="0" indent="0">
              <a:buNone/>
            </a:pPr>
            <a:r>
              <a:rPr lang="en-US" sz="900" i="1" dirty="0">
                <a:solidFill>
                  <a:srgbClr val="8892A4"/>
                </a:solidFill>
                <a:latin typeface="Calibri" pitchFamily="34" charset="0"/>
                <a:ea typeface="Calibri" pitchFamily="34" charset="-122"/>
                <a:cs typeface="Calibri" pitchFamily="34" charset="-120"/>
              </a:rPr>
              <a:t>IC₉₅ = 1,96 × </a:t>
            </a:r>
            <a:r>
              <a:rPr lang="el-GR" sz="900" i="1" dirty="0">
                <a:solidFill>
                  <a:srgbClr val="8892A4"/>
                </a:solidFill>
                <a:latin typeface="Calibri" pitchFamily="34" charset="0"/>
                <a:ea typeface="Calibri" pitchFamily="34" charset="-122"/>
                <a:cs typeface="Calibri" pitchFamily="34" charset="-120"/>
              </a:rPr>
              <a:t>σ / √</a:t>
            </a:r>
            <a:r>
              <a:rPr lang="en-US" sz="900" i="1" dirty="0">
                <a:solidFill>
                  <a:srgbClr val="8892A4"/>
                </a:solidFill>
                <a:latin typeface="Calibri" pitchFamily="34" charset="0"/>
                <a:ea typeface="Calibri" pitchFamily="34" charset="-122"/>
                <a:cs typeface="Calibri" pitchFamily="34" charset="-120"/>
              </a:rPr>
              <a:t>n</a:t>
            </a:r>
            <a:endParaRPr lang="en-US" sz="900" dirty="0"/>
          </a:p>
        </p:txBody>
      </p:sp>
      <p:sp>
        <p:nvSpPr>
          <p:cNvPr id="48" name="Shape 40"/>
          <p:cNvSpPr/>
          <p:nvPr/>
        </p:nvSpPr>
        <p:spPr>
          <a:xfrm>
            <a:off x="566928" y="4016986"/>
            <a:ext cx="8247888" cy="521208"/>
          </a:xfrm>
          <a:prstGeom prst="roundRect">
            <a:avLst>
              <a:gd name="adj" fmla="val 9231"/>
            </a:avLst>
          </a:prstGeom>
          <a:solidFill>
            <a:srgbClr val="060F1E"/>
          </a:solidFill>
          <a:ln w="9525">
            <a:solidFill>
              <a:srgbClr val="0D3D5C"/>
            </a:solidFill>
            <a:prstDash val="solid"/>
          </a:ln>
        </p:spPr>
        <p:txBody>
          <a:bodyPr/>
          <a:lstStyle/>
          <a:p>
            <a:endParaRPr lang="en-CA"/>
          </a:p>
        </p:txBody>
      </p:sp>
      <p:sp>
        <p:nvSpPr>
          <p:cNvPr id="49" name="Text 41"/>
          <p:cNvSpPr/>
          <p:nvPr/>
        </p:nvSpPr>
        <p:spPr>
          <a:xfrm>
            <a:off x="594359" y="3982212"/>
            <a:ext cx="8219071" cy="594360"/>
          </a:xfrm>
          <a:prstGeom prst="rect">
            <a:avLst/>
          </a:prstGeom>
          <a:noFill/>
          <a:ln/>
        </p:spPr>
        <p:txBody>
          <a:bodyPr wrap="square" rtlCol="0" anchor="ctr"/>
          <a:lstStyle/>
          <a:p>
            <a:pPr marL="0" indent="0" algn="ctr">
              <a:buNone/>
            </a:pPr>
            <a:r>
              <a:rPr lang="en-US" sz="950" b="1" dirty="0">
                <a:solidFill>
                  <a:srgbClr val="00F5FF"/>
                </a:solidFill>
                <a:latin typeface="Calibri" pitchFamily="34" charset="0"/>
                <a:ea typeface="Calibri" pitchFamily="34" charset="-122"/>
                <a:cs typeface="Calibri" pitchFamily="34" charset="-120"/>
              </a:rPr>
              <a:t>n = 100</a:t>
            </a:r>
            <a:r>
              <a:rPr lang="fr-FR" sz="950" dirty="0">
                <a:solidFill>
                  <a:srgbClr val="8892A4"/>
                </a:solidFill>
                <a:latin typeface="Calibri" pitchFamily="34" charset="0"/>
                <a:ea typeface="Calibri" pitchFamily="34" charset="-122"/>
                <a:cs typeface="Calibri" pitchFamily="34" charset="-120"/>
              </a:rPr>
              <a:t> — seuil choisi où l'IC à 95 % se stabilise ; tout accroissement supplémentaire apporte un gain de précision marginal au regard du coût computationnel.</a:t>
            </a:r>
            <a:endParaRPr lang="en-US" sz="950" dirty="0"/>
          </a:p>
        </p:txBody>
      </p:sp>
      <p:sp>
        <p:nvSpPr>
          <p:cNvPr id="50" name="Shape 42"/>
          <p:cNvSpPr/>
          <p:nvPr/>
        </p:nvSpPr>
        <p:spPr>
          <a:xfrm>
            <a:off x="7626096" y="303552"/>
            <a:ext cx="1115568" cy="329184"/>
          </a:xfrm>
          <a:prstGeom prst="roundRect">
            <a:avLst>
              <a:gd name="adj" fmla="val 22222"/>
            </a:avLst>
          </a:prstGeom>
          <a:solidFill>
            <a:srgbClr val="060F1E">
              <a:alpha val="0"/>
            </a:srgbClr>
          </a:solidFill>
          <a:ln w="9525">
            <a:solidFill>
              <a:srgbClr val="00F5FF"/>
            </a:solidFill>
            <a:prstDash val="solid"/>
          </a:ln>
        </p:spPr>
        <p:txBody>
          <a:bodyPr/>
          <a:lstStyle/>
          <a:p>
            <a:endParaRPr lang="en-CA"/>
          </a:p>
        </p:txBody>
      </p:sp>
      <p:sp>
        <p:nvSpPr>
          <p:cNvPr id="51" name="Text 43"/>
          <p:cNvSpPr/>
          <p:nvPr/>
        </p:nvSpPr>
        <p:spPr>
          <a:xfrm>
            <a:off x="7626096" y="310896"/>
            <a:ext cx="1115568" cy="329184"/>
          </a:xfrm>
          <a:prstGeom prst="rect">
            <a:avLst/>
          </a:prstGeom>
          <a:noFill/>
          <a:ln/>
        </p:spPr>
        <p:txBody>
          <a:bodyPr wrap="square" lIns="0" tIns="0" rIns="0" bIns="0" rtlCol="0" anchor="ctr"/>
          <a:lstStyle/>
          <a:p>
            <a:pPr marL="0" indent="0" algn="ctr">
              <a:buNone/>
            </a:pPr>
            <a:r>
              <a:rPr lang="en-US" sz="950" b="1" dirty="0">
                <a:solidFill>
                  <a:srgbClr val="00F5FF"/>
                </a:solidFill>
                <a:latin typeface="Calibri" pitchFamily="34" charset="0"/>
                <a:ea typeface="Calibri" pitchFamily="34" charset="-122"/>
                <a:cs typeface="Calibri" pitchFamily="34" charset="-120"/>
              </a:rPr>
              <a:t>▶  Vidéo 2</a:t>
            </a:r>
            <a:endParaRPr lang="en-US" sz="950" dirty="0"/>
          </a:p>
        </p:txBody>
      </p:sp>
      <p:sp>
        <p:nvSpPr>
          <p:cNvPr id="52" name="Text 44"/>
          <p:cNvSpPr/>
          <p:nvPr/>
        </p:nvSpPr>
        <p:spPr>
          <a:xfrm>
            <a:off x="1371600" y="4828032"/>
            <a:ext cx="6400800" cy="228600"/>
          </a:xfrm>
          <a:prstGeom prst="rect">
            <a:avLst/>
          </a:prstGeom>
          <a:noFill/>
          <a:ln/>
        </p:spPr>
        <p:txBody>
          <a:bodyPr wrap="square" rtlCol="0" anchor="ctr"/>
          <a:lstStyle/>
          <a:p>
            <a:pPr marL="0" indent="0" algn="ctr">
              <a:buNone/>
            </a:pPr>
            <a:r>
              <a:rPr lang="en-US" sz="850" b="1" kern="0" spc="100" dirty="0">
                <a:solidFill>
                  <a:srgbClr val="00F5FF"/>
                </a:solidFill>
                <a:latin typeface="Calibri" pitchFamily="34" charset="0"/>
                <a:cs typeface="Calibri" pitchFamily="34" charset="-120"/>
              </a:rPr>
              <a:t>INF1430</a:t>
            </a:r>
            <a:r>
              <a:rPr lang="en-US" sz="850" kern="0" spc="100" dirty="0">
                <a:solidFill>
                  <a:srgbClr val="3A4A65"/>
                </a:solidFill>
                <a:latin typeface="Calibri" pitchFamily="34" charset="0"/>
                <a:cs typeface="Calibri" pitchFamily="34" charset="-120"/>
              </a:rPr>
              <a:t>  ·  Université </a:t>
            </a:r>
            <a:r>
              <a:rPr lang="en-US" sz="850" kern="0" spc="100" dirty="0">
                <a:solidFill>
                  <a:srgbClr val="3A4A65"/>
                </a:solidFill>
                <a:latin typeface="Calibri" pitchFamily="34" charset="0"/>
                <a:ea typeface="Calibri" pitchFamily="34" charset="-122"/>
                <a:cs typeface="Calibri" pitchFamily="34" charset="-120"/>
              </a:rPr>
              <a:t>TÉLUQ  ·  TN3  ·  Melissa Moya  ·  2026</a:t>
            </a:r>
            <a:endParaRPr lang="en-US" sz="850" dirty="0"/>
          </a:p>
        </p:txBody>
      </p:sp>
      <p:sp>
        <p:nvSpPr>
          <p:cNvPr id="56" name="Text 26">
            <a:extLst>
              <a:ext uri="{FF2B5EF4-FFF2-40B4-BE49-F238E27FC236}">
                <a16:creationId xmlns:a16="http://schemas.microsoft.com/office/drawing/2014/main" id="{B73F1408-6831-0EDC-A8FA-A01B38836ABB}"/>
              </a:ext>
            </a:extLst>
          </p:cNvPr>
          <p:cNvSpPr/>
          <p:nvPr/>
        </p:nvSpPr>
        <p:spPr>
          <a:xfrm>
            <a:off x="6007608" y="2272839"/>
            <a:ext cx="400117" cy="621792"/>
          </a:xfrm>
          <a:prstGeom prst="rect">
            <a:avLst/>
          </a:prstGeom>
          <a:noFill/>
          <a:ln/>
        </p:spPr>
        <p:txBody>
          <a:bodyPr wrap="square" lIns="0" tIns="0" rIns="0" bIns="0" rtlCol="0" anchor="ctr"/>
          <a:lstStyle/>
          <a:p>
            <a:pPr marL="0" indent="0">
              <a:buNone/>
            </a:pPr>
            <a:r>
              <a:rPr lang="en-US" sz="3200" b="1" dirty="0">
                <a:solidFill>
                  <a:srgbClr val="00F5FF"/>
                </a:solidFill>
                <a:latin typeface="Calibri" pitchFamily="34" charset="0"/>
                <a:cs typeface="Calibri" pitchFamily="34" charset="-120"/>
              </a:rPr>
              <a:t>5</a:t>
            </a:r>
            <a:endParaRPr lang="en-US" sz="3200" dirty="0"/>
          </a:p>
        </p:txBody>
      </p:sp>
      <p:sp>
        <p:nvSpPr>
          <p:cNvPr id="60" name="Text 28">
            <a:extLst>
              <a:ext uri="{FF2B5EF4-FFF2-40B4-BE49-F238E27FC236}">
                <a16:creationId xmlns:a16="http://schemas.microsoft.com/office/drawing/2014/main" id="{07D74010-1900-4FB9-33DD-48FD24C77291}"/>
              </a:ext>
            </a:extLst>
          </p:cNvPr>
          <p:cNvSpPr/>
          <p:nvPr/>
        </p:nvSpPr>
        <p:spPr>
          <a:xfrm>
            <a:off x="6986016" y="2245544"/>
            <a:ext cx="1645920" cy="292608"/>
          </a:xfrm>
          <a:prstGeom prst="rect">
            <a:avLst/>
          </a:prstGeom>
          <a:noFill/>
          <a:ln/>
        </p:spPr>
        <p:txBody>
          <a:bodyPr wrap="square" lIns="0" tIns="0" rIns="0" bIns="0" rtlCol="0" anchor="ctr"/>
          <a:lstStyle/>
          <a:p>
            <a:pPr marL="0" indent="0">
              <a:buNone/>
            </a:pPr>
            <a:r>
              <a:rPr lang="en-US" sz="1100" b="1" dirty="0">
                <a:solidFill>
                  <a:srgbClr val="00F5FF"/>
                </a:solidFill>
                <a:latin typeface="Calibri" pitchFamily="34" charset="0"/>
                <a:ea typeface="Calibri" pitchFamily="34" charset="-122"/>
                <a:cs typeface="Calibri" pitchFamily="34" charset="-120"/>
              </a:rPr>
              <a:t>paliers</a:t>
            </a:r>
            <a:endParaRPr lang="en-US" sz="1100" dirty="0"/>
          </a:p>
        </p:txBody>
      </p:sp>
      <p:sp>
        <p:nvSpPr>
          <p:cNvPr id="62" name="Shape 27">
            <a:extLst>
              <a:ext uri="{FF2B5EF4-FFF2-40B4-BE49-F238E27FC236}">
                <a16:creationId xmlns:a16="http://schemas.microsoft.com/office/drawing/2014/main" id="{D1B297C4-A98C-30DA-8D0F-4D99C33E70E9}"/>
              </a:ext>
            </a:extLst>
          </p:cNvPr>
          <p:cNvSpPr/>
          <p:nvPr/>
        </p:nvSpPr>
        <p:spPr>
          <a:xfrm>
            <a:off x="6830568" y="2340864"/>
            <a:ext cx="0" cy="438912"/>
          </a:xfrm>
          <a:prstGeom prst="line">
            <a:avLst/>
          </a:prstGeom>
          <a:noFill/>
          <a:ln w="9525">
            <a:solidFill>
              <a:srgbClr val="0D3D5C"/>
            </a:solidFill>
            <a:prstDash val="solid"/>
          </a:ln>
        </p:spPr>
        <p:txBody>
          <a:bodyPr/>
          <a:lstStyle/>
          <a:p>
            <a:endParaRPr lang="en-CA"/>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256032" y="201168"/>
            <a:ext cx="548640" cy="548640"/>
          </a:xfrm>
          <a:prstGeom prst="rect">
            <a:avLst/>
          </a:prstGeom>
        </p:spPr>
      </p:pic>
      <p:pic>
        <p:nvPicPr>
          <p:cNvPr id="4" name="Image 2" descr="preencoded.png"/>
          <p:cNvPicPr>
            <a:picLocks noChangeAspect="1"/>
          </p:cNvPicPr>
          <p:nvPr/>
        </p:nvPicPr>
        <p:blipFill>
          <a:blip r:embed="rId4"/>
          <a:stretch>
            <a:fillRect/>
          </a:stretch>
        </p:blipFill>
        <p:spPr>
          <a:xfrm flipH="1">
            <a:off x="8339328" y="201168"/>
            <a:ext cx="548640" cy="548640"/>
          </a:xfrm>
          <a:prstGeom prst="rect">
            <a:avLst/>
          </a:prstGeom>
        </p:spPr>
      </p:pic>
      <p:pic>
        <p:nvPicPr>
          <p:cNvPr id="5" name="Image 3" descr="preencoded.png"/>
          <p:cNvPicPr>
            <a:picLocks noChangeAspect="1"/>
          </p:cNvPicPr>
          <p:nvPr/>
        </p:nvPicPr>
        <p:blipFill>
          <a:blip r:embed="rId4"/>
          <a:stretch>
            <a:fillRect/>
          </a:stretch>
        </p:blipFill>
        <p:spPr>
          <a:xfrm flipV="1">
            <a:off x="256032" y="4393692"/>
            <a:ext cx="548640" cy="548640"/>
          </a:xfrm>
          <a:prstGeom prst="rect">
            <a:avLst/>
          </a:prstGeom>
        </p:spPr>
      </p:pic>
      <p:pic>
        <p:nvPicPr>
          <p:cNvPr id="6" name="Image 4" descr="preencoded.png"/>
          <p:cNvPicPr>
            <a:picLocks noChangeAspect="1"/>
          </p:cNvPicPr>
          <p:nvPr/>
        </p:nvPicPr>
        <p:blipFill>
          <a:blip r:embed="rId4"/>
          <a:stretch>
            <a:fillRect/>
          </a:stretch>
        </p:blipFill>
        <p:spPr>
          <a:xfrm flipH="1" flipV="1">
            <a:off x="8339328" y="4393692"/>
            <a:ext cx="548640" cy="548640"/>
          </a:xfrm>
          <a:prstGeom prst="rect">
            <a:avLst/>
          </a:prstGeom>
        </p:spPr>
      </p:pic>
      <p:pic>
        <p:nvPicPr>
          <p:cNvPr id="7" name="Image 5" descr="preencoded.png"/>
          <p:cNvPicPr>
            <a:picLocks noChangeAspect="1"/>
          </p:cNvPicPr>
          <p:nvPr/>
        </p:nvPicPr>
        <p:blipFill>
          <a:blip r:embed="rId5">
            <a:alphaModFix amt="80000"/>
          </a:blip>
          <a:stretch>
            <a:fillRect/>
          </a:stretch>
        </p:blipFill>
        <p:spPr>
          <a:xfrm>
            <a:off x="566928" y="256032"/>
            <a:ext cx="256032" cy="256032"/>
          </a:xfrm>
          <a:prstGeom prst="rect">
            <a:avLst/>
          </a:prstGeom>
        </p:spPr>
      </p:pic>
      <p:sp>
        <p:nvSpPr>
          <p:cNvPr id="8" name="Text 0"/>
          <p:cNvSpPr/>
          <p:nvPr/>
        </p:nvSpPr>
        <p:spPr>
          <a:xfrm>
            <a:off x="868680" y="256032"/>
            <a:ext cx="4572000" cy="274320"/>
          </a:xfrm>
          <a:prstGeom prst="rect">
            <a:avLst/>
          </a:prstGeom>
          <a:noFill/>
          <a:ln/>
        </p:spPr>
        <p:txBody>
          <a:bodyPr wrap="square" rtlCol="0" anchor="ctr"/>
          <a:lstStyle/>
          <a:p>
            <a:pPr marL="0" indent="0">
              <a:buNone/>
            </a:pPr>
            <a:r>
              <a:rPr lang="en-US" sz="1000" b="1" kern="0" spc="50" dirty="0">
                <a:solidFill>
                  <a:srgbClr val="00F5FF"/>
                </a:solidFill>
                <a:latin typeface="Calibri" pitchFamily="34" charset="0"/>
                <a:ea typeface="Calibri" pitchFamily="34" charset="-122"/>
                <a:cs typeface="Calibri" pitchFamily="34" charset="-120"/>
              </a:rPr>
              <a:t>02  </a:t>
            </a:r>
            <a:r>
              <a:rPr lang="en-US" sz="1000" kern="0" spc="50" dirty="0">
                <a:solidFill>
                  <a:srgbClr val="8892A4"/>
                </a:solidFill>
                <a:latin typeface="Calibri" pitchFamily="34" charset="0"/>
                <a:ea typeface="Calibri" pitchFamily="34" charset="-122"/>
                <a:cs typeface="Calibri" pitchFamily="34" charset="-120"/>
              </a:rPr>
              <a:t>Protocole expérimental</a:t>
            </a:r>
            <a:endParaRPr lang="en-US" sz="1000" dirty="0"/>
          </a:p>
        </p:txBody>
      </p:sp>
      <p:sp>
        <p:nvSpPr>
          <p:cNvPr id="9" name="Text 1"/>
          <p:cNvSpPr/>
          <p:nvPr/>
        </p:nvSpPr>
        <p:spPr>
          <a:xfrm>
            <a:off x="566928" y="566928"/>
            <a:ext cx="6400800" cy="530352"/>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Pourquoi Python ?</a:t>
            </a:r>
            <a:endParaRPr lang="en-US" sz="2600" dirty="0"/>
          </a:p>
        </p:txBody>
      </p:sp>
      <p:sp>
        <p:nvSpPr>
          <p:cNvPr id="10" name="Shape 2"/>
          <p:cNvSpPr/>
          <p:nvPr/>
        </p:nvSpPr>
        <p:spPr>
          <a:xfrm>
            <a:off x="566928" y="1261872"/>
            <a:ext cx="8138160" cy="420624"/>
          </a:xfrm>
          <a:prstGeom prst="roundRect">
            <a:avLst>
              <a:gd name="adj" fmla="val 8696"/>
            </a:avLst>
          </a:prstGeom>
          <a:solidFill>
            <a:srgbClr val="0D1E35"/>
          </a:solidFill>
          <a:ln w="6350">
            <a:solidFill>
              <a:srgbClr val="1A3A55"/>
            </a:solidFill>
            <a:prstDash val="solid"/>
          </a:ln>
        </p:spPr>
        <p:txBody>
          <a:bodyPr/>
          <a:lstStyle/>
          <a:p>
            <a:endParaRPr lang="en-CA"/>
          </a:p>
        </p:txBody>
      </p:sp>
      <p:sp>
        <p:nvSpPr>
          <p:cNvPr id="11" name="Shape 3"/>
          <p:cNvSpPr/>
          <p:nvPr/>
        </p:nvSpPr>
        <p:spPr>
          <a:xfrm>
            <a:off x="2944368" y="1261872"/>
            <a:ext cx="1920240" cy="2523744"/>
          </a:xfrm>
          <a:prstGeom prst="rect">
            <a:avLst/>
          </a:prstGeom>
          <a:solidFill>
            <a:srgbClr val="061A28"/>
          </a:solidFill>
          <a:ln w="12700">
            <a:solidFill>
              <a:srgbClr val="0D4060"/>
            </a:solidFill>
            <a:prstDash val="solid"/>
          </a:ln>
        </p:spPr>
        <p:txBody>
          <a:bodyPr/>
          <a:lstStyle/>
          <a:p>
            <a:endParaRPr lang="en-CA"/>
          </a:p>
        </p:txBody>
      </p:sp>
      <p:sp>
        <p:nvSpPr>
          <p:cNvPr id="12" name="Text 4"/>
          <p:cNvSpPr/>
          <p:nvPr/>
        </p:nvSpPr>
        <p:spPr>
          <a:xfrm>
            <a:off x="566928" y="1261872"/>
            <a:ext cx="2377440" cy="420624"/>
          </a:xfrm>
          <a:prstGeom prst="rect">
            <a:avLst/>
          </a:prstGeom>
          <a:noFill/>
          <a:ln/>
        </p:spPr>
        <p:txBody>
          <a:bodyPr wrap="square" lIns="127000" tIns="127000" rIns="127000" bIns="127000" rtlCol="0" anchor="ctr"/>
          <a:lstStyle/>
          <a:p>
            <a:pPr marL="0" indent="0" algn="l">
              <a:buNone/>
            </a:pPr>
            <a:r>
              <a:rPr lang="en-US" sz="1100" b="1" dirty="0">
                <a:solidFill>
                  <a:srgbClr val="8892A4"/>
                </a:solidFill>
                <a:latin typeface="Calibri" pitchFamily="34" charset="0"/>
                <a:ea typeface="Calibri" pitchFamily="34" charset="-122"/>
                <a:cs typeface="Calibri" pitchFamily="34" charset="-120"/>
              </a:rPr>
              <a:t>Critère</a:t>
            </a:r>
            <a:endParaRPr lang="en-US" sz="1100" dirty="0"/>
          </a:p>
        </p:txBody>
      </p:sp>
      <p:sp>
        <p:nvSpPr>
          <p:cNvPr id="13" name="Text 5"/>
          <p:cNvSpPr/>
          <p:nvPr/>
        </p:nvSpPr>
        <p:spPr>
          <a:xfrm>
            <a:off x="2944368" y="1261872"/>
            <a:ext cx="1920240" cy="420624"/>
          </a:xfrm>
          <a:prstGeom prst="rect">
            <a:avLst/>
          </a:prstGeom>
          <a:noFill/>
          <a:ln/>
        </p:spPr>
        <p:txBody>
          <a:bodyPr wrap="square" lIns="0" tIns="0" rIns="0" bIns="0" rtlCol="0" anchor="ctr"/>
          <a:lstStyle/>
          <a:p>
            <a:pPr marL="0" indent="0" algn="ctr">
              <a:buNone/>
            </a:pPr>
            <a:r>
              <a:rPr lang="en-US" sz="1100" b="1" dirty="0">
                <a:solidFill>
                  <a:srgbClr val="00F5FF"/>
                </a:solidFill>
                <a:latin typeface="Calibri" pitchFamily="34" charset="0"/>
                <a:ea typeface="Calibri" pitchFamily="34" charset="-122"/>
                <a:cs typeface="Calibri" pitchFamily="34" charset="-120"/>
              </a:rPr>
              <a:t>Python</a:t>
            </a:r>
            <a:endParaRPr lang="en-US" sz="1100" dirty="0"/>
          </a:p>
        </p:txBody>
      </p:sp>
      <p:sp>
        <p:nvSpPr>
          <p:cNvPr id="14" name="Text 6"/>
          <p:cNvSpPr/>
          <p:nvPr/>
        </p:nvSpPr>
        <p:spPr>
          <a:xfrm>
            <a:off x="4864608" y="1261872"/>
            <a:ext cx="1920240" cy="420624"/>
          </a:xfrm>
          <a:prstGeom prst="rect">
            <a:avLst/>
          </a:prstGeom>
          <a:noFill/>
          <a:ln/>
        </p:spPr>
        <p:txBody>
          <a:bodyPr wrap="square" lIns="0" tIns="0" rIns="0" bIns="0" rtlCol="0" anchor="ctr"/>
          <a:lstStyle/>
          <a:p>
            <a:pPr marL="0" indent="0" algn="ctr">
              <a:buNone/>
            </a:pPr>
            <a:r>
              <a:rPr lang="en-US" sz="1100" b="1" dirty="0">
                <a:solidFill>
                  <a:srgbClr val="4A6080"/>
                </a:solidFill>
                <a:latin typeface="Calibri" pitchFamily="34" charset="0"/>
                <a:ea typeface="Calibri" pitchFamily="34" charset="-122"/>
                <a:cs typeface="Calibri" pitchFamily="34" charset="-120"/>
              </a:rPr>
              <a:t>C++</a:t>
            </a:r>
            <a:endParaRPr lang="en-US" sz="1100" dirty="0"/>
          </a:p>
        </p:txBody>
      </p:sp>
      <p:sp>
        <p:nvSpPr>
          <p:cNvPr id="15" name="Text 7"/>
          <p:cNvSpPr/>
          <p:nvPr/>
        </p:nvSpPr>
        <p:spPr>
          <a:xfrm>
            <a:off x="6784848" y="1261872"/>
            <a:ext cx="1920240" cy="420624"/>
          </a:xfrm>
          <a:prstGeom prst="rect">
            <a:avLst/>
          </a:prstGeom>
          <a:noFill/>
          <a:ln/>
        </p:spPr>
        <p:txBody>
          <a:bodyPr wrap="square" lIns="0" tIns="0" rIns="0" bIns="0" rtlCol="0" anchor="ctr"/>
          <a:lstStyle/>
          <a:p>
            <a:pPr marL="0" indent="0" algn="ctr">
              <a:buNone/>
            </a:pPr>
            <a:r>
              <a:rPr lang="en-US" sz="1100" b="1" dirty="0">
                <a:solidFill>
                  <a:srgbClr val="4A6080"/>
                </a:solidFill>
                <a:latin typeface="Calibri" pitchFamily="34" charset="0"/>
                <a:ea typeface="Calibri" pitchFamily="34" charset="-122"/>
                <a:cs typeface="Calibri" pitchFamily="34" charset="-120"/>
              </a:rPr>
              <a:t>Java</a:t>
            </a:r>
            <a:endParaRPr lang="en-US" sz="1100" dirty="0"/>
          </a:p>
        </p:txBody>
      </p:sp>
      <p:sp>
        <p:nvSpPr>
          <p:cNvPr id="16" name="Shape 8"/>
          <p:cNvSpPr/>
          <p:nvPr/>
        </p:nvSpPr>
        <p:spPr>
          <a:xfrm>
            <a:off x="566928" y="1682496"/>
            <a:ext cx="2377440" cy="420624"/>
          </a:xfrm>
          <a:prstGeom prst="rect">
            <a:avLst/>
          </a:prstGeom>
          <a:solidFill>
            <a:srgbClr val="060B14"/>
          </a:solidFill>
          <a:ln w="6350">
            <a:solidFill>
              <a:srgbClr val="0F1E30"/>
            </a:solidFill>
            <a:prstDash val="solid"/>
          </a:ln>
        </p:spPr>
        <p:txBody>
          <a:bodyPr/>
          <a:lstStyle/>
          <a:p>
            <a:endParaRPr lang="en-CA"/>
          </a:p>
        </p:txBody>
      </p:sp>
      <p:sp>
        <p:nvSpPr>
          <p:cNvPr id="17" name="Shape 9"/>
          <p:cNvSpPr/>
          <p:nvPr/>
        </p:nvSpPr>
        <p:spPr>
          <a:xfrm>
            <a:off x="4864608" y="1682496"/>
            <a:ext cx="1920240" cy="420624"/>
          </a:xfrm>
          <a:prstGeom prst="rect">
            <a:avLst/>
          </a:prstGeom>
          <a:solidFill>
            <a:srgbClr val="060B14"/>
          </a:solidFill>
          <a:ln w="6350">
            <a:solidFill>
              <a:srgbClr val="0F1E30"/>
            </a:solidFill>
            <a:prstDash val="solid"/>
          </a:ln>
        </p:spPr>
        <p:txBody>
          <a:bodyPr/>
          <a:lstStyle/>
          <a:p>
            <a:endParaRPr lang="en-CA"/>
          </a:p>
        </p:txBody>
      </p:sp>
      <p:sp>
        <p:nvSpPr>
          <p:cNvPr id="18" name="Shape 10"/>
          <p:cNvSpPr/>
          <p:nvPr/>
        </p:nvSpPr>
        <p:spPr>
          <a:xfrm>
            <a:off x="6784848" y="1682496"/>
            <a:ext cx="1920240" cy="420624"/>
          </a:xfrm>
          <a:prstGeom prst="rect">
            <a:avLst/>
          </a:prstGeom>
          <a:solidFill>
            <a:srgbClr val="060B14"/>
          </a:solidFill>
          <a:ln w="6350">
            <a:solidFill>
              <a:srgbClr val="0F1E30"/>
            </a:solidFill>
            <a:prstDash val="solid"/>
          </a:ln>
        </p:spPr>
        <p:txBody>
          <a:bodyPr/>
          <a:lstStyle/>
          <a:p>
            <a:endParaRPr lang="en-CA"/>
          </a:p>
        </p:txBody>
      </p:sp>
      <p:sp>
        <p:nvSpPr>
          <p:cNvPr id="19" name="Shape 11"/>
          <p:cNvSpPr/>
          <p:nvPr/>
        </p:nvSpPr>
        <p:spPr>
          <a:xfrm>
            <a:off x="2944368" y="1682496"/>
            <a:ext cx="1920240" cy="420624"/>
          </a:xfrm>
          <a:prstGeom prst="rect">
            <a:avLst/>
          </a:prstGeom>
          <a:solidFill>
            <a:srgbClr val="061522"/>
          </a:solidFill>
          <a:ln w="6350">
            <a:solidFill>
              <a:srgbClr val="0D3A52"/>
            </a:solidFill>
            <a:prstDash val="solid"/>
          </a:ln>
        </p:spPr>
        <p:txBody>
          <a:bodyPr/>
          <a:lstStyle/>
          <a:p>
            <a:endParaRPr lang="en-CA"/>
          </a:p>
        </p:txBody>
      </p:sp>
      <p:sp>
        <p:nvSpPr>
          <p:cNvPr id="20" name="Text 12"/>
          <p:cNvSpPr/>
          <p:nvPr/>
        </p:nvSpPr>
        <p:spPr>
          <a:xfrm>
            <a:off x="694944" y="1682496"/>
            <a:ext cx="2249424" cy="420624"/>
          </a:xfrm>
          <a:prstGeom prst="rect">
            <a:avLst/>
          </a:prstGeom>
          <a:noFill/>
          <a:ln/>
        </p:spPr>
        <p:txBody>
          <a:bodyPr wrap="square" lIns="0" tIns="0" rIns="0" bIns="0" rtlCol="0" anchor="ctr"/>
          <a:lstStyle/>
          <a:p>
            <a:pPr marL="0" indent="0">
              <a:buNone/>
            </a:pPr>
            <a:r>
              <a:rPr lang="en-US" sz="950" dirty="0">
                <a:solidFill>
                  <a:srgbClr val="8892A4"/>
                </a:solidFill>
                <a:latin typeface="Calibri" pitchFamily="34" charset="0"/>
                <a:ea typeface="Calibri" pitchFamily="34" charset="-122"/>
                <a:cs typeface="Calibri" pitchFamily="34" charset="-120"/>
              </a:rPr>
              <a:t>Performance brute</a:t>
            </a:r>
            <a:endParaRPr lang="en-US" sz="950" dirty="0"/>
          </a:p>
        </p:txBody>
      </p:sp>
      <p:sp>
        <p:nvSpPr>
          <p:cNvPr id="21" name="Text 13"/>
          <p:cNvSpPr/>
          <p:nvPr/>
        </p:nvSpPr>
        <p:spPr>
          <a:xfrm>
            <a:off x="2944368" y="1682496"/>
            <a:ext cx="1920240" cy="420624"/>
          </a:xfrm>
          <a:prstGeom prst="rect">
            <a:avLst/>
          </a:prstGeom>
          <a:noFill/>
          <a:ln/>
        </p:spPr>
        <p:txBody>
          <a:bodyPr wrap="square" lIns="0" tIns="0" rIns="0" bIns="0" rtlCol="0" anchor="ctr"/>
          <a:lstStyle/>
          <a:p>
            <a:pPr marL="0" indent="0" algn="ctr">
              <a:buNone/>
            </a:pPr>
            <a:r>
              <a:rPr lang="en-US" sz="950" dirty="0">
                <a:solidFill>
                  <a:srgbClr val="8892A4"/>
                </a:solidFill>
                <a:latin typeface="Calibri" pitchFamily="34" charset="0"/>
                <a:ea typeface="Calibri" pitchFamily="34" charset="-122"/>
                <a:cs typeface="Calibri" pitchFamily="34" charset="-120"/>
              </a:rPr>
              <a:t>⚠ Moyenne</a:t>
            </a:r>
            <a:endParaRPr lang="en-US" sz="950" dirty="0"/>
          </a:p>
        </p:txBody>
      </p:sp>
      <p:sp>
        <p:nvSpPr>
          <p:cNvPr id="22" name="Text 14"/>
          <p:cNvSpPr/>
          <p:nvPr/>
        </p:nvSpPr>
        <p:spPr>
          <a:xfrm>
            <a:off x="4864608" y="1682496"/>
            <a:ext cx="1920240" cy="420624"/>
          </a:xfrm>
          <a:prstGeom prst="rect">
            <a:avLst/>
          </a:prstGeom>
          <a:noFill/>
          <a:ln/>
        </p:spPr>
        <p:txBody>
          <a:bodyPr wrap="square" lIns="0" tIns="0" rIns="0" bIns="0" rtlCol="0" anchor="ctr"/>
          <a:lstStyle/>
          <a:p>
            <a:pPr marL="0" indent="0" algn="ctr">
              <a:buNone/>
            </a:pPr>
            <a:r>
              <a:rPr lang="en-US" sz="950" dirty="0">
                <a:solidFill>
                  <a:srgbClr val="5EFFA0"/>
                </a:solidFill>
                <a:latin typeface="Calibri" pitchFamily="34" charset="0"/>
                <a:ea typeface="Calibri" pitchFamily="34" charset="-122"/>
                <a:cs typeface="Calibri" pitchFamily="34" charset="-120"/>
              </a:rPr>
              <a:t>✓ Élevée</a:t>
            </a:r>
            <a:endParaRPr lang="en-US" sz="950" dirty="0"/>
          </a:p>
        </p:txBody>
      </p:sp>
      <p:sp>
        <p:nvSpPr>
          <p:cNvPr id="23" name="Text 15"/>
          <p:cNvSpPr/>
          <p:nvPr/>
        </p:nvSpPr>
        <p:spPr>
          <a:xfrm>
            <a:off x="6784848" y="1682496"/>
            <a:ext cx="1920240" cy="420624"/>
          </a:xfrm>
          <a:prstGeom prst="rect">
            <a:avLst/>
          </a:prstGeom>
          <a:noFill/>
          <a:ln/>
        </p:spPr>
        <p:txBody>
          <a:bodyPr wrap="square" lIns="0" tIns="0" rIns="0" bIns="0" rtlCol="0" anchor="ctr"/>
          <a:lstStyle/>
          <a:p>
            <a:pPr marL="0" indent="0" algn="ctr">
              <a:buNone/>
            </a:pPr>
            <a:r>
              <a:rPr lang="en-US" sz="950" dirty="0">
                <a:solidFill>
                  <a:srgbClr val="8892A4"/>
                </a:solidFill>
                <a:latin typeface="Calibri" pitchFamily="34" charset="0"/>
                <a:ea typeface="Calibri" pitchFamily="34" charset="-122"/>
                <a:cs typeface="Calibri" pitchFamily="34" charset="-120"/>
              </a:rPr>
              <a:t>⚠ Moyenne</a:t>
            </a:r>
            <a:endParaRPr lang="en-US" sz="950" dirty="0"/>
          </a:p>
        </p:txBody>
      </p:sp>
      <p:sp>
        <p:nvSpPr>
          <p:cNvPr id="24" name="Shape 16"/>
          <p:cNvSpPr/>
          <p:nvPr/>
        </p:nvSpPr>
        <p:spPr>
          <a:xfrm>
            <a:off x="566928" y="2103120"/>
            <a:ext cx="2377440" cy="420624"/>
          </a:xfrm>
          <a:prstGeom prst="rect">
            <a:avLst/>
          </a:prstGeom>
          <a:solidFill>
            <a:srgbClr val="080D18"/>
          </a:solidFill>
          <a:ln w="6350">
            <a:solidFill>
              <a:srgbClr val="0F1E30"/>
            </a:solidFill>
            <a:prstDash val="solid"/>
          </a:ln>
        </p:spPr>
        <p:txBody>
          <a:bodyPr/>
          <a:lstStyle/>
          <a:p>
            <a:endParaRPr lang="en-CA"/>
          </a:p>
        </p:txBody>
      </p:sp>
      <p:sp>
        <p:nvSpPr>
          <p:cNvPr id="25" name="Shape 17"/>
          <p:cNvSpPr/>
          <p:nvPr/>
        </p:nvSpPr>
        <p:spPr>
          <a:xfrm>
            <a:off x="4864608" y="2103120"/>
            <a:ext cx="1920240" cy="420624"/>
          </a:xfrm>
          <a:prstGeom prst="rect">
            <a:avLst/>
          </a:prstGeom>
          <a:solidFill>
            <a:srgbClr val="080D18"/>
          </a:solidFill>
          <a:ln w="6350">
            <a:solidFill>
              <a:srgbClr val="0F1E30"/>
            </a:solidFill>
            <a:prstDash val="solid"/>
          </a:ln>
        </p:spPr>
        <p:txBody>
          <a:bodyPr/>
          <a:lstStyle/>
          <a:p>
            <a:endParaRPr lang="en-CA"/>
          </a:p>
        </p:txBody>
      </p:sp>
      <p:sp>
        <p:nvSpPr>
          <p:cNvPr id="26" name="Shape 18"/>
          <p:cNvSpPr/>
          <p:nvPr/>
        </p:nvSpPr>
        <p:spPr>
          <a:xfrm>
            <a:off x="6784848" y="2103120"/>
            <a:ext cx="1920240" cy="420624"/>
          </a:xfrm>
          <a:prstGeom prst="rect">
            <a:avLst/>
          </a:prstGeom>
          <a:solidFill>
            <a:srgbClr val="080D18"/>
          </a:solidFill>
          <a:ln w="6350">
            <a:solidFill>
              <a:srgbClr val="0F1E30"/>
            </a:solidFill>
            <a:prstDash val="solid"/>
          </a:ln>
        </p:spPr>
        <p:txBody>
          <a:bodyPr/>
          <a:lstStyle/>
          <a:p>
            <a:endParaRPr lang="en-CA"/>
          </a:p>
        </p:txBody>
      </p:sp>
      <p:sp>
        <p:nvSpPr>
          <p:cNvPr id="27" name="Shape 19"/>
          <p:cNvSpPr/>
          <p:nvPr/>
        </p:nvSpPr>
        <p:spPr>
          <a:xfrm>
            <a:off x="2944368" y="2103120"/>
            <a:ext cx="1920240" cy="420624"/>
          </a:xfrm>
          <a:prstGeom prst="rect">
            <a:avLst/>
          </a:prstGeom>
          <a:solidFill>
            <a:srgbClr val="071828"/>
          </a:solidFill>
          <a:ln w="6350">
            <a:solidFill>
              <a:srgbClr val="0D3A52"/>
            </a:solidFill>
            <a:prstDash val="solid"/>
          </a:ln>
        </p:spPr>
        <p:txBody>
          <a:bodyPr/>
          <a:lstStyle/>
          <a:p>
            <a:endParaRPr lang="en-CA"/>
          </a:p>
        </p:txBody>
      </p:sp>
      <p:sp>
        <p:nvSpPr>
          <p:cNvPr id="28" name="Text 20"/>
          <p:cNvSpPr/>
          <p:nvPr/>
        </p:nvSpPr>
        <p:spPr>
          <a:xfrm>
            <a:off x="694944" y="2103120"/>
            <a:ext cx="2249424" cy="420624"/>
          </a:xfrm>
          <a:prstGeom prst="rect">
            <a:avLst/>
          </a:prstGeom>
          <a:noFill/>
          <a:ln/>
        </p:spPr>
        <p:txBody>
          <a:bodyPr wrap="square" lIns="0" tIns="0" rIns="0" bIns="0" rtlCol="0" anchor="ctr"/>
          <a:lstStyle/>
          <a:p>
            <a:pPr marL="0" indent="0">
              <a:buNone/>
            </a:pPr>
            <a:r>
              <a:rPr lang="en-US" sz="950" dirty="0">
                <a:solidFill>
                  <a:srgbClr val="8892A4"/>
                </a:solidFill>
                <a:latin typeface="Calibri" pitchFamily="34" charset="0"/>
                <a:ea typeface="Calibri" pitchFamily="34" charset="-122"/>
                <a:cs typeface="Calibri" pitchFamily="34" charset="-120"/>
              </a:rPr>
              <a:t>Biais d'optimisation</a:t>
            </a:r>
            <a:endParaRPr lang="en-US" sz="950" dirty="0"/>
          </a:p>
        </p:txBody>
      </p:sp>
      <p:sp>
        <p:nvSpPr>
          <p:cNvPr id="29" name="Text 21"/>
          <p:cNvSpPr/>
          <p:nvPr/>
        </p:nvSpPr>
        <p:spPr>
          <a:xfrm>
            <a:off x="2944368" y="2103120"/>
            <a:ext cx="1920240" cy="420624"/>
          </a:xfrm>
          <a:prstGeom prst="rect">
            <a:avLst/>
          </a:prstGeom>
          <a:noFill/>
          <a:ln/>
        </p:spPr>
        <p:txBody>
          <a:bodyPr wrap="square" lIns="0" tIns="0" rIns="0" bIns="0" rtlCol="0" anchor="ctr"/>
          <a:lstStyle/>
          <a:p>
            <a:pPr marL="0" indent="0" algn="ctr">
              <a:buNone/>
            </a:pPr>
            <a:r>
              <a:rPr lang="en-US" sz="950" b="1" dirty="0">
                <a:solidFill>
                  <a:srgbClr val="00F5FF"/>
                </a:solidFill>
                <a:latin typeface="Calibri" pitchFamily="34" charset="0"/>
                <a:ea typeface="Calibri" pitchFamily="34" charset="-122"/>
                <a:cs typeface="Calibri" pitchFamily="34" charset="-120"/>
              </a:rPr>
              <a:t>✓ Faible</a:t>
            </a:r>
            <a:endParaRPr lang="en-US" sz="950" dirty="0"/>
          </a:p>
        </p:txBody>
      </p:sp>
      <p:sp>
        <p:nvSpPr>
          <p:cNvPr id="30" name="Text 22"/>
          <p:cNvSpPr/>
          <p:nvPr/>
        </p:nvSpPr>
        <p:spPr>
          <a:xfrm>
            <a:off x="4864608" y="2103120"/>
            <a:ext cx="1920240" cy="420624"/>
          </a:xfrm>
          <a:prstGeom prst="rect">
            <a:avLst/>
          </a:prstGeom>
          <a:noFill/>
          <a:ln/>
        </p:spPr>
        <p:txBody>
          <a:bodyPr wrap="square" lIns="0" tIns="0" rIns="0" bIns="0" rtlCol="0" anchor="ctr"/>
          <a:lstStyle/>
          <a:p>
            <a:pPr marL="0" indent="0" algn="ctr">
              <a:buNone/>
            </a:pPr>
            <a:r>
              <a:rPr lang="en-US" sz="950" dirty="0">
                <a:solidFill>
                  <a:srgbClr val="9B6DFF"/>
                </a:solidFill>
                <a:latin typeface="Calibri" pitchFamily="34" charset="0"/>
                <a:ea typeface="Calibri" pitchFamily="34" charset="-122"/>
                <a:cs typeface="Calibri" pitchFamily="34" charset="-120"/>
              </a:rPr>
              <a:t>✗ Compilateur</a:t>
            </a:r>
            <a:endParaRPr lang="en-US" sz="950" dirty="0"/>
          </a:p>
        </p:txBody>
      </p:sp>
      <p:sp>
        <p:nvSpPr>
          <p:cNvPr id="31" name="Text 23"/>
          <p:cNvSpPr/>
          <p:nvPr/>
        </p:nvSpPr>
        <p:spPr>
          <a:xfrm>
            <a:off x="6784848" y="2103120"/>
            <a:ext cx="1920240" cy="420624"/>
          </a:xfrm>
          <a:prstGeom prst="rect">
            <a:avLst/>
          </a:prstGeom>
          <a:noFill/>
          <a:ln/>
        </p:spPr>
        <p:txBody>
          <a:bodyPr wrap="square" lIns="0" tIns="0" rIns="0" bIns="0" rtlCol="0" anchor="ctr"/>
          <a:lstStyle/>
          <a:p>
            <a:pPr marL="0" indent="0" algn="ctr">
              <a:buNone/>
            </a:pPr>
            <a:r>
              <a:rPr lang="en-US" sz="950" dirty="0">
                <a:solidFill>
                  <a:srgbClr val="9B6DFF"/>
                </a:solidFill>
                <a:latin typeface="Calibri" pitchFamily="34" charset="0"/>
                <a:ea typeface="Calibri" pitchFamily="34" charset="-122"/>
                <a:cs typeface="Calibri" pitchFamily="34" charset="-120"/>
              </a:rPr>
              <a:t>✗ JIT / JVM</a:t>
            </a:r>
            <a:endParaRPr lang="en-US" sz="950" dirty="0"/>
          </a:p>
        </p:txBody>
      </p:sp>
      <p:sp>
        <p:nvSpPr>
          <p:cNvPr id="32" name="Shape 24"/>
          <p:cNvSpPr/>
          <p:nvPr/>
        </p:nvSpPr>
        <p:spPr>
          <a:xfrm>
            <a:off x="566928" y="2523744"/>
            <a:ext cx="2377440" cy="420624"/>
          </a:xfrm>
          <a:prstGeom prst="rect">
            <a:avLst/>
          </a:prstGeom>
          <a:solidFill>
            <a:srgbClr val="060B14"/>
          </a:solidFill>
          <a:ln w="6350">
            <a:solidFill>
              <a:srgbClr val="0F1E30"/>
            </a:solidFill>
            <a:prstDash val="solid"/>
          </a:ln>
        </p:spPr>
        <p:txBody>
          <a:bodyPr/>
          <a:lstStyle/>
          <a:p>
            <a:endParaRPr lang="en-CA"/>
          </a:p>
        </p:txBody>
      </p:sp>
      <p:sp>
        <p:nvSpPr>
          <p:cNvPr id="33" name="Shape 25"/>
          <p:cNvSpPr/>
          <p:nvPr/>
        </p:nvSpPr>
        <p:spPr>
          <a:xfrm>
            <a:off x="4864608" y="2523744"/>
            <a:ext cx="1920240" cy="420624"/>
          </a:xfrm>
          <a:prstGeom prst="rect">
            <a:avLst/>
          </a:prstGeom>
          <a:solidFill>
            <a:srgbClr val="060B14"/>
          </a:solidFill>
          <a:ln w="6350">
            <a:solidFill>
              <a:srgbClr val="0F1E30"/>
            </a:solidFill>
            <a:prstDash val="solid"/>
          </a:ln>
        </p:spPr>
        <p:txBody>
          <a:bodyPr/>
          <a:lstStyle/>
          <a:p>
            <a:endParaRPr lang="en-CA"/>
          </a:p>
        </p:txBody>
      </p:sp>
      <p:sp>
        <p:nvSpPr>
          <p:cNvPr id="34" name="Shape 26"/>
          <p:cNvSpPr/>
          <p:nvPr/>
        </p:nvSpPr>
        <p:spPr>
          <a:xfrm>
            <a:off x="6784848" y="2523744"/>
            <a:ext cx="1920240" cy="420624"/>
          </a:xfrm>
          <a:prstGeom prst="rect">
            <a:avLst/>
          </a:prstGeom>
          <a:solidFill>
            <a:srgbClr val="060B14"/>
          </a:solidFill>
          <a:ln w="6350">
            <a:solidFill>
              <a:srgbClr val="0F1E30"/>
            </a:solidFill>
            <a:prstDash val="solid"/>
          </a:ln>
        </p:spPr>
        <p:txBody>
          <a:bodyPr/>
          <a:lstStyle/>
          <a:p>
            <a:endParaRPr lang="en-CA"/>
          </a:p>
        </p:txBody>
      </p:sp>
      <p:sp>
        <p:nvSpPr>
          <p:cNvPr id="35" name="Shape 27"/>
          <p:cNvSpPr/>
          <p:nvPr/>
        </p:nvSpPr>
        <p:spPr>
          <a:xfrm>
            <a:off x="2944368" y="2523744"/>
            <a:ext cx="1920240" cy="420624"/>
          </a:xfrm>
          <a:prstGeom prst="rect">
            <a:avLst/>
          </a:prstGeom>
          <a:solidFill>
            <a:srgbClr val="061522"/>
          </a:solidFill>
          <a:ln w="6350">
            <a:solidFill>
              <a:srgbClr val="0D3A52"/>
            </a:solidFill>
            <a:prstDash val="solid"/>
          </a:ln>
        </p:spPr>
        <p:txBody>
          <a:bodyPr/>
          <a:lstStyle/>
          <a:p>
            <a:endParaRPr lang="en-CA"/>
          </a:p>
        </p:txBody>
      </p:sp>
      <p:sp>
        <p:nvSpPr>
          <p:cNvPr id="36" name="Text 28"/>
          <p:cNvSpPr/>
          <p:nvPr/>
        </p:nvSpPr>
        <p:spPr>
          <a:xfrm>
            <a:off x="694944" y="2523744"/>
            <a:ext cx="2249424" cy="420624"/>
          </a:xfrm>
          <a:prstGeom prst="rect">
            <a:avLst/>
          </a:prstGeom>
          <a:noFill/>
          <a:ln/>
        </p:spPr>
        <p:txBody>
          <a:bodyPr wrap="square" lIns="0" tIns="0" rIns="0" bIns="0" rtlCol="0" anchor="ctr"/>
          <a:lstStyle/>
          <a:p>
            <a:pPr marL="0" indent="0">
              <a:buNone/>
            </a:pPr>
            <a:r>
              <a:rPr lang="en-US" sz="950" dirty="0">
                <a:solidFill>
                  <a:srgbClr val="8892A4"/>
                </a:solidFill>
                <a:latin typeface="Calibri" pitchFamily="34" charset="0"/>
                <a:ea typeface="Calibri" pitchFamily="34" charset="-122"/>
                <a:cs typeface="Calibri" pitchFamily="34" charset="-120"/>
              </a:rPr>
              <a:t>Reproductibilité inter-plateformes</a:t>
            </a:r>
            <a:endParaRPr lang="en-US" sz="950" dirty="0"/>
          </a:p>
        </p:txBody>
      </p:sp>
      <p:sp>
        <p:nvSpPr>
          <p:cNvPr id="37" name="Text 29"/>
          <p:cNvSpPr/>
          <p:nvPr/>
        </p:nvSpPr>
        <p:spPr>
          <a:xfrm>
            <a:off x="2944368" y="2523744"/>
            <a:ext cx="1920240" cy="420624"/>
          </a:xfrm>
          <a:prstGeom prst="rect">
            <a:avLst/>
          </a:prstGeom>
          <a:noFill/>
          <a:ln/>
        </p:spPr>
        <p:txBody>
          <a:bodyPr wrap="square" lIns="0" tIns="0" rIns="0" bIns="0" rtlCol="0" anchor="ctr"/>
          <a:lstStyle/>
          <a:p>
            <a:pPr marL="0" indent="0" algn="ctr">
              <a:buNone/>
            </a:pPr>
            <a:r>
              <a:rPr lang="en-US" sz="950" b="1" dirty="0">
                <a:solidFill>
                  <a:srgbClr val="00F5FF"/>
                </a:solidFill>
                <a:latin typeface="Calibri" pitchFamily="34" charset="0"/>
                <a:ea typeface="Calibri" pitchFamily="34" charset="-122"/>
                <a:cs typeface="Calibri" pitchFamily="34" charset="-120"/>
              </a:rPr>
              <a:t>✓ Excellente</a:t>
            </a:r>
            <a:endParaRPr lang="en-US" sz="950" dirty="0"/>
          </a:p>
        </p:txBody>
      </p:sp>
      <p:sp>
        <p:nvSpPr>
          <p:cNvPr id="38" name="Text 30"/>
          <p:cNvSpPr/>
          <p:nvPr/>
        </p:nvSpPr>
        <p:spPr>
          <a:xfrm>
            <a:off x="4864608" y="2523744"/>
            <a:ext cx="1920240" cy="420624"/>
          </a:xfrm>
          <a:prstGeom prst="rect">
            <a:avLst/>
          </a:prstGeom>
          <a:noFill/>
          <a:ln/>
        </p:spPr>
        <p:txBody>
          <a:bodyPr wrap="square" lIns="0" tIns="0" rIns="0" bIns="0" rtlCol="0" anchor="ctr"/>
          <a:lstStyle/>
          <a:p>
            <a:pPr marL="0" indent="0" algn="ctr">
              <a:buNone/>
            </a:pPr>
            <a:r>
              <a:rPr lang="en-US" sz="950" dirty="0">
                <a:solidFill>
                  <a:srgbClr val="8892A4"/>
                </a:solidFill>
                <a:latin typeface="Calibri" pitchFamily="34" charset="0"/>
                <a:ea typeface="Calibri" pitchFamily="34" charset="-122"/>
                <a:cs typeface="Calibri" pitchFamily="34" charset="-120"/>
              </a:rPr>
              <a:t>⚠ Variable</a:t>
            </a:r>
            <a:endParaRPr lang="en-US" sz="950" dirty="0"/>
          </a:p>
        </p:txBody>
      </p:sp>
      <p:sp>
        <p:nvSpPr>
          <p:cNvPr id="39" name="Text 31"/>
          <p:cNvSpPr/>
          <p:nvPr/>
        </p:nvSpPr>
        <p:spPr>
          <a:xfrm>
            <a:off x="6784848" y="2523744"/>
            <a:ext cx="1920240" cy="420624"/>
          </a:xfrm>
          <a:prstGeom prst="rect">
            <a:avLst/>
          </a:prstGeom>
          <a:noFill/>
          <a:ln/>
        </p:spPr>
        <p:txBody>
          <a:bodyPr wrap="square" lIns="0" tIns="0" rIns="0" bIns="0" rtlCol="0" anchor="ctr"/>
          <a:lstStyle/>
          <a:p>
            <a:pPr marL="0" indent="0" algn="ctr">
              <a:buNone/>
            </a:pPr>
            <a:r>
              <a:rPr lang="en-US" sz="950" dirty="0">
                <a:solidFill>
                  <a:srgbClr val="8892A4"/>
                </a:solidFill>
                <a:latin typeface="Calibri" pitchFamily="34" charset="0"/>
                <a:ea typeface="Calibri" pitchFamily="34" charset="-122"/>
                <a:cs typeface="Calibri" pitchFamily="34" charset="-120"/>
              </a:rPr>
              <a:t>⚠ Variable</a:t>
            </a:r>
            <a:endParaRPr lang="en-US" sz="950" dirty="0"/>
          </a:p>
        </p:txBody>
      </p:sp>
      <p:sp>
        <p:nvSpPr>
          <p:cNvPr id="40" name="Shape 32"/>
          <p:cNvSpPr/>
          <p:nvPr/>
        </p:nvSpPr>
        <p:spPr>
          <a:xfrm>
            <a:off x="566928" y="2944368"/>
            <a:ext cx="2377440" cy="420624"/>
          </a:xfrm>
          <a:prstGeom prst="rect">
            <a:avLst/>
          </a:prstGeom>
          <a:solidFill>
            <a:srgbClr val="080D18"/>
          </a:solidFill>
          <a:ln w="6350">
            <a:solidFill>
              <a:srgbClr val="0F1E30"/>
            </a:solidFill>
            <a:prstDash val="solid"/>
          </a:ln>
        </p:spPr>
        <p:txBody>
          <a:bodyPr/>
          <a:lstStyle/>
          <a:p>
            <a:endParaRPr lang="en-CA"/>
          </a:p>
        </p:txBody>
      </p:sp>
      <p:sp>
        <p:nvSpPr>
          <p:cNvPr id="41" name="Shape 33"/>
          <p:cNvSpPr/>
          <p:nvPr/>
        </p:nvSpPr>
        <p:spPr>
          <a:xfrm>
            <a:off x="4864608" y="2944368"/>
            <a:ext cx="1920240" cy="420624"/>
          </a:xfrm>
          <a:prstGeom prst="rect">
            <a:avLst/>
          </a:prstGeom>
          <a:solidFill>
            <a:srgbClr val="080D18"/>
          </a:solidFill>
          <a:ln w="6350">
            <a:solidFill>
              <a:srgbClr val="0F1E30"/>
            </a:solidFill>
            <a:prstDash val="solid"/>
          </a:ln>
        </p:spPr>
        <p:txBody>
          <a:bodyPr/>
          <a:lstStyle/>
          <a:p>
            <a:endParaRPr lang="en-CA"/>
          </a:p>
        </p:txBody>
      </p:sp>
      <p:sp>
        <p:nvSpPr>
          <p:cNvPr id="42" name="Shape 34"/>
          <p:cNvSpPr/>
          <p:nvPr/>
        </p:nvSpPr>
        <p:spPr>
          <a:xfrm>
            <a:off x="6784848" y="2944368"/>
            <a:ext cx="1920240" cy="420624"/>
          </a:xfrm>
          <a:prstGeom prst="rect">
            <a:avLst/>
          </a:prstGeom>
          <a:solidFill>
            <a:srgbClr val="080D18"/>
          </a:solidFill>
          <a:ln w="6350">
            <a:solidFill>
              <a:srgbClr val="0F1E30"/>
            </a:solidFill>
            <a:prstDash val="solid"/>
          </a:ln>
        </p:spPr>
        <p:txBody>
          <a:bodyPr/>
          <a:lstStyle/>
          <a:p>
            <a:endParaRPr lang="en-CA"/>
          </a:p>
        </p:txBody>
      </p:sp>
      <p:sp>
        <p:nvSpPr>
          <p:cNvPr id="43" name="Shape 35"/>
          <p:cNvSpPr/>
          <p:nvPr/>
        </p:nvSpPr>
        <p:spPr>
          <a:xfrm>
            <a:off x="2944368" y="2944368"/>
            <a:ext cx="1920240" cy="420624"/>
          </a:xfrm>
          <a:prstGeom prst="rect">
            <a:avLst/>
          </a:prstGeom>
          <a:solidFill>
            <a:srgbClr val="071828"/>
          </a:solidFill>
          <a:ln w="6350">
            <a:solidFill>
              <a:srgbClr val="0D3A52"/>
            </a:solidFill>
            <a:prstDash val="solid"/>
          </a:ln>
        </p:spPr>
        <p:txBody>
          <a:bodyPr/>
          <a:lstStyle/>
          <a:p>
            <a:endParaRPr lang="en-CA"/>
          </a:p>
        </p:txBody>
      </p:sp>
      <p:sp>
        <p:nvSpPr>
          <p:cNvPr id="44" name="Text 36"/>
          <p:cNvSpPr/>
          <p:nvPr/>
        </p:nvSpPr>
        <p:spPr>
          <a:xfrm>
            <a:off x="694944" y="2944368"/>
            <a:ext cx="2249424" cy="420624"/>
          </a:xfrm>
          <a:prstGeom prst="rect">
            <a:avLst/>
          </a:prstGeom>
          <a:noFill/>
          <a:ln/>
        </p:spPr>
        <p:txBody>
          <a:bodyPr wrap="square" lIns="0" tIns="0" rIns="0" bIns="0" rtlCol="0" anchor="ctr"/>
          <a:lstStyle/>
          <a:p>
            <a:pPr marL="0" indent="0">
              <a:buNone/>
            </a:pPr>
            <a:r>
              <a:rPr lang="en-US" sz="950" dirty="0">
                <a:solidFill>
                  <a:srgbClr val="8892A4"/>
                </a:solidFill>
                <a:latin typeface="Calibri" pitchFamily="34" charset="0"/>
                <a:ea typeface="Calibri" pitchFamily="34" charset="-122"/>
                <a:cs typeface="Calibri" pitchFamily="34" charset="-120"/>
              </a:rPr>
              <a:t>Accès primitives bas niveau</a:t>
            </a:r>
            <a:endParaRPr lang="en-US" sz="950" dirty="0"/>
          </a:p>
        </p:txBody>
      </p:sp>
      <p:sp>
        <p:nvSpPr>
          <p:cNvPr id="45" name="Text 37"/>
          <p:cNvSpPr/>
          <p:nvPr/>
        </p:nvSpPr>
        <p:spPr>
          <a:xfrm>
            <a:off x="2944368" y="2944368"/>
            <a:ext cx="1920240" cy="420624"/>
          </a:xfrm>
          <a:prstGeom prst="rect">
            <a:avLst/>
          </a:prstGeom>
          <a:noFill/>
          <a:ln/>
        </p:spPr>
        <p:txBody>
          <a:bodyPr wrap="square" lIns="0" tIns="0" rIns="0" bIns="0" rtlCol="0" anchor="ctr"/>
          <a:lstStyle/>
          <a:p>
            <a:pPr marL="0" indent="0" algn="ctr">
              <a:buNone/>
            </a:pPr>
            <a:r>
              <a:rPr lang="en-US" sz="950" b="1" dirty="0">
                <a:solidFill>
                  <a:srgbClr val="00F5FF"/>
                </a:solidFill>
                <a:latin typeface="Calibri" pitchFamily="34" charset="0"/>
                <a:ea typeface="Calibri" pitchFamily="34" charset="-122"/>
                <a:cs typeface="Calibri" pitchFamily="34" charset="-120"/>
              </a:rPr>
              <a:t>✓ Via PyCryptodome</a:t>
            </a:r>
            <a:endParaRPr lang="en-US" sz="950" dirty="0"/>
          </a:p>
        </p:txBody>
      </p:sp>
      <p:sp>
        <p:nvSpPr>
          <p:cNvPr id="46" name="Text 38"/>
          <p:cNvSpPr/>
          <p:nvPr/>
        </p:nvSpPr>
        <p:spPr>
          <a:xfrm>
            <a:off x="4864608" y="2944368"/>
            <a:ext cx="1920240" cy="420624"/>
          </a:xfrm>
          <a:prstGeom prst="rect">
            <a:avLst/>
          </a:prstGeom>
          <a:noFill/>
          <a:ln/>
        </p:spPr>
        <p:txBody>
          <a:bodyPr wrap="square" lIns="0" tIns="0" rIns="0" bIns="0" rtlCol="0" anchor="ctr"/>
          <a:lstStyle/>
          <a:p>
            <a:pPr marL="0" indent="0" algn="ctr">
              <a:buNone/>
            </a:pPr>
            <a:r>
              <a:rPr lang="en-US" sz="950" dirty="0">
                <a:solidFill>
                  <a:srgbClr val="5EFFA0"/>
                </a:solidFill>
                <a:latin typeface="Calibri" pitchFamily="34" charset="0"/>
                <a:ea typeface="Calibri" pitchFamily="34" charset="-122"/>
                <a:cs typeface="Calibri" pitchFamily="34" charset="-120"/>
              </a:rPr>
              <a:t>✓ Direct</a:t>
            </a:r>
            <a:endParaRPr lang="en-US" sz="950" dirty="0"/>
          </a:p>
        </p:txBody>
      </p:sp>
      <p:sp>
        <p:nvSpPr>
          <p:cNvPr id="47" name="Text 39"/>
          <p:cNvSpPr/>
          <p:nvPr/>
        </p:nvSpPr>
        <p:spPr>
          <a:xfrm>
            <a:off x="6784848" y="2944368"/>
            <a:ext cx="1920240" cy="420624"/>
          </a:xfrm>
          <a:prstGeom prst="rect">
            <a:avLst/>
          </a:prstGeom>
          <a:noFill/>
          <a:ln/>
        </p:spPr>
        <p:txBody>
          <a:bodyPr wrap="square" lIns="0" tIns="0" rIns="0" bIns="0" rtlCol="0" anchor="ctr"/>
          <a:lstStyle/>
          <a:p>
            <a:pPr marL="0" indent="0" algn="ctr">
              <a:buNone/>
            </a:pPr>
            <a:r>
              <a:rPr lang="en-US" sz="950" dirty="0">
                <a:solidFill>
                  <a:srgbClr val="8892A4"/>
                </a:solidFill>
                <a:latin typeface="Calibri" pitchFamily="34" charset="0"/>
                <a:ea typeface="Calibri" pitchFamily="34" charset="-122"/>
                <a:cs typeface="Calibri" pitchFamily="34" charset="-120"/>
              </a:rPr>
              <a:t>⚠ Limité</a:t>
            </a:r>
            <a:endParaRPr lang="en-US" sz="950" dirty="0"/>
          </a:p>
        </p:txBody>
      </p:sp>
      <p:sp>
        <p:nvSpPr>
          <p:cNvPr id="48" name="Shape 40"/>
          <p:cNvSpPr/>
          <p:nvPr/>
        </p:nvSpPr>
        <p:spPr>
          <a:xfrm>
            <a:off x="566928" y="3364992"/>
            <a:ext cx="2377440" cy="420624"/>
          </a:xfrm>
          <a:prstGeom prst="rect">
            <a:avLst/>
          </a:prstGeom>
          <a:solidFill>
            <a:srgbClr val="060B14"/>
          </a:solidFill>
          <a:ln w="6350">
            <a:solidFill>
              <a:srgbClr val="0F1E30"/>
            </a:solidFill>
            <a:prstDash val="solid"/>
          </a:ln>
        </p:spPr>
        <p:txBody>
          <a:bodyPr/>
          <a:lstStyle/>
          <a:p>
            <a:endParaRPr lang="en-CA"/>
          </a:p>
        </p:txBody>
      </p:sp>
      <p:sp>
        <p:nvSpPr>
          <p:cNvPr id="49" name="Shape 41"/>
          <p:cNvSpPr/>
          <p:nvPr/>
        </p:nvSpPr>
        <p:spPr>
          <a:xfrm>
            <a:off x="4864608" y="3364992"/>
            <a:ext cx="1920240" cy="420624"/>
          </a:xfrm>
          <a:prstGeom prst="rect">
            <a:avLst/>
          </a:prstGeom>
          <a:solidFill>
            <a:srgbClr val="060B14"/>
          </a:solidFill>
          <a:ln w="6350">
            <a:solidFill>
              <a:srgbClr val="0F1E30"/>
            </a:solidFill>
            <a:prstDash val="solid"/>
          </a:ln>
        </p:spPr>
        <p:txBody>
          <a:bodyPr/>
          <a:lstStyle/>
          <a:p>
            <a:endParaRPr lang="en-CA"/>
          </a:p>
        </p:txBody>
      </p:sp>
      <p:sp>
        <p:nvSpPr>
          <p:cNvPr id="50" name="Shape 42"/>
          <p:cNvSpPr/>
          <p:nvPr/>
        </p:nvSpPr>
        <p:spPr>
          <a:xfrm>
            <a:off x="6784848" y="3364992"/>
            <a:ext cx="1920240" cy="420624"/>
          </a:xfrm>
          <a:prstGeom prst="rect">
            <a:avLst/>
          </a:prstGeom>
          <a:solidFill>
            <a:srgbClr val="060B14"/>
          </a:solidFill>
          <a:ln w="6350">
            <a:solidFill>
              <a:srgbClr val="0F1E30"/>
            </a:solidFill>
            <a:prstDash val="solid"/>
          </a:ln>
        </p:spPr>
        <p:txBody>
          <a:bodyPr/>
          <a:lstStyle/>
          <a:p>
            <a:endParaRPr lang="en-CA"/>
          </a:p>
        </p:txBody>
      </p:sp>
      <p:sp>
        <p:nvSpPr>
          <p:cNvPr id="51" name="Shape 43"/>
          <p:cNvSpPr/>
          <p:nvPr/>
        </p:nvSpPr>
        <p:spPr>
          <a:xfrm>
            <a:off x="2944368" y="3364992"/>
            <a:ext cx="1920240" cy="420624"/>
          </a:xfrm>
          <a:prstGeom prst="rect">
            <a:avLst/>
          </a:prstGeom>
          <a:solidFill>
            <a:srgbClr val="061522"/>
          </a:solidFill>
          <a:ln w="6350">
            <a:solidFill>
              <a:srgbClr val="0D3A52"/>
            </a:solidFill>
            <a:prstDash val="solid"/>
          </a:ln>
        </p:spPr>
        <p:txBody>
          <a:bodyPr/>
          <a:lstStyle/>
          <a:p>
            <a:endParaRPr lang="en-CA"/>
          </a:p>
        </p:txBody>
      </p:sp>
      <p:sp>
        <p:nvSpPr>
          <p:cNvPr id="52" name="Text 44"/>
          <p:cNvSpPr/>
          <p:nvPr/>
        </p:nvSpPr>
        <p:spPr>
          <a:xfrm>
            <a:off x="694944" y="3364992"/>
            <a:ext cx="2249424" cy="420624"/>
          </a:xfrm>
          <a:prstGeom prst="rect">
            <a:avLst/>
          </a:prstGeom>
          <a:noFill/>
          <a:ln/>
        </p:spPr>
        <p:txBody>
          <a:bodyPr wrap="square" lIns="0" tIns="0" rIns="0" bIns="0" rtlCol="0" anchor="ctr"/>
          <a:lstStyle/>
          <a:p>
            <a:pPr marL="0" indent="0">
              <a:buNone/>
            </a:pPr>
            <a:r>
              <a:rPr lang="en-US" sz="950" dirty="0">
                <a:solidFill>
                  <a:srgbClr val="8892A4"/>
                </a:solidFill>
                <a:latin typeface="Calibri" pitchFamily="34" charset="0"/>
                <a:ea typeface="Calibri" pitchFamily="34" charset="-122"/>
                <a:cs typeface="Calibri" pitchFamily="34" charset="-120"/>
              </a:rPr>
              <a:t>Encodage des données</a:t>
            </a:r>
            <a:endParaRPr lang="en-US" sz="950" dirty="0"/>
          </a:p>
        </p:txBody>
      </p:sp>
      <p:sp>
        <p:nvSpPr>
          <p:cNvPr id="53" name="Text 45"/>
          <p:cNvSpPr/>
          <p:nvPr/>
        </p:nvSpPr>
        <p:spPr>
          <a:xfrm>
            <a:off x="2944368" y="3364992"/>
            <a:ext cx="1920240" cy="420624"/>
          </a:xfrm>
          <a:prstGeom prst="rect">
            <a:avLst/>
          </a:prstGeom>
          <a:noFill/>
          <a:ln/>
        </p:spPr>
        <p:txBody>
          <a:bodyPr wrap="square" lIns="0" tIns="0" rIns="0" bIns="0" rtlCol="0" anchor="ctr"/>
          <a:lstStyle/>
          <a:p>
            <a:pPr marL="0" indent="0" algn="ctr">
              <a:buNone/>
            </a:pPr>
            <a:r>
              <a:rPr lang="en-US" sz="950" b="1" dirty="0">
                <a:solidFill>
                  <a:srgbClr val="00F5FF"/>
                </a:solidFill>
                <a:latin typeface="Calibri" pitchFamily="34" charset="0"/>
                <a:ea typeface="Calibri" pitchFamily="34" charset="-122"/>
                <a:cs typeface="Calibri" pitchFamily="34" charset="-120"/>
              </a:rPr>
              <a:t>✓ octets bruts</a:t>
            </a:r>
            <a:endParaRPr lang="en-US" sz="950" dirty="0"/>
          </a:p>
        </p:txBody>
      </p:sp>
      <p:sp>
        <p:nvSpPr>
          <p:cNvPr id="54" name="Text 46"/>
          <p:cNvSpPr/>
          <p:nvPr/>
        </p:nvSpPr>
        <p:spPr>
          <a:xfrm>
            <a:off x="4864608" y="3364992"/>
            <a:ext cx="1920240" cy="420624"/>
          </a:xfrm>
          <a:prstGeom prst="rect">
            <a:avLst/>
          </a:prstGeom>
          <a:noFill/>
          <a:ln/>
        </p:spPr>
        <p:txBody>
          <a:bodyPr wrap="square" lIns="0" tIns="0" rIns="0" bIns="0" rtlCol="0" anchor="ctr"/>
          <a:lstStyle/>
          <a:p>
            <a:pPr marL="0" indent="0" algn="ctr">
              <a:buNone/>
            </a:pPr>
            <a:r>
              <a:rPr lang="en-US" sz="950" dirty="0">
                <a:solidFill>
                  <a:srgbClr val="5EFFA0"/>
                </a:solidFill>
                <a:latin typeface="Calibri" pitchFamily="34" charset="0"/>
                <a:ea typeface="Calibri" pitchFamily="34" charset="-122"/>
                <a:cs typeface="Calibri" pitchFamily="34" charset="-120"/>
              </a:rPr>
              <a:t>✓ Contrôlable</a:t>
            </a:r>
            <a:endParaRPr lang="en-US" sz="950" dirty="0"/>
          </a:p>
        </p:txBody>
      </p:sp>
      <p:sp>
        <p:nvSpPr>
          <p:cNvPr id="55" name="Text 47"/>
          <p:cNvSpPr/>
          <p:nvPr/>
        </p:nvSpPr>
        <p:spPr>
          <a:xfrm>
            <a:off x="6784848" y="3364992"/>
            <a:ext cx="1920240" cy="420624"/>
          </a:xfrm>
          <a:prstGeom prst="rect">
            <a:avLst/>
          </a:prstGeom>
          <a:noFill/>
          <a:ln/>
        </p:spPr>
        <p:txBody>
          <a:bodyPr wrap="square" lIns="0" tIns="0" rIns="0" bIns="0" rtlCol="0" anchor="ctr"/>
          <a:lstStyle/>
          <a:p>
            <a:pPr marL="0" indent="0" algn="ctr">
              <a:buNone/>
            </a:pPr>
            <a:r>
              <a:rPr lang="en-US" sz="950" dirty="0">
                <a:solidFill>
                  <a:srgbClr val="9B6DFF"/>
                </a:solidFill>
                <a:latin typeface="Calibri" pitchFamily="34" charset="0"/>
                <a:ea typeface="Calibri" pitchFamily="34" charset="-122"/>
                <a:cs typeface="Calibri" pitchFamily="34" charset="-120"/>
              </a:rPr>
              <a:t>✗ JVM dépendant</a:t>
            </a:r>
            <a:endParaRPr lang="en-US" sz="950" dirty="0"/>
          </a:p>
        </p:txBody>
      </p:sp>
      <p:sp>
        <p:nvSpPr>
          <p:cNvPr id="56" name="Shape 48"/>
          <p:cNvSpPr/>
          <p:nvPr/>
        </p:nvSpPr>
        <p:spPr>
          <a:xfrm>
            <a:off x="594360" y="3902202"/>
            <a:ext cx="4005072" cy="621792"/>
          </a:xfrm>
          <a:prstGeom prst="roundRect">
            <a:avLst>
              <a:gd name="adj" fmla="val 8824"/>
            </a:avLst>
          </a:prstGeom>
          <a:solidFill>
            <a:srgbClr val="060F1E"/>
          </a:solidFill>
          <a:ln w="9525">
            <a:solidFill>
              <a:srgbClr val="0D3D5C"/>
            </a:solidFill>
            <a:prstDash val="solid"/>
          </a:ln>
        </p:spPr>
        <p:txBody>
          <a:bodyPr/>
          <a:lstStyle/>
          <a:p>
            <a:endParaRPr lang="en-CA"/>
          </a:p>
        </p:txBody>
      </p:sp>
      <p:sp>
        <p:nvSpPr>
          <p:cNvPr id="57" name="Text 49"/>
          <p:cNvSpPr/>
          <p:nvPr/>
        </p:nvSpPr>
        <p:spPr>
          <a:xfrm>
            <a:off x="566928" y="3895344"/>
            <a:ext cx="4005072" cy="621792"/>
          </a:xfrm>
          <a:prstGeom prst="rect">
            <a:avLst/>
          </a:prstGeom>
          <a:noFill/>
          <a:ln/>
        </p:spPr>
        <p:txBody>
          <a:bodyPr wrap="square" rtlCol="0" anchor="ctr"/>
          <a:lstStyle/>
          <a:p>
            <a:pPr marL="0" indent="0" algn="ctr">
              <a:buNone/>
            </a:pPr>
            <a:r>
              <a:rPr lang="fr-FR" sz="900" dirty="0">
                <a:solidFill>
                  <a:srgbClr val="00F5FF"/>
                </a:solidFill>
                <a:latin typeface="Calibri" pitchFamily="34" charset="0"/>
                <a:cs typeface="Calibri" pitchFamily="34" charset="-120"/>
              </a:rPr>
              <a:t>C++ aurait introduit un biais de compilation </a:t>
            </a:r>
            <a:r>
              <a:rPr lang="fr-FR" sz="900" dirty="0">
                <a:solidFill>
                  <a:srgbClr val="8892A4"/>
                </a:solidFill>
                <a:latin typeface="Calibri" pitchFamily="34" charset="0"/>
                <a:cs typeface="Calibri" pitchFamily="34" charset="-120"/>
              </a:rPr>
              <a:t>: les performances mesurées refléteraient les optimisations du compilateur autant que l'algorithme lui-même. Python, via PyCryptodome, délègue aux mêmes routines C sur les deux plateformes — le compilateur est hors équation.</a:t>
            </a:r>
            <a:endParaRPr lang="en-US" sz="900" dirty="0">
              <a:solidFill>
                <a:srgbClr val="8892A4"/>
              </a:solidFill>
              <a:latin typeface="Calibri" pitchFamily="34" charset="0"/>
              <a:cs typeface="Calibri" pitchFamily="34" charset="-120"/>
            </a:endParaRPr>
          </a:p>
        </p:txBody>
      </p:sp>
      <p:sp>
        <p:nvSpPr>
          <p:cNvPr id="58" name="Shape 50"/>
          <p:cNvSpPr/>
          <p:nvPr/>
        </p:nvSpPr>
        <p:spPr>
          <a:xfrm>
            <a:off x="4791456" y="3902202"/>
            <a:ext cx="4005072" cy="621792"/>
          </a:xfrm>
          <a:prstGeom prst="roundRect">
            <a:avLst>
              <a:gd name="adj" fmla="val 8824"/>
            </a:avLst>
          </a:prstGeom>
          <a:solidFill>
            <a:srgbClr val="060F1E"/>
          </a:solidFill>
          <a:ln w="9525">
            <a:solidFill>
              <a:srgbClr val="0D3D5C"/>
            </a:solidFill>
            <a:prstDash val="solid"/>
          </a:ln>
        </p:spPr>
        <p:txBody>
          <a:bodyPr/>
          <a:lstStyle/>
          <a:p>
            <a:endParaRPr lang="en-CA"/>
          </a:p>
        </p:txBody>
      </p:sp>
      <p:sp>
        <p:nvSpPr>
          <p:cNvPr id="59" name="Text 51"/>
          <p:cNvSpPr/>
          <p:nvPr/>
        </p:nvSpPr>
        <p:spPr>
          <a:xfrm>
            <a:off x="4937760" y="3822192"/>
            <a:ext cx="3749040" cy="621792"/>
          </a:xfrm>
          <a:prstGeom prst="rect">
            <a:avLst/>
          </a:prstGeom>
          <a:noFill/>
          <a:ln/>
        </p:spPr>
        <p:txBody>
          <a:bodyPr wrap="square" rtlCol="0" anchor="ctr"/>
          <a:lstStyle/>
          <a:p>
            <a:pPr marL="0" indent="0" algn="ctr">
              <a:buNone/>
            </a:pPr>
            <a:r>
              <a:rPr lang="fr-FR" sz="900" dirty="0">
                <a:solidFill>
                  <a:srgbClr val="00F5FF"/>
                </a:solidFill>
                <a:latin typeface="Calibri" pitchFamily="34" charset="0"/>
                <a:ea typeface="Calibri" pitchFamily="34" charset="-122"/>
                <a:cs typeface="Calibri" pitchFamily="34" charset="-120"/>
              </a:rPr>
              <a:t>Les messages sont générés en octets bruts via os.urandom() </a:t>
            </a:r>
            <a:r>
              <a:rPr lang="fr-FR" sz="900" dirty="0">
                <a:solidFill>
                  <a:srgbClr val="8892A4"/>
                </a:solidFill>
                <a:latin typeface="Calibri" pitchFamily="34" charset="0"/>
                <a:ea typeface="Calibri" pitchFamily="34" charset="-122"/>
                <a:cs typeface="Calibri" pitchFamily="34" charset="-120"/>
              </a:rPr>
              <a:t>— aucune conversion str/unicode, aucun biais d'encodage inter-plateforme possible.</a:t>
            </a:r>
            <a:endParaRPr lang="en-US" sz="900" dirty="0">
              <a:solidFill>
                <a:srgbClr val="8892A4"/>
              </a:solidFill>
            </a:endParaRPr>
          </a:p>
        </p:txBody>
      </p:sp>
      <p:sp>
        <p:nvSpPr>
          <p:cNvPr id="60" name="Text 52"/>
          <p:cNvSpPr/>
          <p:nvPr/>
        </p:nvSpPr>
        <p:spPr>
          <a:xfrm>
            <a:off x="1371600" y="4828032"/>
            <a:ext cx="6400800" cy="228600"/>
          </a:xfrm>
          <a:prstGeom prst="rect">
            <a:avLst/>
          </a:prstGeom>
          <a:noFill/>
          <a:ln/>
        </p:spPr>
        <p:txBody>
          <a:bodyPr wrap="square" rtlCol="0" anchor="ctr"/>
          <a:lstStyle/>
          <a:p>
            <a:pPr marL="0" indent="0" algn="ctr">
              <a:buNone/>
            </a:pPr>
            <a:r>
              <a:rPr lang="en-US" sz="850" b="1" kern="0" spc="100" dirty="0">
                <a:solidFill>
                  <a:srgbClr val="00F5FF"/>
                </a:solidFill>
                <a:latin typeface="Calibri" pitchFamily="34" charset="0"/>
                <a:ea typeface="Calibri" pitchFamily="34" charset="-122"/>
                <a:cs typeface="Calibri" pitchFamily="34" charset="-120"/>
              </a:rPr>
              <a:t>INF1430</a:t>
            </a:r>
            <a:r>
              <a:rPr lang="en-US" sz="850" kern="0" spc="100" dirty="0">
                <a:solidFill>
                  <a:srgbClr val="3A4A65"/>
                </a:solidFill>
                <a:latin typeface="Calibri" pitchFamily="34" charset="0"/>
                <a:ea typeface="Calibri" pitchFamily="34" charset="-122"/>
                <a:cs typeface="Calibri" pitchFamily="34" charset="-120"/>
              </a:rPr>
              <a:t>  ·  Université TÉLUQ  ·  TN3  ·  Melissa Moya  ·  2026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256032" y="201168"/>
            <a:ext cx="548640" cy="548640"/>
          </a:xfrm>
          <a:prstGeom prst="rect">
            <a:avLst/>
          </a:prstGeom>
        </p:spPr>
      </p:pic>
      <p:pic>
        <p:nvPicPr>
          <p:cNvPr id="4" name="Image 2" descr="preencoded.png"/>
          <p:cNvPicPr>
            <a:picLocks noChangeAspect="1"/>
          </p:cNvPicPr>
          <p:nvPr/>
        </p:nvPicPr>
        <p:blipFill>
          <a:blip r:embed="rId4"/>
          <a:stretch>
            <a:fillRect/>
          </a:stretch>
        </p:blipFill>
        <p:spPr>
          <a:xfrm flipH="1">
            <a:off x="8339328" y="201168"/>
            <a:ext cx="548640" cy="548640"/>
          </a:xfrm>
          <a:prstGeom prst="rect">
            <a:avLst/>
          </a:prstGeom>
        </p:spPr>
      </p:pic>
      <p:pic>
        <p:nvPicPr>
          <p:cNvPr id="5" name="Image 3" descr="preencoded.png"/>
          <p:cNvPicPr>
            <a:picLocks noChangeAspect="1"/>
          </p:cNvPicPr>
          <p:nvPr/>
        </p:nvPicPr>
        <p:blipFill>
          <a:blip r:embed="rId4"/>
          <a:stretch>
            <a:fillRect/>
          </a:stretch>
        </p:blipFill>
        <p:spPr>
          <a:xfrm flipV="1">
            <a:off x="256032" y="4393692"/>
            <a:ext cx="548640" cy="548640"/>
          </a:xfrm>
          <a:prstGeom prst="rect">
            <a:avLst/>
          </a:prstGeom>
        </p:spPr>
      </p:pic>
      <p:pic>
        <p:nvPicPr>
          <p:cNvPr id="6" name="Image 4" descr="preencoded.png"/>
          <p:cNvPicPr>
            <a:picLocks noChangeAspect="1"/>
          </p:cNvPicPr>
          <p:nvPr/>
        </p:nvPicPr>
        <p:blipFill>
          <a:blip r:embed="rId4"/>
          <a:stretch>
            <a:fillRect/>
          </a:stretch>
        </p:blipFill>
        <p:spPr>
          <a:xfrm flipH="1" flipV="1">
            <a:off x="8339328" y="4393692"/>
            <a:ext cx="548640" cy="548640"/>
          </a:xfrm>
          <a:prstGeom prst="rect">
            <a:avLst/>
          </a:prstGeom>
        </p:spPr>
      </p:pic>
      <p:pic>
        <p:nvPicPr>
          <p:cNvPr id="7" name="Image 5" descr="preencoded.png"/>
          <p:cNvPicPr>
            <a:picLocks noChangeAspect="1"/>
          </p:cNvPicPr>
          <p:nvPr/>
        </p:nvPicPr>
        <p:blipFill>
          <a:blip r:embed="rId5">
            <a:alphaModFix amt="80000"/>
          </a:blip>
          <a:stretch>
            <a:fillRect/>
          </a:stretch>
        </p:blipFill>
        <p:spPr>
          <a:xfrm>
            <a:off x="566928" y="256032"/>
            <a:ext cx="256032" cy="256032"/>
          </a:xfrm>
          <a:prstGeom prst="rect">
            <a:avLst/>
          </a:prstGeom>
        </p:spPr>
      </p:pic>
      <p:sp>
        <p:nvSpPr>
          <p:cNvPr id="8" name="Text 0"/>
          <p:cNvSpPr/>
          <p:nvPr/>
        </p:nvSpPr>
        <p:spPr>
          <a:xfrm>
            <a:off x="868680" y="256032"/>
            <a:ext cx="4572000" cy="274320"/>
          </a:xfrm>
          <a:prstGeom prst="rect">
            <a:avLst/>
          </a:prstGeom>
          <a:noFill/>
          <a:ln/>
        </p:spPr>
        <p:txBody>
          <a:bodyPr wrap="square" rtlCol="0" anchor="ctr"/>
          <a:lstStyle/>
          <a:p>
            <a:pPr marL="0" indent="0">
              <a:buNone/>
            </a:pPr>
            <a:r>
              <a:rPr lang="en-US" sz="1000" b="1" kern="0" spc="50" dirty="0">
                <a:solidFill>
                  <a:srgbClr val="00F5FF"/>
                </a:solidFill>
                <a:latin typeface="Calibri" pitchFamily="34" charset="0"/>
                <a:ea typeface="Calibri" pitchFamily="34" charset="-122"/>
                <a:cs typeface="Calibri" pitchFamily="34" charset="-120"/>
              </a:rPr>
              <a:t>03  </a:t>
            </a:r>
            <a:r>
              <a:rPr lang="en-US" sz="1000" kern="0" spc="50" dirty="0">
                <a:solidFill>
                  <a:srgbClr val="8892A4"/>
                </a:solidFill>
                <a:latin typeface="Calibri" pitchFamily="34" charset="0"/>
                <a:ea typeface="Calibri" pitchFamily="34" charset="-122"/>
                <a:cs typeface="Calibri" pitchFamily="34" charset="-120"/>
              </a:rPr>
              <a:t>Validation fonctionnelle</a:t>
            </a:r>
            <a:endParaRPr lang="en-US" sz="1000" dirty="0"/>
          </a:p>
        </p:txBody>
      </p:sp>
      <p:sp>
        <p:nvSpPr>
          <p:cNvPr id="9" name="Text 1"/>
          <p:cNvSpPr/>
          <p:nvPr/>
        </p:nvSpPr>
        <p:spPr>
          <a:xfrm>
            <a:off x="566928" y="566928"/>
            <a:ext cx="7315200" cy="530352"/>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Known Answer Tests — KAT</a:t>
            </a:r>
            <a:endParaRPr lang="en-US" sz="2600" dirty="0"/>
          </a:p>
        </p:txBody>
      </p:sp>
      <p:sp>
        <p:nvSpPr>
          <p:cNvPr id="10" name="Text 2"/>
          <p:cNvSpPr/>
          <p:nvPr/>
        </p:nvSpPr>
        <p:spPr>
          <a:xfrm>
            <a:off x="566928" y="1078992"/>
            <a:ext cx="7772400" cy="292608"/>
          </a:xfrm>
          <a:prstGeom prst="rect">
            <a:avLst/>
          </a:prstGeom>
          <a:noFill/>
          <a:ln/>
        </p:spPr>
        <p:txBody>
          <a:bodyPr wrap="square" rtlCol="0" anchor="ctr"/>
          <a:lstStyle/>
          <a:p>
            <a:pPr marL="0" indent="0">
              <a:buNone/>
            </a:pPr>
            <a:r>
              <a:rPr lang="en-US" sz="1050" i="1" dirty="0">
                <a:solidFill>
                  <a:srgbClr val="8892A4"/>
                </a:solidFill>
                <a:latin typeface="Calibri" pitchFamily="34" charset="0"/>
                <a:ea typeface="Calibri" pitchFamily="34" charset="-122"/>
                <a:cs typeface="Calibri" pitchFamily="34" charset="-120"/>
              </a:rPr>
              <a:t>Avant toute mesure de performance : prouver que les implémentations sont correctes.</a:t>
            </a:r>
            <a:endParaRPr lang="en-US" sz="1050" dirty="0"/>
          </a:p>
        </p:txBody>
      </p:sp>
      <p:sp>
        <p:nvSpPr>
          <p:cNvPr id="11" name="Shape 3"/>
          <p:cNvSpPr/>
          <p:nvPr/>
        </p:nvSpPr>
        <p:spPr>
          <a:xfrm>
            <a:off x="566927" y="1389888"/>
            <a:ext cx="7706215" cy="384048"/>
          </a:xfrm>
          <a:prstGeom prst="roundRect">
            <a:avLst>
              <a:gd name="adj" fmla="val 9524"/>
            </a:avLst>
          </a:prstGeom>
          <a:solidFill>
            <a:srgbClr val="0D1E35"/>
          </a:solidFill>
          <a:ln w="6350">
            <a:solidFill>
              <a:srgbClr val="1A3A55"/>
            </a:solidFill>
            <a:prstDash val="solid"/>
          </a:ln>
        </p:spPr>
        <p:txBody>
          <a:bodyPr/>
          <a:lstStyle/>
          <a:p>
            <a:endParaRPr lang="en-CA"/>
          </a:p>
        </p:txBody>
      </p:sp>
      <p:sp>
        <p:nvSpPr>
          <p:cNvPr id="12" name="Text 4"/>
          <p:cNvSpPr/>
          <p:nvPr/>
        </p:nvSpPr>
        <p:spPr>
          <a:xfrm>
            <a:off x="694944" y="1389888"/>
            <a:ext cx="1371600" cy="384048"/>
          </a:xfrm>
          <a:prstGeom prst="rect">
            <a:avLst/>
          </a:prstGeom>
          <a:noFill/>
          <a:ln/>
        </p:spPr>
        <p:txBody>
          <a:bodyPr wrap="square" lIns="0" tIns="0" rIns="0" bIns="0" rtlCol="0" anchor="ctr"/>
          <a:lstStyle/>
          <a:p>
            <a:pPr marL="0" indent="0" algn="l">
              <a:buNone/>
            </a:pPr>
            <a:r>
              <a:rPr lang="en-US" sz="1050" b="1" dirty="0">
                <a:solidFill>
                  <a:srgbClr val="00F5FF"/>
                </a:solidFill>
                <a:latin typeface="Calibri" pitchFamily="34" charset="0"/>
                <a:ea typeface="Calibri" pitchFamily="34" charset="-122"/>
                <a:cs typeface="Calibri" pitchFamily="34" charset="-120"/>
              </a:rPr>
              <a:t>Algorithme</a:t>
            </a:r>
            <a:endParaRPr lang="en-US" sz="1050" dirty="0"/>
          </a:p>
        </p:txBody>
      </p:sp>
      <p:sp>
        <p:nvSpPr>
          <p:cNvPr id="13" name="Text 5"/>
          <p:cNvSpPr/>
          <p:nvPr/>
        </p:nvSpPr>
        <p:spPr>
          <a:xfrm>
            <a:off x="1938528" y="1389888"/>
            <a:ext cx="1371600" cy="384048"/>
          </a:xfrm>
          <a:prstGeom prst="rect">
            <a:avLst/>
          </a:prstGeom>
          <a:noFill/>
          <a:ln/>
        </p:spPr>
        <p:txBody>
          <a:bodyPr wrap="square" lIns="0" tIns="0" rIns="0" bIns="0" rtlCol="0" anchor="ctr"/>
          <a:lstStyle/>
          <a:p>
            <a:pPr marL="0" indent="0" algn="ctr">
              <a:buNone/>
            </a:pPr>
            <a:r>
              <a:rPr lang="en-US" sz="1050" b="1" dirty="0">
                <a:solidFill>
                  <a:srgbClr val="00F5FF"/>
                </a:solidFill>
                <a:latin typeface="Calibri" pitchFamily="34" charset="0"/>
                <a:ea typeface="Calibri" pitchFamily="34" charset="-122"/>
                <a:cs typeface="Calibri" pitchFamily="34" charset="-120"/>
              </a:rPr>
              <a:t>Mode</a:t>
            </a:r>
            <a:endParaRPr lang="en-US" sz="1050" dirty="0"/>
          </a:p>
        </p:txBody>
      </p:sp>
      <p:sp>
        <p:nvSpPr>
          <p:cNvPr id="14" name="Text 6"/>
          <p:cNvSpPr/>
          <p:nvPr/>
        </p:nvSpPr>
        <p:spPr>
          <a:xfrm>
            <a:off x="3310128" y="1389888"/>
            <a:ext cx="2926080" cy="384048"/>
          </a:xfrm>
          <a:prstGeom prst="rect">
            <a:avLst/>
          </a:prstGeom>
          <a:noFill/>
          <a:ln/>
        </p:spPr>
        <p:txBody>
          <a:bodyPr wrap="square" lIns="0" tIns="0" rIns="0" bIns="0" rtlCol="0" anchor="ctr"/>
          <a:lstStyle/>
          <a:p>
            <a:pPr marL="0" indent="0" algn="ctr">
              <a:buNone/>
            </a:pPr>
            <a:r>
              <a:rPr lang="en-US" sz="1050" b="1" dirty="0">
                <a:solidFill>
                  <a:srgbClr val="00F5FF"/>
                </a:solidFill>
                <a:latin typeface="Calibri" pitchFamily="34" charset="0"/>
                <a:ea typeface="Calibri" pitchFamily="34" charset="-122"/>
                <a:cs typeface="Calibri" pitchFamily="34" charset="-120"/>
              </a:rPr>
              <a:t>Référence NIST/RFC</a:t>
            </a:r>
            <a:endParaRPr lang="en-US" sz="1050" dirty="0"/>
          </a:p>
        </p:txBody>
      </p:sp>
      <p:sp>
        <p:nvSpPr>
          <p:cNvPr id="15" name="Text 7"/>
          <p:cNvSpPr/>
          <p:nvPr/>
        </p:nvSpPr>
        <p:spPr>
          <a:xfrm>
            <a:off x="6236208" y="1389888"/>
            <a:ext cx="1920240" cy="384048"/>
          </a:xfrm>
          <a:prstGeom prst="rect">
            <a:avLst/>
          </a:prstGeom>
          <a:noFill/>
          <a:ln/>
        </p:spPr>
        <p:txBody>
          <a:bodyPr wrap="square" lIns="0" tIns="0" rIns="0" bIns="0" rtlCol="0" anchor="ctr"/>
          <a:lstStyle/>
          <a:p>
            <a:pPr marL="0" indent="0" algn="ctr">
              <a:buNone/>
            </a:pPr>
            <a:r>
              <a:rPr lang="en-US" sz="1050" b="1" dirty="0">
                <a:solidFill>
                  <a:srgbClr val="00F5FF"/>
                </a:solidFill>
                <a:latin typeface="Calibri" pitchFamily="34" charset="0"/>
                <a:ea typeface="Calibri" pitchFamily="34" charset="-122"/>
                <a:cs typeface="Calibri" pitchFamily="34" charset="-120"/>
              </a:rPr>
              <a:t>Statut</a:t>
            </a:r>
            <a:endParaRPr lang="en-US" sz="1050" dirty="0"/>
          </a:p>
        </p:txBody>
      </p:sp>
      <p:sp>
        <p:nvSpPr>
          <p:cNvPr id="16" name="Shape 8"/>
          <p:cNvSpPr/>
          <p:nvPr/>
        </p:nvSpPr>
        <p:spPr>
          <a:xfrm>
            <a:off x="566928" y="1773936"/>
            <a:ext cx="7706214" cy="384048"/>
          </a:xfrm>
          <a:prstGeom prst="rect">
            <a:avLst/>
          </a:prstGeom>
          <a:solidFill>
            <a:srgbClr val="080F1E"/>
          </a:solidFill>
          <a:ln w="6350">
            <a:solidFill>
              <a:srgbClr val="0F1E30"/>
            </a:solidFill>
            <a:prstDash val="solid"/>
          </a:ln>
        </p:spPr>
        <p:txBody>
          <a:bodyPr/>
          <a:lstStyle/>
          <a:p>
            <a:endParaRPr lang="en-CA"/>
          </a:p>
        </p:txBody>
      </p:sp>
      <p:sp>
        <p:nvSpPr>
          <p:cNvPr id="17" name="Text 9"/>
          <p:cNvSpPr/>
          <p:nvPr/>
        </p:nvSpPr>
        <p:spPr>
          <a:xfrm>
            <a:off x="694944" y="1773936"/>
            <a:ext cx="1371600" cy="38404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AES-128</a:t>
            </a:r>
            <a:endParaRPr lang="en-US" sz="1100" dirty="0"/>
          </a:p>
        </p:txBody>
      </p:sp>
      <p:sp>
        <p:nvSpPr>
          <p:cNvPr id="18" name="Text 10"/>
          <p:cNvSpPr/>
          <p:nvPr/>
        </p:nvSpPr>
        <p:spPr>
          <a:xfrm>
            <a:off x="1938528" y="1773936"/>
            <a:ext cx="1371600" cy="384048"/>
          </a:xfrm>
          <a:prstGeom prst="rect">
            <a:avLst/>
          </a:prstGeom>
          <a:noFill/>
          <a:ln/>
        </p:spPr>
        <p:txBody>
          <a:bodyPr wrap="square" lIns="0" tIns="0" rIns="0" bIns="0"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ECB</a:t>
            </a:r>
            <a:endParaRPr lang="en-US" sz="1000" dirty="0"/>
          </a:p>
        </p:txBody>
      </p:sp>
      <p:sp>
        <p:nvSpPr>
          <p:cNvPr id="19" name="Text 11"/>
          <p:cNvSpPr/>
          <p:nvPr/>
        </p:nvSpPr>
        <p:spPr>
          <a:xfrm>
            <a:off x="3310128" y="1773936"/>
            <a:ext cx="2926080" cy="384048"/>
          </a:xfrm>
          <a:prstGeom prst="rect">
            <a:avLst/>
          </a:prstGeom>
          <a:noFill/>
          <a:ln/>
        </p:spPr>
        <p:txBody>
          <a:bodyPr wrap="square" lIns="0" tIns="0" rIns="0" bIns="0" rtlCol="0" anchor="ctr"/>
          <a:lstStyle/>
          <a:p>
            <a:pPr marL="0" indent="0" algn="ctr">
              <a:buNone/>
            </a:pPr>
            <a:r>
              <a:rPr lang="en-US" sz="1000" dirty="0">
                <a:solidFill>
                  <a:srgbClr val="4A7A9B"/>
                </a:solidFill>
                <a:latin typeface="Calibri" pitchFamily="34" charset="0"/>
                <a:ea typeface="Calibri" pitchFamily="34" charset="-122"/>
                <a:cs typeface="Calibri" pitchFamily="34" charset="-120"/>
              </a:rPr>
              <a:t>NIST FIPS 197</a:t>
            </a:r>
            <a:endParaRPr lang="en-US" sz="1000" dirty="0"/>
          </a:p>
        </p:txBody>
      </p:sp>
      <p:sp>
        <p:nvSpPr>
          <p:cNvPr id="20" name="Text 12"/>
          <p:cNvSpPr/>
          <p:nvPr/>
        </p:nvSpPr>
        <p:spPr>
          <a:xfrm>
            <a:off x="6236208" y="1773936"/>
            <a:ext cx="1920240" cy="384048"/>
          </a:xfrm>
          <a:prstGeom prst="rect">
            <a:avLst/>
          </a:prstGeom>
          <a:noFill/>
          <a:ln/>
        </p:spPr>
        <p:txBody>
          <a:bodyPr wrap="square" lIns="0" tIns="0" rIns="0" bIns="0" rtlCol="0" anchor="ctr"/>
          <a:lstStyle/>
          <a:p>
            <a:pPr marL="0" indent="0" algn="ctr">
              <a:buNone/>
            </a:pPr>
            <a:r>
              <a:rPr lang="en-US" sz="1050" b="1" dirty="0">
                <a:solidFill>
                  <a:srgbClr val="4DFFA0"/>
                </a:solidFill>
                <a:latin typeface="Calibri" pitchFamily="34" charset="0"/>
                <a:ea typeface="Calibri" pitchFamily="34" charset="-122"/>
                <a:cs typeface="Calibri" pitchFamily="34" charset="-120"/>
              </a:rPr>
              <a:t>✓  PASS</a:t>
            </a:r>
            <a:endParaRPr lang="en-US" sz="1050" dirty="0"/>
          </a:p>
        </p:txBody>
      </p:sp>
      <p:sp>
        <p:nvSpPr>
          <p:cNvPr id="21" name="Shape 13"/>
          <p:cNvSpPr/>
          <p:nvPr/>
        </p:nvSpPr>
        <p:spPr>
          <a:xfrm>
            <a:off x="566928" y="2157984"/>
            <a:ext cx="7706214" cy="384048"/>
          </a:xfrm>
          <a:prstGeom prst="rect">
            <a:avLst/>
          </a:prstGeom>
          <a:solidFill>
            <a:srgbClr val="060D18"/>
          </a:solidFill>
          <a:ln w="6350">
            <a:solidFill>
              <a:srgbClr val="0F1E30"/>
            </a:solidFill>
            <a:prstDash val="solid"/>
          </a:ln>
        </p:spPr>
        <p:txBody>
          <a:bodyPr/>
          <a:lstStyle/>
          <a:p>
            <a:endParaRPr lang="en-CA"/>
          </a:p>
        </p:txBody>
      </p:sp>
      <p:sp>
        <p:nvSpPr>
          <p:cNvPr id="22" name="Text 14"/>
          <p:cNvSpPr/>
          <p:nvPr/>
        </p:nvSpPr>
        <p:spPr>
          <a:xfrm>
            <a:off x="694944" y="2157984"/>
            <a:ext cx="1371600" cy="38404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AES-256</a:t>
            </a:r>
            <a:endParaRPr lang="en-US" sz="1100" dirty="0"/>
          </a:p>
        </p:txBody>
      </p:sp>
      <p:sp>
        <p:nvSpPr>
          <p:cNvPr id="23" name="Text 15"/>
          <p:cNvSpPr/>
          <p:nvPr/>
        </p:nvSpPr>
        <p:spPr>
          <a:xfrm>
            <a:off x="1938528" y="2157984"/>
            <a:ext cx="1371600" cy="384048"/>
          </a:xfrm>
          <a:prstGeom prst="rect">
            <a:avLst/>
          </a:prstGeom>
          <a:noFill/>
          <a:ln/>
        </p:spPr>
        <p:txBody>
          <a:bodyPr wrap="square" lIns="0" tIns="0" rIns="0" bIns="0"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GCM</a:t>
            </a:r>
            <a:endParaRPr lang="en-US" sz="1000" dirty="0"/>
          </a:p>
        </p:txBody>
      </p:sp>
      <p:sp>
        <p:nvSpPr>
          <p:cNvPr id="24" name="Text 16"/>
          <p:cNvSpPr/>
          <p:nvPr/>
        </p:nvSpPr>
        <p:spPr>
          <a:xfrm>
            <a:off x="3310128" y="2157984"/>
            <a:ext cx="2926080" cy="384048"/>
          </a:xfrm>
          <a:prstGeom prst="rect">
            <a:avLst/>
          </a:prstGeom>
          <a:noFill/>
          <a:ln/>
        </p:spPr>
        <p:txBody>
          <a:bodyPr wrap="square" lIns="0" tIns="0" rIns="0" bIns="0" rtlCol="0" anchor="ctr"/>
          <a:lstStyle/>
          <a:p>
            <a:pPr marL="0" indent="0" algn="ctr">
              <a:buNone/>
            </a:pPr>
            <a:r>
              <a:rPr lang="en-US" sz="1000" dirty="0">
                <a:solidFill>
                  <a:srgbClr val="4A7A9B"/>
                </a:solidFill>
                <a:latin typeface="Calibri" pitchFamily="34" charset="0"/>
                <a:ea typeface="Calibri" pitchFamily="34" charset="-122"/>
                <a:cs typeface="Calibri" pitchFamily="34" charset="-120"/>
              </a:rPr>
              <a:t>NIST SP 800-38D</a:t>
            </a:r>
            <a:endParaRPr lang="en-US" sz="1000" dirty="0"/>
          </a:p>
        </p:txBody>
      </p:sp>
      <p:sp>
        <p:nvSpPr>
          <p:cNvPr id="25" name="Text 17"/>
          <p:cNvSpPr/>
          <p:nvPr/>
        </p:nvSpPr>
        <p:spPr>
          <a:xfrm>
            <a:off x="6236208" y="2157984"/>
            <a:ext cx="1920240" cy="384048"/>
          </a:xfrm>
          <a:prstGeom prst="rect">
            <a:avLst/>
          </a:prstGeom>
          <a:noFill/>
          <a:ln/>
        </p:spPr>
        <p:txBody>
          <a:bodyPr wrap="square" lIns="0" tIns="0" rIns="0" bIns="0" rtlCol="0" anchor="ctr"/>
          <a:lstStyle/>
          <a:p>
            <a:pPr marL="0" indent="0" algn="ctr">
              <a:buNone/>
            </a:pPr>
            <a:r>
              <a:rPr lang="en-US" sz="1050" b="1" dirty="0">
                <a:solidFill>
                  <a:srgbClr val="4DFFA0"/>
                </a:solidFill>
                <a:latin typeface="Calibri" pitchFamily="34" charset="0"/>
                <a:ea typeface="Calibri" pitchFamily="34" charset="-122"/>
                <a:cs typeface="Calibri" pitchFamily="34" charset="-120"/>
              </a:rPr>
              <a:t>✓  PASS</a:t>
            </a:r>
            <a:endParaRPr lang="en-US" sz="1050" dirty="0"/>
          </a:p>
        </p:txBody>
      </p:sp>
      <p:sp>
        <p:nvSpPr>
          <p:cNvPr id="26" name="Shape 18"/>
          <p:cNvSpPr/>
          <p:nvPr/>
        </p:nvSpPr>
        <p:spPr>
          <a:xfrm>
            <a:off x="566928" y="2542032"/>
            <a:ext cx="7706214" cy="384048"/>
          </a:xfrm>
          <a:prstGeom prst="rect">
            <a:avLst/>
          </a:prstGeom>
          <a:solidFill>
            <a:srgbClr val="080F1E"/>
          </a:solidFill>
          <a:ln w="6350">
            <a:solidFill>
              <a:srgbClr val="0F1E30"/>
            </a:solidFill>
            <a:prstDash val="solid"/>
          </a:ln>
        </p:spPr>
        <p:txBody>
          <a:bodyPr/>
          <a:lstStyle/>
          <a:p>
            <a:endParaRPr lang="en-CA"/>
          </a:p>
        </p:txBody>
      </p:sp>
      <p:sp>
        <p:nvSpPr>
          <p:cNvPr id="27" name="Text 19"/>
          <p:cNvSpPr/>
          <p:nvPr/>
        </p:nvSpPr>
        <p:spPr>
          <a:xfrm>
            <a:off x="694944" y="2542032"/>
            <a:ext cx="1371600" cy="38404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DES</a:t>
            </a:r>
            <a:endParaRPr lang="en-US" sz="1100" dirty="0"/>
          </a:p>
        </p:txBody>
      </p:sp>
      <p:sp>
        <p:nvSpPr>
          <p:cNvPr id="28" name="Text 20"/>
          <p:cNvSpPr/>
          <p:nvPr/>
        </p:nvSpPr>
        <p:spPr>
          <a:xfrm>
            <a:off x="1938528" y="2542032"/>
            <a:ext cx="1371600" cy="384048"/>
          </a:xfrm>
          <a:prstGeom prst="rect">
            <a:avLst/>
          </a:prstGeom>
          <a:noFill/>
          <a:ln/>
        </p:spPr>
        <p:txBody>
          <a:bodyPr wrap="square" lIns="0" tIns="0" rIns="0" bIns="0"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ECB</a:t>
            </a:r>
            <a:endParaRPr lang="en-US" sz="1000" dirty="0"/>
          </a:p>
        </p:txBody>
      </p:sp>
      <p:sp>
        <p:nvSpPr>
          <p:cNvPr id="29" name="Text 21"/>
          <p:cNvSpPr/>
          <p:nvPr/>
        </p:nvSpPr>
        <p:spPr>
          <a:xfrm>
            <a:off x="3310128" y="2542032"/>
            <a:ext cx="2926080" cy="384048"/>
          </a:xfrm>
          <a:prstGeom prst="rect">
            <a:avLst/>
          </a:prstGeom>
          <a:noFill/>
          <a:ln/>
        </p:spPr>
        <p:txBody>
          <a:bodyPr wrap="square" lIns="0" tIns="0" rIns="0" bIns="0" rtlCol="0" anchor="ctr"/>
          <a:lstStyle/>
          <a:p>
            <a:pPr marL="0" indent="0" algn="ctr">
              <a:buNone/>
            </a:pPr>
            <a:r>
              <a:rPr lang="en-US" sz="1000" dirty="0">
                <a:solidFill>
                  <a:srgbClr val="4A7A9B"/>
                </a:solidFill>
                <a:latin typeface="Calibri" pitchFamily="34" charset="0"/>
                <a:ea typeface="Calibri" pitchFamily="34" charset="-122"/>
                <a:cs typeface="Calibri" pitchFamily="34" charset="-120"/>
              </a:rPr>
              <a:t>NIST SP 800-67</a:t>
            </a:r>
            <a:endParaRPr lang="en-US" sz="1000" dirty="0"/>
          </a:p>
        </p:txBody>
      </p:sp>
      <p:sp>
        <p:nvSpPr>
          <p:cNvPr id="30" name="Text 22"/>
          <p:cNvSpPr/>
          <p:nvPr/>
        </p:nvSpPr>
        <p:spPr>
          <a:xfrm>
            <a:off x="6236208" y="2542032"/>
            <a:ext cx="1920240" cy="384048"/>
          </a:xfrm>
          <a:prstGeom prst="rect">
            <a:avLst/>
          </a:prstGeom>
          <a:noFill/>
          <a:ln/>
        </p:spPr>
        <p:txBody>
          <a:bodyPr wrap="square" lIns="0" tIns="0" rIns="0" bIns="0" rtlCol="0" anchor="ctr"/>
          <a:lstStyle/>
          <a:p>
            <a:pPr marL="0" indent="0" algn="ctr">
              <a:buNone/>
            </a:pPr>
            <a:r>
              <a:rPr lang="en-US" sz="1050" b="1" dirty="0">
                <a:solidFill>
                  <a:srgbClr val="4DFFA0"/>
                </a:solidFill>
                <a:latin typeface="Calibri" pitchFamily="34" charset="0"/>
                <a:ea typeface="Calibri" pitchFamily="34" charset="-122"/>
                <a:cs typeface="Calibri" pitchFamily="34" charset="-120"/>
              </a:rPr>
              <a:t>✓  PASS</a:t>
            </a:r>
            <a:endParaRPr lang="en-US" sz="1050" dirty="0"/>
          </a:p>
        </p:txBody>
      </p:sp>
      <p:sp>
        <p:nvSpPr>
          <p:cNvPr id="31" name="Shape 23"/>
          <p:cNvSpPr/>
          <p:nvPr/>
        </p:nvSpPr>
        <p:spPr>
          <a:xfrm>
            <a:off x="566928" y="2926080"/>
            <a:ext cx="7706214" cy="384048"/>
          </a:xfrm>
          <a:prstGeom prst="rect">
            <a:avLst/>
          </a:prstGeom>
          <a:solidFill>
            <a:srgbClr val="060D18"/>
          </a:solidFill>
          <a:ln w="6350">
            <a:solidFill>
              <a:srgbClr val="0F1E30"/>
            </a:solidFill>
            <a:prstDash val="solid"/>
          </a:ln>
        </p:spPr>
        <p:txBody>
          <a:bodyPr/>
          <a:lstStyle/>
          <a:p>
            <a:endParaRPr lang="en-CA"/>
          </a:p>
        </p:txBody>
      </p:sp>
      <p:sp>
        <p:nvSpPr>
          <p:cNvPr id="32" name="Text 24"/>
          <p:cNvSpPr/>
          <p:nvPr/>
        </p:nvSpPr>
        <p:spPr>
          <a:xfrm>
            <a:off x="694944" y="2926080"/>
            <a:ext cx="1371600" cy="38404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3DES</a:t>
            </a:r>
            <a:endParaRPr lang="en-US" sz="1100" dirty="0"/>
          </a:p>
        </p:txBody>
      </p:sp>
      <p:sp>
        <p:nvSpPr>
          <p:cNvPr id="33" name="Text 25"/>
          <p:cNvSpPr/>
          <p:nvPr/>
        </p:nvSpPr>
        <p:spPr>
          <a:xfrm>
            <a:off x="1938528" y="2926080"/>
            <a:ext cx="1371600" cy="384048"/>
          </a:xfrm>
          <a:prstGeom prst="rect">
            <a:avLst/>
          </a:prstGeom>
          <a:noFill/>
          <a:ln/>
        </p:spPr>
        <p:txBody>
          <a:bodyPr wrap="square" lIns="0" tIns="0" rIns="0" bIns="0"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ECB / CBC</a:t>
            </a:r>
            <a:endParaRPr lang="en-US" sz="1000" dirty="0"/>
          </a:p>
        </p:txBody>
      </p:sp>
      <p:sp>
        <p:nvSpPr>
          <p:cNvPr id="34" name="Text 26"/>
          <p:cNvSpPr/>
          <p:nvPr/>
        </p:nvSpPr>
        <p:spPr>
          <a:xfrm>
            <a:off x="3310128" y="2926080"/>
            <a:ext cx="2926080" cy="384048"/>
          </a:xfrm>
          <a:prstGeom prst="rect">
            <a:avLst/>
          </a:prstGeom>
          <a:noFill/>
          <a:ln/>
        </p:spPr>
        <p:txBody>
          <a:bodyPr wrap="square" lIns="0" tIns="0" rIns="0" bIns="0" rtlCol="0" anchor="ctr"/>
          <a:lstStyle/>
          <a:p>
            <a:pPr marL="0" indent="0" algn="ctr">
              <a:buNone/>
            </a:pPr>
            <a:r>
              <a:rPr lang="en-US" sz="1000" dirty="0">
                <a:solidFill>
                  <a:srgbClr val="4A7A9B"/>
                </a:solidFill>
                <a:latin typeface="Calibri" pitchFamily="34" charset="0"/>
                <a:ea typeface="Calibri" pitchFamily="34" charset="-122"/>
                <a:cs typeface="Calibri" pitchFamily="34" charset="-120"/>
              </a:rPr>
              <a:t>NIST SP 800-67</a:t>
            </a:r>
            <a:endParaRPr lang="en-US" sz="1000" dirty="0"/>
          </a:p>
        </p:txBody>
      </p:sp>
      <p:sp>
        <p:nvSpPr>
          <p:cNvPr id="35" name="Text 27"/>
          <p:cNvSpPr/>
          <p:nvPr/>
        </p:nvSpPr>
        <p:spPr>
          <a:xfrm>
            <a:off x="6236208" y="2926080"/>
            <a:ext cx="1920240" cy="384048"/>
          </a:xfrm>
          <a:prstGeom prst="rect">
            <a:avLst/>
          </a:prstGeom>
          <a:noFill/>
          <a:ln/>
        </p:spPr>
        <p:txBody>
          <a:bodyPr wrap="square" lIns="0" tIns="0" rIns="0" bIns="0" rtlCol="0" anchor="ctr"/>
          <a:lstStyle/>
          <a:p>
            <a:pPr marL="0" indent="0" algn="ctr">
              <a:buNone/>
            </a:pPr>
            <a:r>
              <a:rPr lang="en-US" sz="1050" b="1" dirty="0">
                <a:solidFill>
                  <a:srgbClr val="4DFFA0"/>
                </a:solidFill>
                <a:latin typeface="Calibri" pitchFamily="34" charset="0"/>
                <a:ea typeface="Calibri" pitchFamily="34" charset="-122"/>
                <a:cs typeface="Calibri" pitchFamily="34" charset="-120"/>
              </a:rPr>
              <a:t>✓  PASS</a:t>
            </a:r>
            <a:endParaRPr lang="en-US" sz="1050" dirty="0"/>
          </a:p>
        </p:txBody>
      </p:sp>
      <p:sp>
        <p:nvSpPr>
          <p:cNvPr id="36" name="Shape 28"/>
          <p:cNvSpPr/>
          <p:nvPr/>
        </p:nvSpPr>
        <p:spPr>
          <a:xfrm>
            <a:off x="566928" y="3310128"/>
            <a:ext cx="7706214" cy="384048"/>
          </a:xfrm>
          <a:prstGeom prst="rect">
            <a:avLst/>
          </a:prstGeom>
          <a:solidFill>
            <a:srgbClr val="080F1E"/>
          </a:solidFill>
          <a:ln w="6350">
            <a:solidFill>
              <a:srgbClr val="0F1E30"/>
            </a:solidFill>
            <a:prstDash val="solid"/>
          </a:ln>
        </p:spPr>
        <p:txBody>
          <a:bodyPr/>
          <a:lstStyle/>
          <a:p>
            <a:endParaRPr lang="en-CA"/>
          </a:p>
        </p:txBody>
      </p:sp>
      <p:sp>
        <p:nvSpPr>
          <p:cNvPr id="37" name="Text 29"/>
          <p:cNvSpPr/>
          <p:nvPr/>
        </p:nvSpPr>
        <p:spPr>
          <a:xfrm>
            <a:off x="694944" y="3310128"/>
            <a:ext cx="1371600" cy="38404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ChaCha20</a:t>
            </a:r>
            <a:endParaRPr lang="en-US" sz="1100" dirty="0"/>
          </a:p>
        </p:txBody>
      </p:sp>
      <p:sp>
        <p:nvSpPr>
          <p:cNvPr id="38" name="Text 30"/>
          <p:cNvSpPr/>
          <p:nvPr/>
        </p:nvSpPr>
        <p:spPr>
          <a:xfrm>
            <a:off x="1938528" y="3310128"/>
            <a:ext cx="1371600" cy="384048"/>
          </a:xfrm>
          <a:prstGeom prst="rect">
            <a:avLst/>
          </a:prstGeom>
          <a:noFill/>
          <a:ln/>
        </p:spPr>
        <p:txBody>
          <a:bodyPr wrap="square" lIns="0" tIns="0" rIns="0" bIns="0" rtlCol="0" anchor="ctr"/>
          <a:lstStyle/>
          <a:p>
            <a:pPr marL="0" indent="0" algn="ctr">
              <a:buNone/>
            </a:pPr>
            <a:r>
              <a:rPr lang="en-US" sz="1000" dirty="0">
                <a:solidFill>
                  <a:srgbClr val="8892A4"/>
                </a:solidFill>
                <a:latin typeface="Calibri" pitchFamily="34" charset="0"/>
                <a:cs typeface="Calibri" pitchFamily="34" charset="-120"/>
              </a:rPr>
              <a:t>Stream</a:t>
            </a:r>
            <a:endParaRPr lang="en-US" sz="1000" dirty="0"/>
          </a:p>
        </p:txBody>
      </p:sp>
      <p:sp>
        <p:nvSpPr>
          <p:cNvPr id="39" name="Text 31"/>
          <p:cNvSpPr/>
          <p:nvPr/>
        </p:nvSpPr>
        <p:spPr>
          <a:xfrm>
            <a:off x="3310128" y="3310128"/>
            <a:ext cx="2926080" cy="384048"/>
          </a:xfrm>
          <a:prstGeom prst="rect">
            <a:avLst/>
          </a:prstGeom>
          <a:noFill/>
          <a:ln/>
        </p:spPr>
        <p:txBody>
          <a:bodyPr wrap="square" lIns="0" tIns="0" rIns="0" bIns="0" rtlCol="0" anchor="ctr"/>
          <a:lstStyle/>
          <a:p>
            <a:pPr marL="0" indent="0" algn="ctr">
              <a:buNone/>
            </a:pPr>
            <a:r>
              <a:rPr lang="en-US" sz="1000" dirty="0">
                <a:solidFill>
                  <a:srgbClr val="4A7A9B"/>
                </a:solidFill>
                <a:latin typeface="Calibri" pitchFamily="34" charset="0"/>
                <a:ea typeface="Calibri" pitchFamily="34" charset="-122"/>
                <a:cs typeface="Calibri" pitchFamily="34" charset="-120"/>
              </a:rPr>
              <a:t>RFC 8439</a:t>
            </a:r>
            <a:endParaRPr lang="en-US" sz="1000" dirty="0"/>
          </a:p>
        </p:txBody>
      </p:sp>
      <p:sp>
        <p:nvSpPr>
          <p:cNvPr id="40" name="Text 32"/>
          <p:cNvSpPr/>
          <p:nvPr/>
        </p:nvSpPr>
        <p:spPr>
          <a:xfrm>
            <a:off x="6236208" y="3310128"/>
            <a:ext cx="1920240" cy="384048"/>
          </a:xfrm>
          <a:prstGeom prst="rect">
            <a:avLst/>
          </a:prstGeom>
          <a:noFill/>
          <a:ln/>
        </p:spPr>
        <p:txBody>
          <a:bodyPr wrap="square" lIns="0" tIns="0" rIns="0" bIns="0" rtlCol="0" anchor="ctr"/>
          <a:lstStyle/>
          <a:p>
            <a:pPr marL="0" indent="0" algn="ctr">
              <a:buNone/>
            </a:pPr>
            <a:r>
              <a:rPr lang="en-US" sz="1050" b="1" dirty="0">
                <a:solidFill>
                  <a:srgbClr val="4DFFA0"/>
                </a:solidFill>
                <a:latin typeface="Calibri" pitchFamily="34" charset="0"/>
                <a:ea typeface="Calibri" pitchFamily="34" charset="-122"/>
                <a:cs typeface="Calibri" pitchFamily="34" charset="-120"/>
              </a:rPr>
              <a:t>✓  PASS</a:t>
            </a:r>
            <a:endParaRPr lang="en-US" sz="1050" dirty="0"/>
          </a:p>
        </p:txBody>
      </p:sp>
      <p:sp>
        <p:nvSpPr>
          <p:cNvPr id="41" name="Shape 33"/>
          <p:cNvSpPr/>
          <p:nvPr/>
        </p:nvSpPr>
        <p:spPr>
          <a:xfrm>
            <a:off x="566927" y="3694176"/>
            <a:ext cx="7706213" cy="384048"/>
          </a:xfrm>
          <a:prstGeom prst="rect">
            <a:avLst/>
          </a:prstGeom>
          <a:solidFill>
            <a:srgbClr val="060D18"/>
          </a:solidFill>
          <a:ln w="6350">
            <a:solidFill>
              <a:srgbClr val="0F1E30"/>
            </a:solidFill>
            <a:prstDash val="solid"/>
          </a:ln>
        </p:spPr>
        <p:txBody>
          <a:bodyPr/>
          <a:lstStyle/>
          <a:p>
            <a:endParaRPr lang="en-CA"/>
          </a:p>
        </p:txBody>
      </p:sp>
      <p:sp>
        <p:nvSpPr>
          <p:cNvPr id="42" name="Text 34"/>
          <p:cNvSpPr/>
          <p:nvPr/>
        </p:nvSpPr>
        <p:spPr>
          <a:xfrm>
            <a:off x="694944" y="3694176"/>
            <a:ext cx="1371600" cy="38404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AES</a:t>
            </a:r>
            <a:endParaRPr lang="en-US" sz="1100" dirty="0"/>
          </a:p>
        </p:txBody>
      </p:sp>
      <p:sp>
        <p:nvSpPr>
          <p:cNvPr id="43" name="Text 35"/>
          <p:cNvSpPr/>
          <p:nvPr/>
        </p:nvSpPr>
        <p:spPr>
          <a:xfrm>
            <a:off x="1938528" y="3694176"/>
            <a:ext cx="1371600" cy="384048"/>
          </a:xfrm>
          <a:prstGeom prst="rect">
            <a:avLst/>
          </a:prstGeom>
          <a:noFill/>
          <a:ln/>
        </p:spPr>
        <p:txBody>
          <a:bodyPr wrap="square" lIns="0" tIns="0" rIns="0" bIns="0"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CBC / CTR</a:t>
            </a:r>
            <a:endParaRPr lang="en-US" sz="1000" dirty="0"/>
          </a:p>
        </p:txBody>
      </p:sp>
      <p:sp>
        <p:nvSpPr>
          <p:cNvPr id="44" name="Text 36"/>
          <p:cNvSpPr/>
          <p:nvPr/>
        </p:nvSpPr>
        <p:spPr>
          <a:xfrm>
            <a:off x="3310128" y="3694176"/>
            <a:ext cx="2926080" cy="384048"/>
          </a:xfrm>
          <a:prstGeom prst="rect">
            <a:avLst/>
          </a:prstGeom>
          <a:noFill/>
          <a:ln/>
        </p:spPr>
        <p:txBody>
          <a:bodyPr wrap="square" lIns="0" tIns="0" rIns="0" bIns="0" rtlCol="0" anchor="ctr"/>
          <a:lstStyle/>
          <a:p>
            <a:pPr marL="0" indent="0" algn="ctr">
              <a:buNone/>
            </a:pPr>
            <a:r>
              <a:rPr lang="en-US" sz="1000" dirty="0">
                <a:solidFill>
                  <a:srgbClr val="4A7A9B"/>
                </a:solidFill>
                <a:latin typeface="Calibri" pitchFamily="34" charset="0"/>
                <a:ea typeface="Calibri" pitchFamily="34" charset="-122"/>
                <a:cs typeface="Calibri" pitchFamily="34" charset="-120"/>
              </a:rPr>
              <a:t>NIST SP 800-38A</a:t>
            </a:r>
            <a:endParaRPr lang="en-US" sz="1000" dirty="0"/>
          </a:p>
        </p:txBody>
      </p:sp>
      <p:sp>
        <p:nvSpPr>
          <p:cNvPr id="45" name="Text 37"/>
          <p:cNvSpPr/>
          <p:nvPr/>
        </p:nvSpPr>
        <p:spPr>
          <a:xfrm>
            <a:off x="6236208" y="3694176"/>
            <a:ext cx="1920240" cy="384048"/>
          </a:xfrm>
          <a:prstGeom prst="rect">
            <a:avLst/>
          </a:prstGeom>
          <a:noFill/>
          <a:ln/>
        </p:spPr>
        <p:txBody>
          <a:bodyPr wrap="square" lIns="0" tIns="0" rIns="0" bIns="0" rtlCol="0" anchor="ctr"/>
          <a:lstStyle/>
          <a:p>
            <a:pPr marL="0" indent="0" algn="ctr">
              <a:buNone/>
            </a:pPr>
            <a:r>
              <a:rPr lang="en-US" sz="1050" b="1" dirty="0">
                <a:solidFill>
                  <a:srgbClr val="4DFFA0"/>
                </a:solidFill>
                <a:latin typeface="Calibri" pitchFamily="34" charset="0"/>
                <a:ea typeface="Calibri" pitchFamily="34" charset="-122"/>
                <a:cs typeface="Calibri" pitchFamily="34" charset="-120"/>
              </a:rPr>
              <a:t>✓  PASS</a:t>
            </a:r>
            <a:endParaRPr lang="en-US" sz="1050" dirty="0"/>
          </a:p>
        </p:txBody>
      </p:sp>
      <p:sp>
        <p:nvSpPr>
          <p:cNvPr id="46" name="Shape 38"/>
          <p:cNvSpPr/>
          <p:nvPr/>
        </p:nvSpPr>
        <p:spPr>
          <a:xfrm>
            <a:off x="566928" y="4357116"/>
            <a:ext cx="7772400" cy="384048"/>
          </a:xfrm>
          <a:prstGeom prst="roundRect">
            <a:avLst>
              <a:gd name="adj" fmla="val 9375"/>
            </a:avLst>
          </a:prstGeom>
          <a:solidFill>
            <a:srgbClr val="04120A"/>
          </a:solidFill>
          <a:ln w="9525">
            <a:solidFill>
              <a:srgbClr val="0F3820"/>
            </a:solidFill>
            <a:prstDash val="solid"/>
          </a:ln>
        </p:spPr>
        <p:txBody>
          <a:bodyPr/>
          <a:lstStyle/>
          <a:p>
            <a:endParaRPr lang="en-CA"/>
          </a:p>
        </p:txBody>
      </p:sp>
      <p:sp>
        <p:nvSpPr>
          <p:cNvPr id="47" name="Text 39"/>
          <p:cNvSpPr/>
          <p:nvPr/>
        </p:nvSpPr>
        <p:spPr>
          <a:xfrm>
            <a:off x="749807" y="4261104"/>
            <a:ext cx="7772399" cy="530352"/>
          </a:xfrm>
          <a:prstGeom prst="rect">
            <a:avLst/>
          </a:prstGeom>
          <a:noFill/>
          <a:ln/>
        </p:spPr>
        <p:txBody>
          <a:bodyPr wrap="square" rtlCol="0" anchor="ctr"/>
          <a:lstStyle/>
          <a:p>
            <a:pPr marL="0" indent="0">
              <a:buNone/>
            </a:pPr>
            <a:r>
              <a:rPr lang="en-US" sz="1000" dirty="0">
                <a:solidFill>
                  <a:srgbClr val="4DFFA0"/>
                </a:solidFill>
                <a:latin typeface="Calibri" pitchFamily="34" charset="0"/>
                <a:ea typeface="Calibri" pitchFamily="34" charset="-122"/>
                <a:cs typeface="Calibri" pitchFamily="34" charset="-120"/>
              </a:rPr>
              <a:t>Toutes les implémentations produisent les sorties exactes attendues par les standards, </a:t>
            </a:r>
            <a:r>
              <a:rPr lang="en-US" sz="1000" dirty="0">
                <a:solidFill>
                  <a:srgbClr val="8892A4"/>
                </a:solidFill>
                <a:latin typeface="Calibri" pitchFamily="34" charset="0"/>
                <a:cs typeface="Calibri" pitchFamily="34" charset="-120"/>
              </a:rPr>
              <a:t>donc les </a:t>
            </a:r>
            <a:r>
              <a:rPr lang="en-US" sz="1000" dirty="0">
                <a:solidFill>
                  <a:srgbClr val="8892A4"/>
                </a:solidFill>
                <a:latin typeface="Calibri" pitchFamily="34" charset="0"/>
                <a:ea typeface="Calibri" pitchFamily="34" charset="-122"/>
                <a:cs typeface="Calibri" pitchFamily="34" charset="-120"/>
              </a:rPr>
              <a:t>résultats de performance qui suivent sont fiables.</a:t>
            </a:r>
            <a:endParaRPr lang="en-US" sz="1000" dirty="0"/>
          </a:p>
        </p:txBody>
      </p:sp>
      <p:sp>
        <p:nvSpPr>
          <p:cNvPr id="48" name="Shape 40"/>
          <p:cNvSpPr/>
          <p:nvPr/>
        </p:nvSpPr>
        <p:spPr>
          <a:xfrm>
            <a:off x="7635240" y="299466"/>
            <a:ext cx="1115568" cy="329184"/>
          </a:xfrm>
          <a:prstGeom prst="roundRect">
            <a:avLst>
              <a:gd name="adj" fmla="val 22222"/>
            </a:avLst>
          </a:prstGeom>
          <a:solidFill>
            <a:srgbClr val="060F1E"/>
          </a:solidFill>
          <a:ln w="9525">
            <a:solidFill>
              <a:srgbClr val="9B6DFF"/>
            </a:solidFill>
            <a:prstDash val="solid"/>
          </a:ln>
        </p:spPr>
        <p:txBody>
          <a:bodyPr/>
          <a:lstStyle/>
          <a:p>
            <a:endParaRPr lang="en-CA"/>
          </a:p>
        </p:txBody>
      </p:sp>
      <p:sp>
        <p:nvSpPr>
          <p:cNvPr id="49" name="Text 41"/>
          <p:cNvSpPr/>
          <p:nvPr/>
        </p:nvSpPr>
        <p:spPr>
          <a:xfrm>
            <a:off x="7635240" y="292608"/>
            <a:ext cx="1115568" cy="329184"/>
          </a:xfrm>
          <a:prstGeom prst="rect">
            <a:avLst/>
          </a:prstGeom>
          <a:noFill/>
          <a:ln/>
        </p:spPr>
        <p:txBody>
          <a:bodyPr wrap="square" lIns="0" tIns="0" rIns="0" bIns="0" rtlCol="0" anchor="ctr"/>
          <a:lstStyle/>
          <a:p>
            <a:pPr marL="0" indent="0" algn="ctr">
              <a:buNone/>
            </a:pPr>
            <a:r>
              <a:rPr lang="en-US" sz="950" b="1" dirty="0">
                <a:solidFill>
                  <a:srgbClr val="9B6DFF"/>
                </a:solidFill>
                <a:latin typeface="Calibri" pitchFamily="34" charset="0"/>
                <a:ea typeface="Calibri" pitchFamily="34" charset="-122"/>
                <a:cs typeface="Calibri" pitchFamily="34" charset="-120"/>
              </a:rPr>
              <a:t>▶  Vidéo 3</a:t>
            </a:r>
            <a:endParaRPr lang="en-US" sz="950" dirty="0"/>
          </a:p>
        </p:txBody>
      </p:sp>
      <p:sp>
        <p:nvSpPr>
          <p:cNvPr id="50" name="Text 42"/>
          <p:cNvSpPr/>
          <p:nvPr/>
        </p:nvSpPr>
        <p:spPr>
          <a:xfrm>
            <a:off x="1371600" y="4828032"/>
            <a:ext cx="6400800" cy="228600"/>
          </a:xfrm>
          <a:prstGeom prst="rect">
            <a:avLst/>
          </a:prstGeom>
          <a:noFill/>
          <a:ln/>
        </p:spPr>
        <p:txBody>
          <a:bodyPr wrap="square" rtlCol="0" anchor="ctr"/>
          <a:lstStyle/>
          <a:p>
            <a:pPr marL="0" indent="0" algn="ctr">
              <a:buNone/>
            </a:pPr>
            <a:r>
              <a:rPr lang="en-US" sz="850" b="1" kern="0" spc="100" dirty="0">
                <a:solidFill>
                  <a:srgbClr val="00F5FF"/>
                </a:solidFill>
                <a:latin typeface="Calibri" pitchFamily="34" charset="0"/>
                <a:ea typeface="Calibri" pitchFamily="34" charset="-122"/>
                <a:cs typeface="Calibri" pitchFamily="34" charset="-120"/>
              </a:rPr>
              <a:t>INF1430</a:t>
            </a:r>
            <a:r>
              <a:rPr lang="en-US" sz="850" kern="0" spc="100" dirty="0">
                <a:solidFill>
                  <a:srgbClr val="3A4A65"/>
                </a:solidFill>
                <a:latin typeface="Calibri" pitchFamily="34" charset="0"/>
                <a:ea typeface="Calibri" pitchFamily="34" charset="-122"/>
                <a:cs typeface="Calibri" pitchFamily="34" charset="-120"/>
              </a:rPr>
              <a:t>  ·  Université TÉLUQ  ·  TN3  ·  Melissa Moya  ·  2026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Grp="1" noRot="1" noChangeAspect="1" noMove="1" noResize="1" noEditPoints="1" noAdjustHandles="1" noChangeArrowheads="1" noChangeShapeType="1" noCrop="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256032" y="201168"/>
            <a:ext cx="548640" cy="548640"/>
          </a:xfrm>
          <a:prstGeom prst="rect">
            <a:avLst/>
          </a:prstGeom>
        </p:spPr>
      </p:pic>
      <p:pic>
        <p:nvPicPr>
          <p:cNvPr id="4" name="Image 2" descr="preencoded.png"/>
          <p:cNvPicPr>
            <a:picLocks noChangeAspect="1"/>
          </p:cNvPicPr>
          <p:nvPr/>
        </p:nvPicPr>
        <p:blipFill>
          <a:blip r:embed="rId4"/>
          <a:stretch>
            <a:fillRect/>
          </a:stretch>
        </p:blipFill>
        <p:spPr>
          <a:xfrm flipH="1">
            <a:off x="8339328" y="201168"/>
            <a:ext cx="548640" cy="548640"/>
          </a:xfrm>
          <a:prstGeom prst="rect">
            <a:avLst/>
          </a:prstGeom>
        </p:spPr>
      </p:pic>
      <p:pic>
        <p:nvPicPr>
          <p:cNvPr id="5" name="Image 3" descr="preencoded.png"/>
          <p:cNvPicPr>
            <a:picLocks noChangeAspect="1"/>
          </p:cNvPicPr>
          <p:nvPr/>
        </p:nvPicPr>
        <p:blipFill>
          <a:blip r:embed="rId4"/>
          <a:stretch>
            <a:fillRect/>
          </a:stretch>
        </p:blipFill>
        <p:spPr>
          <a:xfrm flipV="1">
            <a:off x="256032" y="4393692"/>
            <a:ext cx="548640" cy="548640"/>
          </a:xfrm>
          <a:prstGeom prst="rect">
            <a:avLst/>
          </a:prstGeom>
        </p:spPr>
      </p:pic>
      <p:pic>
        <p:nvPicPr>
          <p:cNvPr id="6" name="Image 4" descr="preencoded.png"/>
          <p:cNvPicPr>
            <a:picLocks noChangeAspect="1"/>
          </p:cNvPicPr>
          <p:nvPr/>
        </p:nvPicPr>
        <p:blipFill>
          <a:blip r:embed="rId4"/>
          <a:stretch>
            <a:fillRect/>
          </a:stretch>
        </p:blipFill>
        <p:spPr>
          <a:xfrm flipH="1" flipV="1">
            <a:off x="8339328" y="4393692"/>
            <a:ext cx="548640" cy="548640"/>
          </a:xfrm>
          <a:prstGeom prst="rect">
            <a:avLst/>
          </a:prstGeom>
        </p:spPr>
      </p:pic>
      <p:pic>
        <p:nvPicPr>
          <p:cNvPr id="7" name="Image 5" descr="preencoded.png"/>
          <p:cNvPicPr>
            <a:picLocks noChangeAspect="1"/>
          </p:cNvPicPr>
          <p:nvPr/>
        </p:nvPicPr>
        <p:blipFill>
          <a:blip r:embed="rId5">
            <a:alphaModFix amt="80000"/>
          </a:blip>
          <a:stretch>
            <a:fillRect/>
          </a:stretch>
        </p:blipFill>
        <p:spPr>
          <a:xfrm>
            <a:off x="566928" y="256032"/>
            <a:ext cx="256032" cy="256032"/>
          </a:xfrm>
          <a:prstGeom prst="rect">
            <a:avLst/>
          </a:prstGeom>
        </p:spPr>
      </p:pic>
      <p:sp>
        <p:nvSpPr>
          <p:cNvPr id="8" name="Text 0"/>
          <p:cNvSpPr/>
          <p:nvPr/>
        </p:nvSpPr>
        <p:spPr>
          <a:xfrm>
            <a:off x="868680" y="256032"/>
            <a:ext cx="4572000" cy="274320"/>
          </a:xfrm>
          <a:prstGeom prst="rect">
            <a:avLst/>
          </a:prstGeom>
          <a:noFill/>
          <a:ln/>
        </p:spPr>
        <p:txBody>
          <a:bodyPr wrap="square" rtlCol="0" anchor="ctr"/>
          <a:lstStyle/>
          <a:p>
            <a:pPr marL="0" indent="0">
              <a:buNone/>
            </a:pPr>
            <a:r>
              <a:rPr lang="en-US" sz="1000" b="1" kern="0" spc="50" dirty="0">
                <a:solidFill>
                  <a:srgbClr val="00F5FF"/>
                </a:solidFill>
                <a:latin typeface="Calibri" pitchFamily="34" charset="0"/>
                <a:ea typeface="Calibri" pitchFamily="34" charset="-122"/>
                <a:cs typeface="Calibri" pitchFamily="34" charset="-120"/>
              </a:rPr>
              <a:t>04  </a:t>
            </a:r>
            <a:r>
              <a:rPr lang="en-US" sz="1000" kern="0" spc="50" dirty="0">
                <a:solidFill>
                  <a:srgbClr val="8892A4"/>
                </a:solidFill>
                <a:latin typeface="Calibri" pitchFamily="34" charset="0"/>
                <a:ea typeface="Calibri" pitchFamily="34" charset="-122"/>
                <a:cs typeface="Calibri" pitchFamily="34" charset="-120"/>
              </a:rPr>
              <a:t>Résultats de performance</a:t>
            </a:r>
            <a:endParaRPr lang="en-US" sz="1000" dirty="0"/>
          </a:p>
        </p:txBody>
      </p:sp>
      <p:sp>
        <p:nvSpPr>
          <p:cNvPr id="9" name="Text 1"/>
          <p:cNvSpPr/>
          <p:nvPr/>
        </p:nvSpPr>
        <p:spPr>
          <a:xfrm>
            <a:off x="566928" y="566928"/>
            <a:ext cx="777240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AES — Advanced Encryption Standard</a:t>
            </a:r>
            <a:endParaRPr lang="en-US" sz="2600" dirty="0"/>
          </a:p>
        </p:txBody>
      </p:sp>
      <p:sp>
        <p:nvSpPr>
          <p:cNvPr id="10" name="Shape 2"/>
          <p:cNvSpPr/>
          <p:nvPr/>
        </p:nvSpPr>
        <p:spPr>
          <a:xfrm>
            <a:off x="621792" y="1476756"/>
            <a:ext cx="100584" cy="100584"/>
          </a:xfrm>
          <a:prstGeom prst="ellipse">
            <a:avLst/>
          </a:prstGeom>
          <a:solidFill>
            <a:srgbClr val="00F5FF"/>
          </a:solidFill>
          <a:ln w="12700">
            <a:solidFill>
              <a:srgbClr val="00F5FF"/>
            </a:solidFill>
            <a:prstDash val="solid"/>
          </a:ln>
        </p:spPr>
        <p:txBody>
          <a:bodyPr/>
          <a:lstStyle/>
          <a:p>
            <a:endParaRPr lang="en-CA"/>
          </a:p>
        </p:txBody>
      </p:sp>
      <p:sp>
        <p:nvSpPr>
          <p:cNvPr id="11" name="Text 3"/>
          <p:cNvSpPr/>
          <p:nvPr/>
        </p:nvSpPr>
        <p:spPr>
          <a:xfrm>
            <a:off x="822960" y="1298448"/>
            <a:ext cx="4069080" cy="457200"/>
          </a:xfrm>
          <a:prstGeom prst="rect">
            <a:avLst/>
          </a:prstGeom>
          <a:noFill/>
          <a:ln/>
        </p:spPr>
        <p:txBody>
          <a:bodyPr wrap="square" lIns="0" tIns="0" rIns="0" bIns="0" rtlCol="0" anchor="ctr"/>
          <a:lstStyle/>
          <a:p>
            <a:pPr marL="0" indent="0">
              <a:buNone/>
            </a:pPr>
            <a:r>
              <a:rPr lang="en-US" sz="1200" dirty="0">
                <a:solidFill>
                  <a:srgbClr val="8892A4"/>
                </a:solidFill>
                <a:latin typeface="Calibri" pitchFamily="34" charset="0"/>
                <a:ea typeface="Calibri" pitchFamily="34" charset="-122"/>
                <a:cs typeface="Calibri" pitchFamily="34" charset="-120"/>
              </a:rPr>
              <a:t>Chiffrement par blocs de </a:t>
            </a:r>
            <a:r>
              <a:rPr lang="en-US" sz="1200" b="1" dirty="0">
                <a:solidFill>
                  <a:srgbClr val="FFFFFF"/>
                </a:solidFill>
                <a:latin typeface="Calibri" pitchFamily="34" charset="0"/>
                <a:ea typeface="Calibri" pitchFamily="34" charset="-122"/>
                <a:cs typeface="Calibri" pitchFamily="34" charset="-120"/>
              </a:rPr>
              <a:t>128 bits</a:t>
            </a:r>
            <a:endParaRPr lang="en-US" sz="1200" dirty="0"/>
          </a:p>
        </p:txBody>
      </p:sp>
      <p:sp>
        <p:nvSpPr>
          <p:cNvPr id="12" name="Shape 4"/>
          <p:cNvSpPr/>
          <p:nvPr/>
        </p:nvSpPr>
        <p:spPr>
          <a:xfrm>
            <a:off x="621792" y="2079810"/>
            <a:ext cx="100584" cy="100584"/>
          </a:xfrm>
          <a:prstGeom prst="ellipse">
            <a:avLst/>
          </a:prstGeom>
          <a:solidFill>
            <a:srgbClr val="9B6DFF"/>
          </a:solidFill>
          <a:ln w="12700">
            <a:solidFill>
              <a:srgbClr val="9B6DFF"/>
            </a:solidFill>
            <a:prstDash val="solid"/>
          </a:ln>
        </p:spPr>
        <p:txBody>
          <a:bodyPr/>
          <a:lstStyle/>
          <a:p>
            <a:endParaRPr lang="en-CA"/>
          </a:p>
        </p:txBody>
      </p:sp>
      <p:sp>
        <p:nvSpPr>
          <p:cNvPr id="13" name="Text 5"/>
          <p:cNvSpPr/>
          <p:nvPr/>
        </p:nvSpPr>
        <p:spPr>
          <a:xfrm>
            <a:off x="822960" y="1901502"/>
            <a:ext cx="4069080" cy="457200"/>
          </a:xfrm>
          <a:prstGeom prst="rect">
            <a:avLst/>
          </a:prstGeom>
          <a:noFill/>
          <a:ln/>
        </p:spPr>
        <p:txBody>
          <a:bodyPr wrap="square" lIns="0" tIns="0" rIns="0" bIns="0" rtlCol="0" anchor="ctr"/>
          <a:lstStyle/>
          <a:p>
            <a:pPr marL="0" indent="0">
              <a:buNone/>
            </a:pPr>
            <a:r>
              <a:rPr lang="en-US" sz="1200" dirty="0">
                <a:solidFill>
                  <a:srgbClr val="8892A4"/>
                </a:solidFill>
                <a:latin typeface="Calibri" pitchFamily="34" charset="0"/>
                <a:ea typeface="Calibri" pitchFamily="34" charset="-122"/>
                <a:cs typeface="Calibri" pitchFamily="34" charset="-120"/>
              </a:rPr>
              <a:t>Clés : </a:t>
            </a:r>
            <a:r>
              <a:rPr lang="en-US" sz="1200" b="1" dirty="0">
                <a:solidFill>
                  <a:srgbClr val="FFFFFF"/>
                </a:solidFill>
                <a:latin typeface="Calibri" pitchFamily="34" charset="0"/>
                <a:ea typeface="Calibri" pitchFamily="34" charset="-122"/>
                <a:cs typeface="Calibri" pitchFamily="34" charset="-120"/>
              </a:rPr>
              <a:t>128 / 192 / 256 bits</a:t>
            </a:r>
            <a:r>
              <a:rPr lang="en-US" sz="1200" dirty="0">
                <a:solidFill>
                  <a:srgbClr val="8892A4"/>
                </a:solidFill>
                <a:latin typeface="Calibri" pitchFamily="34" charset="0"/>
                <a:ea typeface="Calibri" pitchFamily="34" charset="-122"/>
                <a:cs typeface="Calibri" pitchFamily="34" charset="-120"/>
              </a:rPr>
              <a:t>  →  10, 12 ou 14 tours</a:t>
            </a:r>
            <a:endParaRPr lang="en-US" sz="1200" dirty="0"/>
          </a:p>
        </p:txBody>
      </p:sp>
      <p:sp>
        <p:nvSpPr>
          <p:cNvPr id="14" name="Shape 6"/>
          <p:cNvSpPr/>
          <p:nvPr/>
        </p:nvSpPr>
        <p:spPr>
          <a:xfrm>
            <a:off x="624009" y="2725362"/>
            <a:ext cx="100584" cy="100584"/>
          </a:xfrm>
          <a:prstGeom prst="ellipse">
            <a:avLst/>
          </a:prstGeom>
          <a:solidFill>
            <a:srgbClr val="00F5FF"/>
          </a:solidFill>
          <a:ln w="12700">
            <a:solidFill>
              <a:srgbClr val="00F5FF"/>
            </a:solidFill>
            <a:prstDash val="solid"/>
          </a:ln>
        </p:spPr>
        <p:txBody>
          <a:bodyPr/>
          <a:lstStyle/>
          <a:p>
            <a:endParaRPr lang="en-CA"/>
          </a:p>
        </p:txBody>
      </p:sp>
      <p:sp>
        <p:nvSpPr>
          <p:cNvPr id="15" name="Text 7"/>
          <p:cNvSpPr/>
          <p:nvPr/>
        </p:nvSpPr>
        <p:spPr>
          <a:xfrm>
            <a:off x="822960" y="2533893"/>
            <a:ext cx="4480560" cy="457200"/>
          </a:xfrm>
          <a:prstGeom prst="rect">
            <a:avLst/>
          </a:prstGeom>
          <a:noFill/>
          <a:ln/>
        </p:spPr>
        <p:txBody>
          <a:bodyPr wrap="square" lIns="0" tIns="0" rIns="0" bIns="0" rtlCol="0" anchor="ctr"/>
          <a:lstStyle/>
          <a:p>
            <a:pPr marL="0" indent="0">
              <a:buNone/>
            </a:pPr>
            <a:r>
              <a:rPr lang="en-US" sz="1200" dirty="0">
                <a:solidFill>
                  <a:srgbClr val="8892A4"/>
                </a:solidFill>
                <a:latin typeface="Calibri" pitchFamily="34" charset="0"/>
                <a:ea typeface="Calibri" pitchFamily="34" charset="-122"/>
                <a:cs typeface="Calibri" pitchFamily="34" charset="-120"/>
              </a:rPr>
              <a:t>Chaque tour : </a:t>
            </a:r>
            <a:r>
              <a:rPr lang="en-US" sz="1200" b="1" dirty="0">
                <a:solidFill>
                  <a:srgbClr val="FFFFFF"/>
                </a:solidFill>
                <a:latin typeface="Calibri" pitchFamily="34" charset="0"/>
                <a:ea typeface="Calibri" pitchFamily="34" charset="-122"/>
                <a:cs typeface="Calibri" pitchFamily="34" charset="-120"/>
              </a:rPr>
              <a:t>SubBytes → ShiftRows → MixColumns → AddRoundKey</a:t>
            </a:r>
            <a:endParaRPr lang="en-US" sz="1200" dirty="0"/>
          </a:p>
        </p:txBody>
      </p:sp>
      <p:sp>
        <p:nvSpPr>
          <p:cNvPr id="16" name="Shape 8"/>
          <p:cNvSpPr/>
          <p:nvPr/>
        </p:nvSpPr>
        <p:spPr>
          <a:xfrm>
            <a:off x="624009" y="3356402"/>
            <a:ext cx="100584" cy="100584"/>
          </a:xfrm>
          <a:prstGeom prst="ellipse">
            <a:avLst/>
          </a:prstGeom>
          <a:solidFill>
            <a:srgbClr val="9B6DFF"/>
          </a:solidFill>
          <a:ln w="12700">
            <a:solidFill>
              <a:srgbClr val="9B6DFF"/>
            </a:solidFill>
            <a:prstDash val="solid"/>
          </a:ln>
        </p:spPr>
        <p:txBody>
          <a:bodyPr/>
          <a:lstStyle/>
          <a:p>
            <a:endParaRPr lang="en-CA"/>
          </a:p>
        </p:txBody>
      </p:sp>
      <p:sp>
        <p:nvSpPr>
          <p:cNvPr id="17" name="Text 9"/>
          <p:cNvSpPr/>
          <p:nvPr/>
        </p:nvSpPr>
        <p:spPr>
          <a:xfrm>
            <a:off x="822960" y="3179065"/>
            <a:ext cx="4069080" cy="457200"/>
          </a:xfrm>
          <a:prstGeom prst="rect">
            <a:avLst/>
          </a:prstGeom>
          <a:noFill/>
          <a:ln/>
        </p:spPr>
        <p:txBody>
          <a:bodyPr wrap="square" lIns="0" tIns="0" rIns="0" bIns="0" rtlCol="0" anchor="ctr"/>
          <a:lstStyle/>
          <a:p>
            <a:pPr marL="0" indent="0">
              <a:buNone/>
            </a:pPr>
            <a:r>
              <a:rPr lang="en-US" sz="1200" dirty="0">
                <a:solidFill>
                  <a:srgbClr val="8892A4"/>
                </a:solidFill>
                <a:latin typeface="Calibri" pitchFamily="34" charset="0"/>
                <a:ea typeface="Calibri" pitchFamily="34" charset="-122"/>
                <a:cs typeface="Calibri" pitchFamily="34" charset="-120"/>
              </a:rPr>
              <a:t>Standard NIST depuis </a:t>
            </a:r>
            <a:r>
              <a:rPr lang="en-US" sz="1200" b="1" dirty="0">
                <a:solidFill>
                  <a:srgbClr val="FFFFFF"/>
                </a:solidFill>
                <a:latin typeface="Calibri" pitchFamily="34" charset="0"/>
                <a:ea typeface="Calibri" pitchFamily="34" charset="-122"/>
                <a:cs typeface="Calibri" pitchFamily="34" charset="-120"/>
              </a:rPr>
              <a:t>2001</a:t>
            </a:r>
            <a:r>
              <a:rPr lang="en-US" sz="1200" dirty="0">
                <a:solidFill>
                  <a:srgbClr val="8892A4"/>
                </a:solidFill>
                <a:latin typeface="Calibri" pitchFamily="34" charset="0"/>
                <a:ea typeface="Calibri" pitchFamily="34" charset="-122"/>
                <a:cs typeface="Calibri" pitchFamily="34" charset="-120"/>
              </a:rPr>
              <a:t> (Rijndael), universellement déployé</a:t>
            </a:r>
            <a:endParaRPr lang="en-US" sz="1200" dirty="0"/>
          </a:p>
        </p:txBody>
      </p:sp>
      <p:sp>
        <p:nvSpPr>
          <p:cNvPr id="18" name="Shape 10"/>
          <p:cNvSpPr/>
          <p:nvPr/>
        </p:nvSpPr>
        <p:spPr>
          <a:xfrm>
            <a:off x="5449824" y="1146533"/>
            <a:ext cx="3346704" cy="2856253"/>
          </a:xfrm>
          <a:prstGeom prst="roundRect">
            <a:avLst>
              <a:gd name="adj" fmla="val 2817"/>
            </a:avLst>
          </a:prstGeom>
          <a:solidFill>
            <a:srgbClr val="0E0820"/>
          </a:solidFill>
          <a:ln w="19050">
            <a:solidFill>
              <a:srgbClr val="9B6DFF"/>
            </a:solidFill>
            <a:prstDash val="solid"/>
          </a:ln>
          <a:effectLst>
            <a:outerShdw blurRad="254000" dist="50800" dir="2700000" algn="bl" rotWithShape="0">
              <a:srgbClr val="9B6DFF">
                <a:alpha val="20000"/>
              </a:srgbClr>
            </a:outerShdw>
          </a:effectLst>
        </p:spPr>
        <p:txBody>
          <a:bodyPr/>
          <a:lstStyle/>
          <a:p>
            <a:endParaRPr lang="en-CA"/>
          </a:p>
        </p:txBody>
      </p:sp>
      <p:sp>
        <p:nvSpPr>
          <p:cNvPr id="19" name="Text 11"/>
          <p:cNvSpPr/>
          <p:nvPr/>
        </p:nvSpPr>
        <p:spPr>
          <a:xfrm>
            <a:off x="5650992" y="1297236"/>
            <a:ext cx="2889504" cy="420624"/>
          </a:xfrm>
          <a:prstGeom prst="rect">
            <a:avLst/>
          </a:prstGeom>
          <a:noFill/>
          <a:ln/>
        </p:spPr>
        <p:txBody>
          <a:bodyPr wrap="square" rtlCol="0" anchor="ctr"/>
          <a:lstStyle/>
          <a:p>
            <a:pPr marL="0" indent="0">
              <a:buNone/>
            </a:pPr>
            <a:r>
              <a:rPr lang="en-US" sz="2200" b="1" dirty="0">
                <a:solidFill>
                  <a:srgbClr val="9B6DFF"/>
                </a:solidFill>
                <a:latin typeface="Calibri" pitchFamily="34" charset="0"/>
                <a:ea typeface="Calibri" pitchFamily="34" charset="-122"/>
                <a:cs typeface="Calibri" pitchFamily="34" charset="-120"/>
              </a:rPr>
              <a:t>AES-NI</a:t>
            </a:r>
            <a:endParaRPr lang="en-US" sz="2200" dirty="0"/>
          </a:p>
        </p:txBody>
      </p:sp>
      <p:sp>
        <p:nvSpPr>
          <p:cNvPr id="20" name="Text 12"/>
          <p:cNvSpPr/>
          <p:nvPr/>
        </p:nvSpPr>
        <p:spPr>
          <a:xfrm>
            <a:off x="5650992" y="1626489"/>
            <a:ext cx="2889504" cy="256032"/>
          </a:xfrm>
          <a:prstGeom prst="rect">
            <a:avLst/>
          </a:prstGeom>
          <a:noFill/>
          <a:ln/>
        </p:spPr>
        <p:txBody>
          <a:bodyPr wrap="square" rtlCol="0" anchor="ctr"/>
          <a:lstStyle/>
          <a:p>
            <a:pPr marL="0" indent="0">
              <a:buNone/>
            </a:pPr>
            <a:r>
              <a:rPr lang="en-US" sz="950" i="1" dirty="0">
                <a:solidFill>
                  <a:srgbClr val="6A4DAA"/>
                </a:solidFill>
                <a:latin typeface="Calibri" pitchFamily="34" charset="0"/>
                <a:ea typeface="Calibri" pitchFamily="34" charset="-122"/>
                <a:cs typeface="Calibri" pitchFamily="34" charset="-120"/>
              </a:rPr>
              <a:t>Instructions matérielles Intel/AMD depuis 2010</a:t>
            </a:r>
            <a:endParaRPr lang="en-US" sz="950" dirty="0"/>
          </a:p>
        </p:txBody>
      </p:sp>
      <p:sp>
        <p:nvSpPr>
          <p:cNvPr id="21" name="Shape 13"/>
          <p:cNvSpPr/>
          <p:nvPr/>
        </p:nvSpPr>
        <p:spPr>
          <a:xfrm>
            <a:off x="5650992" y="1882521"/>
            <a:ext cx="2889504" cy="0"/>
          </a:xfrm>
          <a:prstGeom prst="line">
            <a:avLst/>
          </a:prstGeom>
          <a:noFill/>
          <a:ln w="9525">
            <a:solidFill>
              <a:srgbClr val="22103A"/>
            </a:solidFill>
            <a:prstDash val="solid"/>
          </a:ln>
        </p:spPr>
        <p:txBody>
          <a:bodyPr/>
          <a:lstStyle/>
          <a:p>
            <a:endParaRPr lang="en-CA"/>
          </a:p>
        </p:txBody>
      </p:sp>
      <p:sp>
        <p:nvSpPr>
          <p:cNvPr id="22" name="Shape 14"/>
          <p:cNvSpPr/>
          <p:nvPr/>
        </p:nvSpPr>
        <p:spPr>
          <a:xfrm>
            <a:off x="5650992" y="2212813"/>
            <a:ext cx="100584" cy="100584"/>
          </a:xfrm>
          <a:prstGeom prst="ellipse">
            <a:avLst/>
          </a:prstGeom>
          <a:solidFill>
            <a:srgbClr val="9B6DFF"/>
          </a:solidFill>
          <a:ln w="12700">
            <a:solidFill>
              <a:srgbClr val="9B6DFF"/>
            </a:solidFill>
            <a:prstDash val="solid"/>
          </a:ln>
        </p:spPr>
        <p:txBody>
          <a:bodyPr/>
          <a:lstStyle/>
          <a:p>
            <a:endParaRPr lang="en-CA"/>
          </a:p>
        </p:txBody>
      </p:sp>
      <p:sp>
        <p:nvSpPr>
          <p:cNvPr id="23" name="Text 15"/>
          <p:cNvSpPr/>
          <p:nvPr/>
        </p:nvSpPr>
        <p:spPr>
          <a:xfrm>
            <a:off x="5852160" y="1982447"/>
            <a:ext cx="2761488" cy="256032"/>
          </a:xfrm>
          <a:prstGeom prst="rect">
            <a:avLst/>
          </a:prstGeom>
          <a:noFill/>
          <a:ln/>
        </p:spPr>
        <p:txBody>
          <a:bodyPr wrap="square" lIns="0" tIns="0" rIns="0" bIns="0" rtlCol="0" anchor="ctr"/>
          <a:lstStyle/>
          <a:p>
            <a:pPr marL="0" indent="0">
              <a:buNone/>
            </a:pPr>
            <a:r>
              <a:rPr lang="en-US" sz="950" dirty="0">
                <a:solidFill>
                  <a:srgbClr val="7A5DBB"/>
                </a:solidFill>
                <a:latin typeface="Calibri" pitchFamily="34" charset="0"/>
                <a:ea typeface="Calibri" pitchFamily="34" charset="-122"/>
                <a:cs typeface="Calibri" pitchFamily="34" charset="-120"/>
              </a:rPr>
              <a:t>1 tour AES complet</a:t>
            </a:r>
            <a:endParaRPr lang="en-US" sz="950" dirty="0"/>
          </a:p>
        </p:txBody>
      </p:sp>
      <p:sp>
        <p:nvSpPr>
          <p:cNvPr id="24" name="Text 16"/>
          <p:cNvSpPr/>
          <p:nvPr/>
        </p:nvSpPr>
        <p:spPr>
          <a:xfrm>
            <a:off x="5893308" y="2198751"/>
            <a:ext cx="2761488" cy="274320"/>
          </a:xfrm>
          <a:prstGeom prst="rect">
            <a:avLst/>
          </a:prstGeom>
          <a:noFill/>
          <a:ln/>
        </p:spPr>
        <p:txBody>
          <a:bodyPr wrap="square" lIns="0" tIns="0" rIns="0" bIns="0" rtlCol="0" anchor="ctr"/>
          <a:lstStyle/>
          <a:p>
            <a:pPr marL="0" indent="0">
              <a:buNone/>
            </a:pPr>
            <a:r>
              <a:rPr lang="en-US" sz="1100" b="1" dirty="0">
                <a:solidFill>
                  <a:srgbClr val="9B6DFF"/>
                </a:solidFill>
                <a:latin typeface="Calibri" pitchFamily="34" charset="0"/>
                <a:ea typeface="Calibri" pitchFamily="34" charset="-122"/>
                <a:cs typeface="Calibri" pitchFamily="34" charset="-120"/>
              </a:rPr>
              <a:t>= 1 cycle CPU</a:t>
            </a:r>
            <a:endParaRPr lang="en-US" sz="1100" dirty="0"/>
          </a:p>
        </p:txBody>
      </p:sp>
      <p:sp>
        <p:nvSpPr>
          <p:cNvPr id="25" name="Shape 17"/>
          <p:cNvSpPr/>
          <p:nvPr/>
        </p:nvSpPr>
        <p:spPr>
          <a:xfrm>
            <a:off x="5650992" y="2817495"/>
            <a:ext cx="100584" cy="100584"/>
          </a:xfrm>
          <a:prstGeom prst="ellipse">
            <a:avLst/>
          </a:prstGeom>
          <a:solidFill>
            <a:srgbClr val="9B6DFF"/>
          </a:solidFill>
          <a:ln w="12700">
            <a:solidFill>
              <a:srgbClr val="9B6DFF"/>
            </a:solidFill>
            <a:prstDash val="solid"/>
          </a:ln>
        </p:spPr>
        <p:txBody>
          <a:bodyPr/>
          <a:lstStyle/>
          <a:p>
            <a:endParaRPr lang="en-CA"/>
          </a:p>
        </p:txBody>
      </p:sp>
      <p:sp>
        <p:nvSpPr>
          <p:cNvPr id="26" name="Text 18"/>
          <p:cNvSpPr/>
          <p:nvPr/>
        </p:nvSpPr>
        <p:spPr>
          <a:xfrm>
            <a:off x="5852160" y="2611755"/>
            <a:ext cx="2761488" cy="256032"/>
          </a:xfrm>
          <a:prstGeom prst="rect">
            <a:avLst/>
          </a:prstGeom>
          <a:noFill/>
          <a:ln/>
        </p:spPr>
        <p:txBody>
          <a:bodyPr wrap="square" lIns="0" tIns="0" rIns="0" bIns="0" rtlCol="0" anchor="ctr"/>
          <a:lstStyle/>
          <a:p>
            <a:pPr marL="0" indent="0">
              <a:buNone/>
            </a:pPr>
            <a:r>
              <a:rPr lang="en-US" sz="950" dirty="0">
                <a:solidFill>
                  <a:srgbClr val="7A5DBB"/>
                </a:solidFill>
                <a:latin typeface="Calibri" pitchFamily="34" charset="0"/>
                <a:ea typeface="Calibri" pitchFamily="34" charset="-122"/>
                <a:cs typeface="Calibri" pitchFamily="34" charset="-120"/>
              </a:rPr>
              <a:t>Impact mesuré :</a:t>
            </a:r>
            <a:endParaRPr lang="en-US" sz="950" dirty="0"/>
          </a:p>
        </p:txBody>
      </p:sp>
      <p:sp>
        <p:nvSpPr>
          <p:cNvPr id="27" name="Text 19"/>
          <p:cNvSpPr/>
          <p:nvPr/>
        </p:nvSpPr>
        <p:spPr>
          <a:xfrm>
            <a:off x="5852160" y="2844615"/>
            <a:ext cx="2761488" cy="274320"/>
          </a:xfrm>
          <a:prstGeom prst="rect">
            <a:avLst/>
          </a:prstGeom>
          <a:noFill/>
          <a:ln/>
        </p:spPr>
        <p:txBody>
          <a:bodyPr wrap="square" lIns="0" tIns="0" rIns="0" bIns="0" rtlCol="0" anchor="ctr"/>
          <a:lstStyle/>
          <a:p>
            <a:pPr marL="0" indent="0">
              <a:buNone/>
            </a:pPr>
            <a:r>
              <a:rPr lang="en-US" sz="1100" b="1" dirty="0">
                <a:solidFill>
                  <a:srgbClr val="9B6DFF"/>
                </a:solidFill>
                <a:latin typeface="Calibri" pitchFamily="34" charset="0"/>
                <a:ea typeface="Calibri" pitchFamily="34" charset="-122"/>
                <a:cs typeface="Calibri" pitchFamily="34" charset="-120"/>
              </a:rPr>
              <a:t>x86 est 5,58× plus rapide que le Pi</a:t>
            </a:r>
            <a:endParaRPr lang="en-US" sz="1100" dirty="0"/>
          </a:p>
        </p:txBody>
      </p:sp>
      <p:sp>
        <p:nvSpPr>
          <p:cNvPr id="28" name="Shape 20"/>
          <p:cNvSpPr/>
          <p:nvPr/>
        </p:nvSpPr>
        <p:spPr>
          <a:xfrm>
            <a:off x="5650992" y="3514725"/>
            <a:ext cx="100584" cy="100584"/>
          </a:xfrm>
          <a:prstGeom prst="ellipse">
            <a:avLst/>
          </a:prstGeom>
          <a:solidFill>
            <a:srgbClr val="9B6DFF"/>
          </a:solidFill>
          <a:ln w="12700">
            <a:solidFill>
              <a:srgbClr val="9B6DFF"/>
            </a:solidFill>
            <a:prstDash val="solid"/>
          </a:ln>
        </p:spPr>
        <p:txBody>
          <a:bodyPr/>
          <a:lstStyle/>
          <a:p>
            <a:endParaRPr lang="en-CA"/>
          </a:p>
        </p:txBody>
      </p:sp>
      <p:sp>
        <p:nvSpPr>
          <p:cNvPr id="29" name="Text 21"/>
          <p:cNvSpPr/>
          <p:nvPr/>
        </p:nvSpPr>
        <p:spPr>
          <a:xfrm>
            <a:off x="5852160" y="3328416"/>
            <a:ext cx="2761488" cy="256032"/>
          </a:xfrm>
          <a:prstGeom prst="rect">
            <a:avLst/>
          </a:prstGeom>
          <a:noFill/>
          <a:ln/>
        </p:spPr>
        <p:txBody>
          <a:bodyPr wrap="square" lIns="0" tIns="0" rIns="0" bIns="0" rtlCol="0" anchor="ctr"/>
          <a:lstStyle/>
          <a:p>
            <a:pPr marL="0" indent="0">
              <a:buNone/>
            </a:pPr>
            <a:r>
              <a:rPr lang="en-US" sz="950" dirty="0">
                <a:solidFill>
                  <a:srgbClr val="7A5DBB"/>
                </a:solidFill>
                <a:latin typeface="Calibri" pitchFamily="34" charset="0"/>
                <a:ea typeface="Calibri" pitchFamily="34" charset="-122"/>
                <a:cs typeface="Calibri" pitchFamily="34" charset="-120"/>
              </a:rPr>
              <a:t>Sans AES-NI :</a:t>
            </a:r>
            <a:endParaRPr lang="en-US" sz="950" dirty="0"/>
          </a:p>
        </p:txBody>
      </p:sp>
      <p:sp>
        <p:nvSpPr>
          <p:cNvPr id="30" name="Text 22"/>
          <p:cNvSpPr/>
          <p:nvPr/>
        </p:nvSpPr>
        <p:spPr>
          <a:xfrm>
            <a:off x="5852160" y="3600883"/>
            <a:ext cx="2761488" cy="274320"/>
          </a:xfrm>
          <a:prstGeom prst="rect">
            <a:avLst/>
          </a:prstGeom>
          <a:noFill/>
          <a:ln/>
        </p:spPr>
        <p:txBody>
          <a:bodyPr wrap="square" lIns="0" tIns="0" rIns="0" bIns="0" rtlCol="0" anchor="ctr"/>
          <a:lstStyle/>
          <a:p>
            <a:pPr marL="0" indent="0">
              <a:buNone/>
            </a:pPr>
            <a:r>
              <a:rPr lang="fr-FR" sz="1100" b="1" dirty="0">
                <a:solidFill>
                  <a:srgbClr val="9B6DFF"/>
                </a:solidFill>
                <a:latin typeface="Calibri" pitchFamily="34" charset="0"/>
                <a:ea typeface="Calibri" pitchFamily="34" charset="-122"/>
                <a:cs typeface="Calibri" pitchFamily="34" charset="-120"/>
              </a:rPr>
              <a:t>le chiffrement AES s'exécute entièrement en logiciel, instruction par instruction</a:t>
            </a:r>
            <a:endParaRPr lang="en-US" sz="1100" dirty="0"/>
          </a:p>
        </p:txBody>
      </p:sp>
      <p:sp>
        <p:nvSpPr>
          <p:cNvPr id="31" name="Shape 23"/>
          <p:cNvSpPr/>
          <p:nvPr/>
        </p:nvSpPr>
        <p:spPr>
          <a:xfrm>
            <a:off x="602950" y="4221099"/>
            <a:ext cx="8193578" cy="274320"/>
          </a:xfrm>
          <a:prstGeom prst="roundRect">
            <a:avLst>
              <a:gd name="adj" fmla="val 10000"/>
            </a:avLst>
          </a:prstGeom>
          <a:solidFill>
            <a:srgbClr val="182336"/>
          </a:solidFill>
          <a:ln w="12700">
            <a:solidFill>
              <a:srgbClr val="3D506C"/>
            </a:solidFill>
            <a:prstDash val="solid"/>
          </a:ln>
        </p:spPr>
        <p:txBody>
          <a:bodyPr/>
          <a:lstStyle/>
          <a:p>
            <a:endParaRPr lang="en-CA"/>
          </a:p>
        </p:txBody>
      </p:sp>
      <p:sp>
        <p:nvSpPr>
          <p:cNvPr id="32" name="Text 24"/>
          <p:cNvSpPr/>
          <p:nvPr/>
        </p:nvSpPr>
        <p:spPr>
          <a:xfrm>
            <a:off x="2942428" y="4202950"/>
            <a:ext cx="4566736" cy="338327"/>
          </a:xfrm>
          <a:prstGeom prst="rect">
            <a:avLst/>
          </a:prstGeom>
          <a:noFill/>
          <a:ln/>
        </p:spPr>
        <p:txBody>
          <a:bodyPr wrap="square" lIns="0" tIns="0" rIns="0" bIns="0" rtlCol="0" anchor="ctr"/>
          <a:lstStyle/>
          <a:p>
            <a:pPr marL="0" indent="0">
              <a:buNone/>
            </a:pPr>
            <a:r>
              <a:rPr lang="en-US" sz="900" i="1" dirty="0">
                <a:solidFill>
                  <a:srgbClr val="00F5FF"/>
                </a:solidFill>
                <a:latin typeface="Calibri" pitchFamily="34" charset="0"/>
                <a:ea typeface="Calibri" pitchFamily="34" charset="-122"/>
                <a:cs typeface="Calibri" pitchFamily="34" charset="-120"/>
              </a:rPr>
              <a:t>→  </a:t>
            </a:r>
            <a:r>
              <a:rPr lang="fr-FR" sz="900" i="1" dirty="0">
                <a:solidFill>
                  <a:srgbClr val="00F5FF"/>
                </a:solidFill>
                <a:latin typeface="Calibri" pitchFamily="34" charset="0"/>
                <a:ea typeface="Calibri" pitchFamily="34" charset="-122"/>
                <a:cs typeface="Calibri" pitchFamily="34" charset="-120"/>
              </a:rPr>
              <a:t>L'écart x86 / Pi n'est pas attribuable à la vitesse du CPU, mais à la présence d'AES-NI.</a:t>
            </a:r>
            <a:endParaRPr lang="en-US" sz="900" dirty="0"/>
          </a:p>
        </p:txBody>
      </p:sp>
      <p:sp>
        <p:nvSpPr>
          <p:cNvPr id="33" name="Shape 25"/>
          <p:cNvSpPr/>
          <p:nvPr/>
        </p:nvSpPr>
        <p:spPr>
          <a:xfrm>
            <a:off x="7587857" y="310896"/>
            <a:ext cx="1115568" cy="329184"/>
          </a:xfrm>
          <a:prstGeom prst="roundRect">
            <a:avLst>
              <a:gd name="adj" fmla="val 22222"/>
            </a:avLst>
          </a:prstGeom>
          <a:solidFill>
            <a:srgbClr val="060F1E"/>
          </a:solidFill>
          <a:ln w="9525">
            <a:solidFill>
              <a:srgbClr val="00F5FF"/>
            </a:solidFill>
            <a:prstDash val="solid"/>
          </a:ln>
        </p:spPr>
        <p:txBody>
          <a:bodyPr/>
          <a:lstStyle/>
          <a:p>
            <a:endParaRPr lang="en-CA"/>
          </a:p>
        </p:txBody>
      </p:sp>
      <p:sp>
        <p:nvSpPr>
          <p:cNvPr id="34" name="Text 26"/>
          <p:cNvSpPr/>
          <p:nvPr/>
        </p:nvSpPr>
        <p:spPr>
          <a:xfrm>
            <a:off x="7562920" y="310896"/>
            <a:ext cx="1115568" cy="329184"/>
          </a:xfrm>
          <a:prstGeom prst="rect">
            <a:avLst/>
          </a:prstGeom>
          <a:noFill/>
          <a:ln/>
        </p:spPr>
        <p:txBody>
          <a:bodyPr wrap="square" lIns="0" tIns="0" rIns="0" bIns="0" rtlCol="0" anchor="ctr"/>
          <a:lstStyle/>
          <a:p>
            <a:pPr marL="0" indent="0" algn="ctr">
              <a:buNone/>
            </a:pPr>
            <a:r>
              <a:rPr lang="en-US" sz="950" b="1" dirty="0">
                <a:solidFill>
                  <a:srgbClr val="00F5FF"/>
                </a:solidFill>
                <a:latin typeface="Calibri" pitchFamily="34" charset="0"/>
                <a:ea typeface="Calibri" pitchFamily="34" charset="-122"/>
                <a:cs typeface="Calibri" pitchFamily="34" charset="-120"/>
              </a:rPr>
              <a:t>▶  Vidéo 4</a:t>
            </a:r>
            <a:endParaRPr lang="en-US" sz="950" dirty="0"/>
          </a:p>
        </p:txBody>
      </p:sp>
      <p:sp>
        <p:nvSpPr>
          <p:cNvPr id="35" name="Text 27"/>
          <p:cNvSpPr/>
          <p:nvPr/>
        </p:nvSpPr>
        <p:spPr>
          <a:xfrm>
            <a:off x="1371600" y="4828032"/>
            <a:ext cx="6400800" cy="228600"/>
          </a:xfrm>
          <a:prstGeom prst="rect">
            <a:avLst/>
          </a:prstGeom>
          <a:noFill/>
          <a:ln/>
        </p:spPr>
        <p:txBody>
          <a:bodyPr wrap="square" rtlCol="0" anchor="ctr"/>
          <a:lstStyle/>
          <a:p>
            <a:pPr marL="0" indent="0" algn="ctr">
              <a:buNone/>
            </a:pPr>
            <a:r>
              <a:rPr lang="en-US" sz="850" b="1" kern="0" spc="100" dirty="0">
                <a:solidFill>
                  <a:srgbClr val="00F5FF"/>
                </a:solidFill>
                <a:latin typeface="Calibri" pitchFamily="34" charset="0"/>
                <a:ea typeface="Calibri" pitchFamily="34" charset="-122"/>
                <a:cs typeface="Calibri" pitchFamily="34" charset="-120"/>
              </a:rPr>
              <a:t>INF1430</a:t>
            </a:r>
            <a:r>
              <a:rPr lang="en-US" sz="850" kern="0" spc="100" dirty="0">
                <a:solidFill>
                  <a:srgbClr val="3A4A65"/>
                </a:solidFill>
                <a:latin typeface="Calibri" pitchFamily="34" charset="0"/>
                <a:ea typeface="Calibri" pitchFamily="34" charset="-122"/>
                <a:cs typeface="Calibri" pitchFamily="34" charset="-120"/>
              </a:rPr>
              <a:t>  ·  Université TÉLUQ  ·  TN3  ·  Melissa Moya  ·  2026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58"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256032" y="201168"/>
            <a:ext cx="548640" cy="548640"/>
          </a:xfrm>
          <a:prstGeom prst="rect">
            <a:avLst/>
          </a:prstGeom>
        </p:spPr>
      </p:pic>
      <p:pic>
        <p:nvPicPr>
          <p:cNvPr id="4" name="Image 2" descr="preencoded.png"/>
          <p:cNvPicPr>
            <a:picLocks noChangeAspect="1"/>
          </p:cNvPicPr>
          <p:nvPr/>
        </p:nvPicPr>
        <p:blipFill>
          <a:blip r:embed="rId4"/>
          <a:stretch>
            <a:fillRect/>
          </a:stretch>
        </p:blipFill>
        <p:spPr>
          <a:xfrm flipH="1">
            <a:off x="8339328" y="201168"/>
            <a:ext cx="548640" cy="548640"/>
          </a:xfrm>
          <a:prstGeom prst="rect">
            <a:avLst/>
          </a:prstGeom>
        </p:spPr>
      </p:pic>
      <p:pic>
        <p:nvPicPr>
          <p:cNvPr id="5" name="Image 3" descr="preencoded.png"/>
          <p:cNvPicPr>
            <a:picLocks noChangeAspect="1"/>
          </p:cNvPicPr>
          <p:nvPr/>
        </p:nvPicPr>
        <p:blipFill>
          <a:blip r:embed="rId4"/>
          <a:stretch>
            <a:fillRect/>
          </a:stretch>
        </p:blipFill>
        <p:spPr>
          <a:xfrm flipV="1">
            <a:off x="256032" y="4393692"/>
            <a:ext cx="548640" cy="548640"/>
          </a:xfrm>
          <a:prstGeom prst="rect">
            <a:avLst/>
          </a:prstGeom>
        </p:spPr>
      </p:pic>
      <p:pic>
        <p:nvPicPr>
          <p:cNvPr id="6" name="Image 4" descr="preencoded.png"/>
          <p:cNvPicPr>
            <a:picLocks noChangeAspect="1"/>
          </p:cNvPicPr>
          <p:nvPr/>
        </p:nvPicPr>
        <p:blipFill>
          <a:blip r:embed="rId4"/>
          <a:stretch>
            <a:fillRect/>
          </a:stretch>
        </p:blipFill>
        <p:spPr>
          <a:xfrm flipH="1" flipV="1">
            <a:off x="8339328" y="4393692"/>
            <a:ext cx="548640" cy="548640"/>
          </a:xfrm>
          <a:prstGeom prst="rect">
            <a:avLst/>
          </a:prstGeom>
        </p:spPr>
      </p:pic>
      <p:pic>
        <p:nvPicPr>
          <p:cNvPr id="7" name="Image 5" descr="preencoded.png"/>
          <p:cNvPicPr>
            <a:picLocks noChangeAspect="1"/>
          </p:cNvPicPr>
          <p:nvPr/>
        </p:nvPicPr>
        <p:blipFill>
          <a:blip r:embed="rId5">
            <a:alphaModFix amt="80000"/>
          </a:blip>
          <a:stretch>
            <a:fillRect/>
          </a:stretch>
        </p:blipFill>
        <p:spPr>
          <a:xfrm>
            <a:off x="566928" y="256032"/>
            <a:ext cx="256032" cy="256032"/>
          </a:xfrm>
          <a:prstGeom prst="rect">
            <a:avLst/>
          </a:prstGeom>
        </p:spPr>
      </p:pic>
      <p:sp>
        <p:nvSpPr>
          <p:cNvPr id="8" name="Text 0"/>
          <p:cNvSpPr/>
          <p:nvPr/>
        </p:nvSpPr>
        <p:spPr>
          <a:xfrm>
            <a:off x="868680" y="256032"/>
            <a:ext cx="4572000" cy="274320"/>
          </a:xfrm>
          <a:prstGeom prst="rect">
            <a:avLst/>
          </a:prstGeom>
          <a:noFill/>
          <a:ln/>
        </p:spPr>
        <p:txBody>
          <a:bodyPr wrap="square" rtlCol="0" anchor="ctr"/>
          <a:lstStyle/>
          <a:p>
            <a:pPr marL="0" indent="0">
              <a:buNone/>
            </a:pPr>
            <a:r>
              <a:rPr lang="en-US" sz="1000" b="1" kern="0" spc="50" dirty="0">
                <a:solidFill>
                  <a:srgbClr val="00F5FF"/>
                </a:solidFill>
                <a:latin typeface="Calibri" pitchFamily="34" charset="0"/>
                <a:ea typeface="Calibri" pitchFamily="34" charset="-122"/>
                <a:cs typeface="Calibri" pitchFamily="34" charset="-120"/>
              </a:rPr>
              <a:t>04  </a:t>
            </a:r>
            <a:r>
              <a:rPr lang="en-US" sz="1000" kern="0" spc="50" dirty="0">
                <a:solidFill>
                  <a:srgbClr val="8892A4"/>
                </a:solidFill>
                <a:latin typeface="Calibri" pitchFamily="34" charset="0"/>
                <a:ea typeface="Calibri" pitchFamily="34" charset="-122"/>
                <a:cs typeface="Calibri" pitchFamily="34" charset="-120"/>
              </a:rPr>
              <a:t>Résultats de performance</a:t>
            </a:r>
            <a:endParaRPr lang="en-US" sz="1000" dirty="0"/>
          </a:p>
        </p:txBody>
      </p:sp>
      <p:sp>
        <p:nvSpPr>
          <p:cNvPr id="9" name="Text 1"/>
          <p:cNvSpPr/>
          <p:nvPr/>
        </p:nvSpPr>
        <p:spPr>
          <a:xfrm>
            <a:off x="566928" y="566928"/>
            <a:ext cx="77724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Débit global : x86 vs Raspberry Pi</a:t>
            </a:r>
            <a:endParaRPr lang="en-US" sz="2400" dirty="0"/>
          </a:p>
        </p:txBody>
      </p:sp>
      <p:sp>
        <p:nvSpPr>
          <p:cNvPr id="11" name="Shape 2"/>
          <p:cNvSpPr/>
          <p:nvPr/>
        </p:nvSpPr>
        <p:spPr>
          <a:xfrm>
            <a:off x="6217919" y="1143000"/>
            <a:ext cx="2759825" cy="914400"/>
          </a:xfrm>
          <a:prstGeom prst="roundRect">
            <a:avLst>
              <a:gd name="adj" fmla="val 7000"/>
            </a:avLst>
          </a:prstGeom>
          <a:solidFill>
            <a:srgbClr val="060F1E"/>
          </a:solidFill>
          <a:ln w="9525">
            <a:solidFill>
              <a:srgbClr val="0D3D5C"/>
            </a:solidFill>
            <a:prstDash val="solid"/>
          </a:ln>
        </p:spPr>
        <p:txBody>
          <a:bodyPr/>
          <a:lstStyle/>
          <a:p>
            <a:endParaRPr lang="en-CA"/>
          </a:p>
        </p:txBody>
      </p:sp>
      <p:sp>
        <p:nvSpPr>
          <p:cNvPr id="12" name="Text 3"/>
          <p:cNvSpPr/>
          <p:nvPr/>
        </p:nvSpPr>
        <p:spPr>
          <a:xfrm>
            <a:off x="6409944" y="1220585"/>
            <a:ext cx="2084832" cy="384048"/>
          </a:xfrm>
          <a:prstGeom prst="rect">
            <a:avLst/>
          </a:prstGeom>
          <a:noFill/>
          <a:ln/>
        </p:spPr>
        <p:txBody>
          <a:bodyPr wrap="square" lIns="0" tIns="0" rIns="0" bIns="0" rtlCol="0" anchor="ctr"/>
          <a:lstStyle/>
          <a:p>
            <a:pPr marL="0" indent="0">
              <a:buNone/>
            </a:pPr>
            <a:r>
              <a:rPr lang="en-US" sz="2200" b="1" dirty="0">
                <a:solidFill>
                  <a:srgbClr val="00F5FF"/>
                </a:solidFill>
                <a:latin typeface="Calibri" pitchFamily="34" charset="0"/>
                <a:ea typeface="Calibri" pitchFamily="34" charset="-122"/>
                <a:cs typeface="Calibri" pitchFamily="34" charset="-120"/>
              </a:rPr>
              <a:t>163 MB/s</a:t>
            </a:r>
            <a:endParaRPr lang="en-US" sz="2200" dirty="0"/>
          </a:p>
        </p:txBody>
      </p:sp>
      <p:sp>
        <p:nvSpPr>
          <p:cNvPr id="13" name="Text 4"/>
          <p:cNvSpPr/>
          <p:nvPr/>
        </p:nvSpPr>
        <p:spPr>
          <a:xfrm>
            <a:off x="6409944" y="1570828"/>
            <a:ext cx="2084832" cy="219456"/>
          </a:xfrm>
          <a:prstGeom prst="rect">
            <a:avLst/>
          </a:prstGeom>
          <a:noFill/>
          <a:ln/>
        </p:spPr>
        <p:txBody>
          <a:bodyPr wrap="square" lIns="0" tIns="0" rIns="0" bIns="0" rtlCol="0" anchor="ctr"/>
          <a:lstStyle/>
          <a:p>
            <a:pPr marL="0" indent="0">
              <a:buNone/>
            </a:pPr>
            <a:r>
              <a:rPr lang="en-US" sz="950" b="1" dirty="0">
                <a:solidFill>
                  <a:srgbClr val="00F5FF"/>
                </a:solidFill>
                <a:latin typeface="Calibri" pitchFamily="34" charset="0"/>
                <a:ea typeface="Calibri" pitchFamily="34" charset="-122"/>
                <a:cs typeface="Calibri" pitchFamily="34" charset="-120"/>
              </a:rPr>
              <a:t>AES sur x86</a:t>
            </a:r>
            <a:endParaRPr lang="en-US" sz="950" dirty="0"/>
          </a:p>
        </p:txBody>
      </p:sp>
      <p:sp>
        <p:nvSpPr>
          <p:cNvPr id="14" name="Text 5"/>
          <p:cNvSpPr/>
          <p:nvPr/>
        </p:nvSpPr>
        <p:spPr>
          <a:xfrm>
            <a:off x="6409944" y="1734575"/>
            <a:ext cx="2567800" cy="329184"/>
          </a:xfrm>
          <a:prstGeom prst="rect">
            <a:avLst/>
          </a:prstGeom>
          <a:noFill/>
          <a:ln/>
        </p:spPr>
        <p:txBody>
          <a:bodyPr wrap="square" lIns="0" tIns="0" rIns="0" bIns="0" rtlCol="0" anchor="ctr"/>
          <a:lstStyle/>
          <a:p>
            <a:pPr marL="0" indent="0">
              <a:buNone/>
            </a:pPr>
            <a:r>
              <a:rPr lang="en-US" sz="850" i="1" dirty="0">
                <a:solidFill>
                  <a:srgbClr val="8892A4"/>
                </a:solidFill>
                <a:latin typeface="Calibri" pitchFamily="34" charset="0"/>
                <a:ea typeface="Calibri" pitchFamily="34" charset="-122"/>
                <a:cs typeface="Calibri" pitchFamily="34" charset="-120"/>
              </a:rPr>
              <a:t>vs 46 MB/s sur Pi — écart dû à AES-NI exclusivement</a:t>
            </a:r>
            <a:endParaRPr lang="en-US" sz="850" dirty="0"/>
          </a:p>
        </p:txBody>
      </p:sp>
      <p:sp>
        <p:nvSpPr>
          <p:cNvPr id="15" name="Shape 6"/>
          <p:cNvSpPr/>
          <p:nvPr/>
        </p:nvSpPr>
        <p:spPr>
          <a:xfrm>
            <a:off x="6236208" y="2176272"/>
            <a:ext cx="2741536" cy="914400"/>
          </a:xfrm>
          <a:prstGeom prst="roundRect">
            <a:avLst>
              <a:gd name="adj" fmla="val 7000"/>
            </a:avLst>
          </a:prstGeom>
          <a:solidFill>
            <a:srgbClr val="08061A"/>
          </a:solidFill>
          <a:ln w="9525">
            <a:solidFill>
              <a:srgbClr val="9B6DFF">
                <a:alpha val="32000"/>
              </a:srgbClr>
            </a:solidFill>
            <a:prstDash val="solid"/>
          </a:ln>
        </p:spPr>
        <p:txBody>
          <a:bodyPr/>
          <a:lstStyle/>
          <a:p>
            <a:endParaRPr lang="en-CA"/>
          </a:p>
        </p:txBody>
      </p:sp>
      <p:sp>
        <p:nvSpPr>
          <p:cNvPr id="16" name="Text 7"/>
          <p:cNvSpPr/>
          <p:nvPr/>
        </p:nvSpPr>
        <p:spPr>
          <a:xfrm>
            <a:off x="6382512" y="2245074"/>
            <a:ext cx="2084832" cy="384048"/>
          </a:xfrm>
          <a:prstGeom prst="rect">
            <a:avLst/>
          </a:prstGeom>
          <a:noFill/>
          <a:ln/>
        </p:spPr>
        <p:txBody>
          <a:bodyPr wrap="square" lIns="0" tIns="0" rIns="0" bIns="0" rtlCol="0" anchor="ctr"/>
          <a:lstStyle/>
          <a:p>
            <a:pPr marL="0" indent="0">
              <a:buNone/>
            </a:pPr>
            <a:r>
              <a:rPr lang="en-US" sz="2200" b="1" dirty="0">
                <a:solidFill>
                  <a:srgbClr val="9B6DFF"/>
                </a:solidFill>
                <a:latin typeface="Calibri" pitchFamily="34" charset="0"/>
                <a:ea typeface="Calibri" pitchFamily="34" charset="-122"/>
                <a:cs typeface="Calibri" pitchFamily="34" charset="-120"/>
              </a:rPr>
              <a:t>3,54×</a:t>
            </a:r>
            <a:endParaRPr lang="en-US" sz="2200" dirty="0"/>
          </a:p>
        </p:txBody>
      </p:sp>
      <p:sp>
        <p:nvSpPr>
          <p:cNvPr id="17" name="Text 8"/>
          <p:cNvSpPr/>
          <p:nvPr/>
        </p:nvSpPr>
        <p:spPr>
          <a:xfrm>
            <a:off x="6409944" y="2599182"/>
            <a:ext cx="2084832" cy="219456"/>
          </a:xfrm>
          <a:prstGeom prst="rect">
            <a:avLst/>
          </a:prstGeom>
          <a:noFill/>
          <a:ln/>
        </p:spPr>
        <p:txBody>
          <a:bodyPr wrap="square" lIns="0" tIns="0" rIns="0" bIns="0" rtlCol="0" anchor="ctr"/>
          <a:lstStyle/>
          <a:p>
            <a:pPr marL="0" indent="0">
              <a:buNone/>
            </a:pPr>
            <a:r>
              <a:rPr lang="en-US" sz="950" b="1" dirty="0">
                <a:solidFill>
                  <a:srgbClr val="9B6DFF"/>
                </a:solidFill>
                <a:latin typeface="Calibri" pitchFamily="34" charset="0"/>
                <a:ea typeface="Calibri" pitchFamily="34" charset="-122"/>
                <a:cs typeface="Calibri" pitchFamily="34" charset="-120"/>
              </a:rPr>
              <a:t>ratio AES x86 / Pi</a:t>
            </a:r>
            <a:endParaRPr lang="en-US" sz="950" dirty="0"/>
          </a:p>
        </p:txBody>
      </p:sp>
      <p:sp>
        <p:nvSpPr>
          <p:cNvPr id="18" name="Text 9"/>
          <p:cNvSpPr/>
          <p:nvPr/>
        </p:nvSpPr>
        <p:spPr>
          <a:xfrm>
            <a:off x="6409944" y="2764189"/>
            <a:ext cx="2478024" cy="329184"/>
          </a:xfrm>
          <a:prstGeom prst="rect">
            <a:avLst/>
          </a:prstGeom>
          <a:noFill/>
          <a:ln/>
        </p:spPr>
        <p:txBody>
          <a:bodyPr wrap="square" lIns="0" tIns="0" rIns="0" bIns="0" rtlCol="0" anchor="ctr"/>
          <a:lstStyle/>
          <a:p>
            <a:pPr marL="0" indent="0">
              <a:buNone/>
            </a:pPr>
            <a:r>
              <a:rPr lang="en-US" sz="850" i="1" dirty="0">
                <a:solidFill>
                  <a:srgbClr val="8892A4"/>
                </a:solidFill>
                <a:latin typeface="Calibri" pitchFamily="34" charset="0"/>
                <a:ea typeface="Calibri" pitchFamily="34" charset="-122"/>
                <a:cs typeface="Calibri" pitchFamily="34" charset="-120"/>
              </a:rPr>
              <a:t>le plus grand écart de tous les algorithmes testés</a:t>
            </a:r>
            <a:endParaRPr lang="en-US" sz="850" dirty="0"/>
          </a:p>
        </p:txBody>
      </p:sp>
      <p:sp>
        <p:nvSpPr>
          <p:cNvPr id="19" name="Shape 10"/>
          <p:cNvSpPr/>
          <p:nvPr/>
        </p:nvSpPr>
        <p:spPr>
          <a:xfrm>
            <a:off x="6263640" y="3185395"/>
            <a:ext cx="2714104" cy="914400"/>
          </a:xfrm>
          <a:prstGeom prst="roundRect">
            <a:avLst>
              <a:gd name="adj" fmla="val 7000"/>
            </a:avLst>
          </a:prstGeom>
          <a:solidFill>
            <a:srgbClr val="060F1E"/>
          </a:solidFill>
          <a:ln w="9525">
            <a:solidFill>
              <a:srgbClr val="0D3D5C"/>
            </a:solidFill>
            <a:prstDash val="solid"/>
          </a:ln>
        </p:spPr>
        <p:txBody>
          <a:bodyPr/>
          <a:lstStyle/>
          <a:p>
            <a:endParaRPr lang="en-CA"/>
          </a:p>
        </p:txBody>
      </p:sp>
      <p:sp>
        <p:nvSpPr>
          <p:cNvPr id="20" name="Text 11"/>
          <p:cNvSpPr/>
          <p:nvPr/>
        </p:nvSpPr>
        <p:spPr>
          <a:xfrm>
            <a:off x="6409944" y="3280479"/>
            <a:ext cx="2084832" cy="384048"/>
          </a:xfrm>
          <a:prstGeom prst="rect">
            <a:avLst/>
          </a:prstGeom>
          <a:noFill/>
          <a:ln/>
        </p:spPr>
        <p:txBody>
          <a:bodyPr wrap="square" lIns="0" tIns="0" rIns="0" bIns="0" rtlCol="0" anchor="ctr"/>
          <a:lstStyle/>
          <a:p>
            <a:pPr marL="0" indent="0">
              <a:buNone/>
            </a:pPr>
            <a:r>
              <a:rPr lang="en-US" sz="2200" b="1" dirty="0">
                <a:solidFill>
                  <a:srgbClr val="00F5FF"/>
                </a:solidFill>
                <a:latin typeface="Calibri" pitchFamily="34" charset="0"/>
                <a:ea typeface="Calibri" pitchFamily="34" charset="-122"/>
                <a:cs typeface="Calibri" pitchFamily="34" charset="-120"/>
              </a:rPr>
              <a:t>3 MB/s</a:t>
            </a:r>
            <a:endParaRPr lang="en-US" sz="2200" dirty="0"/>
          </a:p>
        </p:txBody>
      </p:sp>
      <p:sp>
        <p:nvSpPr>
          <p:cNvPr id="21" name="Text 12"/>
          <p:cNvSpPr/>
          <p:nvPr/>
        </p:nvSpPr>
        <p:spPr>
          <a:xfrm>
            <a:off x="6409944" y="3630175"/>
            <a:ext cx="2084832" cy="219456"/>
          </a:xfrm>
          <a:prstGeom prst="rect">
            <a:avLst/>
          </a:prstGeom>
          <a:noFill/>
          <a:ln/>
        </p:spPr>
        <p:txBody>
          <a:bodyPr wrap="square" lIns="0" tIns="0" rIns="0" bIns="0" rtlCol="0" anchor="ctr"/>
          <a:lstStyle/>
          <a:p>
            <a:pPr marL="0" indent="0">
              <a:buNone/>
            </a:pPr>
            <a:r>
              <a:rPr lang="en-US" sz="950" b="1" dirty="0">
                <a:solidFill>
                  <a:srgbClr val="00F5FF"/>
                </a:solidFill>
                <a:latin typeface="Calibri" pitchFamily="34" charset="0"/>
                <a:ea typeface="Calibri" pitchFamily="34" charset="-122"/>
                <a:cs typeface="Calibri" pitchFamily="34" charset="-120"/>
              </a:rPr>
              <a:t>Twofish sur x86</a:t>
            </a:r>
            <a:endParaRPr lang="en-US" sz="950" dirty="0"/>
          </a:p>
        </p:txBody>
      </p:sp>
      <p:sp>
        <p:nvSpPr>
          <p:cNvPr id="22" name="Text 13"/>
          <p:cNvSpPr/>
          <p:nvPr/>
        </p:nvSpPr>
        <p:spPr>
          <a:xfrm>
            <a:off x="6409944" y="3801742"/>
            <a:ext cx="2567800" cy="329184"/>
          </a:xfrm>
          <a:prstGeom prst="rect">
            <a:avLst/>
          </a:prstGeom>
          <a:noFill/>
          <a:ln/>
        </p:spPr>
        <p:txBody>
          <a:bodyPr wrap="square" lIns="0" tIns="0" rIns="0" bIns="0" rtlCol="0" anchor="ctr"/>
          <a:lstStyle/>
          <a:p>
            <a:pPr marL="0" indent="0">
              <a:buNone/>
            </a:pPr>
            <a:r>
              <a:rPr lang="en-US" sz="850" i="1" dirty="0">
                <a:solidFill>
                  <a:srgbClr val="8892A4"/>
                </a:solidFill>
                <a:latin typeface="Calibri" pitchFamily="34" charset="0"/>
                <a:ea typeface="Calibri" pitchFamily="34" charset="-122"/>
                <a:cs typeface="Calibri" pitchFamily="34" charset="-120"/>
              </a:rPr>
              <a:t>58× plus lent </a:t>
            </a:r>
            <a:r>
              <a:rPr lang="en-US" sz="850" i="1" dirty="0" err="1">
                <a:solidFill>
                  <a:srgbClr val="8892A4"/>
                </a:solidFill>
                <a:latin typeface="Calibri" pitchFamily="34" charset="0"/>
                <a:ea typeface="Calibri" pitchFamily="34" charset="-122"/>
                <a:cs typeface="Calibri" pitchFamily="34" charset="-120"/>
              </a:rPr>
              <a:t>qu’AES</a:t>
            </a:r>
            <a:r>
              <a:rPr lang="en-US" sz="850" i="1" dirty="0">
                <a:solidFill>
                  <a:srgbClr val="8892A4"/>
                </a:solidFill>
                <a:latin typeface="Calibri" pitchFamily="34" charset="0"/>
                <a:ea typeface="Calibri" pitchFamily="34" charset="-122"/>
                <a:cs typeface="Calibri" pitchFamily="34" charset="-120"/>
              </a:rPr>
              <a:t> — complexité du key schedule</a:t>
            </a:r>
            <a:endParaRPr lang="en-US" sz="850" dirty="0"/>
          </a:p>
        </p:txBody>
      </p:sp>
      <p:sp>
        <p:nvSpPr>
          <p:cNvPr id="23" name="Shape 14"/>
          <p:cNvSpPr/>
          <p:nvPr/>
        </p:nvSpPr>
        <p:spPr>
          <a:xfrm>
            <a:off x="566928" y="4231386"/>
            <a:ext cx="8184157" cy="480060"/>
          </a:xfrm>
          <a:prstGeom prst="roundRect">
            <a:avLst>
              <a:gd name="adj" fmla="val 9231"/>
            </a:avLst>
          </a:prstGeom>
          <a:solidFill>
            <a:srgbClr val="060F1E"/>
          </a:solidFill>
          <a:ln w="9525">
            <a:solidFill>
              <a:srgbClr val="0D3D5C"/>
            </a:solidFill>
            <a:prstDash val="solid"/>
          </a:ln>
        </p:spPr>
        <p:txBody>
          <a:bodyPr/>
          <a:lstStyle/>
          <a:p>
            <a:endParaRPr lang="en-CA"/>
          </a:p>
        </p:txBody>
      </p:sp>
      <p:sp>
        <p:nvSpPr>
          <p:cNvPr id="24" name="Text 15"/>
          <p:cNvSpPr/>
          <p:nvPr/>
        </p:nvSpPr>
        <p:spPr>
          <a:xfrm>
            <a:off x="694944" y="4197220"/>
            <a:ext cx="7955280" cy="594360"/>
          </a:xfrm>
          <a:prstGeom prst="rect">
            <a:avLst/>
          </a:prstGeom>
          <a:noFill/>
          <a:ln/>
        </p:spPr>
        <p:txBody>
          <a:bodyPr wrap="square" rtlCol="0" anchor="ctr"/>
          <a:lstStyle/>
          <a:p>
            <a:pPr marL="0" indent="0">
              <a:buNone/>
            </a:pPr>
            <a:r>
              <a:rPr lang="fr-FR" sz="950" b="1" dirty="0">
                <a:solidFill>
                  <a:srgbClr val="00F5FF"/>
                </a:solidFill>
                <a:latin typeface="Calibri" pitchFamily="34" charset="0"/>
                <a:ea typeface="Calibri" pitchFamily="34" charset="-122"/>
                <a:cs typeface="Calibri" pitchFamily="34" charset="-120"/>
              </a:rPr>
              <a:t>AES sur x86 </a:t>
            </a:r>
            <a:r>
              <a:rPr lang="fr-FR" sz="950" dirty="0">
                <a:solidFill>
                  <a:srgbClr val="8892A4"/>
                </a:solidFill>
                <a:latin typeface="Calibri" pitchFamily="34" charset="0"/>
                <a:ea typeface="Calibri" pitchFamily="34" charset="-122"/>
                <a:cs typeface="Calibri" pitchFamily="34" charset="-120"/>
              </a:rPr>
              <a:t>surpasse nettement les autres résultats, un écart attribuable non pas à la vitesse du CPU, mais à AES-NI. Sans cette instruction, le Pi effectuerait le même travail 3,54 fois plus lentement.</a:t>
            </a:r>
            <a:endParaRPr lang="en-US" sz="950" dirty="0">
              <a:solidFill>
                <a:srgbClr val="8892A4"/>
              </a:solidFill>
            </a:endParaRPr>
          </a:p>
        </p:txBody>
      </p:sp>
      <p:sp>
        <p:nvSpPr>
          <p:cNvPr id="25" name="Shape 16"/>
          <p:cNvSpPr/>
          <p:nvPr/>
        </p:nvSpPr>
        <p:spPr>
          <a:xfrm>
            <a:off x="7648956" y="298323"/>
            <a:ext cx="1115568" cy="329184"/>
          </a:xfrm>
          <a:prstGeom prst="roundRect">
            <a:avLst>
              <a:gd name="adj" fmla="val 22222"/>
            </a:avLst>
          </a:prstGeom>
          <a:solidFill>
            <a:srgbClr val="060F1E"/>
          </a:solidFill>
          <a:ln w="9525">
            <a:solidFill>
              <a:srgbClr val="9B6DFF"/>
            </a:solidFill>
            <a:prstDash val="solid"/>
          </a:ln>
        </p:spPr>
        <p:txBody>
          <a:bodyPr/>
          <a:lstStyle/>
          <a:p>
            <a:endParaRPr lang="en-CA"/>
          </a:p>
        </p:txBody>
      </p:sp>
      <p:sp>
        <p:nvSpPr>
          <p:cNvPr id="26" name="Text 17"/>
          <p:cNvSpPr/>
          <p:nvPr/>
        </p:nvSpPr>
        <p:spPr>
          <a:xfrm>
            <a:off x="7635517" y="310799"/>
            <a:ext cx="1115568" cy="329184"/>
          </a:xfrm>
          <a:prstGeom prst="rect">
            <a:avLst/>
          </a:prstGeom>
          <a:noFill/>
          <a:ln/>
        </p:spPr>
        <p:txBody>
          <a:bodyPr wrap="square" lIns="0" tIns="0" rIns="0" bIns="0" rtlCol="0" anchor="ctr"/>
          <a:lstStyle/>
          <a:p>
            <a:pPr marL="0" indent="0" algn="ctr">
              <a:buNone/>
            </a:pPr>
            <a:r>
              <a:rPr lang="en-US" sz="950" b="1" dirty="0">
                <a:solidFill>
                  <a:srgbClr val="9B6DFF"/>
                </a:solidFill>
                <a:latin typeface="Calibri" pitchFamily="34" charset="0"/>
                <a:ea typeface="Calibri" pitchFamily="34" charset="-122"/>
                <a:cs typeface="Calibri" pitchFamily="34" charset="-120"/>
              </a:rPr>
              <a:t>▶  Vidéo 5</a:t>
            </a:r>
            <a:endParaRPr lang="en-US" sz="950" dirty="0"/>
          </a:p>
        </p:txBody>
      </p:sp>
      <p:sp>
        <p:nvSpPr>
          <p:cNvPr id="27" name="Text 18"/>
          <p:cNvSpPr/>
          <p:nvPr/>
        </p:nvSpPr>
        <p:spPr>
          <a:xfrm>
            <a:off x="1371600" y="4828032"/>
            <a:ext cx="6400800" cy="228600"/>
          </a:xfrm>
          <a:prstGeom prst="rect">
            <a:avLst/>
          </a:prstGeom>
          <a:noFill/>
          <a:ln/>
        </p:spPr>
        <p:txBody>
          <a:bodyPr wrap="square" rtlCol="0" anchor="ctr"/>
          <a:lstStyle/>
          <a:p>
            <a:pPr marL="0" indent="0" algn="ctr">
              <a:buNone/>
            </a:pPr>
            <a:r>
              <a:rPr lang="en-US" sz="850" b="1" kern="0" spc="100" dirty="0">
                <a:solidFill>
                  <a:srgbClr val="00F5FF"/>
                </a:solidFill>
                <a:latin typeface="Calibri" pitchFamily="34" charset="0"/>
                <a:ea typeface="Calibri" pitchFamily="34" charset="-122"/>
                <a:cs typeface="Calibri" pitchFamily="34" charset="-120"/>
              </a:rPr>
              <a:t>INF1430</a:t>
            </a:r>
            <a:r>
              <a:rPr lang="en-US" sz="850" kern="0" spc="100" dirty="0">
                <a:solidFill>
                  <a:srgbClr val="3A4A65"/>
                </a:solidFill>
                <a:latin typeface="Calibri" pitchFamily="34" charset="0"/>
                <a:ea typeface="Calibri" pitchFamily="34" charset="-122"/>
                <a:cs typeface="Calibri" pitchFamily="34" charset="-120"/>
              </a:rPr>
              <a:t>  ·  Université TÉLUQ  ·  TN3  ·  Melissa Moya  ·  2026</a:t>
            </a:r>
            <a:endParaRPr lang="en-US" sz="850" dirty="0"/>
          </a:p>
        </p:txBody>
      </p:sp>
      <p:pic>
        <p:nvPicPr>
          <p:cNvPr id="29" name="Picture 28">
            <a:extLst>
              <a:ext uri="{FF2B5EF4-FFF2-40B4-BE49-F238E27FC236}">
                <a16:creationId xmlns:a16="http://schemas.microsoft.com/office/drawing/2014/main" id="{7096E10C-683A-62F3-48AF-BF3C6D61BB5F}"/>
              </a:ext>
            </a:extLst>
          </p:cNvPr>
          <p:cNvPicPr>
            <a:picLocks noChangeAspect="1"/>
          </p:cNvPicPr>
          <p:nvPr/>
        </p:nvPicPr>
        <p:blipFill>
          <a:blip r:embed="rId6"/>
          <a:stretch>
            <a:fillRect/>
          </a:stretch>
        </p:blipFill>
        <p:spPr>
          <a:xfrm>
            <a:off x="315744" y="1141742"/>
            <a:ext cx="5824451" cy="288847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Grp="1" noRot="1" noChangeAspect="1" noMove="1" noResize="1" noEditPoints="1" noAdjustHandles="1" noChangeArrowheads="1" noChangeShapeType="1" noCrop="1"/>
          </p:cNvPicPr>
          <p:nvPr/>
        </p:nvPicPr>
        <p:blipFill>
          <a:blip r:embed="rId3"/>
          <a:stretch>
            <a:fillRect/>
          </a:stretch>
        </p:blipFill>
        <p:spPr>
          <a:xfrm>
            <a:off x="0" y="-2286"/>
            <a:ext cx="9144000" cy="5143500"/>
          </a:xfrm>
          <a:prstGeom prst="rect">
            <a:avLst/>
          </a:prstGeom>
        </p:spPr>
      </p:pic>
      <p:pic>
        <p:nvPicPr>
          <p:cNvPr id="3" name="Image 1" descr="preencoded.png"/>
          <p:cNvPicPr>
            <a:picLocks noChangeAspect="1"/>
          </p:cNvPicPr>
          <p:nvPr/>
        </p:nvPicPr>
        <p:blipFill>
          <a:blip r:embed="rId4"/>
          <a:stretch>
            <a:fillRect/>
          </a:stretch>
        </p:blipFill>
        <p:spPr>
          <a:xfrm>
            <a:off x="256032" y="201168"/>
            <a:ext cx="548640" cy="548640"/>
          </a:xfrm>
          <a:prstGeom prst="rect">
            <a:avLst/>
          </a:prstGeom>
        </p:spPr>
      </p:pic>
      <p:pic>
        <p:nvPicPr>
          <p:cNvPr id="4" name="Image 2" descr="preencoded.png"/>
          <p:cNvPicPr>
            <a:picLocks noChangeAspect="1"/>
          </p:cNvPicPr>
          <p:nvPr/>
        </p:nvPicPr>
        <p:blipFill>
          <a:blip r:embed="rId4"/>
          <a:stretch>
            <a:fillRect/>
          </a:stretch>
        </p:blipFill>
        <p:spPr>
          <a:xfrm flipH="1">
            <a:off x="8339328" y="201168"/>
            <a:ext cx="548640" cy="548640"/>
          </a:xfrm>
          <a:prstGeom prst="rect">
            <a:avLst/>
          </a:prstGeom>
        </p:spPr>
      </p:pic>
      <p:pic>
        <p:nvPicPr>
          <p:cNvPr id="5" name="Image 3" descr="preencoded.png"/>
          <p:cNvPicPr>
            <a:picLocks noChangeAspect="1"/>
          </p:cNvPicPr>
          <p:nvPr/>
        </p:nvPicPr>
        <p:blipFill>
          <a:blip r:embed="rId4"/>
          <a:stretch>
            <a:fillRect/>
          </a:stretch>
        </p:blipFill>
        <p:spPr>
          <a:xfrm flipV="1">
            <a:off x="256032" y="4393692"/>
            <a:ext cx="548640" cy="548640"/>
          </a:xfrm>
          <a:prstGeom prst="rect">
            <a:avLst/>
          </a:prstGeom>
        </p:spPr>
      </p:pic>
      <p:pic>
        <p:nvPicPr>
          <p:cNvPr id="6" name="Image 4" descr="preencoded.png"/>
          <p:cNvPicPr>
            <a:picLocks noChangeAspect="1"/>
          </p:cNvPicPr>
          <p:nvPr/>
        </p:nvPicPr>
        <p:blipFill>
          <a:blip r:embed="rId4"/>
          <a:stretch>
            <a:fillRect/>
          </a:stretch>
        </p:blipFill>
        <p:spPr>
          <a:xfrm flipH="1" flipV="1">
            <a:off x="8339328" y="4393692"/>
            <a:ext cx="548640" cy="548640"/>
          </a:xfrm>
          <a:prstGeom prst="rect">
            <a:avLst/>
          </a:prstGeom>
        </p:spPr>
      </p:pic>
      <p:pic>
        <p:nvPicPr>
          <p:cNvPr id="7" name="Image 5" descr="preencoded.png"/>
          <p:cNvPicPr>
            <a:picLocks noChangeAspect="1"/>
          </p:cNvPicPr>
          <p:nvPr/>
        </p:nvPicPr>
        <p:blipFill>
          <a:blip r:embed="rId5">
            <a:alphaModFix amt="80000"/>
          </a:blip>
          <a:stretch>
            <a:fillRect/>
          </a:stretch>
        </p:blipFill>
        <p:spPr>
          <a:xfrm>
            <a:off x="566928" y="256032"/>
            <a:ext cx="256032" cy="256032"/>
          </a:xfrm>
          <a:prstGeom prst="rect">
            <a:avLst/>
          </a:prstGeom>
        </p:spPr>
      </p:pic>
      <p:sp>
        <p:nvSpPr>
          <p:cNvPr id="8" name="Text 0"/>
          <p:cNvSpPr/>
          <p:nvPr/>
        </p:nvSpPr>
        <p:spPr>
          <a:xfrm>
            <a:off x="868680" y="256032"/>
            <a:ext cx="4572000" cy="274320"/>
          </a:xfrm>
          <a:prstGeom prst="rect">
            <a:avLst/>
          </a:prstGeom>
          <a:noFill/>
          <a:ln/>
        </p:spPr>
        <p:txBody>
          <a:bodyPr wrap="square" rtlCol="0" anchor="ctr"/>
          <a:lstStyle/>
          <a:p>
            <a:pPr marL="0" indent="0">
              <a:buNone/>
            </a:pPr>
            <a:r>
              <a:rPr lang="en-US" sz="1000" b="1" kern="0" spc="50" dirty="0">
                <a:solidFill>
                  <a:srgbClr val="00F5FF"/>
                </a:solidFill>
                <a:latin typeface="Calibri" pitchFamily="34" charset="0"/>
                <a:ea typeface="Calibri" pitchFamily="34" charset="-122"/>
                <a:cs typeface="Calibri" pitchFamily="34" charset="-120"/>
              </a:rPr>
              <a:t>04  </a:t>
            </a:r>
            <a:r>
              <a:rPr lang="en-US" sz="1000" kern="0" spc="50" dirty="0">
                <a:solidFill>
                  <a:srgbClr val="8892A4"/>
                </a:solidFill>
                <a:latin typeface="Calibri" pitchFamily="34" charset="0"/>
                <a:ea typeface="Calibri" pitchFamily="34" charset="-122"/>
                <a:cs typeface="Calibri" pitchFamily="34" charset="-120"/>
              </a:rPr>
              <a:t>Résultats de performance</a:t>
            </a:r>
            <a:endParaRPr lang="en-US" sz="1000" dirty="0"/>
          </a:p>
        </p:txBody>
      </p:sp>
      <p:sp>
        <p:nvSpPr>
          <p:cNvPr id="9" name="Text 1"/>
          <p:cNvSpPr/>
          <p:nvPr/>
        </p:nvSpPr>
        <p:spPr>
          <a:xfrm>
            <a:off x="566928" y="566928"/>
            <a:ext cx="77724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AES — L'écart x86 / Pi expliqué</a:t>
            </a:r>
            <a:endParaRPr lang="en-US" sz="2400" dirty="0"/>
          </a:p>
        </p:txBody>
      </p:sp>
      <p:sp>
        <p:nvSpPr>
          <p:cNvPr id="11" name="Shape 2"/>
          <p:cNvSpPr/>
          <p:nvPr/>
        </p:nvSpPr>
        <p:spPr>
          <a:xfrm>
            <a:off x="6080760" y="886062"/>
            <a:ext cx="2743200" cy="525969"/>
          </a:xfrm>
          <a:prstGeom prst="roundRect">
            <a:avLst>
              <a:gd name="adj" fmla="val 7143"/>
            </a:avLst>
          </a:prstGeom>
          <a:solidFill>
            <a:srgbClr val="060F1E"/>
          </a:solidFill>
          <a:ln w="9525">
            <a:solidFill>
              <a:srgbClr val="0D3D5C"/>
            </a:solidFill>
            <a:prstDash val="solid"/>
          </a:ln>
        </p:spPr>
        <p:txBody>
          <a:bodyPr/>
          <a:lstStyle/>
          <a:p>
            <a:endParaRPr lang="en-CA"/>
          </a:p>
        </p:txBody>
      </p:sp>
      <p:sp>
        <p:nvSpPr>
          <p:cNvPr id="12" name="Text 3"/>
          <p:cNvSpPr/>
          <p:nvPr/>
        </p:nvSpPr>
        <p:spPr>
          <a:xfrm>
            <a:off x="6309360" y="883729"/>
            <a:ext cx="2468880" cy="365760"/>
          </a:xfrm>
          <a:prstGeom prst="rect">
            <a:avLst/>
          </a:prstGeom>
          <a:noFill/>
          <a:ln/>
        </p:spPr>
        <p:txBody>
          <a:bodyPr wrap="square" lIns="0" tIns="0" rIns="0" bIns="0" rtlCol="0" anchor="ctr"/>
          <a:lstStyle/>
          <a:p>
            <a:pPr marL="0" indent="0">
              <a:buNone/>
            </a:pPr>
            <a:r>
              <a:rPr lang="en-US" sz="2200" b="1" dirty="0">
                <a:solidFill>
                  <a:srgbClr val="00F5FF"/>
                </a:solidFill>
                <a:latin typeface="Calibri" pitchFamily="34" charset="0"/>
                <a:ea typeface="Calibri" pitchFamily="34" charset="-122"/>
                <a:cs typeface="Calibri" pitchFamily="34" charset="-120"/>
              </a:rPr>
              <a:t>3,54×</a:t>
            </a:r>
            <a:endParaRPr lang="en-US" sz="2200" dirty="0"/>
          </a:p>
        </p:txBody>
      </p:sp>
      <p:sp>
        <p:nvSpPr>
          <p:cNvPr id="13" name="Text 4"/>
          <p:cNvSpPr/>
          <p:nvPr/>
        </p:nvSpPr>
        <p:spPr>
          <a:xfrm>
            <a:off x="6309360" y="1182814"/>
            <a:ext cx="2468880" cy="201168"/>
          </a:xfrm>
          <a:prstGeom prst="rect">
            <a:avLst/>
          </a:prstGeom>
          <a:noFill/>
          <a:ln/>
        </p:spPr>
        <p:txBody>
          <a:bodyPr wrap="square" lIns="0" tIns="0" rIns="0" bIns="0" rtlCol="0" anchor="ctr"/>
          <a:lstStyle/>
          <a:p>
            <a:pPr marL="0" indent="0">
              <a:buNone/>
            </a:pPr>
            <a:r>
              <a:rPr lang="en-US" sz="950" b="1" dirty="0">
                <a:solidFill>
                  <a:srgbClr val="00F5FF"/>
                </a:solidFill>
                <a:latin typeface="Calibri" pitchFamily="34" charset="0"/>
                <a:ea typeface="Calibri" pitchFamily="34" charset="-122"/>
                <a:cs typeface="Calibri" pitchFamily="34" charset="-120"/>
              </a:rPr>
              <a:t>ratio AES x86 / Pi</a:t>
            </a:r>
            <a:endParaRPr lang="en-US" sz="950" dirty="0"/>
          </a:p>
        </p:txBody>
      </p:sp>
      <p:sp>
        <p:nvSpPr>
          <p:cNvPr id="19" name="Shape 10"/>
          <p:cNvSpPr/>
          <p:nvPr/>
        </p:nvSpPr>
        <p:spPr>
          <a:xfrm>
            <a:off x="6094476" y="2194082"/>
            <a:ext cx="2743200" cy="578549"/>
          </a:xfrm>
          <a:prstGeom prst="roundRect">
            <a:avLst>
              <a:gd name="adj" fmla="val 7143"/>
            </a:avLst>
          </a:prstGeom>
          <a:solidFill>
            <a:srgbClr val="060F1E"/>
          </a:solidFill>
          <a:ln w="9525">
            <a:solidFill>
              <a:srgbClr val="0D3D5C"/>
            </a:solidFill>
            <a:prstDash val="solid"/>
          </a:ln>
        </p:spPr>
        <p:txBody>
          <a:bodyPr/>
          <a:lstStyle/>
          <a:p>
            <a:endParaRPr lang="en-CA"/>
          </a:p>
        </p:txBody>
      </p:sp>
      <p:sp>
        <p:nvSpPr>
          <p:cNvPr id="23" name="Shape 14"/>
          <p:cNvSpPr/>
          <p:nvPr/>
        </p:nvSpPr>
        <p:spPr>
          <a:xfrm>
            <a:off x="566928" y="4362746"/>
            <a:ext cx="8046720" cy="331259"/>
          </a:xfrm>
          <a:prstGeom prst="roundRect">
            <a:avLst>
              <a:gd name="adj" fmla="val 9231"/>
            </a:avLst>
          </a:prstGeom>
          <a:solidFill>
            <a:srgbClr val="060F1E"/>
          </a:solidFill>
          <a:ln w="9525">
            <a:solidFill>
              <a:srgbClr val="0D3D5C"/>
            </a:solidFill>
            <a:prstDash val="solid"/>
          </a:ln>
        </p:spPr>
        <p:txBody>
          <a:bodyPr/>
          <a:lstStyle/>
          <a:p>
            <a:endParaRPr lang="en-CA"/>
          </a:p>
        </p:txBody>
      </p:sp>
      <p:sp>
        <p:nvSpPr>
          <p:cNvPr id="24" name="Text 15"/>
          <p:cNvSpPr/>
          <p:nvPr/>
        </p:nvSpPr>
        <p:spPr>
          <a:xfrm>
            <a:off x="658368" y="4304023"/>
            <a:ext cx="7955280" cy="481393"/>
          </a:xfrm>
          <a:prstGeom prst="rect">
            <a:avLst/>
          </a:prstGeom>
          <a:noFill/>
          <a:ln/>
        </p:spPr>
        <p:txBody>
          <a:bodyPr wrap="square" rtlCol="0" anchor="ctr"/>
          <a:lstStyle/>
          <a:p>
            <a:pPr marL="0" indent="0" algn="ctr">
              <a:buNone/>
            </a:pPr>
            <a:r>
              <a:rPr lang="fr-FR" sz="950" dirty="0">
                <a:solidFill>
                  <a:srgbClr val="8892A4"/>
                </a:solidFill>
                <a:latin typeface="Calibri" pitchFamily="34" charset="0"/>
                <a:cs typeface="Calibri" pitchFamily="34" charset="-120"/>
              </a:rPr>
              <a:t>Grâce à AES-NI sur x86, un tour AES complet s'exécute en un seul cycle CPU. Sans cette accélération matérielle, le Pi doit calculer entièrement en logiciel, ce qui produit un écart de 3,54×. Aucun autre algorithme testé ne bénéficie d'un tel levier matériel.</a:t>
            </a:r>
            <a:endParaRPr lang="en-US" sz="950" dirty="0">
              <a:solidFill>
                <a:srgbClr val="8892A4"/>
              </a:solidFill>
            </a:endParaRPr>
          </a:p>
        </p:txBody>
      </p:sp>
      <p:sp>
        <p:nvSpPr>
          <p:cNvPr id="25" name="Shape 16"/>
          <p:cNvSpPr/>
          <p:nvPr/>
        </p:nvSpPr>
        <p:spPr>
          <a:xfrm>
            <a:off x="7626096" y="317077"/>
            <a:ext cx="1115568" cy="329184"/>
          </a:xfrm>
          <a:prstGeom prst="roundRect">
            <a:avLst>
              <a:gd name="adj" fmla="val 22222"/>
            </a:avLst>
          </a:prstGeom>
          <a:solidFill>
            <a:srgbClr val="060F1E"/>
          </a:solidFill>
          <a:ln w="9525">
            <a:solidFill>
              <a:srgbClr val="9B6DFF"/>
            </a:solidFill>
            <a:prstDash val="solid"/>
          </a:ln>
        </p:spPr>
        <p:txBody>
          <a:bodyPr/>
          <a:lstStyle/>
          <a:p>
            <a:endParaRPr lang="en-CA"/>
          </a:p>
        </p:txBody>
      </p:sp>
      <p:sp>
        <p:nvSpPr>
          <p:cNvPr id="26" name="Text 17"/>
          <p:cNvSpPr/>
          <p:nvPr/>
        </p:nvSpPr>
        <p:spPr>
          <a:xfrm>
            <a:off x="7598664" y="310344"/>
            <a:ext cx="1115568" cy="329184"/>
          </a:xfrm>
          <a:prstGeom prst="rect">
            <a:avLst/>
          </a:prstGeom>
          <a:noFill/>
          <a:ln/>
        </p:spPr>
        <p:txBody>
          <a:bodyPr wrap="square" lIns="0" tIns="0" rIns="0" bIns="0" rtlCol="0" anchor="ctr"/>
          <a:lstStyle/>
          <a:p>
            <a:pPr marL="0" indent="0" algn="ctr">
              <a:buNone/>
            </a:pPr>
            <a:r>
              <a:rPr lang="en-US" sz="950" b="1" dirty="0">
                <a:solidFill>
                  <a:srgbClr val="9B6DFF"/>
                </a:solidFill>
                <a:latin typeface="Calibri" pitchFamily="34" charset="0"/>
                <a:ea typeface="Calibri" pitchFamily="34" charset="-122"/>
                <a:cs typeface="Calibri" pitchFamily="34" charset="-120"/>
              </a:rPr>
              <a:t>▶  Vidéo 5</a:t>
            </a:r>
            <a:endParaRPr lang="en-US" sz="950" dirty="0"/>
          </a:p>
        </p:txBody>
      </p:sp>
      <p:sp>
        <p:nvSpPr>
          <p:cNvPr id="27" name="Text 18"/>
          <p:cNvSpPr/>
          <p:nvPr/>
        </p:nvSpPr>
        <p:spPr>
          <a:xfrm>
            <a:off x="1371600" y="4828032"/>
            <a:ext cx="6400800" cy="228600"/>
          </a:xfrm>
          <a:prstGeom prst="rect">
            <a:avLst/>
          </a:prstGeom>
          <a:noFill/>
          <a:ln/>
        </p:spPr>
        <p:txBody>
          <a:bodyPr wrap="square" rtlCol="0" anchor="ctr"/>
          <a:lstStyle/>
          <a:p>
            <a:pPr marL="0" indent="0" algn="ctr">
              <a:buNone/>
            </a:pPr>
            <a:r>
              <a:rPr lang="en-US" sz="850" b="1" kern="0" spc="100" dirty="0">
                <a:solidFill>
                  <a:srgbClr val="00F5FF"/>
                </a:solidFill>
                <a:latin typeface="Calibri" pitchFamily="34" charset="0"/>
                <a:ea typeface="Calibri" pitchFamily="34" charset="-122"/>
                <a:cs typeface="Calibri" pitchFamily="34" charset="-120"/>
              </a:rPr>
              <a:t>INF1430</a:t>
            </a:r>
            <a:r>
              <a:rPr lang="en-US" sz="850" kern="0" spc="100" dirty="0">
                <a:solidFill>
                  <a:srgbClr val="3A4A65"/>
                </a:solidFill>
                <a:latin typeface="Calibri" pitchFamily="34" charset="0"/>
                <a:ea typeface="Calibri" pitchFamily="34" charset="-122"/>
                <a:cs typeface="Calibri" pitchFamily="34" charset="-120"/>
              </a:rPr>
              <a:t>  ·  Université TÉLUQ  ·  TN3  ·  Melissa Moya  ·  2026</a:t>
            </a:r>
            <a:endParaRPr lang="en-US" sz="850" dirty="0"/>
          </a:p>
        </p:txBody>
      </p:sp>
      <p:sp>
        <p:nvSpPr>
          <p:cNvPr id="37" name="Shape 2">
            <a:extLst>
              <a:ext uri="{FF2B5EF4-FFF2-40B4-BE49-F238E27FC236}">
                <a16:creationId xmlns:a16="http://schemas.microsoft.com/office/drawing/2014/main" id="{F0738065-313F-A9F1-7BDA-E17ABCDEBE64}"/>
              </a:ext>
            </a:extLst>
          </p:cNvPr>
          <p:cNvSpPr/>
          <p:nvPr/>
        </p:nvSpPr>
        <p:spPr>
          <a:xfrm>
            <a:off x="6094476" y="1532858"/>
            <a:ext cx="2743200" cy="525969"/>
          </a:xfrm>
          <a:prstGeom prst="roundRect">
            <a:avLst>
              <a:gd name="adj" fmla="val 7143"/>
            </a:avLst>
          </a:prstGeom>
          <a:solidFill>
            <a:srgbClr val="060F1E"/>
          </a:solidFill>
          <a:ln w="9525">
            <a:solidFill>
              <a:srgbClr val="0D3D5C"/>
            </a:solidFill>
            <a:prstDash val="solid"/>
          </a:ln>
        </p:spPr>
        <p:txBody>
          <a:bodyPr/>
          <a:lstStyle/>
          <a:p>
            <a:endParaRPr lang="en-CA"/>
          </a:p>
        </p:txBody>
      </p:sp>
      <p:sp>
        <p:nvSpPr>
          <p:cNvPr id="39" name="Shape 10">
            <a:extLst>
              <a:ext uri="{FF2B5EF4-FFF2-40B4-BE49-F238E27FC236}">
                <a16:creationId xmlns:a16="http://schemas.microsoft.com/office/drawing/2014/main" id="{B3D846D1-FC4A-801C-424C-BAB5337A8A72}"/>
              </a:ext>
            </a:extLst>
          </p:cNvPr>
          <p:cNvSpPr/>
          <p:nvPr/>
        </p:nvSpPr>
        <p:spPr>
          <a:xfrm>
            <a:off x="6094476" y="2907887"/>
            <a:ext cx="2743200" cy="578549"/>
          </a:xfrm>
          <a:prstGeom prst="roundRect">
            <a:avLst>
              <a:gd name="adj" fmla="val 7143"/>
            </a:avLst>
          </a:prstGeom>
          <a:solidFill>
            <a:srgbClr val="060F1E"/>
          </a:solidFill>
          <a:ln w="9525">
            <a:solidFill>
              <a:srgbClr val="0D3D5C"/>
            </a:solidFill>
            <a:prstDash val="solid"/>
          </a:ln>
        </p:spPr>
        <p:txBody>
          <a:bodyPr/>
          <a:lstStyle/>
          <a:p>
            <a:endParaRPr lang="en-CA"/>
          </a:p>
        </p:txBody>
      </p:sp>
      <p:sp>
        <p:nvSpPr>
          <p:cNvPr id="41" name="Shape 10">
            <a:extLst>
              <a:ext uri="{FF2B5EF4-FFF2-40B4-BE49-F238E27FC236}">
                <a16:creationId xmlns:a16="http://schemas.microsoft.com/office/drawing/2014/main" id="{179FBBC3-2969-18E2-F2CD-608CBC1F3E35}"/>
              </a:ext>
            </a:extLst>
          </p:cNvPr>
          <p:cNvSpPr/>
          <p:nvPr/>
        </p:nvSpPr>
        <p:spPr>
          <a:xfrm>
            <a:off x="6126480" y="3602050"/>
            <a:ext cx="2743200" cy="578549"/>
          </a:xfrm>
          <a:prstGeom prst="roundRect">
            <a:avLst>
              <a:gd name="adj" fmla="val 7143"/>
            </a:avLst>
          </a:prstGeom>
          <a:solidFill>
            <a:srgbClr val="060F1E"/>
          </a:solidFill>
          <a:ln w="9525">
            <a:solidFill>
              <a:srgbClr val="0D3D5C"/>
            </a:solidFill>
            <a:prstDash val="solid"/>
          </a:ln>
        </p:spPr>
        <p:txBody>
          <a:bodyPr/>
          <a:lstStyle/>
          <a:p>
            <a:endParaRPr lang="en-CA"/>
          </a:p>
        </p:txBody>
      </p:sp>
      <p:sp>
        <p:nvSpPr>
          <p:cNvPr id="43" name="Text 3">
            <a:extLst>
              <a:ext uri="{FF2B5EF4-FFF2-40B4-BE49-F238E27FC236}">
                <a16:creationId xmlns:a16="http://schemas.microsoft.com/office/drawing/2014/main" id="{7C842C51-A41A-6A3B-ED05-78E9995B4F16}"/>
              </a:ext>
            </a:extLst>
          </p:cNvPr>
          <p:cNvSpPr/>
          <p:nvPr/>
        </p:nvSpPr>
        <p:spPr>
          <a:xfrm>
            <a:off x="6309360" y="1570003"/>
            <a:ext cx="2468880" cy="365760"/>
          </a:xfrm>
          <a:prstGeom prst="rect">
            <a:avLst/>
          </a:prstGeom>
          <a:noFill/>
          <a:ln/>
        </p:spPr>
        <p:txBody>
          <a:bodyPr wrap="square" lIns="0" tIns="0" rIns="0" bIns="0" rtlCol="0" anchor="ctr"/>
          <a:lstStyle/>
          <a:p>
            <a:pPr marL="0" indent="0">
              <a:buNone/>
            </a:pPr>
            <a:r>
              <a:rPr lang="en-US" sz="2200" b="1" dirty="0">
                <a:solidFill>
                  <a:srgbClr val="00F5FF"/>
                </a:solidFill>
                <a:latin typeface="Calibri" pitchFamily="34" charset="0"/>
                <a:ea typeface="Calibri" pitchFamily="34" charset="-122"/>
                <a:cs typeface="Calibri" pitchFamily="34" charset="-120"/>
              </a:rPr>
              <a:t>1,98×</a:t>
            </a:r>
            <a:endParaRPr lang="en-US" sz="2200" dirty="0"/>
          </a:p>
        </p:txBody>
      </p:sp>
      <p:sp>
        <p:nvSpPr>
          <p:cNvPr id="45" name="Text 3">
            <a:extLst>
              <a:ext uri="{FF2B5EF4-FFF2-40B4-BE49-F238E27FC236}">
                <a16:creationId xmlns:a16="http://schemas.microsoft.com/office/drawing/2014/main" id="{D0C18651-5444-5BFD-4DEE-F44237E7F8C6}"/>
              </a:ext>
            </a:extLst>
          </p:cNvPr>
          <p:cNvSpPr/>
          <p:nvPr/>
        </p:nvSpPr>
        <p:spPr>
          <a:xfrm>
            <a:off x="6309360" y="2258183"/>
            <a:ext cx="2468880" cy="365760"/>
          </a:xfrm>
          <a:prstGeom prst="rect">
            <a:avLst/>
          </a:prstGeom>
          <a:noFill/>
          <a:ln/>
        </p:spPr>
        <p:txBody>
          <a:bodyPr wrap="square" lIns="0" tIns="0" rIns="0" bIns="0" rtlCol="0" anchor="ctr"/>
          <a:lstStyle/>
          <a:p>
            <a:pPr marL="0" indent="0">
              <a:buNone/>
            </a:pPr>
            <a:r>
              <a:rPr lang="en-US" sz="2200" b="1" dirty="0">
                <a:solidFill>
                  <a:srgbClr val="00F5FF"/>
                </a:solidFill>
                <a:latin typeface="Calibri" pitchFamily="34" charset="0"/>
                <a:ea typeface="Calibri" pitchFamily="34" charset="-122"/>
                <a:cs typeface="Calibri" pitchFamily="34" charset="-120"/>
              </a:rPr>
              <a:t>1,27×</a:t>
            </a:r>
            <a:endParaRPr lang="en-US" sz="2200" dirty="0"/>
          </a:p>
        </p:txBody>
      </p:sp>
      <p:sp>
        <p:nvSpPr>
          <p:cNvPr id="47" name="Text 3">
            <a:extLst>
              <a:ext uri="{FF2B5EF4-FFF2-40B4-BE49-F238E27FC236}">
                <a16:creationId xmlns:a16="http://schemas.microsoft.com/office/drawing/2014/main" id="{70FBB234-6E09-E461-A2ED-27D799D95785}"/>
              </a:ext>
            </a:extLst>
          </p:cNvPr>
          <p:cNvSpPr/>
          <p:nvPr/>
        </p:nvSpPr>
        <p:spPr>
          <a:xfrm>
            <a:off x="6309360" y="2951947"/>
            <a:ext cx="2468880" cy="365760"/>
          </a:xfrm>
          <a:prstGeom prst="rect">
            <a:avLst/>
          </a:prstGeom>
          <a:noFill/>
          <a:ln/>
        </p:spPr>
        <p:txBody>
          <a:bodyPr wrap="square" lIns="0" tIns="0" rIns="0" bIns="0" rtlCol="0" anchor="ctr"/>
          <a:lstStyle/>
          <a:p>
            <a:pPr marL="0" indent="0">
              <a:buNone/>
            </a:pPr>
            <a:r>
              <a:rPr lang="en-US" sz="2200" b="1" dirty="0">
                <a:solidFill>
                  <a:srgbClr val="00F5FF"/>
                </a:solidFill>
                <a:latin typeface="Calibri" pitchFamily="34" charset="0"/>
                <a:ea typeface="Calibri" pitchFamily="34" charset="-122"/>
                <a:cs typeface="Calibri" pitchFamily="34" charset="-120"/>
              </a:rPr>
              <a:t>2,26×</a:t>
            </a:r>
            <a:endParaRPr lang="en-US" sz="2200" dirty="0"/>
          </a:p>
        </p:txBody>
      </p:sp>
      <p:sp>
        <p:nvSpPr>
          <p:cNvPr id="49" name="Text 3">
            <a:extLst>
              <a:ext uri="{FF2B5EF4-FFF2-40B4-BE49-F238E27FC236}">
                <a16:creationId xmlns:a16="http://schemas.microsoft.com/office/drawing/2014/main" id="{D8B7DFA6-207C-4F7F-51AF-84C76A3E85D4}"/>
              </a:ext>
            </a:extLst>
          </p:cNvPr>
          <p:cNvSpPr/>
          <p:nvPr/>
        </p:nvSpPr>
        <p:spPr>
          <a:xfrm>
            <a:off x="6309360" y="3629178"/>
            <a:ext cx="2468880" cy="365760"/>
          </a:xfrm>
          <a:prstGeom prst="rect">
            <a:avLst/>
          </a:prstGeom>
          <a:noFill/>
          <a:ln/>
        </p:spPr>
        <p:txBody>
          <a:bodyPr wrap="square" lIns="0" tIns="0" rIns="0" bIns="0" rtlCol="0" anchor="ctr"/>
          <a:lstStyle/>
          <a:p>
            <a:pPr marL="0" indent="0">
              <a:buNone/>
            </a:pPr>
            <a:r>
              <a:rPr lang="en-US" sz="2200" b="1" dirty="0">
                <a:solidFill>
                  <a:srgbClr val="00F5FF"/>
                </a:solidFill>
                <a:latin typeface="Calibri" pitchFamily="34" charset="0"/>
                <a:ea typeface="Calibri" pitchFamily="34" charset="-122"/>
                <a:cs typeface="Calibri" pitchFamily="34" charset="-120"/>
              </a:rPr>
              <a:t>1,61×</a:t>
            </a:r>
            <a:endParaRPr lang="en-US" sz="2200" dirty="0"/>
          </a:p>
        </p:txBody>
      </p:sp>
      <p:sp>
        <p:nvSpPr>
          <p:cNvPr id="51" name="Text 4">
            <a:extLst>
              <a:ext uri="{FF2B5EF4-FFF2-40B4-BE49-F238E27FC236}">
                <a16:creationId xmlns:a16="http://schemas.microsoft.com/office/drawing/2014/main" id="{48F84A85-AEDA-2E42-A5D6-3141A9892553}"/>
              </a:ext>
            </a:extLst>
          </p:cNvPr>
          <p:cNvSpPr/>
          <p:nvPr/>
        </p:nvSpPr>
        <p:spPr>
          <a:xfrm>
            <a:off x="6309360" y="1862969"/>
            <a:ext cx="2468880" cy="201168"/>
          </a:xfrm>
          <a:prstGeom prst="rect">
            <a:avLst/>
          </a:prstGeom>
          <a:noFill/>
          <a:ln/>
        </p:spPr>
        <p:txBody>
          <a:bodyPr wrap="square" lIns="0" tIns="0" rIns="0" bIns="0" rtlCol="0" anchor="ctr"/>
          <a:lstStyle/>
          <a:p>
            <a:pPr marL="0" indent="0">
              <a:buNone/>
            </a:pPr>
            <a:r>
              <a:rPr lang="en-US" sz="950" b="1" dirty="0">
                <a:solidFill>
                  <a:srgbClr val="00F5FF"/>
                </a:solidFill>
                <a:latin typeface="Calibri" pitchFamily="34" charset="0"/>
                <a:ea typeface="Calibri" pitchFamily="34" charset="-122"/>
                <a:cs typeface="Calibri" pitchFamily="34" charset="-120"/>
              </a:rPr>
              <a:t>ratio DES x86 / Pi</a:t>
            </a:r>
            <a:endParaRPr lang="en-US" sz="950" dirty="0"/>
          </a:p>
        </p:txBody>
      </p:sp>
      <p:sp>
        <p:nvSpPr>
          <p:cNvPr id="53" name="Text 4">
            <a:extLst>
              <a:ext uri="{FF2B5EF4-FFF2-40B4-BE49-F238E27FC236}">
                <a16:creationId xmlns:a16="http://schemas.microsoft.com/office/drawing/2014/main" id="{F2FCE4F9-4967-DE34-D9E7-B4CADFA746C8}"/>
              </a:ext>
            </a:extLst>
          </p:cNvPr>
          <p:cNvSpPr/>
          <p:nvPr/>
        </p:nvSpPr>
        <p:spPr>
          <a:xfrm>
            <a:off x="6309360" y="2565395"/>
            <a:ext cx="2468880" cy="201168"/>
          </a:xfrm>
          <a:prstGeom prst="rect">
            <a:avLst/>
          </a:prstGeom>
          <a:noFill/>
          <a:ln/>
        </p:spPr>
        <p:txBody>
          <a:bodyPr wrap="square" lIns="0" tIns="0" rIns="0" bIns="0" rtlCol="0" anchor="ctr"/>
          <a:lstStyle/>
          <a:p>
            <a:pPr marL="0" indent="0">
              <a:buNone/>
            </a:pPr>
            <a:r>
              <a:rPr lang="en-US" sz="950" b="1" dirty="0">
                <a:solidFill>
                  <a:srgbClr val="00F5FF"/>
                </a:solidFill>
                <a:latin typeface="Calibri" pitchFamily="34" charset="0"/>
                <a:ea typeface="Calibri" pitchFamily="34" charset="-122"/>
                <a:cs typeface="Calibri" pitchFamily="34" charset="-120"/>
              </a:rPr>
              <a:t>ratio 3DES x86 / Pi</a:t>
            </a:r>
            <a:endParaRPr lang="en-US" sz="950" dirty="0"/>
          </a:p>
        </p:txBody>
      </p:sp>
      <p:sp>
        <p:nvSpPr>
          <p:cNvPr id="55" name="Text 4">
            <a:extLst>
              <a:ext uri="{FF2B5EF4-FFF2-40B4-BE49-F238E27FC236}">
                <a16:creationId xmlns:a16="http://schemas.microsoft.com/office/drawing/2014/main" id="{ACA69CA6-5F78-3C52-F0B0-0C47F810C008}"/>
              </a:ext>
            </a:extLst>
          </p:cNvPr>
          <p:cNvSpPr/>
          <p:nvPr/>
        </p:nvSpPr>
        <p:spPr>
          <a:xfrm>
            <a:off x="6309360" y="3258947"/>
            <a:ext cx="2468880" cy="201168"/>
          </a:xfrm>
          <a:prstGeom prst="rect">
            <a:avLst/>
          </a:prstGeom>
          <a:noFill/>
          <a:ln/>
        </p:spPr>
        <p:txBody>
          <a:bodyPr wrap="square" lIns="0" tIns="0" rIns="0" bIns="0" rtlCol="0" anchor="ctr"/>
          <a:lstStyle/>
          <a:p>
            <a:pPr marL="0" indent="0">
              <a:buNone/>
            </a:pPr>
            <a:r>
              <a:rPr lang="en-US" sz="950" b="1" dirty="0">
                <a:solidFill>
                  <a:srgbClr val="00F5FF"/>
                </a:solidFill>
                <a:latin typeface="Calibri" pitchFamily="34" charset="0"/>
                <a:ea typeface="Calibri" pitchFamily="34" charset="-122"/>
                <a:cs typeface="Calibri" pitchFamily="34" charset="-120"/>
              </a:rPr>
              <a:t>ratio Twofish x86 / Pi</a:t>
            </a:r>
            <a:endParaRPr lang="en-US" sz="950" dirty="0"/>
          </a:p>
        </p:txBody>
      </p:sp>
      <p:sp>
        <p:nvSpPr>
          <p:cNvPr id="57" name="Text 4">
            <a:extLst>
              <a:ext uri="{FF2B5EF4-FFF2-40B4-BE49-F238E27FC236}">
                <a16:creationId xmlns:a16="http://schemas.microsoft.com/office/drawing/2014/main" id="{F0863D89-2324-7DEA-1B24-DD3386C7B1C5}"/>
              </a:ext>
            </a:extLst>
          </p:cNvPr>
          <p:cNvSpPr/>
          <p:nvPr/>
        </p:nvSpPr>
        <p:spPr>
          <a:xfrm>
            <a:off x="6263640" y="3975743"/>
            <a:ext cx="2468880" cy="201168"/>
          </a:xfrm>
          <a:prstGeom prst="rect">
            <a:avLst/>
          </a:prstGeom>
          <a:noFill/>
          <a:ln/>
        </p:spPr>
        <p:txBody>
          <a:bodyPr wrap="square" lIns="0" tIns="0" rIns="0" bIns="0" rtlCol="0" anchor="ctr"/>
          <a:lstStyle/>
          <a:p>
            <a:pPr marL="0" indent="0">
              <a:buNone/>
            </a:pPr>
            <a:r>
              <a:rPr lang="en-US" sz="950" b="1" dirty="0">
                <a:solidFill>
                  <a:srgbClr val="00F5FF"/>
                </a:solidFill>
                <a:latin typeface="Calibri" pitchFamily="34" charset="0"/>
                <a:ea typeface="Calibri" pitchFamily="34" charset="-122"/>
                <a:cs typeface="Calibri" pitchFamily="34" charset="-120"/>
              </a:rPr>
              <a:t>ratio ChaCha20 x86 / Pi</a:t>
            </a:r>
            <a:endParaRPr lang="en-US" sz="950" dirty="0"/>
          </a:p>
        </p:txBody>
      </p:sp>
      <p:pic>
        <p:nvPicPr>
          <p:cNvPr id="61" name="Picture 60">
            <a:extLst>
              <a:ext uri="{FF2B5EF4-FFF2-40B4-BE49-F238E27FC236}">
                <a16:creationId xmlns:a16="http://schemas.microsoft.com/office/drawing/2014/main" id="{0202F74A-A2EF-9699-A075-5096B13D5633}"/>
              </a:ext>
            </a:extLst>
          </p:cNvPr>
          <p:cNvPicPr>
            <a:picLocks noChangeAspect="1"/>
          </p:cNvPicPr>
          <p:nvPr/>
        </p:nvPicPr>
        <p:blipFill>
          <a:blip r:embed="rId6"/>
          <a:stretch>
            <a:fillRect/>
          </a:stretch>
        </p:blipFill>
        <p:spPr>
          <a:xfrm>
            <a:off x="327673" y="1036251"/>
            <a:ext cx="5730227" cy="315484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256032" y="201168"/>
            <a:ext cx="548640" cy="548640"/>
          </a:xfrm>
          <a:prstGeom prst="rect">
            <a:avLst/>
          </a:prstGeom>
        </p:spPr>
      </p:pic>
      <p:pic>
        <p:nvPicPr>
          <p:cNvPr id="4" name="Image 2" descr="preencoded.png"/>
          <p:cNvPicPr>
            <a:picLocks noChangeAspect="1"/>
          </p:cNvPicPr>
          <p:nvPr/>
        </p:nvPicPr>
        <p:blipFill>
          <a:blip r:embed="rId4"/>
          <a:stretch>
            <a:fillRect/>
          </a:stretch>
        </p:blipFill>
        <p:spPr>
          <a:xfrm flipH="1">
            <a:off x="8339328" y="201168"/>
            <a:ext cx="548640" cy="548640"/>
          </a:xfrm>
          <a:prstGeom prst="rect">
            <a:avLst/>
          </a:prstGeom>
        </p:spPr>
      </p:pic>
      <p:pic>
        <p:nvPicPr>
          <p:cNvPr id="5" name="Image 3" descr="preencoded.png"/>
          <p:cNvPicPr>
            <a:picLocks noChangeAspect="1"/>
          </p:cNvPicPr>
          <p:nvPr/>
        </p:nvPicPr>
        <p:blipFill>
          <a:blip r:embed="rId4"/>
          <a:stretch>
            <a:fillRect/>
          </a:stretch>
        </p:blipFill>
        <p:spPr>
          <a:xfrm flipV="1">
            <a:off x="256032" y="4393692"/>
            <a:ext cx="548640" cy="548640"/>
          </a:xfrm>
          <a:prstGeom prst="rect">
            <a:avLst/>
          </a:prstGeom>
        </p:spPr>
      </p:pic>
      <p:pic>
        <p:nvPicPr>
          <p:cNvPr id="6" name="Image 4" descr="preencoded.png"/>
          <p:cNvPicPr>
            <a:picLocks noChangeAspect="1"/>
          </p:cNvPicPr>
          <p:nvPr/>
        </p:nvPicPr>
        <p:blipFill>
          <a:blip r:embed="rId4"/>
          <a:stretch>
            <a:fillRect/>
          </a:stretch>
        </p:blipFill>
        <p:spPr>
          <a:xfrm flipH="1" flipV="1">
            <a:off x="8339328" y="4393692"/>
            <a:ext cx="548640" cy="548640"/>
          </a:xfrm>
          <a:prstGeom prst="rect">
            <a:avLst/>
          </a:prstGeom>
        </p:spPr>
      </p:pic>
      <p:pic>
        <p:nvPicPr>
          <p:cNvPr id="7" name="Image 5" descr="preencoded.png"/>
          <p:cNvPicPr>
            <a:picLocks noChangeAspect="1"/>
          </p:cNvPicPr>
          <p:nvPr/>
        </p:nvPicPr>
        <p:blipFill>
          <a:blip r:embed="rId5">
            <a:alphaModFix amt="80000"/>
          </a:blip>
          <a:stretch>
            <a:fillRect/>
          </a:stretch>
        </p:blipFill>
        <p:spPr>
          <a:xfrm>
            <a:off x="566928" y="256032"/>
            <a:ext cx="256032" cy="256032"/>
          </a:xfrm>
          <a:prstGeom prst="rect">
            <a:avLst/>
          </a:prstGeom>
        </p:spPr>
      </p:pic>
      <p:sp>
        <p:nvSpPr>
          <p:cNvPr id="8" name="Text 0"/>
          <p:cNvSpPr/>
          <p:nvPr/>
        </p:nvSpPr>
        <p:spPr>
          <a:xfrm>
            <a:off x="868680" y="256032"/>
            <a:ext cx="4572000" cy="274320"/>
          </a:xfrm>
          <a:prstGeom prst="rect">
            <a:avLst/>
          </a:prstGeom>
          <a:noFill/>
          <a:ln/>
        </p:spPr>
        <p:txBody>
          <a:bodyPr wrap="square" rtlCol="0" anchor="ctr"/>
          <a:lstStyle/>
          <a:p>
            <a:pPr marL="0" indent="0">
              <a:buNone/>
            </a:pPr>
            <a:r>
              <a:rPr lang="en-US" sz="1000" b="1" kern="0" spc="50" dirty="0">
                <a:solidFill>
                  <a:srgbClr val="00F5FF"/>
                </a:solidFill>
                <a:latin typeface="Calibri" pitchFamily="34" charset="0"/>
                <a:ea typeface="Calibri" pitchFamily="34" charset="-122"/>
                <a:cs typeface="Calibri" pitchFamily="34" charset="-120"/>
              </a:rPr>
              <a:t>04  </a:t>
            </a:r>
            <a:r>
              <a:rPr lang="en-US" sz="1000" kern="0" spc="50" dirty="0">
                <a:solidFill>
                  <a:srgbClr val="8892A4"/>
                </a:solidFill>
                <a:latin typeface="Calibri" pitchFamily="34" charset="0"/>
                <a:ea typeface="Calibri" pitchFamily="34" charset="-122"/>
                <a:cs typeface="Calibri" pitchFamily="34" charset="-120"/>
              </a:rPr>
              <a:t>Résultats de performance</a:t>
            </a:r>
            <a:endParaRPr lang="en-US" sz="1000" dirty="0"/>
          </a:p>
        </p:txBody>
      </p:sp>
      <p:sp>
        <p:nvSpPr>
          <p:cNvPr id="9" name="Text 1"/>
          <p:cNvSpPr/>
          <p:nvPr/>
        </p:nvSpPr>
        <p:spPr>
          <a:xfrm>
            <a:off x="566928" y="566928"/>
            <a:ext cx="77724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AES — Le piège des modes d'opération</a:t>
            </a:r>
            <a:endParaRPr lang="en-US" sz="2400" dirty="0"/>
          </a:p>
        </p:txBody>
      </p:sp>
      <p:pic>
        <p:nvPicPr>
          <p:cNvPr id="10" name="Image 6" descr="preencoded.png"/>
          <p:cNvPicPr>
            <a:picLocks noChangeAspect="1"/>
          </p:cNvPicPr>
          <p:nvPr/>
        </p:nvPicPr>
        <p:blipFill>
          <a:blip r:embed="rId6"/>
          <a:stretch>
            <a:fillRect/>
          </a:stretch>
        </p:blipFill>
        <p:spPr>
          <a:xfrm>
            <a:off x="365760" y="1115568"/>
            <a:ext cx="5394960" cy="2768466"/>
          </a:xfrm>
          <a:prstGeom prst="rect">
            <a:avLst/>
          </a:prstGeom>
        </p:spPr>
      </p:pic>
      <p:sp>
        <p:nvSpPr>
          <p:cNvPr id="11" name="Shape 2"/>
          <p:cNvSpPr/>
          <p:nvPr/>
        </p:nvSpPr>
        <p:spPr>
          <a:xfrm>
            <a:off x="6144768" y="1086032"/>
            <a:ext cx="2670048" cy="640080"/>
          </a:xfrm>
          <a:prstGeom prst="roundRect">
            <a:avLst>
              <a:gd name="adj" fmla="val 8571"/>
            </a:avLst>
          </a:prstGeom>
          <a:solidFill>
            <a:srgbClr val="182336">
              <a:alpha val="10000"/>
            </a:srgbClr>
          </a:solidFill>
          <a:ln w="9525">
            <a:solidFill>
              <a:srgbClr val="3663AF"/>
            </a:solidFill>
            <a:prstDash val="solid"/>
          </a:ln>
        </p:spPr>
        <p:txBody>
          <a:bodyPr/>
          <a:lstStyle/>
          <a:p>
            <a:endParaRPr lang="en-CA">
              <a:solidFill>
                <a:schemeClr val="accent5"/>
              </a:solidFill>
            </a:endParaRPr>
          </a:p>
        </p:txBody>
      </p:sp>
      <p:sp>
        <p:nvSpPr>
          <p:cNvPr id="12" name="Text 3"/>
          <p:cNvSpPr/>
          <p:nvPr/>
        </p:nvSpPr>
        <p:spPr>
          <a:xfrm>
            <a:off x="6291072" y="1188720"/>
            <a:ext cx="822960" cy="256032"/>
          </a:xfrm>
          <a:prstGeom prst="rect">
            <a:avLst/>
          </a:prstGeom>
          <a:noFill/>
          <a:ln/>
        </p:spPr>
        <p:txBody>
          <a:bodyPr wrap="square" lIns="0" tIns="0" rIns="0" bIns="0" rtlCol="0" anchor="ctr"/>
          <a:lstStyle/>
          <a:p>
            <a:pPr marL="0" indent="0">
              <a:buNone/>
            </a:pPr>
            <a:r>
              <a:rPr lang="en-US" sz="1200" b="1" dirty="0">
                <a:solidFill>
                  <a:srgbClr val="3580F8"/>
                </a:solidFill>
                <a:latin typeface="Calibri" pitchFamily="34" charset="0"/>
                <a:ea typeface="Calibri" pitchFamily="34" charset="-122"/>
                <a:cs typeface="Calibri" pitchFamily="34" charset="-120"/>
              </a:rPr>
              <a:t>ECB</a:t>
            </a:r>
            <a:endParaRPr lang="en-US" sz="1200" dirty="0">
              <a:solidFill>
                <a:srgbClr val="3580F8"/>
              </a:solidFill>
            </a:endParaRPr>
          </a:p>
        </p:txBody>
      </p:sp>
      <p:sp>
        <p:nvSpPr>
          <p:cNvPr id="13" name="Text 4"/>
          <p:cNvSpPr/>
          <p:nvPr/>
        </p:nvSpPr>
        <p:spPr>
          <a:xfrm>
            <a:off x="7104888" y="1188720"/>
            <a:ext cx="1627632" cy="256032"/>
          </a:xfrm>
          <a:prstGeom prst="rect">
            <a:avLst/>
          </a:prstGeom>
          <a:noFill/>
          <a:ln/>
        </p:spPr>
        <p:txBody>
          <a:bodyPr wrap="square" lIns="0" tIns="0" rIns="0" bIns="0" rtlCol="0" anchor="ctr"/>
          <a:lstStyle/>
          <a:p>
            <a:pPr marL="0" indent="0">
              <a:buNone/>
            </a:pPr>
            <a:r>
              <a:rPr lang="en-US" sz="1100" b="1" dirty="0">
                <a:solidFill>
                  <a:schemeClr val="bg1"/>
                </a:solidFill>
                <a:latin typeface="Calibri" pitchFamily="34" charset="0"/>
                <a:ea typeface="Calibri" pitchFamily="34" charset="-122"/>
                <a:cs typeface="Calibri" pitchFamily="34" charset="-120"/>
              </a:rPr>
              <a:t>163 MB/s</a:t>
            </a:r>
            <a:endParaRPr lang="en-US" sz="1100" dirty="0">
              <a:solidFill>
                <a:schemeClr val="bg1"/>
              </a:solidFill>
            </a:endParaRPr>
          </a:p>
        </p:txBody>
      </p:sp>
      <p:sp>
        <p:nvSpPr>
          <p:cNvPr id="14" name="Text 5"/>
          <p:cNvSpPr/>
          <p:nvPr/>
        </p:nvSpPr>
        <p:spPr>
          <a:xfrm>
            <a:off x="6291072" y="1444752"/>
            <a:ext cx="2487168" cy="256032"/>
          </a:xfrm>
          <a:prstGeom prst="rect">
            <a:avLst/>
          </a:prstGeom>
          <a:noFill/>
          <a:ln/>
        </p:spPr>
        <p:txBody>
          <a:bodyPr wrap="square" lIns="0" tIns="0" rIns="0" bIns="0" rtlCol="0" anchor="ctr"/>
          <a:lstStyle/>
          <a:p>
            <a:pPr marL="0" indent="0">
              <a:buNone/>
            </a:pPr>
            <a:r>
              <a:rPr lang="en-US" sz="850" i="1" dirty="0">
                <a:solidFill>
                  <a:srgbClr val="8892A4"/>
                </a:solidFill>
                <a:latin typeface="Calibri" pitchFamily="34" charset="0"/>
                <a:ea typeface="Calibri" pitchFamily="34" charset="-122"/>
                <a:cs typeface="Calibri" pitchFamily="34" charset="-120"/>
              </a:rPr>
              <a:t>Rapide mais cryptographiquement cassé</a:t>
            </a:r>
            <a:endParaRPr lang="en-US" sz="850" dirty="0">
              <a:solidFill>
                <a:srgbClr val="8892A4"/>
              </a:solidFill>
            </a:endParaRPr>
          </a:p>
        </p:txBody>
      </p:sp>
      <p:sp>
        <p:nvSpPr>
          <p:cNvPr id="16" name="Text 7"/>
          <p:cNvSpPr/>
          <p:nvPr/>
        </p:nvSpPr>
        <p:spPr>
          <a:xfrm>
            <a:off x="6291072" y="1897380"/>
            <a:ext cx="822960" cy="256032"/>
          </a:xfrm>
          <a:prstGeom prst="rect">
            <a:avLst/>
          </a:prstGeom>
          <a:noFill/>
          <a:ln/>
        </p:spPr>
        <p:txBody>
          <a:bodyPr wrap="square" lIns="0" tIns="0" rIns="0" bIns="0" rtlCol="0" anchor="ctr"/>
          <a:lstStyle/>
          <a:p>
            <a:pPr marL="0" indent="0">
              <a:buNone/>
            </a:pPr>
            <a:r>
              <a:rPr lang="en-US" sz="1200" b="1" dirty="0">
                <a:solidFill>
                  <a:srgbClr val="EF9C1B"/>
                </a:solidFill>
                <a:latin typeface="Calibri" pitchFamily="34" charset="0"/>
                <a:ea typeface="Calibri" pitchFamily="34" charset="-122"/>
                <a:cs typeface="Calibri" pitchFamily="34" charset="-120"/>
              </a:rPr>
              <a:t>GCM</a:t>
            </a:r>
            <a:endParaRPr lang="en-US" sz="1200" dirty="0">
              <a:solidFill>
                <a:srgbClr val="EF9C1B"/>
              </a:solidFill>
            </a:endParaRPr>
          </a:p>
        </p:txBody>
      </p:sp>
      <p:sp>
        <p:nvSpPr>
          <p:cNvPr id="17" name="Text 8"/>
          <p:cNvSpPr/>
          <p:nvPr/>
        </p:nvSpPr>
        <p:spPr>
          <a:xfrm>
            <a:off x="7104888" y="1897380"/>
            <a:ext cx="1627632"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25 MB/s</a:t>
            </a:r>
            <a:endParaRPr lang="en-US" sz="1100" dirty="0"/>
          </a:p>
        </p:txBody>
      </p:sp>
      <p:sp>
        <p:nvSpPr>
          <p:cNvPr id="18" name="Text 9"/>
          <p:cNvSpPr/>
          <p:nvPr/>
        </p:nvSpPr>
        <p:spPr>
          <a:xfrm>
            <a:off x="6291072" y="2153412"/>
            <a:ext cx="2487168" cy="256032"/>
          </a:xfrm>
          <a:prstGeom prst="rect">
            <a:avLst/>
          </a:prstGeom>
          <a:noFill/>
          <a:ln/>
        </p:spPr>
        <p:txBody>
          <a:bodyPr wrap="square" lIns="0" tIns="0" rIns="0" bIns="0" rtlCol="0" anchor="ctr"/>
          <a:lstStyle/>
          <a:p>
            <a:pPr marL="0" indent="0">
              <a:buNone/>
            </a:pPr>
            <a:r>
              <a:rPr lang="en-US" sz="850" i="1" dirty="0">
                <a:solidFill>
                  <a:srgbClr val="8892A4"/>
                </a:solidFill>
                <a:latin typeface="Calibri" pitchFamily="34" charset="0"/>
                <a:ea typeface="Calibri" pitchFamily="34" charset="-122"/>
                <a:cs typeface="Calibri" pitchFamily="34" charset="-120"/>
              </a:rPr>
              <a:t>Recommandation 2026 — confidentialité + auth</a:t>
            </a:r>
            <a:endParaRPr lang="en-US" sz="850" dirty="0"/>
          </a:p>
        </p:txBody>
      </p:sp>
      <p:sp>
        <p:nvSpPr>
          <p:cNvPr id="19" name="Shape 10"/>
          <p:cNvSpPr/>
          <p:nvPr/>
        </p:nvSpPr>
        <p:spPr>
          <a:xfrm>
            <a:off x="6144768" y="2555058"/>
            <a:ext cx="2670048" cy="640080"/>
          </a:xfrm>
          <a:prstGeom prst="roundRect">
            <a:avLst>
              <a:gd name="adj" fmla="val 8571"/>
            </a:avLst>
          </a:prstGeom>
          <a:solidFill>
            <a:srgbClr val="060F1E"/>
          </a:solidFill>
          <a:ln w="9525">
            <a:solidFill>
              <a:srgbClr val="13B181"/>
            </a:solidFill>
            <a:prstDash val="solid"/>
          </a:ln>
        </p:spPr>
        <p:txBody>
          <a:bodyPr/>
          <a:lstStyle/>
          <a:p>
            <a:endParaRPr lang="en-CA"/>
          </a:p>
        </p:txBody>
      </p:sp>
      <p:sp>
        <p:nvSpPr>
          <p:cNvPr id="20" name="Text 11"/>
          <p:cNvSpPr/>
          <p:nvPr/>
        </p:nvSpPr>
        <p:spPr>
          <a:xfrm>
            <a:off x="6291072" y="2606040"/>
            <a:ext cx="822960" cy="256032"/>
          </a:xfrm>
          <a:prstGeom prst="rect">
            <a:avLst/>
          </a:prstGeom>
          <a:noFill/>
          <a:ln/>
        </p:spPr>
        <p:txBody>
          <a:bodyPr wrap="square" lIns="0" tIns="0" rIns="0" bIns="0" rtlCol="0" anchor="ctr"/>
          <a:lstStyle/>
          <a:p>
            <a:pPr marL="0" indent="0">
              <a:buNone/>
            </a:pPr>
            <a:r>
              <a:rPr lang="en-US" sz="1200" b="1" dirty="0">
                <a:solidFill>
                  <a:srgbClr val="13B181"/>
                </a:solidFill>
                <a:latin typeface="Calibri" pitchFamily="34" charset="0"/>
                <a:ea typeface="Calibri" pitchFamily="34" charset="-122"/>
                <a:cs typeface="Calibri" pitchFamily="34" charset="-120"/>
              </a:rPr>
              <a:t>CTR</a:t>
            </a:r>
            <a:endParaRPr lang="en-US" sz="1200" dirty="0">
              <a:solidFill>
                <a:srgbClr val="13B181"/>
              </a:solidFill>
            </a:endParaRPr>
          </a:p>
        </p:txBody>
      </p:sp>
      <p:sp>
        <p:nvSpPr>
          <p:cNvPr id="21" name="Text 12"/>
          <p:cNvSpPr/>
          <p:nvPr/>
        </p:nvSpPr>
        <p:spPr>
          <a:xfrm>
            <a:off x="7104888" y="2606040"/>
            <a:ext cx="1627632"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6.6 MB/s</a:t>
            </a:r>
            <a:endParaRPr lang="en-US" sz="1100" dirty="0"/>
          </a:p>
        </p:txBody>
      </p:sp>
      <p:sp>
        <p:nvSpPr>
          <p:cNvPr id="22" name="Text 13"/>
          <p:cNvSpPr/>
          <p:nvPr/>
        </p:nvSpPr>
        <p:spPr>
          <a:xfrm>
            <a:off x="6291072" y="2862072"/>
            <a:ext cx="2487168" cy="256032"/>
          </a:xfrm>
          <a:prstGeom prst="rect">
            <a:avLst/>
          </a:prstGeom>
          <a:noFill/>
          <a:ln/>
        </p:spPr>
        <p:txBody>
          <a:bodyPr wrap="square" lIns="0" tIns="0" rIns="0" bIns="0" rtlCol="0" anchor="ctr"/>
          <a:lstStyle/>
          <a:p>
            <a:pPr marL="0" indent="0">
              <a:buNone/>
            </a:pPr>
            <a:r>
              <a:rPr lang="en-US" sz="850" i="1" dirty="0">
                <a:solidFill>
                  <a:srgbClr val="8892A4"/>
                </a:solidFill>
                <a:latin typeface="Calibri" pitchFamily="34" charset="0"/>
                <a:ea typeface="Calibri" pitchFamily="34" charset="-122"/>
                <a:cs typeface="Calibri" pitchFamily="34" charset="-120"/>
              </a:rPr>
              <a:t>Parallélisable, bon compromis</a:t>
            </a:r>
            <a:endParaRPr lang="en-US" sz="850" dirty="0"/>
          </a:p>
        </p:txBody>
      </p:sp>
      <p:sp>
        <p:nvSpPr>
          <p:cNvPr id="23" name="Shape 14"/>
          <p:cNvSpPr/>
          <p:nvPr/>
        </p:nvSpPr>
        <p:spPr>
          <a:xfrm>
            <a:off x="6144768" y="3287958"/>
            <a:ext cx="2670048" cy="640080"/>
          </a:xfrm>
          <a:prstGeom prst="roundRect">
            <a:avLst>
              <a:gd name="adj" fmla="val 8571"/>
            </a:avLst>
          </a:prstGeom>
          <a:solidFill>
            <a:srgbClr val="060F1E"/>
          </a:solidFill>
          <a:ln w="3175">
            <a:solidFill>
              <a:srgbClr val="D84A8F"/>
            </a:solidFill>
            <a:prstDash val="solid"/>
          </a:ln>
        </p:spPr>
        <p:txBody>
          <a:bodyPr/>
          <a:lstStyle/>
          <a:p>
            <a:endParaRPr lang="en-CA"/>
          </a:p>
        </p:txBody>
      </p:sp>
      <p:sp>
        <p:nvSpPr>
          <p:cNvPr id="24" name="Text 15"/>
          <p:cNvSpPr/>
          <p:nvPr/>
        </p:nvSpPr>
        <p:spPr>
          <a:xfrm>
            <a:off x="6291072" y="3314700"/>
            <a:ext cx="822960" cy="256032"/>
          </a:xfrm>
          <a:prstGeom prst="rect">
            <a:avLst/>
          </a:prstGeom>
          <a:noFill/>
          <a:ln/>
        </p:spPr>
        <p:txBody>
          <a:bodyPr wrap="square" lIns="0" tIns="0" rIns="0" bIns="0" rtlCol="0" anchor="ctr"/>
          <a:lstStyle/>
          <a:p>
            <a:pPr marL="0" indent="0">
              <a:buNone/>
            </a:pPr>
            <a:r>
              <a:rPr lang="en-US" sz="1200" b="1" dirty="0">
                <a:solidFill>
                  <a:srgbClr val="D84A8F"/>
                </a:solidFill>
                <a:latin typeface="Calibri" pitchFamily="34" charset="0"/>
                <a:ea typeface="Calibri" pitchFamily="34" charset="-122"/>
                <a:cs typeface="Calibri" pitchFamily="34" charset="-120"/>
              </a:rPr>
              <a:t>CBC</a:t>
            </a:r>
            <a:endParaRPr lang="en-US" sz="1200" dirty="0">
              <a:solidFill>
                <a:srgbClr val="D84A8F"/>
              </a:solidFill>
            </a:endParaRPr>
          </a:p>
        </p:txBody>
      </p:sp>
      <p:sp>
        <p:nvSpPr>
          <p:cNvPr id="25" name="Text 16"/>
          <p:cNvSpPr/>
          <p:nvPr/>
        </p:nvSpPr>
        <p:spPr>
          <a:xfrm>
            <a:off x="7104888" y="3314700"/>
            <a:ext cx="1627632"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0.73 MB/s</a:t>
            </a:r>
            <a:endParaRPr lang="en-US" sz="1100" dirty="0"/>
          </a:p>
        </p:txBody>
      </p:sp>
      <p:sp>
        <p:nvSpPr>
          <p:cNvPr id="26" name="Text 17"/>
          <p:cNvSpPr/>
          <p:nvPr/>
        </p:nvSpPr>
        <p:spPr>
          <a:xfrm>
            <a:off x="6291072" y="3570732"/>
            <a:ext cx="2487168" cy="256032"/>
          </a:xfrm>
          <a:prstGeom prst="rect">
            <a:avLst/>
          </a:prstGeom>
          <a:noFill/>
          <a:ln/>
        </p:spPr>
        <p:txBody>
          <a:bodyPr wrap="square" lIns="0" tIns="0" rIns="0" bIns="0" rtlCol="0" anchor="ctr"/>
          <a:lstStyle/>
          <a:p>
            <a:pPr marL="0" indent="0">
              <a:buNone/>
            </a:pPr>
            <a:r>
              <a:rPr lang="en-US" sz="850" i="1" dirty="0">
                <a:solidFill>
                  <a:srgbClr val="8892A4"/>
                </a:solidFill>
                <a:latin typeface="Calibri" pitchFamily="34" charset="0"/>
                <a:ea typeface="Calibri" pitchFamily="34" charset="-122"/>
                <a:cs typeface="Calibri" pitchFamily="34" charset="-120"/>
              </a:rPr>
              <a:t>Chiffrement séquentiel — 223× plus lent qu'ECB</a:t>
            </a:r>
            <a:endParaRPr lang="en-US" sz="850" dirty="0"/>
          </a:p>
        </p:txBody>
      </p:sp>
      <p:sp>
        <p:nvSpPr>
          <p:cNvPr id="28" name="Text 19"/>
          <p:cNvSpPr/>
          <p:nvPr/>
        </p:nvSpPr>
        <p:spPr>
          <a:xfrm>
            <a:off x="594360" y="4102463"/>
            <a:ext cx="8138160" cy="594360"/>
          </a:xfrm>
          <a:prstGeom prst="rect">
            <a:avLst/>
          </a:prstGeom>
          <a:noFill/>
          <a:ln/>
        </p:spPr>
        <p:txBody>
          <a:bodyPr wrap="square" rtlCol="0" anchor="ctr"/>
          <a:lstStyle/>
          <a:p>
            <a:pPr marL="0" indent="0" algn="ctr">
              <a:buNone/>
            </a:pPr>
            <a:r>
              <a:rPr lang="fr-FR" sz="950" b="1" dirty="0">
                <a:solidFill>
                  <a:srgbClr val="C00000"/>
                </a:solidFill>
                <a:latin typeface="Calibri" pitchFamily="34" charset="0"/>
                <a:ea typeface="Calibri" pitchFamily="34" charset="-122"/>
                <a:cs typeface="Calibri" pitchFamily="34" charset="-120"/>
              </a:rPr>
              <a:t>Avec 163 MB/s, ECB obtient le résultat le plus élevé du benchmark</a:t>
            </a:r>
            <a:r>
              <a:rPr lang="fr-FR" sz="950" dirty="0">
                <a:solidFill>
                  <a:srgbClr val="8892A4"/>
                </a:solidFill>
                <a:latin typeface="Calibri" pitchFamily="34" charset="0"/>
                <a:ea typeface="Calibri" pitchFamily="34" charset="-122"/>
                <a:cs typeface="Calibri" pitchFamily="34" charset="-120"/>
              </a:rPr>
              <a:t>, et c'est pourtant le seul mode cryptographiquement cassé. Optimiser sans comprendre les implications en matière de sécurité constitue une faute professionnelle.</a:t>
            </a:r>
            <a:endParaRPr lang="en-US" sz="950" dirty="0">
              <a:solidFill>
                <a:srgbClr val="8892A4"/>
              </a:solidFill>
            </a:endParaRPr>
          </a:p>
        </p:txBody>
      </p:sp>
      <p:sp>
        <p:nvSpPr>
          <p:cNvPr id="29" name="Shape 20"/>
          <p:cNvSpPr/>
          <p:nvPr/>
        </p:nvSpPr>
        <p:spPr>
          <a:xfrm>
            <a:off x="7626096" y="302514"/>
            <a:ext cx="1115568" cy="329184"/>
          </a:xfrm>
          <a:prstGeom prst="roundRect">
            <a:avLst>
              <a:gd name="adj" fmla="val 22222"/>
            </a:avLst>
          </a:prstGeom>
          <a:solidFill>
            <a:srgbClr val="060F1E"/>
          </a:solidFill>
          <a:ln w="9525">
            <a:solidFill>
              <a:srgbClr val="9B6DFF"/>
            </a:solidFill>
            <a:prstDash val="solid"/>
          </a:ln>
        </p:spPr>
        <p:txBody>
          <a:bodyPr/>
          <a:lstStyle/>
          <a:p>
            <a:endParaRPr lang="en-CA"/>
          </a:p>
        </p:txBody>
      </p:sp>
      <p:sp>
        <p:nvSpPr>
          <p:cNvPr id="33" name="Shape 2">
            <a:extLst>
              <a:ext uri="{FF2B5EF4-FFF2-40B4-BE49-F238E27FC236}">
                <a16:creationId xmlns:a16="http://schemas.microsoft.com/office/drawing/2014/main" id="{573D12B3-5EB2-E29B-35AC-446DF78B2A3F}"/>
              </a:ext>
            </a:extLst>
          </p:cNvPr>
          <p:cNvSpPr>
            <a:spLocks/>
          </p:cNvSpPr>
          <p:nvPr/>
        </p:nvSpPr>
        <p:spPr>
          <a:xfrm>
            <a:off x="6144768" y="1827766"/>
            <a:ext cx="2670048" cy="640080"/>
          </a:xfrm>
          <a:prstGeom prst="roundRect">
            <a:avLst>
              <a:gd name="adj" fmla="val 8571"/>
            </a:avLst>
          </a:prstGeom>
          <a:solidFill>
            <a:srgbClr val="182336">
              <a:alpha val="10000"/>
            </a:srgbClr>
          </a:solidFill>
          <a:ln w="3175">
            <a:solidFill>
              <a:srgbClr val="F59F00"/>
            </a:solidFill>
            <a:prstDash val="solid"/>
          </a:ln>
        </p:spPr>
        <p:txBody>
          <a:bodyPr/>
          <a:lstStyle/>
          <a:p>
            <a:endParaRPr lang="en-CA">
              <a:solidFill>
                <a:schemeClr val="accent5"/>
              </a:solidFill>
            </a:endParaRPr>
          </a:p>
        </p:txBody>
      </p:sp>
      <p:sp>
        <p:nvSpPr>
          <p:cNvPr id="30" name="Text 21"/>
          <p:cNvSpPr/>
          <p:nvPr/>
        </p:nvSpPr>
        <p:spPr>
          <a:xfrm>
            <a:off x="7626096" y="302514"/>
            <a:ext cx="1115568" cy="329184"/>
          </a:xfrm>
          <a:prstGeom prst="rect">
            <a:avLst/>
          </a:prstGeom>
          <a:noFill/>
          <a:ln/>
        </p:spPr>
        <p:txBody>
          <a:bodyPr wrap="square" lIns="0" tIns="0" rIns="0" bIns="0" rtlCol="0" anchor="ctr"/>
          <a:lstStyle/>
          <a:p>
            <a:pPr marL="0" indent="0" algn="ctr">
              <a:buNone/>
            </a:pPr>
            <a:r>
              <a:rPr lang="en-US" sz="950" b="1" dirty="0">
                <a:solidFill>
                  <a:srgbClr val="9B6DFF"/>
                </a:solidFill>
                <a:latin typeface="Calibri" pitchFamily="34" charset="0"/>
                <a:ea typeface="Calibri" pitchFamily="34" charset="-122"/>
                <a:cs typeface="Calibri" pitchFamily="34" charset="-120"/>
              </a:rPr>
              <a:t>▶  Vidéo 5</a:t>
            </a:r>
            <a:endParaRPr lang="en-US" sz="950" dirty="0"/>
          </a:p>
        </p:txBody>
      </p:sp>
      <p:sp>
        <p:nvSpPr>
          <p:cNvPr id="31" name="Text 22"/>
          <p:cNvSpPr/>
          <p:nvPr/>
        </p:nvSpPr>
        <p:spPr>
          <a:xfrm>
            <a:off x="1371600" y="4828032"/>
            <a:ext cx="6400800" cy="228600"/>
          </a:xfrm>
          <a:prstGeom prst="rect">
            <a:avLst/>
          </a:prstGeom>
          <a:noFill/>
          <a:ln/>
        </p:spPr>
        <p:txBody>
          <a:bodyPr wrap="square" rtlCol="0" anchor="ctr"/>
          <a:lstStyle/>
          <a:p>
            <a:pPr marL="0" indent="0" algn="ctr">
              <a:buNone/>
            </a:pPr>
            <a:r>
              <a:rPr lang="en-US" sz="850" b="1" kern="0" spc="100" dirty="0">
                <a:solidFill>
                  <a:srgbClr val="00F5FF"/>
                </a:solidFill>
                <a:latin typeface="Calibri" pitchFamily="34" charset="0"/>
                <a:ea typeface="Calibri" pitchFamily="34" charset="-122"/>
                <a:cs typeface="Calibri" pitchFamily="34" charset="-120"/>
              </a:rPr>
              <a:t>INF1430</a:t>
            </a:r>
            <a:r>
              <a:rPr lang="en-US" sz="850" kern="0" spc="100" dirty="0">
                <a:solidFill>
                  <a:srgbClr val="3A4A65"/>
                </a:solidFill>
                <a:latin typeface="Calibri" pitchFamily="34" charset="0"/>
                <a:ea typeface="Calibri" pitchFamily="34" charset="-122"/>
                <a:cs typeface="Calibri" pitchFamily="34" charset="-120"/>
              </a:rPr>
              <a:t>  ·  Université TÉLUQ  ·  TN3  ·  Melissa Moya  ·  2026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Grp="1" noRot="1" noChangeAspect="1" noMove="1" noResize="1" noEditPoints="1" noAdjustHandles="1" noChangeArrowheads="1" noChangeShapeType="1" noCrop="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256032" y="201168"/>
            <a:ext cx="548640" cy="548640"/>
          </a:xfrm>
          <a:prstGeom prst="rect">
            <a:avLst/>
          </a:prstGeom>
        </p:spPr>
      </p:pic>
      <p:pic>
        <p:nvPicPr>
          <p:cNvPr id="4" name="Image 2" descr="preencoded.png"/>
          <p:cNvPicPr>
            <a:picLocks noChangeAspect="1"/>
          </p:cNvPicPr>
          <p:nvPr/>
        </p:nvPicPr>
        <p:blipFill>
          <a:blip r:embed="rId4"/>
          <a:stretch>
            <a:fillRect/>
          </a:stretch>
        </p:blipFill>
        <p:spPr>
          <a:xfrm flipH="1">
            <a:off x="8339328" y="201168"/>
            <a:ext cx="548640" cy="548640"/>
          </a:xfrm>
          <a:prstGeom prst="rect">
            <a:avLst/>
          </a:prstGeom>
        </p:spPr>
      </p:pic>
      <p:pic>
        <p:nvPicPr>
          <p:cNvPr id="5" name="Image 3" descr="preencoded.png"/>
          <p:cNvPicPr>
            <a:picLocks noChangeAspect="1"/>
          </p:cNvPicPr>
          <p:nvPr/>
        </p:nvPicPr>
        <p:blipFill>
          <a:blip r:embed="rId4"/>
          <a:stretch>
            <a:fillRect/>
          </a:stretch>
        </p:blipFill>
        <p:spPr>
          <a:xfrm flipV="1">
            <a:off x="256032" y="4393692"/>
            <a:ext cx="548640" cy="548640"/>
          </a:xfrm>
          <a:prstGeom prst="rect">
            <a:avLst/>
          </a:prstGeom>
        </p:spPr>
      </p:pic>
      <p:pic>
        <p:nvPicPr>
          <p:cNvPr id="6" name="Image 4" descr="preencoded.png"/>
          <p:cNvPicPr>
            <a:picLocks noChangeAspect="1"/>
          </p:cNvPicPr>
          <p:nvPr/>
        </p:nvPicPr>
        <p:blipFill>
          <a:blip r:embed="rId4"/>
          <a:stretch>
            <a:fillRect/>
          </a:stretch>
        </p:blipFill>
        <p:spPr>
          <a:xfrm flipH="1" flipV="1">
            <a:off x="8339328" y="4393692"/>
            <a:ext cx="548640" cy="548640"/>
          </a:xfrm>
          <a:prstGeom prst="rect">
            <a:avLst/>
          </a:prstGeom>
        </p:spPr>
      </p:pic>
      <p:pic>
        <p:nvPicPr>
          <p:cNvPr id="7" name="Image 5" descr="preencoded.png"/>
          <p:cNvPicPr>
            <a:picLocks noChangeAspect="1"/>
          </p:cNvPicPr>
          <p:nvPr/>
        </p:nvPicPr>
        <p:blipFill>
          <a:blip r:embed="rId5">
            <a:alphaModFix amt="80000"/>
          </a:blip>
          <a:stretch>
            <a:fillRect/>
          </a:stretch>
        </p:blipFill>
        <p:spPr>
          <a:xfrm>
            <a:off x="566928" y="256032"/>
            <a:ext cx="256032" cy="256032"/>
          </a:xfrm>
          <a:prstGeom prst="rect">
            <a:avLst/>
          </a:prstGeom>
        </p:spPr>
      </p:pic>
      <p:sp>
        <p:nvSpPr>
          <p:cNvPr id="8" name="Text 0"/>
          <p:cNvSpPr/>
          <p:nvPr/>
        </p:nvSpPr>
        <p:spPr>
          <a:xfrm>
            <a:off x="868680" y="256032"/>
            <a:ext cx="4572000" cy="274320"/>
          </a:xfrm>
          <a:prstGeom prst="rect">
            <a:avLst/>
          </a:prstGeom>
          <a:noFill/>
          <a:ln/>
        </p:spPr>
        <p:txBody>
          <a:bodyPr wrap="square" rtlCol="0" anchor="ctr"/>
          <a:lstStyle/>
          <a:p>
            <a:pPr marL="0" indent="0">
              <a:buNone/>
            </a:pPr>
            <a:r>
              <a:rPr lang="en-US" sz="1000" b="1" kern="0" spc="50" dirty="0">
                <a:solidFill>
                  <a:srgbClr val="00F5FF"/>
                </a:solidFill>
                <a:latin typeface="Calibri" pitchFamily="34" charset="0"/>
                <a:ea typeface="Calibri" pitchFamily="34" charset="-122"/>
                <a:cs typeface="Calibri" pitchFamily="34" charset="-120"/>
              </a:rPr>
              <a:t>04  </a:t>
            </a:r>
            <a:r>
              <a:rPr lang="en-US" sz="1000" kern="0" spc="50" dirty="0">
                <a:solidFill>
                  <a:srgbClr val="8892A4"/>
                </a:solidFill>
                <a:latin typeface="Calibri" pitchFamily="34" charset="0"/>
                <a:ea typeface="Calibri" pitchFamily="34" charset="-122"/>
                <a:cs typeface="Calibri" pitchFamily="34" charset="-120"/>
              </a:rPr>
              <a:t>Résultats de performance</a:t>
            </a:r>
            <a:endParaRPr lang="en-US" sz="1000" dirty="0"/>
          </a:p>
        </p:txBody>
      </p:sp>
      <p:sp>
        <p:nvSpPr>
          <p:cNvPr id="9" name="Text 1"/>
          <p:cNvSpPr/>
          <p:nvPr/>
        </p:nvSpPr>
        <p:spPr>
          <a:xfrm>
            <a:off x="566928" y="566928"/>
            <a:ext cx="77724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ChaCha20 — Conçu pour le logiciel pur</a:t>
            </a:r>
            <a:endParaRPr lang="en-US" sz="2400" dirty="0"/>
          </a:p>
        </p:txBody>
      </p:sp>
      <p:sp>
        <p:nvSpPr>
          <p:cNvPr id="10" name="Shape 2"/>
          <p:cNvSpPr/>
          <p:nvPr/>
        </p:nvSpPr>
        <p:spPr>
          <a:xfrm>
            <a:off x="621792" y="1325880"/>
            <a:ext cx="100584" cy="100584"/>
          </a:xfrm>
          <a:prstGeom prst="ellipse">
            <a:avLst/>
          </a:prstGeom>
          <a:solidFill>
            <a:srgbClr val="00F5FF"/>
          </a:solidFill>
          <a:ln w="12700">
            <a:solidFill>
              <a:srgbClr val="00F5FF"/>
            </a:solidFill>
            <a:prstDash val="solid"/>
          </a:ln>
        </p:spPr>
        <p:txBody>
          <a:bodyPr/>
          <a:lstStyle/>
          <a:p>
            <a:endParaRPr lang="en-CA"/>
          </a:p>
        </p:txBody>
      </p:sp>
      <p:sp>
        <p:nvSpPr>
          <p:cNvPr id="11" name="Text 3"/>
          <p:cNvSpPr/>
          <p:nvPr/>
        </p:nvSpPr>
        <p:spPr>
          <a:xfrm>
            <a:off x="877824" y="1234440"/>
            <a:ext cx="347472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Chiffrement de flux</a:t>
            </a:r>
            <a:endParaRPr lang="en-US" sz="1250" dirty="0"/>
          </a:p>
        </p:txBody>
      </p:sp>
      <p:sp>
        <p:nvSpPr>
          <p:cNvPr id="12" name="Text 4"/>
          <p:cNvSpPr/>
          <p:nvPr/>
        </p:nvSpPr>
        <p:spPr>
          <a:xfrm>
            <a:off x="877824" y="1490472"/>
            <a:ext cx="3474720" cy="256032"/>
          </a:xfrm>
          <a:prstGeom prst="rect">
            <a:avLst/>
          </a:prstGeom>
          <a:noFill/>
          <a:ln/>
        </p:spPr>
        <p:txBody>
          <a:bodyPr wrap="square" lIns="0" tIns="0" rIns="0" bIns="0" rtlCol="0" anchor="ctr"/>
          <a:lstStyle/>
          <a:p>
            <a:pPr marL="0" indent="0">
              <a:buNone/>
            </a:pPr>
            <a:r>
              <a:rPr lang="en-US" sz="1000" i="1" dirty="0">
                <a:solidFill>
                  <a:srgbClr val="8892A4"/>
                </a:solidFill>
                <a:latin typeface="Calibri" pitchFamily="34" charset="0"/>
                <a:ea typeface="Calibri" pitchFamily="34" charset="-122"/>
                <a:cs typeface="Calibri" pitchFamily="34" charset="-120"/>
              </a:rPr>
              <a:t>pas de blocs — opère bit par bit sur le keystream</a:t>
            </a:r>
            <a:endParaRPr lang="en-US" sz="1000" dirty="0"/>
          </a:p>
        </p:txBody>
      </p:sp>
      <p:sp>
        <p:nvSpPr>
          <p:cNvPr id="13" name="Shape 5"/>
          <p:cNvSpPr/>
          <p:nvPr/>
        </p:nvSpPr>
        <p:spPr>
          <a:xfrm>
            <a:off x="615696" y="1975104"/>
            <a:ext cx="100584" cy="100584"/>
          </a:xfrm>
          <a:prstGeom prst="ellipse">
            <a:avLst/>
          </a:prstGeom>
          <a:solidFill>
            <a:srgbClr val="9B6DFF"/>
          </a:solidFill>
          <a:ln w="12700">
            <a:solidFill>
              <a:srgbClr val="9B6DFF"/>
            </a:solidFill>
            <a:prstDash val="solid"/>
          </a:ln>
        </p:spPr>
        <p:txBody>
          <a:bodyPr/>
          <a:lstStyle/>
          <a:p>
            <a:endParaRPr lang="en-CA"/>
          </a:p>
        </p:txBody>
      </p:sp>
      <p:sp>
        <p:nvSpPr>
          <p:cNvPr id="14" name="Text 6"/>
          <p:cNvSpPr/>
          <p:nvPr/>
        </p:nvSpPr>
        <p:spPr>
          <a:xfrm>
            <a:off x="870204" y="1865376"/>
            <a:ext cx="347472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Clé unique : 256 bits</a:t>
            </a:r>
            <a:endParaRPr lang="en-US" sz="1250" dirty="0"/>
          </a:p>
        </p:txBody>
      </p:sp>
      <p:sp>
        <p:nvSpPr>
          <p:cNvPr id="15" name="Text 7"/>
          <p:cNvSpPr/>
          <p:nvPr/>
        </p:nvSpPr>
        <p:spPr>
          <a:xfrm>
            <a:off x="877824" y="2103120"/>
            <a:ext cx="3474720" cy="256032"/>
          </a:xfrm>
          <a:prstGeom prst="rect">
            <a:avLst/>
          </a:prstGeom>
          <a:noFill/>
          <a:ln/>
        </p:spPr>
        <p:txBody>
          <a:bodyPr wrap="square" lIns="0" tIns="0" rIns="0" bIns="0" rtlCol="0" anchor="ctr"/>
          <a:lstStyle/>
          <a:p>
            <a:pPr marL="0" indent="0">
              <a:buNone/>
            </a:pPr>
            <a:r>
              <a:rPr lang="en-US" sz="1000" i="1" dirty="0">
                <a:solidFill>
                  <a:srgbClr val="8892A4"/>
                </a:solidFill>
                <a:latin typeface="Calibri" pitchFamily="34" charset="0"/>
                <a:ea typeface="Calibri" pitchFamily="34" charset="-122"/>
                <a:cs typeface="Calibri" pitchFamily="34" charset="-120"/>
              </a:rPr>
              <a:t>pas de variantes 128/192 — simplicité par design</a:t>
            </a:r>
            <a:endParaRPr lang="en-US" sz="1000" dirty="0"/>
          </a:p>
        </p:txBody>
      </p:sp>
      <p:sp>
        <p:nvSpPr>
          <p:cNvPr id="16" name="Shape 8"/>
          <p:cNvSpPr/>
          <p:nvPr/>
        </p:nvSpPr>
        <p:spPr>
          <a:xfrm>
            <a:off x="621792" y="2624328"/>
            <a:ext cx="100584" cy="100584"/>
          </a:xfrm>
          <a:prstGeom prst="ellipse">
            <a:avLst/>
          </a:prstGeom>
          <a:solidFill>
            <a:srgbClr val="00F5FF"/>
          </a:solidFill>
          <a:ln w="12700">
            <a:solidFill>
              <a:srgbClr val="00F5FF"/>
            </a:solidFill>
            <a:prstDash val="solid"/>
          </a:ln>
        </p:spPr>
        <p:txBody>
          <a:bodyPr/>
          <a:lstStyle/>
          <a:p>
            <a:endParaRPr lang="en-CA"/>
          </a:p>
        </p:txBody>
      </p:sp>
      <p:sp>
        <p:nvSpPr>
          <p:cNvPr id="17" name="Text 9"/>
          <p:cNvSpPr/>
          <p:nvPr/>
        </p:nvSpPr>
        <p:spPr>
          <a:xfrm>
            <a:off x="877824" y="2514600"/>
            <a:ext cx="347472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Opérations ARX</a:t>
            </a:r>
            <a:endParaRPr lang="en-US" sz="1250" dirty="0"/>
          </a:p>
        </p:txBody>
      </p:sp>
      <p:sp>
        <p:nvSpPr>
          <p:cNvPr id="18" name="Text 10"/>
          <p:cNvSpPr/>
          <p:nvPr/>
        </p:nvSpPr>
        <p:spPr>
          <a:xfrm>
            <a:off x="877824" y="2775204"/>
            <a:ext cx="3474720" cy="256032"/>
          </a:xfrm>
          <a:prstGeom prst="rect">
            <a:avLst/>
          </a:prstGeom>
          <a:noFill/>
          <a:ln/>
        </p:spPr>
        <p:txBody>
          <a:bodyPr wrap="square" lIns="0" tIns="0" rIns="0" bIns="0" rtlCol="0" anchor="ctr"/>
          <a:lstStyle/>
          <a:p>
            <a:pPr marL="0" indent="0">
              <a:buNone/>
            </a:pPr>
            <a:r>
              <a:rPr lang="en-US" sz="1000" i="1" dirty="0">
                <a:solidFill>
                  <a:srgbClr val="8892A4"/>
                </a:solidFill>
                <a:latin typeface="Calibri" pitchFamily="34" charset="0"/>
                <a:ea typeface="Calibri" pitchFamily="34" charset="-122"/>
                <a:cs typeface="Calibri" pitchFamily="34" charset="-120"/>
              </a:rPr>
              <a:t>Addition · Rotation · XOR — toutes natives au CPU</a:t>
            </a:r>
            <a:endParaRPr lang="en-US" sz="1000" dirty="0"/>
          </a:p>
        </p:txBody>
      </p:sp>
      <p:sp>
        <p:nvSpPr>
          <p:cNvPr id="19" name="Shape 11"/>
          <p:cNvSpPr/>
          <p:nvPr/>
        </p:nvSpPr>
        <p:spPr>
          <a:xfrm>
            <a:off x="621792" y="4014216"/>
            <a:ext cx="100584" cy="100584"/>
          </a:xfrm>
          <a:prstGeom prst="ellipse">
            <a:avLst/>
          </a:prstGeom>
          <a:solidFill>
            <a:srgbClr val="9B6DFF"/>
          </a:solidFill>
          <a:ln w="12700">
            <a:solidFill>
              <a:srgbClr val="9B6DFF"/>
            </a:solidFill>
            <a:prstDash val="solid"/>
          </a:ln>
        </p:spPr>
        <p:txBody>
          <a:bodyPr/>
          <a:lstStyle/>
          <a:p>
            <a:endParaRPr lang="en-CA"/>
          </a:p>
        </p:txBody>
      </p:sp>
      <p:sp>
        <p:nvSpPr>
          <p:cNvPr id="20" name="Text 12"/>
          <p:cNvSpPr/>
          <p:nvPr/>
        </p:nvSpPr>
        <p:spPr>
          <a:xfrm>
            <a:off x="877824" y="3922776"/>
            <a:ext cx="347472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Daniel J. Bernstein, 2008</a:t>
            </a:r>
            <a:endParaRPr lang="en-US" sz="1250" dirty="0"/>
          </a:p>
        </p:txBody>
      </p:sp>
      <p:sp>
        <p:nvSpPr>
          <p:cNvPr id="21" name="Text 13"/>
          <p:cNvSpPr/>
          <p:nvPr/>
        </p:nvSpPr>
        <p:spPr>
          <a:xfrm>
            <a:off x="877824" y="4178808"/>
            <a:ext cx="3474720" cy="256032"/>
          </a:xfrm>
          <a:prstGeom prst="rect">
            <a:avLst/>
          </a:prstGeom>
          <a:noFill/>
          <a:ln/>
        </p:spPr>
        <p:txBody>
          <a:bodyPr wrap="square" lIns="0" tIns="0" rIns="0" bIns="0" rtlCol="0" anchor="ctr"/>
          <a:lstStyle/>
          <a:p>
            <a:pPr marL="0" indent="0">
              <a:buNone/>
            </a:pPr>
            <a:r>
              <a:rPr lang="en-US" sz="1000" i="1" dirty="0">
                <a:solidFill>
                  <a:srgbClr val="8892A4"/>
                </a:solidFill>
                <a:latin typeface="Calibri" pitchFamily="34" charset="0"/>
                <a:ea typeface="Calibri" pitchFamily="34" charset="-122"/>
                <a:cs typeface="Calibri" pitchFamily="34" charset="-120"/>
              </a:rPr>
              <a:t>optimisé pour ARM et x86 sans instructions dédiées</a:t>
            </a:r>
            <a:endParaRPr lang="en-US" sz="1000" dirty="0"/>
          </a:p>
        </p:txBody>
      </p:sp>
      <p:sp>
        <p:nvSpPr>
          <p:cNvPr id="23" name="Shape 14"/>
          <p:cNvSpPr/>
          <p:nvPr/>
        </p:nvSpPr>
        <p:spPr>
          <a:xfrm>
            <a:off x="566928" y="3877056"/>
            <a:ext cx="8321040" cy="594360"/>
          </a:xfrm>
          <a:prstGeom prst="roundRect">
            <a:avLst>
              <a:gd name="adj" fmla="val 9231"/>
            </a:avLst>
          </a:prstGeom>
          <a:solidFill>
            <a:srgbClr val="060F1E"/>
          </a:solidFill>
          <a:ln w="9525">
            <a:solidFill>
              <a:srgbClr val="0D3D5C"/>
            </a:solidFill>
            <a:prstDash val="solid"/>
          </a:ln>
        </p:spPr>
        <p:txBody>
          <a:bodyPr/>
          <a:lstStyle/>
          <a:p>
            <a:endParaRPr lang="en-CA"/>
          </a:p>
        </p:txBody>
      </p:sp>
      <p:sp>
        <p:nvSpPr>
          <p:cNvPr id="24" name="Text 15"/>
          <p:cNvSpPr/>
          <p:nvPr/>
        </p:nvSpPr>
        <p:spPr>
          <a:xfrm>
            <a:off x="749808" y="3877056"/>
            <a:ext cx="7955280" cy="594360"/>
          </a:xfrm>
          <a:prstGeom prst="rect">
            <a:avLst/>
          </a:prstGeom>
          <a:noFill/>
          <a:ln/>
        </p:spPr>
        <p:txBody>
          <a:bodyPr wrap="square" rtlCol="0" anchor="ctr"/>
          <a:lstStyle/>
          <a:p>
            <a:pPr marL="0" indent="0">
              <a:buNone/>
            </a:pPr>
            <a:r>
              <a:rPr lang="fr-FR" sz="950" b="1" dirty="0">
                <a:solidFill>
                  <a:srgbClr val="00F5FF"/>
                </a:solidFill>
                <a:latin typeface="Calibri" pitchFamily="34" charset="0"/>
                <a:ea typeface="Calibri" pitchFamily="34" charset="-122"/>
                <a:cs typeface="Calibri" pitchFamily="34" charset="-120"/>
              </a:rPr>
              <a:t>ChaCha20 est conçu pour s'exécuter en temps constant : </a:t>
            </a:r>
            <a:r>
              <a:rPr lang="fr-FR" sz="950" dirty="0">
                <a:solidFill>
                  <a:srgbClr val="8892A4"/>
                </a:solidFill>
                <a:latin typeface="Calibri" pitchFamily="34" charset="0"/>
                <a:ea typeface="Calibri" pitchFamily="34" charset="-122"/>
                <a:cs typeface="Calibri" pitchFamily="34" charset="-120"/>
              </a:rPr>
              <a:t>les opérations ADD, ROTATE et XOR requièrent exactement un cycle CPU, indépendamment des données traitées. L'absence de table de substitution (S-Box) élimine tout risque d'attaque temporelle, ce qui explique l'adoption de ChaCha20 par Android et TLS 1.3 mobile.</a:t>
            </a:r>
            <a:endParaRPr lang="en-US" sz="950" dirty="0">
              <a:solidFill>
                <a:srgbClr val="8892A4"/>
              </a:solidFill>
            </a:endParaRPr>
          </a:p>
        </p:txBody>
      </p:sp>
      <p:sp>
        <p:nvSpPr>
          <p:cNvPr id="25" name="Shape 16"/>
          <p:cNvSpPr/>
          <p:nvPr/>
        </p:nvSpPr>
        <p:spPr>
          <a:xfrm>
            <a:off x="7661841" y="269783"/>
            <a:ext cx="1115568" cy="329184"/>
          </a:xfrm>
          <a:prstGeom prst="roundRect">
            <a:avLst>
              <a:gd name="adj" fmla="val 22222"/>
            </a:avLst>
          </a:prstGeom>
          <a:solidFill>
            <a:srgbClr val="060F1E"/>
          </a:solidFill>
          <a:ln w="9525">
            <a:solidFill>
              <a:srgbClr val="00F5FF"/>
            </a:solidFill>
            <a:prstDash val="solid"/>
          </a:ln>
        </p:spPr>
        <p:txBody>
          <a:bodyPr/>
          <a:lstStyle/>
          <a:p>
            <a:endParaRPr lang="en-CA"/>
          </a:p>
        </p:txBody>
      </p:sp>
      <p:sp>
        <p:nvSpPr>
          <p:cNvPr id="26" name="Text 17"/>
          <p:cNvSpPr/>
          <p:nvPr/>
        </p:nvSpPr>
        <p:spPr>
          <a:xfrm>
            <a:off x="7661841" y="269783"/>
            <a:ext cx="1115568" cy="329184"/>
          </a:xfrm>
          <a:prstGeom prst="rect">
            <a:avLst/>
          </a:prstGeom>
          <a:noFill/>
          <a:ln/>
        </p:spPr>
        <p:txBody>
          <a:bodyPr wrap="square" lIns="0" tIns="0" rIns="0" bIns="0" rtlCol="0" anchor="ctr"/>
          <a:lstStyle/>
          <a:p>
            <a:pPr marL="0" indent="0" algn="ctr">
              <a:buNone/>
            </a:pPr>
            <a:r>
              <a:rPr lang="en-US" sz="950" b="1" dirty="0">
                <a:solidFill>
                  <a:srgbClr val="00F5FF"/>
                </a:solidFill>
                <a:latin typeface="Calibri" pitchFamily="34" charset="0"/>
                <a:ea typeface="Calibri" pitchFamily="34" charset="-122"/>
                <a:cs typeface="Calibri" pitchFamily="34" charset="-120"/>
              </a:rPr>
              <a:t>▶  Vidéo 6</a:t>
            </a:r>
            <a:endParaRPr lang="en-US" sz="950" dirty="0"/>
          </a:p>
        </p:txBody>
      </p:sp>
      <p:sp>
        <p:nvSpPr>
          <p:cNvPr id="27" name="Text 18"/>
          <p:cNvSpPr/>
          <p:nvPr/>
        </p:nvSpPr>
        <p:spPr>
          <a:xfrm>
            <a:off x="1371600" y="4828032"/>
            <a:ext cx="6400800" cy="228600"/>
          </a:xfrm>
          <a:prstGeom prst="rect">
            <a:avLst/>
          </a:prstGeom>
          <a:noFill/>
          <a:ln/>
        </p:spPr>
        <p:txBody>
          <a:bodyPr wrap="square" rtlCol="0" anchor="ctr"/>
          <a:lstStyle/>
          <a:p>
            <a:pPr marL="0" indent="0" algn="ctr">
              <a:buNone/>
            </a:pPr>
            <a:r>
              <a:rPr lang="en-US" sz="850" b="1" kern="0" spc="100" dirty="0">
                <a:solidFill>
                  <a:srgbClr val="00F5FF"/>
                </a:solidFill>
                <a:latin typeface="Calibri" pitchFamily="34" charset="0"/>
                <a:ea typeface="Calibri" pitchFamily="34" charset="-122"/>
                <a:cs typeface="Calibri" pitchFamily="34" charset="-120"/>
              </a:rPr>
              <a:t>INF1430</a:t>
            </a:r>
            <a:r>
              <a:rPr lang="en-US" sz="850" kern="0" spc="100" dirty="0">
                <a:solidFill>
                  <a:srgbClr val="3A4A65"/>
                </a:solidFill>
                <a:latin typeface="Calibri" pitchFamily="34" charset="0"/>
                <a:ea typeface="Calibri" pitchFamily="34" charset="-122"/>
                <a:cs typeface="Calibri" pitchFamily="34" charset="-120"/>
              </a:rPr>
              <a:t>  ·  Université TÉLUQ  ·  TN3  ·  Melissa Moya  ·  2026</a:t>
            </a:r>
            <a:endParaRPr lang="en-US" sz="850" dirty="0"/>
          </a:p>
        </p:txBody>
      </p:sp>
      <p:sp>
        <p:nvSpPr>
          <p:cNvPr id="29" name="Shape 5">
            <a:extLst>
              <a:ext uri="{FF2B5EF4-FFF2-40B4-BE49-F238E27FC236}">
                <a16:creationId xmlns:a16="http://schemas.microsoft.com/office/drawing/2014/main" id="{0FBDA0A2-DA3D-790E-BF02-222AB754A594}"/>
              </a:ext>
            </a:extLst>
          </p:cNvPr>
          <p:cNvSpPr/>
          <p:nvPr/>
        </p:nvSpPr>
        <p:spPr>
          <a:xfrm>
            <a:off x="598932" y="3268980"/>
            <a:ext cx="100584" cy="100584"/>
          </a:xfrm>
          <a:prstGeom prst="ellipse">
            <a:avLst/>
          </a:prstGeom>
          <a:solidFill>
            <a:srgbClr val="9B6DFF"/>
          </a:solidFill>
          <a:ln w="12700">
            <a:solidFill>
              <a:srgbClr val="9B6DFF"/>
            </a:solidFill>
            <a:prstDash val="solid"/>
          </a:ln>
        </p:spPr>
        <p:txBody>
          <a:bodyPr/>
          <a:lstStyle/>
          <a:p>
            <a:endParaRPr lang="en-CA"/>
          </a:p>
        </p:txBody>
      </p:sp>
      <p:sp>
        <p:nvSpPr>
          <p:cNvPr id="31" name="Text 9">
            <a:extLst>
              <a:ext uri="{FF2B5EF4-FFF2-40B4-BE49-F238E27FC236}">
                <a16:creationId xmlns:a16="http://schemas.microsoft.com/office/drawing/2014/main" id="{5066452D-DE45-1EFA-F3B2-9BAC58A8FC57}"/>
              </a:ext>
            </a:extLst>
          </p:cNvPr>
          <p:cNvSpPr/>
          <p:nvPr/>
        </p:nvSpPr>
        <p:spPr>
          <a:xfrm>
            <a:off x="868680" y="3188208"/>
            <a:ext cx="347472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Daniel J. Bernstein, 2008</a:t>
            </a:r>
            <a:endParaRPr lang="en-US" sz="1250" dirty="0"/>
          </a:p>
        </p:txBody>
      </p:sp>
      <p:sp>
        <p:nvSpPr>
          <p:cNvPr id="33" name="Text 10">
            <a:extLst>
              <a:ext uri="{FF2B5EF4-FFF2-40B4-BE49-F238E27FC236}">
                <a16:creationId xmlns:a16="http://schemas.microsoft.com/office/drawing/2014/main" id="{D5448123-9BDF-C427-C3CA-9A9DC3C92587}"/>
              </a:ext>
            </a:extLst>
          </p:cNvPr>
          <p:cNvSpPr/>
          <p:nvPr/>
        </p:nvSpPr>
        <p:spPr>
          <a:xfrm>
            <a:off x="868680" y="3387090"/>
            <a:ext cx="3474720" cy="256032"/>
          </a:xfrm>
          <a:prstGeom prst="rect">
            <a:avLst/>
          </a:prstGeom>
          <a:noFill/>
          <a:ln/>
        </p:spPr>
        <p:txBody>
          <a:bodyPr wrap="square" lIns="0" tIns="0" rIns="0" bIns="0" rtlCol="0" anchor="ctr"/>
          <a:lstStyle/>
          <a:p>
            <a:pPr marL="0" indent="0">
              <a:buNone/>
            </a:pPr>
            <a:r>
              <a:rPr lang="fr-FR" sz="1000" i="1" dirty="0">
                <a:solidFill>
                  <a:srgbClr val="8892A4"/>
                </a:solidFill>
                <a:latin typeface="Calibri" pitchFamily="34" charset="0"/>
                <a:ea typeface="Calibri" pitchFamily="34" charset="-122"/>
                <a:cs typeface="Calibri" pitchFamily="34" charset="-120"/>
              </a:rPr>
              <a:t>optimisé pour ARM et x86 sans instructions dédiées</a:t>
            </a:r>
            <a:endParaRPr lang="en-US" sz="1000" dirty="0"/>
          </a:p>
        </p:txBody>
      </p:sp>
      <p:sp>
        <p:nvSpPr>
          <p:cNvPr id="36" name="Oval 35">
            <a:extLst>
              <a:ext uri="{FF2B5EF4-FFF2-40B4-BE49-F238E27FC236}">
                <a16:creationId xmlns:a16="http://schemas.microsoft.com/office/drawing/2014/main" id="{508C26AE-E570-B705-71A4-AA95ADCD1CCA}"/>
              </a:ext>
            </a:extLst>
          </p:cNvPr>
          <p:cNvSpPr/>
          <p:nvPr/>
        </p:nvSpPr>
        <p:spPr>
          <a:xfrm>
            <a:off x="5705094" y="2807208"/>
            <a:ext cx="1013460" cy="902513"/>
          </a:xfrm>
          <a:prstGeom prst="ellipse">
            <a:avLst/>
          </a:prstGeom>
          <a:solidFill>
            <a:schemeClr val="accent1">
              <a:alpha val="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050" dirty="0"/>
              <a:t>XOR</a:t>
            </a:r>
          </a:p>
          <a:p>
            <a:pPr algn="ctr"/>
            <a:r>
              <a:rPr lang="fr-CA" sz="600" dirty="0"/>
              <a:t>XOR bit à bit</a:t>
            </a:r>
            <a:endParaRPr lang="en-CA" sz="600" dirty="0"/>
          </a:p>
        </p:txBody>
      </p:sp>
      <p:sp>
        <p:nvSpPr>
          <p:cNvPr id="40" name="Oval 39">
            <a:extLst>
              <a:ext uri="{FF2B5EF4-FFF2-40B4-BE49-F238E27FC236}">
                <a16:creationId xmlns:a16="http://schemas.microsoft.com/office/drawing/2014/main" id="{D09F0214-6B15-F43E-FCA8-DEAD4F3E6583}"/>
              </a:ext>
            </a:extLst>
          </p:cNvPr>
          <p:cNvSpPr/>
          <p:nvPr/>
        </p:nvSpPr>
        <p:spPr>
          <a:xfrm>
            <a:off x="7805928" y="2821381"/>
            <a:ext cx="1013460" cy="902513"/>
          </a:xfrm>
          <a:prstGeom prst="ellipse">
            <a:avLst/>
          </a:prstGeom>
          <a:solidFill>
            <a:schemeClr val="accent1">
              <a:alpha val="0"/>
            </a:scheme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050" dirty="0"/>
              <a:t>ROTATE</a:t>
            </a:r>
          </a:p>
          <a:p>
            <a:pPr algn="ctr"/>
            <a:r>
              <a:rPr lang="fr-CA" sz="600" dirty="0"/>
              <a:t>Rotation de bits</a:t>
            </a:r>
            <a:endParaRPr lang="en-CA" sz="600" dirty="0"/>
          </a:p>
        </p:txBody>
      </p:sp>
      <p:sp>
        <p:nvSpPr>
          <p:cNvPr id="42" name="Oval 41">
            <a:extLst>
              <a:ext uri="{FF2B5EF4-FFF2-40B4-BE49-F238E27FC236}">
                <a16:creationId xmlns:a16="http://schemas.microsoft.com/office/drawing/2014/main" id="{213F229F-5F0E-036C-9639-4B599DCE17E1}"/>
              </a:ext>
            </a:extLst>
          </p:cNvPr>
          <p:cNvSpPr/>
          <p:nvPr/>
        </p:nvSpPr>
        <p:spPr>
          <a:xfrm>
            <a:off x="6718554" y="1328623"/>
            <a:ext cx="1013460" cy="902513"/>
          </a:xfrm>
          <a:prstGeom prst="ellipse">
            <a:avLst/>
          </a:prstGeom>
          <a:solidFill>
            <a:schemeClr val="accent1">
              <a:alpha val="0"/>
            </a:schemeClr>
          </a:solidFill>
          <a:ln>
            <a:solidFill>
              <a:srgbClr val="00F5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050" dirty="0"/>
              <a:t>ADD</a:t>
            </a:r>
          </a:p>
          <a:p>
            <a:pPr algn="ctr"/>
            <a:r>
              <a:rPr lang="fr-CA" sz="600" dirty="0"/>
              <a:t>Addition mod 2³²</a:t>
            </a:r>
            <a:endParaRPr lang="en-CA" sz="600" dirty="0"/>
          </a:p>
        </p:txBody>
      </p:sp>
      <p:cxnSp>
        <p:nvCxnSpPr>
          <p:cNvPr id="46" name="Straight Arrow Connector 45">
            <a:extLst>
              <a:ext uri="{FF2B5EF4-FFF2-40B4-BE49-F238E27FC236}">
                <a16:creationId xmlns:a16="http://schemas.microsoft.com/office/drawing/2014/main" id="{694A7448-750E-580D-8751-423AF198C78C}"/>
              </a:ext>
            </a:extLst>
          </p:cNvPr>
          <p:cNvCxnSpPr>
            <a:cxnSpLocks/>
            <a:stCxn id="36" idx="0"/>
            <a:endCxn id="42" idx="3"/>
          </p:cNvCxnSpPr>
          <p:nvPr/>
        </p:nvCxnSpPr>
        <p:spPr>
          <a:xfrm flipV="1">
            <a:off x="6211824" y="2098966"/>
            <a:ext cx="655148" cy="708242"/>
          </a:xfrm>
          <a:prstGeom prst="straightConnector1">
            <a:avLst/>
          </a:prstGeom>
          <a:ln>
            <a:solidFill>
              <a:srgbClr val="8892A4"/>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08A15CC1-42C7-9C96-6B76-3E4F60BBD6AC}"/>
              </a:ext>
            </a:extLst>
          </p:cNvPr>
          <p:cNvCxnSpPr>
            <a:cxnSpLocks/>
            <a:stCxn id="42" idx="5"/>
            <a:endCxn id="40" idx="0"/>
          </p:cNvCxnSpPr>
          <p:nvPr/>
        </p:nvCxnSpPr>
        <p:spPr>
          <a:xfrm>
            <a:off x="7583596" y="2098966"/>
            <a:ext cx="729062" cy="722415"/>
          </a:xfrm>
          <a:prstGeom prst="straightConnector1">
            <a:avLst/>
          </a:prstGeom>
          <a:ln>
            <a:solidFill>
              <a:srgbClr val="8892A4"/>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92AEF9BE-ECA8-10E3-6B8B-252F07A4E989}"/>
              </a:ext>
            </a:extLst>
          </p:cNvPr>
          <p:cNvCxnSpPr>
            <a:stCxn id="40" idx="2"/>
            <a:endCxn id="36" idx="6"/>
          </p:cNvCxnSpPr>
          <p:nvPr/>
        </p:nvCxnSpPr>
        <p:spPr>
          <a:xfrm flipH="1" flipV="1">
            <a:off x="6718554" y="3258465"/>
            <a:ext cx="1087374" cy="14173"/>
          </a:xfrm>
          <a:prstGeom prst="straightConnector1">
            <a:avLst/>
          </a:prstGeom>
          <a:ln>
            <a:solidFill>
              <a:srgbClr val="8892A4"/>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C97EA9A1-2F85-C640-523B-08FD27DEF3EF}"/>
              </a:ext>
            </a:extLst>
          </p:cNvPr>
          <p:cNvSpPr txBox="1"/>
          <p:nvPr/>
        </p:nvSpPr>
        <p:spPr>
          <a:xfrm>
            <a:off x="6264443" y="1010447"/>
            <a:ext cx="2312629" cy="307777"/>
          </a:xfrm>
          <a:prstGeom prst="rect">
            <a:avLst/>
          </a:prstGeom>
          <a:noFill/>
        </p:spPr>
        <p:txBody>
          <a:bodyPr wrap="square">
            <a:spAutoFit/>
          </a:bodyPr>
          <a:lstStyle/>
          <a:p>
            <a:r>
              <a:rPr lang="en-CA" sz="1400" b="1" i="0" dirty="0">
                <a:solidFill>
                  <a:srgbClr val="BFBFBF"/>
                </a:solidFill>
                <a:effectLst/>
                <a:latin typeface="Segoe WPC"/>
              </a:rPr>
              <a:t>Cycle ARX — 20 tours</a:t>
            </a:r>
            <a:endParaRPr lang="en-CA"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Grp="1" noRot="1" noChangeAspect="1" noMove="1" noResize="1" noEditPoints="1" noAdjustHandles="1" noChangeArrowheads="1" noChangeShapeType="1" noCrop="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256032" y="201168"/>
            <a:ext cx="548640" cy="548640"/>
          </a:xfrm>
          <a:prstGeom prst="rect">
            <a:avLst/>
          </a:prstGeom>
        </p:spPr>
      </p:pic>
      <p:pic>
        <p:nvPicPr>
          <p:cNvPr id="4" name="Image 2" descr="preencoded.png"/>
          <p:cNvPicPr>
            <a:picLocks noChangeAspect="1"/>
          </p:cNvPicPr>
          <p:nvPr/>
        </p:nvPicPr>
        <p:blipFill>
          <a:blip r:embed="rId4"/>
          <a:stretch>
            <a:fillRect/>
          </a:stretch>
        </p:blipFill>
        <p:spPr>
          <a:xfrm flipH="1">
            <a:off x="8339328" y="201168"/>
            <a:ext cx="548640" cy="548640"/>
          </a:xfrm>
          <a:prstGeom prst="rect">
            <a:avLst/>
          </a:prstGeom>
        </p:spPr>
      </p:pic>
      <p:pic>
        <p:nvPicPr>
          <p:cNvPr id="5" name="Image 3" descr="preencoded.png"/>
          <p:cNvPicPr>
            <a:picLocks noChangeAspect="1"/>
          </p:cNvPicPr>
          <p:nvPr/>
        </p:nvPicPr>
        <p:blipFill>
          <a:blip r:embed="rId4"/>
          <a:stretch>
            <a:fillRect/>
          </a:stretch>
        </p:blipFill>
        <p:spPr>
          <a:xfrm flipV="1">
            <a:off x="256032" y="4393692"/>
            <a:ext cx="548640" cy="548640"/>
          </a:xfrm>
          <a:prstGeom prst="rect">
            <a:avLst/>
          </a:prstGeom>
        </p:spPr>
      </p:pic>
      <p:pic>
        <p:nvPicPr>
          <p:cNvPr id="6" name="Image 4" descr="preencoded.png"/>
          <p:cNvPicPr>
            <a:picLocks noChangeAspect="1"/>
          </p:cNvPicPr>
          <p:nvPr/>
        </p:nvPicPr>
        <p:blipFill>
          <a:blip r:embed="rId4"/>
          <a:stretch>
            <a:fillRect/>
          </a:stretch>
        </p:blipFill>
        <p:spPr>
          <a:xfrm flipH="1" flipV="1">
            <a:off x="8339328" y="4393692"/>
            <a:ext cx="548640" cy="548640"/>
          </a:xfrm>
          <a:prstGeom prst="rect">
            <a:avLst/>
          </a:prstGeom>
        </p:spPr>
      </p:pic>
      <p:pic>
        <p:nvPicPr>
          <p:cNvPr id="7" name="Image 5" descr="preencoded.png"/>
          <p:cNvPicPr>
            <a:picLocks noChangeAspect="1"/>
          </p:cNvPicPr>
          <p:nvPr/>
        </p:nvPicPr>
        <p:blipFill>
          <a:blip r:embed="rId5">
            <a:alphaModFix amt="80000"/>
          </a:blip>
          <a:stretch>
            <a:fillRect/>
          </a:stretch>
        </p:blipFill>
        <p:spPr>
          <a:xfrm>
            <a:off x="566928" y="256032"/>
            <a:ext cx="256032" cy="256032"/>
          </a:xfrm>
          <a:prstGeom prst="rect">
            <a:avLst/>
          </a:prstGeom>
        </p:spPr>
      </p:pic>
      <p:sp>
        <p:nvSpPr>
          <p:cNvPr id="8" name="Text 0"/>
          <p:cNvSpPr/>
          <p:nvPr/>
        </p:nvSpPr>
        <p:spPr>
          <a:xfrm>
            <a:off x="868680" y="256032"/>
            <a:ext cx="4572000" cy="274320"/>
          </a:xfrm>
          <a:prstGeom prst="rect">
            <a:avLst/>
          </a:prstGeom>
          <a:noFill/>
          <a:ln/>
        </p:spPr>
        <p:txBody>
          <a:bodyPr wrap="square" rtlCol="0" anchor="ctr"/>
          <a:lstStyle/>
          <a:p>
            <a:pPr marL="0" indent="0">
              <a:buNone/>
            </a:pPr>
            <a:r>
              <a:rPr lang="en-US" sz="1000" b="1" kern="0" spc="50" dirty="0">
                <a:solidFill>
                  <a:srgbClr val="00F5FF"/>
                </a:solidFill>
                <a:latin typeface="Calibri" pitchFamily="34" charset="0"/>
                <a:ea typeface="Calibri" pitchFamily="34" charset="-122"/>
                <a:cs typeface="Calibri" pitchFamily="34" charset="-120"/>
              </a:rPr>
              <a:t>04  </a:t>
            </a:r>
            <a:r>
              <a:rPr lang="en-US" sz="1000" kern="0" spc="50" dirty="0">
                <a:solidFill>
                  <a:srgbClr val="8892A4"/>
                </a:solidFill>
                <a:latin typeface="Calibri" pitchFamily="34" charset="0"/>
                <a:ea typeface="Calibri" pitchFamily="34" charset="-122"/>
                <a:cs typeface="Calibri" pitchFamily="34" charset="-120"/>
              </a:rPr>
              <a:t>Résultats de performance</a:t>
            </a:r>
            <a:endParaRPr lang="en-US" sz="1000" dirty="0"/>
          </a:p>
        </p:txBody>
      </p:sp>
      <p:sp>
        <p:nvSpPr>
          <p:cNvPr id="9" name="Text 1"/>
          <p:cNvSpPr/>
          <p:nvPr/>
        </p:nvSpPr>
        <p:spPr>
          <a:xfrm>
            <a:off x="566928" y="566928"/>
            <a:ext cx="77724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ChaCha20 vs AES — Pourquoi ce choix existe</a:t>
            </a:r>
            <a:endParaRPr lang="en-US" sz="2400" dirty="0"/>
          </a:p>
        </p:txBody>
      </p:sp>
      <p:sp>
        <p:nvSpPr>
          <p:cNvPr id="10" name="Text 2"/>
          <p:cNvSpPr/>
          <p:nvPr/>
        </p:nvSpPr>
        <p:spPr>
          <a:xfrm>
            <a:off x="566928" y="1078992"/>
            <a:ext cx="7772400" cy="274320"/>
          </a:xfrm>
          <a:prstGeom prst="rect">
            <a:avLst/>
          </a:prstGeom>
          <a:noFill/>
          <a:ln/>
        </p:spPr>
        <p:txBody>
          <a:bodyPr wrap="square" rtlCol="0" anchor="ctr"/>
          <a:lstStyle/>
          <a:p>
            <a:pPr marL="0" indent="0">
              <a:buNone/>
            </a:pPr>
            <a:r>
              <a:rPr lang="en-US" sz="1050" i="1" dirty="0">
                <a:solidFill>
                  <a:srgbClr val="8892A4"/>
                </a:solidFill>
                <a:latin typeface="Calibri" pitchFamily="34" charset="0"/>
                <a:ea typeface="Calibri" pitchFamily="34" charset="-122"/>
                <a:cs typeface="Calibri" pitchFamily="34" charset="-120"/>
              </a:rPr>
              <a:t>ChaCha20 a été conçu précisément pour corriger les faiblesses d'AES sur ARM.</a:t>
            </a:r>
            <a:endParaRPr lang="en-US" sz="1050" dirty="0"/>
          </a:p>
        </p:txBody>
      </p:sp>
      <p:sp>
        <p:nvSpPr>
          <p:cNvPr id="11" name="Shape 3"/>
          <p:cNvSpPr>
            <a:spLocks/>
          </p:cNvSpPr>
          <p:nvPr/>
        </p:nvSpPr>
        <p:spPr>
          <a:xfrm>
            <a:off x="566928" y="1371600"/>
            <a:ext cx="7680960" cy="393192"/>
          </a:xfrm>
          <a:prstGeom prst="roundRect">
            <a:avLst>
              <a:gd name="adj" fmla="val 9302"/>
            </a:avLst>
          </a:prstGeom>
          <a:solidFill>
            <a:srgbClr val="0D1E35"/>
          </a:solidFill>
          <a:ln w="6350">
            <a:solidFill>
              <a:srgbClr val="1A3A55"/>
            </a:solidFill>
            <a:prstDash val="solid"/>
          </a:ln>
        </p:spPr>
        <p:txBody>
          <a:bodyPr/>
          <a:lstStyle/>
          <a:p>
            <a:endParaRPr lang="en-CA"/>
          </a:p>
        </p:txBody>
      </p:sp>
      <p:sp>
        <p:nvSpPr>
          <p:cNvPr id="12" name="Text 4"/>
          <p:cNvSpPr/>
          <p:nvPr/>
        </p:nvSpPr>
        <p:spPr>
          <a:xfrm>
            <a:off x="694944" y="1371600"/>
            <a:ext cx="2377440" cy="393192"/>
          </a:xfrm>
          <a:prstGeom prst="rect">
            <a:avLst/>
          </a:prstGeom>
          <a:noFill/>
          <a:ln/>
        </p:spPr>
        <p:txBody>
          <a:bodyPr wrap="square" lIns="0" tIns="0" rIns="0" bIns="0" rtlCol="0" anchor="ctr"/>
          <a:lstStyle/>
          <a:p>
            <a:pPr marL="0" indent="0" algn="l">
              <a:buNone/>
            </a:pPr>
            <a:r>
              <a:rPr lang="en-US" sz="1100" b="1" dirty="0">
                <a:solidFill>
                  <a:srgbClr val="8892A4"/>
                </a:solidFill>
                <a:latin typeface="Calibri" pitchFamily="34" charset="0"/>
                <a:ea typeface="Calibri" pitchFamily="34" charset="-122"/>
                <a:cs typeface="Calibri" pitchFamily="34" charset="-120"/>
              </a:rPr>
              <a:t>Critère</a:t>
            </a:r>
            <a:endParaRPr lang="en-US" sz="1100" dirty="0"/>
          </a:p>
        </p:txBody>
      </p:sp>
      <p:sp>
        <p:nvSpPr>
          <p:cNvPr id="13" name="Text 5"/>
          <p:cNvSpPr/>
          <p:nvPr/>
        </p:nvSpPr>
        <p:spPr>
          <a:xfrm>
            <a:off x="2944368" y="1371600"/>
            <a:ext cx="2651760" cy="393192"/>
          </a:xfrm>
          <a:prstGeom prst="rect">
            <a:avLst/>
          </a:prstGeom>
          <a:noFill/>
          <a:ln/>
        </p:spPr>
        <p:txBody>
          <a:bodyPr wrap="square" lIns="0" tIns="0" rIns="0" bIns="0" rtlCol="0" anchor="ctr"/>
          <a:lstStyle/>
          <a:p>
            <a:pPr marL="0" indent="0" algn="ctr">
              <a:buNone/>
            </a:pPr>
            <a:r>
              <a:rPr lang="en-US" sz="1100" b="1" dirty="0">
                <a:solidFill>
                  <a:srgbClr val="00F5FF"/>
                </a:solidFill>
                <a:latin typeface="Calibri" pitchFamily="34" charset="0"/>
                <a:ea typeface="Calibri" pitchFamily="34" charset="-122"/>
                <a:cs typeface="Calibri" pitchFamily="34" charset="-120"/>
              </a:rPr>
              <a:t>AES</a:t>
            </a:r>
            <a:endParaRPr lang="en-US" sz="1100" dirty="0"/>
          </a:p>
        </p:txBody>
      </p:sp>
      <p:sp>
        <p:nvSpPr>
          <p:cNvPr id="14" name="Text 6"/>
          <p:cNvSpPr/>
          <p:nvPr/>
        </p:nvSpPr>
        <p:spPr>
          <a:xfrm>
            <a:off x="5596128" y="1371600"/>
            <a:ext cx="2651760" cy="393192"/>
          </a:xfrm>
          <a:prstGeom prst="rect">
            <a:avLst/>
          </a:prstGeom>
          <a:noFill/>
          <a:ln/>
        </p:spPr>
        <p:txBody>
          <a:bodyPr wrap="square" lIns="0" tIns="0" rIns="0" bIns="0" rtlCol="0" anchor="ctr"/>
          <a:lstStyle/>
          <a:p>
            <a:pPr marL="0" indent="0" algn="ctr">
              <a:buNone/>
            </a:pPr>
            <a:r>
              <a:rPr lang="en-US" sz="1100" b="1" dirty="0">
                <a:solidFill>
                  <a:srgbClr val="9B6DFF"/>
                </a:solidFill>
                <a:latin typeface="Calibri" pitchFamily="34" charset="0"/>
                <a:ea typeface="Calibri" pitchFamily="34" charset="-122"/>
                <a:cs typeface="Calibri" pitchFamily="34" charset="-120"/>
              </a:rPr>
              <a:t>ChaCha20</a:t>
            </a:r>
            <a:endParaRPr lang="en-US" sz="1100" dirty="0"/>
          </a:p>
        </p:txBody>
      </p:sp>
      <p:sp>
        <p:nvSpPr>
          <p:cNvPr id="15" name="Shape 7"/>
          <p:cNvSpPr/>
          <p:nvPr/>
        </p:nvSpPr>
        <p:spPr>
          <a:xfrm>
            <a:off x="566928" y="1764792"/>
            <a:ext cx="7680960" cy="393192"/>
          </a:xfrm>
          <a:prstGeom prst="rect">
            <a:avLst/>
          </a:prstGeom>
          <a:solidFill>
            <a:srgbClr val="080F1E"/>
          </a:solidFill>
          <a:ln w="6350">
            <a:solidFill>
              <a:srgbClr val="0F1E30"/>
            </a:solidFill>
            <a:prstDash val="solid"/>
          </a:ln>
        </p:spPr>
        <p:txBody>
          <a:bodyPr/>
          <a:lstStyle/>
          <a:p>
            <a:endParaRPr lang="en-CA"/>
          </a:p>
        </p:txBody>
      </p:sp>
      <p:sp>
        <p:nvSpPr>
          <p:cNvPr id="16" name="Text 8"/>
          <p:cNvSpPr/>
          <p:nvPr/>
        </p:nvSpPr>
        <p:spPr>
          <a:xfrm>
            <a:off x="694944" y="1764792"/>
            <a:ext cx="2249424" cy="393192"/>
          </a:xfrm>
          <a:prstGeom prst="rect">
            <a:avLst/>
          </a:prstGeom>
          <a:noFill/>
          <a:ln/>
        </p:spPr>
        <p:txBody>
          <a:bodyPr wrap="square" lIns="0" tIns="0" rIns="0" bIns="0" rtlCol="0" anchor="ctr"/>
          <a:lstStyle/>
          <a:p>
            <a:pPr marL="0" indent="0">
              <a:buNone/>
            </a:pPr>
            <a:r>
              <a:rPr lang="en-US" sz="1000" dirty="0">
                <a:solidFill>
                  <a:srgbClr val="8892A4"/>
                </a:solidFill>
                <a:latin typeface="Calibri" pitchFamily="34" charset="0"/>
                <a:ea typeface="Calibri" pitchFamily="34" charset="-122"/>
                <a:cs typeface="Calibri" pitchFamily="34" charset="-120"/>
              </a:rPr>
              <a:t>Opérations</a:t>
            </a:r>
            <a:endParaRPr lang="en-US" sz="1000" dirty="0"/>
          </a:p>
        </p:txBody>
      </p:sp>
      <p:sp>
        <p:nvSpPr>
          <p:cNvPr id="17" name="Text 9"/>
          <p:cNvSpPr/>
          <p:nvPr/>
        </p:nvSpPr>
        <p:spPr>
          <a:xfrm>
            <a:off x="2944368" y="1764792"/>
            <a:ext cx="2651760" cy="393192"/>
          </a:xfrm>
          <a:prstGeom prst="rect">
            <a:avLst/>
          </a:prstGeom>
          <a:noFill/>
          <a:ln/>
        </p:spPr>
        <p:txBody>
          <a:bodyPr wrap="square" lIns="0" tIns="0" rIns="0" bIns="0" rtlCol="0" anchor="ctr"/>
          <a:lstStyle/>
          <a:p>
            <a:pPr marL="0" indent="0" algn="ctr">
              <a:buNone/>
            </a:pPr>
            <a:r>
              <a:rPr lang="en-US" sz="1000" dirty="0">
                <a:solidFill>
                  <a:srgbClr val="5A7090"/>
                </a:solidFill>
                <a:latin typeface="Calibri" pitchFamily="34" charset="0"/>
                <a:ea typeface="Calibri" pitchFamily="34" charset="-122"/>
                <a:cs typeface="Calibri" pitchFamily="34" charset="-120"/>
              </a:rPr>
              <a:t>S-Box (table lookup)</a:t>
            </a:r>
            <a:endParaRPr lang="en-US" sz="1000" dirty="0"/>
          </a:p>
        </p:txBody>
      </p:sp>
      <p:sp>
        <p:nvSpPr>
          <p:cNvPr id="18" name="Text 10"/>
          <p:cNvSpPr/>
          <p:nvPr/>
        </p:nvSpPr>
        <p:spPr>
          <a:xfrm>
            <a:off x="5596128" y="1764792"/>
            <a:ext cx="2651760" cy="393192"/>
          </a:xfrm>
          <a:prstGeom prst="rect">
            <a:avLst/>
          </a:prstGeom>
          <a:noFill/>
          <a:ln/>
        </p:spPr>
        <p:txBody>
          <a:bodyPr wrap="square" lIns="0" tIns="0" rIns="0" bIns="0" rtlCol="0" anchor="ctr"/>
          <a:lstStyle/>
          <a:p>
            <a:pPr marL="0" indent="0" algn="ctr">
              <a:buNone/>
            </a:pPr>
            <a:r>
              <a:rPr lang="en-US" sz="1000" b="1" dirty="0">
                <a:solidFill>
                  <a:srgbClr val="9B6DFF"/>
                </a:solidFill>
                <a:latin typeface="Calibri" pitchFamily="34" charset="0"/>
                <a:ea typeface="Calibri" pitchFamily="34" charset="-122"/>
                <a:cs typeface="Calibri" pitchFamily="34" charset="-120"/>
              </a:rPr>
              <a:t>ARX — opérations natives</a:t>
            </a:r>
            <a:endParaRPr lang="en-US" sz="1000" dirty="0"/>
          </a:p>
        </p:txBody>
      </p:sp>
      <p:sp>
        <p:nvSpPr>
          <p:cNvPr id="19" name="Shape 11"/>
          <p:cNvSpPr/>
          <p:nvPr/>
        </p:nvSpPr>
        <p:spPr>
          <a:xfrm>
            <a:off x="566928" y="2157984"/>
            <a:ext cx="7680960" cy="393192"/>
          </a:xfrm>
          <a:prstGeom prst="rect">
            <a:avLst/>
          </a:prstGeom>
          <a:solidFill>
            <a:srgbClr val="060B14"/>
          </a:solidFill>
          <a:ln w="6350">
            <a:solidFill>
              <a:srgbClr val="0F1E30"/>
            </a:solidFill>
            <a:prstDash val="solid"/>
          </a:ln>
        </p:spPr>
        <p:txBody>
          <a:bodyPr/>
          <a:lstStyle/>
          <a:p>
            <a:endParaRPr lang="en-CA"/>
          </a:p>
        </p:txBody>
      </p:sp>
      <p:sp>
        <p:nvSpPr>
          <p:cNvPr id="20" name="Text 12"/>
          <p:cNvSpPr/>
          <p:nvPr/>
        </p:nvSpPr>
        <p:spPr>
          <a:xfrm>
            <a:off x="694944" y="2157984"/>
            <a:ext cx="2249424" cy="393192"/>
          </a:xfrm>
          <a:prstGeom prst="rect">
            <a:avLst/>
          </a:prstGeom>
          <a:noFill/>
          <a:ln/>
        </p:spPr>
        <p:txBody>
          <a:bodyPr wrap="square" lIns="0" tIns="0" rIns="0" bIns="0" rtlCol="0" anchor="ctr"/>
          <a:lstStyle/>
          <a:p>
            <a:pPr marL="0" indent="0">
              <a:buNone/>
            </a:pPr>
            <a:r>
              <a:rPr lang="en-US" sz="1000" dirty="0">
                <a:solidFill>
                  <a:srgbClr val="8892A4"/>
                </a:solidFill>
                <a:latin typeface="Calibri" pitchFamily="34" charset="0"/>
                <a:ea typeface="Calibri" pitchFamily="34" charset="-122"/>
                <a:cs typeface="Calibri" pitchFamily="34" charset="-120"/>
              </a:rPr>
              <a:t>Accélération HW</a:t>
            </a:r>
            <a:endParaRPr lang="en-US" sz="1000" dirty="0"/>
          </a:p>
        </p:txBody>
      </p:sp>
      <p:sp>
        <p:nvSpPr>
          <p:cNvPr id="21" name="Text 13"/>
          <p:cNvSpPr/>
          <p:nvPr/>
        </p:nvSpPr>
        <p:spPr>
          <a:xfrm>
            <a:off x="2944368" y="2157984"/>
            <a:ext cx="2651760" cy="393192"/>
          </a:xfrm>
          <a:prstGeom prst="rect">
            <a:avLst/>
          </a:prstGeom>
          <a:noFill/>
          <a:ln/>
        </p:spPr>
        <p:txBody>
          <a:bodyPr wrap="square" lIns="0" tIns="0" rIns="0" bIns="0" rtlCol="0" anchor="ctr"/>
          <a:lstStyle/>
          <a:p>
            <a:pPr marL="0" indent="0" algn="ctr">
              <a:buNone/>
            </a:pPr>
            <a:r>
              <a:rPr lang="en-US" sz="1000" dirty="0">
                <a:solidFill>
                  <a:srgbClr val="5A7090"/>
                </a:solidFill>
                <a:latin typeface="Calibri" pitchFamily="34" charset="0"/>
                <a:ea typeface="Calibri" pitchFamily="34" charset="-122"/>
                <a:cs typeface="Calibri" pitchFamily="34" charset="-120"/>
              </a:rPr>
              <a:t>AES-NI requis</a:t>
            </a:r>
            <a:endParaRPr lang="en-US" sz="1000" dirty="0"/>
          </a:p>
        </p:txBody>
      </p:sp>
      <p:sp>
        <p:nvSpPr>
          <p:cNvPr id="22" name="Text 14"/>
          <p:cNvSpPr/>
          <p:nvPr/>
        </p:nvSpPr>
        <p:spPr>
          <a:xfrm>
            <a:off x="5596128" y="2157984"/>
            <a:ext cx="2651760" cy="393192"/>
          </a:xfrm>
          <a:prstGeom prst="rect">
            <a:avLst/>
          </a:prstGeom>
          <a:noFill/>
          <a:ln/>
        </p:spPr>
        <p:txBody>
          <a:bodyPr wrap="square" lIns="0" tIns="0" rIns="0" bIns="0" rtlCol="0" anchor="ctr"/>
          <a:lstStyle/>
          <a:p>
            <a:pPr marL="0" indent="0" algn="ctr">
              <a:buNone/>
            </a:pPr>
            <a:r>
              <a:rPr lang="en-US" sz="1000" b="1" dirty="0">
                <a:solidFill>
                  <a:srgbClr val="9B6DFF"/>
                </a:solidFill>
                <a:latin typeface="Calibri" pitchFamily="34" charset="0"/>
                <a:ea typeface="Calibri" pitchFamily="34" charset="-122"/>
                <a:cs typeface="Calibri" pitchFamily="34" charset="-120"/>
              </a:rPr>
              <a:t>Aucune nécessaire</a:t>
            </a:r>
            <a:endParaRPr lang="en-US" sz="1000" dirty="0"/>
          </a:p>
        </p:txBody>
      </p:sp>
      <p:sp>
        <p:nvSpPr>
          <p:cNvPr id="23" name="Shape 15"/>
          <p:cNvSpPr/>
          <p:nvPr/>
        </p:nvSpPr>
        <p:spPr>
          <a:xfrm>
            <a:off x="566928" y="2551176"/>
            <a:ext cx="7680960" cy="393192"/>
          </a:xfrm>
          <a:prstGeom prst="rect">
            <a:avLst/>
          </a:prstGeom>
          <a:solidFill>
            <a:srgbClr val="080F1E"/>
          </a:solidFill>
          <a:ln w="6350">
            <a:solidFill>
              <a:srgbClr val="0F1E30"/>
            </a:solidFill>
            <a:prstDash val="solid"/>
          </a:ln>
        </p:spPr>
        <p:txBody>
          <a:bodyPr/>
          <a:lstStyle/>
          <a:p>
            <a:endParaRPr lang="en-CA"/>
          </a:p>
        </p:txBody>
      </p:sp>
      <p:sp>
        <p:nvSpPr>
          <p:cNvPr id="24" name="Text 16"/>
          <p:cNvSpPr/>
          <p:nvPr/>
        </p:nvSpPr>
        <p:spPr>
          <a:xfrm>
            <a:off x="694944" y="2551176"/>
            <a:ext cx="2249424" cy="393192"/>
          </a:xfrm>
          <a:prstGeom prst="rect">
            <a:avLst/>
          </a:prstGeom>
          <a:noFill/>
          <a:ln/>
        </p:spPr>
        <p:txBody>
          <a:bodyPr wrap="square" lIns="0" tIns="0" rIns="0" bIns="0" rtlCol="0" anchor="ctr"/>
          <a:lstStyle/>
          <a:p>
            <a:pPr marL="0" indent="0">
              <a:buNone/>
            </a:pPr>
            <a:r>
              <a:rPr lang="en-US" sz="1000" dirty="0">
                <a:solidFill>
                  <a:srgbClr val="8892A4"/>
                </a:solidFill>
                <a:latin typeface="Calibri" pitchFamily="34" charset="0"/>
                <a:ea typeface="Calibri" pitchFamily="34" charset="-122"/>
                <a:cs typeface="Calibri" pitchFamily="34" charset="-120"/>
              </a:rPr>
              <a:t>Vulnérabilité timing</a:t>
            </a:r>
            <a:endParaRPr lang="en-US" sz="1000" dirty="0"/>
          </a:p>
        </p:txBody>
      </p:sp>
      <p:sp>
        <p:nvSpPr>
          <p:cNvPr id="25" name="Text 17"/>
          <p:cNvSpPr/>
          <p:nvPr/>
        </p:nvSpPr>
        <p:spPr>
          <a:xfrm>
            <a:off x="2944368" y="2551176"/>
            <a:ext cx="2651760" cy="393192"/>
          </a:xfrm>
          <a:prstGeom prst="rect">
            <a:avLst/>
          </a:prstGeom>
          <a:noFill/>
          <a:ln/>
        </p:spPr>
        <p:txBody>
          <a:bodyPr wrap="square" lIns="0" tIns="0" rIns="0" bIns="0" rtlCol="0" anchor="ctr"/>
          <a:lstStyle/>
          <a:p>
            <a:pPr marL="0" indent="0" algn="ctr">
              <a:buNone/>
            </a:pPr>
            <a:r>
              <a:rPr lang="en-US" sz="1000" dirty="0">
                <a:solidFill>
                  <a:srgbClr val="5A7090"/>
                </a:solidFill>
                <a:latin typeface="Calibri" pitchFamily="34" charset="0"/>
                <a:ea typeface="Calibri" pitchFamily="34" charset="-122"/>
                <a:cs typeface="Calibri" pitchFamily="34" charset="-120"/>
              </a:rPr>
              <a:t>Possible sans AES-NI</a:t>
            </a:r>
            <a:endParaRPr lang="en-US" sz="1000" dirty="0"/>
          </a:p>
        </p:txBody>
      </p:sp>
      <p:sp>
        <p:nvSpPr>
          <p:cNvPr id="26" name="Text 18"/>
          <p:cNvSpPr/>
          <p:nvPr/>
        </p:nvSpPr>
        <p:spPr>
          <a:xfrm>
            <a:off x="5596128" y="2551176"/>
            <a:ext cx="2651760" cy="393192"/>
          </a:xfrm>
          <a:prstGeom prst="rect">
            <a:avLst/>
          </a:prstGeom>
          <a:noFill/>
          <a:ln/>
        </p:spPr>
        <p:txBody>
          <a:bodyPr wrap="square" lIns="0" tIns="0" rIns="0" bIns="0" rtlCol="0" anchor="ctr"/>
          <a:lstStyle/>
          <a:p>
            <a:pPr marL="0" indent="0" algn="ctr">
              <a:buNone/>
            </a:pPr>
            <a:r>
              <a:rPr lang="en-US" sz="1000" b="1" dirty="0">
                <a:solidFill>
                  <a:srgbClr val="9B6DFF"/>
                </a:solidFill>
                <a:latin typeface="Calibri" pitchFamily="34" charset="0"/>
                <a:ea typeface="Calibri" pitchFamily="34" charset="-122"/>
                <a:cs typeface="Calibri" pitchFamily="34" charset="-120"/>
              </a:rPr>
              <a:t>Constant-time par design</a:t>
            </a:r>
            <a:endParaRPr lang="en-US" sz="1000" dirty="0"/>
          </a:p>
        </p:txBody>
      </p:sp>
      <p:sp>
        <p:nvSpPr>
          <p:cNvPr id="27" name="Shape 19"/>
          <p:cNvSpPr/>
          <p:nvPr/>
        </p:nvSpPr>
        <p:spPr>
          <a:xfrm>
            <a:off x="566928" y="2944368"/>
            <a:ext cx="7680960" cy="393192"/>
          </a:xfrm>
          <a:prstGeom prst="rect">
            <a:avLst/>
          </a:prstGeom>
          <a:solidFill>
            <a:srgbClr val="060B14"/>
          </a:solidFill>
          <a:ln w="6350">
            <a:solidFill>
              <a:srgbClr val="0F1E30"/>
            </a:solidFill>
            <a:prstDash val="solid"/>
          </a:ln>
        </p:spPr>
        <p:txBody>
          <a:bodyPr/>
          <a:lstStyle/>
          <a:p>
            <a:endParaRPr lang="en-CA"/>
          </a:p>
        </p:txBody>
      </p:sp>
      <p:sp>
        <p:nvSpPr>
          <p:cNvPr id="28" name="Text 20"/>
          <p:cNvSpPr/>
          <p:nvPr/>
        </p:nvSpPr>
        <p:spPr>
          <a:xfrm>
            <a:off x="694944" y="2944368"/>
            <a:ext cx="2249424" cy="393192"/>
          </a:xfrm>
          <a:prstGeom prst="rect">
            <a:avLst/>
          </a:prstGeom>
          <a:noFill/>
          <a:ln/>
        </p:spPr>
        <p:txBody>
          <a:bodyPr wrap="square" lIns="0" tIns="0" rIns="0" bIns="0" rtlCol="0" anchor="ctr"/>
          <a:lstStyle/>
          <a:p>
            <a:pPr marL="0" indent="0">
              <a:buNone/>
            </a:pPr>
            <a:r>
              <a:rPr lang="en-US" sz="1000" dirty="0">
                <a:solidFill>
                  <a:srgbClr val="8892A4"/>
                </a:solidFill>
                <a:latin typeface="Calibri" pitchFamily="34" charset="0"/>
                <a:ea typeface="Calibri" pitchFamily="34" charset="-122"/>
                <a:cs typeface="Calibri" pitchFamily="34" charset="-120"/>
              </a:rPr>
              <a:t>Performance ARM</a:t>
            </a:r>
            <a:endParaRPr lang="en-US" sz="1000" dirty="0"/>
          </a:p>
        </p:txBody>
      </p:sp>
      <p:sp>
        <p:nvSpPr>
          <p:cNvPr id="29" name="Text 21"/>
          <p:cNvSpPr/>
          <p:nvPr/>
        </p:nvSpPr>
        <p:spPr>
          <a:xfrm>
            <a:off x="2944368" y="2944368"/>
            <a:ext cx="2651760" cy="393192"/>
          </a:xfrm>
          <a:prstGeom prst="rect">
            <a:avLst/>
          </a:prstGeom>
          <a:noFill/>
          <a:ln/>
        </p:spPr>
        <p:txBody>
          <a:bodyPr wrap="square" lIns="0" tIns="0" rIns="0" bIns="0" rtlCol="0" anchor="ctr"/>
          <a:lstStyle/>
          <a:p>
            <a:pPr marL="0" indent="0" algn="ctr">
              <a:buNone/>
            </a:pPr>
            <a:r>
              <a:rPr lang="en-US" sz="1000" dirty="0">
                <a:solidFill>
                  <a:srgbClr val="5A7090"/>
                </a:solidFill>
                <a:latin typeface="Calibri" pitchFamily="34" charset="0"/>
                <a:ea typeface="Calibri" pitchFamily="34" charset="-122"/>
                <a:cs typeface="Calibri" pitchFamily="34" charset="-120"/>
              </a:rPr>
              <a:t>Pénalisé sans NI</a:t>
            </a:r>
            <a:endParaRPr lang="en-US" sz="1000" dirty="0"/>
          </a:p>
        </p:txBody>
      </p:sp>
      <p:sp>
        <p:nvSpPr>
          <p:cNvPr id="30" name="Text 22"/>
          <p:cNvSpPr/>
          <p:nvPr/>
        </p:nvSpPr>
        <p:spPr>
          <a:xfrm>
            <a:off x="5596128" y="2944368"/>
            <a:ext cx="2651760" cy="393192"/>
          </a:xfrm>
          <a:prstGeom prst="rect">
            <a:avLst/>
          </a:prstGeom>
          <a:noFill/>
          <a:ln/>
        </p:spPr>
        <p:txBody>
          <a:bodyPr wrap="square" lIns="0" tIns="0" rIns="0" bIns="0" rtlCol="0" anchor="ctr"/>
          <a:lstStyle/>
          <a:p>
            <a:pPr marL="0" indent="0" algn="ctr">
              <a:buNone/>
            </a:pPr>
            <a:r>
              <a:rPr lang="en-US" sz="1000" b="1" dirty="0">
                <a:solidFill>
                  <a:srgbClr val="9B6DFF"/>
                </a:solidFill>
                <a:latin typeface="Calibri" pitchFamily="34" charset="0"/>
                <a:ea typeface="Calibri" pitchFamily="34" charset="-122"/>
                <a:cs typeface="Calibri" pitchFamily="34" charset="-120"/>
              </a:rPr>
              <a:t>Natif et efficace</a:t>
            </a:r>
            <a:endParaRPr lang="en-US" sz="1000" dirty="0"/>
          </a:p>
        </p:txBody>
      </p:sp>
      <p:sp>
        <p:nvSpPr>
          <p:cNvPr id="31" name="Shape 23"/>
          <p:cNvSpPr/>
          <p:nvPr/>
        </p:nvSpPr>
        <p:spPr>
          <a:xfrm>
            <a:off x="566928" y="3337560"/>
            <a:ext cx="7680960" cy="393192"/>
          </a:xfrm>
          <a:prstGeom prst="rect">
            <a:avLst/>
          </a:prstGeom>
          <a:solidFill>
            <a:srgbClr val="080F1E"/>
          </a:solidFill>
          <a:ln w="6350">
            <a:solidFill>
              <a:srgbClr val="0F1E30"/>
            </a:solidFill>
            <a:prstDash val="solid"/>
          </a:ln>
        </p:spPr>
        <p:txBody>
          <a:bodyPr/>
          <a:lstStyle/>
          <a:p>
            <a:endParaRPr lang="en-CA"/>
          </a:p>
        </p:txBody>
      </p:sp>
      <p:sp>
        <p:nvSpPr>
          <p:cNvPr id="32" name="Text 24"/>
          <p:cNvSpPr/>
          <p:nvPr/>
        </p:nvSpPr>
        <p:spPr>
          <a:xfrm>
            <a:off x="694944" y="3337560"/>
            <a:ext cx="2249424" cy="393192"/>
          </a:xfrm>
          <a:prstGeom prst="rect">
            <a:avLst/>
          </a:prstGeom>
          <a:noFill/>
          <a:ln/>
        </p:spPr>
        <p:txBody>
          <a:bodyPr wrap="square" lIns="0" tIns="0" rIns="0" bIns="0" rtlCol="0" anchor="ctr"/>
          <a:lstStyle/>
          <a:p>
            <a:pPr marL="0" indent="0">
              <a:buNone/>
            </a:pPr>
            <a:r>
              <a:rPr lang="en-US" sz="1000" dirty="0">
                <a:solidFill>
                  <a:srgbClr val="8892A4"/>
                </a:solidFill>
                <a:latin typeface="Calibri" pitchFamily="34" charset="0"/>
                <a:ea typeface="Calibri" pitchFamily="34" charset="-122"/>
                <a:cs typeface="Calibri" pitchFamily="34" charset="-120"/>
              </a:rPr>
              <a:t>Débit sur Pi (mesuré)</a:t>
            </a:r>
            <a:endParaRPr lang="en-US" sz="1000" dirty="0"/>
          </a:p>
        </p:txBody>
      </p:sp>
      <p:sp>
        <p:nvSpPr>
          <p:cNvPr id="33" name="Text 25"/>
          <p:cNvSpPr/>
          <p:nvPr/>
        </p:nvSpPr>
        <p:spPr>
          <a:xfrm>
            <a:off x="2944368" y="3337560"/>
            <a:ext cx="2651760" cy="393192"/>
          </a:xfrm>
          <a:prstGeom prst="rect">
            <a:avLst/>
          </a:prstGeom>
          <a:noFill/>
          <a:ln/>
        </p:spPr>
        <p:txBody>
          <a:bodyPr wrap="square" lIns="0" tIns="0" rIns="0" bIns="0" rtlCol="0" anchor="ctr"/>
          <a:lstStyle/>
          <a:p>
            <a:pPr marL="0" indent="0" algn="ctr">
              <a:buNone/>
            </a:pPr>
            <a:r>
              <a:rPr lang="en-US" sz="1000" dirty="0">
                <a:solidFill>
                  <a:srgbClr val="5A7090"/>
                </a:solidFill>
                <a:latin typeface="Calibri" pitchFamily="34" charset="0"/>
                <a:ea typeface="Calibri" pitchFamily="34" charset="-122"/>
                <a:cs typeface="Calibri" pitchFamily="34" charset="-120"/>
              </a:rPr>
              <a:t>6.4 MB/s (GCM)</a:t>
            </a:r>
            <a:endParaRPr lang="en-US" sz="1000" dirty="0"/>
          </a:p>
        </p:txBody>
      </p:sp>
      <p:sp>
        <p:nvSpPr>
          <p:cNvPr id="34" name="Text 26"/>
          <p:cNvSpPr/>
          <p:nvPr/>
        </p:nvSpPr>
        <p:spPr>
          <a:xfrm>
            <a:off x="5596128" y="3337560"/>
            <a:ext cx="2651760" cy="393192"/>
          </a:xfrm>
          <a:prstGeom prst="rect">
            <a:avLst/>
          </a:prstGeom>
          <a:noFill/>
          <a:ln/>
        </p:spPr>
        <p:txBody>
          <a:bodyPr wrap="square" lIns="0" tIns="0" rIns="0" bIns="0" rtlCol="0" anchor="ctr"/>
          <a:lstStyle/>
          <a:p>
            <a:pPr marL="0" indent="0" algn="ctr">
              <a:buNone/>
            </a:pPr>
            <a:r>
              <a:rPr lang="en-US" sz="1000" b="1" dirty="0">
                <a:solidFill>
                  <a:srgbClr val="9B6DFF"/>
                </a:solidFill>
                <a:latin typeface="Calibri" pitchFamily="34" charset="0"/>
                <a:ea typeface="Calibri" pitchFamily="34" charset="-122"/>
                <a:cs typeface="Calibri" pitchFamily="34" charset="-120"/>
              </a:rPr>
              <a:t>58 MB/s — 9.1× plus rapide</a:t>
            </a:r>
            <a:endParaRPr lang="en-US" sz="1000" dirty="0"/>
          </a:p>
        </p:txBody>
      </p:sp>
      <p:sp>
        <p:nvSpPr>
          <p:cNvPr id="35" name="Shape 27"/>
          <p:cNvSpPr/>
          <p:nvPr/>
        </p:nvSpPr>
        <p:spPr>
          <a:xfrm>
            <a:off x="566928" y="3730752"/>
            <a:ext cx="7680960" cy="393192"/>
          </a:xfrm>
          <a:prstGeom prst="rect">
            <a:avLst/>
          </a:prstGeom>
          <a:solidFill>
            <a:srgbClr val="060B14"/>
          </a:solidFill>
          <a:ln w="6350">
            <a:solidFill>
              <a:srgbClr val="0F1E30"/>
            </a:solidFill>
            <a:prstDash val="solid"/>
          </a:ln>
        </p:spPr>
        <p:txBody>
          <a:bodyPr/>
          <a:lstStyle/>
          <a:p>
            <a:endParaRPr lang="en-CA"/>
          </a:p>
        </p:txBody>
      </p:sp>
      <p:sp>
        <p:nvSpPr>
          <p:cNvPr id="36" name="Text 28"/>
          <p:cNvSpPr/>
          <p:nvPr/>
        </p:nvSpPr>
        <p:spPr>
          <a:xfrm>
            <a:off x="694944" y="3730752"/>
            <a:ext cx="2249424" cy="393192"/>
          </a:xfrm>
          <a:prstGeom prst="rect">
            <a:avLst/>
          </a:prstGeom>
          <a:noFill/>
          <a:ln/>
        </p:spPr>
        <p:txBody>
          <a:bodyPr wrap="square" lIns="0" tIns="0" rIns="0" bIns="0" rtlCol="0" anchor="ctr"/>
          <a:lstStyle/>
          <a:p>
            <a:pPr marL="0" indent="0">
              <a:buNone/>
            </a:pPr>
            <a:r>
              <a:rPr lang="en-US" sz="1000" dirty="0">
                <a:solidFill>
                  <a:srgbClr val="8892A4"/>
                </a:solidFill>
                <a:latin typeface="Calibri" pitchFamily="34" charset="0"/>
                <a:ea typeface="Calibri" pitchFamily="34" charset="-122"/>
                <a:cs typeface="Calibri" pitchFamily="34" charset="-120"/>
              </a:rPr>
              <a:t>Usage standard</a:t>
            </a:r>
            <a:endParaRPr lang="en-US" sz="1000" dirty="0"/>
          </a:p>
        </p:txBody>
      </p:sp>
      <p:sp>
        <p:nvSpPr>
          <p:cNvPr id="37" name="Text 29"/>
          <p:cNvSpPr/>
          <p:nvPr/>
        </p:nvSpPr>
        <p:spPr>
          <a:xfrm>
            <a:off x="2944368" y="3730752"/>
            <a:ext cx="2651760" cy="393192"/>
          </a:xfrm>
          <a:prstGeom prst="rect">
            <a:avLst/>
          </a:prstGeom>
          <a:noFill/>
          <a:ln/>
        </p:spPr>
        <p:txBody>
          <a:bodyPr wrap="square" lIns="0" tIns="0" rIns="0" bIns="0" rtlCol="0" anchor="ctr"/>
          <a:lstStyle/>
          <a:p>
            <a:pPr marL="0" indent="0" algn="ctr">
              <a:buNone/>
            </a:pPr>
            <a:r>
              <a:rPr lang="en-US" sz="1000" dirty="0">
                <a:solidFill>
                  <a:srgbClr val="5A7090"/>
                </a:solidFill>
                <a:latin typeface="Calibri" pitchFamily="34" charset="0"/>
                <a:ea typeface="Calibri" pitchFamily="34" charset="-122"/>
                <a:cs typeface="Calibri" pitchFamily="34" charset="-120"/>
              </a:rPr>
              <a:t>Serveur, cloud, x86</a:t>
            </a:r>
            <a:endParaRPr lang="en-US" sz="1000" dirty="0"/>
          </a:p>
        </p:txBody>
      </p:sp>
      <p:sp>
        <p:nvSpPr>
          <p:cNvPr id="38" name="Text 30"/>
          <p:cNvSpPr/>
          <p:nvPr/>
        </p:nvSpPr>
        <p:spPr>
          <a:xfrm>
            <a:off x="5596128" y="3730752"/>
            <a:ext cx="2651760" cy="393192"/>
          </a:xfrm>
          <a:prstGeom prst="rect">
            <a:avLst/>
          </a:prstGeom>
          <a:noFill/>
          <a:ln/>
        </p:spPr>
        <p:txBody>
          <a:bodyPr wrap="square" lIns="0" tIns="0" rIns="0" bIns="0" rtlCol="0" anchor="ctr"/>
          <a:lstStyle/>
          <a:p>
            <a:pPr marL="0" indent="0" algn="ctr">
              <a:buNone/>
            </a:pPr>
            <a:r>
              <a:rPr lang="en-US" sz="1000" b="1" dirty="0">
                <a:solidFill>
                  <a:srgbClr val="9B6DFF"/>
                </a:solidFill>
                <a:latin typeface="Calibri" pitchFamily="34" charset="0"/>
                <a:ea typeface="Calibri" pitchFamily="34" charset="-122"/>
                <a:cs typeface="Calibri" pitchFamily="34" charset="-120"/>
              </a:rPr>
              <a:t>TLS 1.3, Android, IoT, ARM</a:t>
            </a:r>
            <a:endParaRPr lang="en-US" sz="1000" dirty="0"/>
          </a:p>
        </p:txBody>
      </p:sp>
      <p:sp>
        <p:nvSpPr>
          <p:cNvPr id="39" name="Shape 31"/>
          <p:cNvSpPr/>
          <p:nvPr/>
        </p:nvSpPr>
        <p:spPr>
          <a:xfrm>
            <a:off x="566928" y="4251960"/>
            <a:ext cx="8321040" cy="393192"/>
          </a:xfrm>
          <a:prstGeom prst="roundRect">
            <a:avLst>
              <a:gd name="adj" fmla="val 9231"/>
            </a:avLst>
          </a:prstGeom>
          <a:solidFill>
            <a:srgbClr val="060F1E"/>
          </a:solidFill>
          <a:ln w="9525">
            <a:solidFill>
              <a:srgbClr val="221050"/>
            </a:solidFill>
            <a:prstDash val="solid"/>
          </a:ln>
        </p:spPr>
        <p:txBody>
          <a:bodyPr/>
          <a:lstStyle/>
          <a:p>
            <a:endParaRPr lang="en-CA"/>
          </a:p>
        </p:txBody>
      </p:sp>
      <p:sp>
        <p:nvSpPr>
          <p:cNvPr id="40" name="Text 32"/>
          <p:cNvSpPr/>
          <p:nvPr/>
        </p:nvSpPr>
        <p:spPr>
          <a:xfrm>
            <a:off x="658368" y="4174236"/>
            <a:ext cx="7955280" cy="594360"/>
          </a:xfrm>
          <a:prstGeom prst="rect">
            <a:avLst/>
          </a:prstGeom>
          <a:noFill/>
          <a:ln/>
        </p:spPr>
        <p:txBody>
          <a:bodyPr wrap="square" rtlCol="0" anchor="ctr"/>
          <a:lstStyle/>
          <a:p>
            <a:pPr marL="0" indent="0">
              <a:buNone/>
            </a:pPr>
            <a:r>
              <a:rPr lang="fr-FR" sz="950" b="1" dirty="0">
                <a:solidFill>
                  <a:srgbClr val="9B6DFF"/>
                </a:solidFill>
                <a:latin typeface="Calibri" pitchFamily="34" charset="0"/>
                <a:ea typeface="Calibri" pitchFamily="34" charset="-122"/>
                <a:cs typeface="Calibri" pitchFamily="34" charset="-120"/>
              </a:rPr>
              <a:t>Sur Raspberry Pi, ChaCha20 (58 MB/s) surpasse AES-GCM (6,4 MB/s) par un facteur de 9,1, </a:t>
            </a:r>
            <a:r>
              <a:rPr lang="fr-FR" sz="950" dirty="0">
                <a:solidFill>
                  <a:srgbClr val="8892A4"/>
                </a:solidFill>
                <a:latin typeface="Calibri" pitchFamily="34" charset="0"/>
                <a:ea typeface="Calibri" pitchFamily="34" charset="-122"/>
                <a:cs typeface="Calibri" pitchFamily="34" charset="-120"/>
              </a:rPr>
              <a:t>ce qui en fait le choix évident pour tout déploiement IoT, mobile ou ARM. Il ne s'agit pas d'une simple alternative à AES, mais du standard sur architecture ARM.</a:t>
            </a:r>
            <a:endParaRPr lang="en-US" sz="950" dirty="0">
              <a:solidFill>
                <a:srgbClr val="8892A4"/>
              </a:solidFill>
            </a:endParaRPr>
          </a:p>
        </p:txBody>
      </p:sp>
      <p:sp>
        <p:nvSpPr>
          <p:cNvPr id="41" name="Shape 33"/>
          <p:cNvSpPr/>
          <p:nvPr/>
        </p:nvSpPr>
        <p:spPr>
          <a:xfrm>
            <a:off x="7626096" y="325374"/>
            <a:ext cx="1115568" cy="329184"/>
          </a:xfrm>
          <a:prstGeom prst="roundRect">
            <a:avLst>
              <a:gd name="adj" fmla="val 22222"/>
            </a:avLst>
          </a:prstGeom>
          <a:solidFill>
            <a:srgbClr val="060F1E"/>
          </a:solidFill>
          <a:ln w="9525">
            <a:solidFill>
              <a:srgbClr val="00F5FF"/>
            </a:solidFill>
            <a:prstDash val="solid"/>
          </a:ln>
        </p:spPr>
        <p:txBody>
          <a:bodyPr/>
          <a:lstStyle/>
          <a:p>
            <a:endParaRPr lang="en-CA"/>
          </a:p>
        </p:txBody>
      </p:sp>
      <p:sp>
        <p:nvSpPr>
          <p:cNvPr id="42" name="Text 34"/>
          <p:cNvSpPr/>
          <p:nvPr/>
        </p:nvSpPr>
        <p:spPr>
          <a:xfrm>
            <a:off x="7626096" y="310896"/>
            <a:ext cx="1115568" cy="329184"/>
          </a:xfrm>
          <a:prstGeom prst="rect">
            <a:avLst/>
          </a:prstGeom>
          <a:noFill/>
          <a:ln/>
        </p:spPr>
        <p:txBody>
          <a:bodyPr wrap="square" lIns="0" tIns="0" rIns="0" bIns="0" rtlCol="0" anchor="ctr"/>
          <a:lstStyle/>
          <a:p>
            <a:pPr marL="0" indent="0" algn="ctr">
              <a:buNone/>
            </a:pPr>
            <a:r>
              <a:rPr lang="en-US" sz="950" b="1" dirty="0">
                <a:solidFill>
                  <a:srgbClr val="00F5FF"/>
                </a:solidFill>
                <a:latin typeface="Calibri" pitchFamily="34" charset="0"/>
                <a:ea typeface="Calibri" pitchFamily="34" charset="-122"/>
                <a:cs typeface="Calibri" pitchFamily="34" charset="-120"/>
              </a:rPr>
              <a:t>▶  Vidéo 6</a:t>
            </a:r>
            <a:endParaRPr lang="en-US" sz="950" dirty="0"/>
          </a:p>
        </p:txBody>
      </p:sp>
      <p:sp>
        <p:nvSpPr>
          <p:cNvPr id="43" name="Text 35"/>
          <p:cNvSpPr/>
          <p:nvPr/>
        </p:nvSpPr>
        <p:spPr>
          <a:xfrm>
            <a:off x="1371600" y="4828032"/>
            <a:ext cx="6400800" cy="228600"/>
          </a:xfrm>
          <a:prstGeom prst="rect">
            <a:avLst/>
          </a:prstGeom>
          <a:noFill/>
          <a:ln/>
        </p:spPr>
        <p:txBody>
          <a:bodyPr wrap="square" rtlCol="0" anchor="ctr"/>
          <a:lstStyle/>
          <a:p>
            <a:pPr marL="0" indent="0" algn="ctr">
              <a:buNone/>
            </a:pPr>
            <a:r>
              <a:rPr lang="en-US" sz="850" b="1" kern="0" spc="100" dirty="0">
                <a:solidFill>
                  <a:srgbClr val="00F5FF"/>
                </a:solidFill>
                <a:latin typeface="Calibri" pitchFamily="34" charset="0"/>
                <a:ea typeface="Calibri" pitchFamily="34" charset="-122"/>
                <a:cs typeface="Calibri" pitchFamily="34" charset="-120"/>
              </a:rPr>
              <a:t>INF1430</a:t>
            </a:r>
            <a:r>
              <a:rPr lang="en-US" sz="850" kern="0" spc="100" dirty="0">
                <a:solidFill>
                  <a:srgbClr val="3A4A65"/>
                </a:solidFill>
                <a:latin typeface="Calibri" pitchFamily="34" charset="0"/>
                <a:ea typeface="Calibri" pitchFamily="34" charset="-122"/>
                <a:cs typeface="Calibri" pitchFamily="34" charset="-120"/>
              </a:rPr>
              <a:t>  ·  Université TÉLUQ  ·  TN3  ·  Melissa Moya  ·  2026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256032" y="201168"/>
            <a:ext cx="548640" cy="548640"/>
          </a:xfrm>
          <a:prstGeom prst="rect">
            <a:avLst/>
          </a:prstGeom>
        </p:spPr>
      </p:pic>
      <p:pic>
        <p:nvPicPr>
          <p:cNvPr id="4" name="Image 2" descr="preencoded.png"/>
          <p:cNvPicPr>
            <a:picLocks noChangeAspect="1"/>
          </p:cNvPicPr>
          <p:nvPr/>
        </p:nvPicPr>
        <p:blipFill>
          <a:blip r:embed="rId4"/>
          <a:stretch>
            <a:fillRect/>
          </a:stretch>
        </p:blipFill>
        <p:spPr>
          <a:xfrm flipH="1">
            <a:off x="8339328" y="201168"/>
            <a:ext cx="548640" cy="548640"/>
          </a:xfrm>
          <a:prstGeom prst="rect">
            <a:avLst/>
          </a:prstGeom>
        </p:spPr>
      </p:pic>
      <p:pic>
        <p:nvPicPr>
          <p:cNvPr id="5" name="Image 3" descr="preencoded.png"/>
          <p:cNvPicPr>
            <a:picLocks noChangeAspect="1"/>
          </p:cNvPicPr>
          <p:nvPr/>
        </p:nvPicPr>
        <p:blipFill>
          <a:blip r:embed="rId4"/>
          <a:stretch>
            <a:fillRect/>
          </a:stretch>
        </p:blipFill>
        <p:spPr>
          <a:xfrm flipV="1">
            <a:off x="256032" y="4393692"/>
            <a:ext cx="548640" cy="548640"/>
          </a:xfrm>
          <a:prstGeom prst="rect">
            <a:avLst/>
          </a:prstGeom>
        </p:spPr>
      </p:pic>
      <p:pic>
        <p:nvPicPr>
          <p:cNvPr id="6" name="Image 4" descr="preencoded.png"/>
          <p:cNvPicPr>
            <a:picLocks noChangeAspect="1"/>
          </p:cNvPicPr>
          <p:nvPr/>
        </p:nvPicPr>
        <p:blipFill>
          <a:blip r:embed="rId4"/>
          <a:stretch>
            <a:fillRect/>
          </a:stretch>
        </p:blipFill>
        <p:spPr>
          <a:xfrm flipH="1" flipV="1">
            <a:off x="8339328" y="4393692"/>
            <a:ext cx="548640" cy="548640"/>
          </a:xfrm>
          <a:prstGeom prst="rect">
            <a:avLst/>
          </a:prstGeom>
        </p:spPr>
      </p:pic>
      <p:pic>
        <p:nvPicPr>
          <p:cNvPr id="7" name="Image 5" descr="preencoded.png"/>
          <p:cNvPicPr>
            <a:picLocks noChangeAspect="1"/>
          </p:cNvPicPr>
          <p:nvPr/>
        </p:nvPicPr>
        <p:blipFill>
          <a:blip r:embed="rId5">
            <a:alphaModFix amt="80000"/>
          </a:blip>
          <a:stretch>
            <a:fillRect/>
          </a:stretch>
        </p:blipFill>
        <p:spPr>
          <a:xfrm>
            <a:off x="566928" y="256032"/>
            <a:ext cx="256032" cy="256032"/>
          </a:xfrm>
          <a:prstGeom prst="rect">
            <a:avLst/>
          </a:prstGeom>
        </p:spPr>
      </p:pic>
      <p:sp>
        <p:nvSpPr>
          <p:cNvPr id="8" name="Text 0"/>
          <p:cNvSpPr/>
          <p:nvPr/>
        </p:nvSpPr>
        <p:spPr>
          <a:xfrm>
            <a:off x="868680" y="256032"/>
            <a:ext cx="4572000" cy="274320"/>
          </a:xfrm>
          <a:prstGeom prst="rect">
            <a:avLst/>
          </a:prstGeom>
          <a:noFill/>
          <a:ln/>
        </p:spPr>
        <p:txBody>
          <a:bodyPr wrap="square" rtlCol="0" anchor="ctr"/>
          <a:lstStyle/>
          <a:p>
            <a:pPr marL="0" indent="0">
              <a:buNone/>
            </a:pPr>
            <a:r>
              <a:rPr lang="en-US" sz="1000" b="1" kern="0" spc="50" dirty="0">
                <a:solidFill>
                  <a:srgbClr val="00F5FF"/>
                </a:solidFill>
                <a:latin typeface="Calibri" pitchFamily="34" charset="0"/>
                <a:ea typeface="Calibri" pitchFamily="34" charset="-122"/>
                <a:cs typeface="Calibri" pitchFamily="34" charset="-120"/>
              </a:rPr>
              <a:t>04  </a:t>
            </a:r>
            <a:r>
              <a:rPr lang="en-US" sz="1000" kern="0" spc="50" dirty="0">
                <a:solidFill>
                  <a:srgbClr val="8892A4"/>
                </a:solidFill>
                <a:latin typeface="Calibri" pitchFamily="34" charset="0"/>
                <a:ea typeface="Calibri" pitchFamily="34" charset="-122"/>
                <a:cs typeface="Calibri" pitchFamily="34" charset="-120"/>
              </a:rPr>
              <a:t>Résultats de performance</a:t>
            </a:r>
            <a:endParaRPr lang="en-US" sz="1000" dirty="0"/>
          </a:p>
        </p:txBody>
      </p:sp>
      <p:sp>
        <p:nvSpPr>
          <p:cNvPr id="9" name="Text 1"/>
          <p:cNvSpPr/>
          <p:nvPr/>
        </p:nvSpPr>
        <p:spPr>
          <a:xfrm>
            <a:off x="566928" y="566928"/>
            <a:ext cx="77724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ChaCha20 — L'algorithme qui refuse l'inégalité</a:t>
            </a:r>
            <a:endParaRPr lang="en-US" sz="2400" dirty="0"/>
          </a:p>
        </p:txBody>
      </p:sp>
      <p:sp>
        <p:nvSpPr>
          <p:cNvPr id="11" name="Shape 2"/>
          <p:cNvSpPr/>
          <p:nvPr/>
        </p:nvSpPr>
        <p:spPr>
          <a:xfrm>
            <a:off x="6144768" y="1115568"/>
            <a:ext cx="2743200" cy="896112"/>
          </a:xfrm>
          <a:prstGeom prst="roundRect">
            <a:avLst>
              <a:gd name="adj" fmla="val 7143"/>
            </a:avLst>
          </a:prstGeom>
          <a:solidFill>
            <a:srgbClr val="060F1E"/>
          </a:solidFill>
          <a:ln w="9525">
            <a:solidFill>
              <a:srgbClr val="0D3D5C"/>
            </a:solidFill>
            <a:prstDash val="solid"/>
          </a:ln>
        </p:spPr>
        <p:txBody>
          <a:bodyPr/>
          <a:lstStyle/>
          <a:p>
            <a:endParaRPr lang="en-CA"/>
          </a:p>
        </p:txBody>
      </p:sp>
      <p:sp>
        <p:nvSpPr>
          <p:cNvPr id="12" name="Text 3"/>
          <p:cNvSpPr/>
          <p:nvPr/>
        </p:nvSpPr>
        <p:spPr>
          <a:xfrm>
            <a:off x="6309360" y="1179576"/>
            <a:ext cx="2468880" cy="365760"/>
          </a:xfrm>
          <a:prstGeom prst="rect">
            <a:avLst/>
          </a:prstGeom>
          <a:noFill/>
          <a:ln/>
        </p:spPr>
        <p:txBody>
          <a:bodyPr wrap="square" lIns="0" tIns="0" rIns="0" bIns="0" rtlCol="0" anchor="ctr"/>
          <a:lstStyle/>
          <a:p>
            <a:pPr marL="0" indent="0">
              <a:buNone/>
            </a:pPr>
            <a:r>
              <a:rPr lang="en-US" sz="2200" b="1" dirty="0">
                <a:solidFill>
                  <a:srgbClr val="00F5FF"/>
                </a:solidFill>
                <a:latin typeface="Calibri" pitchFamily="34" charset="0"/>
                <a:ea typeface="Calibri" pitchFamily="34" charset="-122"/>
                <a:cs typeface="Calibri" pitchFamily="34" charset="-120"/>
              </a:rPr>
              <a:t>114 MB/s</a:t>
            </a:r>
            <a:endParaRPr lang="en-US" sz="2200" dirty="0"/>
          </a:p>
        </p:txBody>
      </p:sp>
      <p:sp>
        <p:nvSpPr>
          <p:cNvPr id="13" name="Text 4"/>
          <p:cNvSpPr/>
          <p:nvPr/>
        </p:nvSpPr>
        <p:spPr>
          <a:xfrm>
            <a:off x="6309360" y="1517904"/>
            <a:ext cx="2468880" cy="201168"/>
          </a:xfrm>
          <a:prstGeom prst="rect">
            <a:avLst/>
          </a:prstGeom>
          <a:noFill/>
          <a:ln/>
        </p:spPr>
        <p:txBody>
          <a:bodyPr wrap="square" lIns="0" tIns="0" rIns="0" bIns="0" rtlCol="0" anchor="ctr"/>
          <a:lstStyle/>
          <a:p>
            <a:pPr marL="0" indent="0">
              <a:buNone/>
            </a:pPr>
            <a:r>
              <a:rPr lang="en-US" sz="950" b="1" dirty="0">
                <a:solidFill>
                  <a:srgbClr val="00F5FF"/>
                </a:solidFill>
                <a:latin typeface="Calibri" pitchFamily="34" charset="0"/>
                <a:ea typeface="Calibri" pitchFamily="34" charset="-122"/>
                <a:cs typeface="Calibri" pitchFamily="34" charset="-120"/>
              </a:rPr>
              <a:t>ChaCha20 sur x86</a:t>
            </a:r>
            <a:endParaRPr lang="en-US" sz="950" dirty="0"/>
          </a:p>
        </p:txBody>
      </p:sp>
      <p:sp>
        <p:nvSpPr>
          <p:cNvPr id="14" name="Text 5"/>
          <p:cNvSpPr/>
          <p:nvPr/>
        </p:nvSpPr>
        <p:spPr>
          <a:xfrm>
            <a:off x="6309360" y="1700784"/>
            <a:ext cx="2468880" cy="256032"/>
          </a:xfrm>
          <a:prstGeom prst="rect">
            <a:avLst/>
          </a:prstGeom>
          <a:noFill/>
          <a:ln/>
        </p:spPr>
        <p:txBody>
          <a:bodyPr wrap="square" lIns="0" tIns="0" rIns="0" bIns="0" rtlCol="0" anchor="ctr"/>
          <a:lstStyle/>
          <a:p>
            <a:pPr marL="0" indent="0">
              <a:buNone/>
            </a:pPr>
            <a:r>
              <a:rPr lang="en-US" sz="850" i="1" dirty="0">
                <a:solidFill>
                  <a:srgbClr val="8892A4"/>
                </a:solidFill>
                <a:latin typeface="Calibri" pitchFamily="34" charset="0"/>
                <a:ea typeface="Calibri" pitchFamily="34" charset="-122"/>
                <a:cs typeface="Calibri" pitchFamily="34" charset="-120"/>
              </a:rPr>
              <a:t>vs 58 MB/s sur Pi — ratio 1.87× seulement</a:t>
            </a:r>
            <a:endParaRPr lang="en-US" sz="850" dirty="0"/>
          </a:p>
        </p:txBody>
      </p:sp>
      <p:sp>
        <p:nvSpPr>
          <p:cNvPr id="15" name="Shape 6"/>
          <p:cNvSpPr/>
          <p:nvPr/>
        </p:nvSpPr>
        <p:spPr>
          <a:xfrm>
            <a:off x="6144768" y="2139696"/>
            <a:ext cx="2743200" cy="896112"/>
          </a:xfrm>
          <a:prstGeom prst="roundRect">
            <a:avLst>
              <a:gd name="adj" fmla="val 7143"/>
            </a:avLst>
          </a:prstGeom>
          <a:solidFill>
            <a:srgbClr val="08061A"/>
          </a:solidFill>
          <a:ln w="9525">
            <a:solidFill>
              <a:srgbClr val="221050"/>
            </a:solidFill>
            <a:prstDash val="solid"/>
          </a:ln>
        </p:spPr>
        <p:txBody>
          <a:bodyPr/>
          <a:lstStyle/>
          <a:p>
            <a:endParaRPr lang="en-CA"/>
          </a:p>
        </p:txBody>
      </p:sp>
      <p:sp>
        <p:nvSpPr>
          <p:cNvPr id="16" name="Text 7"/>
          <p:cNvSpPr/>
          <p:nvPr/>
        </p:nvSpPr>
        <p:spPr>
          <a:xfrm>
            <a:off x="6309360" y="2203704"/>
            <a:ext cx="2468880" cy="365760"/>
          </a:xfrm>
          <a:prstGeom prst="rect">
            <a:avLst/>
          </a:prstGeom>
          <a:noFill/>
          <a:ln/>
        </p:spPr>
        <p:txBody>
          <a:bodyPr wrap="square" lIns="0" tIns="0" rIns="0" bIns="0" rtlCol="0" anchor="ctr"/>
          <a:lstStyle/>
          <a:p>
            <a:pPr marL="0" indent="0">
              <a:buNone/>
            </a:pPr>
            <a:r>
              <a:rPr lang="en-US" sz="2200" b="1" dirty="0">
                <a:solidFill>
                  <a:srgbClr val="9B6DFF"/>
                </a:solidFill>
                <a:latin typeface="Calibri" pitchFamily="34" charset="0"/>
                <a:ea typeface="Calibri" pitchFamily="34" charset="-122"/>
                <a:cs typeface="Calibri" pitchFamily="34" charset="-120"/>
              </a:rPr>
              <a:t>1.87×</a:t>
            </a:r>
            <a:endParaRPr lang="en-US" sz="2200" dirty="0"/>
          </a:p>
        </p:txBody>
      </p:sp>
      <p:sp>
        <p:nvSpPr>
          <p:cNvPr id="17" name="Text 8"/>
          <p:cNvSpPr/>
          <p:nvPr/>
        </p:nvSpPr>
        <p:spPr>
          <a:xfrm>
            <a:off x="6309360" y="2542032"/>
            <a:ext cx="2468880" cy="201168"/>
          </a:xfrm>
          <a:prstGeom prst="rect">
            <a:avLst/>
          </a:prstGeom>
          <a:noFill/>
          <a:ln/>
        </p:spPr>
        <p:txBody>
          <a:bodyPr wrap="square" lIns="0" tIns="0" rIns="0" bIns="0" rtlCol="0" anchor="ctr"/>
          <a:lstStyle/>
          <a:p>
            <a:pPr marL="0" indent="0">
              <a:buNone/>
            </a:pPr>
            <a:r>
              <a:rPr lang="en-US" sz="950" b="1" dirty="0">
                <a:solidFill>
                  <a:srgbClr val="9B6DFF"/>
                </a:solidFill>
                <a:latin typeface="Calibri" pitchFamily="34" charset="0"/>
                <a:ea typeface="Calibri" pitchFamily="34" charset="-122"/>
                <a:cs typeface="Calibri" pitchFamily="34" charset="-120"/>
              </a:rPr>
              <a:t>ratio x86 / Pi</a:t>
            </a:r>
            <a:endParaRPr lang="en-US" sz="950" dirty="0"/>
          </a:p>
        </p:txBody>
      </p:sp>
      <p:sp>
        <p:nvSpPr>
          <p:cNvPr id="18" name="Text 9"/>
          <p:cNvSpPr/>
          <p:nvPr/>
        </p:nvSpPr>
        <p:spPr>
          <a:xfrm>
            <a:off x="6309360" y="2724912"/>
            <a:ext cx="2468880" cy="256032"/>
          </a:xfrm>
          <a:prstGeom prst="rect">
            <a:avLst/>
          </a:prstGeom>
          <a:noFill/>
          <a:ln/>
        </p:spPr>
        <p:txBody>
          <a:bodyPr wrap="square" lIns="0" tIns="0" rIns="0" bIns="0" rtlCol="0" anchor="ctr"/>
          <a:lstStyle/>
          <a:p>
            <a:pPr marL="0" indent="0">
              <a:buNone/>
            </a:pPr>
            <a:r>
              <a:rPr lang="en-US" sz="850" i="1" dirty="0">
                <a:solidFill>
                  <a:srgbClr val="8892A4"/>
                </a:solidFill>
                <a:latin typeface="Calibri" pitchFamily="34" charset="0"/>
                <a:ea typeface="Calibri" pitchFamily="34" charset="-122"/>
                <a:cs typeface="Calibri" pitchFamily="34" charset="-120"/>
              </a:rPr>
              <a:t>AES = 3.54× — ChaCha20 est 2× plus équitable</a:t>
            </a:r>
            <a:endParaRPr lang="en-US" sz="850" dirty="0"/>
          </a:p>
        </p:txBody>
      </p:sp>
      <p:sp>
        <p:nvSpPr>
          <p:cNvPr id="19" name="Shape 10"/>
          <p:cNvSpPr/>
          <p:nvPr/>
        </p:nvSpPr>
        <p:spPr>
          <a:xfrm>
            <a:off x="6144768" y="3163824"/>
            <a:ext cx="2743200" cy="896112"/>
          </a:xfrm>
          <a:prstGeom prst="roundRect">
            <a:avLst>
              <a:gd name="adj" fmla="val 7143"/>
            </a:avLst>
          </a:prstGeom>
          <a:solidFill>
            <a:srgbClr val="060F1E"/>
          </a:solidFill>
          <a:ln w="9525">
            <a:solidFill>
              <a:srgbClr val="0D3D5C"/>
            </a:solidFill>
            <a:prstDash val="solid"/>
          </a:ln>
        </p:spPr>
        <p:txBody>
          <a:bodyPr/>
          <a:lstStyle/>
          <a:p>
            <a:endParaRPr lang="en-CA"/>
          </a:p>
        </p:txBody>
      </p:sp>
      <p:sp>
        <p:nvSpPr>
          <p:cNvPr id="20" name="Text 11"/>
          <p:cNvSpPr/>
          <p:nvPr/>
        </p:nvSpPr>
        <p:spPr>
          <a:xfrm>
            <a:off x="6309360" y="3227832"/>
            <a:ext cx="2468880" cy="365760"/>
          </a:xfrm>
          <a:prstGeom prst="rect">
            <a:avLst/>
          </a:prstGeom>
          <a:noFill/>
          <a:ln/>
        </p:spPr>
        <p:txBody>
          <a:bodyPr wrap="square" lIns="0" tIns="0" rIns="0" bIns="0" rtlCol="0" anchor="ctr"/>
          <a:lstStyle/>
          <a:p>
            <a:pPr marL="0" indent="0">
              <a:buNone/>
            </a:pPr>
            <a:r>
              <a:rPr lang="en-US" sz="2200" b="1" dirty="0">
                <a:solidFill>
                  <a:srgbClr val="00F5FF"/>
                </a:solidFill>
                <a:latin typeface="Calibri" pitchFamily="34" charset="0"/>
                <a:ea typeface="Calibri" pitchFamily="34" charset="-122"/>
                <a:cs typeface="Calibri" pitchFamily="34" charset="-120"/>
              </a:rPr>
              <a:t>9.1×</a:t>
            </a:r>
            <a:endParaRPr lang="en-US" sz="2200" dirty="0"/>
          </a:p>
        </p:txBody>
      </p:sp>
      <p:sp>
        <p:nvSpPr>
          <p:cNvPr id="21" name="Text 12"/>
          <p:cNvSpPr/>
          <p:nvPr/>
        </p:nvSpPr>
        <p:spPr>
          <a:xfrm>
            <a:off x="6309360" y="3566160"/>
            <a:ext cx="2468880" cy="201168"/>
          </a:xfrm>
          <a:prstGeom prst="rect">
            <a:avLst/>
          </a:prstGeom>
          <a:noFill/>
          <a:ln/>
        </p:spPr>
        <p:txBody>
          <a:bodyPr wrap="square" lIns="0" tIns="0" rIns="0" bIns="0" rtlCol="0" anchor="ctr"/>
          <a:lstStyle/>
          <a:p>
            <a:pPr marL="0" indent="0">
              <a:buNone/>
            </a:pPr>
            <a:r>
              <a:rPr lang="en-US" sz="950" b="1" dirty="0">
                <a:solidFill>
                  <a:srgbClr val="00F5FF"/>
                </a:solidFill>
                <a:latin typeface="Calibri" pitchFamily="34" charset="0"/>
                <a:ea typeface="Calibri" pitchFamily="34" charset="-122"/>
                <a:cs typeface="Calibri" pitchFamily="34" charset="-120"/>
              </a:rPr>
              <a:t>avantage sur Pi</a:t>
            </a:r>
            <a:endParaRPr lang="en-US" sz="950" dirty="0"/>
          </a:p>
        </p:txBody>
      </p:sp>
      <p:sp>
        <p:nvSpPr>
          <p:cNvPr id="22" name="Text 13"/>
          <p:cNvSpPr/>
          <p:nvPr/>
        </p:nvSpPr>
        <p:spPr>
          <a:xfrm>
            <a:off x="6309360" y="3749040"/>
            <a:ext cx="2468880" cy="256032"/>
          </a:xfrm>
          <a:prstGeom prst="rect">
            <a:avLst/>
          </a:prstGeom>
          <a:noFill/>
          <a:ln/>
        </p:spPr>
        <p:txBody>
          <a:bodyPr wrap="square" lIns="0" tIns="0" rIns="0" bIns="0" rtlCol="0" anchor="ctr"/>
          <a:lstStyle/>
          <a:p>
            <a:pPr marL="0" indent="0">
              <a:buNone/>
            </a:pPr>
            <a:r>
              <a:rPr lang="en-US" sz="850" i="1" dirty="0">
                <a:solidFill>
                  <a:srgbClr val="8892A4"/>
                </a:solidFill>
                <a:latin typeface="Calibri" pitchFamily="34" charset="0"/>
                <a:ea typeface="Calibri" pitchFamily="34" charset="-122"/>
                <a:cs typeface="Calibri" pitchFamily="34" charset="-120"/>
              </a:rPr>
              <a:t>ChaCha20 (58 MB/s) vs AES-GCM Pi (6.4 MB/s)</a:t>
            </a:r>
            <a:endParaRPr lang="en-US" sz="850" dirty="0"/>
          </a:p>
        </p:txBody>
      </p:sp>
      <p:sp>
        <p:nvSpPr>
          <p:cNvPr id="23" name="Shape 14"/>
          <p:cNvSpPr/>
          <p:nvPr/>
        </p:nvSpPr>
        <p:spPr>
          <a:xfrm>
            <a:off x="566928" y="4139946"/>
            <a:ext cx="8113776" cy="594360"/>
          </a:xfrm>
          <a:prstGeom prst="roundRect">
            <a:avLst>
              <a:gd name="adj" fmla="val 9231"/>
            </a:avLst>
          </a:prstGeom>
          <a:solidFill>
            <a:srgbClr val="060F1E"/>
          </a:solidFill>
          <a:ln w="9525">
            <a:solidFill>
              <a:srgbClr val="221050"/>
            </a:solidFill>
            <a:prstDash val="solid"/>
          </a:ln>
        </p:spPr>
        <p:txBody>
          <a:bodyPr/>
          <a:lstStyle/>
          <a:p>
            <a:endParaRPr lang="en-CA"/>
          </a:p>
        </p:txBody>
      </p:sp>
      <p:sp>
        <p:nvSpPr>
          <p:cNvPr id="24" name="Text 15"/>
          <p:cNvSpPr/>
          <p:nvPr/>
        </p:nvSpPr>
        <p:spPr>
          <a:xfrm>
            <a:off x="658368" y="4123944"/>
            <a:ext cx="7955280" cy="594360"/>
          </a:xfrm>
          <a:prstGeom prst="rect">
            <a:avLst/>
          </a:prstGeom>
          <a:noFill/>
          <a:ln/>
        </p:spPr>
        <p:txBody>
          <a:bodyPr wrap="square" rtlCol="0" anchor="ctr"/>
          <a:lstStyle/>
          <a:p>
            <a:pPr marL="0" indent="0" algn="ctr">
              <a:buNone/>
            </a:pPr>
            <a:r>
              <a:rPr lang="fr-FR" sz="950" b="1" dirty="0">
                <a:solidFill>
                  <a:srgbClr val="9B6DFF"/>
                </a:solidFill>
                <a:latin typeface="Calibri" pitchFamily="34" charset="0"/>
                <a:ea typeface="Calibri" pitchFamily="34" charset="-122"/>
                <a:cs typeface="Calibri" pitchFamily="34" charset="-120"/>
              </a:rPr>
              <a:t>Sur Raspberry Pi, ChaCha20 surpasse AES-GCM par un facteur de 9,1. </a:t>
            </a:r>
            <a:r>
              <a:rPr lang="fr-FR" sz="950" dirty="0">
                <a:solidFill>
                  <a:srgbClr val="8892A4"/>
                </a:solidFill>
                <a:latin typeface="Calibri" pitchFamily="34" charset="0"/>
                <a:ea typeface="Calibri" pitchFamily="34" charset="-122"/>
                <a:cs typeface="Calibri" pitchFamily="34" charset="-120"/>
              </a:rPr>
              <a:t>Bernstein a conçu cet algorithme précisément pour ce scénario, soit un monde où tous les appareils ne disposent pas d'accélération cryptographique dédiée. ChaCha20 constitue d'ailleurs le standard sur Android et TLS 1.3 mobile.</a:t>
            </a:r>
            <a:endParaRPr lang="en-US" sz="950" dirty="0">
              <a:solidFill>
                <a:srgbClr val="8892A4"/>
              </a:solidFill>
            </a:endParaRPr>
          </a:p>
        </p:txBody>
      </p:sp>
      <p:sp>
        <p:nvSpPr>
          <p:cNvPr id="25" name="Shape 16"/>
          <p:cNvSpPr/>
          <p:nvPr/>
        </p:nvSpPr>
        <p:spPr>
          <a:xfrm>
            <a:off x="7662672" y="320040"/>
            <a:ext cx="1115568" cy="329184"/>
          </a:xfrm>
          <a:prstGeom prst="roundRect">
            <a:avLst>
              <a:gd name="adj" fmla="val 22222"/>
            </a:avLst>
          </a:prstGeom>
          <a:solidFill>
            <a:srgbClr val="060F1E"/>
          </a:solidFill>
          <a:ln w="9525">
            <a:solidFill>
              <a:srgbClr val="9B6DFF"/>
            </a:solidFill>
            <a:prstDash val="solid"/>
          </a:ln>
        </p:spPr>
        <p:txBody>
          <a:bodyPr/>
          <a:lstStyle/>
          <a:p>
            <a:endParaRPr lang="en-CA"/>
          </a:p>
        </p:txBody>
      </p:sp>
      <p:sp>
        <p:nvSpPr>
          <p:cNvPr id="26" name="Text 17"/>
          <p:cNvSpPr/>
          <p:nvPr/>
        </p:nvSpPr>
        <p:spPr>
          <a:xfrm>
            <a:off x="7662672" y="316230"/>
            <a:ext cx="1115568" cy="329184"/>
          </a:xfrm>
          <a:prstGeom prst="rect">
            <a:avLst/>
          </a:prstGeom>
          <a:noFill/>
          <a:ln/>
        </p:spPr>
        <p:txBody>
          <a:bodyPr wrap="square" lIns="0" tIns="0" rIns="0" bIns="0" rtlCol="0" anchor="ctr"/>
          <a:lstStyle/>
          <a:p>
            <a:pPr marL="0" indent="0" algn="ctr">
              <a:buNone/>
            </a:pPr>
            <a:r>
              <a:rPr lang="en-US" sz="950" b="1" dirty="0">
                <a:solidFill>
                  <a:srgbClr val="9B6DFF"/>
                </a:solidFill>
                <a:latin typeface="Calibri" pitchFamily="34" charset="0"/>
                <a:ea typeface="Calibri" pitchFamily="34" charset="-122"/>
                <a:cs typeface="Calibri" pitchFamily="34" charset="-120"/>
              </a:rPr>
              <a:t>▶  Vidéo 7</a:t>
            </a:r>
            <a:endParaRPr lang="en-US" sz="950" dirty="0"/>
          </a:p>
        </p:txBody>
      </p:sp>
      <p:sp>
        <p:nvSpPr>
          <p:cNvPr id="27" name="Text 18"/>
          <p:cNvSpPr/>
          <p:nvPr/>
        </p:nvSpPr>
        <p:spPr>
          <a:xfrm>
            <a:off x="1371600" y="4828032"/>
            <a:ext cx="6400800" cy="228600"/>
          </a:xfrm>
          <a:prstGeom prst="rect">
            <a:avLst/>
          </a:prstGeom>
          <a:noFill/>
          <a:ln/>
        </p:spPr>
        <p:txBody>
          <a:bodyPr wrap="square" rtlCol="0" anchor="ctr"/>
          <a:lstStyle/>
          <a:p>
            <a:pPr marL="0" indent="0" algn="ctr">
              <a:buNone/>
            </a:pPr>
            <a:r>
              <a:rPr lang="en-US" sz="850" b="1" kern="0" spc="100" dirty="0">
                <a:solidFill>
                  <a:srgbClr val="00F5FF"/>
                </a:solidFill>
                <a:latin typeface="Calibri" pitchFamily="34" charset="0"/>
                <a:ea typeface="Calibri" pitchFamily="34" charset="-122"/>
                <a:cs typeface="Calibri" pitchFamily="34" charset="-120"/>
              </a:rPr>
              <a:t>INF1430</a:t>
            </a:r>
            <a:r>
              <a:rPr lang="en-US" sz="850" kern="0" spc="100" dirty="0">
                <a:solidFill>
                  <a:srgbClr val="3A4A65"/>
                </a:solidFill>
                <a:latin typeface="Calibri" pitchFamily="34" charset="0"/>
                <a:ea typeface="Calibri" pitchFamily="34" charset="-122"/>
                <a:cs typeface="Calibri" pitchFamily="34" charset="-120"/>
              </a:rPr>
              <a:t>  ·  Université TÉLUQ  ·  TN3  ·  Melissa Moya  ·  2026</a:t>
            </a:r>
            <a:endParaRPr lang="en-US" sz="850" dirty="0"/>
          </a:p>
        </p:txBody>
      </p:sp>
      <p:pic>
        <p:nvPicPr>
          <p:cNvPr id="29" name="Picture 28">
            <a:extLst>
              <a:ext uri="{FF2B5EF4-FFF2-40B4-BE49-F238E27FC236}">
                <a16:creationId xmlns:a16="http://schemas.microsoft.com/office/drawing/2014/main" id="{2AA89728-7591-E9B6-AB0A-833BA001E362}"/>
              </a:ext>
            </a:extLst>
          </p:cNvPr>
          <p:cNvPicPr>
            <a:picLocks noChangeAspect="1"/>
          </p:cNvPicPr>
          <p:nvPr/>
        </p:nvPicPr>
        <p:blipFill>
          <a:blip r:embed="rId6"/>
          <a:stretch>
            <a:fillRect/>
          </a:stretch>
        </p:blipFill>
        <p:spPr>
          <a:xfrm>
            <a:off x="431042" y="1115568"/>
            <a:ext cx="5587151" cy="307607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256032" y="201168"/>
            <a:ext cx="548640" cy="548640"/>
          </a:xfrm>
          <a:prstGeom prst="rect">
            <a:avLst/>
          </a:prstGeom>
        </p:spPr>
      </p:pic>
      <p:pic>
        <p:nvPicPr>
          <p:cNvPr id="4" name="Image 2" descr="preencoded.png"/>
          <p:cNvPicPr>
            <a:picLocks noChangeAspect="1"/>
          </p:cNvPicPr>
          <p:nvPr/>
        </p:nvPicPr>
        <p:blipFill>
          <a:blip r:embed="rId4"/>
          <a:stretch>
            <a:fillRect/>
          </a:stretch>
        </p:blipFill>
        <p:spPr>
          <a:xfrm flipH="1">
            <a:off x="8339328" y="201168"/>
            <a:ext cx="548640" cy="548640"/>
          </a:xfrm>
          <a:prstGeom prst="rect">
            <a:avLst/>
          </a:prstGeom>
        </p:spPr>
      </p:pic>
      <p:pic>
        <p:nvPicPr>
          <p:cNvPr id="5" name="Image 3" descr="preencoded.png"/>
          <p:cNvPicPr>
            <a:picLocks noChangeAspect="1"/>
          </p:cNvPicPr>
          <p:nvPr/>
        </p:nvPicPr>
        <p:blipFill>
          <a:blip r:embed="rId4"/>
          <a:stretch>
            <a:fillRect/>
          </a:stretch>
        </p:blipFill>
        <p:spPr>
          <a:xfrm flipV="1">
            <a:off x="256032" y="4393692"/>
            <a:ext cx="548640" cy="548640"/>
          </a:xfrm>
          <a:prstGeom prst="rect">
            <a:avLst/>
          </a:prstGeom>
        </p:spPr>
      </p:pic>
      <p:pic>
        <p:nvPicPr>
          <p:cNvPr id="6" name="Image 4" descr="preencoded.png"/>
          <p:cNvPicPr>
            <a:picLocks noChangeAspect="1"/>
          </p:cNvPicPr>
          <p:nvPr/>
        </p:nvPicPr>
        <p:blipFill>
          <a:blip r:embed="rId4"/>
          <a:stretch>
            <a:fillRect/>
          </a:stretch>
        </p:blipFill>
        <p:spPr>
          <a:xfrm flipH="1" flipV="1">
            <a:off x="8339328" y="4393692"/>
            <a:ext cx="548640" cy="548640"/>
          </a:xfrm>
          <a:prstGeom prst="rect">
            <a:avLst/>
          </a:prstGeom>
        </p:spPr>
      </p:pic>
      <p:pic>
        <p:nvPicPr>
          <p:cNvPr id="7" name="Image 5" descr="preencoded.png"/>
          <p:cNvPicPr>
            <a:picLocks noChangeAspect="1"/>
          </p:cNvPicPr>
          <p:nvPr/>
        </p:nvPicPr>
        <p:blipFill>
          <a:blip r:embed="rId5">
            <a:alphaModFix amt="80000"/>
          </a:blip>
          <a:stretch>
            <a:fillRect/>
          </a:stretch>
        </p:blipFill>
        <p:spPr>
          <a:xfrm>
            <a:off x="566928" y="256032"/>
            <a:ext cx="256032" cy="256032"/>
          </a:xfrm>
          <a:prstGeom prst="rect">
            <a:avLst/>
          </a:prstGeom>
        </p:spPr>
      </p:pic>
      <p:sp>
        <p:nvSpPr>
          <p:cNvPr id="8" name="Text 0"/>
          <p:cNvSpPr/>
          <p:nvPr/>
        </p:nvSpPr>
        <p:spPr>
          <a:xfrm>
            <a:off x="868680" y="256032"/>
            <a:ext cx="4572000" cy="274320"/>
          </a:xfrm>
          <a:prstGeom prst="rect">
            <a:avLst/>
          </a:prstGeom>
          <a:noFill/>
          <a:ln/>
        </p:spPr>
        <p:txBody>
          <a:bodyPr wrap="square" rtlCol="0" anchor="ctr"/>
          <a:lstStyle/>
          <a:p>
            <a:pPr marL="0" indent="0">
              <a:buNone/>
            </a:pPr>
            <a:r>
              <a:rPr lang="en-US" sz="1000" b="1" kern="0" spc="50" dirty="0">
                <a:solidFill>
                  <a:srgbClr val="00F5FF"/>
                </a:solidFill>
                <a:latin typeface="Calibri" pitchFamily="34" charset="0"/>
                <a:ea typeface="Calibri" pitchFamily="34" charset="-122"/>
                <a:cs typeface="Calibri" pitchFamily="34" charset="-120"/>
              </a:rPr>
              <a:t>04  </a:t>
            </a:r>
            <a:r>
              <a:rPr lang="en-US" sz="1000" kern="0" spc="50" dirty="0">
                <a:solidFill>
                  <a:srgbClr val="8892A4"/>
                </a:solidFill>
                <a:latin typeface="Calibri" pitchFamily="34" charset="0"/>
                <a:ea typeface="Calibri" pitchFamily="34" charset="-122"/>
                <a:cs typeface="Calibri" pitchFamily="34" charset="-120"/>
              </a:rPr>
              <a:t>Résultats de performance</a:t>
            </a:r>
            <a:endParaRPr lang="en-US" sz="1000" dirty="0"/>
          </a:p>
        </p:txBody>
      </p:sp>
      <p:sp>
        <p:nvSpPr>
          <p:cNvPr id="9" name="Text 1"/>
          <p:cNvSpPr/>
          <p:nvPr/>
        </p:nvSpPr>
        <p:spPr>
          <a:xfrm>
            <a:off x="566928" y="566928"/>
            <a:ext cx="77724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DES, 3DES, Twofish — Pourquoi ils ont perdu</a:t>
            </a:r>
            <a:endParaRPr lang="en-US" sz="2400" dirty="0"/>
          </a:p>
        </p:txBody>
      </p:sp>
      <p:sp>
        <p:nvSpPr>
          <p:cNvPr id="10" name="Shape 2"/>
          <p:cNvSpPr/>
          <p:nvPr/>
        </p:nvSpPr>
        <p:spPr>
          <a:xfrm>
            <a:off x="566928" y="1078992"/>
            <a:ext cx="2633472" cy="2304288"/>
          </a:xfrm>
          <a:prstGeom prst="roundRect">
            <a:avLst>
              <a:gd name="adj" fmla="val 3175"/>
            </a:avLst>
          </a:prstGeom>
          <a:solidFill>
            <a:srgbClr val="1A0812"/>
          </a:solidFill>
          <a:ln w="9525">
            <a:solidFill>
              <a:srgbClr val="3A1528"/>
            </a:solidFill>
            <a:prstDash val="solid"/>
          </a:ln>
        </p:spPr>
        <p:txBody>
          <a:bodyPr/>
          <a:lstStyle/>
          <a:p>
            <a:endParaRPr lang="en-CA"/>
          </a:p>
        </p:txBody>
      </p:sp>
      <p:sp>
        <p:nvSpPr>
          <p:cNvPr id="11" name="Text 3"/>
          <p:cNvSpPr/>
          <p:nvPr/>
        </p:nvSpPr>
        <p:spPr>
          <a:xfrm>
            <a:off x="749808" y="1243584"/>
            <a:ext cx="2267712" cy="402336"/>
          </a:xfrm>
          <a:prstGeom prst="rect">
            <a:avLst/>
          </a:prstGeom>
          <a:noFill/>
          <a:ln/>
        </p:spPr>
        <p:txBody>
          <a:bodyPr wrap="square" lIns="0" tIns="0" rIns="0" bIns="0" rtlCol="0" anchor="ctr"/>
          <a:lstStyle/>
          <a:p>
            <a:pPr marL="0" indent="0">
              <a:buNone/>
            </a:pPr>
            <a:r>
              <a:rPr lang="en-US" sz="2200" b="1" dirty="0">
                <a:solidFill>
                  <a:srgbClr val="FF6B9D"/>
                </a:solidFill>
                <a:latin typeface="Calibri" pitchFamily="34" charset="0"/>
                <a:ea typeface="Calibri" pitchFamily="34" charset="-122"/>
                <a:cs typeface="Calibri" pitchFamily="34" charset="-120"/>
              </a:rPr>
              <a:t>DES</a:t>
            </a:r>
            <a:endParaRPr lang="en-US" sz="2200" dirty="0"/>
          </a:p>
        </p:txBody>
      </p:sp>
      <p:sp>
        <p:nvSpPr>
          <p:cNvPr id="12" name="Shape 4"/>
          <p:cNvSpPr/>
          <p:nvPr/>
        </p:nvSpPr>
        <p:spPr>
          <a:xfrm>
            <a:off x="749808" y="1645920"/>
            <a:ext cx="2267712" cy="256032"/>
          </a:xfrm>
          <a:prstGeom prst="roundRect">
            <a:avLst>
              <a:gd name="adj" fmla="val 14286"/>
            </a:avLst>
          </a:prstGeom>
          <a:solidFill>
            <a:srgbClr val="FF6B9D">
              <a:alpha val="13000"/>
            </a:srgbClr>
          </a:solidFill>
          <a:ln w="6350">
            <a:solidFill>
              <a:srgbClr val="FF6B9D"/>
            </a:solidFill>
            <a:prstDash val="solid"/>
          </a:ln>
        </p:spPr>
        <p:txBody>
          <a:bodyPr/>
          <a:lstStyle/>
          <a:p>
            <a:endParaRPr lang="en-CA"/>
          </a:p>
        </p:txBody>
      </p:sp>
      <p:sp>
        <p:nvSpPr>
          <p:cNvPr id="13" name="Text 5"/>
          <p:cNvSpPr/>
          <p:nvPr/>
        </p:nvSpPr>
        <p:spPr>
          <a:xfrm>
            <a:off x="749808" y="1645920"/>
            <a:ext cx="2267712" cy="256032"/>
          </a:xfrm>
          <a:prstGeom prst="rect">
            <a:avLst/>
          </a:prstGeom>
          <a:noFill/>
          <a:ln/>
        </p:spPr>
        <p:txBody>
          <a:bodyPr wrap="square" lIns="0" tIns="0" rIns="0" bIns="0" rtlCol="0" anchor="ctr"/>
          <a:lstStyle/>
          <a:p>
            <a:pPr marL="0" indent="0" algn="ctr">
              <a:buNone/>
            </a:pPr>
            <a:r>
              <a:rPr lang="en-US" sz="900" b="1" dirty="0">
                <a:solidFill>
                  <a:srgbClr val="FF6B9D"/>
                </a:solidFill>
                <a:latin typeface="Calibri" pitchFamily="34" charset="0"/>
                <a:ea typeface="Calibri" pitchFamily="34" charset="-122"/>
                <a:cs typeface="Calibri" pitchFamily="34" charset="-120"/>
              </a:rPr>
              <a:t>MORT</a:t>
            </a:r>
            <a:endParaRPr lang="en-US" sz="900" dirty="0"/>
          </a:p>
        </p:txBody>
      </p:sp>
      <p:sp>
        <p:nvSpPr>
          <p:cNvPr id="14" name="Text 6"/>
          <p:cNvSpPr/>
          <p:nvPr/>
        </p:nvSpPr>
        <p:spPr>
          <a:xfrm>
            <a:off x="749808" y="2011680"/>
            <a:ext cx="2267712" cy="329184"/>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40,7 MB/s</a:t>
            </a:r>
            <a:endParaRPr lang="en-US" sz="1800" dirty="0"/>
          </a:p>
        </p:txBody>
      </p:sp>
      <p:sp>
        <p:nvSpPr>
          <p:cNvPr id="15" name="Text 7"/>
          <p:cNvSpPr/>
          <p:nvPr/>
        </p:nvSpPr>
        <p:spPr>
          <a:xfrm>
            <a:off x="749808" y="2322576"/>
            <a:ext cx="2267712" cy="201168"/>
          </a:xfrm>
          <a:prstGeom prst="rect">
            <a:avLst/>
          </a:prstGeom>
          <a:noFill/>
          <a:ln/>
        </p:spPr>
        <p:txBody>
          <a:bodyPr wrap="square" lIns="0" tIns="0" rIns="0" bIns="0" rtlCol="0" anchor="ctr"/>
          <a:lstStyle/>
          <a:p>
            <a:pPr marL="0" indent="0">
              <a:buNone/>
            </a:pPr>
            <a:r>
              <a:rPr lang="en-US" sz="850" i="1" dirty="0">
                <a:solidFill>
                  <a:srgbClr val="8892A4"/>
                </a:solidFill>
                <a:latin typeface="Calibri" pitchFamily="34" charset="0"/>
                <a:ea typeface="Calibri" pitchFamily="34" charset="-122"/>
                <a:cs typeface="Calibri" pitchFamily="34" charset="-120"/>
              </a:rPr>
              <a:t>x86  ·  18,3 MB/s Pi</a:t>
            </a:r>
            <a:endParaRPr lang="en-US" sz="850" dirty="0"/>
          </a:p>
        </p:txBody>
      </p:sp>
      <p:sp>
        <p:nvSpPr>
          <p:cNvPr id="16" name="Shape 8"/>
          <p:cNvSpPr/>
          <p:nvPr/>
        </p:nvSpPr>
        <p:spPr>
          <a:xfrm>
            <a:off x="749808" y="2560320"/>
            <a:ext cx="2267712" cy="0"/>
          </a:xfrm>
          <a:prstGeom prst="line">
            <a:avLst/>
          </a:prstGeom>
          <a:noFill/>
          <a:ln w="6350">
            <a:solidFill>
              <a:srgbClr val="3A1528"/>
            </a:solidFill>
            <a:prstDash val="solid"/>
          </a:ln>
        </p:spPr>
        <p:txBody>
          <a:bodyPr/>
          <a:lstStyle/>
          <a:p>
            <a:endParaRPr lang="en-CA"/>
          </a:p>
        </p:txBody>
      </p:sp>
      <p:sp>
        <p:nvSpPr>
          <p:cNvPr id="17" name="Text 9"/>
          <p:cNvSpPr/>
          <p:nvPr/>
        </p:nvSpPr>
        <p:spPr>
          <a:xfrm>
            <a:off x="749808" y="2587752"/>
            <a:ext cx="2267712" cy="164592"/>
          </a:xfrm>
          <a:prstGeom prst="rect">
            <a:avLst/>
          </a:prstGeom>
          <a:noFill/>
          <a:ln/>
        </p:spPr>
        <p:txBody>
          <a:bodyPr wrap="square" lIns="0" tIns="0" rIns="0" bIns="0" rtlCol="0" anchor="ctr"/>
          <a:lstStyle/>
          <a:p>
            <a:pPr marL="0" indent="0">
              <a:buNone/>
            </a:pPr>
            <a:r>
              <a:rPr lang="en-US" sz="800" dirty="0">
                <a:solidFill>
                  <a:srgbClr val="8892A4"/>
                </a:solidFill>
                <a:latin typeface="Calibri" pitchFamily="34" charset="0"/>
                <a:ea typeface="Calibri" pitchFamily="34" charset="-122"/>
                <a:cs typeface="Calibri" pitchFamily="34" charset="-120"/>
              </a:rPr>
              <a:t>Clé effective</a:t>
            </a:r>
            <a:endParaRPr lang="en-US" sz="800" dirty="0"/>
          </a:p>
        </p:txBody>
      </p:sp>
      <p:sp>
        <p:nvSpPr>
          <p:cNvPr id="18" name="Text 10"/>
          <p:cNvSpPr/>
          <p:nvPr/>
        </p:nvSpPr>
        <p:spPr>
          <a:xfrm>
            <a:off x="749808" y="2734056"/>
            <a:ext cx="2267712" cy="164592"/>
          </a:xfrm>
          <a:prstGeom prst="rect">
            <a:avLst/>
          </a:prstGeom>
          <a:noFill/>
          <a:ln/>
        </p:spPr>
        <p:txBody>
          <a:bodyPr wrap="square" lIns="0" tIns="0" rIns="0" bIns="0" rtlCol="0" anchor="ctr"/>
          <a:lstStyle/>
          <a:p>
            <a:pPr marL="0" indent="0">
              <a:buNone/>
            </a:pPr>
            <a:r>
              <a:rPr lang="en-US" sz="950" b="1" dirty="0">
                <a:solidFill>
                  <a:srgbClr val="FF6B9D"/>
                </a:solidFill>
                <a:latin typeface="Calibri" pitchFamily="34" charset="0"/>
                <a:ea typeface="Calibri" pitchFamily="34" charset="-122"/>
                <a:cs typeface="Calibri" pitchFamily="34" charset="-120"/>
              </a:rPr>
              <a:t>56 bits</a:t>
            </a:r>
            <a:endParaRPr lang="en-US" sz="950" dirty="0"/>
          </a:p>
        </p:txBody>
      </p:sp>
      <p:sp>
        <p:nvSpPr>
          <p:cNvPr id="19" name="Text 11"/>
          <p:cNvSpPr/>
          <p:nvPr/>
        </p:nvSpPr>
        <p:spPr>
          <a:xfrm>
            <a:off x="749808" y="2834640"/>
            <a:ext cx="2267712" cy="164592"/>
          </a:xfrm>
          <a:prstGeom prst="rect">
            <a:avLst/>
          </a:prstGeom>
          <a:noFill/>
          <a:ln/>
        </p:spPr>
        <p:txBody>
          <a:bodyPr wrap="square" lIns="0" tIns="0" rIns="0" bIns="0" rtlCol="0" anchor="ctr"/>
          <a:lstStyle/>
          <a:p>
            <a:pPr marL="0" indent="0">
              <a:buNone/>
            </a:pPr>
            <a:r>
              <a:rPr lang="en-US" sz="800" dirty="0">
                <a:solidFill>
                  <a:srgbClr val="8892A4"/>
                </a:solidFill>
                <a:latin typeface="Calibri" pitchFamily="34" charset="0"/>
                <a:ea typeface="Calibri" pitchFamily="34" charset="-122"/>
                <a:cs typeface="Calibri" pitchFamily="34" charset="-120"/>
              </a:rPr>
              <a:t>Cassé en</a:t>
            </a:r>
            <a:endParaRPr lang="en-US" sz="800" dirty="0"/>
          </a:p>
        </p:txBody>
      </p:sp>
      <p:sp>
        <p:nvSpPr>
          <p:cNvPr id="20" name="Text 12"/>
          <p:cNvSpPr/>
          <p:nvPr/>
        </p:nvSpPr>
        <p:spPr>
          <a:xfrm>
            <a:off x="749808" y="2980944"/>
            <a:ext cx="2267712" cy="164592"/>
          </a:xfrm>
          <a:prstGeom prst="rect">
            <a:avLst/>
          </a:prstGeom>
          <a:noFill/>
          <a:ln/>
        </p:spPr>
        <p:txBody>
          <a:bodyPr wrap="square" lIns="0" tIns="0" rIns="0" bIns="0" rtlCol="0" anchor="ctr"/>
          <a:lstStyle/>
          <a:p>
            <a:pPr marL="0" indent="0">
              <a:buNone/>
            </a:pPr>
            <a:r>
              <a:rPr lang="en-US" sz="950" b="1" dirty="0">
                <a:solidFill>
                  <a:srgbClr val="FF6B9D"/>
                </a:solidFill>
                <a:latin typeface="Calibri" pitchFamily="34" charset="0"/>
                <a:ea typeface="Calibri" pitchFamily="34" charset="-122"/>
                <a:cs typeface="Calibri" pitchFamily="34" charset="-120"/>
              </a:rPr>
              <a:t>22h en 1998 (EFF)</a:t>
            </a:r>
            <a:endParaRPr lang="en-US" sz="950" dirty="0"/>
          </a:p>
        </p:txBody>
      </p:sp>
      <p:sp>
        <p:nvSpPr>
          <p:cNvPr id="21" name="Text 13"/>
          <p:cNvSpPr/>
          <p:nvPr/>
        </p:nvSpPr>
        <p:spPr>
          <a:xfrm>
            <a:off x="749808" y="3081528"/>
            <a:ext cx="2267712" cy="164592"/>
          </a:xfrm>
          <a:prstGeom prst="rect">
            <a:avLst/>
          </a:prstGeom>
          <a:noFill/>
          <a:ln/>
        </p:spPr>
        <p:txBody>
          <a:bodyPr wrap="square" lIns="0" tIns="0" rIns="0" bIns="0" rtlCol="0" anchor="ctr"/>
          <a:lstStyle/>
          <a:p>
            <a:pPr marL="0" indent="0">
              <a:buNone/>
            </a:pPr>
            <a:r>
              <a:rPr lang="en-US" sz="800" dirty="0">
                <a:solidFill>
                  <a:srgbClr val="8892A4"/>
                </a:solidFill>
                <a:latin typeface="Calibri" pitchFamily="34" charset="0"/>
                <a:ea typeface="Calibri" pitchFamily="34" charset="-122"/>
                <a:cs typeface="Calibri" pitchFamily="34" charset="-120"/>
              </a:rPr>
              <a:t>Accélération HW</a:t>
            </a:r>
            <a:endParaRPr lang="en-US" sz="800" dirty="0"/>
          </a:p>
        </p:txBody>
      </p:sp>
      <p:sp>
        <p:nvSpPr>
          <p:cNvPr id="22" name="Text 14"/>
          <p:cNvSpPr/>
          <p:nvPr/>
        </p:nvSpPr>
        <p:spPr>
          <a:xfrm>
            <a:off x="749808" y="3227832"/>
            <a:ext cx="2267712" cy="164592"/>
          </a:xfrm>
          <a:prstGeom prst="rect">
            <a:avLst/>
          </a:prstGeom>
          <a:noFill/>
          <a:ln/>
        </p:spPr>
        <p:txBody>
          <a:bodyPr wrap="square" lIns="0" tIns="0" rIns="0" bIns="0" rtlCol="0" anchor="ctr"/>
          <a:lstStyle/>
          <a:p>
            <a:pPr marL="0" indent="0">
              <a:buNone/>
            </a:pPr>
            <a:r>
              <a:rPr lang="en-US" sz="950" b="1" dirty="0">
                <a:solidFill>
                  <a:srgbClr val="FF6B9D"/>
                </a:solidFill>
                <a:latin typeface="Calibri" pitchFamily="34" charset="0"/>
                <a:ea typeface="Calibri" pitchFamily="34" charset="-122"/>
                <a:cs typeface="Calibri" pitchFamily="34" charset="-120"/>
              </a:rPr>
              <a:t>Aucune</a:t>
            </a:r>
            <a:endParaRPr lang="en-US" sz="950" dirty="0"/>
          </a:p>
        </p:txBody>
      </p:sp>
      <p:sp>
        <p:nvSpPr>
          <p:cNvPr id="23" name="Shape 15"/>
          <p:cNvSpPr/>
          <p:nvPr/>
        </p:nvSpPr>
        <p:spPr>
          <a:xfrm>
            <a:off x="566928" y="3474720"/>
            <a:ext cx="2633472" cy="420624"/>
          </a:xfrm>
          <a:prstGeom prst="roundRect">
            <a:avLst>
              <a:gd name="adj" fmla="val 10870"/>
            </a:avLst>
          </a:prstGeom>
          <a:solidFill>
            <a:srgbClr val="060F1E"/>
          </a:solidFill>
          <a:ln w="6350">
            <a:solidFill>
              <a:srgbClr val="3A1528"/>
            </a:solidFill>
            <a:prstDash val="solid"/>
          </a:ln>
        </p:spPr>
        <p:txBody>
          <a:bodyPr/>
          <a:lstStyle/>
          <a:p>
            <a:endParaRPr lang="en-CA"/>
          </a:p>
        </p:txBody>
      </p:sp>
      <p:sp>
        <p:nvSpPr>
          <p:cNvPr id="24" name="Text 16"/>
          <p:cNvSpPr/>
          <p:nvPr/>
        </p:nvSpPr>
        <p:spPr>
          <a:xfrm>
            <a:off x="676656" y="3474720"/>
            <a:ext cx="2414016" cy="420624"/>
          </a:xfrm>
          <a:prstGeom prst="rect">
            <a:avLst/>
          </a:prstGeom>
          <a:noFill/>
          <a:ln/>
        </p:spPr>
        <p:txBody>
          <a:bodyPr wrap="square" lIns="0" tIns="0" rIns="0" bIns="0" rtlCol="0" anchor="ctr"/>
          <a:lstStyle/>
          <a:p>
            <a:pPr marL="0" indent="0" algn="ctr">
              <a:buNone/>
            </a:pPr>
            <a:r>
              <a:rPr lang="en-US" sz="850" i="1" dirty="0">
                <a:solidFill>
                  <a:srgbClr val="8892A4"/>
                </a:solidFill>
                <a:latin typeface="Calibri" pitchFamily="34" charset="0"/>
                <a:ea typeface="Calibri" pitchFamily="34" charset="-122"/>
                <a:cs typeface="Calibri" pitchFamily="34" charset="-120"/>
              </a:rPr>
              <a:t>Mort depuis 1998 — présent ici pour contexte historique.</a:t>
            </a:r>
            <a:endParaRPr lang="en-US" sz="850" dirty="0"/>
          </a:p>
        </p:txBody>
      </p:sp>
      <p:sp>
        <p:nvSpPr>
          <p:cNvPr id="25" name="Shape 17"/>
          <p:cNvSpPr/>
          <p:nvPr/>
        </p:nvSpPr>
        <p:spPr>
          <a:xfrm>
            <a:off x="3364992" y="1078992"/>
            <a:ext cx="2633472" cy="2304288"/>
          </a:xfrm>
          <a:prstGeom prst="roundRect">
            <a:avLst>
              <a:gd name="adj" fmla="val 3175"/>
            </a:avLst>
          </a:prstGeom>
          <a:solidFill>
            <a:srgbClr val="0E0820"/>
          </a:solidFill>
          <a:ln w="9525">
            <a:solidFill>
              <a:srgbClr val="2A1460"/>
            </a:solidFill>
            <a:prstDash val="solid"/>
          </a:ln>
        </p:spPr>
        <p:txBody>
          <a:bodyPr/>
          <a:lstStyle/>
          <a:p>
            <a:endParaRPr lang="en-CA"/>
          </a:p>
        </p:txBody>
      </p:sp>
      <p:sp>
        <p:nvSpPr>
          <p:cNvPr id="26" name="Text 18"/>
          <p:cNvSpPr/>
          <p:nvPr/>
        </p:nvSpPr>
        <p:spPr>
          <a:xfrm>
            <a:off x="3547872" y="1243584"/>
            <a:ext cx="2267712" cy="402336"/>
          </a:xfrm>
          <a:prstGeom prst="rect">
            <a:avLst/>
          </a:prstGeom>
          <a:noFill/>
          <a:ln/>
        </p:spPr>
        <p:txBody>
          <a:bodyPr wrap="square" lIns="0" tIns="0" rIns="0" bIns="0" rtlCol="0" anchor="ctr"/>
          <a:lstStyle/>
          <a:p>
            <a:pPr marL="0" indent="0">
              <a:buNone/>
            </a:pPr>
            <a:r>
              <a:rPr lang="en-US" sz="2200" b="1" dirty="0">
                <a:solidFill>
                  <a:srgbClr val="9B6DFF"/>
                </a:solidFill>
                <a:latin typeface="Calibri" pitchFamily="34" charset="0"/>
                <a:ea typeface="Calibri" pitchFamily="34" charset="-122"/>
                <a:cs typeface="Calibri" pitchFamily="34" charset="-120"/>
              </a:rPr>
              <a:t>3DES</a:t>
            </a:r>
            <a:endParaRPr lang="en-US" sz="2200" dirty="0"/>
          </a:p>
        </p:txBody>
      </p:sp>
      <p:sp>
        <p:nvSpPr>
          <p:cNvPr id="27" name="Shape 19"/>
          <p:cNvSpPr/>
          <p:nvPr/>
        </p:nvSpPr>
        <p:spPr>
          <a:xfrm>
            <a:off x="3547872" y="1645920"/>
            <a:ext cx="2267712" cy="256032"/>
          </a:xfrm>
          <a:prstGeom prst="roundRect">
            <a:avLst>
              <a:gd name="adj" fmla="val 14286"/>
            </a:avLst>
          </a:prstGeom>
          <a:solidFill>
            <a:srgbClr val="9B6DFF">
              <a:alpha val="13000"/>
            </a:srgbClr>
          </a:solidFill>
          <a:ln w="6350">
            <a:solidFill>
              <a:srgbClr val="9B6DFF"/>
            </a:solidFill>
            <a:prstDash val="solid"/>
          </a:ln>
        </p:spPr>
        <p:txBody>
          <a:bodyPr/>
          <a:lstStyle/>
          <a:p>
            <a:endParaRPr lang="en-CA"/>
          </a:p>
        </p:txBody>
      </p:sp>
      <p:sp>
        <p:nvSpPr>
          <p:cNvPr id="28" name="Text 20"/>
          <p:cNvSpPr/>
          <p:nvPr/>
        </p:nvSpPr>
        <p:spPr>
          <a:xfrm>
            <a:off x="3547872" y="1645920"/>
            <a:ext cx="2267712" cy="256032"/>
          </a:xfrm>
          <a:prstGeom prst="rect">
            <a:avLst/>
          </a:prstGeom>
          <a:noFill/>
          <a:ln/>
        </p:spPr>
        <p:txBody>
          <a:bodyPr wrap="square" lIns="0" tIns="0" rIns="0" bIns="0" rtlCol="0" anchor="ctr"/>
          <a:lstStyle/>
          <a:p>
            <a:pPr marL="0" indent="0" algn="ctr">
              <a:buNone/>
            </a:pPr>
            <a:r>
              <a:rPr lang="en-US" sz="900" b="1" dirty="0">
                <a:solidFill>
                  <a:srgbClr val="9B6DFF"/>
                </a:solidFill>
                <a:latin typeface="Calibri" pitchFamily="34" charset="0"/>
                <a:ea typeface="Calibri" pitchFamily="34" charset="-122"/>
                <a:cs typeface="Calibri" pitchFamily="34" charset="-120"/>
              </a:rPr>
              <a:t>DÉPRÉCIÉ</a:t>
            </a:r>
            <a:endParaRPr lang="en-US" sz="900" dirty="0"/>
          </a:p>
        </p:txBody>
      </p:sp>
      <p:sp>
        <p:nvSpPr>
          <p:cNvPr id="29" name="Text 21"/>
          <p:cNvSpPr/>
          <p:nvPr/>
        </p:nvSpPr>
        <p:spPr>
          <a:xfrm>
            <a:off x="3547872" y="2011680"/>
            <a:ext cx="2267712" cy="329184"/>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12,3 MB/s</a:t>
            </a:r>
            <a:endParaRPr lang="en-US" sz="1800" dirty="0"/>
          </a:p>
        </p:txBody>
      </p:sp>
      <p:sp>
        <p:nvSpPr>
          <p:cNvPr id="30" name="Text 22"/>
          <p:cNvSpPr/>
          <p:nvPr/>
        </p:nvSpPr>
        <p:spPr>
          <a:xfrm>
            <a:off x="3547872" y="2322576"/>
            <a:ext cx="2267712" cy="201168"/>
          </a:xfrm>
          <a:prstGeom prst="rect">
            <a:avLst/>
          </a:prstGeom>
          <a:noFill/>
          <a:ln/>
        </p:spPr>
        <p:txBody>
          <a:bodyPr wrap="square" lIns="0" tIns="0" rIns="0" bIns="0" rtlCol="0" anchor="ctr"/>
          <a:lstStyle/>
          <a:p>
            <a:pPr marL="0" indent="0">
              <a:buNone/>
            </a:pPr>
            <a:r>
              <a:rPr lang="en-US" sz="850" i="1" dirty="0">
                <a:solidFill>
                  <a:srgbClr val="8892A4"/>
                </a:solidFill>
                <a:latin typeface="Calibri" pitchFamily="34" charset="0"/>
                <a:ea typeface="Calibri" pitchFamily="34" charset="-122"/>
                <a:cs typeface="Calibri" pitchFamily="34" charset="-120"/>
              </a:rPr>
              <a:t>x86  ·  7,5 MB/s Pi</a:t>
            </a:r>
            <a:endParaRPr lang="en-US" sz="850" dirty="0"/>
          </a:p>
        </p:txBody>
      </p:sp>
      <p:sp>
        <p:nvSpPr>
          <p:cNvPr id="31" name="Shape 23"/>
          <p:cNvSpPr/>
          <p:nvPr/>
        </p:nvSpPr>
        <p:spPr>
          <a:xfrm>
            <a:off x="3547872" y="2560320"/>
            <a:ext cx="2267712" cy="0"/>
          </a:xfrm>
          <a:prstGeom prst="line">
            <a:avLst/>
          </a:prstGeom>
          <a:noFill/>
          <a:ln w="6350">
            <a:solidFill>
              <a:srgbClr val="2A1460"/>
            </a:solidFill>
            <a:prstDash val="solid"/>
          </a:ln>
        </p:spPr>
        <p:txBody>
          <a:bodyPr/>
          <a:lstStyle/>
          <a:p>
            <a:endParaRPr lang="en-CA"/>
          </a:p>
        </p:txBody>
      </p:sp>
      <p:sp>
        <p:nvSpPr>
          <p:cNvPr id="32" name="Text 24"/>
          <p:cNvSpPr/>
          <p:nvPr/>
        </p:nvSpPr>
        <p:spPr>
          <a:xfrm>
            <a:off x="3547872" y="2587752"/>
            <a:ext cx="2267712" cy="164592"/>
          </a:xfrm>
          <a:prstGeom prst="rect">
            <a:avLst/>
          </a:prstGeom>
          <a:noFill/>
          <a:ln/>
        </p:spPr>
        <p:txBody>
          <a:bodyPr wrap="square" lIns="0" tIns="0" rIns="0" bIns="0" rtlCol="0" anchor="ctr"/>
          <a:lstStyle/>
          <a:p>
            <a:pPr marL="0" indent="0">
              <a:buNone/>
            </a:pPr>
            <a:r>
              <a:rPr lang="en-US" sz="800" dirty="0">
                <a:solidFill>
                  <a:srgbClr val="8892A4"/>
                </a:solidFill>
                <a:latin typeface="Calibri" pitchFamily="34" charset="0"/>
                <a:ea typeface="Calibri" pitchFamily="34" charset="-122"/>
                <a:cs typeface="Calibri" pitchFamily="34" charset="-120"/>
              </a:rPr>
              <a:t>Sécurité effective</a:t>
            </a:r>
            <a:endParaRPr lang="en-US" sz="800" dirty="0"/>
          </a:p>
        </p:txBody>
      </p:sp>
      <p:sp>
        <p:nvSpPr>
          <p:cNvPr id="33" name="Text 25"/>
          <p:cNvSpPr/>
          <p:nvPr/>
        </p:nvSpPr>
        <p:spPr>
          <a:xfrm>
            <a:off x="3547872" y="2734056"/>
            <a:ext cx="2267712" cy="164592"/>
          </a:xfrm>
          <a:prstGeom prst="rect">
            <a:avLst/>
          </a:prstGeom>
          <a:noFill/>
          <a:ln/>
        </p:spPr>
        <p:txBody>
          <a:bodyPr wrap="square" lIns="0" tIns="0" rIns="0" bIns="0" rtlCol="0" anchor="ctr"/>
          <a:lstStyle/>
          <a:p>
            <a:pPr marL="0" indent="0">
              <a:buNone/>
            </a:pPr>
            <a:r>
              <a:rPr lang="en-US" sz="950" b="1" dirty="0">
                <a:solidFill>
                  <a:srgbClr val="9B6DFF"/>
                </a:solidFill>
                <a:latin typeface="Calibri" pitchFamily="34" charset="0"/>
                <a:ea typeface="Calibri" pitchFamily="34" charset="-122"/>
                <a:cs typeface="Calibri" pitchFamily="34" charset="-120"/>
              </a:rPr>
              <a:t>112 bits</a:t>
            </a:r>
            <a:endParaRPr lang="en-US" sz="950" dirty="0"/>
          </a:p>
        </p:txBody>
      </p:sp>
      <p:sp>
        <p:nvSpPr>
          <p:cNvPr id="34" name="Text 26"/>
          <p:cNvSpPr/>
          <p:nvPr/>
        </p:nvSpPr>
        <p:spPr>
          <a:xfrm>
            <a:off x="3547872" y="2834640"/>
            <a:ext cx="2267712" cy="164592"/>
          </a:xfrm>
          <a:prstGeom prst="rect">
            <a:avLst/>
          </a:prstGeom>
          <a:noFill/>
          <a:ln/>
        </p:spPr>
        <p:txBody>
          <a:bodyPr wrap="square" lIns="0" tIns="0" rIns="0" bIns="0" rtlCol="0" anchor="ctr"/>
          <a:lstStyle/>
          <a:p>
            <a:pPr marL="0" indent="0">
              <a:buNone/>
            </a:pPr>
            <a:r>
              <a:rPr lang="en-US" sz="800" dirty="0">
                <a:solidFill>
                  <a:srgbClr val="8892A4"/>
                </a:solidFill>
                <a:latin typeface="Calibri" pitchFamily="34" charset="0"/>
                <a:ea typeface="Calibri" pitchFamily="34" charset="-122"/>
                <a:cs typeface="Calibri" pitchFamily="34" charset="-120"/>
              </a:rPr>
              <a:t>Coût</a:t>
            </a:r>
            <a:endParaRPr lang="en-US" sz="800" dirty="0"/>
          </a:p>
        </p:txBody>
      </p:sp>
      <p:sp>
        <p:nvSpPr>
          <p:cNvPr id="35" name="Text 27"/>
          <p:cNvSpPr/>
          <p:nvPr/>
        </p:nvSpPr>
        <p:spPr>
          <a:xfrm>
            <a:off x="3547872" y="2980944"/>
            <a:ext cx="2267712" cy="164592"/>
          </a:xfrm>
          <a:prstGeom prst="rect">
            <a:avLst/>
          </a:prstGeom>
          <a:noFill/>
          <a:ln/>
        </p:spPr>
        <p:txBody>
          <a:bodyPr wrap="square" lIns="0" tIns="0" rIns="0" bIns="0" rtlCol="0" anchor="ctr"/>
          <a:lstStyle/>
          <a:p>
            <a:pPr marL="0" indent="0">
              <a:buNone/>
            </a:pPr>
            <a:r>
              <a:rPr lang="en-US" sz="950" b="1" dirty="0">
                <a:solidFill>
                  <a:srgbClr val="9B6DFF"/>
                </a:solidFill>
                <a:latin typeface="Calibri" pitchFamily="34" charset="0"/>
                <a:ea typeface="Calibri" pitchFamily="34" charset="-122"/>
                <a:cs typeface="Calibri" pitchFamily="34" charset="-120"/>
              </a:rPr>
              <a:t>3 passes séquentielles</a:t>
            </a:r>
            <a:endParaRPr lang="en-US" sz="950" dirty="0"/>
          </a:p>
        </p:txBody>
      </p:sp>
      <p:sp>
        <p:nvSpPr>
          <p:cNvPr id="36" name="Text 28"/>
          <p:cNvSpPr/>
          <p:nvPr/>
        </p:nvSpPr>
        <p:spPr>
          <a:xfrm>
            <a:off x="3547872" y="3081528"/>
            <a:ext cx="2267712" cy="164592"/>
          </a:xfrm>
          <a:prstGeom prst="rect">
            <a:avLst/>
          </a:prstGeom>
          <a:noFill/>
          <a:ln/>
        </p:spPr>
        <p:txBody>
          <a:bodyPr wrap="square" lIns="0" tIns="0" rIns="0" bIns="0" rtlCol="0" anchor="ctr"/>
          <a:lstStyle/>
          <a:p>
            <a:pPr marL="0" indent="0">
              <a:buNone/>
            </a:pPr>
            <a:r>
              <a:rPr lang="en-US" sz="800" dirty="0">
                <a:solidFill>
                  <a:srgbClr val="8892A4"/>
                </a:solidFill>
                <a:latin typeface="Calibri" pitchFamily="34" charset="0"/>
                <a:ea typeface="Calibri" pitchFamily="34" charset="-122"/>
                <a:cs typeface="Calibri" pitchFamily="34" charset="-120"/>
              </a:rPr>
              <a:t>NIST</a:t>
            </a:r>
            <a:endParaRPr lang="en-US" sz="800" dirty="0"/>
          </a:p>
        </p:txBody>
      </p:sp>
      <p:sp>
        <p:nvSpPr>
          <p:cNvPr id="37" name="Text 29"/>
          <p:cNvSpPr/>
          <p:nvPr/>
        </p:nvSpPr>
        <p:spPr>
          <a:xfrm>
            <a:off x="3547872" y="3227832"/>
            <a:ext cx="2267712" cy="164592"/>
          </a:xfrm>
          <a:prstGeom prst="rect">
            <a:avLst/>
          </a:prstGeom>
          <a:noFill/>
          <a:ln/>
        </p:spPr>
        <p:txBody>
          <a:bodyPr wrap="square" lIns="0" tIns="0" rIns="0" bIns="0" rtlCol="0" anchor="ctr"/>
          <a:lstStyle/>
          <a:p>
            <a:pPr marL="0" indent="0">
              <a:buNone/>
            </a:pPr>
            <a:r>
              <a:rPr lang="en-US" sz="950" b="1" dirty="0">
                <a:solidFill>
                  <a:srgbClr val="9B6DFF"/>
                </a:solidFill>
                <a:latin typeface="Calibri" pitchFamily="34" charset="0"/>
                <a:ea typeface="Calibri" pitchFamily="34" charset="-122"/>
                <a:cs typeface="Calibri" pitchFamily="34" charset="-120"/>
              </a:rPr>
              <a:t>Déprécié 2017, interdit 2023</a:t>
            </a:r>
            <a:endParaRPr lang="en-US" sz="950" dirty="0"/>
          </a:p>
        </p:txBody>
      </p:sp>
      <p:sp>
        <p:nvSpPr>
          <p:cNvPr id="38" name="Shape 30"/>
          <p:cNvSpPr/>
          <p:nvPr/>
        </p:nvSpPr>
        <p:spPr>
          <a:xfrm>
            <a:off x="3364992" y="3474720"/>
            <a:ext cx="2633472" cy="420624"/>
          </a:xfrm>
          <a:prstGeom prst="roundRect">
            <a:avLst>
              <a:gd name="adj" fmla="val 10870"/>
            </a:avLst>
          </a:prstGeom>
          <a:solidFill>
            <a:srgbClr val="060F1E"/>
          </a:solidFill>
          <a:ln w="6350">
            <a:solidFill>
              <a:srgbClr val="2A1460"/>
            </a:solidFill>
            <a:prstDash val="solid"/>
          </a:ln>
        </p:spPr>
        <p:txBody>
          <a:bodyPr/>
          <a:lstStyle/>
          <a:p>
            <a:endParaRPr lang="en-CA"/>
          </a:p>
        </p:txBody>
      </p:sp>
      <p:sp>
        <p:nvSpPr>
          <p:cNvPr id="39" name="Text 31"/>
          <p:cNvSpPr/>
          <p:nvPr/>
        </p:nvSpPr>
        <p:spPr>
          <a:xfrm>
            <a:off x="3474720" y="3474720"/>
            <a:ext cx="2414016" cy="420624"/>
          </a:xfrm>
          <a:prstGeom prst="rect">
            <a:avLst/>
          </a:prstGeom>
          <a:noFill/>
          <a:ln/>
        </p:spPr>
        <p:txBody>
          <a:bodyPr wrap="square" lIns="0" tIns="0" rIns="0" bIns="0" rtlCol="0" anchor="ctr"/>
          <a:lstStyle/>
          <a:p>
            <a:pPr marL="0" indent="0" algn="ctr">
              <a:buNone/>
            </a:pPr>
            <a:r>
              <a:rPr lang="fr-FR" sz="850" i="1" dirty="0">
                <a:solidFill>
                  <a:srgbClr val="8892A4"/>
                </a:solidFill>
                <a:latin typeface="Calibri" pitchFamily="34" charset="0"/>
                <a:ea typeface="Calibri" pitchFamily="34" charset="-122"/>
                <a:cs typeface="Calibri" pitchFamily="34" charset="-120"/>
              </a:rPr>
              <a:t>Ni performant, ni suffisamment sécurisé</a:t>
            </a:r>
            <a:endParaRPr lang="en-US" sz="850" dirty="0"/>
          </a:p>
        </p:txBody>
      </p:sp>
      <p:sp>
        <p:nvSpPr>
          <p:cNvPr id="40" name="Shape 32"/>
          <p:cNvSpPr/>
          <p:nvPr/>
        </p:nvSpPr>
        <p:spPr>
          <a:xfrm>
            <a:off x="6163056" y="1078992"/>
            <a:ext cx="2633472" cy="2304288"/>
          </a:xfrm>
          <a:prstGeom prst="roundRect">
            <a:avLst>
              <a:gd name="adj" fmla="val 3175"/>
            </a:avLst>
          </a:prstGeom>
          <a:solidFill>
            <a:srgbClr val="060F1E"/>
          </a:solidFill>
          <a:ln w="9525">
            <a:solidFill>
              <a:srgbClr val="0D3D5C"/>
            </a:solidFill>
            <a:prstDash val="solid"/>
          </a:ln>
        </p:spPr>
        <p:txBody>
          <a:bodyPr/>
          <a:lstStyle/>
          <a:p>
            <a:endParaRPr lang="en-CA"/>
          </a:p>
        </p:txBody>
      </p:sp>
      <p:sp>
        <p:nvSpPr>
          <p:cNvPr id="41" name="Text 33"/>
          <p:cNvSpPr/>
          <p:nvPr/>
        </p:nvSpPr>
        <p:spPr>
          <a:xfrm>
            <a:off x="6345936" y="1243584"/>
            <a:ext cx="2267712" cy="402336"/>
          </a:xfrm>
          <a:prstGeom prst="rect">
            <a:avLst/>
          </a:prstGeom>
          <a:noFill/>
          <a:ln/>
        </p:spPr>
        <p:txBody>
          <a:bodyPr wrap="square" lIns="0" tIns="0" rIns="0" bIns="0" rtlCol="0" anchor="ctr"/>
          <a:lstStyle/>
          <a:p>
            <a:pPr marL="0" indent="0">
              <a:buNone/>
            </a:pPr>
            <a:r>
              <a:rPr lang="en-US" sz="2200" b="1" dirty="0">
                <a:solidFill>
                  <a:srgbClr val="00F5FF"/>
                </a:solidFill>
                <a:latin typeface="Calibri" pitchFamily="34" charset="0"/>
                <a:ea typeface="Calibri" pitchFamily="34" charset="-122"/>
                <a:cs typeface="Calibri" pitchFamily="34" charset="-120"/>
              </a:rPr>
              <a:t>Twofish</a:t>
            </a:r>
            <a:endParaRPr lang="en-US" sz="2200" dirty="0"/>
          </a:p>
        </p:txBody>
      </p:sp>
      <p:sp>
        <p:nvSpPr>
          <p:cNvPr id="42" name="Shape 34"/>
          <p:cNvSpPr/>
          <p:nvPr/>
        </p:nvSpPr>
        <p:spPr>
          <a:xfrm>
            <a:off x="6345936" y="1645920"/>
            <a:ext cx="2267712" cy="256032"/>
          </a:xfrm>
          <a:prstGeom prst="roundRect">
            <a:avLst>
              <a:gd name="adj" fmla="val 14286"/>
            </a:avLst>
          </a:prstGeom>
          <a:solidFill>
            <a:srgbClr val="00F5FF">
              <a:alpha val="13000"/>
            </a:srgbClr>
          </a:solidFill>
          <a:ln w="6350">
            <a:solidFill>
              <a:srgbClr val="00F5FF"/>
            </a:solidFill>
            <a:prstDash val="solid"/>
          </a:ln>
        </p:spPr>
        <p:txBody>
          <a:bodyPr/>
          <a:lstStyle/>
          <a:p>
            <a:endParaRPr lang="en-CA"/>
          </a:p>
        </p:txBody>
      </p:sp>
      <p:sp>
        <p:nvSpPr>
          <p:cNvPr id="43" name="Text 35"/>
          <p:cNvSpPr/>
          <p:nvPr/>
        </p:nvSpPr>
        <p:spPr>
          <a:xfrm>
            <a:off x="6345936" y="1645920"/>
            <a:ext cx="2267712" cy="256032"/>
          </a:xfrm>
          <a:prstGeom prst="rect">
            <a:avLst/>
          </a:prstGeom>
          <a:noFill/>
          <a:ln/>
        </p:spPr>
        <p:txBody>
          <a:bodyPr wrap="square" lIns="0" tIns="0" rIns="0" bIns="0" rtlCol="0" anchor="ctr"/>
          <a:lstStyle/>
          <a:p>
            <a:pPr marL="0" indent="0" algn="ctr">
              <a:buNone/>
            </a:pPr>
            <a:r>
              <a:rPr lang="en-US" sz="900" b="1" dirty="0">
                <a:solidFill>
                  <a:srgbClr val="00F5FF"/>
                </a:solidFill>
                <a:latin typeface="Calibri" pitchFamily="34" charset="0"/>
                <a:ea typeface="Calibri" pitchFamily="34" charset="-122"/>
                <a:cs typeface="Calibri" pitchFamily="34" charset="-120"/>
              </a:rPr>
              <a:t>OBSOLÈTE</a:t>
            </a:r>
            <a:endParaRPr lang="en-US" sz="900" dirty="0"/>
          </a:p>
        </p:txBody>
      </p:sp>
      <p:sp>
        <p:nvSpPr>
          <p:cNvPr id="44" name="Text 36"/>
          <p:cNvSpPr/>
          <p:nvPr/>
        </p:nvSpPr>
        <p:spPr>
          <a:xfrm>
            <a:off x="6345936" y="2011680"/>
            <a:ext cx="2267712" cy="329184"/>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2,82 MB/s</a:t>
            </a:r>
            <a:endParaRPr lang="en-US" sz="1800" dirty="0"/>
          </a:p>
        </p:txBody>
      </p:sp>
      <p:sp>
        <p:nvSpPr>
          <p:cNvPr id="45" name="Text 37"/>
          <p:cNvSpPr/>
          <p:nvPr/>
        </p:nvSpPr>
        <p:spPr>
          <a:xfrm>
            <a:off x="6345936" y="2322576"/>
            <a:ext cx="2267712" cy="201168"/>
          </a:xfrm>
          <a:prstGeom prst="rect">
            <a:avLst/>
          </a:prstGeom>
          <a:noFill/>
          <a:ln/>
        </p:spPr>
        <p:txBody>
          <a:bodyPr wrap="square" lIns="0" tIns="0" rIns="0" bIns="0" rtlCol="0" anchor="ctr"/>
          <a:lstStyle/>
          <a:p>
            <a:pPr marL="0" indent="0">
              <a:buNone/>
            </a:pPr>
            <a:r>
              <a:rPr lang="en-US" sz="850" i="1" dirty="0">
                <a:solidFill>
                  <a:srgbClr val="8892A4"/>
                </a:solidFill>
                <a:latin typeface="Calibri" pitchFamily="34" charset="0"/>
                <a:ea typeface="Calibri" pitchFamily="34" charset="-122"/>
                <a:cs typeface="Calibri" pitchFamily="34" charset="-120"/>
              </a:rPr>
              <a:t>x86  ·  1,29 MB/s Pi</a:t>
            </a:r>
            <a:endParaRPr lang="en-US" sz="850" dirty="0"/>
          </a:p>
        </p:txBody>
      </p:sp>
      <p:sp>
        <p:nvSpPr>
          <p:cNvPr id="46" name="Shape 38"/>
          <p:cNvSpPr/>
          <p:nvPr/>
        </p:nvSpPr>
        <p:spPr>
          <a:xfrm>
            <a:off x="6345936" y="2560320"/>
            <a:ext cx="2267712" cy="0"/>
          </a:xfrm>
          <a:prstGeom prst="line">
            <a:avLst/>
          </a:prstGeom>
          <a:noFill/>
          <a:ln w="6350">
            <a:solidFill>
              <a:srgbClr val="0D3D5C"/>
            </a:solidFill>
            <a:prstDash val="solid"/>
          </a:ln>
        </p:spPr>
        <p:txBody>
          <a:bodyPr/>
          <a:lstStyle/>
          <a:p>
            <a:endParaRPr lang="en-CA"/>
          </a:p>
        </p:txBody>
      </p:sp>
      <p:sp>
        <p:nvSpPr>
          <p:cNvPr id="47" name="Text 39"/>
          <p:cNvSpPr/>
          <p:nvPr/>
        </p:nvSpPr>
        <p:spPr>
          <a:xfrm>
            <a:off x="6345936" y="2587752"/>
            <a:ext cx="2267712" cy="164592"/>
          </a:xfrm>
          <a:prstGeom prst="rect">
            <a:avLst/>
          </a:prstGeom>
          <a:noFill/>
          <a:ln/>
        </p:spPr>
        <p:txBody>
          <a:bodyPr wrap="square" lIns="0" tIns="0" rIns="0" bIns="0" rtlCol="0" anchor="ctr"/>
          <a:lstStyle/>
          <a:p>
            <a:pPr marL="0" indent="0">
              <a:buNone/>
            </a:pPr>
            <a:r>
              <a:rPr lang="en-US" sz="800" dirty="0">
                <a:solidFill>
                  <a:srgbClr val="8892A4"/>
                </a:solidFill>
                <a:latin typeface="Calibri" pitchFamily="34" charset="0"/>
                <a:ea typeface="Calibri" pitchFamily="34" charset="-122"/>
                <a:cs typeface="Calibri" pitchFamily="34" charset="-120"/>
              </a:rPr>
              <a:t>Finaliste AES 1998</a:t>
            </a:r>
            <a:endParaRPr lang="en-US" sz="800" dirty="0"/>
          </a:p>
        </p:txBody>
      </p:sp>
      <p:sp>
        <p:nvSpPr>
          <p:cNvPr id="48" name="Text 40"/>
          <p:cNvSpPr/>
          <p:nvPr/>
        </p:nvSpPr>
        <p:spPr>
          <a:xfrm>
            <a:off x="6345936" y="2734056"/>
            <a:ext cx="2267712" cy="164592"/>
          </a:xfrm>
          <a:prstGeom prst="rect">
            <a:avLst/>
          </a:prstGeom>
          <a:noFill/>
          <a:ln/>
        </p:spPr>
        <p:txBody>
          <a:bodyPr wrap="square" lIns="0" tIns="0" rIns="0" bIns="0" rtlCol="0" anchor="ctr"/>
          <a:lstStyle/>
          <a:p>
            <a:pPr marL="0" indent="0">
              <a:buNone/>
            </a:pPr>
            <a:r>
              <a:rPr lang="en-US" sz="950" b="1" dirty="0">
                <a:solidFill>
                  <a:srgbClr val="00F5FF"/>
                </a:solidFill>
                <a:latin typeface="Calibri" pitchFamily="34" charset="0"/>
                <a:ea typeface="Calibri" pitchFamily="34" charset="-122"/>
                <a:cs typeface="Calibri" pitchFamily="34" charset="-120"/>
              </a:rPr>
              <a:t>Perdu contre Rijndael</a:t>
            </a:r>
            <a:endParaRPr lang="en-US" sz="950" dirty="0"/>
          </a:p>
        </p:txBody>
      </p:sp>
      <p:sp>
        <p:nvSpPr>
          <p:cNvPr id="49" name="Text 41"/>
          <p:cNvSpPr/>
          <p:nvPr/>
        </p:nvSpPr>
        <p:spPr>
          <a:xfrm>
            <a:off x="6345936" y="2834640"/>
            <a:ext cx="2267712" cy="164592"/>
          </a:xfrm>
          <a:prstGeom prst="rect">
            <a:avLst/>
          </a:prstGeom>
          <a:noFill/>
          <a:ln/>
        </p:spPr>
        <p:txBody>
          <a:bodyPr wrap="square" lIns="0" tIns="0" rIns="0" bIns="0" rtlCol="0" anchor="ctr"/>
          <a:lstStyle/>
          <a:p>
            <a:pPr marL="0" indent="0">
              <a:buNone/>
            </a:pPr>
            <a:r>
              <a:rPr lang="en-US" sz="800" dirty="0">
                <a:solidFill>
                  <a:srgbClr val="8892A4"/>
                </a:solidFill>
                <a:latin typeface="Calibri" pitchFamily="34" charset="0"/>
                <a:ea typeface="Calibri" pitchFamily="34" charset="-122"/>
                <a:cs typeface="Calibri" pitchFamily="34" charset="-120"/>
              </a:rPr>
              <a:t>Problème</a:t>
            </a:r>
            <a:endParaRPr lang="en-US" sz="800" dirty="0"/>
          </a:p>
        </p:txBody>
      </p:sp>
      <p:sp>
        <p:nvSpPr>
          <p:cNvPr id="50" name="Text 42"/>
          <p:cNvSpPr/>
          <p:nvPr/>
        </p:nvSpPr>
        <p:spPr>
          <a:xfrm>
            <a:off x="6345936" y="2980944"/>
            <a:ext cx="2267712" cy="164592"/>
          </a:xfrm>
          <a:prstGeom prst="rect">
            <a:avLst/>
          </a:prstGeom>
          <a:noFill/>
          <a:ln/>
        </p:spPr>
        <p:txBody>
          <a:bodyPr wrap="square" lIns="0" tIns="0" rIns="0" bIns="0" rtlCol="0" anchor="ctr"/>
          <a:lstStyle/>
          <a:p>
            <a:pPr marL="0" indent="0">
              <a:buNone/>
            </a:pPr>
            <a:r>
              <a:rPr lang="en-US" sz="950" b="1" dirty="0">
                <a:solidFill>
                  <a:srgbClr val="00F5FF"/>
                </a:solidFill>
                <a:latin typeface="Calibri" pitchFamily="34" charset="0"/>
                <a:ea typeface="Calibri" pitchFamily="34" charset="-122"/>
                <a:cs typeface="Calibri" pitchFamily="34" charset="-120"/>
              </a:rPr>
              <a:t>Key schedule trop complexe</a:t>
            </a:r>
            <a:endParaRPr lang="en-US" sz="950" dirty="0"/>
          </a:p>
        </p:txBody>
      </p:sp>
      <p:sp>
        <p:nvSpPr>
          <p:cNvPr id="51" name="Text 43"/>
          <p:cNvSpPr/>
          <p:nvPr/>
        </p:nvSpPr>
        <p:spPr>
          <a:xfrm>
            <a:off x="6345936" y="3081528"/>
            <a:ext cx="2267712" cy="164592"/>
          </a:xfrm>
          <a:prstGeom prst="rect">
            <a:avLst/>
          </a:prstGeom>
          <a:noFill/>
          <a:ln/>
        </p:spPr>
        <p:txBody>
          <a:bodyPr wrap="square" lIns="0" tIns="0" rIns="0" bIns="0" rtlCol="0" anchor="ctr"/>
          <a:lstStyle/>
          <a:p>
            <a:pPr marL="0" indent="0">
              <a:buNone/>
            </a:pPr>
            <a:r>
              <a:rPr lang="en-US" sz="800" dirty="0">
                <a:solidFill>
                  <a:srgbClr val="8892A4"/>
                </a:solidFill>
                <a:latin typeface="Calibri" pitchFamily="34" charset="0"/>
                <a:ea typeface="Calibri" pitchFamily="34" charset="-122"/>
                <a:cs typeface="Calibri" pitchFamily="34" charset="-120"/>
              </a:rPr>
              <a:t>vs AES</a:t>
            </a:r>
            <a:endParaRPr lang="en-US" sz="800" dirty="0"/>
          </a:p>
        </p:txBody>
      </p:sp>
      <p:sp>
        <p:nvSpPr>
          <p:cNvPr id="52" name="Text 44"/>
          <p:cNvSpPr/>
          <p:nvPr/>
        </p:nvSpPr>
        <p:spPr>
          <a:xfrm>
            <a:off x="6345936" y="3227832"/>
            <a:ext cx="2267712" cy="164592"/>
          </a:xfrm>
          <a:prstGeom prst="rect">
            <a:avLst/>
          </a:prstGeom>
          <a:noFill/>
          <a:ln/>
        </p:spPr>
        <p:txBody>
          <a:bodyPr wrap="square" lIns="0" tIns="0" rIns="0" bIns="0" rtlCol="0" anchor="ctr"/>
          <a:lstStyle/>
          <a:p>
            <a:pPr marL="0" indent="0">
              <a:buNone/>
            </a:pPr>
            <a:r>
              <a:rPr lang="en-US" sz="950" b="1" dirty="0">
                <a:solidFill>
                  <a:srgbClr val="00F5FF"/>
                </a:solidFill>
                <a:latin typeface="Calibri" pitchFamily="34" charset="0"/>
                <a:ea typeface="Calibri" pitchFamily="34" charset="-122"/>
                <a:cs typeface="Calibri" pitchFamily="34" charset="-120"/>
              </a:rPr>
              <a:t>57× plus lent sur x86</a:t>
            </a:r>
            <a:endParaRPr lang="en-US" sz="950" dirty="0"/>
          </a:p>
        </p:txBody>
      </p:sp>
      <p:sp>
        <p:nvSpPr>
          <p:cNvPr id="53" name="Shape 45"/>
          <p:cNvSpPr/>
          <p:nvPr/>
        </p:nvSpPr>
        <p:spPr>
          <a:xfrm>
            <a:off x="6163056" y="3474720"/>
            <a:ext cx="2633472" cy="420624"/>
          </a:xfrm>
          <a:prstGeom prst="roundRect">
            <a:avLst>
              <a:gd name="adj" fmla="val 10870"/>
            </a:avLst>
          </a:prstGeom>
          <a:solidFill>
            <a:srgbClr val="060F1E"/>
          </a:solidFill>
          <a:ln w="6350">
            <a:solidFill>
              <a:srgbClr val="0D3D5C"/>
            </a:solidFill>
            <a:prstDash val="solid"/>
          </a:ln>
        </p:spPr>
        <p:txBody>
          <a:bodyPr/>
          <a:lstStyle/>
          <a:p>
            <a:endParaRPr lang="en-CA"/>
          </a:p>
        </p:txBody>
      </p:sp>
      <p:sp>
        <p:nvSpPr>
          <p:cNvPr id="54" name="Text 46"/>
          <p:cNvSpPr/>
          <p:nvPr/>
        </p:nvSpPr>
        <p:spPr>
          <a:xfrm>
            <a:off x="6272784" y="3474720"/>
            <a:ext cx="2414016" cy="420624"/>
          </a:xfrm>
          <a:prstGeom prst="rect">
            <a:avLst/>
          </a:prstGeom>
          <a:noFill/>
          <a:ln/>
        </p:spPr>
        <p:txBody>
          <a:bodyPr wrap="square" lIns="0" tIns="0" rIns="0" bIns="0" rtlCol="0" anchor="ctr"/>
          <a:lstStyle/>
          <a:p>
            <a:pPr marL="0" indent="0" algn="ctr">
              <a:buNone/>
            </a:pPr>
            <a:r>
              <a:rPr lang="en-US" sz="850" i="1" dirty="0">
                <a:solidFill>
                  <a:srgbClr val="8892A4"/>
                </a:solidFill>
                <a:latin typeface="Calibri" pitchFamily="34" charset="0"/>
                <a:ea typeface="Calibri" pitchFamily="34" charset="-122"/>
                <a:cs typeface="Calibri" pitchFamily="34" charset="-120"/>
              </a:rPr>
              <a:t>Fascinant académiquement, mais jamais adopté industriellement.</a:t>
            </a:r>
            <a:endParaRPr lang="en-US" sz="850" dirty="0"/>
          </a:p>
        </p:txBody>
      </p:sp>
      <p:sp>
        <p:nvSpPr>
          <p:cNvPr id="55" name="Shape 47"/>
          <p:cNvSpPr/>
          <p:nvPr/>
        </p:nvSpPr>
        <p:spPr>
          <a:xfrm>
            <a:off x="566928" y="4050792"/>
            <a:ext cx="8229600" cy="420624"/>
          </a:xfrm>
          <a:prstGeom prst="roundRect">
            <a:avLst>
              <a:gd name="adj" fmla="val 9231"/>
            </a:avLst>
          </a:prstGeom>
          <a:solidFill>
            <a:srgbClr val="060F1E"/>
          </a:solidFill>
          <a:ln w="9525">
            <a:solidFill>
              <a:srgbClr val="0D3D5C"/>
            </a:solidFill>
            <a:prstDash val="solid"/>
          </a:ln>
        </p:spPr>
        <p:txBody>
          <a:bodyPr/>
          <a:lstStyle/>
          <a:p>
            <a:endParaRPr lang="en-CA"/>
          </a:p>
        </p:txBody>
      </p:sp>
      <p:sp>
        <p:nvSpPr>
          <p:cNvPr id="56" name="Text 48"/>
          <p:cNvSpPr/>
          <p:nvPr/>
        </p:nvSpPr>
        <p:spPr>
          <a:xfrm>
            <a:off x="731520" y="3967111"/>
            <a:ext cx="7955280" cy="594360"/>
          </a:xfrm>
          <a:prstGeom prst="rect">
            <a:avLst/>
          </a:prstGeom>
          <a:noFill/>
          <a:ln/>
        </p:spPr>
        <p:txBody>
          <a:bodyPr wrap="square" rtlCol="0" anchor="ctr"/>
          <a:lstStyle/>
          <a:p>
            <a:pPr marL="0" indent="0" algn="ctr">
              <a:buNone/>
            </a:pPr>
            <a:r>
              <a:rPr lang="fr-FR" sz="950" b="1" dirty="0">
                <a:solidFill>
                  <a:srgbClr val="00F5FF"/>
                </a:solidFill>
                <a:latin typeface="Calibri" pitchFamily="34" charset="0"/>
                <a:ea typeface="Calibri" pitchFamily="34" charset="-122"/>
                <a:cs typeface="Calibri" pitchFamily="34" charset="-120"/>
              </a:rPr>
              <a:t>Avec 163 MB/s contre 2,82 MB/s pour Twofish, soit un facteur de 57, </a:t>
            </a:r>
            <a:r>
              <a:rPr lang="fr-FR" sz="950" dirty="0">
                <a:solidFill>
                  <a:srgbClr val="8892A4"/>
                </a:solidFill>
                <a:latin typeface="Calibri" pitchFamily="34" charset="0"/>
                <a:ea typeface="Calibri" pitchFamily="34" charset="-122"/>
                <a:cs typeface="Calibri" pitchFamily="34" charset="-120"/>
              </a:rPr>
              <a:t>ces trois algorithmes illustrent pourquoi AES s'est imposé comme standard. Leur intérêt ici est pédagogique, non opérationnel.</a:t>
            </a:r>
            <a:endParaRPr lang="en-US" sz="950" dirty="0">
              <a:solidFill>
                <a:srgbClr val="8892A4"/>
              </a:solidFill>
            </a:endParaRPr>
          </a:p>
        </p:txBody>
      </p:sp>
      <p:sp>
        <p:nvSpPr>
          <p:cNvPr id="57" name="Shape 49"/>
          <p:cNvSpPr/>
          <p:nvPr/>
        </p:nvSpPr>
        <p:spPr>
          <a:xfrm>
            <a:off x="7626096" y="310896"/>
            <a:ext cx="1115568" cy="329184"/>
          </a:xfrm>
          <a:prstGeom prst="roundRect">
            <a:avLst>
              <a:gd name="adj" fmla="val 22222"/>
            </a:avLst>
          </a:prstGeom>
          <a:solidFill>
            <a:srgbClr val="060F1E"/>
          </a:solidFill>
          <a:ln w="9525">
            <a:solidFill>
              <a:srgbClr val="00F5FF"/>
            </a:solidFill>
            <a:prstDash val="solid"/>
          </a:ln>
        </p:spPr>
        <p:txBody>
          <a:bodyPr/>
          <a:lstStyle/>
          <a:p>
            <a:endParaRPr lang="en-CA"/>
          </a:p>
        </p:txBody>
      </p:sp>
      <p:sp>
        <p:nvSpPr>
          <p:cNvPr id="58" name="Text 50"/>
          <p:cNvSpPr/>
          <p:nvPr/>
        </p:nvSpPr>
        <p:spPr>
          <a:xfrm>
            <a:off x="7626096" y="307848"/>
            <a:ext cx="1115568" cy="329184"/>
          </a:xfrm>
          <a:prstGeom prst="rect">
            <a:avLst/>
          </a:prstGeom>
          <a:noFill/>
          <a:ln/>
        </p:spPr>
        <p:txBody>
          <a:bodyPr wrap="square" lIns="0" tIns="0" rIns="0" bIns="0" rtlCol="0" anchor="ctr"/>
          <a:lstStyle/>
          <a:p>
            <a:pPr marL="0" indent="0" algn="ctr">
              <a:buNone/>
            </a:pPr>
            <a:r>
              <a:rPr lang="en-US" sz="950" b="1" dirty="0">
                <a:solidFill>
                  <a:srgbClr val="00F5FF"/>
                </a:solidFill>
                <a:latin typeface="Calibri" pitchFamily="34" charset="0"/>
                <a:ea typeface="Calibri" pitchFamily="34" charset="-122"/>
                <a:cs typeface="Calibri" pitchFamily="34" charset="-120"/>
              </a:rPr>
              <a:t>▶  Vidéo 8</a:t>
            </a:r>
            <a:endParaRPr lang="en-US" sz="950" dirty="0"/>
          </a:p>
        </p:txBody>
      </p:sp>
      <p:sp>
        <p:nvSpPr>
          <p:cNvPr id="59" name="Text 51"/>
          <p:cNvSpPr/>
          <p:nvPr/>
        </p:nvSpPr>
        <p:spPr>
          <a:xfrm>
            <a:off x="1371600" y="4828032"/>
            <a:ext cx="6400800" cy="228600"/>
          </a:xfrm>
          <a:prstGeom prst="rect">
            <a:avLst/>
          </a:prstGeom>
          <a:noFill/>
          <a:ln/>
        </p:spPr>
        <p:txBody>
          <a:bodyPr wrap="square" rtlCol="0" anchor="ctr"/>
          <a:lstStyle/>
          <a:p>
            <a:pPr marL="0" indent="0" algn="ctr">
              <a:buNone/>
            </a:pPr>
            <a:r>
              <a:rPr lang="en-US" sz="850" b="1" kern="0" spc="100" dirty="0">
                <a:solidFill>
                  <a:srgbClr val="00F5FF"/>
                </a:solidFill>
                <a:latin typeface="Calibri" pitchFamily="34" charset="0"/>
                <a:ea typeface="Calibri" pitchFamily="34" charset="-122"/>
                <a:cs typeface="Calibri" pitchFamily="34" charset="-120"/>
              </a:rPr>
              <a:t>INF1430</a:t>
            </a:r>
            <a:r>
              <a:rPr lang="en-US" sz="850" kern="0" spc="100" dirty="0">
                <a:solidFill>
                  <a:srgbClr val="3A4A65"/>
                </a:solidFill>
                <a:latin typeface="Calibri" pitchFamily="34" charset="0"/>
                <a:ea typeface="Calibri" pitchFamily="34" charset="-122"/>
                <a:cs typeface="Calibri" pitchFamily="34" charset="-120"/>
              </a:rPr>
              <a:t>  ·  Université TÉLUQ  ·  TN3  ·  Melissa Moya  ·  2026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Grp="1" noRot="1" noChangeAspect="1" noMove="1" noResize="1" noEditPoints="1" noAdjustHandles="1" noChangeArrowheads="1" noChangeShapeType="1" noCrop="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256032" y="201168"/>
            <a:ext cx="548640" cy="548640"/>
          </a:xfrm>
          <a:prstGeom prst="rect">
            <a:avLst/>
          </a:prstGeom>
        </p:spPr>
      </p:pic>
      <p:pic>
        <p:nvPicPr>
          <p:cNvPr id="4" name="Image 2" descr="preencoded.png"/>
          <p:cNvPicPr>
            <a:picLocks noChangeAspect="1"/>
          </p:cNvPicPr>
          <p:nvPr/>
        </p:nvPicPr>
        <p:blipFill>
          <a:blip r:embed="rId4"/>
          <a:stretch>
            <a:fillRect/>
          </a:stretch>
        </p:blipFill>
        <p:spPr>
          <a:xfrm flipH="1">
            <a:off x="8339328" y="201168"/>
            <a:ext cx="548640" cy="548640"/>
          </a:xfrm>
          <a:prstGeom prst="rect">
            <a:avLst/>
          </a:prstGeom>
        </p:spPr>
      </p:pic>
      <p:pic>
        <p:nvPicPr>
          <p:cNvPr id="5" name="Image 3" descr="preencoded.png"/>
          <p:cNvPicPr>
            <a:picLocks noChangeAspect="1"/>
          </p:cNvPicPr>
          <p:nvPr/>
        </p:nvPicPr>
        <p:blipFill>
          <a:blip r:embed="rId4"/>
          <a:stretch>
            <a:fillRect/>
          </a:stretch>
        </p:blipFill>
        <p:spPr>
          <a:xfrm flipV="1">
            <a:off x="256032" y="4393692"/>
            <a:ext cx="548640" cy="548640"/>
          </a:xfrm>
          <a:prstGeom prst="rect">
            <a:avLst/>
          </a:prstGeom>
        </p:spPr>
      </p:pic>
      <p:pic>
        <p:nvPicPr>
          <p:cNvPr id="6" name="Image 4" descr="preencoded.png"/>
          <p:cNvPicPr>
            <a:picLocks noChangeAspect="1"/>
          </p:cNvPicPr>
          <p:nvPr/>
        </p:nvPicPr>
        <p:blipFill>
          <a:blip r:embed="rId4"/>
          <a:stretch>
            <a:fillRect/>
          </a:stretch>
        </p:blipFill>
        <p:spPr>
          <a:xfrm flipH="1" flipV="1">
            <a:off x="8339328" y="4393692"/>
            <a:ext cx="548640" cy="548640"/>
          </a:xfrm>
          <a:prstGeom prst="rect">
            <a:avLst/>
          </a:prstGeom>
        </p:spPr>
      </p:pic>
      <p:pic>
        <p:nvPicPr>
          <p:cNvPr id="7" name="Image 5" descr="preencoded.png"/>
          <p:cNvPicPr>
            <a:picLocks noChangeAspect="1"/>
          </p:cNvPicPr>
          <p:nvPr/>
        </p:nvPicPr>
        <p:blipFill>
          <a:blip r:embed="rId5">
            <a:alphaModFix amt="80000"/>
          </a:blip>
          <a:stretch>
            <a:fillRect/>
          </a:stretch>
        </p:blipFill>
        <p:spPr>
          <a:xfrm>
            <a:off x="566928" y="256032"/>
            <a:ext cx="256032" cy="256032"/>
          </a:xfrm>
          <a:prstGeom prst="rect">
            <a:avLst/>
          </a:prstGeom>
        </p:spPr>
      </p:pic>
      <p:sp>
        <p:nvSpPr>
          <p:cNvPr id="8" name="Text 0"/>
          <p:cNvSpPr/>
          <p:nvPr/>
        </p:nvSpPr>
        <p:spPr>
          <a:xfrm>
            <a:off x="868680" y="256032"/>
            <a:ext cx="4572000" cy="274320"/>
          </a:xfrm>
          <a:prstGeom prst="rect">
            <a:avLst/>
          </a:prstGeom>
          <a:noFill/>
          <a:ln/>
        </p:spPr>
        <p:txBody>
          <a:bodyPr wrap="square" rtlCol="0" anchor="ctr"/>
          <a:lstStyle/>
          <a:p>
            <a:pPr marL="0" indent="0">
              <a:buNone/>
            </a:pPr>
            <a:r>
              <a:rPr lang="en-US" sz="1000" b="1" kern="0" spc="50" dirty="0">
                <a:solidFill>
                  <a:srgbClr val="00F5FF"/>
                </a:solidFill>
                <a:latin typeface="Calibri" pitchFamily="34" charset="0"/>
                <a:ea typeface="Calibri" pitchFamily="34" charset="-122"/>
                <a:cs typeface="Calibri" pitchFamily="34" charset="-120"/>
              </a:rPr>
              <a:t>04  </a:t>
            </a:r>
            <a:r>
              <a:rPr lang="en-US" sz="1000" kern="0" spc="50" dirty="0">
                <a:solidFill>
                  <a:srgbClr val="8892A4"/>
                </a:solidFill>
                <a:latin typeface="Calibri" pitchFamily="34" charset="0"/>
                <a:ea typeface="Calibri" pitchFamily="34" charset="-122"/>
                <a:cs typeface="Calibri" pitchFamily="34" charset="-120"/>
              </a:rPr>
              <a:t>Résultats de performance</a:t>
            </a:r>
            <a:endParaRPr lang="en-US" sz="1000" dirty="0"/>
          </a:p>
        </p:txBody>
      </p:sp>
      <p:sp>
        <p:nvSpPr>
          <p:cNvPr id="9" name="Text 1"/>
          <p:cNvSpPr/>
          <p:nvPr/>
        </p:nvSpPr>
        <p:spPr>
          <a:xfrm>
            <a:off x="566928" y="566928"/>
            <a:ext cx="7772400" cy="502920"/>
          </a:xfrm>
          <a:prstGeom prst="rect">
            <a:avLst/>
          </a:prstGeom>
          <a:noFill/>
          <a:ln/>
        </p:spPr>
        <p:txBody>
          <a:bodyPr wrap="square"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ECB — Le mode le plus rapide est le plus dangereux</a:t>
            </a:r>
            <a:endParaRPr lang="en-US" sz="2300" dirty="0"/>
          </a:p>
        </p:txBody>
      </p:sp>
      <p:sp>
        <p:nvSpPr>
          <p:cNvPr id="12" name="Text 3"/>
          <p:cNvSpPr/>
          <p:nvPr/>
        </p:nvSpPr>
        <p:spPr>
          <a:xfrm>
            <a:off x="822960" y="4033089"/>
            <a:ext cx="2415246" cy="384048"/>
          </a:xfrm>
          <a:prstGeom prst="rect">
            <a:avLst/>
          </a:prstGeom>
          <a:noFill/>
          <a:ln/>
        </p:spPr>
        <p:txBody>
          <a:bodyPr wrap="square" lIns="0" tIns="0" rIns="0" bIns="0" rtlCol="0" anchor="ctr"/>
          <a:lstStyle/>
          <a:p>
            <a:pPr marL="0" indent="0" algn="ctr">
              <a:buNone/>
            </a:pPr>
            <a:r>
              <a:rPr lang="en-US" sz="950" dirty="0">
                <a:solidFill>
                  <a:srgbClr val="8892A4"/>
                </a:solidFill>
                <a:latin typeface="Calibri" pitchFamily="34" charset="0"/>
                <a:ea typeface="Calibri" pitchFamily="34" charset="-122"/>
                <a:cs typeface="Calibri" pitchFamily="34" charset="-120"/>
              </a:rPr>
              <a:t>ECB chiffre chaque bloc </a:t>
            </a:r>
            <a:r>
              <a:rPr lang="en-US" sz="950" b="1" dirty="0">
                <a:solidFill>
                  <a:srgbClr val="FFFFFF"/>
                </a:solidFill>
                <a:latin typeface="Calibri" pitchFamily="34" charset="0"/>
                <a:ea typeface="Calibri" pitchFamily="34" charset="-122"/>
                <a:cs typeface="Calibri" pitchFamily="34" charset="-120"/>
              </a:rPr>
              <a:t>indépendamment</a:t>
            </a:r>
            <a:r>
              <a:rPr lang="en-US" sz="950" dirty="0">
                <a:solidFill>
                  <a:srgbClr val="8892A4"/>
                </a:solidFill>
                <a:latin typeface="Calibri" pitchFamily="34" charset="0"/>
                <a:ea typeface="Calibri" pitchFamily="34" charset="-122"/>
                <a:cs typeface="Calibri" pitchFamily="34" charset="-120"/>
              </a:rPr>
              <a:t> avec la même clé</a:t>
            </a:r>
            <a:endParaRPr lang="en-US" sz="950" dirty="0"/>
          </a:p>
        </p:txBody>
      </p:sp>
      <p:sp>
        <p:nvSpPr>
          <p:cNvPr id="14" name="Text 5"/>
          <p:cNvSpPr/>
          <p:nvPr/>
        </p:nvSpPr>
        <p:spPr>
          <a:xfrm>
            <a:off x="3364993" y="4033089"/>
            <a:ext cx="2415246" cy="384048"/>
          </a:xfrm>
          <a:prstGeom prst="rect">
            <a:avLst/>
          </a:prstGeom>
          <a:noFill/>
          <a:ln/>
        </p:spPr>
        <p:txBody>
          <a:bodyPr wrap="square" lIns="0" tIns="0" rIns="0" bIns="0" rtlCol="0" anchor="ctr"/>
          <a:lstStyle/>
          <a:p>
            <a:pPr marL="0" indent="0" algn="ctr">
              <a:buNone/>
            </a:pPr>
            <a:r>
              <a:rPr lang="en-US" sz="950" dirty="0">
                <a:solidFill>
                  <a:srgbClr val="8892A4"/>
                </a:solidFill>
                <a:latin typeface="Calibri" pitchFamily="34" charset="0"/>
                <a:ea typeface="Calibri" pitchFamily="34" charset="-122"/>
                <a:cs typeface="Calibri" pitchFamily="34" charset="-120"/>
              </a:rPr>
              <a:t>Deux blocs de plaintext identiques → </a:t>
            </a:r>
            <a:r>
              <a:rPr lang="en-US" sz="950" b="1" dirty="0">
                <a:solidFill>
                  <a:srgbClr val="FFFFFF"/>
                </a:solidFill>
                <a:latin typeface="Calibri" pitchFamily="34" charset="0"/>
                <a:ea typeface="Calibri" pitchFamily="34" charset="-122"/>
                <a:cs typeface="Calibri" pitchFamily="34" charset="-120"/>
              </a:rPr>
              <a:t>deux blocs de ciphertext identiques</a:t>
            </a:r>
            <a:endParaRPr lang="en-US" sz="950" dirty="0"/>
          </a:p>
        </p:txBody>
      </p:sp>
      <p:sp>
        <p:nvSpPr>
          <p:cNvPr id="16" name="Text 7"/>
          <p:cNvSpPr/>
          <p:nvPr/>
        </p:nvSpPr>
        <p:spPr>
          <a:xfrm>
            <a:off x="5963119" y="4024603"/>
            <a:ext cx="2376209" cy="384048"/>
          </a:xfrm>
          <a:prstGeom prst="rect">
            <a:avLst/>
          </a:prstGeom>
          <a:noFill/>
          <a:ln/>
        </p:spPr>
        <p:txBody>
          <a:bodyPr wrap="square" lIns="0" tIns="0" rIns="0" bIns="0" rtlCol="0" anchor="ctr"/>
          <a:lstStyle/>
          <a:p>
            <a:pPr marL="0" indent="0" algn="ctr">
              <a:buNone/>
            </a:pPr>
            <a:r>
              <a:rPr lang="en-US" sz="950" dirty="0">
                <a:solidFill>
                  <a:srgbClr val="8892A4"/>
                </a:solidFill>
                <a:latin typeface="Calibri" pitchFamily="34" charset="0"/>
                <a:ea typeface="Calibri" pitchFamily="34" charset="-122"/>
                <a:cs typeface="Calibri" pitchFamily="34" charset="-120"/>
              </a:rPr>
              <a:t>Les patterns structurels </a:t>
            </a:r>
            <a:r>
              <a:rPr lang="en-US" sz="950" b="1" dirty="0">
                <a:solidFill>
                  <a:srgbClr val="FFFFFF"/>
                </a:solidFill>
                <a:latin typeface="Calibri" pitchFamily="34" charset="0"/>
                <a:ea typeface="Calibri" pitchFamily="34" charset="-122"/>
                <a:cs typeface="Calibri" pitchFamily="34" charset="-120"/>
              </a:rPr>
              <a:t>survivent au chiffrement</a:t>
            </a:r>
            <a:r>
              <a:rPr lang="en-US" sz="950" dirty="0">
                <a:solidFill>
                  <a:srgbClr val="8892A4"/>
                </a:solidFill>
                <a:latin typeface="Calibri" pitchFamily="34" charset="0"/>
                <a:ea typeface="Calibri" pitchFamily="34" charset="-122"/>
                <a:cs typeface="Calibri" pitchFamily="34" charset="-120"/>
              </a:rPr>
              <a:t> — la clé n'a pas besoin d'être cassée</a:t>
            </a:r>
            <a:endParaRPr lang="en-US" sz="950" dirty="0"/>
          </a:p>
        </p:txBody>
      </p:sp>
      <p:sp>
        <p:nvSpPr>
          <p:cNvPr id="18" name="Text 9"/>
          <p:cNvSpPr/>
          <p:nvPr/>
        </p:nvSpPr>
        <p:spPr>
          <a:xfrm>
            <a:off x="530352" y="4309077"/>
            <a:ext cx="7955280" cy="594360"/>
          </a:xfrm>
          <a:prstGeom prst="rect">
            <a:avLst/>
          </a:prstGeom>
          <a:noFill/>
          <a:ln/>
        </p:spPr>
        <p:txBody>
          <a:bodyPr wrap="square" rtlCol="0" anchor="ctr"/>
          <a:lstStyle/>
          <a:p>
            <a:pPr marL="0" indent="0" algn="ctr">
              <a:buNone/>
            </a:pPr>
            <a:r>
              <a:rPr lang="fr-FR" sz="950" b="1" dirty="0">
                <a:solidFill>
                  <a:srgbClr val="FF6B9D"/>
                </a:solidFill>
                <a:latin typeface="Calibri" pitchFamily="34" charset="0"/>
                <a:ea typeface="Calibri" pitchFamily="34" charset="-122"/>
                <a:cs typeface="Calibri" pitchFamily="34" charset="-120"/>
              </a:rPr>
              <a:t>Avec 162 MB/s, ECB obtient le résultat le plus élevé du benchmark, </a:t>
            </a:r>
            <a:r>
              <a:rPr lang="fr-FR" sz="950" dirty="0">
                <a:solidFill>
                  <a:srgbClr val="8892A4"/>
                </a:solidFill>
                <a:latin typeface="Calibri" pitchFamily="34" charset="0"/>
                <a:ea typeface="Calibri" pitchFamily="34" charset="-122"/>
                <a:cs typeface="Calibri" pitchFamily="34" charset="-120"/>
              </a:rPr>
              <a:t>et c'est pourtant le seul mode cryptographiquement cassé. Optimiser sans comprendre les implications en matière de sécurité constitue une faute professionnelle.</a:t>
            </a:r>
            <a:endParaRPr lang="en-US" sz="950" dirty="0">
              <a:solidFill>
                <a:srgbClr val="8892A4"/>
              </a:solidFill>
            </a:endParaRPr>
          </a:p>
        </p:txBody>
      </p:sp>
      <p:sp>
        <p:nvSpPr>
          <p:cNvPr id="19" name="Shape 10"/>
          <p:cNvSpPr/>
          <p:nvPr/>
        </p:nvSpPr>
        <p:spPr>
          <a:xfrm>
            <a:off x="7699248" y="256032"/>
            <a:ext cx="1115568" cy="329184"/>
          </a:xfrm>
          <a:prstGeom prst="roundRect">
            <a:avLst>
              <a:gd name="adj" fmla="val 22222"/>
            </a:avLst>
          </a:prstGeom>
          <a:solidFill>
            <a:srgbClr val="060F1E"/>
          </a:solidFill>
          <a:ln w="9525">
            <a:solidFill>
              <a:srgbClr val="00F5FF"/>
            </a:solidFill>
            <a:prstDash val="solid"/>
          </a:ln>
        </p:spPr>
        <p:txBody>
          <a:bodyPr/>
          <a:lstStyle/>
          <a:p>
            <a:endParaRPr lang="en-CA"/>
          </a:p>
        </p:txBody>
      </p:sp>
      <p:sp>
        <p:nvSpPr>
          <p:cNvPr id="20" name="Text 11"/>
          <p:cNvSpPr/>
          <p:nvPr/>
        </p:nvSpPr>
        <p:spPr>
          <a:xfrm>
            <a:off x="7699248" y="256032"/>
            <a:ext cx="1115568" cy="329184"/>
          </a:xfrm>
          <a:prstGeom prst="rect">
            <a:avLst/>
          </a:prstGeom>
          <a:noFill/>
          <a:ln/>
        </p:spPr>
        <p:txBody>
          <a:bodyPr wrap="square" lIns="0" tIns="0" rIns="0" bIns="0" rtlCol="0" anchor="ctr"/>
          <a:lstStyle/>
          <a:p>
            <a:pPr marL="0" indent="0" algn="ctr">
              <a:buNone/>
            </a:pPr>
            <a:r>
              <a:rPr lang="en-US" sz="950" b="1" dirty="0">
                <a:solidFill>
                  <a:srgbClr val="00F5FF"/>
                </a:solidFill>
                <a:latin typeface="Calibri" pitchFamily="34" charset="0"/>
                <a:ea typeface="Calibri" pitchFamily="34" charset="-122"/>
                <a:cs typeface="Calibri" pitchFamily="34" charset="-120"/>
              </a:rPr>
              <a:t>▶  Vidéo 9</a:t>
            </a:r>
            <a:endParaRPr lang="en-US" sz="950" dirty="0"/>
          </a:p>
        </p:txBody>
      </p:sp>
      <p:sp>
        <p:nvSpPr>
          <p:cNvPr id="21" name="Text 12"/>
          <p:cNvSpPr/>
          <p:nvPr/>
        </p:nvSpPr>
        <p:spPr>
          <a:xfrm>
            <a:off x="1371600" y="4828032"/>
            <a:ext cx="6400800" cy="228600"/>
          </a:xfrm>
          <a:prstGeom prst="rect">
            <a:avLst/>
          </a:prstGeom>
          <a:noFill/>
          <a:ln/>
        </p:spPr>
        <p:txBody>
          <a:bodyPr wrap="square" rtlCol="0" anchor="ctr"/>
          <a:lstStyle/>
          <a:p>
            <a:pPr marL="0" indent="0" algn="ctr">
              <a:buNone/>
            </a:pPr>
            <a:r>
              <a:rPr lang="en-US" sz="850" b="1" kern="0" spc="100" dirty="0">
                <a:solidFill>
                  <a:srgbClr val="00F5FF"/>
                </a:solidFill>
                <a:latin typeface="Calibri" pitchFamily="34" charset="0"/>
                <a:ea typeface="Calibri" pitchFamily="34" charset="-122"/>
                <a:cs typeface="Calibri" pitchFamily="34" charset="-120"/>
              </a:rPr>
              <a:t>INF1430</a:t>
            </a:r>
            <a:r>
              <a:rPr lang="en-US" sz="850" kern="0" spc="100" dirty="0">
                <a:solidFill>
                  <a:srgbClr val="3A4A65"/>
                </a:solidFill>
                <a:latin typeface="Calibri" pitchFamily="34" charset="0"/>
                <a:ea typeface="Calibri" pitchFamily="34" charset="-122"/>
                <a:cs typeface="Calibri" pitchFamily="34" charset="-120"/>
              </a:rPr>
              <a:t>  ·  Université TÉLUQ  ·  TN3  ·  Melissa Moya  ·  2026</a:t>
            </a:r>
            <a:endParaRPr lang="en-US" sz="850" dirty="0"/>
          </a:p>
        </p:txBody>
      </p:sp>
      <p:pic>
        <p:nvPicPr>
          <p:cNvPr id="23" name="Picture 22">
            <a:extLst>
              <a:ext uri="{FF2B5EF4-FFF2-40B4-BE49-F238E27FC236}">
                <a16:creationId xmlns:a16="http://schemas.microsoft.com/office/drawing/2014/main" id="{66E1F1BD-FF88-78BC-A9F3-7B747473B33D}"/>
              </a:ext>
            </a:extLst>
          </p:cNvPr>
          <p:cNvPicPr>
            <a:picLocks noChangeAspect="1"/>
          </p:cNvPicPr>
          <p:nvPr/>
        </p:nvPicPr>
        <p:blipFill>
          <a:blip r:embed="rId6"/>
          <a:stretch>
            <a:fillRect/>
          </a:stretch>
        </p:blipFill>
        <p:spPr>
          <a:xfrm>
            <a:off x="749808" y="1022211"/>
            <a:ext cx="7535210" cy="296787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256032" y="201168"/>
            <a:ext cx="548640" cy="548640"/>
          </a:xfrm>
          <a:prstGeom prst="rect">
            <a:avLst/>
          </a:prstGeom>
        </p:spPr>
      </p:pic>
      <p:pic>
        <p:nvPicPr>
          <p:cNvPr id="4" name="Image 2" descr="preencoded.png"/>
          <p:cNvPicPr>
            <a:picLocks noChangeAspect="1"/>
          </p:cNvPicPr>
          <p:nvPr/>
        </p:nvPicPr>
        <p:blipFill>
          <a:blip r:embed="rId4"/>
          <a:stretch>
            <a:fillRect/>
          </a:stretch>
        </p:blipFill>
        <p:spPr>
          <a:xfrm flipH="1">
            <a:off x="8339328" y="201168"/>
            <a:ext cx="548640" cy="548640"/>
          </a:xfrm>
          <a:prstGeom prst="rect">
            <a:avLst/>
          </a:prstGeom>
        </p:spPr>
      </p:pic>
      <p:pic>
        <p:nvPicPr>
          <p:cNvPr id="5" name="Image 3" descr="preencoded.png"/>
          <p:cNvPicPr>
            <a:picLocks noChangeAspect="1"/>
          </p:cNvPicPr>
          <p:nvPr/>
        </p:nvPicPr>
        <p:blipFill>
          <a:blip r:embed="rId4"/>
          <a:stretch>
            <a:fillRect/>
          </a:stretch>
        </p:blipFill>
        <p:spPr>
          <a:xfrm flipV="1">
            <a:off x="256032" y="4393692"/>
            <a:ext cx="548640" cy="548640"/>
          </a:xfrm>
          <a:prstGeom prst="rect">
            <a:avLst/>
          </a:prstGeom>
        </p:spPr>
      </p:pic>
      <p:pic>
        <p:nvPicPr>
          <p:cNvPr id="6" name="Image 4" descr="preencoded.png"/>
          <p:cNvPicPr>
            <a:picLocks noChangeAspect="1"/>
          </p:cNvPicPr>
          <p:nvPr/>
        </p:nvPicPr>
        <p:blipFill>
          <a:blip r:embed="rId4"/>
          <a:stretch>
            <a:fillRect/>
          </a:stretch>
        </p:blipFill>
        <p:spPr>
          <a:xfrm flipH="1" flipV="1">
            <a:off x="8339328" y="4393692"/>
            <a:ext cx="548640" cy="548640"/>
          </a:xfrm>
          <a:prstGeom prst="rect">
            <a:avLst/>
          </a:prstGeom>
        </p:spPr>
      </p:pic>
      <p:pic>
        <p:nvPicPr>
          <p:cNvPr id="7" name="Image 5" descr="preencoded.png"/>
          <p:cNvPicPr>
            <a:picLocks noChangeAspect="1"/>
          </p:cNvPicPr>
          <p:nvPr/>
        </p:nvPicPr>
        <p:blipFill>
          <a:blip r:embed="rId5">
            <a:alphaModFix amt="80000"/>
          </a:blip>
          <a:stretch>
            <a:fillRect/>
          </a:stretch>
        </p:blipFill>
        <p:spPr>
          <a:xfrm>
            <a:off x="566928" y="256032"/>
            <a:ext cx="256032" cy="256032"/>
          </a:xfrm>
          <a:prstGeom prst="rect">
            <a:avLst/>
          </a:prstGeom>
        </p:spPr>
      </p:pic>
      <p:sp>
        <p:nvSpPr>
          <p:cNvPr id="8" name="Text 0"/>
          <p:cNvSpPr/>
          <p:nvPr/>
        </p:nvSpPr>
        <p:spPr>
          <a:xfrm>
            <a:off x="868680" y="256032"/>
            <a:ext cx="5486400" cy="274320"/>
          </a:xfrm>
          <a:prstGeom prst="rect">
            <a:avLst/>
          </a:prstGeom>
          <a:noFill/>
          <a:ln/>
        </p:spPr>
        <p:txBody>
          <a:bodyPr wrap="square" rtlCol="0" anchor="ctr"/>
          <a:lstStyle/>
          <a:p>
            <a:pPr marL="0" indent="0">
              <a:buNone/>
            </a:pPr>
            <a:r>
              <a:rPr lang="en-US" sz="1000" b="1" kern="0" spc="50" dirty="0">
                <a:solidFill>
                  <a:srgbClr val="9B6DFF"/>
                </a:solidFill>
                <a:latin typeface="Calibri" pitchFamily="34" charset="0"/>
                <a:ea typeface="Calibri" pitchFamily="34" charset="-122"/>
                <a:cs typeface="Calibri" pitchFamily="34" charset="-120"/>
              </a:rPr>
              <a:t>05  </a:t>
            </a:r>
            <a:r>
              <a:rPr lang="en-US" sz="1000" kern="0" spc="50" dirty="0">
                <a:solidFill>
                  <a:srgbClr val="8892A4"/>
                </a:solidFill>
                <a:latin typeface="Calibri" pitchFamily="34" charset="0"/>
                <a:ea typeface="Calibri" pitchFamily="34" charset="-122"/>
                <a:cs typeface="Calibri" pitchFamily="34" charset="-120"/>
              </a:rPr>
              <a:t>Robustesse cryptographique</a:t>
            </a:r>
            <a:endParaRPr lang="en-US" sz="1000" dirty="0"/>
          </a:p>
        </p:txBody>
      </p:sp>
      <p:sp>
        <p:nvSpPr>
          <p:cNvPr id="9" name="Text 1"/>
          <p:cNvSpPr/>
          <p:nvPr/>
        </p:nvSpPr>
        <p:spPr>
          <a:xfrm>
            <a:off x="566928" y="566928"/>
            <a:ext cx="77724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Effet d'avalanche — La santé cryptographique</a:t>
            </a:r>
            <a:endParaRPr lang="en-US" sz="2400" dirty="0"/>
          </a:p>
        </p:txBody>
      </p:sp>
      <p:sp>
        <p:nvSpPr>
          <p:cNvPr id="11" name="Shape 2"/>
          <p:cNvSpPr/>
          <p:nvPr/>
        </p:nvSpPr>
        <p:spPr>
          <a:xfrm>
            <a:off x="6144768" y="1115568"/>
            <a:ext cx="2743200" cy="402336"/>
          </a:xfrm>
          <a:prstGeom prst="roundRect">
            <a:avLst>
              <a:gd name="adj" fmla="val 9091"/>
            </a:avLst>
          </a:prstGeom>
          <a:solidFill>
            <a:srgbClr val="0D1E35"/>
          </a:solidFill>
          <a:ln w="6350">
            <a:solidFill>
              <a:srgbClr val="1A3A55"/>
            </a:solidFill>
            <a:prstDash val="solid"/>
          </a:ln>
        </p:spPr>
        <p:txBody>
          <a:bodyPr/>
          <a:lstStyle/>
          <a:p>
            <a:endParaRPr lang="en-CA"/>
          </a:p>
        </p:txBody>
      </p:sp>
      <p:sp>
        <p:nvSpPr>
          <p:cNvPr id="12" name="Text 3"/>
          <p:cNvSpPr/>
          <p:nvPr/>
        </p:nvSpPr>
        <p:spPr>
          <a:xfrm>
            <a:off x="6236208" y="1115568"/>
            <a:ext cx="1097280" cy="402336"/>
          </a:xfrm>
          <a:prstGeom prst="rect">
            <a:avLst/>
          </a:prstGeom>
          <a:noFill/>
          <a:ln/>
        </p:spPr>
        <p:txBody>
          <a:bodyPr wrap="square" lIns="0" tIns="0" rIns="0" bIns="0" rtlCol="0" anchor="ctr"/>
          <a:lstStyle/>
          <a:p>
            <a:pPr marL="0" indent="0" algn="l">
              <a:buNone/>
            </a:pPr>
            <a:r>
              <a:rPr lang="en-US" sz="1000" b="1" dirty="0">
                <a:solidFill>
                  <a:srgbClr val="00F5FF"/>
                </a:solidFill>
                <a:latin typeface="Calibri" pitchFamily="34" charset="0"/>
                <a:ea typeface="Calibri" pitchFamily="34" charset="-122"/>
                <a:cs typeface="Calibri" pitchFamily="34" charset="-120"/>
              </a:rPr>
              <a:t>Algorithme</a:t>
            </a:r>
            <a:endParaRPr lang="en-US" sz="1000" dirty="0"/>
          </a:p>
        </p:txBody>
      </p:sp>
      <p:sp>
        <p:nvSpPr>
          <p:cNvPr id="13" name="Text 4"/>
          <p:cNvSpPr/>
          <p:nvPr/>
        </p:nvSpPr>
        <p:spPr>
          <a:xfrm>
            <a:off x="7242048" y="1115568"/>
            <a:ext cx="694944" cy="402336"/>
          </a:xfrm>
          <a:prstGeom prst="rect">
            <a:avLst/>
          </a:prstGeom>
          <a:noFill/>
          <a:ln/>
        </p:spPr>
        <p:txBody>
          <a:bodyPr wrap="square" lIns="0" tIns="0" rIns="0" bIns="0" rtlCol="0" anchor="ctr"/>
          <a:lstStyle/>
          <a:p>
            <a:pPr marL="0" indent="0" algn="ctr">
              <a:buNone/>
            </a:pPr>
            <a:r>
              <a:rPr lang="en-US" sz="1000" b="1" dirty="0">
                <a:solidFill>
                  <a:srgbClr val="00F5FF"/>
                </a:solidFill>
                <a:latin typeface="Calibri" pitchFamily="34" charset="0"/>
                <a:ea typeface="Calibri" pitchFamily="34" charset="-122"/>
                <a:cs typeface="Calibri" pitchFamily="34" charset="-120"/>
              </a:rPr>
              <a:t>Score</a:t>
            </a:r>
            <a:endParaRPr lang="en-US" sz="1000" dirty="0"/>
          </a:p>
        </p:txBody>
      </p:sp>
      <p:sp>
        <p:nvSpPr>
          <p:cNvPr id="14" name="Text 5"/>
          <p:cNvSpPr/>
          <p:nvPr/>
        </p:nvSpPr>
        <p:spPr>
          <a:xfrm>
            <a:off x="7936992" y="1115568"/>
            <a:ext cx="950976" cy="402336"/>
          </a:xfrm>
          <a:prstGeom prst="rect">
            <a:avLst/>
          </a:prstGeom>
          <a:noFill/>
          <a:ln/>
        </p:spPr>
        <p:txBody>
          <a:bodyPr wrap="square" lIns="0" tIns="0" rIns="0" bIns="0" rtlCol="0" anchor="ctr"/>
          <a:lstStyle/>
          <a:p>
            <a:pPr marL="0" indent="0" algn="ctr">
              <a:buNone/>
            </a:pPr>
            <a:r>
              <a:rPr lang="en-US" sz="1000" b="1" dirty="0">
                <a:solidFill>
                  <a:srgbClr val="00F5FF"/>
                </a:solidFill>
                <a:latin typeface="Calibri" pitchFamily="34" charset="0"/>
                <a:ea typeface="Calibri" pitchFamily="34" charset="-122"/>
                <a:cs typeface="Calibri" pitchFamily="34" charset="-120"/>
              </a:rPr>
              <a:t>Verdict</a:t>
            </a:r>
            <a:endParaRPr lang="en-US" sz="1000" dirty="0"/>
          </a:p>
        </p:txBody>
      </p:sp>
      <p:sp>
        <p:nvSpPr>
          <p:cNvPr id="15" name="Shape 6"/>
          <p:cNvSpPr/>
          <p:nvPr/>
        </p:nvSpPr>
        <p:spPr>
          <a:xfrm>
            <a:off x="6144768" y="1517904"/>
            <a:ext cx="2743200" cy="402336"/>
          </a:xfrm>
          <a:prstGeom prst="rect">
            <a:avLst/>
          </a:prstGeom>
          <a:solidFill>
            <a:srgbClr val="080F1E"/>
          </a:solidFill>
          <a:ln w="6350">
            <a:solidFill>
              <a:srgbClr val="0F1E30"/>
            </a:solidFill>
            <a:prstDash val="solid"/>
          </a:ln>
        </p:spPr>
        <p:txBody>
          <a:bodyPr/>
          <a:lstStyle/>
          <a:p>
            <a:endParaRPr lang="en-CA"/>
          </a:p>
        </p:txBody>
      </p:sp>
      <p:sp>
        <p:nvSpPr>
          <p:cNvPr id="16" name="Shape 7"/>
          <p:cNvSpPr/>
          <p:nvPr/>
        </p:nvSpPr>
        <p:spPr>
          <a:xfrm>
            <a:off x="6236208" y="1664208"/>
            <a:ext cx="109728" cy="109728"/>
          </a:xfrm>
          <a:prstGeom prst="ellipse">
            <a:avLst/>
          </a:prstGeom>
          <a:solidFill>
            <a:srgbClr val="4F7FFF"/>
          </a:solidFill>
          <a:ln w="12700">
            <a:solidFill>
              <a:srgbClr val="4F7FFF"/>
            </a:solidFill>
            <a:prstDash val="solid"/>
          </a:ln>
        </p:spPr>
        <p:txBody>
          <a:bodyPr/>
          <a:lstStyle/>
          <a:p>
            <a:endParaRPr lang="en-CA"/>
          </a:p>
        </p:txBody>
      </p:sp>
      <p:sp>
        <p:nvSpPr>
          <p:cNvPr id="17" name="Text 8"/>
          <p:cNvSpPr/>
          <p:nvPr/>
        </p:nvSpPr>
        <p:spPr>
          <a:xfrm>
            <a:off x="6400800" y="1517904"/>
            <a:ext cx="822960" cy="402336"/>
          </a:xfrm>
          <a:prstGeom prst="rect">
            <a:avLst/>
          </a:prstGeom>
          <a:noFill/>
          <a:ln/>
        </p:spPr>
        <p:txBody>
          <a:bodyPr wrap="square" lIns="0" tIns="0" rIns="0" bIns="0" rtlCol="0" anchor="ctr"/>
          <a:lstStyle/>
          <a:p>
            <a:pPr marL="0" indent="0">
              <a:buNone/>
            </a:pPr>
            <a:r>
              <a:rPr lang="en-US" sz="1000" b="1" dirty="0">
                <a:solidFill>
                  <a:srgbClr val="4F7FFF"/>
                </a:solidFill>
                <a:latin typeface="Calibri" pitchFamily="34" charset="0"/>
                <a:ea typeface="Calibri" pitchFamily="34" charset="-122"/>
                <a:cs typeface="Calibri" pitchFamily="34" charset="-120"/>
              </a:rPr>
              <a:t>AES</a:t>
            </a:r>
            <a:endParaRPr lang="en-US" sz="1000" dirty="0"/>
          </a:p>
        </p:txBody>
      </p:sp>
      <p:sp>
        <p:nvSpPr>
          <p:cNvPr id="18" name="Text 9"/>
          <p:cNvSpPr/>
          <p:nvPr/>
        </p:nvSpPr>
        <p:spPr>
          <a:xfrm>
            <a:off x="7242048" y="1517904"/>
            <a:ext cx="694944" cy="402336"/>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0.4997</a:t>
            </a:r>
            <a:endParaRPr lang="en-US" sz="1000" dirty="0"/>
          </a:p>
        </p:txBody>
      </p:sp>
      <p:sp>
        <p:nvSpPr>
          <p:cNvPr id="19" name="Text 10"/>
          <p:cNvSpPr/>
          <p:nvPr/>
        </p:nvSpPr>
        <p:spPr>
          <a:xfrm>
            <a:off x="7936992" y="1517904"/>
            <a:ext cx="950976" cy="402336"/>
          </a:xfrm>
          <a:prstGeom prst="rect">
            <a:avLst/>
          </a:prstGeom>
          <a:noFill/>
          <a:ln/>
        </p:spPr>
        <p:txBody>
          <a:bodyPr wrap="square" lIns="0" tIns="0" rIns="0" bIns="0" rtlCol="0" anchor="ctr"/>
          <a:lstStyle/>
          <a:p>
            <a:pPr marL="0" indent="0" algn="ctr">
              <a:buNone/>
            </a:pPr>
            <a:r>
              <a:rPr lang="en-US" sz="1000" dirty="0">
                <a:solidFill>
                  <a:srgbClr val="4DFFA0"/>
                </a:solidFill>
                <a:latin typeface="Calibri" pitchFamily="34" charset="0"/>
                <a:ea typeface="Calibri" pitchFamily="34" charset="-122"/>
                <a:cs typeface="Calibri" pitchFamily="34" charset="-120"/>
              </a:rPr>
              <a:t>Parfait</a:t>
            </a:r>
            <a:endParaRPr lang="en-US" sz="1000" dirty="0"/>
          </a:p>
        </p:txBody>
      </p:sp>
      <p:sp>
        <p:nvSpPr>
          <p:cNvPr id="20" name="Shape 11"/>
          <p:cNvSpPr/>
          <p:nvPr/>
        </p:nvSpPr>
        <p:spPr>
          <a:xfrm>
            <a:off x="6144768" y="1920240"/>
            <a:ext cx="2743200" cy="402336"/>
          </a:xfrm>
          <a:prstGeom prst="rect">
            <a:avLst/>
          </a:prstGeom>
          <a:solidFill>
            <a:srgbClr val="060B14"/>
          </a:solidFill>
          <a:ln w="6350">
            <a:solidFill>
              <a:srgbClr val="0F1E30"/>
            </a:solidFill>
            <a:prstDash val="solid"/>
          </a:ln>
        </p:spPr>
        <p:txBody>
          <a:bodyPr/>
          <a:lstStyle/>
          <a:p>
            <a:endParaRPr lang="en-CA"/>
          </a:p>
        </p:txBody>
      </p:sp>
      <p:sp>
        <p:nvSpPr>
          <p:cNvPr id="21" name="Shape 12"/>
          <p:cNvSpPr/>
          <p:nvPr/>
        </p:nvSpPr>
        <p:spPr>
          <a:xfrm>
            <a:off x="6236208" y="2066544"/>
            <a:ext cx="109728" cy="109728"/>
          </a:xfrm>
          <a:prstGeom prst="ellipse">
            <a:avLst/>
          </a:prstGeom>
          <a:solidFill>
            <a:srgbClr val="9B6DFF"/>
          </a:solidFill>
          <a:ln w="12700">
            <a:solidFill>
              <a:srgbClr val="9B6DFF"/>
            </a:solidFill>
            <a:prstDash val="solid"/>
          </a:ln>
        </p:spPr>
        <p:txBody>
          <a:bodyPr/>
          <a:lstStyle/>
          <a:p>
            <a:endParaRPr lang="en-CA"/>
          </a:p>
        </p:txBody>
      </p:sp>
      <p:sp>
        <p:nvSpPr>
          <p:cNvPr id="22" name="Text 13"/>
          <p:cNvSpPr/>
          <p:nvPr/>
        </p:nvSpPr>
        <p:spPr>
          <a:xfrm>
            <a:off x="6400800" y="1920240"/>
            <a:ext cx="822960" cy="402336"/>
          </a:xfrm>
          <a:prstGeom prst="rect">
            <a:avLst/>
          </a:prstGeom>
          <a:noFill/>
          <a:ln/>
        </p:spPr>
        <p:txBody>
          <a:bodyPr wrap="square" lIns="0" tIns="0" rIns="0" bIns="0" rtlCol="0" anchor="ctr"/>
          <a:lstStyle/>
          <a:p>
            <a:pPr marL="0" indent="0">
              <a:buNone/>
            </a:pPr>
            <a:r>
              <a:rPr lang="en-US" sz="1000" b="1" dirty="0">
                <a:solidFill>
                  <a:srgbClr val="9B6DFF"/>
                </a:solidFill>
                <a:latin typeface="Calibri" pitchFamily="34" charset="0"/>
                <a:ea typeface="Calibri" pitchFamily="34" charset="-122"/>
                <a:cs typeface="Calibri" pitchFamily="34" charset="-120"/>
              </a:rPr>
              <a:t>3DES</a:t>
            </a:r>
            <a:endParaRPr lang="en-US" sz="1000" dirty="0"/>
          </a:p>
        </p:txBody>
      </p:sp>
      <p:sp>
        <p:nvSpPr>
          <p:cNvPr id="23" name="Text 14"/>
          <p:cNvSpPr/>
          <p:nvPr/>
        </p:nvSpPr>
        <p:spPr>
          <a:xfrm>
            <a:off x="7242048" y="1920240"/>
            <a:ext cx="694944" cy="402336"/>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0.5004</a:t>
            </a:r>
            <a:endParaRPr lang="en-US" sz="1000" dirty="0"/>
          </a:p>
        </p:txBody>
      </p:sp>
      <p:sp>
        <p:nvSpPr>
          <p:cNvPr id="24" name="Text 15"/>
          <p:cNvSpPr/>
          <p:nvPr/>
        </p:nvSpPr>
        <p:spPr>
          <a:xfrm>
            <a:off x="7936992" y="1920240"/>
            <a:ext cx="950976" cy="402336"/>
          </a:xfrm>
          <a:prstGeom prst="rect">
            <a:avLst/>
          </a:prstGeom>
          <a:noFill/>
          <a:ln/>
        </p:spPr>
        <p:txBody>
          <a:bodyPr wrap="square" lIns="0" tIns="0" rIns="0" bIns="0" rtlCol="0" anchor="ctr"/>
          <a:lstStyle/>
          <a:p>
            <a:pPr marL="0" indent="0" algn="ctr">
              <a:buNone/>
            </a:pPr>
            <a:r>
              <a:rPr lang="en-US" sz="1000" dirty="0">
                <a:solidFill>
                  <a:srgbClr val="4DFFA0"/>
                </a:solidFill>
                <a:latin typeface="Calibri" pitchFamily="34" charset="0"/>
                <a:ea typeface="Calibri" pitchFamily="34" charset="-122"/>
                <a:cs typeface="Calibri" pitchFamily="34" charset="-120"/>
              </a:rPr>
              <a:t>Excellent</a:t>
            </a:r>
            <a:endParaRPr lang="en-US" sz="1000" dirty="0"/>
          </a:p>
        </p:txBody>
      </p:sp>
      <p:sp>
        <p:nvSpPr>
          <p:cNvPr id="25" name="Shape 16"/>
          <p:cNvSpPr/>
          <p:nvPr/>
        </p:nvSpPr>
        <p:spPr>
          <a:xfrm>
            <a:off x="6144768" y="2322576"/>
            <a:ext cx="2743200" cy="402336"/>
          </a:xfrm>
          <a:prstGeom prst="rect">
            <a:avLst/>
          </a:prstGeom>
          <a:solidFill>
            <a:srgbClr val="080F1E"/>
          </a:solidFill>
          <a:ln w="6350">
            <a:solidFill>
              <a:srgbClr val="0F1E30"/>
            </a:solidFill>
            <a:prstDash val="solid"/>
          </a:ln>
        </p:spPr>
        <p:txBody>
          <a:bodyPr/>
          <a:lstStyle/>
          <a:p>
            <a:endParaRPr lang="en-CA"/>
          </a:p>
        </p:txBody>
      </p:sp>
      <p:sp>
        <p:nvSpPr>
          <p:cNvPr id="26" name="Shape 17"/>
          <p:cNvSpPr/>
          <p:nvPr/>
        </p:nvSpPr>
        <p:spPr>
          <a:xfrm>
            <a:off x="6236208" y="2468880"/>
            <a:ext cx="109728" cy="109728"/>
          </a:xfrm>
          <a:prstGeom prst="ellipse">
            <a:avLst/>
          </a:prstGeom>
          <a:solidFill>
            <a:srgbClr val="00C97A"/>
          </a:solidFill>
          <a:ln w="12700">
            <a:solidFill>
              <a:srgbClr val="00C97A"/>
            </a:solidFill>
            <a:prstDash val="solid"/>
          </a:ln>
        </p:spPr>
        <p:txBody>
          <a:bodyPr/>
          <a:lstStyle/>
          <a:p>
            <a:endParaRPr lang="en-CA"/>
          </a:p>
        </p:txBody>
      </p:sp>
      <p:sp>
        <p:nvSpPr>
          <p:cNvPr id="27" name="Text 18"/>
          <p:cNvSpPr/>
          <p:nvPr/>
        </p:nvSpPr>
        <p:spPr>
          <a:xfrm>
            <a:off x="6400800" y="2322576"/>
            <a:ext cx="822960" cy="402336"/>
          </a:xfrm>
          <a:prstGeom prst="rect">
            <a:avLst/>
          </a:prstGeom>
          <a:noFill/>
          <a:ln/>
        </p:spPr>
        <p:txBody>
          <a:bodyPr wrap="square" lIns="0" tIns="0" rIns="0" bIns="0" rtlCol="0" anchor="ctr"/>
          <a:lstStyle/>
          <a:p>
            <a:pPr marL="0" indent="0">
              <a:buNone/>
            </a:pPr>
            <a:r>
              <a:rPr lang="en-US" sz="1000" b="1" dirty="0">
                <a:solidFill>
                  <a:srgbClr val="00C97A"/>
                </a:solidFill>
                <a:latin typeface="Calibri" pitchFamily="34" charset="0"/>
                <a:ea typeface="Calibri" pitchFamily="34" charset="-122"/>
                <a:cs typeface="Calibri" pitchFamily="34" charset="-120"/>
              </a:rPr>
              <a:t>Twofish</a:t>
            </a:r>
            <a:endParaRPr lang="en-US" sz="1000" dirty="0"/>
          </a:p>
        </p:txBody>
      </p:sp>
      <p:sp>
        <p:nvSpPr>
          <p:cNvPr id="28" name="Text 19"/>
          <p:cNvSpPr/>
          <p:nvPr/>
        </p:nvSpPr>
        <p:spPr>
          <a:xfrm>
            <a:off x="7242048" y="2322576"/>
            <a:ext cx="694944" cy="402336"/>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0.5004</a:t>
            </a:r>
            <a:endParaRPr lang="en-US" sz="1000" dirty="0"/>
          </a:p>
        </p:txBody>
      </p:sp>
      <p:sp>
        <p:nvSpPr>
          <p:cNvPr id="29" name="Text 20"/>
          <p:cNvSpPr/>
          <p:nvPr/>
        </p:nvSpPr>
        <p:spPr>
          <a:xfrm>
            <a:off x="7936992" y="2322576"/>
            <a:ext cx="950976" cy="402336"/>
          </a:xfrm>
          <a:prstGeom prst="rect">
            <a:avLst/>
          </a:prstGeom>
          <a:noFill/>
          <a:ln/>
        </p:spPr>
        <p:txBody>
          <a:bodyPr wrap="square" lIns="0" tIns="0" rIns="0" bIns="0" rtlCol="0" anchor="ctr"/>
          <a:lstStyle/>
          <a:p>
            <a:pPr marL="0" indent="0" algn="ctr">
              <a:buNone/>
            </a:pPr>
            <a:r>
              <a:rPr lang="en-US" sz="1000" dirty="0">
                <a:solidFill>
                  <a:srgbClr val="4DFFA0"/>
                </a:solidFill>
                <a:latin typeface="Calibri" pitchFamily="34" charset="0"/>
                <a:ea typeface="Calibri" pitchFamily="34" charset="-122"/>
                <a:cs typeface="Calibri" pitchFamily="34" charset="-120"/>
              </a:rPr>
              <a:t>Excellent</a:t>
            </a:r>
            <a:endParaRPr lang="en-US" sz="1000" dirty="0"/>
          </a:p>
        </p:txBody>
      </p:sp>
      <p:sp>
        <p:nvSpPr>
          <p:cNvPr id="30" name="Shape 21"/>
          <p:cNvSpPr/>
          <p:nvPr/>
        </p:nvSpPr>
        <p:spPr>
          <a:xfrm>
            <a:off x="6144768" y="2724912"/>
            <a:ext cx="2743200" cy="402336"/>
          </a:xfrm>
          <a:prstGeom prst="rect">
            <a:avLst/>
          </a:prstGeom>
          <a:solidFill>
            <a:srgbClr val="060B14"/>
          </a:solidFill>
          <a:ln w="6350">
            <a:solidFill>
              <a:srgbClr val="0F1E30"/>
            </a:solidFill>
            <a:prstDash val="solid"/>
          </a:ln>
        </p:spPr>
        <p:txBody>
          <a:bodyPr/>
          <a:lstStyle/>
          <a:p>
            <a:endParaRPr lang="en-CA"/>
          </a:p>
        </p:txBody>
      </p:sp>
      <p:sp>
        <p:nvSpPr>
          <p:cNvPr id="31" name="Shape 22"/>
          <p:cNvSpPr/>
          <p:nvPr/>
        </p:nvSpPr>
        <p:spPr>
          <a:xfrm>
            <a:off x="6236208" y="2871216"/>
            <a:ext cx="109728" cy="109728"/>
          </a:xfrm>
          <a:prstGeom prst="ellipse">
            <a:avLst/>
          </a:prstGeom>
          <a:solidFill>
            <a:srgbClr val="FF6B9D"/>
          </a:solidFill>
          <a:ln w="12700">
            <a:solidFill>
              <a:srgbClr val="FF6B9D"/>
            </a:solidFill>
            <a:prstDash val="solid"/>
          </a:ln>
        </p:spPr>
        <p:txBody>
          <a:bodyPr/>
          <a:lstStyle/>
          <a:p>
            <a:endParaRPr lang="en-CA"/>
          </a:p>
        </p:txBody>
      </p:sp>
      <p:sp>
        <p:nvSpPr>
          <p:cNvPr id="32" name="Text 23"/>
          <p:cNvSpPr/>
          <p:nvPr/>
        </p:nvSpPr>
        <p:spPr>
          <a:xfrm>
            <a:off x="6400800" y="2724912"/>
            <a:ext cx="822960" cy="402336"/>
          </a:xfrm>
          <a:prstGeom prst="rect">
            <a:avLst/>
          </a:prstGeom>
          <a:noFill/>
          <a:ln/>
        </p:spPr>
        <p:txBody>
          <a:bodyPr wrap="square" lIns="0" tIns="0" rIns="0" bIns="0" rtlCol="0" anchor="ctr"/>
          <a:lstStyle/>
          <a:p>
            <a:pPr marL="0" indent="0">
              <a:buNone/>
            </a:pPr>
            <a:r>
              <a:rPr lang="en-US" sz="1000" b="1" dirty="0">
                <a:solidFill>
                  <a:srgbClr val="FF6B9D"/>
                </a:solidFill>
                <a:latin typeface="Calibri" pitchFamily="34" charset="0"/>
                <a:ea typeface="Calibri" pitchFamily="34" charset="-122"/>
                <a:cs typeface="Calibri" pitchFamily="34" charset="-120"/>
              </a:rPr>
              <a:t>DES</a:t>
            </a:r>
            <a:endParaRPr lang="en-US" sz="1000" dirty="0"/>
          </a:p>
        </p:txBody>
      </p:sp>
      <p:sp>
        <p:nvSpPr>
          <p:cNvPr id="33" name="Text 24"/>
          <p:cNvSpPr/>
          <p:nvPr/>
        </p:nvSpPr>
        <p:spPr>
          <a:xfrm>
            <a:off x="7242048" y="2724912"/>
            <a:ext cx="694944" cy="402336"/>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0.4982</a:t>
            </a:r>
            <a:endParaRPr lang="en-US" sz="1000" dirty="0"/>
          </a:p>
        </p:txBody>
      </p:sp>
      <p:sp>
        <p:nvSpPr>
          <p:cNvPr id="34" name="Text 25"/>
          <p:cNvSpPr/>
          <p:nvPr/>
        </p:nvSpPr>
        <p:spPr>
          <a:xfrm>
            <a:off x="7936992" y="2724912"/>
            <a:ext cx="950976" cy="402336"/>
          </a:xfrm>
          <a:prstGeom prst="rect">
            <a:avLst/>
          </a:prstGeom>
          <a:noFill/>
          <a:ln/>
        </p:spPr>
        <p:txBody>
          <a:bodyPr wrap="square" lIns="0" tIns="0" rIns="0" bIns="0" rtlCol="0" anchor="ctr"/>
          <a:lstStyle/>
          <a:p>
            <a:pPr marL="0" indent="0" algn="ctr">
              <a:buNone/>
            </a:pPr>
            <a:r>
              <a:rPr lang="en-US" sz="1000" dirty="0">
                <a:solidFill>
                  <a:srgbClr val="4DFFA0"/>
                </a:solidFill>
                <a:latin typeface="Calibri" pitchFamily="34" charset="0"/>
                <a:ea typeface="Calibri" pitchFamily="34" charset="-122"/>
                <a:cs typeface="Calibri" pitchFamily="34" charset="-120"/>
              </a:rPr>
              <a:t>Acceptable</a:t>
            </a:r>
            <a:endParaRPr lang="en-US" sz="1000" dirty="0"/>
          </a:p>
        </p:txBody>
      </p:sp>
      <p:sp>
        <p:nvSpPr>
          <p:cNvPr id="35" name="Shape 26"/>
          <p:cNvSpPr/>
          <p:nvPr/>
        </p:nvSpPr>
        <p:spPr>
          <a:xfrm>
            <a:off x="6144768" y="3127248"/>
            <a:ext cx="2743200" cy="402336"/>
          </a:xfrm>
          <a:prstGeom prst="rect">
            <a:avLst/>
          </a:prstGeom>
          <a:solidFill>
            <a:srgbClr val="100820"/>
          </a:solidFill>
          <a:ln w="6350">
            <a:solidFill>
              <a:srgbClr val="2A1460"/>
            </a:solidFill>
            <a:prstDash val="solid"/>
          </a:ln>
        </p:spPr>
        <p:txBody>
          <a:bodyPr/>
          <a:lstStyle/>
          <a:p>
            <a:endParaRPr lang="en-CA"/>
          </a:p>
        </p:txBody>
      </p:sp>
      <p:sp>
        <p:nvSpPr>
          <p:cNvPr id="36" name="Shape 27"/>
          <p:cNvSpPr/>
          <p:nvPr/>
        </p:nvSpPr>
        <p:spPr>
          <a:xfrm>
            <a:off x="6236208" y="3273552"/>
            <a:ext cx="109728" cy="109728"/>
          </a:xfrm>
          <a:prstGeom prst="ellipse">
            <a:avLst/>
          </a:prstGeom>
          <a:solidFill>
            <a:srgbClr val="00C9C9"/>
          </a:solidFill>
          <a:ln w="12700">
            <a:solidFill>
              <a:srgbClr val="00C9C9"/>
            </a:solidFill>
            <a:prstDash val="solid"/>
          </a:ln>
        </p:spPr>
        <p:txBody>
          <a:bodyPr/>
          <a:lstStyle/>
          <a:p>
            <a:endParaRPr lang="en-CA"/>
          </a:p>
        </p:txBody>
      </p:sp>
      <p:sp>
        <p:nvSpPr>
          <p:cNvPr id="37" name="Text 28"/>
          <p:cNvSpPr/>
          <p:nvPr/>
        </p:nvSpPr>
        <p:spPr>
          <a:xfrm>
            <a:off x="6400800" y="3127248"/>
            <a:ext cx="822960" cy="402336"/>
          </a:xfrm>
          <a:prstGeom prst="rect">
            <a:avLst/>
          </a:prstGeom>
          <a:noFill/>
          <a:ln/>
        </p:spPr>
        <p:txBody>
          <a:bodyPr wrap="square" lIns="0" tIns="0" rIns="0" bIns="0" rtlCol="0" anchor="ctr"/>
          <a:lstStyle/>
          <a:p>
            <a:pPr marL="0" indent="0">
              <a:buNone/>
            </a:pPr>
            <a:r>
              <a:rPr lang="en-US" sz="1000" b="1" dirty="0">
                <a:solidFill>
                  <a:srgbClr val="00C9C9"/>
                </a:solidFill>
                <a:latin typeface="Calibri" pitchFamily="34" charset="0"/>
                <a:ea typeface="Calibri" pitchFamily="34" charset="-122"/>
                <a:cs typeface="Calibri" pitchFamily="34" charset="-120"/>
              </a:rPr>
              <a:t>ChaCha20</a:t>
            </a:r>
            <a:endParaRPr lang="en-US" sz="1000" dirty="0"/>
          </a:p>
        </p:txBody>
      </p:sp>
      <p:sp>
        <p:nvSpPr>
          <p:cNvPr id="38" name="Text 29"/>
          <p:cNvSpPr/>
          <p:nvPr/>
        </p:nvSpPr>
        <p:spPr>
          <a:xfrm>
            <a:off x="7242048" y="3127248"/>
            <a:ext cx="694944" cy="402336"/>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0.5948</a:t>
            </a:r>
            <a:endParaRPr lang="en-US" sz="1000" dirty="0"/>
          </a:p>
        </p:txBody>
      </p:sp>
      <p:sp>
        <p:nvSpPr>
          <p:cNvPr id="39" name="Text 30"/>
          <p:cNvSpPr/>
          <p:nvPr/>
        </p:nvSpPr>
        <p:spPr>
          <a:xfrm>
            <a:off x="7936992" y="3127248"/>
            <a:ext cx="950976" cy="402336"/>
          </a:xfrm>
          <a:prstGeom prst="rect">
            <a:avLst/>
          </a:prstGeom>
          <a:noFill/>
          <a:ln/>
        </p:spPr>
        <p:txBody>
          <a:bodyPr wrap="square" lIns="0" tIns="0" rIns="0" bIns="0" rtlCol="0" anchor="ctr"/>
          <a:lstStyle/>
          <a:p>
            <a:pPr marL="0" indent="0" algn="ctr">
              <a:buNone/>
            </a:pPr>
            <a:r>
              <a:rPr lang="en-US" sz="1000" b="1" dirty="0">
                <a:solidFill>
                  <a:srgbClr val="9B6DFF"/>
                </a:solidFill>
                <a:latin typeface="Calibri" pitchFamily="34" charset="0"/>
                <a:ea typeface="Calibri" pitchFamily="34" charset="-122"/>
                <a:cs typeface="Calibri" pitchFamily="34" charset="-120"/>
              </a:rPr>
              <a:t>Anomalie</a:t>
            </a:r>
            <a:endParaRPr lang="en-US" sz="1000" dirty="0"/>
          </a:p>
        </p:txBody>
      </p:sp>
      <p:sp>
        <p:nvSpPr>
          <p:cNvPr id="40" name="Shape 31"/>
          <p:cNvSpPr/>
          <p:nvPr/>
        </p:nvSpPr>
        <p:spPr>
          <a:xfrm>
            <a:off x="6144768" y="3621024"/>
            <a:ext cx="2743200" cy="955548"/>
          </a:xfrm>
          <a:prstGeom prst="roundRect">
            <a:avLst>
              <a:gd name="adj" fmla="val 6250"/>
            </a:avLst>
          </a:prstGeom>
          <a:solidFill>
            <a:srgbClr val="0E0820"/>
          </a:solidFill>
          <a:ln w="9525">
            <a:solidFill>
              <a:srgbClr val="2A1460"/>
            </a:solidFill>
            <a:prstDash val="solid"/>
          </a:ln>
        </p:spPr>
        <p:txBody>
          <a:bodyPr/>
          <a:lstStyle/>
          <a:p>
            <a:endParaRPr lang="en-CA"/>
          </a:p>
        </p:txBody>
      </p:sp>
      <p:sp>
        <p:nvSpPr>
          <p:cNvPr id="41" name="Text 32"/>
          <p:cNvSpPr/>
          <p:nvPr/>
        </p:nvSpPr>
        <p:spPr>
          <a:xfrm>
            <a:off x="6272784" y="3709970"/>
            <a:ext cx="2487168" cy="804672"/>
          </a:xfrm>
          <a:prstGeom prst="rect">
            <a:avLst/>
          </a:prstGeom>
          <a:noFill/>
          <a:ln/>
        </p:spPr>
        <p:txBody>
          <a:bodyPr wrap="square" rtlCol="0" anchor="ctr"/>
          <a:lstStyle/>
          <a:p>
            <a:pPr marL="0" indent="0" algn="ctr">
              <a:buNone/>
            </a:pPr>
            <a:r>
              <a:rPr lang="fr-FR" sz="850" b="1" dirty="0">
                <a:solidFill>
                  <a:srgbClr val="9B6DFF"/>
                </a:solidFill>
                <a:latin typeface="Calibri" pitchFamily="34" charset="0"/>
                <a:ea typeface="Calibri" pitchFamily="34" charset="-122"/>
                <a:cs typeface="Calibri" pitchFamily="34" charset="-120"/>
              </a:rPr>
              <a:t>La valeur de 0,594 obtenue pour ChaCha20 ne constitue pas une faille, </a:t>
            </a:r>
            <a:r>
              <a:rPr lang="fr-FR" sz="850" dirty="0">
                <a:solidFill>
                  <a:srgbClr val="8892A4"/>
                </a:solidFill>
                <a:latin typeface="Calibri" pitchFamily="34" charset="0"/>
                <a:ea typeface="Calibri" pitchFamily="34" charset="-122"/>
                <a:cs typeface="Calibri" pitchFamily="34" charset="-120"/>
              </a:rPr>
              <a:t>mais reflète une limite de la méthodologie employée. L'effet d'avalanche mesure la diffusion propre aux chiffrements par blocs, alors que ChaCha20 est un chiffrement de flux dont le </a:t>
            </a:r>
            <a:r>
              <a:rPr lang="fr-FR" sz="850" dirty="0" err="1">
                <a:solidFill>
                  <a:srgbClr val="8892A4"/>
                </a:solidFill>
                <a:latin typeface="Calibri" pitchFamily="34" charset="0"/>
                <a:ea typeface="Calibri" pitchFamily="34" charset="-122"/>
                <a:cs typeface="Calibri" pitchFamily="34" charset="-120"/>
              </a:rPr>
              <a:t>keystream</a:t>
            </a:r>
            <a:r>
              <a:rPr lang="fr-FR" sz="850" dirty="0">
                <a:solidFill>
                  <a:srgbClr val="8892A4"/>
                </a:solidFill>
                <a:latin typeface="Calibri" pitchFamily="34" charset="0"/>
                <a:ea typeface="Calibri" pitchFamily="34" charset="-122"/>
                <a:cs typeface="Calibri" pitchFamily="34" charset="-120"/>
              </a:rPr>
              <a:t> est calculé indépendamment du texte en clair.</a:t>
            </a:r>
            <a:endParaRPr lang="en-US" sz="850" dirty="0">
              <a:solidFill>
                <a:srgbClr val="8892A4"/>
              </a:solidFill>
            </a:endParaRPr>
          </a:p>
        </p:txBody>
      </p:sp>
      <p:sp>
        <p:nvSpPr>
          <p:cNvPr id="43" name="Text 34"/>
          <p:cNvSpPr/>
          <p:nvPr/>
        </p:nvSpPr>
        <p:spPr>
          <a:xfrm>
            <a:off x="749808" y="3877056"/>
            <a:ext cx="4845350" cy="594360"/>
          </a:xfrm>
          <a:prstGeom prst="rect">
            <a:avLst/>
          </a:prstGeom>
          <a:noFill/>
          <a:ln/>
        </p:spPr>
        <p:txBody>
          <a:bodyPr wrap="square" rtlCol="0" anchor="ctr"/>
          <a:lstStyle/>
          <a:p>
            <a:pPr marL="0" indent="0" algn="ctr">
              <a:buNone/>
            </a:pPr>
            <a:r>
              <a:rPr lang="fr-FR" sz="950" b="1" dirty="0">
                <a:solidFill>
                  <a:srgbClr val="00F5FF"/>
                </a:solidFill>
                <a:latin typeface="Calibri" pitchFamily="34" charset="0"/>
                <a:ea typeface="Calibri" pitchFamily="34" charset="-122"/>
                <a:cs typeface="Calibri" pitchFamily="34" charset="-120"/>
              </a:rPr>
              <a:t>La valeur idéale est de 0,500 : </a:t>
            </a:r>
            <a:r>
              <a:rPr lang="fr-FR" sz="950" dirty="0">
                <a:solidFill>
                  <a:srgbClr val="8892A4"/>
                </a:solidFill>
                <a:latin typeface="Calibri" pitchFamily="34" charset="0"/>
                <a:ea typeface="Calibri" pitchFamily="34" charset="-122"/>
                <a:cs typeface="Calibri" pitchFamily="34" charset="-120"/>
              </a:rPr>
              <a:t>modifier un seul bit en entrée doit changer exactement 50 % des bits en sortie. AES, DES, 3DES et Twofish atteignent tous cet idéal. Si ChaCha20 dépasse cette valeur, c'est en raison de son design, et non d'une faiblesse.</a:t>
            </a:r>
            <a:endParaRPr lang="en-US" sz="950" dirty="0">
              <a:solidFill>
                <a:srgbClr val="8892A4"/>
              </a:solidFill>
            </a:endParaRPr>
          </a:p>
        </p:txBody>
      </p:sp>
      <p:sp>
        <p:nvSpPr>
          <p:cNvPr id="44" name="Shape 35"/>
          <p:cNvSpPr/>
          <p:nvPr/>
        </p:nvSpPr>
        <p:spPr>
          <a:xfrm>
            <a:off x="7699248" y="292608"/>
            <a:ext cx="1115568" cy="329184"/>
          </a:xfrm>
          <a:prstGeom prst="roundRect">
            <a:avLst>
              <a:gd name="adj" fmla="val 22222"/>
            </a:avLst>
          </a:prstGeom>
          <a:solidFill>
            <a:srgbClr val="060F1E"/>
          </a:solidFill>
          <a:ln w="9525">
            <a:solidFill>
              <a:srgbClr val="00F5FF"/>
            </a:solidFill>
            <a:prstDash val="solid"/>
          </a:ln>
        </p:spPr>
        <p:txBody>
          <a:bodyPr/>
          <a:lstStyle/>
          <a:p>
            <a:endParaRPr lang="en-CA"/>
          </a:p>
        </p:txBody>
      </p:sp>
      <p:sp>
        <p:nvSpPr>
          <p:cNvPr id="45" name="Text 36"/>
          <p:cNvSpPr/>
          <p:nvPr/>
        </p:nvSpPr>
        <p:spPr>
          <a:xfrm>
            <a:off x="7699248" y="292608"/>
            <a:ext cx="1115568" cy="329184"/>
          </a:xfrm>
          <a:prstGeom prst="rect">
            <a:avLst/>
          </a:prstGeom>
          <a:noFill/>
          <a:ln/>
        </p:spPr>
        <p:txBody>
          <a:bodyPr wrap="square" lIns="0" tIns="0" rIns="0" bIns="0" rtlCol="0" anchor="ctr"/>
          <a:lstStyle/>
          <a:p>
            <a:pPr marL="0" indent="0" algn="ctr">
              <a:buNone/>
            </a:pPr>
            <a:r>
              <a:rPr lang="en-US" sz="900" b="1" dirty="0">
                <a:solidFill>
                  <a:srgbClr val="00F5FF"/>
                </a:solidFill>
                <a:latin typeface="Calibri" pitchFamily="34" charset="0"/>
                <a:ea typeface="Calibri" pitchFamily="34" charset="-122"/>
                <a:cs typeface="Calibri" pitchFamily="34" charset="-120"/>
              </a:rPr>
              <a:t>▶  Vidéo 10</a:t>
            </a:r>
            <a:endParaRPr lang="en-US" sz="900" dirty="0"/>
          </a:p>
        </p:txBody>
      </p:sp>
      <p:sp>
        <p:nvSpPr>
          <p:cNvPr id="46" name="Text 37"/>
          <p:cNvSpPr/>
          <p:nvPr/>
        </p:nvSpPr>
        <p:spPr>
          <a:xfrm>
            <a:off x="1371600" y="4828032"/>
            <a:ext cx="6400800" cy="228600"/>
          </a:xfrm>
          <a:prstGeom prst="rect">
            <a:avLst/>
          </a:prstGeom>
          <a:noFill/>
          <a:ln/>
        </p:spPr>
        <p:txBody>
          <a:bodyPr wrap="square" rtlCol="0" anchor="ctr"/>
          <a:lstStyle/>
          <a:p>
            <a:pPr marL="0" indent="0" algn="ctr">
              <a:buNone/>
            </a:pPr>
            <a:r>
              <a:rPr lang="en-US" sz="850" b="1" kern="0" spc="100" dirty="0">
                <a:solidFill>
                  <a:srgbClr val="00F5FF"/>
                </a:solidFill>
                <a:latin typeface="Calibri" pitchFamily="34" charset="0"/>
                <a:ea typeface="Calibri" pitchFamily="34" charset="-122"/>
                <a:cs typeface="Calibri" pitchFamily="34" charset="-120"/>
              </a:rPr>
              <a:t>INF1430</a:t>
            </a:r>
            <a:r>
              <a:rPr lang="en-US" sz="850" kern="0" spc="100" dirty="0">
                <a:solidFill>
                  <a:srgbClr val="3A4A65"/>
                </a:solidFill>
                <a:latin typeface="Calibri" pitchFamily="34" charset="0"/>
                <a:ea typeface="Calibri" pitchFamily="34" charset="-122"/>
                <a:cs typeface="Calibri" pitchFamily="34" charset="-120"/>
              </a:rPr>
              <a:t>  ·  Université TÉLUQ  ·  TN3  ·  Melissa Moya  ·  2026</a:t>
            </a:r>
            <a:endParaRPr lang="en-US" sz="850" dirty="0"/>
          </a:p>
        </p:txBody>
      </p:sp>
      <p:pic>
        <p:nvPicPr>
          <p:cNvPr id="48" name="Picture 47">
            <a:extLst>
              <a:ext uri="{FF2B5EF4-FFF2-40B4-BE49-F238E27FC236}">
                <a16:creationId xmlns:a16="http://schemas.microsoft.com/office/drawing/2014/main" id="{DB8783B7-0481-5C97-3B29-50808246C104}"/>
              </a:ext>
            </a:extLst>
          </p:cNvPr>
          <p:cNvPicPr>
            <a:picLocks noChangeAspect="1"/>
          </p:cNvPicPr>
          <p:nvPr/>
        </p:nvPicPr>
        <p:blipFill>
          <a:blip r:embed="rId6"/>
          <a:stretch>
            <a:fillRect/>
          </a:stretch>
        </p:blipFill>
        <p:spPr>
          <a:xfrm>
            <a:off x="549611" y="1017072"/>
            <a:ext cx="5045547" cy="278244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86868"/>
            <a:ext cx="9144000" cy="5143500"/>
          </a:xfrm>
          <a:prstGeom prst="rect">
            <a:avLst/>
          </a:prstGeom>
        </p:spPr>
      </p:pic>
      <p:pic>
        <p:nvPicPr>
          <p:cNvPr id="3" name="Image 1" descr="preencoded.png"/>
          <p:cNvPicPr>
            <a:picLocks noChangeAspect="1"/>
          </p:cNvPicPr>
          <p:nvPr/>
        </p:nvPicPr>
        <p:blipFill>
          <a:blip r:embed="rId4"/>
          <a:stretch>
            <a:fillRect/>
          </a:stretch>
        </p:blipFill>
        <p:spPr>
          <a:xfrm>
            <a:off x="256032" y="201168"/>
            <a:ext cx="548640" cy="548640"/>
          </a:xfrm>
          <a:prstGeom prst="rect">
            <a:avLst/>
          </a:prstGeom>
        </p:spPr>
      </p:pic>
      <p:pic>
        <p:nvPicPr>
          <p:cNvPr id="4" name="Image 2" descr="preencoded.png"/>
          <p:cNvPicPr>
            <a:picLocks noChangeAspect="1"/>
          </p:cNvPicPr>
          <p:nvPr/>
        </p:nvPicPr>
        <p:blipFill>
          <a:blip r:embed="rId4"/>
          <a:stretch>
            <a:fillRect/>
          </a:stretch>
        </p:blipFill>
        <p:spPr>
          <a:xfrm flipH="1">
            <a:off x="8339328" y="201168"/>
            <a:ext cx="548640" cy="548640"/>
          </a:xfrm>
          <a:prstGeom prst="rect">
            <a:avLst/>
          </a:prstGeom>
        </p:spPr>
      </p:pic>
      <p:pic>
        <p:nvPicPr>
          <p:cNvPr id="5" name="Image 3" descr="preencoded.png"/>
          <p:cNvPicPr>
            <a:picLocks noChangeAspect="1"/>
          </p:cNvPicPr>
          <p:nvPr/>
        </p:nvPicPr>
        <p:blipFill>
          <a:blip r:embed="rId4"/>
          <a:stretch>
            <a:fillRect/>
          </a:stretch>
        </p:blipFill>
        <p:spPr>
          <a:xfrm flipV="1">
            <a:off x="256032" y="4393692"/>
            <a:ext cx="548640" cy="548640"/>
          </a:xfrm>
          <a:prstGeom prst="rect">
            <a:avLst/>
          </a:prstGeom>
        </p:spPr>
      </p:pic>
      <p:pic>
        <p:nvPicPr>
          <p:cNvPr id="6" name="Image 4" descr="preencoded.png"/>
          <p:cNvPicPr>
            <a:picLocks noChangeAspect="1"/>
          </p:cNvPicPr>
          <p:nvPr/>
        </p:nvPicPr>
        <p:blipFill>
          <a:blip r:embed="rId4"/>
          <a:stretch>
            <a:fillRect/>
          </a:stretch>
        </p:blipFill>
        <p:spPr>
          <a:xfrm flipH="1" flipV="1">
            <a:off x="8339328" y="4393692"/>
            <a:ext cx="548640" cy="548640"/>
          </a:xfrm>
          <a:prstGeom prst="rect">
            <a:avLst/>
          </a:prstGeom>
        </p:spPr>
      </p:pic>
      <p:pic>
        <p:nvPicPr>
          <p:cNvPr id="7" name="Image 5" descr="preencoded.png"/>
          <p:cNvPicPr>
            <a:picLocks noChangeAspect="1"/>
          </p:cNvPicPr>
          <p:nvPr/>
        </p:nvPicPr>
        <p:blipFill>
          <a:blip r:embed="rId5">
            <a:alphaModFix amt="80000"/>
          </a:blip>
          <a:stretch>
            <a:fillRect/>
          </a:stretch>
        </p:blipFill>
        <p:spPr>
          <a:xfrm>
            <a:off x="566928" y="256032"/>
            <a:ext cx="256032" cy="256032"/>
          </a:xfrm>
          <a:prstGeom prst="rect">
            <a:avLst/>
          </a:prstGeom>
        </p:spPr>
      </p:pic>
      <p:sp>
        <p:nvSpPr>
          <p:cNvPr id="8" name="Text 0"/>
          <p:cNvSpPr/>
          <p:nvPr/>
        </p:nvSpPr>
        <p:spPr>
          <a:xfrm>
            <a:off x="868680" y="256032"/>
            <a:ext cx="5486400" cy="274320"/>
          </a:xfrm>
          <a:prstGeom prst="rect">
            <a:avLst/>
          </a:prstGeom>
          <a:noFill/>
          <a:ln/>
        </p:spPr>
        <p:txBody>
          <a:bodyPr wrap="square" rtlCol="0" anchor="ctr"/>
          <a:lstStyle/>
          <a:p>
            <a:pPr marL="0" indent="0">
              <a:buNone/>
            </a:pPr>
            <a:r>
              <a:rPr lang="en-US" sz="1000" b="1" kern="0" spc="50" dirty="0">
                <a:solidFill>
                  <a:srgbClr val="9B6DFF"/>
                </a:solidFill>
                <a:latin typeface="Calibri" pitchFamily="34" charset="0"/>
                <a:ea typeface="Calibri" pitchFamily="34" charset="-122"/>
                <a:cs typeface="Calibri" pitchFamily="34" charset="-120"/>
              </a:rPr>
              <a:t>05  </a:t>
            </a:r>
            <a:r>
              <a:rPr lang="en-US" sz="1000" kern="0" spc="50" dirty="0">
                <a:solidFill>
                  <a:srgbClr val="8892A4"/>
                </a:solidFill>
                <a:latin typeface="Calibri" pitchFamily="34" charset="0"/>
                <a:ea typeface="Calibri" pitchFamily="34" charset="-122"/>
                <a:cs typeface="Calibri" pitchFamily="34" charset="-120"/>
              </a:rPr>
              <a:t>Robustesse cryptographique</a:t>
            </a:r>
            <a:endParaRPr lang="en-US" sz="1000" dirty="0"/>
          </a:p>
        </p:txBody>
      </p:sp>
      <p:sp>
        <p:nvSpPr>
          <p:cNvPr id="9" name="Text 1"/>
          <p:cNvSpPr/>
          <p:nvPr/>
        </p:nvSpPr>
        <p:spPr>
          <a:xfrm>
            <a:off x="566928" y="566928"/>
            <a:ext cx="7772400" cy="502920"/>
          </a:xfrm>
          <a:prstGeom prst="rect">
            <a:avLst/>
          </a:prstGeom>
          <a:noFill/>
          <a:ln/>
        </p:spPr>
        <p:txBody>
          <a:bodyPr wrap="square"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Sensibilité aux clés — Quand le key schedule défaille</a:t>
            </a:r>
            <a:endParaRPr lang="en-US" sz="2300" dirty="0"/>
          </a:p>
        </p:txBody>
      </p:sp>
      <p:sp>
        <p:nvSpPr>
          <p:cNvPr id="11" name="Shape 2"/>
          <p:cNvSpPr/>
          <p:nvPr/>
        </p:nvSpPr>
        <p:spPr>
          <a:xfrm>
            <a:off x="6144768" y="1115568"/>
            <a:ext cx="2743200" cy="374904"/>
          </a:xfrm>
          <a:prstGeom prst="roundRect">
            <a:avLst>
              <a:gd name="adj" fmla="val 9756"/>
            </a:avLst>
          </a:prstGeom>
          <a:solidFill>
            <a:srgbClr val="0D1E35"/>
          </a:solidFill>
          <a:ln w="6350">
            <a:solidFill>
              <a:srgbClr val="1A3A55"/>
            </a:solidFill>
            <a:prstDash val="solid"/>
          </a:ln>
        </p:spPr>
        <p:txBody>
          <a:bodyPr/>
          <a:lstStyle/>
          <a:p>
            <a:endParaRPr lang="en-CA"/>
          </a:p>
        </p:txBody>
      </p:sp>
      <p:sp>
        <p:nvSpPr>
          <p:cNvPr id="12" name="Text 3"/>
          <p:cNvSpPr/>
          <p:nvPr/>
        </p:nvSpPr>
        <p:spPr>
          <a:xfrm>
            <a:off x="6236208" y="1115568"/>
            <a:ext cx="1097280" cy="374904"/>
          </a:xfrm>
          <a:prstGeom prst="rect">
            <a:avLst/>
          </a:prstGeom>
          <a:noFill/>
          <a:ln/>
        </p:spPr>
        <p:txBody>
          <a:bodyPr wrap="square" lIns="0" tIns="0" rIns="0" bIns="0" rtlCol="0" anchor="ctr"/>
          <a:lstStyle/>
          <a:p>
            <a:pPr marL="0" indent="0" algn="l">
              <a:buNone/>
            </a:pPr>
            <a:r>
              <a:rPr lang="en-US" sz="1000" b="1" dirty="0">
                <a:solidFill>
                  <a:srgbClr val="00F5FF"/>
                </a:solidFill>
                <a:latin typeface="Calibri" pitchFamily="34" charset="0"/>
                <a:ea typeface="Calibri" pitchFamily="34" charset="-122"/>
                <a:cs typeface="Calibri" pitchFamily="34" charset="-120"/>
              </a:rPr>
              <a:t>Algorithme</a:t>
            </a:r>
            <a:endParaRPr lang="en-US" sz="1000" dirty="0"/>
          </a:p>
        </p:txBody>
      </p:sp>
      <p:sp>
        <p:nvSpPr>
          <p:cNvPr id="13" name="Text 4"/>
          <p:cNvSpPr/>
          <p:nvPr/>
        </p:nvSpPr>
        <p:spPr>
          <a:xfrm>
            <a:off x="7242048" y="1115568"/>
            <a:ext cx="749808" cy="374904"/>
          </a:xfrm>
          <a:prstGeom prst="rect">
            <a:avLst/>
          </a:prstGeom>
          <a:noFill/>
          <a:ln/>
        </p:spPr>
        <p:txBody>
          <a:bodyPr wrap="square" lIns="0" tIns="0" rIns="0" bIns="0" rtlCol="0" anchor="ctr"/>
          <a:lstStyle/>
          <a:p>
            <a:pPr marL="0" indent="0" algn="ctr">
              <a:buNone/>
            </a:pPr>
            <a:r>
              <a:rPr lang="en-US" sz="1000" b="1" dirty="0">
                <a:solidFill>
                  <a:srgbClr val="00F5FF"/>
                </a:solidFill>
                <a:latin typeface="Calibri" pitchFamily="34" charset="0"/>
                <a:ea typeface="Calibri" pitchFamily="34" charset="-122"/>
                <a:cs typeface="Calibri" pitchFamily="34" charset="-120"/>
              </a:rPr>
              <a:t>Score clé</a:t>
            </a:r>
            <a:endParaRPr lang="en-US" sz="1000" dirty="0"/>
          </a:p>
        </p:txBody>
      </p:sp>
      <p:sp>
        <p:nvSpPr>
          <p:cNvPr id="14" name="Text 5"/>
          <p:cNvSpPr/>
          <p:nvPr/>
        </p:nvSpPr>
        <p:spPr>
          <a:xfrm>
            <a:off x="7991856" y="1115568"/>
            <a:ext cx="896112" cy="374904"/>
          </a:xfrm>
          <a:prstGeom prst="rect">
            <a:avLst/>
          </a:prstGeom>
          <a:noFill/>
          <a:ln/>
        </p:spPr>
        <p:txBody>
          <a:bodyPr wrap="square" lIns="0" tIns="0" rIns="0" bIns="0" rtlCol="0" anchor="ctr"/>
          <a:lstStyle/>
          <a:p>
            <a:pPr marL="0" indent="0" algn="ctr">
              <a:buNone/>
            </a:pPr>
            <a:r>
              <a:rPr lang="en-US" sz="1000" b="1" dirty="0">
                <a:solidFill>
                  <a:srgbClr val="00F5FF"/>
                </a:solidFill>
                <a:latin typeface="Calibri" pitchFamily="34" charset="0"/>
                <a:ea typeface="Calibri" pitchFamily="34" charset="-122"/>
                <a:cs typeface="Calibri" pitchFamily="34" charset="-120"/>
              </a:rPr>
              <a:t>Verdict</a:t>
            </a:r>
            <a:endParaRPr lang="en-US" sz="1000" dirty="0"/>
          </a:p>
        </p:txBody>
      </p:sp>
      <p:sp>
        <p:nvSpPr>
          <p:cNvPr id="15" name="Shape 6"/>
          <p:cNvSpPr/>
          <p:nvPr/>
        </p:nvSpPr>
        <p:spPr>
          <a:xfrm>
            <a:off x="6144768" y="1490472"/>
            <a:ext cx="2743200" cy="374904"/>
          </a:xfrm>
          <a:prstGeom prst="rect">
            <a:avLst/>
          </a:prstGeom>
          <a:solidFill>
            <a:srgbClr val="080F1E"/>
          </a:solidFill>
          <a:ln w="6350">
            <a:solidFill>
              <a:srgbClr val="0F1E30"/>
            </a:solidFill>
            <a:prstDash val="solid"/>
          </a:ln>
        </p:spPr>
        <p:txBody>
          <a:bodyPr/>
          <a:lstStyle/>
          <a:p>
            <a:endParaRPr lang="en-CA"/>
          </a:p>
        </p:txBody>
      </p:sp>
      <p:sp>
        <p:nvSpPr>
          <p:cNvPr id="16" name="Shape 7"/>
          <p:cNvSpPr/>
          <p:nvPr/>
        </p:nvSpPr>
        <p:spPr>
          <a:xfrm>
            <a:off x="6236208" y="1623060"/>
            <a:ext cx="109728" cy="109728"/>
          </a:xfrm>
          <a:prstGeom prst="ellipse">
            <a:avLst/>
          </a:prstGeom>
          <a:solidFill>
            <a:srgbClr val="4F7FFF"/>
          </a:solidFill>
          <a:ln w="12700">
            <a:solidFill>
              <a:srgbClr val="4F7FFF"/>
            </a:solidFill>
            <a:prstDash val="solid"/>
          </a:ln>
        </p:spPr>
        <p:txBody>
          <a:bodyPr/>
          <a:lstStyle/>
          <a:p>
            <a:endParaRPr lang="en-CA"/>
          </a:p>
        </p:txBody>
      </p:sp>
      <p:sp>
        <p:nvSpPr>
          <p:cNvPr id="17" name="Text 8"/>
          <p:cNvSpPr/>
          <p:nvPr/>
        </p:nvSpPr>
        <p:spPr>
          <a:xfrm>
            <a:off x="6400800" y="1490472"/>
            <a:ext cx="822960" cy="374904"/>
          </a:xfrm>
          <a:prstGeom prst="rect">
            <a:avLst/>
          </a:prstGeom>
          <a:noFill/>
          <a:ln/>
        </p:spPr>
        <p:txBody>
          <a:bodyPr wrap="square" lIns="0" tIns="0" rIns="0" bIns="0" rtlCol="0" anchor="ctr"/>
          <a:lstStyle/>
          <a:p>
            <a:pPr marL="0" indent="0">
              <a:buNone/>
            </a:pPr>
            <a:r>
              <a:rPr lang="en-US" sz="1000" b="1" dirty="0">
                <a:solidFill>
                  <a:srgbClr val="4F7FFF"/>
                </a:solidFill>
                <a:latin typeface="Calibri" pitchFamily="34" charset="0"/>
                <a:ea typeface="Calibri" pitchFamily="34" charset="-122"/>
                <a:cs typeface="Calibri" pitchFamily="34" charset="-120"/>
              </a:rPr>
              <a:t>AES</a:t>
            </a:r>
            <a:endParaRPr lang="en-US" sz="1000" dirty="0"/>
          </a:p>
        </p:txBody>
      </p:sp>
      <p:sp>
        <p:nvSpPr>
          <p:cNvPr id="18" name="Text 9"/>
          <p:cNvSpPr/>
          <p:nvPr/>
        </p:nvSpPr>
        <p:spPr>
          <a:xfrm>
            <a:off x="7242048" y="1490472"/>
            <a:ext cx="749808" cy="374904"/>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0.500</a:t>
            </a:r>
            <a:endParaRPr lang="en-US" sz="1000" dirty="0"/>
          </a:p>
        </p:txBody>
      </p:sp>
      <p:sp>
        <p:nvSpPr>
          <p:cNvPr id="19" name="Text 10"/>
          <p:cNvSpPr/>
          <p:nvPr/>
        </p:nvSpPr>
        <p:spPr>
          <a:xfrm>
            <a:off x="7991856" y="1490472"/>
            <a:ext cx="896112" cy="374904"/>
          </a:xfrm>
          <a:prstGeom prst="rect">
            <a:avLst/>
          </a:prstGeom>
          <a:noFill/>
          <a:ln/>
        </p:spPr>
        <p:txBody>
          <a:bodyPr wrap="square" lIns="0" tIns="0" rIns="0" bIns="0" rtlCol="0" anchor="ctr"/>
          <a:lstStyle/>
          <a:p>
            <a:pPr marL="0" indent="0" algn="ctr">
              <a:buNone/>
            </a:pPr>
            <a:r>
              <a:rPr lang="en-US" sz="1000" dirty="0">
                <a:solidFill>
                  <a:srgbClr val="4DFFA0"/>
                </a:solidFill>
                <a:latin typeface="Calibri" pitchFamily="34" charset="0"/>
                <a:ea typeface="Calibri" pitchFamily="34" charset="-122"/>
                <a:cs typeface="Calibri" pitchFamily="34" charset="-120"/>
              </a:rPr>
              <a:t>Parfait</a:t>
            </a:r>
            <a:endParaRPr lang="en-US" sz="1000" dirty="0"/>
          </a:p>
        </p:txBody>
      </p:sp>
      <p:sp>
        <p:nvSpPr>
          <p:cNvPr id="20" name="Shape 11"/>
          <p:cNvSpPr/>
          <p:nvPr/>
        </p:nvSpPr>
        <p:spPr>
          <a:xfrm>
            <a:off x="6144768" y="1865376"/>
            <a:ext cx="2743200" cy="374904"/>
          </a:xfrm>
          <a:prstGeom prst="rect">
            <a:avLst/>
          </a:prstGeom>
          <a:solidFill>
            <a:srgbClr val="060B14"/>
          </a:solidFill>
          <a:ln w="6350">
            <a:solidFill>
              <a:srgbClr val="0F1E30"/>
            </a:solidFill>
            <a:prstDash val="solid"/>
          </a:ln>
        </p:spPr>
        <p:txBody>
          <a:bodyPr/>
          <a:lstStyle/>
          <a:p>
            <a:endParaRPr lang="en-CA"/>
          </a:p>
        </p:txBody>
      </p:sp>
      <p:sp>
        <p:nvSpPr>
          <p:cNvPr id="21" name="Shape 12"/>
          <p:cNvSpPr/>
          <p:nvPr/>
        </p:nvSpPr>
        <p:spPr>
          <a:xfrm>
            <a:off x="6236208" y="1997964"/>
            <a:ext cx="109728" cy="109728"/>
          </a:xfrm>
          <a:prstGeom prst="ellipse">
            <a:avLst/>
          </a:prstGeom>
          <a:solidFill>
            <a:srgbClr val="00C97A"/>
          </a:solidFill>
          <a:ln w="12700">
            <a:solidFill>
              <a:srgbClr val="00C97A"/>
            </a:solidFill>
            <a:prstDash val="solid"/>
          </a:ln>
        </p:spPr>
        <p:txBody>
          <a:bodyPr/>
          <a:lstStyle/>
          <a:p>
            <a:endParaRPr lang="en-CA"/>
          </a:p>
        </p:txBody>
      </p:sp>
      <p:sp>
        <p:nvSpPr>
          <p:cNvPr id="22" name="Text 13"/>
          <p:cNvSpPr/>
          <p:nvPr/>
        </p:nvSpPr>
        <p:spPr>
          <a:xfrm>
            <a:off x="6400800" y="1865376"/>
            <a:ext cx="822960" cy="374904"/>
          </a:xfrm>
          <a:prstGeom prst="rect">
            <a:avLst/>
          </a:prstGeom>
          <a:noFill/>
          <a:ln/>
        </p:spPr>
        <p:txBody>
          <a:bodyPr wrap="square" lIns="0" tIns="0" rIns="0" bIns="0" rtlCol="0" anchor="ctr"/>
          <a:lstStyle/>
          <a:p>
            <a:pPr marL="0" indent="0">
              <a:buNone/>
            </a:pPr>
            <a:r>
              <a:rPr lang="en-US" sz="1000" b="1" dirty="0">
                <a:solidFill>
                  <a:srgbClr val="00C97A"/>
                </a:solidFill>
                <a:latin typeface="Calibri" pitchFamily="34" charset="0"/>
                <a:ea typeface="Calibri" pitchFamily="34" charset="-122"/>
                <a:cs typeface="Calibri" pitchFamily="34" charset="-120"/>
              </a:rPr>
              <a:t>Twofish</a:t>
            </a:r>
            <a:endParaRPr lang="en-US" sz="1000" dirty="0"/>
          </a:p>
        </p:txBody>
      </p:sp>
      <p:sp>
        <p:nvSpPr>
          <p:cNvPr id="23" name="Text 14"/>
          <p:cNvSpPr/>
          <p:nvPr/>
        </p:nvSpPr>
        <p:spPr>
          <a:xfrm>
            <a:off x="7242048" y="1865376"/>
            <a:ext cx="749808" cy="374904"/>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0.500</a:t>
            </a:r>
            <a:endParaRPr lang="en-US" sz="1000" dirty="0"/>
          </a:p>
        </p:txBody>
      </p:sp>
      <p:sp>
        <p:nvSpPr>
          <p:cNvPr id="24" name="Text 15"/>
          <p:cNvSpPr/>
          <p:nvPr/>
        </p:nvSpPr>
        <p:spPr>
          <a:xfrm>
            <a:off x="7991856" y="1865376"/>
            <a:ext cx="896112" cy="374904"/>
          </a:xfrm>
          <a:prstGeom prst="rect">
            <a:avLst/>
          </a:prstGeom>
          <a:noFill/>
          <a:ln/>
        </p:spPr>
        <p:txBody>
          <a:bodyPr wrap="square" lIns="0" tIns="0" rIns="0" bIns="0" rtlCol="0" anchor="ctr"/>
          <a:lstStyle/>
          <a:p>
            <a:pPr marL="0" indent="0" algn="ctr">
              <a:buNone/>
            </a:pPr>
            <a:r>
              <a:rPr lang="en-US" sz="1000" dirty="0">
                <a:solidFill>
                  <a:srgbClr val="4DFFA0"/>
                </a:solidFill>
                <a:latin typeface="Calibri" pitchFamily="34" charset="0"/>
                <a:ea typeface="Calibri" pitchFamily="34" charset="-122"/>
                <a:cs typeface="Calibri" pitchFamily="34" charset="-120"/>
              </a:rPr>
              <a:t>Excellent</a:t>
            </a:r>
            <a:endParaRPr lang="en-US" sz="1000" dirty="0"/>
          </a:p>
        </p:txBody>
      </p:sp>
      <p:sp>
        <p:nvSpPr>
          <p:cNvPr id="25" name="Shape 16"/>
          <p:cNvSpPr/>
          <p:nvPr/>
        </p:nvSpPr>
        <p:spPr>
          <a:xfrm>
            <a:off x="6144768" y="2240280"/>
            <a:ext cx="2743200" cy="374904"/>
          </a:xfrm>
          <a:prstGeom prst="rect">
            <a:avLst/>
          </a:prstGeom>
          <a:solidFill>
            <a:srgbClr val="080F1E"/>
          </a:solidFill>
          <a:ln w="6350">
            <a:solidFill>
              <a:srgbClr val="0F1E30"/>
            </a:solidFill>
            <a:prstDash val="solid"/>
          </a:ln>
        </p:spPr>
        <p:txBody>
          <a:bodyPr/>
          <a:lstStyle/>
          <a:p>
            <a:endParaRPr lang="en-CA"/>
          </a:p>
        </p:txBody>
      </p:sp>
      <p:sp>
        <p:nvSpPr>
          <p:cNvPr id="26" name="Shape 17"/>
          <p:cNvSpPr/>
          <p:nvPr/>
        </p:nvSpPr>
        <p:spPr>
          <a:xfrm>
            <a:off x="6236208" y="2372868"/>
            <a:ext cx="109728" cy="109728"/>
          </a:xfrm>
          <a:prstGeom prst="ellipse">
            <a:avLst/>
          </a:prstGeom>
          <a:solidFill>
            <a:srgbClr val="00C9C9"/>
          </a:solidFill>
          <a:ln w="12700">
            <a:solidFill>
              <a:srgbClr val="00C9C9"/>
            </a:solidFill>
            <a:prstDash val="solid"/>
          </a:ln>
        </p:spPr>
        <p:txBody>
          <a:bodyPr/>
          <a:lstStyle/>
          <a:p>
            <a:endParaRPr lang="en-CA"/>
          </a:p>
        </p:txBody>
      </p:sp>
      <p:sp>
        <p:nvSpPr>
          <p:cNvPr id="27" name="Text 18"/>
          <p:cNvSpPr/>
          <p:nvPr/>
        </p:nvSpPr>
        <p:spPr>
          <a:xfrm>
            <a:off x="6400800" y="2240280"/>
            <a:ext cx="822960" cy="374904"/>
          </a:xfrm>
          <a:prstGeom prst="rect">
            <a:avLst/>
          </a:prstGeom>
          <a:noFill/>
          <a:ln/>
        </p:spPr>
        <p:txBody>
          <a:bodyPr wrap="square" lIns="0" tIns="0" rIns="0" bIns="0" rtlCol="0" anchor="ctr"/>
          <a:lstStyle/>
          <a:p>
            <a:pPr marL="0" indent="0">
              <a:buNone/>
            </a:pPr>
            <a:r>
              <a:rPr lang="en-US" sz="1000" b="1" dirty="0">
                <a:solidFill>
                  <a:srgbClr val="00C9C9"/>
                </a:solidFill>
                <a:latin typeface="Calibri" pitchFamily="34" charset="0"/>
                <a:ea typeface="Calibri" pitchFamily="34" charset="-122"/>
                <a:cs typeface="Calibri" pitchFamily="34" charset="-120"/>
              </a:rPr>
              <a:t>ChaCha20</a:t>
            </a:r>
            <a:endParaRPr lang="en-US" sz="1000" dirty="0"/>
          </a:p>
        </p:txBody>
      </p:sp>
      <p:sp>
        <p:nvSpPr>
          <p:cNvPr id="28" name="Text 19"/>
          <p:cNvSpPr/>
          <p:nvPr/>
        </p:nvSpPr>
        <p:spPr>
          <a:xfrm>
            <a:off x="7242048" y="2240280"/>
            <a:ext cx="749808" cy="374904"/>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0.594</a:t>
            </a:r>
            <a:endParaRPr lang="en-US" sz="1000" dirty="0"/>
          </a:p>
        </p:txBody>
      </p:sp>
      <p:sp>
        <p:nvSpPr>
          <p:cNvPr id="29" name="Text 20"/>
          <p:cNvSpPr/>
          <p:nvPr/>
        </p:nvSpPr>
        <p:spPr>
          <a:xfrm>
            <a:off x="7991856" y="2240280"/>
            <a:ext cx="896112" cy="374904"/>
          </a:xfrm>
          <a:prstGeom prst="rect">
            <a:avLst/>
          </a:prstGeom>
          <a:noFill/>
          <a:ln/>
        </p:spPr>
        <p:txBody>
          <a:bodyPr wrap="square" lIns="0" tIns="0" rIns="0" bIns="0" rtlCol="0" anchor="ctr"/>
          <a:lstStyle/>
          <a:p>
            <a:pPr marL="0" indent="0" algn="ctr">
              <a:buNone/>
            </a:pPr>
            <a:r>
              <a:rPr lang="en-US" sz="1000" dirty="0">
                <a:solidFill>
                  <a:srgbClr val="4DFFA0"/>
                </a:solidFill>
                <a:latin typeface="Calibri" pitchFamily="34" charset="0"/>
                <a:ea typeface="Calibri" pitchFamily="34" charset="-122"/>
                <a:cs typeface="Calibri" pitchFamily="34" charset="-120"/>
              </a:rPr>
              <a:t>Voir sl.12</a:t>
            </a:r>
            <a:endParaRPr lang="en-US" sz="1000" dirty="0"/>
          </a:p>
        </p:txBody>
      </p:sp>
      <p:sp>
        <p:nvSpPr>
          <p:cNvPr id="30" name="Shape 21"/>
          <p:cNvSpPr/>
          <p:nvPr/>
        </p:nvSpPr>
        <p:spPr>
          <a:xfrm>
            <a:off x="6144768" y="2615184"/>
            <a:ext cx="2743200" cy="374904"/>
          </a:xfrm>
          <a:prstGeom prst="rect">
            <a:avLst/>
          </a:prstGeom>
          <a:solidFill>
            <a:srgbClr val="100614"/>
          </a:solidFill>
          <a:ln w="6350">
            <a:solidFill>
              <a:srgbClr val="2A1040"/>
            </a:solidFill>
            <a:prstDash val="solid"/>
          </a:ln>
        </p:spPr>
        <p:txBody>
          <a:bodyPr/>
          <a:lstStyle/>
          <a:p>
            <a:endParaRPr lang="en-CA"/>
          </a:p>
        </p:txBody>
      </p:sp>
      <p:sp>
        <p:nvSpPr>
          <p:cNvPr id="31" name="Shape 22"/>
          <p:cNvSpPr/>
          <p:nvPr/>
        </p:nvSpPr>
        <p:spPr>
          <a:xfrm>
            <a:off x="6236208" y="2747772"/>
            <a:ext cx="109728" cy="109728"/>
          </a:xfrm>
          <a:prstGeom prst="ellipse">
            <a:avLst/>
          </a:prstGeom>
          <a:solidFill>
            <a:srgbClr val="FF6B9D"/>
          </a:solidFill>
          <a:ln w="12700">
            <a:solidFill>
              <a:srgbClr val="FF6B9D"/>
            </a:solidFill>
            <a:prstDash val="solid"/>
          </a:ln>
        </p:spPr>
        <p:txBody>
          <a:bodyPr/>
          <a:lstStyle/>
          <a:p>
            <a:endParaRPr lang="en-CA"/>
          </a:p>
        </p:txBody>
      </p:sp>
      <p:sp>
        <p:nvSpPr>
          <p:cNvPr id="32" name="Text 23"/>
          <p:cNvSpPr/>
          <p:nvPr/>
        </p:nvSpPr>
        <p:spPr>
          <a:xfrm>
            <a:off x="6400800" y="2615184"/>
            <a:ext cx="822960" cy="374904"/>
          </a:xfrm>
          <a:prstGeom prst="rect">
            <a:avLst/>
          </a:prstGeom>
          <a:noFill/>
          <a:ln/>
        </p:spPr>
        <p:txBody>
          <a:bodyPr wrap="square" lIns="0" tIns="0" rIns="0" bIns="0" rtlCol="0" anchor="ctr"/>
          <a:lstStyle/>
          <a:p>
            <a:pPr marL="0" indent="0">
              <a:buNone/>
            </a:pPr>
            <a:r>
              <a:rPr lang="en-US" sz="1000" b="1" dirty="0">
                <a:solidFill>
                  <a:srgbClr val="FF6B9D"/>
                </a:solidFill>
                <a:latin typeface="Calibri" pitchFamily="34" charset="0"/>
                <a:ea typeface="Calibri" pitchFamily="34" charset="-122"/>
                <a:cs typeface="Calibri" pitchFamily="34" charset="-120"/>
              </a:rPr>
              <a:t>DES</a:t>
            </a:r>
            <a:endParaRPr lang="en-US" sz="1000" dirty="0"/>
          </a:p>
        </p:txBody>
      </p:sp>
      <p:sp>
        <p:nvSpPr>
          <p:cNvPr id="33" name="Text 24"/>
          <p:cNvSpPr/>
          <p:nvPr/>
        </p:nvSpPr>
        <p:spPr>
          <a:xfrm>
            <a:off x="7242048" y="2615184"/>
            <a:ext cx="749808" cy="374904"/>
          </a:xfrm>
          <a:prstGeom prst="rect">
            <a:avLst/>
          </a:prstGeom>
          <a:noFill/>
          <a:ln/>
        </p:spPr>
        <p:txBody>
          <a:bodyPr wrap="square" lIns="0" tIns="0" rIns="0" bIns="0" rtlCol="0" anchor="ctr"/>
          <a:lstStyle/>
          <a:p>
            <a:pPr marL="0" indent="0" algn="ctr">
              <a:buNone/>
            </a:pPr>
            <a:r>
              <a:rPr lang="en-US" sz="1000" dirty="0">
                <a:solidFill>
                  <a:schemeClr val="bg1"/>
                </a:solidFill>
                <a:latin typeface="Calibri" pitchFamily="34" charset="0"/>
                <a:ea typeface="Calibri" pitchFamily="34" charset="-122"/>
                <a:cs typeface="Calibri" pitchFamily="34" charset="-120"/>
              </a:rPr>
              <a:t>0.438</a:t>
            </a:r>
            <a:endParaRPr lang="en-US" sz="1000" dirty="0">
              <a:solidFill>
                <a:schemeClr val="bg1"/>
              </a:solidFill>
            </a:endParaRPr>
          </a:p>
        </p:txBody>
      </p:sp>
      <p:sp>
        <p:nvSpPr>
          <p:cNvPr id="34" name="Text 25"/>
          <p:cNvSpPr/>
          <p:nvPr/>
        </p:nvSpPr>
        <p:spPr>
          <a:xfrm>
            <a:off x="7991856" y="2615184"/>
            <a:ext cx="896112" cy="374904"/>
          </a:xfrm>
          <a:prstGeom prst="rect">
            <a:avLst/>
          </a:prstGeom>
          <a:noFill/>
          <a:ln/>
        </p:spPr>
        <p:txBody>
          <a:bodyPr wrap="square" lIns="0" tIns="0" rIns="0" bIns="0" rtlCol="0" anchor="ctr"/>
          <a:lstStyle/>
          <a:p>
            <a:pPr marL="0" indent="0" algn="ctr">
              <a:buNone/>
            </a:pPr>
            <a:r>
              <a:rPr lang="en-US" sz="1000" dirty="0">
                <a:solidFill>
                  <a:srgbClr val="C00000"/>
                </a:solidFill>
                <a:latin typeface="Calibri" pitchFamily="34" charset="0"/>
                <a:ea typeface="Calibri" pitchFamily="34" charset="-122"/>
                <a:cs typeface="Calibri" pitchFamily="34" charset="-120"/>
              </a:rPr>
              <a:t>Faible</a:t>
            </a:r>
            <a:endParaRPr lang="en-US" sz="1000" dirty="0">
              <a:solidFill>
                <a:srgbClr val="C00000"/>
              </a:solidFill>
            </a:endParaRPr>
          </a:p>
        </p:txBody>
      </p:sp>
      <p:sp>
        <p:nvSpPr>
          <p:cNvPr id="35" name="Shape 26"/>
          <p:cNvSpPr/>
          <p:nvPr/>
        </p:nvSpPr>
        <p:spPr>
          <a:xfrm>
            <a:off x="6144768" y="2990088"/>
            <a:ext cx="2743200" cy="374904"/>
          </a:xfrm>
          <a:prstGeom prst="rect">
            <a:avLst/>
          </a:prstGeom>
          <a:solidFill>
            <a:srgbClr val="100614"/>
          </a:solidFill>
          <a:ln w="6350">
            <a:solidFill>
              <a:srgbClr val="2A1040"/>
            </a:solidFill>
            <a:prstDash val="solid"/>
          </a:ln>
        </p:spPr>
        <p:txBody>
          <a:bodyPr/>
          <a:lstStyle/>
          <a:p>
            <a:endParaRPr lang="en-CA"/>
          </a:p>
        </p:txBody>
      </p:sp>
      <p:sp>
        <p:nvSpPr>
          <p:cNvPr id="36" name="Shape 27"/>
          <p:cNvSpPr/>
          <p:nvPr/>
        </p:nvSpPr>
        <p:spPr>
          <a:xfrm>
            <a:off x="6236208" y="3122676"/>
            <a:ext cx="109728" cy="109728"/>
          </a:xfrm>
          <a:prstGeom prst="ellipse">
            <a:avLst/>
          </a:prstGeom>
          <a:solidFill>
            <a:srgbClr val="9B6DFF"/>
          </a:solidFill>
          <a:ln w="12700">
            <a:solidFill>
              <a:srgbClr val="9B6DFF"/>
            </a:solidFill>
            <a:prstDash val="solid"/>
          </a:ln>
        </p:spPr>
        <p:txBody>
          <a:bodyPr/>
          <a:lstStyle/>
          <a:p>
            <a:endParaRPr lang="en-CA"/>
          </a:p>
        </p:txBody>
      </p:sp>
      <p:sp>
        <p:nvSpPr>
          <p:cNvPr id="37" name="Text 28"/>
          <p:cNvSpPr/>
          <p:nvPr/>
        </p:nvSpPr>
        <p:spPr>
          <a:xfrm>
            <a:off x="6400800" y="2990088"/>
            <a:ext cx="822960" cy="374904"/>
          </a:xfrm>
          <a:prstGeom prst="rect">
            <a:avLst/>
          </a:prstGeom>
          <a:noFill/>
          <a:ln/>
        </p:spPr>
        <p:txBody>
          <a:bodyPr wrap="square" lIns="0" tIns="0" rIns="0" bIns="0" rtlCol="0" anchor="ctr"/>
          <a:lstStyle/>
          <a:p>
            <a:pPr marL="0" indent="0">
              <a:buNone/>
            </a:pPr>
            <a:r>
              <a:rPr lang="en-US" sz="1000" b="1" dirty="0">
                <a:solidFill>
                  <a:srgbClr val="9B6DFF"/>
                </a:solidFill>
                <a:latin typeface="Calibri" pitchFamily="34" charset="0"/>
                <a:ea typeface="Calibri" pitchFamily="34" charset="-122"/>
                <a:cs typeface="Calibri" pitchFamily="34" charset="-120"/>
              </a:rPr>
              <a:t>3DES</a:t>
            </a:r>
            <a:endParaRPr lang="en-US" sz="1000" dirty="0"/>
          </a:p>
        </p:txBody>
      </p:sp>
      <p:sp>
        <p:nvSpPr>
          <p:cNvPr id="38" name="Text 29"/>
          <p:cNvSpPr/>
          <p:nvPr/>
        </p:nvSpPr>
        <p:spPr>
          <a:xfrm>
            <a:off x="7242048" y="2990088"/>
            <a:ext cx="749808" cy="374904"/>
          </a:xfrm>
          <a:prstGeom prst="rect">
            <a:avLst/>
          </a:prstGeom>
          <a:noFill/>
          <a:ln/>
        </p:spPr>
        <p:txBody>
          <a:bodyPr wrap="square" lIns="0" tIns="0" rIns="0" bIns="0" rtlCol="0" anchor="ctr"/>
          <a:lstStyle/>
          <a:p>
            <a:pPr marL="0" indent="0" algn="ctr">
              <a:buNone/>
            </a:pPr>
            <a:r>
              <a:rPr lang="en-US" sz="1000" dirty="0">
                <a:solidFill>
                  <a:schemeClr val="bg1"/>
                </a:solidFill>
                <a:latin typeface="Calibri" pitchFamily="34" charset="0"/>
                <a:ea typeface="Calibri" pitchFamily="34" charset="-122"/>
                <a:cs typeface="Calibri" pitchFamily="34" charset="-120"/>
              </a:rPr>
              <a:t>0.436</a:t>
            </a:r>
            <a:endParaRPr lang="en-US" sz="1000" dirty="0">
              <a:solidFill>
                <a:schemeClr val="bg1"/>
              </a:solidFill>
            </a:endParaRPr>
          </a:p>
        </p:txBody>
      </p:sp>
      <p:sp>
        <p:nvSpPr>
          <p:cNvPr id="39" name="Text 30"/>
          <p:cNvSpPr/>
          <p:nvPr/>
        </p:nvSpPr>
        <p:spPr>
          <a:xfrm>
            <a:off x="7991856" y="2990088"/>
            <a:ext cx="896112" cy="374904"/>
          </a:xfrm>
          <a:prstGeom prst="rect">
            <a:avLst/>
          </a:prstGeom>
          <a:noFill/>
          <a:ln/>
        </p:spPr>
        <p:txBody>
          <a:bodyPr wrap="square" lIns="0" tIns="0" rIns="0" bIns="0" rtlCol="0" anchor="ctr"/>
          <a:lstStyle/>
          <a:p>
            <a:pPr marL="0" indent="0" algn="ctr">
              <a:buNone/>
            </a:pPr>
            <a:r>
              <a:rPr lang="en-US" sz="1000" dirty="0">
                <a:solidFill>
                  <a:srgbClr val="C00000"/>
                </a:solidFill>
                <a:latin typeface="Calibri" pitchFamily="34" charset="0"/>
                <a:ea typeface="Calibri" pitchFamily="34" charset="-122"/>
                <a:cs typeface="Calibri" pitchFamily="34" charset="-120"/>
              </a:rPr>
              <a:t>Faible</a:t>
            </a:r>
            <a:endParaRPr lang="en-US" sz="1000" dirty="0">
              <a:solidFill>
                <a:srgbClr val="C00000"/>
              </a:solidFill>
            </a:endParaRPr>
          </a:p>
        </p:txBody>
      </p:sp>
      <p:sp>
        <p:nvSpPr>
          <p:cNvPr id="40" name="Shape 31"/>
          <p:cNvSpPr/>
          <p:nvPr/>
        </p:nvSpPr>
        <p:spPr>
          <a:xfrm>
            <a:off x="6144768" y="3456432"/>
            <a:ext cx="2743200" cy="822960"/>
          </a:xfrm>
          <a:prstGeom prst="roundRect">
            <a:avLst>
              <a:gd name="adj" fmla="val 6667"/>
            </a:avLst>
          </a:prstGeom>
          <a:solidFill>
            <a:srgbClr val="0A0318"/>
          </a:solidFill>
          <a:ln w="9525">
            <a:solidFill>
              <a:srgbClr val="2A1040"/>
            </a:solidFill>
            <a:prstDash val="solid"/>
          </a:ln>
        </p:spPr>
        <p:txBody>
          <a:bodyPr/>
          <a:lstStyle/>
          <a:p>
            <a:endParaRPr lang="en-CA"/>
          </a:p>
        </p:txBody>
      </p:sp>
      <p:sp>
        <p:nvSpPr>
          <p:cNvPr id="41" name="Text 32"/>
          <p:cNvSpPr/>
          <p:nvPr/>
        </p:nvSpPr>
        <p:spPr>
          <a:xfrm>
            <a:off x="6272784" y="3456432"/>
            <a:ext cx="2487168" cy="822960"/>
          </a:xfrm>
          <a:prstGeom prst="rect">
            <a:avLst/>
          </a:prstGeom>
          <a:noFill/>
          <a:ln/>
        </p:spPr>
        <p:txBody>
          <a:bodyPr wrap="square" rtlCol="0" anchor="ctr"/>
          <a:lstStyle/>
          <a:p>
            <a:pPr marL="0" indent="0">
              <a:buNone/>
            </a:pPr>
            <a:r>
              <a:rPr lang="fr-FR" sz="850" b="1" dirty="0">
                <a:solidFill>
                  <a:srgbClr val="FF6B9D"/>
                </a:solidFill>
                <a:latin typeface="Calibri" pitchFamily="34" charset="0"/>
                <a:ea typeface="Calibri" pitchFamily="34" charset="-122"/>
                <a:cs typeface="Calibri" pitchFamily="34" charset="-120"/>
              </a:rPr>
              <a:t>Avec un score de 0,438, DES illustre un problème connu depuis les années 1990 : </a:t>
            </a:r>
            <a:r>
              <a:rPr lang="fr-FR" sz="850" dirty="0">
                <a:solidFill>
                  <a:srgbClr val="8892A4"/>
                </a:solidFill>
                <a:latin typeface="Calibri" pitchFamily="34" charset="0"/>
                <a:ea typeface="Calibri" pitchFamily="34" charset="-122"/>
                <a:cs typeface="Calibri" pitchFamily="34" charset="-120"/>
              </a:rPr>
              <a:t>64 clés dites « faibles » produisent des sorties structurellement moins aléatoires. 3DES hérite directement de cette faiblesse.</a:t>
            </a:r>
            <a:endParaRPr lang="en-US" sz="850" dirty="0">
              <a:solidFill>
                <a:srgbClr val="8892A4"/>
              </a:solidFill>
            </a:endParaRPr>
          </a:p>
        </p:txBody>
      </p:sp>
      <p:sp>
        <p:nvSpPr>
          <p:cNvPr id="43" name="Text 34"/>
          <p:cNvSpPr/>
          <p:nvPr/>
        </p:nvSpPr>
        <p:spPr>
          <a:xfrm>
            <a:off x="478536" y="3949714"/>
            <a:ext cx="5394960" cy="594360"/>
          </a:xfrm>
          <a:prstGeom prst="rect">
            <a:avLst/>
          </a:prstGeom>
          <a:noFill/>
          <a:ln/>
        </p:spPr>
        <p:txBody>
          <a:bodyPr wrap="square" rtlCol="0" anchor="ctr"/>
          <a:lstStyle/>
          <a:p>
            <a:pPr marL="0" indent="0">
              <a:buNone/>
            </a:pPr>
            <a:r>
              <a:rPr lang="fr-FR" sz="950" b="1" dirty="0">
                <a:solidFill>
                  <a:srgbClr val="00F5FF"/>
                </a:solidFill>
                <a:latin typeface="Calibri" pitchFamily="34" charset="0"/>
                <a:ea typeface="Calibri" pitchFamily="34" charset="-122"/>
                <a:cs typeface="Calibri" pitchFamily="34" charset="-120"/>
              </a:rPr>
              <a:t>Avec un score de 0,500 pour AES contre 0,438 pour DES, </a:t>
            </a:r>
            <a:r>
              <a:rPr lang="fr-FR" sz="950" dirty="0">
                <a:solidFill>
                  <a:srgbClr val="8892A4"/>
                </a:solidFill>
                <a:latin typeface="Calibri" pitchFamily="34" charset="0"/>
                <a:ea typeface="Calibri" pitchFamily="34" charset="-122"/>
                <a:cs typeface="Calibri" pitchFamily="34" charset="-120"/>
              </a:rPr>
              <a:t>l'écart révèle que DES n'est pas seulement lent et cryptographiquement faible : son key </a:t>
            </a:r>
            <a:r>
              <a:rPr lang="fr-FR" sz="950" dirty="0" err="1">
                <a:solidFill>
                  <a:srgbClr val="8892A4"/>
                </a:solidFill>
                <a:latin typeface="Calibri" pitchFamily="34" charset="0"/>
                <a:ea typeface="Calibri" pitchFamily="34" charset="-122"/>
                <a:cs typeface="Calibri" pitchFamily="34" charset="-120"/>
              </a:rPr>
              <a:t>schedule</a:t>
            </a:r>
            <a:r>
              <a:rPr lang="fr-FR" sz="950" dirty="0">
                <a:solidFill>
                  <a:srgbClr val="8892A4"/>
                </a:solidFill>
                <a:latin typeface="Calibri" pitchFamily="34" charset="0"/>
                <a:ea typeface="Calibri" pitchFamily="34" charset="-122"/>
                <a:cs typeface="Calibri" pitchFamily="34" charset="-120"/>
              </a:rPr>
              <a:t> présente une déficience structurelle, et non un simple artefact de mesure.</a:t>
            </a:r>
            <a:r>
              <a:rPr lang="en-US" sz="950" dirty="0">
                <a:solidFill>
                  <a:srgbClr val="8892A4"/>
                </a:solidFill>
                <a:latin typeface="Calibri" pitchFamily="34" charset="0"/>
                <a:ea typeface="Calibri" pitchFamily="34" charset="-122"/>
                <a:cs typeface="Calibri" pitchFamily="34" charset="-120"/>
              </a:rPr>
              <a:t>.</a:t>
            </a:r>
            <a:endParaRPr lang="en-US" sz="950" dirty="0">
              <a:solidFill>
                <a:srgbClr val="8892A4"/>
              </a:solidFill>
            </a:endParaRPr>
          </a:p>
        </p:txBody>
      </p:sp>
      <p:sp>
        <p:nvSpPr>
          <p:cNvPr id="44" name="Shape 35"/>
          <p:cNvSpPr/>
          <p:nvPr/>
        </p:nvSpPr>
        <p:spPr>
          <a:xfrm>
            <a:off x="7650480" y="288036"/>
            <a:ext cx="1115568" cy="329184"/>
          </a:xfrm>
          <a:prstGeom prst="roundRect">
            <a:avLst>
              <a:gd name="adj" fmla="val 22222"/>
            </a:avLst>
          </a:prstGeom>
          <a:solidFill>
            <a:srgbClr val="060F1E"/>
          </a:solidFill>
          <a:ln w="9525">
            <a:solidFill>
              <a:srgbClr val="9B6DFF"/>
            </a:solidFill>
            <a:prstDash val="solid"/>
          </a:ln>
        </p:spPr>
        <p:txBody>
          <a:bodyPr/>
          <a:lstStyle/>
          <a:p>
            <a:endParaRPr lang="en-CA"/>
          </a:p>
        </p:txBody>
      </p:sp>
      <p:sp>
        <p:nvSpPr>
          <p:cNvPr id="45" name="Text 36"/>
          <p:cNvSpPr/>
          <p:nvPr/>
        </p:nvSpPr>
        <p:spPr>
          <a:xfrm>
            <a:off x="7644384" y="274320"/>
            <a:ext cx="1115568" cy="329184"/>
          </a:xfrm>
          <a:prstGeom prst="rect">
            <a:avLst/>
          </a:prstGeom>
          <a:noFill/>
          <a:ln/>
        </p:spPr>
        <p:txBody>
          <a:bodyPr wrap="square" lIns="0" tIns="0" rIns="0" bIns="0" rtlCol="0" anchor="ctr"/>
          <a:lstStyle/>
          <a:p>
            <a:pPr marL="0" indent="0" algn="ctr">
              <a:buNone/>
            </a:pPr>
            <a:r>
              <a:rPr lang="en-US" sz="900" b="1" dirty="0">
                <a:solidFill>
                  <a:srgbClr val="9B6DFF"/>
                </a:solidFill>
                <a:latin typeface="Calibri" pitchFamily="34" charset="0"/>
                <a:ea typeface="Calibri" pitchFamily="34" charset="-122"/>
                <a:cs typeface="Calibri" pitchFamily="34" charset="-120"/>
              </a:rPr>
              <a:t>▶  Vidéo 11</a:t>
            </a:r>
            <a:endParaRPr lang="en-US" sz="900" dirty="0"/>
          </a:p>
        </p:txBody>
      </p:sp>
      <p:sp>
        <p:nvSpPr>
          <p:cNvPr id="46" name="Text 37"/>
          <p:cNvSpPr/>
          <p:nvPr/>
        </p:nvSpPr>
        <p:spPr>
          <a:xfrm>
            <a:off x="1371600" y="4828032"/>
            <a:ext cx="6400800" cy="228600"/>
          </a:xfrm>
          <a:prstGeom prst="rect">
            <a:avLst/>
          </a:prstGeom>
          <a:noFill/>
          <a:ln/>
        </p:spPr>
        <p:txBody>
          <a:bodyPr wrap="square" rtlCol="0" anchor="ctr"/>
          <a:lstStyle/>
          <a:p>
            <a:pPr marL="0" indent="0" algn="ctr">
              <a:buNone/>
            </a:pPr>
            <a:r>
              <a:rPr lang="en-US" sz="850" b="1" kern="0" spc="100" dirty="0">
                <a:solidFill>
                  <a:srgbClr val="00F5FF"/>
                </a:solidFill>
                <a:latin typeface="Calibri" pitchFamily="34" charset="0"/>
                <a:ea typeface="Calibri" pitchFamily="34" charset="-122"/>
                <a:cs typeface="Calibri" pitchFamily="34" charset="-120"/>
              </a:rPr>
              <a:t>INF1430</a:t>
            </a:r>
            <a:r>
              <a:rPr lang="en-US" sz="850" kern="0" spc="100" dirty="0">
                <a:solidFill>
                  <a:srgbClr val="3A4A65"/>
                </a:solidFill>
                <a:latin typeface="Calibri" pitchFamily="34" charset="0"/>
                <a:ea typeface="Calibri" pitchFamily="34" charset="-122"/>
                <a:cs typeface="Calibri" pitchFamily="34" charset="-120"/>
              </a:rPr>
              <a:t>  ·  Université TÉLUQ  ·  TN3  ·  Melissa Moya  ·  2026</a:t>
            </a:r>
            <a:endParaRPr lang="en-US" sz="850" dirty="0"/>
          </a:p>
        </p:txBody>
      </p:sp>
      <p:pic>
        <p:nvPicPr>
          <p:cNvPr id="48" name="Picture 47">
            <a:extLst>
              <a:ext uri="{FF2B5EF4-FFF2-40B4-BE49-F238E27FC236}">
                <a16:creationId xmlns:a16="http://schemas.microsoft.com/office/drawing/2014/main" id="{32B91EB2-8E40-A03F-89C4-4591E0B9328E}"/>
              </a:ext>
            </a:extLst>
          </p:cNvPr>
          <p:cNvPicPr>
            <a:picLocks noChangeAspect="1"/>
          </p:cNvPicPr>
          <p:nvPr/>
        </p:nvPicPr>
        <p:blipFill>
          <a:blip r:embed="rId6"/>
          <a:stretch>
            <a:fillRect/>
          </a:stretch>
        </p:blipFill>
        <p:spPr>
          <a:xfrm>
            <a:off x="694944" y="1140328"/>
            <a:ext cx="4912897" cy="270929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Grp="1" noRot="1" noChangeAspect="1" noMove="1" noResize="1" noEditPoints="1" noAdjustHandles="1" noChangeArrowheads="1" noChangeShapeType="1" noCrop="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256032" y="201168"/>
            <a:ext cx="548640" cy="548640"/>
          </a:xfrm>
          <a:prstGeom prst="rect">
            <a:avLst/>
          </a:prstGeom>
        </p:spPr>
      </p:pic>
      <p:pic>
        <p:nvPicPr>
          <p:cNvPr id="4" name="Image 2" descr="preencoded.png"/>
          <p:cNvPicPr>
            <a:picLocks noGrp="1" noRot="1" noChangeAspect="1" noMove="1" noResize="1" noEditPoints="1" noAdjustHandles="1" noChangeArrowheads="1" noChangeShapeType="1" noCrop="1"/>
          </p:cNvPicPr>
          <p:nvPr/>
        </p:nvPicPr>
        <p:blipFill>
          <a:blip r:embed="rId4"/>
          <a:stretch>
            <a:fillRect/>
          </a:stretch>
        </p:blipFill>
        <p:spPr>
          <a:xfrm flipH="1">
            <a:off x="8339328" y="201168"/>
            <a:ext cx="548640" cy="548640"/>
          </a:xfrm>
          <a:prstGeom prst="rect">
            <a:avLst/>
          </a:prstGeom>
        </p:spPr>
      </p:pic>
      <p:pic>
        <p:nvPicPr>
          <p:cNvPr id="5" name="Image 3" descr="preencoded.png"/>
          <p:cNvPicPr>
            <a:picLocks noChangeAspect="1"/>
          </p:cNvPicPr>
          <p:nvPr/>
        </p:nvPicPr>
        <p:blipFill>
          <a:blip r:embed="rId4"/>
          <a:stretch>
            <a:fillRect/>
          </a:stretch>
        </p:blipFill>
        <p:spPr>
          <a:xfrm flipV="1">
            <a:off x="256032" y="4393692"/>
            <a:ext cx="548640" cy="548640"/>
          </a:xfrm>
          <a:prstGeom prst="rect">
            <a:avLst/>
          </a:prstGeom>
        </p:spPr>
      </p:pic>
      <p:pic>
        <p:nvPicPr>
          <p:cNvPr id="6" name="Image 4" descr="preencoded.png"/>
          <p:cNvPicPr>
            <a:picLocks noChangeAspect="1"/>
          </p:cNvPicPr>
          <p:nvPr/>
        </p:nvPicPr>
        <p:blipFill>
          <a:blip r:embed="rId4"/>
          <a:stretch>
            <a:fillRect/>
          </a:stretch>
        </p:blipFill>
        <p:spPr>
          <a:xfrm flipH="1" flipV="1">
            <a:off x="8339328" y="4393692"/>
            <a:ext cx="548640" cy="548640"/>
          </a:xfrm>
          <a:prstGeom prst="rect">
            <a:avLst/>
          </a:prstGeom>
        </p:spPr>
      </p:pic>
      <p:pic>
        <p:nvPicPr>
          <p:cNvPr id="7" name="Image 5" descr="preencoded.png"/>
          <p:cNvPicPr>
            <a:picLocks noChangeAspect="1"/>
          </p:cNvPicPr>
          <p:nvPr/>
        </p:nvPicPr>
        <p:blipFill>
          <a:blip r:embed="rId5">
            <a:alphaModFix amt="80000"/>
          </a:blip>
          <a:stretch>
            <a:fillRect/>
          </a:stretch>
        </p:blipFill>
        <p:spPr>
          <a:xfrm>
            <a:off x="566928" y="256032"/>
            <a:ext cx="256032" cy="256032"/>
          </a:xfrm>
          <a:prstGeom prst="rect">
            <a:avLst/>
          </a:prstGeom>
        </p:spPr>
      </p:pic>
      <p:sp>
        <p:nvSpPr>
          <p:cNvPr id="8" name="Text 0"/>
          <p:cNvSpPr/>
          <p:nvPr/>
        </p:nvSpPr>
        <p:spPr>
          <a:xfrm>
            <a:off x="868680" y="256032"/>
            <a:ext cx="5486400" cy="274320"/>
          </a:xfrm>
          <a:prstGeom prst="rect">
            <a:avLst/>
          </a:prstGeom>
          <a:noFill/>
          <a:ln/>
        </p:spPr>
        <p:txBody>
          <a:bodyPr wrap="square" rtlCol="0" anchor="ctr"/>
          <a:lstStyle/>
          <a:p>
            <a:pPr marL="0" indent="0">
              <a:buNone/>
            </a:pPr>
            <a:r>
              <a:rPr lang="en-US" sz="1000" b="1" kern="0" spc="50" dirty="0">
                <a:solidFill>
                  <a:srgbClr val="9B6DFF"/>
                </a:solidFill>
                <a:latin typeface="Calibri" pitchFamily="34" charset="0"/>
                <a:ea typeface="Calibri" pitchFamily="34" charset="-122"/>
                <a:cs typeface="Calibri" pitchFamily="34" charset="-120"/>
              </a:rPr>
              <a:t>05  </a:t>
            </a:r>
            <a:r>
              <a:rPr lang="en-US" sz="1000" kern="0" spc="50" dirty="0">
                <a:solidFill>
                  <a:srgbClr val="8892A4"/>
                </a:solidFill>
                <a:latin typeface="Calibri" pitchFamily="34" charset="0"/>
                <a:ea typeface="Calibri" pitchFamily="34" charset="-122"/>
                <a:cs typeface="Calibri" pitchFamily="34" charset="-120"/>
              </a:rPr>
              <a:t>Robustesse cryptographique</a:t>
            </a:r>
            <a:endParaRPr lang="en-US" sz="1000" dirty="0"/>
          </a:p>
        </p:txBody>
      </p:sp>
      <p:sp>
        <p:nvSpPr>
          <p:cNvPr id="9" name="Text 1"/>
          <p:cNvSpPr/>
          <p:nvPr/>
        </p:nvSpPr>
        <p:spPr>
          <a:xfrm>
            <a:off x="566928" y="566928"/>
            <a:ext cx="777240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Stabilité — Le Raspberry Pi plus fiable que le laptop ?</a:t>
            </a:r>
            <a:endParaRPr lang="en-US" sz="2200" dirty="0"/>
          </a:p>
        </p:txBody>
      </p:sp>
      <p:sp>
        <p:nvSpPr>
          <p:cNvPr id="11" name="Shape 2"/>
          <p:cNvSpPr/>
          <p:nvPr/>
        </p:nvSpPr>
        <p:spPr>
          <a:xfrm>
            <a:off x="6144768" y="1115568"/>
            <a:ext cx="2743200" cy="804672"/>
          </a:xfrm>
          <a:prstGeom prst="roundRect">
            <a:avLst>
              <a:gd name="adj" fmla="val 7955"/>
            </a:avLst>
          </a:prstGeom>
          <a:solidFill>
            <a:srgbClr val="060D1A"/>
          </a:solidFill>
          <a:ln w="9525">
            <a:solidFill>
              <a:srgbClr val="0D2A52"/>
            </a:solidFill>
            <a:prstDash val="solid"/>
          </a:ln>
        </p:spPr>
        <p:txBody>
          <a:bodyPr/>
          <a:lstStyle/>
          <a:p>
            <a:endParaRPr lang="en-CA"/>
          </a:p>
        </p:txBody>
      </p:sp>
      <p:sp>
        <p:nvSpPr>
          <p:cNvPr id="12" name="Text 3"/>
          <p:cNvSpPr/>
          <p:nvPr/>
        </p:nvSpPr>
        <p:spPr>
          <a:xfrm>
            <a:off x="6309360" y="1170432"/>
            <a:ext cx="2468880" cy="329184"/>
          </a:xfrm>
          <a:prstGeom prst="rect">
            <a:avLst/>
          </a:prstGeom>
          <a:noFill/>
          <a:ln/>
        </p:spPr>
        <p:txBody>
          <a:bodyPr wrap="square" lIns="0" tIns="0" rIns="0" bIns="0" rtlCol="0" anchor="ctr"/>
          <a:lstStyle/>
          <a:p>
            <a:pPr marL="0" indent="0">
              <a:buNone/>
            </a:pPr>
            <a:r>
              <a:rPr lang="en-US" sz="1900" b="1" dirty="0">
                <a:solidFill>
                  <a:srgbClr val="4F7FFF"/>
                </a:solidFill>
                <a:latin typeface="Calibri" pitchFamily="34" charset="0"/>
                <a:ea typeface="Calibri" pitchFamily="34" charset="-122"/>
                <a:cs typeface="Calibri" pitchFamily="34" charset="-120"/>
              </a:rPr>
              <a:t>11,28 MB/s</a:t>
            </a:r>
            <a:endParaRPr lang="en-US" sz="1900" dirty="0"/>
          </a:p>
        </p:txBody>
      </p:sp>
      <p:sp>
        <p:nvSpPr>
          <p:cNvPr id="13" name="Text 4"/>
          <p:cNvSpPr/>
          <p:nvPr/>
        </p:nvSpPr>
        <p:spPr>
          <a:xfrm>
            <a:off x="6309360" y="1481328"/>
            <a:ext cx="2468880" cy="182880"/>
          </a:xfrm>
          <a:prstGeom prst="rect">
            <a:avLst/>
          </a:prstGeom>
          <a:noFill/>
          <a:ln/>
        </p:spPr>
        <p:txBody>
          <a:bodyPr wrap="square" lIns="0" tIns="0" rIns="0" bIns="0" rtlCol="0" anchor="ctr"/>
          <a:lstStyle/>
          <a:p>
            <a:pPr marL="0" indent="0">
              <a:buNone/>
            </a:pPr>
            <a:r>
              <a:rPr lang="en-US" sz="950" b="1" dirty="0">
                <a:solidFill>
                  <a:srgbClr val="4F7FFF"/>
                </a:solidFill>
                <a:latin typeface="Calibri" pitchFamily="34" charset="0"/>
                <a:ea typeface="Calibri" pitchFamily="34" charset="-122"/>
                <a:cs typeface="Calibri" pitchFamily="34" charset="-120"/>
              </a:rPr>
              <a:t>IC95 AES sur x86</a:t>
            </a:r>
            <a:endParaRPr lang="en-US" sz="950" dirty="0"/>
          </a:p>
        </p:txBody>
      </p:sp>
      <p:sp>
        <p:nvSpPr>
          <p:cNvPr id="14" name="Text 5"/>
          <p:cNvSpPr/>
          <p:nvPr/>
        </p:nvSpPr>
        <p:spPr>
          <a:xfrm>
            <a:off x="6309360" y="1645920"/>
            <a:ext cx="2468880" cy="237744"/>
          </a:xfrm>
          <a:prstGeom prst="rect">
            <a:avLst/>
          </a:prstGeom>
          <a:noFill/>
          <a:ln/>
        </p:spPr>
        <p:txBody>
          <a:bodyPr wrap="square" lIns="0" tIns="0" rIns="0" bIns="0" rtlCol="0" anchor="ctr"/>
          <a:lstStyle/>
          <a:p>
            <a:pPr marL="0" indent="0">
              <a:buNone/>
            </a:pPr>
            <a:r>
              <a:rPr lang="en-US" sz="850" i="1" dirty="0">
                <a:solidFill>
                  <a:srgbClr val="8892A4"/>
                </a:solidFill>
                <a:latin typeface="Calibri" pitchFamily="34" charset="0"/>
                <a:ea typeface="Calibri" pitchFamily="34" charset="-122"/>
                <a:cs typeface="Calibri" pitchFamily="34" charset="-120"/>
              </a:rPr>
              <a:t>vs 2.06 MB/s sur Pi — le laptop est 5.5× plus erratique</a:t>
            </a:r>
            <a:endParaRPr lang="en-US" sz="850" dirty="0"/>
          </a:p>
        </p:txBody>
      </p:sp>
      <p:sp>
        <p:nvSpPr>
          <p:cNvPr id="15" name="Shape 6"/>
          <p:cNvSpPr/>
          <p:nvPr/>
        </p:nvSpPr>
        <p:spPr>
          <a:xfrm>
            <a:off x="6144768" y="2011680"/>
            <a:ext cx="2743200" cy="804672"/>
          </a:xfrm>
          <a:prstGeom prst="roundRect">
            <a:avLst>
              <a:gd name="adj" fmla="val 7955"/>
            </a:avLst>
          </a:prstGeom>
          <a:solidFill>
            <a:srgbClr val="02100A"/>
          </a:solidFill>
          <a:ln w="9525">
            <a:solidFill>
              <a:srgbClr val="0A3020"/>
            </a:solidFill>
            <a:prstDash val="solid"/>
          </a:ln>
        </p:spPr>
        <p:txBody>
          <a:bodyPr/>
          <a:lstStyle/>
          <a:p>
            <a:endParaRPr lang="en-CA"/>
          </a:p>
        </p:txBody>
      </p:sp>
      <p:sp>
        <p:nvSpPr>
          <p:cNvPr id="16" name="Text 7"/>
          <p:cNvSpPr/>
          <p:nvPr/>
        </p:nvSpPr>
        <p:spPr>
          <a:xfrm>
            <a:off x="6309360" y="2066544"/>
            <a:ext cx="2468880" cy="329184"/>
          </a:xfrm>
          <a:prstGeom prst="rect">
            <a:avLst/>
          </a:prstGeom>
          <a:noFill/>
          <a:ln/>
        </p:spPr>
        <p:txBody>
          <a:bodyPr wrap="square" lIns="0" tIns="0" rIns="0" bIns="0" rtlCol="0" anchor="ctr"/>
          <a:lstStyle/>
          <a:p>
            <a:pPr marL="0" indent="0">
              <a:buNone/>
            </a:pPr>
            <a:r>
              <a:rPr lang="en-US" sz="1900" b="1" dirty="0">
                <a:solidFill>
                  <a:srgbClr val="00C97A"/>
                </a:solidFill>
                <a:latin typeface="Calibri" pitchFamily="34" charset="0"/>
                <a:ea typeface="Calibri" pitchFamily="34" charset="-122"/>
                <a:cs typeface="Calibri" pitchFamily="34" charset="-120"/>
              </a:rPr>
              <a:t>≈ 0</a:t>
            </a:r>
            <a:endParaRPr lang="en-US" sz="1900" dirty="0"/>
          </a:p>
        </p:txBody>
      </p:sp>
      <p:sp>
        <p:nvSpPr>
          <p:cNvPr id="17" name="Text 8"/>
          <p:cNvSpPr/>
          <p:nvPr/>
        </p:nvSpPr>
        <p:spPr>
          <a:xfrm>
            <a:off x="6309360" y="2377440"/>
            <a:ext cx="2468880" cy="182880"/>
          </a:xfrm>
          <a:prstGeom prst="rect">
            <a:avLst/>
          </a:prstGeom>
          <a:noFill/>
          <a:ln/>
        </p:spPr>
        <p:txBody>
          <a:bodyPr wrap="square" lIns="0" tIns="0" rIns="0" bIns="0" rtlCol="0" anchor="ctr"/>
          <a:lstStyle/>
          <a:p>
            <a:pPr marL="0" indent="0">
              <a:buNone/>
            </a:pPr>
            <a:r>
              <a:rPr lang="en-US" sz="950" b="1" dirty="0">
                <a:solidFill>
                  <a:srgbClr val="00C97A"/>
                </a:solidFill>
                <a:latin typeface="Calibri" pitchFamily="34" charset="0"/>
                <a:ea typeface="Calibri" pitchFamily="34" charset="-122"/>
                <a:cs typeface="Calibri" pitchFamily="34" charset="-120"/>
              </a:rPr>
              <a:t>IC95 Twofish</a:t>
            </a:r>
            <a:endParaRPr lang="en-US" sz="950" dirty="0"/>
          </a:p>
        </p:txBody>
      </p:sp>
      <p:sp>
        <p:nvSpPr>
          <p:cNvPr id="18" name="Text 9"/>
          <p:cNvSpPr/>
          <p:nvPr/>
        </p:nvSpPr>
        <p:spPr>
          <a:xfrm>
            <a:off x="6309360" y="2542032"/>
            <a:ext cx="2468880" cy="237744"/>
          </a:xfrm>
          <a:prstGeom prst="rect">
            <a:avLst/>
          </a:prstGeom>
          <a:noFill/>
          <a:ln/>
        </p:spPr>
        <p:txBody>
          <a:bodyPr wrap="square" lIns="0" tIns="0" rIns="0" bIns="0" rtlCol="0" anchor="ctr"/>
          <a:lstStyle/>
          <a:p>
            <a:pPr marL="0" indent="0">
              <a:buNone/>
            </a:pPr>
            <a:r>
              <a:rPr lang="en-US" sz="850" i="1" dirty="0">
                <a:solidFill>
                  <a:srgbClr val="8892A4"/>
                </a:solidFill>
                <a:latin typeface="Calibri" pitchFamily="34" charset="0"/>
                <a:ea typeface="Calibri" pitchFamily="34" charset="-122"/>
                <a:cs typeface="Calibri" pitchFamily="34" charset="-120"/>
              </a:rPr>
              <a:t>Stable sur les deux — trop lent pour que le bruit soit perceptible</a:t>
            </a:r>
            <a:endParaRPr lang="en-US" sz="850" dirty="0"/>
          </a:p>
        </p:txBody>
      </p:sp>
      <p:sp>
        <p:nvSpPr>
          <p:cNvPr id="19" name="Shape 10"/>
          <p:cNvSpPr/>
          <p:nvPr/>
        </p:nvSpPr>
        <p:spPr>
          <a:xfrm>
            <a:off x="6144768" y="2907792"/>
            <a:ext cx="2743200" cy="804672"/>
          </a:xfrm>
          <a:prstGeom prst="roundRect">
            <a:avLst>
              <a:gd name="adj" fmla="val 7955"/>
            </a:avLst>
          </a:prstGeom>
          <a:solidFill>
            <a:srgbClr val="020F10"/>
          </a:solidFill>
          <a:ln w="9525">
            <a:solidFill>
              <a:srgbClr val="0A2E2E"/>
            </a:solidFill>
            <a:prstDash val="solid"/>
          </a:ln>
        </p:spPr>
        <p:txBody>
          <a:bodyPr/>
          <a:lstStyle/>
          <a:p>
            <a:endParaRPr lang="en-CA"/>
          </a:p>
        </p:txBody>
      </p:sp>
      <p:sp>
        <p:nvSpPr>
          <p:cNvPr id="20" name="Text 11"/>
          <p:cNvSpPr/>
          <p:nvPr/>
        </p:nvSpPr>
        <p:spPr>
          <a:xfrm>
            <a:off x="6309360" y="2962656"/>
            <a:ext cx="2468880" cy="329184"/>
          </a:xfrm>
          <a:prstGeom prst="rect">
            <a:avLst/>
          </a:prstGeom>
          <a:noFill/>
          <a:ln/>
        </p:spPr>
        <p:txBody>
          <a:bodyPr wrap="square" lIns="0" tIns="0" rIns="0" bIns="0" rtlCol="0" anchor="ctr"/>
          <a:lstStyle/>
          <a:p>
            <a:pPr marL="0" indent="0">
              <a:buNone/>
            </a:pPr>
            <a:r>
              <a:rPr lang="en-US" sz="1900" b="1" dirty="0">
                <a:solidFill>
                  <a:srgbClr val="00C9C9"/>
                </a:solidFill>
                <a:latin typeface="Calibri" pitchFamily="34" charset="0"/>
                <a:ea typeface="Calibri" pitchFamily="34" charset="-122"/>
                <a:cs typeface="Calibri" pitchFamily="34" charset="-120"/>
              </a:rPr>
              <a:t>6,38 MB/s</a:t>
            </a:r>
            <a:endParaRPr lang="en-US" sz="1900" dirty="0"/>
          </a:p>
        </p:txBody>
      </p:sp>
      <p:sp>
        <p:nvSpPr>
          <p:cNvPr id="21" name="Text 12"/>
          <p:cNvSpPr/>
          <p:nvPr/>
        </p:nvSpPr>
        <p:spPr>
          <a:xfrm>
            <a:off x="6309360" y="3273552"/>
            <a:ext cx="2468880" cy="182880"/>
          </a:xfrm>
          <a:prstGeom prst="rect">
            <a:avLst/>
          </a:prstGeom>
          <a:noFill/>
          <a:ln/>
        </p:spPr>
        <p:txBody>
          <a:bodyPr wrap="square" lIns="0" tIns="0" rIns="0" bIns="0" rtlCol="0" anchor="ctr"/>
          <a:lstStyle/>
          <a:p>
            <a:pPr marL="0" indent="0">
              <a:buNone/>
            </a:pPr>
            <a:r>
              <a:rPr lang="en-US" sz="950" b="1" dirty="0">
                <a:solidFill>
                  <a:srgbClr val="00C9C9"/>
                </a:solidFill>
                <a:latin typeface="Calibri" pitchFamily="34" charset="0"/>
                <a:ea typeface="Calibri" pitchFamily="34" charset="-122"/>
                <a:cs typeface="Calibri" pitchFamily="34" charset="-120"/>
              </a:rPr>
              <a:t>IC95 ChaCha20 x86</a:t>
            </a:r>
            <a:endParaRPr lang="en-US" sz="950" dirty="0"/>
          </a:p>
        </p:txBody>
      </p:sp>
      <p:sp>
        <p:nvSpPr>
          <p:cNvPr id="22" name="Text 13"/>
          <p:cNvSpPr/>
          <p:nvPr/>
        </p:nvSpPr>
        <p:spPr>
          <a:xfrm>
            <a:off x="6309360" y="3438144"/>
            <a:ext cx="2468880" cy="237744"/>
          </a:xfrm>
          <a:prstGeom prst="rect">
            <a:avLst/>
          </a:prstGeom>
          <a:noFill/>
          <a:ln/>
        </p:spPr>
        <p:txBody>
          <a:bodyPr wrap="square" lIns="0" tIns="0" rIns="0" bIns="0" rtlCol="0" anchor="ctr"/>
          <a:lstStyle/>
          <a:p>
            <a:pPr marL="0" indent="0">
              <a:buNone/>
            </a:pPr>
            <a:r>
              <a:rPr lang="en-US" sz="850" i="1" dirty="0">
                <a:solidFill>
                  <a:srgbClr val="8892A4"/>
                </a:solidFill>
                <a:latin typeface="Calibri" pitchFamily="34" charset="0"/>
                <a:ea typeface="Calibri" pitchFamily="34" charset="-122"/>
                <a:cs typeface="Calibri" pitchFamily="34" charset="-120"/>
              </a:rPr>
              <a:t>ARX sans matériel dédié = sensible au scheduler OS</a:t>
            </a:r>
            <a:endParaRPr lang="en-US" sz="850" dirty="0"/>
          </a:p>
        </p:txBody>
      </p:sp>
      <p:sp>
        <p:nvSpPr>
          <p:cNvPr id="23" name="Shape 14"/>
          <p:cNvSpPr/>
          <p:nvPr/>
        </p:nvSpPr>
        <p:spPr>
          <a:xfrm>
            <a:off x="6144768" y="3822192"/>
            <a:ext cx="2743200" cy="818388"/>
          </a:xfrm>
          <a:prstGeom prst="roundRect">
            <a:avLst>
              <a:gd name="adj" fmla="val 7317"/>
            </a:avLst>
          </a:prstGeom>
          <a:solidFill>
            <a:srgbClr val="060F1E"/>
          </a:solidFill>
          <a:ln w="9525">
            <a:solidFill>
              <a:srgbClr val="0D3D5C"/>
            </a:solidFill>
            <a:prstDash val="solid"/>
          </a:ln>
        </p:spPr>
        <p:txBody>
          <a:bodyPr/>
          <a:lstStyle/>
          <a:p>
            <a:endParaRPr lang="en-CA"/>
          </a:p>
        </p:txBody>
      </p:sp>
      <p:sp>
        <p:nvSpPr>
          <p:cNvPr id="24" name="Text 15"/>
          <p:cNvSpPr/>
          <p:nvPr/>
        </p:nvSpPr>
        <p:spPr>
          <a:xfrm>
            <a:off x="6272784" y="3849624"/>
            <a:ext cx="2487168" cy="772668"/>
          </a:xfrm>
          <a:prstGeom prst="rect">
            <a:avLst/>
          </a:prstGeom>
          <a:noFill/>
          <a:ln/>
        </p:spPr>
        <p:txBody>
          <a:bodyPr wrap="square" rtlCol="0" anchor="ctr"/>
          <a:lstStyle/>
          <a:p>
            <a:pPr marL="0" indent="0" algn="ctr">
              <a:buNone/>
            </a:pPr>
            <a:r>
              <a:rPr lang="fr-FR" sz="850" b="1" dirty="0">
                <a:solidFill>
                  <a:srgbClr val="00F5FF"/>
                </a:solidFill>
                <a:latin typeface="Calibri" pitchFamily="34" charset="0"/>
                <a:ea typeface="Calibri" pitchFamily="34" charset="-122"/>
                <a:cs typeface="Calibri" pitchFamily="34" charset="-120"/>
              </a:rPr>
              <a:t>Pourquoi cet écart ? </a:t>
            </a:r>
            <a:r>
              <a:rPr lang="fr-FR" sz="850" dirty="0">
                <a:solidFill>
                  <a:srgbClr val="8892A4"/>
                </a:solidFill>
                <a:latin typeface="Calibri" pitchFamily="34" charset="0"/>
                <a:ea typeface="Calibri" pitchFamily="34" charset="-122"/>
                <a:cs typeface="Calibri" pitchFamily="34" charset="-120"/>
              </a:rPr>
              <a:t>Sur x86, Windows 11 introduit plusieurs sources de variabilité : Turbo Boost dynamique, processus en arrière-plan, et partage du cache L3. Le Raspberry Pi, sous Raspberry Pi OS, présente quant à lui un comportement déterministe par nature.</a:t>
            </a:r>
            <a:endParaRPr lang="en-US" sz="850" dirty="0">
              <a:solidFill>
                <a:srgbClr val="8892A4"/>
              </a:solidFill>
            </a:endParaRPr>
          </a:p>
        </p:txBody>
      </p:sp>
      <p:sp>
        <p:nvSpPr>
          <p:cNvPr id="26" name="Text 17"/>
          <p:cNvSpPr/>
          <p:nvPr/>
        </p:nvSpPr>
        <p:spPr>
          <a:xfrm>
            <a:off x="627888" y="4027932"/>
            <a:ext cx="5181600" cy="594360"/>
          </a:xfrm>
          <a:prstGeom prst="rect">
            <a:avLst/>
          </a:prstGeom>
          <a:noFill/>
          <a:ln/>
        </p:spPr>
        <p:txBody>
          <a:bodyPr wrap="square" rtlCol="0" anchor="ctr"/>
          <a:lstStyle/>
          <a:p>
            <a:pPr marL="0" indent="0" algn="ctr">
              <a:buNone/>
            </a:pPr>
            <a:r>
              <a:rPr lang="fr-FR" sz="950" b="1" dirty="0">
                <a:solidFill>
                  <a:srgbClr val="00F5FF"/>
                </a:solidFill>
                <a:latin typeface="Calibri" pitchFamily="34" charset="0"/>
                <a:ea typeface="Calibri" pitchFamily="34" charset="-122"/>
                <a:cs typeface="Calibri" pitchFamily="34" charset="-120"/>
              </a:rPr>
              <a:t>La vitesse brute ne garantit pas la fiabilité. </a:t>
            </a:r>
            <a:r>
              <a:rPr lang="fr-FR" sz="950" dirty="0">
                <a:solidFill>
                  <a:srgbClr val="8892A4"/>
                </a:solidFill>
                <a:latin typeface="Calibri" pitchFamily="34" charset="0"/>
                <a:ea typeface="Calibri" pitchFamily="34" charset="-122"/>
                <a:cs typeface="Calibri" pitchFamily="34" charset="-120"/>
              </a:rPr>
              <a:t>Pour un protocole temps réel ou un module matériel de sécurité (HSM), la stabilité de la mesure importe autant que le débit. Le Raspberry Pi, bien que plus lent, se révèle plus prévisible — deux cas d'usage fondamentalement différents.</a:t>
            </a:r>
            <a:endParaRPr lang="en-US" sz="950" dirty="0">
              <a:solidFill>
                <a:srgbClr val="8892A4"/>
              </a:solidFill>
            </a:endParaRPr>
          </a:p>
        </p:txBody>
      </p:sp>
      <p:sp>
        <p:nvSpPr>
          <p:cNvPr id="27" name="Shape 18"/>
          <p:cNvSpPr/>
          <p:nvPr/>
        </p:nvSpPr>
        <p:spPr>
          <a:xfrm>
            <a:off x="7662672" y="279654"/>
            <a:ext cx="1115568" cy="329184"/>
          </a:xfrm>
          <a:prstGeom prst="roundRect">
            <a:avLst>
              <a:gd name="adj" fmla="val 22222"/>
            </a:avLst>
          </a:prstGeom>
          <a:solidFill>
            <a:srgbClr val="060F1E"/>
          </a:solidFill>
          <a:ln w="9525">
            <a:solidFill>
              <a:srgbClr val="00F5FF"/>
            </a:solidFill>
            <a:prstDash val="solid"/>
          </a:ln>
        </p:spPr>
        <p:txBody>
          <a:bodyPr/>
          <a:lstStyle/>
          <a:p>
            <a:endParaRPr lang="en-CA"/>
          </a:p>
        </p:txBody>
      </p:sp>
      <p:sp>
        <p:nvSpPr>
          <p:cNvPr id="28" name="Text 19"/>
          <p:cNvSpPr/>
          <p:nvPr/>
        </p:nvSpPr>
        <p:spPr>
          <a:xfrm>
            <a:off x="7658100" y="280416"/>
            <a:ext cx="1115568" cy="329184"/>
          </a:xfrm>
          <a:prstGeom prst="rect">
            <a:avLst/>
          </a:prstGeom>
          <a:noFill/>
          <a:ln/>
        </p:spPr>
        <p:txBody>
          <a:bodyPr wrap="square" lIns="0" tIns="0" rIns="0" bIns="0" rtlCol="0" anchor="ctr"/>
          <a:lstStyle/>
          <a:p>
            <a:pPr marL="0" indent="0" algn="ctr">
              <a:buNone/>
            </a:pPr>
            <a:r>
              <a:rPr lang="en-US" sz="900" b="1" dirty="0">
                <a:solidFill>
                  <a:srgbClr val="00F5FF"/>
                </a:solidFill>
                <a:latin typeface="Calibri" pitchFamily="34" charset="0"/>
                <a:ea typeface="Calibri" pitchFamily="34" charset="-122"/>
                <a:cs typeface="Calibri" pitchFamily="34" charset="-120"/>
              </a:rPr>
              <a:t>▶  Vidéo 11</a:t>
            </a:r>
            <a:endParaRPr lang="en-US" sz="900" dirty="0"/>
          </a:p>
        </p:txBody>
      </p:sp>
      <p:sp>
        <p:nvSpPr>
          <p:cNvPr id="29" name="Text 20"/>
          <p:cNvSpPr/>
          <p:nvPr/>
        </p:nvSpPr>
        <p:spPr>
          <a:xfrm>
            <a:off x="1371600" y="4828032"/>
            <a:ext cx="6400800" cy="228600"/>
          </a:xfrm>
          <a:prstGeom prst="rect">
            <a:avLst/>
          </a:prstGeom>
          <a:noFill/>
          <a:ln/>
        </p:spPr>
        <p:txBody>
          <a:bodyPr wrap="square" rtlCol="0" anchor="ctr"/>
          <a:lstStyle/>
          <a:p>
            <a:pPr marL="0" indent="0" algn="ctr">
              <a:buNone/>
            </a:pPr>
            <a:r>
              <a:rPr lang="en-US" sz="850" b="1" kern="0" spc="100" dirty="0">
                <a:solidFill>
                  <a:srgbClr val="00F5FF"/>
                </a:solidFill>
                <a:latin typeface="Calibri" pitchFamily="34" charset="0"/>
                <a:ea typeface="Calibri" pitchFamily="34" charset="-122"/>
                <a:cs typeface="Calibri" pitchFamily="34" charset="-120"/>
              </a:rPr>
              <a:t>INF1430</a:t>
            </a:r>
            <a:r>
              <a:rPr lang="en-US" sz="850" kern="0" spc="100" dirty="0">
                <a:solidFill>
                  <a:srgbClr val="3A4A65"/>
                </a:solidFill>
                <a:latin typeface="Calibri" pitchFamily="34" charset="0"/>
                <a:ea typeface="Calibri" pitchFamily="34" charset="-122"/>
                <a:cs typeface="Calibri" pitchFamily="34" charset="-120"/>
              </a:rPr>
              <a:t>  ·  Université TÉLUQ  ·  TN3  ·  Melissa Moya  ·  2026</a:t>
            </a:r>
            <a:endParaRPr lang="en-US" sz="850" dirty="0"/>
          </a:p>
        </p:txBody>
      </p:sp>
      <p:pic>
        <p:nvPicPr>
          <p:cNvPr id="31" name="Picture 30">
            <a:extLst>
              <a:ext uri="{FF2B5EF4-FFF2-40B4-BE49-F238E27FC236}">
                <a16:creationId xmlns:a16="http://schemas.microsoft.com/office/drawing/2014/main" id="{9A760541-FE59-7EBD-E8F6-F576D7A3848F}"/>
              </a:ext>
            </a:extLst>
          </p:cNvPr>
          <p:cNvPicPr>
            <a:picLocks noChangeAspect="1"/>
          </p:cNvPicPr>
          <p:nvPr/>
        </p:nvPicPr>
        <p:blipFill>
          <a:blip r:embed="rId6"/>
          <a:stretch>
            <a:fillRect/>
          </a:stretch>
        </p:blipFill>
        <p:spPr>
          <a:xfrm>
            <a:off x="384048" y="1147572"/>
            <a:ext cx="5549948" cy="275234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256032" y="201168"/>
            <a:ext cx="548640" cy="548640"/>
          </a:xfrm>
          <a:prstGeom prst="rect">
            <a:avLst/>
          </a:prstGeom>
        </p:spPr>
      </p:pic>
      <p:pic>
        <p:nvPicPr>
          <p:cNvPr id="4" name="Image 2" descr="preencoded.png"/>
          <p:cNvPicPr>
            <a:picLocks noChangeAspect="1"/>
          </p:cNvPicPr>
          <p:nvPr/>
        </p:nvPicPr>
        <p:blipFill>
          <a:blip r:embed="rId4"/>
          <a:stretch>
            <a:fillRect/>
          </a:stretch>
        </p:blipFill>
        <p:spPr>
          <a:xfrm flipH="1">
            <a:off x="8339328" y="201168"/>
            <a:ext cx="548640" cy="548640"/>
          </a:xfrm>
          <a:prstGeom prst="rect">
            <a:avLst/>
          </a:prstGeom>
        </p:spPr>
      </p:pic>
      <p:pic>
        <p:nvPicPr>
          <p:cNvPr id="5" name="Image 3" descr="preencoded.png"/>
          <p:cNvPicPr>
            <a:picLocks noChangeAspect="1"/>
          </p:cNvPicPr>
          <p:nvPr/>
        </p:nvPicPr>
        <p:blipFill>
          <a:blip r:embed="rId4"/>
          <a:stretch>
            <a:fillRect/>
          </a:stretch>
        </p:blipFill>
        <p:spPr>
          <a:xfrm flipV="1">
            <a:off x="256032" y="4393692"/>
            <a:ext cx="548640" cy="548640"/>
          </a:xfrm>
          <a:prstGeom prst="rect">
            <a:avLst/>
          </a:prstGeom>
        </p:spPr>
      </p:pic>
      <p:pic>
        <p:nvPicPr>
          <p:cNvPr id="6" name="Image 4" descr="preencoded.png"/>
          <p:cNvPicPr>
            <a:picLocks noChangeAspect="1"/>
          </p:cNvPicPr>
          <p:nvPr/>
        </p:nvPicPr>
        <p:blipFill>
          <a:blip r:embed="rId4"/>
          <a:stretch>
            <a:fillRect/>
          </a:stretch>
        </p:blipFill>
        <p:spPr>
          <a:xfrm flipH="1" flipV="1">
            <a:off x="8339328" y="4393692"/>
            <a:ext cx="548640" cy="548640"/>
          </a:xfrm>
          <a:prstGeom prst="rect">
            <a:avLst/>
          </a:prstGeom>
        </p:spPr>
      </p:pic>
      <p:pic>
        <p:nvPicPr>
          <p:cNvPr id="7" name="Image 5" descr="preencoded.png"/>
          <p:cNvPicPr>
            <a:picLocks noChangeAspect="1"/>
          </p:cNvPicPr>
          <p:nvPr/>
        </p:nvPicPr>
        <p:blipFill>
          <a:blip r:embed="rId5">
            <a:alphaModFix amt="80000"/>
          </a:blip>
          <a:stretch>
            <a:fillRect/>
          </a:stretch>
        </p:blipFill>
        <p:spPr>
          <a:xfrm>
            <a:off x="566928" y="256032"/>
            <a:ext cx="256032" cy="256032"/>
          </a:xfrm>
          <a:prstGeom prst="rect">
            <a:avLst/>
          </a:prstGeom>
        </p:spPr>
      </p:pic>
      <p:sp>
        <p:nvSpPr>
          <p:cNvPr id="8" name="Text 0"/>
          <p:cNvSpPr/>
          <p:nvPr/>
        </p:nvSpPr>
        <p:spPr>
          <a:xfrm>
            <a:off x="868680" y="256032"/>
            <a:ext cx="5486400" cy="274320"/>
          </a:xfrm>
          <a:prstGeom prst="rect">
            <a:avLst/>
          </a:prstGeom>
          <a:noFill/>
          <a:ln/>
        </p:spPr>
        <p:txBody>
          <a:bodyPr wrap="square" rtlCol="0" anchor="ctr"/>
          <a:lstStyle/>
          <a:p>
            <a:pPr marL="0" indent="0">
              <a:buNone/>
            </a:pPr>
            <a:r>
              <a:rPr lang="en-US" sz="1000" b="1" kern="0" spc="50" dirty="0">
                <a:solidFill>
                  <a:srgbClr val="00F5FF"/>
                </a:solidFill>
                <a:latin typeface="Calibri" pitchFamily="34" charset="0"/>
                <a:ea typeface="Calibri" pitchFamily="34" charset="-122"/>
                <a:cs typeface="Calibri" pitchFamily="34" charset="-120"/>
              </a:rPr>
              <a:t>06  </a:t>
            </a:r>
            <a:r>
              <a:rPr lang="en-US" sz="1000" kern="0" spc="50" dirty="0">
                <a:solidFill>
                  <a:srgbClr val="8892A4"/>
                </a:solidFill>
                <a:latin typeface="Calibri" pitchFamily="34" charset="0"/>
                <a:ea typeface="Calibri" pitchFamily="34" charset="-122"/>
                <a:cs typeface="Calibri" pitchFamily="34" charset="-120"/>
              </a:rPr>
              <a:t>Synthèse &amp; recommandations</a:t>
            </a:r>
            <a:endParaRPr lang="en-US" sz="1000" dirty="0"/>
          </a:p>
        </p:txBody>
      </p:sp>
      <p:sp>
        <p:nvSpPr>
          <p:cNvPr id="9" name="Text 1"/>
          <p:cNvSpPr/>
          <p:nvPr/>
        </p:nvSpPr>
        <p:spPr>
          <a:xfrm>
            <a:off x="566928" y="566928"/>
            <a:ext cx="77724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Synthèse — Comment choisir en 2026 ?</a:t>
            </a:r>
            <a:endParaRPr lang="en-US" sz="2400" dirty="0"/>
          </a:p>
        </p:txBody>
      </p:sp>
      <p:pic>
        <p:nvPicPr>
          <p:cNvPr id="10" name="Image 6" descr="preencoded.png"/>
          <p:cNvPicPr>
            <a:picLocks noChangeAspect="1"/>
          </p:cNvPicPr>
          <p:nvPr/>
        </p:nvPicPr>
        <p:blipFill>
          <a:blip r:embed="rId6"/>
          <a:stretch>
            <a:fillRect/>
          </a:stretch>
        </p:blipFill>
        <p:spPr>
          <a:xfrm>
            <a:off x="429768" y="1115568"/>
            <a:ext cx="8412480" cy="2607869"/>
          </a:xfrm>
          <a:prstGeom prst="rect">
            <a:avLst/>
          </a:prstGeom>
        </p:spPr>
      </p:pic>
      <p:sp>
        <p:nvSpPr>
          <p:cNvPr id="11" name="Shape 2"/>
          <p:cNvSpPr/>
          <p:nvPr/>
        </p:nvSpPr>
        <p:spPr>
          <a:xfrm>
            <a:off x="566928" y="3877056"/>
            <a:ext cx="8321040" cy="594360"/>
          </a:xfrm>
          <a:prstGeom prst="roundRect">
            <a:avLst>
              <a:gd name="adj" fmla="val 9231"/>
            </a:avLst>
          </a:prstGeom>
          <a:solidFill>
            <a:srgbClr val="0A0318"/>
          </a:solidFill>
          <a:ln w="9525">
            <a:solidFill>
              <a:srgbClr val="3A1528"/>
            </a:solidFill>
            <a:prstDash val="solid"/>
          </a:ln>
        </p:spPr>
        <p:txBody>
          <a:bodyPr/>
          <a:lstStyle/>
          <a:p>
            <a:endParaRPr lang="en-CA"/>
          </a:p>
        </p:txBody>
      </p:sp>
      <p:sp>
        <p:nvSpPr>
          <p:cNvPr id="12" name="Text 3"/>
          <p:cNvSpPr/>
          <p:nvPr/>
        </p:nvSpPr>
        <p:spPr>
          <a:xfrm>
            <a:off x="749808" y="3877056"/>
            <a:ext cx="7955280" cy="594360"/>
          </a:xfrm>
          <a:prstGeom prst="rect">
            <a:avLst/>
          </a:prstGeom>
          <a:noFill/>
          <a:ln/>
        </p:spPr>
        <p:txBody>
          <a:bodyPr wrap="square" rtlCol="0" anchor="ctr"/>
          <a:lstStyle/>
          <a:p>
            <a:pPr marL="0" indent="0" algn="ctr">
              <a:buNone/>
            </a:pPr>
            <a:r>
              <a:rPr lang="fr-FR" sz="950" b="1" dirty="0">
                <a:solidFill>
                  <a:srgbClr val="FF6B9D"/>
                </a:solidFill>
                <a:latin typeface="Calibri" pitchFamily="34" charset="0"/>
                <a:ea typeface="Calibri" pitchFamily="34" charset="-122"/>
                <a:cs typeface="Calibri" pitchFamily="34" charset="-120"/>
              </a:rPr>
              <a:t>À éviter en toute circonstance : ECB, DES et 3DES. </a:t>
            </a:r>
            <a:r>
              <a:rPr lang="fr-FR" sz="950" dirty="0">
                <a:solidFill>
                  <a:srgbClr val="8892A4"/>
                </a:solidFill>
                <a:latin typeface="Calibri" pitchFamily="34" charset="0"/>
                <a:ea typeface="Calibri" pitchFamily="34" charset="-122"/>
                <a:cs typeface="Calibri" pitchFamily="34" charset="-120"/>
              </a:rPr>
              <a:t>Quel que soit le contexte ou le niveau de performance observé, ces choix ne constituent pas des compromis acceptables en 2026.</a:t>
            </a:r>
            <a:endParaRPr lang="en-US" sz="950" dirty="0">
              <a:solidFill>
                <a:srgbClr val="8892A4"/>
              </a:solidFill>
            </a:endParaRPr>
          </a:p>
        </p:txBody>
      </p:sp>
      <p:sp>
        <p:nvSpPr>
          <p:cNvPr id="13" name="Text 4"/>
          <p:cNvSpPr/>
          <p:nvPr/>
        </p:nvSpPr>
        <p:spPr>
          <a:xfrm>
            <a:off x="1371600" y="4828032"/>
            <a:ext cx="6400800" cy="228600"/>
          </a:xfrm>
          <a:prstGeom prst="rect">
            <a:avLst/>
          </a:prstGeom>
          <a:noFill/>
          <a:ln/>
        </p:spPr>
        <p:txBody>
          <a:bodyPr wrap="square" rtlCol="0" anchor="ctr"/>
          <a:lstStyle/>
          <a:p>
            <a:pPr marL="0" indent="0" algn="ctr">
              <a:buNone/>
            </a:pPr>
            <a:r>
              <a:rPr lang="en-US" sz="850" b="1" kern="0" spc="100" dirty="0">
                <a:solidFill>
                  <a:srgbClr val="00F5FF"/>
                </a:solidFill>
                <a:latin typeface="Calibri" pitchFamily="34" charset="0"/>
                <a:ea typeface="Calibri" pitchFamily="34" charset="-122"/>
                <a:cs typeface="Calibri" pitchFamily="34" charset="-120"/>
              </a:rPr>
              <a:t>INF1430</a:t>
            </a:r>
            <a:r>
              <a:rPr lang="en-US" sz="850" kern="0" spc="100" dirty="0">
                <a:solidFill>
                  <a:srgbClr val="3A4A65"/>
                </a:solidFill>
                <a:latin typeface="Calibri" pitchFamily="34" charset="0"/>
                <a:ea typeface="Calibri" pitchFamily="34" charset="-122"/>
                <a:cs typeface="Calibri" pitchFamily="34" charset="-120"/>
              </a:rPr>
              <a:t>  ·  Université TÉLUQ  ·  TN3  ·  Melissa Moya  ·  2026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Grp="1" noRot="1" noChangeAspect="1" noMove="1" noResize="1" noEditPoints="1" noAdjustHandles="1" noChangeArrowheads="1" noChangeShapeType="1" noCrop="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256032" y="201168"/>
            <a:ext cx="548640" cy="548640"/>
          </a:xfrm>
          <a:prstGeom prst="rect">
            <a:avLst/>
          </a:prstGeom>
        </p:spPr>
      </p:pic>
      <p:pic>
        <p:nvPicPr>
          <p:cNvPr id="4" name="Image 2" descr="preencoded.png"/>
          <p:cNvPicPr>
            <a:picLocks noChangeAspect="1"/>
          </p:cNvPicPr>
          <p:nvPr/>
        </p:nvPicPr>
        <p:blipFill>
          <a:blip r:embed="rId4"/>
          <a:stretch>
            <a:fillRect/>
          </a:stretch>
        </p:blipFill>
        <p:spPr>
          <a:xfrm flipH="1">
            <a:off x="8339328" y="201168"/>
            <a:ext cx="548640" cy="548640"/>
          </a:xfrm>
          <a:prstGeom prst="rect">
            <a:avLst/>
          </a:prstGeom>
        </p:spPr>
      </p:pic>
      <p:pic>
        <p:nvPicPr>
          <p:cNvPr id="5" name="Image 3" descr="preencoded.png"/>
          <p:cNvPicPr>
            <a:picLocks noChangeAspect="1"/>
          </p:cNvPicPr>
          <p:nvPr/>
        </p:nvPicPr>
        <p:blipFill>
          <a:blip r:embed="rId4"/>
          <a:stretch>
            <a:fillRect/>
          </a:stretch>
        </p:blipFill>
        <p:spPr>
          <a:xfrm flipV="1">
            <a:off x="256032" y="4393692"/>
            <a:ext cx="548640" cy="548640"/>
          </a:xfrm>
          <a:prstGeom prst="rect">
            <a:avLst/>
          </a:prstGeom>
        </p:spPr>
      </p:pic>
      <p:pic>
        <p:nvPicPr>
          <p:cNvPr id="6" name="Image 4" descr="preencoded.png"/>
          <p:cNvPicPr>
            <a:picLocks noChangeAspect="1"/>
          </p:cNvPicPr>
          <p:nvPr/>
        </p:nvPicPr>
        <p:blipFill>
          <a:blip r:embed="rId4"/>
          <a:stretch>
            <a:fillRect/>
          </a:stretch>
        </p:blipFill>
        <p:spPr>
          <a:xfrm flipH="1" flipV="1">
            <a:off x="8339328" y="4393692"/>
            <a:ext cx="548640" cy="548640"/>
          </a:xfrm>
          <a:prstGeom prst="rect">
            <a:avLst/>
          </a:prstGeom>
        </p:spPr>
      </p:pic>
      <p:pic>
        <p:nvPicPr>
          <p:cNvPr id="7" name="Image 5" descr="preencoded.png"/>
          <p:cNvPicPr>
            <a:picLocks noChangeAspect="1"/>
          </p:cNvPicPr>
          <p:nvPr/>
        </p:nvPicPr>
        <p:blipFill>
          <a:blip r:embed="rId5">
            <a:alphaModFix amt="80000"/>
          </a:blip>
          <a:stretch>
            <a:fillRect/>
          </a:stretch>
        </p:blipFill>
        <p:spPr>
          <a:xfrm>
            <a:off x="566928" y="256032"/>
            <a:ext cx="256032" cy="256032"/>
          </a:xfrm>
          <a:prstGeom prst="rect">
            <a:avLst/>
          </a:prstGeom>
        </p:spPr>
      </p:pic>
      <p:sp>
        <p:nvSpPr>
          <p:cNvPr id="8" name="Text 0"/>
          <p:cNvSpPr/>
          <p:nvPr/>
        </p:nvSpPr>
        <p:spPr>
          <a:xfrm>
            <a:off x="868680" y="256032"/>
            <a:ext cx="5486400" cy="274320"/>
          </a:xfrm>
          <a:prstGeom prst="rect">
            <a:avLst/>
          </a:prstGeom>
          <a:noFill/>
          <a:ln/>
        </p:spPr>
        <p:txBody>
          <a:bodyPr wrap="square" rtlCol="0" anchor="ctr"/>
          <a:lstStyle/>
          <a:p>
            <a:pPr marL="0" indent="0">
              <a:buNone/>
            </a:pPr>
            <a:r>
              <a:rPr lang="en-US" sz="1000" b="1" kern="0" spc="50" dirty="0">
                <a:solidFill>
                  <a:srgbClr val="00F5FF"/>
                </a:solidFill>
                <a:latin typeface="Calibri" pitchFamily="34" charset="0"/>
                <a:ea typeface="Calibri" pitchFamily="34" charset="-122"/>
                <a:cs typeface="Calibri" pitchFamily="34" charset="-120"/>
              </a:rPr>
              <a:t>06  </a:t>
            </a:r>
            <a:r>
              <a:rPr lang="en-US" sz="1000" kern="0" spc="50" dirty="0">
                <a:solidFill>
                  <a:srgbClr val="8892A4"/>
                </a:solidFill>
                <a:latin typeface="Calibri" pitchFamily="34" charset="0"/>
                <a:ea typeface="Calibri" pitchFamily="34" charset="-122"/>
                <a:cs typeface="Calibri" pitchFamily="34" charset="-120"/>
              </a:rPr>
              <a:t>Synthèse &amp; recommandations</a:t>
            </a:r>
            <a:endParaRPr lang="en-US" sz="1000" dirty="0"/>
          </a:p>
        </p:txBody>
      </p:sp>
      <p:sp>
        <p:nvSpPr>
          <p:cNvPr id="9" name="Text 1"/>
          <p:cNvSpPr/>
          <p:nvPr/>
        </p:nvSpPr>
        <p:spPr>
          <a:xfrm>
            <a:off x="566928" y="566928"/>
            <a:ext cx="7772400" cy="502920"/>
          </a:xfrm>
          <a:prstGeom prst="rect">
            <a:avLst/>
          </a:prstGeom>
          <a:noFill/>
          <a:ln/>
        </p:spPr>
        <p:txBody>
          <a:bodyPr wrap="square"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Synthèse — Quel algorithme choisir en 2026 ?</a:t>
            </a:r>
            <a:endParaRPr lang="en-US" sz="2300" dirty="0"/>
          </a:p>
        </p:txBody>
      </p:sp>
      <p:sp>
        <p:nvSpPr>
          <p:cNvPr id="11" name="Shape 2"/>
          <p:cNvSpPr/>
          <p:nvPr/>
        </p:nvSpPr>
        <p:spPr>
          <a:xfrm>
            <a:off x="692727" y="1115568"/>
            <a:ext cx="8131233" cy="402336"/>
          </a:xfrm>
          <a:prstGeom prst="roundRect">
            <a:avLst>
              <a:gd name="adj" fmla="val 9091"/>
            </a:avLst>
          </a:prstGeom>
          <a:solidFill>
            <a:srgbClr val="0D1E35"/>
          </a:solidFill>
          <a:ln w="6350">
            <a:solidFill>
              <a:srgbClr val="1A3A55"/>
            </a:solidFill>
            <a:prstDash val="solid"/>
          </a:ln>
        </p:spPr>
        <p:txBody>
          <a:bodyPr/>
          <a:lstStyle/>
          <a:p>
            <a:endParaRPr lang="en-CA"/>
          </a:p>
        </p:txBody>
      </p:sp>
      <p:sp>
        <p:nvSpPr>
          <p:cNvPr id="12" name="Text 3"/>
          <p:cNvSpPr/>
          <p:nvPr/>
        </p:nvSpPr>
        <p:spPr>
          <a:xfrm>
            <a:off x="1165497" y="1104138"/>
            <a:ext cx="1463040" cy="402336"/>
          </a:xfrm>
          <a:prstGeom prst="rect">
            <a:avLst/>
          </a:prstGeom>
          <a:noFill/>
          <a:ln/>
        </p:spPr>
        <p:txBody>
          <a:bodyPr wrap="square" lIns="0" tIns="0" rIns="0" bIns="0" rtlCol="0" anchor="ctr"/>
          <a:lstStyle/>
          <a:p>
            <a:pPr marL="0" indent="0" algn="l">
              <a:buNone/>
            </a:pPr>
            <a:r>
              <a:rPr lang="en-US" sz="1000" b="1" dirty="0">
                <a:solidFill>
                  <a:srgbClr val="00F5FF"/>
                </a:solidFill>
                <a:latin typeface="Calibri" pitchFamily="34" charset="0"/>
                <a:ea typeface="Calibri" pitchFamily="34" charset="-122"/>
                <a:cs typeface="Calibri" pitchFamily="34" charset="-120"/>
              </a:rPr>
              <a:t>Contexte</a:t>
            </a:r>
            <a:endParaRPr lang="en-US" sz="1000" dirty="0"/>
          </a:p>
        </p:txBody>
      </p:sp>
      <p:sp>
        <p:nvSpPr>
          <p:cNvPr id="13" name="Text 4"/>
          <p:cNvSpPr/>
          <p:nvPr/>
        </p:nvSpPr>
        <p:spPr>
          <a:xfrm>
            <a:off x="3318164" y="1138428"/>
            <a:ext cx="1005840" cy="402336"/>
          </a:xfrm>
          <a:prstGeom prst="rect">
            <a:avLst/>
          </a:prstGeom>
          <a:noFill/>
          <a:ln/>
        </p:spPr>
        <p:txBody>
          <a:bodyPr wrap="square" lIns="0" tIns="0" rIns="0" bIns="0" rtlCol="0" anchor="ctr"/>
          <a:lstStyle/>
          <a:p>
            <a:pPr marL="0" indent="0" algn="ctr">
              <a:buNone/>
            </a:pPr>
            <a:r>
              <a:rPr lang="en-US" sz="1000" b="1" dirty="0">
                <a:solidFill>
                  <a:srgbClr val="00F5FF"/>
                </a:solidFill>
                <a:latin typeface="Calibri" pitchFamily="34" charset="0"/>
                <a:ea typeface="Calibri" pitchFamily="34" charset="-122"/>
                <a:cs typeface="Calibri" pitchFamily="34" charset="-120"/>
              </a:rPr>
              <a:t>Algorithme</a:t>
            </a:r>
            <a:endParaRPr lang="en-US" sz="1000" dirty="0"/>
          </a:p>
        </p:txBody>
      </p:sp>
      <p:sp>
        <p:nvSpPr>
          <p:cNvPr id="14" name="Text 5"/>
          <p:cNvSpPr/>
          <p:nvPr/>
        </p:nvSpPr>
        <p:spPr>
          <a:xfrm>
            <a:off x="5621746" y="1104138"/>
            <a:ext cx="822960" cy="402336"/>
          </a:xfrm>
          <a:prstGeom prst="rect">
            <a:avLst/>
          </a:prstGeom>
          <a:noFill/>
          <a:ln/>
        </p:spPr>
        <p:txBody>
          <a:bodyPr wrap="square" lIns="0" tIns="0" rIns="0" bIns="0" rtlCol="0" anchor="ctr"/>
          <a:lstStyle/>
          <a:p>
            <a:pPr marL="0" indent="0" algn="ctr">
              <a:buNone/>
            </a:pPr>
            <a:r>
              <a:rPr lang="en-US" sz="1000" b="1" dirty="0">
                <a:solidFill>
                  <a:srgbClr val="00F5FF"/>
                </a:solidFill>
                <a:latin typeface="Calibri" pitchFamily="34" charset="0"/>
                <a:ea typeface="Calibri" pitchFamily="34" charset="-122"/>
                <a:cs typeface="Calibri" pitchFamily="34" charset="-120"/>
              </a:rPr>
              <a:t>Mode</a:t>
            </a:r>
            <a:endParaRPr lang="en-US" sz="1000" dirty="0"/>
          </a:p>
        </p:txBody>
      </p:sp>
      <p:sp>
        <p:nvSpPr>
          <p:cNvPr id="15" name="Text 6"/>
          <p:cNvSpPr/>
          <p:nvPr/>
        </p:nvSpPr>
        <p:spPr>
          <a:xfrm>
            <a:off x="7269843" y="1115568"/>
            <a:ext cx="1417320" cy="402336"/>
          </a:xfrm>
          <a:prstGeom prst="rect">
            <a:avLst/>
          </a:prstGeom>
          <a:noFill/>
          <a:ln/>
        </p:spPr>
        <p:txBody>
          <a:bodyPr wrap="square" lIns="0" tIns="0" rIns="0" bIns="0" rtlCol="0" anchor="ctr"/>
          <a:lstStyle/>
          <a:p>
            <a:pPr marL="0" indent="0" algn="ctr">
              <a:buNone/>
            </a:pPr>
            <a:r>
              <a:rPr lang="en-US" sz="1000" b="1" dirty="0">
                <a:solidFill>
                  <a:srgbClr val="00F5FF"/>
                </a:solidFill>
                <a:latin typeface="Calibri" pitchFamily="34" charset="0"/>
                <a:ea typeface="Calibri" pitchFamily="34" charset="-122"/>
                <a:cs typeface="Calibri" pitchFamily="34" charset="-120"/>
              </a:rPr>
              <a:t>Raison</a:t>
            </a:r>
            <a:endParaRPr lang="en-US" sz="1000" dirty="0"/>
          </a:p>
        </p:txBody>
      </p:sp>
      <p:sp>
        <p:nvSpPr>
          <p:cNvPr id="16" name="Shape 7"/>
          <p:cNvSpPr/>
          <p:nvPr/>
        </p:nvSpPr>
        <p:spPr>
          <a:xfrm>
            <a:off x="692727" y="1517904"/>
            <a:ext cx="8131233" cy="402336"/>
          </a:xfrm>
          <a:prstGeom prst="rect">
            <a:avLst/>
          </a:prstGeom>
          <a:solidFill>
            <a:srgbClr val="080F1E"/>
          </a:solidFill>
          <a:ln w="6350">
            <a:solidFill>
              <a:srgbClr val="0F1E30"/>
            </a:solidFill>
            <a:prstDash val="solid"/>
          </a:ln>
        </p:spPr>
        <p:txBody>
          <a:bodyPr/>
          <a:lstStyle/>
          <a:p>
            <a:endParaRPr lang="en-CA"/>
          </a:p>
        </p:txBody>
      </p:sp>
      <p:sp>
        <p:nvSpPr>
          <p:cNvPr id="17" name="Text 8"/>
          <p:cNvSpPr/>
          <p:nvPr/>
        </p:nvSpPr>
        <p:spPr>
          <a:xfrm>
            <a:off x="1032164" y="1506474"/>
            <a:ext cx="1463040" cy="402336"/>
          </a:xfrm>
          <a:prstGeom prst="rect">
            <a:avLst/>
          </a:prstGeom>
          <a:noFill/>
          <a:ln/>
        </p:spPr>
        <p:txBody>
          <a:bodyPr wrap="square" lIns="0" tIns="0" rIns="0" bIns="0" rtlCol="0" anchor="ctr"/>
          <a:lstStyle/>
          <a:p>
            <a:pPr marL="0" indent="0" algn="l">
              <a:buNone/>
            </a:pPr>
            <a:r>
              <a:rPr lang="en-US" sz="900" dirty="0">
                <a:solidFill>
                  <a:srgbClr val="8892A4"/>
                </a:solidFill>
                <a:latin typeface="Calibri" pitchFamily="34" charset="0"/>
                <a:ea typeface="Calibri" pitchFamily="34" charset="-122"/>
                <a:cs typeface="Calibri" pitchFamily="34" charset="-120"/>
              </a:rPr>
              <a:t>Serveur / cloud</a:t>
            </a:r>
            <a:endParaRPr lang="en-US" sz="900" dirty="0"/>
          </a:p>
        </p:txBody>
      </p:sp>
      <p:sp>
        <p:nvSpPr>
          <p:cNvPr id="18" name="Text 9"/>
          <p:cNvSpPr/>
          <p:nvPr/>
        </p:nvSpPr>
        <p:spPr>
          <a:xfrm>
            <a:off x="3318164" y="1545517"/>
            <a:ext cx="1005840" cy="402336"/>
          </a:xfrm>
          <a:prstGeom prst="rect">
            <a:avLst/>
          </a:prstGeom>
          <a:noFill/>
          <a:ln/>
        </p:spPr>
        <p:txBody>
          <a:bodyPr wrap="square" lIns="0" tIns="0" rIns="0" bIns="0" rtlCol="0" anchor="ctr"/>
          <a:lstStyle/>
          <a:p>
            <a:pPr marL="0" indent="0" algn="ctr">
              <a:buNone/>
            </a:pPr>
            <a:r>
              <a:rPr lang="en-US" sz="1000" b="1" dirty="0">
                <a:solidFill>
                  <a:srgbClr val="00F5FF"/>
                </a:solidFill>
                <a:latin typeface="Calibri" pitchFamily="34" charset="0"/>
                <a:ea typeface="Calibri" pitchFamily="34" charset="-122"/>
                <a:cs typeface="Calibri" pitchFamily="34" charset="-120"/>
              </a:rPr>
              <a:t>AES-256</a:t>
            </a:r>
            <a:endParaRPr lang="en-US" sz="1000" dirty="0"/>
          </a:p>
        </p:txBody>
      </p:sp>
      <p:sp>
        <p:nvSpPr>
          <p:cNvPr id="19" name="Text 10"/>
          <p:cNvSpPr/>
          <p:nvPr/>
        </p:nvSpPr>
        <p:spPr>
          <a:xfrm>
            <a:off x="5577840" y="1531402"/>
            <a:ext cx="822960" cy="402336"/>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GCM</a:t>
            </a:r>
            <a:endParaRPr lang="en-US" sz="1000" dirty="0"/>
          </a:p>
        </p:txBody>
      </p:sp>
      <p:sp>
        <p:nvSpPr>
          <p:cNvPr id="20" name="Text 11"/>
          <p:cNvSpPr/>
          <p:nvPr/>
        </p:nvSpPr>
        <p:spPr>
          <a:xfrm>
            <a:off x="7269843" y="1509812"/>
            <a:ext cx="1417320" cy="402336"/>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AEAD, NIST, TLS 1.3</a:t>
            </a:r>
            <a:endParaRPr lang="en-US" sz="1000" dirty="0"/>
          </a:p>
        </p:txBody>
      </p:sp>
      <p:sp>
        <p:nvSpPr>
          <p:cNvPr id="21" name="Shape 12"/>
          <p:cNvSpPr/>
          <p:nvPr/>
        </p:nvSpPr>
        <p:spPr>
          <a:xfrm>
            <a:off x="692727" y="1920240"/>
            <a:ext cx="8131233" cy="402336"/>
          </a:xfrm>
          <a:prstGeom prst="rect">
            <a:avLst/>
          </a:prstGeom>
          <a:solidFill>
            <a:srgbClr val="060B14"/>
          </a:solidFill>
          <a:ln w="6350">
            <a:solidFill>
              <a:srgbClr val="0F1E30"/>
            </a:solidFill>
            <a:prstDash val="solid"/>
          </a:ln>
        </p:spPr>
        <p:txBody>
          <a:bodyPr/>
          <a:lstStyle/>
          <a:p>
            <a:endParaRPr lang="en-CA"/>
          </a:p>
        </p:txBody>
      </p:sp>
      <p:sp>
        <p:nvSpPr>
          <p:cNvPr id="22" name="Text 13"/>
          <p:cNvSpPr/>
          <p:nvPr/>
        </p:nvSpPr>
        <p:spPr>
          <a:xfrm>
            <a:off x="940724" y="1901843"/>
            <a:ext cx="1463040" cy="402336"/>
          </a:xfrm>
          <a:prstGeom prst="rect">
            <a:avLst/>
          </a:prstGeom>
          <a:noFill/>
          <a:ln/>
        </p:spPr>
        <p:txBody>
          <a:bodyPr wrap="square" lIns="0" tIns="0" rIns="0" bIns="0" rtlCol="0" anchor="ctr"/>
          <a:lstStyle/>
          <a:p>
            <a:pPr marL="0" indent="0" algn="l">
              <a:buNone/>
            </a:pPr>
            <a:r>
              <a:rPr lang="en-US" sz="900" dirty="0">
                <a:solidFill>
                  <a:srgbClr val="8892A4"/>
                </a:solidFill>
                <a:latin typeface="Calibri" pitchFamily="34" charset="0"/>
                <a:ea typeface="Calibri" pitchFamily="34" charset="-122"/>
                <a:cs typeface="Calibri" pitchFamily="34" charset="-120"/>
              </a:rPr>
              <a:t>IoT / ARM / Mobile</a:t>
            </a:r>
            <a:endParaRPr lang="en-US" sz="900" dirty="0"/>
          </a:p>
        </p:txBody>
      </p:sp>
      <p:sp>
        <p:nvSpPr>
          <p:cNvPr id="23" name="Text 14"/>
          <p:cNvSpPr/>
          <p:nvPr/>
        </p:nvSpPr>
        <p:spPr>
          <a:xfrm>
            <a:off x="3318164" y="1912039"/>
            <a:ext cx="1005840" cy="402336"/>
          </a:xfrm>
          <a:prstGeom prst="rect">
            <a:avLst/>
          </a:prstGeom>
          <a:noFill/>
          <a:ln/>
        </p:spPr>
        <p:txBody>
          <a:bodyPr wrap="square" lIns="0" tIns="0" rIns="0" bIns="0" rtlCol="0" anchor="ctr"/>
          <a:lstStyle/>
          <a:p>
            <a:pPr marL="0" indent="0" algn="ctr">
              <a:buNone/>
            </a:pPr>
            <a:r>
              <a:rPr lang="en-US" sz="1000" b="1" dirty="0">
                <a:solidFill>
                  <a:srgbClr val="9B6DFF"/>
                </a:solidFill>
                <a:latin typeface="Calibri" pitchFamily="34" charset="0"/>
                <a:ea typeface="Calibri" pitchFamily="34" charset="-122"/>
                <a:cs typeface="Calibri" pitchFamily="34" charset="-120"/>
              </a:rPr>
              <a:t>ChaCha20</a:t>
            </a:r>
            <a:endParaRPr lang="en-US" sz="1000" dirty="0"/>
          </a:p>
        </p:txBody>
      </p:sp>
      <p:sp>
        <p:nvSpPr>
          <p:cNvPr id="24" name="Text 15"/>
          <p:cNvSpPr/>
          <p:nvPr/>
        </p:nvSpPr>
        <p:spPr>
          <a:xfrm>
            <a:off x="5621746" y="1912039"/>
            <a:ext cx="822960" cy="402336"/>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Poly1305</a:t>
            </a:r>
            <a:endParaRPr lang="en-US" sz="1000" dirty="0"/>
          </a:p>
        </p:txBody>
      </p:sp>
      <p:sp>
        <p:nvSpPr>
          <p:cNvPr id="25" name="Text 16"/>
          <p:cNvSpPr/>
          <p:nvPr/>
        </p:nvSpPr>
        <p:spPr>
          <a:xfrm>
            <a:off x="7293429" y="1920240"/>
            <a:ext cx="1417320" cy="402336"/>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ARX, constant-time</a:t>
            </a:r>
            <a:endParaRPr lang="en-US" sz="1000" dirty="0"/>
          </a:p>
        </p:txBody>
      </p:sp>
      <p:sp>
        <p:nvSpPr>
          <p:cNvPr id="26" name="Shape 17"/>
          <p:cNvSpPr/>
          <p:nvPr/>
        </p:nvSpPr>
        <p:spPr>
          <a:xfrm>
            <a:off x="692727" y="2322576"/>
            <a:ext cx="8131233" cy="402336"/>
          </a:xfrm>
          <a:prstGeom prst="rect">
            <a:avLst/>
          </a:prstGeom>
          <a:solidFill>
            <a:srgbClr val="080F1E"/>
          </a:solidFill>
          <a:ln w="6350">
            <a:solidFill>
              <a:srgbClr val="0F1E30"/>
            </a:solidFill>
            <a:prstDash val="solid"/>
          </a:ln>
        </p:spPr>
        <p:txBody>
          <a:bodyPr/>
          <a:lstStyle/>
          <a:p>
            <a:endParaRPr lang="en-CA"/>
          </a:p>
        </p:txBody>
      </p:sp>
      <p:sp>
        <p:nvSpPr>
          <p:cNvPr id="27" name="Text 18"/>
          <p:cNvSpPr/>
          <p:nvPr/>
        </p:nvSpPr>
        <p:spPr>
          <a:xfrm>
            <a:off x="940724" y="2322576"/>
            <a:ext cx="1463040" cy="402336"/>
          </a:xfrm>
          <a:prstGeom prst="rect">
            <a:avLst/>
          </a:prstGeom>
          <a:noFill/>
          <a:ln/>
        </p:spPr>
        <p:txBody>
          <a:bodyPr wrap="square" lIns="0" tIns="0" rIns="0" bIns="0" rtlCol="0" anchor="ctr"/>
          <a:lstStyle/>
          <a:p>
            <a:pPr marL="0" indent="0" algn="l">
              <a:buNone/>
            </a:pPr>
            <a:r>
              <a:rPr lang="en-US" sz="900" dirty="0">
                <a:solidFill>
                  <a:srgbClr val="8892A4"/>
                </a:solidFill>
                <a:latin typeface="Calibri" pitchFamily="34" charset="0"/>
                <a:ea typeface="Calibri" pitchFamily="34" charset="-122"/>
                <a:cs typeface="Calibri" pitchFamily="34" charset="-120"/>
              </a:rPr>
              <a:t>Données en masse</a:t>
            </a:r>
            <a:endParaRPr lang="en-US" sz="900" dirty="0"/>
          </a:p>
        </p:txBody>
      </p:sp>
      <p:sp>
        <p:nvSpPr>
          <p:cNvPr id="28" name="Text 19"/>
          <p:cNvSpPr/>
          <p:nvPr/>
        </p:nvSpPr>
        <p:spPr>
          <a:xfrm>
            <a:off x="3318164" y="2336800"/>
            <a:ext cx="1005840" cy="402336"/>
          </a:xfrm>
          <a:prstGeom prst="rect">
            <a:avLst/>
          </a:prstGeom>
          <a:noFill/>
          <a:ln/>
        </p:spPr>
        <p:txBody>
          <a:bodyPr wrap="square" lIns="0" tIns="0" rIns="0" bIns="0" rtlCol="0" anchor="ctr"/>
          <a:lstStyle/>
          <a:p>
            <a:pPr marL="0" indent="0" algn="ctr">
              <a:buNone/>
            </a:pPr>
            <a:r>
              <a:rPr lang="en-US" sz="1000" b="1" dirty="0">
                <a:solidFill>
                  <a:srgbClr val="4DFFA0"/>
                </a:solidFill>
                <a:latin typeface="Calibri" pitchFamily="34" charset="0"/>
                <a:ea typeface="Calibri" pitchFamily="34" charset="-122"/>
                <a:cs typeface="Calibri" pitchFamily="34" charset="-120"/>
              </a:rPr>
              <a:t>AES-256</a:t>
            </a:r>
            <a:endParaRPr lang="en-US" sz="1000" dirty="0"/>
          </a:p>
        </p:txBody>
      </p:sp>
      <p:sp>
        <p:nvSpPr>
          <p:cNvPr id="29" name="Text 20"/>
          <p:cNvSpPr/>
          <p:nvPr/>
        </p:nvSpPr>
        <p:spPr>
          <a:xfrm>
            <a:off x="5621746" y="2308642"/>
            <a:ext cx="822960" cy="402336"/>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CTR</a:t>
            </a:r>
            <a:endParaRPr lang="en-US" sz="1000" dirty="0"/>
          </a:p>
        </p:txBody>
      </p:sp>
      <p:sp>
        <p:nvSpPr>
          <p:cNvPr id="30" name="Text 21"/>
          <p:cNvSpPr/>
          <p:nvPr/>
        </p:nvSpPr>
        <p:spPr>
          <a:xfrm>
            <a:off x="7269843" y="2307771"/>
            <a:ext cx="1417320" cy="402336"/>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Parallélisable</a:t>
            </a:r>
            <a:endParaRPr lang="en-US" sz="1000" dirty="0"/>
          </a:p>
        </p:txBody>
      </p:sp>
      <p:sp>
        <p:nvSpPr>
          <p:cNvPr id="31" name="Shape 22"/>
          <p:cNvSpPr/>
          <p:nvPr/>
        </p:nvSpPr>
        <p:spPr>
          <a:xfrm>
            <a:off x="692727" y="2724912"/>
            <a:ext cx="8131233" cy="402336"/>
          </a:xfrm>
          <a:prstGeom prst="rect">
            <a:avLst/>
          </a:prstGeom>
          <a:solidFill>
            <a:srgbClr val="0E0510"/>
          </a:solidFill>
          <a:ln w="6350">
            <a:solidFill>
              <a:srgbClr val="2A0828"/>
            </a:solidFill>
            <a:prstDash val="solid"/>
          </a:ln>
        </p:spPr>
        <p:txBody>
          <a:bodyPr/>
          <a:lstStyle/>
          <a:p>
            <a:endParaRPr lang="en-CA"/>
          </a:p>
        </p:txBody>
      </p:sp>
      <p:sp>
        <p:nvSpPr>
          <p:cNvPr id="32" name="Text 23"/>
          <p:cNvSpPr/>
          <p:nvPr/>
        </p:nvSpPr>
        <p:spPr>
          <a:xfrm>
            <a:off x="1100744" y="2729992"/>
            <a:ext cx="1463040" cy="402336"/>
          </a:xfrm>
          <a:prstGeom prst="rect">
            <a:avLst/>
          </a:prstGeom>
          <a:noFill/>
          <a:ln/>
        </p:spPr>
        <p:txBody>
          <a:bodyPr wrap="square" lIns="0" tIns="0" rIns="0" bIns="0" rtlCol="0" anchor="ctr"/>
          <a:lstStyle/>
          <a:p>
            <a:pPr marL="0" indent="0" algn="l">
              <a:buNone/>
            </a:pPr>
            <a:r>
              <a:rPr lang="en-US" sz="900" b="1" dirty="0">
                <a:solidFill>
                  <a:srgbClr val="FF6B9D"/>
                </a:solidFill>
                <a:latin typeface="Calibri" pitchFamily="34" charset="0"/>
                <a:ea typeface="Calibri" pitchFamily="34" charset="-122"/>
                <a:cs typeface="Calibri" pitchFamily="34" charset="-120"/>
              </a:rPr>
              <a:t>À éviter</a:t>
            </a:r>
            <a:endParaRPr lang="en-US" sz="900" dirty="0"/>
          </a:p>
        </p:txBody>
      </p:sp>
      <p:sp>
        <p:nvSpPr>
          <p:cNvPr id="33" name="Text 24"/>
          <p:cNvSpPr/>
          <p:nvPr/>
        </p:nvSpPr>
        <p:spPr>
          <a:xfrm>
            <a:off x="3318164" y="2724912"/>
            <a:ext cx="1005840" cy="402336"/>
          </a:xfrm>
          <a:prstGeom prst="rect">
            <a:avLst/>
          </a:prstGeom>
          <a:noFill/>
          <a:ln/>
        </p:spPr>
        <p:txBody>
          <a:bodyPr wrap="square" lIns="0" tIns="0" rIns="0" bIns="0" rtlCol="0" anchor="ctr"/>
          <a:lstStyle/>
          <a:p>
            <a:pPr marL="0" indent="0" algn="ctr">
              <a:buNone/>
            </a:pPr>
            <a:r>
              <a:rPr lang="en-US" sz="1000" b="1" dirty="0">
                <a:solidFill>
                  <a:srgbClr val="FF6B9D"/>
                </a:solidFill>
                <a:latin typeface="Calibri" pitchFamily="34" charset="0"/>
                <a:ea typeface="Calibri" pitchFamily="34" charset="-122"/>
                <a:cs typeface="Calibri" pitchFamily="34" charset="-120"/>
              </a:rPr>
              <a:t>DES, 3DES</a:t>
            </a:r>
            <a:endParaRPr lang="en-US" sz="1000" dirty="0"/>
          </a:p>
        </p:txBody>
      </p:sp>
      <p:sp>
        <p:nvSpPr>
          <p:cNvPr id="34" name="Text 25"/>
          <p:cNvSpPr/>
          <p:nvPr/>
        </p:nvSpPr>
        <p:spPr>
          <a:xfrm>
            <a:off x="5621746" y="2707930"/>
            <a:ext cx="822960" cy="402336"/>
          </a:xfrm>
          <a:prstGeom prst="rect">
            <a:avLst/>
          </a:prstGeom>
          <a:noFill/>
          <a:ln/>
        </p:spPr>
        <p:txBody>
          <a:bodyPr wrap="square" lIns="0" tIns="0" rIns="0" bIns="0" rtlCol="0" anchor="ctr"/>
          <a:lstStyle/>
          <a:p>
            <a:pPr marL="0" indent="0" algn="ctr">
              <a:buNone/>
            </a:pPr>
            <a:r>
              <a:rPr lang="en-US" sz="1000" dirty="0">
                <a:solidFill>
                  <a:srgbClr val="FF6B9D"/>
                </a:solidFill>
                <a:latin typeface="Calibri" pitchFamily="34" charset="0"/>
                <a:ea typeface="Calibri" pitchFamily="34" charset="-122"/>
                <a:cs typeface="Calibri" pitchFamily="34" charset="-120"/>
              </a:rPr>
              <a:t>—</a:t>
            </a:r>
            <a:endParaRPr lang="en-US" sz="1000" dirty="0"/>
          </a:p>
        </p:txBody>
      </p:sp>
      <p:sp>
        <p:nvSpPr>
          <p:cNvPr id="35" name="Text 26"/>
          <p:cNvSpPr/>
          <p:nvPr/>
        </p:nvSpPr>
        <p:spPr>
          <a:xfrm>
            <a:off x="7297275" y="2717582"/>
            <a:ext cx="1417320" cy="402336"/>
          </a:xfrm>
          <a:prstGeom prst="rect">
            <a:avLst/>
          </a:prstGeom>
          <a:noFill/>
          <a:ln/>
        </p:spPr>
        <p:txBody>
          <a:bodyPr wrap="square" lIns="0" tIns="0" rIns="0" bIns="0" rtlCol="0" anchor="ctr"/>
          <a:lstStyle/>
          <a:p>
            <a:pPr marL="0" indent="0" algn="ctr">
              <a:buNone/>
            </a:pPr>
            <a:r>
              <a:rPr lang="en-US" sz="1000" dirty="0">
                <a:solidFill>
                  <a:srgbClr val="FF6B9D"/>
                </a:solidFill>
                <a:latin typeface="Calibri" pitchFamily="34" charset="0"/>
                <a:ea typeface="Calibri" pitchFamily="34" charset="-122"/>
                <a:cs typeface="Calibri" pitchFamily="34" charset="-120"/>
              </a:rPr>
              <a:t>Déprécié / cassé</a:t>
            </a:r>
            <a:endParaRPr lang="en-US" sz="1000" dirty="0"/>
          </a:p>
        </p:txBody>
      </p:sp>
      <p:sp>
        <p:nvSpPr>
          <p:cNvPr id="36" name="Shape 27"/>
          <p:cNvSpPr/>
          <p:nvPr/>
        </p:nvSpPr>
        <p:spPr>
          <a:xfrm>
            <a:off x="692727" y="3127248"/>
            <a:ext cx="8131233" cy="402336"/>
          </a:xfrm>
          <a:prstGeom prst="rect">
            <a:avLst/>
          </a:prstGeom>
          <a:solidFill>
            <a:srgbClr val="0E0510"/>
          </a:solidFill>
          <a:ln w="6350">
            <a:solidFill>
              <a:srgbClr val="2A0828"/>
            </a:solidFill>
            <a:prstDash val="solid"/>
          </a:ln>
        </p:spPr>
        <p:txBody>
          <a:bodyPr/>
          <a:lstStyle/>
          <a:p>
            <a:endParaRPr lang="en-CA"/>
          </a:p>
        </p:txBody>
      </p:sp>
      <p:sp>
        <p:nvSpPr>
          <p:cNvPr id="37" name="Text 28"/>
          <p:cNvSpPr/>
          <p:nvPr/>
        </p:nvSpPr>
        <p:spPr>
          <a:xfrm>
            <a:off x="1032164" y="3110266"/>
            <a:ext cx="1463040" cy="402336"/>
          </a:xfrm>
          <a:prstGeom prst="rect">
            <a:avLst/>
          </a:prstGeom>
          <a:noFill/>
          <a:ln/>
        </p:spPr>
        <p:txBody>
          <a:bodyPr wrap="square" lIns="0" tIns="0" rIns="0" bIns="0" rtlCol="0" anchor="ctr"/>
          <a:lstStyle/>
          <a:p>
            <a:pPr marL="0" indent="0" algn="l">
              <a:buNone/>
            </a:pPr>
            <a:r>
              <a:rPr lang="en-US" sz="900" b="1" dirty="0">
                <a:solidFill>
                  <a:srgbClr val="FF6B9D"/>
                </a:solidFill>
                <a:latin typeface="Calibri" pitchFamily="34" charset="0"/>
                <a:ea typeface="Calibri" pitchFamily="34" charset="-122"/>
                <a:cs typeface="Calibri" pitchFamily="34" charset="-120"/>
              </a:rPr>
              <a:t>INTERDIT</a:t>
            </a:r>
            <a:endParaRPr lang="en-US" sz="900" dirty="0"/>
          </a:p>
        </p:txBody>
      </p:sp>
      <p:sp>
        <p:nvSpPr>
          <p:cNvPr id="38" name="Text 29"/>
          <p:cNvSpPr/>
          <p:nvPr/>
        </p:nvSpPr>
        <p:spPr>
          <a:xfrm>
            <a:off x="3318164" y="3119918"/>
            <a:ext cx="1005840" cy="402336"/>
          </a:xfrm>
          <a:prstGeom prst="rect">
            <a:avLst/>
          </a:prstGeom>
          <a:noFill/>
          <a:ln/>
        </p:spPr>
        <p:txBody>
          <a:bodyPr wrap="square" lIns="0" tIns="0" rIns="0" bIns="0" rtlCol="0" anchor="ctr"/>
          <a:lstStyle/>
          <a:p>
            <a:pPr marL="0" indent="0" algn="ctr">
              <a:buNone/>
            </a:pPr>
            <a:r>
              <a:rPr lang="en-US" sz="1000" b="1" dirty="0">
                <a:solidFill>
                  <a:srgbClr val="FF6B9D"/>
                </a:solidFill>
                <a:latin typeface="Calibri" pitchFamily="34" charset="0"/>
                <a:ea typeface="Calibri" pitchFamily="34" charset="-122"/>
                <a:cs typeface="Calibri" pitchFamily="34" charset="-120"/>
              </a:rPr>
              <a:t>Tout </a:t>
            </a:r>
            <a:r>
              <a:rPr lang="en-US" sz="1000" b="1" dirty="0" err="1">
                <a:solidFill>
                  <a:srgbClr val="FF6B9D"/>
                </a:solidFill>
                <a:latin typeface="Calibri" pitchFamily="34" charset="0"/>
                <a:ea typeface="Calibri" pitchFamily="34" charset="-122"/>
                <a:cs typeface="Calibri" pitchFamily="34" charset="-120"/>
              </a:rPr>
              <a:t>algorithme</a:t>
            </a:r>
            <a:endParaRPr lang="en-US" sz="1000" dirty="0"/>
          </a:p>
        </p:txBody>
      </p:sp>
      <p:sp>
        <p:nvSpPr>
          <p:cNvPr id="39" name="Text 30"/>
          <p:cNvSpPr/>
          <p:nvPr/>
        </p:nvSpPr>
        <p:spPr>
          <a:xfrm>
            <a:off x="5621746" y="3161538"/>
            <a:ext cx="822960" cy="402336"/>
          </a:xfrm>
          <a:prstGeom prst="rect">
            <a:avLst/>
          </a:prstGeom>
          <a:noFill/>
          <a:ln/>
        </p:spPr>
        <p:txBody>
          <a:bodyPr wrap="square" lIns="0" tIns="0" rIns="0" bIns="0" rtlCol="0" anchor="ctr"/>
          <a:lstStyle/>
          <a:p>
            <a:pPr marL="0" indent="0" algn="ctr">
              <a:buNone/>
            </a:pPr>
            <a:r>
              <a:rPr lang="en-US" sz="1000" dirty="0">
                <a:solidFill>
                  <a:srgbClr val="FF6B9D"/>
                </a:solidFill>
                <a:latin typeface="Calibri" pitchFamily="34" charset="0"/>
                <a:ea typeface="Calibri" pitchFamily="34" charset="-122"/>
                <a:cs typeface="Calibri" pitchFamily="34" charset="-120"/>
              </a:rPr>
              <a:t>ECB</a:t>
            </a:r>
            <a:endParaRPr lang="en-US" sz="1000" dirty="0"/>
          </a:p>
        </p:txBody>
      </p:sp>
      <p:sp>
        <p:nvSpPr>
          <p:cNvPr id="40" name="Text 31"/>
          <p:cNvSpPr/>
          <p:nvPr/>
        </p:nvSpPr>
        <p:spPr>
          <a:xfrm>
            <a:off x="7308969" y="3127248"/>
            <a:ext cx="1417320" cy="402336"/>
          </a:xfrm>
          <a:prstGeom prst="rect">
            <a:avLst/>
          </a:prstGeom>
          <a:noFill/>
          <a:ln/>
        </p:spPr>
        <p:txBody>
          <a:bodyPr wrap="square" lIns="0" tIns="0" rIns="0" bIns="0" rtlCol="0" anchor="ctr"/>
          <a:lstStyle/>
          <a:p>
            <a:pPr marL="0" indent="0" algn="ctr">
              <a:buNone/>
            </a:pPr>
            <a:r>
              <a:rPr lang="en-US" sz="1000" dirty="0">
                <a:solidFill>
                  <a:srgbClr val="FF6B9D"/>
                </a:solidFill>
                <a:latin typeface="Calibri" pitchFamily="34" charset="0"/>
                <a:ea typeface="Calibri" pitchFamily="34" charset="-122"/>
                <a:cs typeface="Calibri" pitchFamily="34" charset="-120"/>
              </a:rPr>
              <a:t>Patterns visibles</a:t>
            </a:r>
            <a:endParaRPr lang="en-US" sz="1000" dirty="0"/>
          </a:p>
        </p:txBody>
      </p:sp>
      <p:sp>
        <p:nvSpPr>
          <p:cNvPr id="41" name="Text 32"/>
          <p:cNvSpPr/>
          <p:nvPr/>
        </p:nvSpPr>
        <p:spPr>
          <a:xfrm>
            <a:off x="2628537" y="3621024"/>
            <a:ext cx="4709160" cy="237744"/>
          </a:xfrm>
          <a:prstGeom prst="rect">
            <a:avLst/>
          </a:prstGeom>
          <a:noFill/>
          <a:ln/>
        </p:spPr>
        <p:txBody>
          <a:bodyPr wrap="square" lIns="0" tIns="0" rIns="0" bIns="0" rtlCol="0" anchor="ctr"/>
          <a:lstStyle/>
          <a:p>
            <a:pPr marL="0" indent="0" algn="ctr">
              <a:buNone/>
            </a:pPr>
            <a:r>
              <a:rPr lang="en-US" sz="800" i="1" dirty="0">
                <a:solidFill>
                  <a:srgbClr val="3A4A65"/>
                </a:solidFill>
                <a:latin typeface="Calibri" pitchFamily="34" charset="0"/>
                <a:ea typeface="Calibri" pitchFamily="34" charset="-122"/>
                <a:cs typeface="Calibri" pitchFamily="34" charset="-120"/>
              </a:rPr>
              <a:t>Conformes à NIST SP 800-175B et RFC 8446 (TLS 1.3)</a:t>
            </a:r>
            <a:endParaRPr lang="en-US" sz="800" dirty="0"/>
          </a:p>
        </p:txBody>
      </p:sp>
      <p:sp>
        <p:nvSpPr>
          <p:cNvPr id="42" name="Shape 33"/>
          <p:cNvSpPr/>
          <p:nvPr/>
        </p:nvSpPr>
        <p:spPr>
          <a:xfrm>
            <a:off x="566928" y="3877056"/>
            <a:ext cx="8321040" cy="594360"/>
          </a:xfrm>
          <a:prstGeom prst="roundRect">
            <a:avLst>
              <a:gd name="adj" fmla="val 9231"/>
            </a:avLst>
          </a:prstGeom>
          <a:solidFill>
            <a:srgbClr val="060F1E"/>
          </a:solidFill>
          <a:ln w="9525">
            <a:solidFill>
              <a:srgbClr val="0D3D5C"/>
            </a:solidFill>
            <a:prstDash val="solid"/>
          </a:ln>
        </p:spPr>
        <p:txBody>
          <a:bodyPr/>
          <a:lstStyle/>
          <a:p>
            <a:endParaRPr lang="en-CA"/>
          </a:p>
        </p:txBody>
      </p:sp>
      <p:sp>
        <p:nvSpPr>
          <p:cNvPr id="43" name="Text 34"/>
          <p:cNvSpPr/>
          <p:nvPr/>
        </p:nvSpPr>
        <p:spPr>
          <a:xfrm>
            <a:off x="749808" y="3877056"/>
            <a:ext cx="7955280" cy="594360"/>
          </a:xfrm>
          <a:prstGeom prst="rect">
            <a:avLst/>
          </a:prstGeom>
          <a:noFill/>
          <a:ln/>
        </p:spPr>
        <p:txBody>
          <a:bodyPr wrap="square" rtlCol="0" anchor="ctr"/>
          <a:lstStyle/>
          <a:p>
            <a:pPr marL="0" indent="0" algn="ctr">
              <a:buNone/>
            </a:pPr>
            <a:r>
              <a:rPr lang="fr-FR" sz="950" b="1" dirty="0">
                <a:solidFill>
                  <a:srgbClr val="00F5FF"/>
                </a:solidFill>
                <a:latin typeface="Calibri" pitchFamily="34" charset="0"/>
                <a:ea typeface="Calibri" pitchFamily="34" charset="-122"/>
                <a:cs typeface="Calibri" pitchFamily="34" charset="-120"/>
              </a:rPr>
              <a:t>AES-GCM sur x86, ChaCha20 sur ARM : voilà les deux recommandations à retenir. </a:t>
            </a:r>
            <a:r>
              <a:rPr lang="fr-FR" sz="950" dirty="0">
                <a:solidFill>
                  <a:srgbClr val="8892A4"/>
                </a:solidFill>
                <a:latin typeface="Calibri" pitchFamily="34" charset="0"/>
                <a:ea typeface="Calibri" pitchFamily="34" charset="-122"/>
                <a:cs typeface="Calibri" pitchFamily="34" charset="-120"/>
              </a:rPr>
              <a:t>ECB, DES et 3DES sont à proscrire de tout nouveau développement. L'ensemble de cette présentation constitue la preuve empirique de ces quelques principes.</a:t>
            </a:r>
            <a:endParaRPr lang="en-US" sz="950" dirty="0">
              <a:solidFill>
                <a:srgbClr val="8892A4"/>
              </a:solidFill>
            </a:endParaRPr>
          </a:p>
        </p:txBody>
      </p:sp>
      <p:sp>
        <p:nvSpPr>
          <p:cNvPr id="44" name="Shape 35"/>
          <p:cNvSpPr/>
          <p:nvPr/>
        </p:nvSpPr>
        <p:spPr>
          <a:xfrm>
            <a:off x="7626096" y="310896"/>
            <a:ext cx="1115568" cy="329184"/>
          </a:xfrm>
          <a:prstGeom prst="roundRect">
            <a:avLst>
              <a:gd name="adj" fmla="val 22222"/>
            </a:avLst>
          </a:prstGeom>
          <a:solidFill>
            <a:srgbClr val="060F1E"/>
          </a:solidFill>
          <a:ln w="9525">
            <a:solidFill>
              <a:srgbClr val="9B6DFF"/>
            </a:solidFill>
            <a:prstDash val="solid"/>
          </a:ln>
        </p:spPr>
        <p:txBody>
          <a:bodyPr/>
          <a:lstStyle/>
          <a:p>
            <a:endParaRPr lang="en-CA"/>
          </a:p>
        </p:txBody>
      </p:sp>
      <p:sp>
        <p:nvSpPr>
          <p:cNvPr id="45" name="Text 36"/>
          <p:cNvSpPr/>
          <p:nvPr/>
        </p:nvSpPr>
        <p:spPr>
          <a:xfrm>
            <a:off x="7610721" y="316992"/>
            <a:ext cx="1115568" cy="329184"/>
          </a:xfrm>
          <a:prstGeom prst="rect">
            <a:avLst/>
          </a:prstGeom>
          <a:noFill/>
          <a:ln/>
        </p:spPr>
        <p:txBody>
          <a:bodyPr wrap="square" lIns="0" tIns="0" rIns="0" bIns="0" rtlCol="0" anchor="ctr"/>
          <a:lstStyle/>
          <a:p>
            <a:pPr marL="0" indent="0" algn="ctr">
              <a:buNone/>
            </a:pPr>
            <a:r>
              <a:rPr lang="en-US" sz="900" b="1" dirty="0">
                <a:solidFill>
                  <a:srgbClr val="9B6DFF"/>
                </a:solidFill>
                <a:latin typeface="Calibri" pitchFamily="34" charset="0"/>
                <a:ea typeface="Calibri" pitchFamily="34" charset="-122"/>
                <a:cs typeface="Calibri" pitchFamily="34" charset="-120"/>
              </a:rPr>
              <a:t>▶  Vidéo 12</a:t>
            </a:r>
            <a:endParaRPr lang="en-US" sz="900" dirty="0"/>
          </a:p>
        </p:txBody>
      </p:sp>
      <p:sp>
        <p:nvSpPr>
          <p:cNvPr id="46" name="Text 37"/>
          <p:cNvSpPr/>
          <p:nvPr/>
        </p:nvSpPr>
        <p:spPr>
          <a:xfrm>
            <a:off x="1371600" y="4828032"/>
            <a:ext cx="6400800" cy="228600"/>
          </a:xfrm>
          <a:prstGeom prst="rect">
            <a:avLst/>
          </a:prstGeom>
          <a:noFill/>
          <a:ln/>
        </p:spPr>
        <p:txBody>
          <a:bodyPr wrap="square" rtlCol="0" anchor="ctr"/>
          <a:lstStyle/>
          <a:p>
            <a:pPr marL="0" indent="0" algn="ctr">
              <a:buNone/>
            </a:pPr>
            <a:r>
              <a:rPr lang="en-US" sz="850" b="1" kern="0" spc="100" dirty="0">
                <a:solidFill>
                  <a:srgbClr val="00F5FF"/>
                </a:solidFill>
                <a:latin typeface="Calibri" pitchFamily="34" charset="0"/>
                <a:ea typeface="Calibri" pitchFamily="34" charset="-122"/>
                <a:cs typeface="Calibri" pitchFamily="34" charset="-120"/>
              </a:rPr>
              <a:t>INF1430</a:t>
            </a:r>
            <a:r>
              <a:rPr lang="en-US" sz="850" kern="0" spc="100" dirty="0">
                <a:solidFill>
                  <a:srgbClr val="3A4A65"/>
                </a:solidFill>
                <a:latin typeface="Calibri" pitchFamily="34" charset="0"/>
                <a:ea typeface="Calibri" pitchFamily="34" charset="-122"/>
                <a:cs typeface="Calibri" pitchFamily="34" charset="-120"/>
              </a:rPr>
              <a:t>  ·  Université TÉLUQ  ·  TN3  ·  Melissa Moya  ·  2026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256032" y="201168"/>
            <a:ext cx="548640" cy="548640"/>
          </a:xfrm>
          <a:prstGeom prst="rect">
            <a:avLst/>
          </a:prstGeom>
        </p:spPr>
      </p:pic>
      <p:pic>
        <p:nvPicPr>
          <p:cNvPr id="4" name="Image 2" descr="preencoded.png"/>
          <p:cNvPicPr>
            <a:picLocks noChangeAspect="1"/>
          </p:cNvPicPr>
          <p:nvPr/>
        </p:nvPicPr>
        <p:blipFill>
          <a:blip r:embed="rId4"/>
          <a:stretch>
            <a:fillRect/>
          </a:stretch>
        </p:blipFill>
        <p:spPr>
          <a:xfrm flipH="1">
            <a:off x="8339328" y="201168"/>
            <a:ext cx="548640" cy="548640"/>
          </a:xfrm>
          <a:prstGeom prst="rect">
            <a:avLst/>
          </a:prstGeom>
        </p:spPr>
      </p:pic>
      <p:pic>
        <p:nvPicPr>
          <p:cNvPr id="5" name="Image 3" descr="preencoded.png"/>
          <p:cNvPicPr>
            <a:picLocks noChangeAspect="1"/>
          </p:cNvPicPr>
          <p:nvPr/>
        </p:nvPicPr>
        <p:blipFill>
          <a:blip r:embed="rId4"/>
          <a:stretch>
            <a:fillRect/>
          </a:stretch>
        </p:blipFill>
        <p:spPr>
          <a:xfrm flipV="1">
            <a:off x="256032" y="4393692"/>
            <a:ext cx="548640" cy="548640"/>
          </a:xfrm>
          <a:prstGeom prst="rect">
            <a:avLst/>
          </a:prstGeom>
        </p:spPr>
      </p:pic>
      <p:pic>
        <p:nvPicPr>
          <p:cNvPr id="6" name="Image 4" descr="preencoded.png"/>
          <p:cNvPicPr>
            <a:picLocks noChangeAspect="1"/>
          </p:cNvPicPr>
          <p:nvPr/>
        </p:nvPicPr>
        <p:blipFill>
          <a:blip r:embed="rId4"/>
          <a:stretch>
            <a:fillRect/>
          </a:stretch>
        </p:blipFill>
        <p:spPr>
          <a:xfrm flipH="1" flipV="1">
            <a:off x="8339328" y="4393692"/>
            <a:ext cx="548640" cy="548640"/>
          </a:xfrm>
          <a:prstGeom prst="rect">
            <a:avLst/>
          </a:prstGeom>
        </p:spPr>
      </p:pic>
      <p:pic>
        <p:nvPicPr>
          <p:cNvPr id="7" name="Image 5" descr="preencoded.png"/>
          <p:cNvPicPr>
            <a:picLocks noChangeAspect="1"/>
          </p:cNvPicPr>
          <p:nvPr/>
        </p:nvPicPr>
        <p:blipFill>
          <a:blip r:embed="rId5">
            <a:alphaModFix amt="80000"/>
          </a:blip>
          <a:stretch>
            <a:fillRect/>
          </a:stretch>
        </p:blipFill>
        <p:spPr>
          <a:xfrm>
            <a:off x="566928" y="256032"/>
            <a:ext cx="256032" cy="256032"/>
          </a:xfrm>
          <a:prstGeom prst="rect">
            <a:avLst/>
          </a:prstGeom>
        </p:spPr>
      </p:pic>
      <p:sp>
        <p:nvSpPr>
          <p:cNvPr id="8" name="Text 0"/>
          <p:cNvSpPr/>
          <p:nvPr/>
        </p:nvSpPr>
        <p:spPr>
          <a:xfrm>
            <a:off x="868680" y="256032"/>
            <a:ext cx="5486400" cy="274320"/>
          </a:xfrm>
          <a:prstGeom prst="rect">
            <a:avLst/>
          </a:prstGeom>
          <a:noFill/>
          <a:ln/>
        </p:spPr>
        <p:txBody>
          <a:bodyPr wrap="square" rtlCol="0" anchor="ctr"/>
          <a:lstStyle/>
          <a:p>
            <a:pPr marL="0" indent="0">
              <a:buNone/>
            </a:pPr>
            <a:r>
              <a:rPr lang="en-US" sz="1000" b="1" kern="0" spc="50" dirty="0">
                <a:solidFill>
                  <a:srgbClr val="00F5FF"/>
                </a:solidFill>
                <a:latin typeface="Calibri" pitchFamily="34" charset="0"/>
                <a:ea typeface="Calibri" pitchFamily="34" charset="-122"/>
                <a:cs typeface="Calibri" pitchFamily="34" charset="-120"/>
              </a:rPr>
              <a:t>06  </a:t>
            </a:r>
            <a:r>
              <a:rPr lang="en-US" sz="1000" kern="0" spc="50" dirty="0">
                <a:solidFill>
                  <a:srgbClr val="8892A4"/>
                </a:solidFill>
                <a:latin typeface="Calibri" pitchFamily="34" charset="0"/>
                <a:ea typeface="Calibri" pitchFamily="34" charset="-122"/>
                <a:cs typeface="Calibri" pitchFamily="34" charset="-120"/>
              </a:rPr>
              <a:t>Synthèse &amp; recommandations</a:t>
            </a:r>
            <a:endParaRPr lang="en-US" sz="1000" dirty="0"/>
          </a:p>
        </p:txBody>
      </p:sp>
      <p:sp>
        <p:nvSpPr>
          <p:cNvPr id="9" name="Text 1"/>
          <p:cNvSpPr/>
          <p:nvPr/>
        </p:nvSpPr>
        <p:spPr>
          <a:xfrm>
            <a:off x="566928" y="566928"/>
            <a:ext cx="777240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Conclusion — Ce qui a été livré, ce qui vient ensuite</a:t>
            </a:r>
            <a:endParaRPr lang="en-US" sz="2200" dirty="0"/>
          </a:p>
        </p:txBody>
      </p:sp>
      <p:sp>
        <p:nvSpPr>
          <p:cNvPr id="10" name="Shape 2"/>
          <p:cNvSpPr/>
          <p:nvPr/>
        </p:nvSpPr>
        <p:spPr>
          <a:xfrm>
            <a:off x="566928" y="1170432"/>
            <a:ext cx="3977640" cy="2487168"/>
          </a:xfrm>
          <a:prstGeom prst="roundRect">
            <a:avLst>
              <a:gd name="adj" fmla="val 2941"/>
            </a:avLst>
          </a:prstGeom>
          <a:solidFill>
            <a:srgbClr val="060F1E"/>
          </a:solidFill>
          <a:ln w="9525">
            <a:solidFill>
              <a:srgbClr val="0D3D5C"/>
            </a:solidFill>
            <a:prstDash val="solid"/>
          </a:ln>
        </p:spPr>
        <p:txBody>
          <a:bodyPr/>
          <a:lstStyle/>
          <a:p>
            <a:endParaRPr lang="en-CA"/>
          </a:p>
        </p:txBody>
      </p:sp>
      <p:sp>
        <p:nvSpPr>
          <p:cNvPr id="11" name="Text 3"/>
          <p:cNvSpPr/>
          <p:nvPr/>
        </p:nvSpPr>
        <p:spPr>
          <a:xfrm>
            <a:off x="749808" y="1207008"/>
            <a:ext cx="3474720" cy="310896"/>
          </a:xfrm>
          <a:prstGeom prst="rect">
            <a:avLst/>
          </a:prstGeom>
          <a:noFill/>
          <a:ln/>
        </p:spPr>
        <p:txBody>
          <a:bodyPr wrap="square" rtlCol="0" anchor="ctr"/>
          <a:lstStyle/>
          <a:p>
            <a:pPr marL="0" indent="0">
              <a:buNone/>
            </a:pPr>
            <a:r>
              <a:rPr lang="en-US" sz="1200" b="1" dirty="0">
                <a:solidFill>
                  <a:srgbClr val="4DFFA0"/>
                </a:solidFill>
                <a:latin typeface="Calibri" pitchFamily="34" charset="0"/>
                <a:ea typeface="Calibri" pitchFamily="34" charset="-122"/>
                <a:cs typeface="Calibri" pitchFamily="34" charset="-120"/>
              </a:rPr>
              <a:t>✓  TN3 — Livré</a:t>
            </a:r>
            <a:endParaRPr lang="en-US" sz="1200" dirty="0"/>
          </a:p>
        </p:txBody>
      </p:sp>
      <p:sp>
        <p:nvSpPr>
          <p:cNvPr id="12" name="Shape 4"/>
          <p:cNvSpPr/>
          <p:nvPr/>
        </p:nvSpPr>
        <p:spPr>
          <a:xfrm>
            <a:off x="749808" y="1664208"/>
            <a:ext cx="91440" cy="91440"/>
          </a:xfrm>
          <a:prstGeom prst="ellipse">
            <a:avLst/>
          </a:prstGeom>
          <a:solidFill>
            <a:srgbClr val="4DFFA0"/>
          </a:solidFill>
          <a:ln w="12700">
            <a:solidFill>
              <a:srgbClr val="4DFFA0"/>
            </a:solidFill>
            <a:prstDash val="solid"/>
          </a:ln>
        </p:spPr>
        <p:txBody>
          <a:bodyPr/>
          <a:lstStyle/>
          <a:p>
            <a:endParaRPr lang="en-CA"/>
          </a:p>
        </p:txBody>
      </p:sp>
      <p:sp>
        <p:nvSpPr>
          <p:cNvPr id="13" name="Text 5"/>
          <p:cNvSpPr/>
          <p:nvPr/>
        </p:nvSpPr>
        <p:spPr>
          <a:xfrm>
            <a:off x="914400" y="1572768"/>
            <a:ext cx="3493008" cy="347472"/>
          </a:xfrm>
          <a:prstGeom prst="rect">
            <a:avLst/>
          </a:prstGeom>
          <a:noFill/>
          <a:ln/>
        </p:spPr>
        <p:txBody>
          <a:bodyPr wrap="square" lIns="0" tIns="0" rIns="0" bIns="0" rtlCol="0" anchor="ctr"/>
          <a:lstStyle/>
          <a:p>
            <a:pPr marL="0" indent="0">
              <a:buNone/>
            </a:pPr>
            <a:r>
              <a:rPr lang="en-US" sz="1000" dirty="0">
                <a:solidFill>
                  <a:srgbClr val="8892A4"/>
                </a:solidFill>
                <a:latin typeface="Calibri" pitchFamily="34" charset="0"/>
                <a:ea typeface="Calibri" pitchFamily="34" charset="-122"/>
                <a:cs typeface="Calibri" pitchFamily="34" charset="-120"/>
              </a:rPr>
              <a:t>5 algorithmes implémentés et validés (KAT NIST)</a:t>
            </a:r>
            <a:endParaRPr lang="en-US" sz="1000" dirty="0"/>
          </a:p>
        </p:txBody>
      </p:sp>
      <p:sp>
        <p:nvSpPr>
          <p:cNvPr id="14" name="Shape 6"/>
          <p:cNvSpPr/>
          <p:nvPr/>
        </p:nvSpPr>
        <p:spPr>
          <a:xfrm>
            <a:off x="749808" y="2066544"/>
            <a:ext cx="91440" cy="91440"/>
          </a:xfrm>
          <a:prstGeom prst="ellipse">
            <a:avLst/>
          </a:prstGeom>
          <a:solidFill>
            <a:srgbClr val="4DFFA0"/>
          </a:solidFill>
          <a:ln w="12700">
            <a:solidFill>
              <a:srgbClr val="4DFFA0"/>
            </a:solidFill>
            <a:prstDash val="solid"/>
          </a:ln>
        </p:spPr>
        <p:txBody>
          <a:bodyPr/>
          <a:lstStyle/>
          <a:p>
            <a:endParaRPr lang="en-CA"/>
          </a:p>
        </p:txBody>
      </p:sp>
      <p:sp>
        <p:nvSpPr>
          <p:cNvPr id="15" name="Text 7"/>
          <p:cNvSpPr/>
          <p:nvPr/>
        </p:nvSpPr>
        <p:spPr>
          <a:xfrm>
            <a:off x="914400" y="1975104"/>
            <a:ext cx="3493008" cy="347472"/>
          </a:xfrm>
          <a:prstGeom prst="rect">
            <a:avLst/>
          </a:prstGeom>
          <a:noFill/>
          <a:ln/>
        </p:spPr>
        <p:txBody>
          <a:bodyPr wrap="square" lIns="0" tIns="0" rIns="0" bIns="0" rtlCol="0" anchor="ctr"/>
          <a:lstStyle/>
          <a:p>
            <a:pPr marL="0" indent="0">
              <a:buNone/>
            </a:pPr>
            <a:r>
              <a:rPr lang="en-US" sz="1000" dirty="0">
                <a:solidFill>
                  <a:srgbClr val="8892A4"/>
                </a:solidFill>
                <a:latin typeface="Calibri" pitchFamily="34" charset="0"/>
                <a:ea typeface="Calibri" pitchFamily="34" charset="-122"/>
                <a:cs typeface="Calibri" pitchFamily="34" charset="-120"/>
              </a:rPr>
              <a:t>4 modes d'opération (ECB, CBC, CTR, GCM) + StreamMode</a:t>
            </a:r>
            <a:endParaRPr lang="en-US" sz="1000" dirty="0"/>
          </a:p>
        </p:txBody>
      </p:sp>
      <p:sp>
        <p:nvSpPr>
          <p:cNvPr id="16" name="Shape 8"/>
          <p:cNvSpPr/>
          <p:nvPr/>
        </p:nvSpPr>
        <p:spPr>
          <a:xfrm>
            <a:off x="749808" y="2468880"/>
            <a:ext cx="91440" cy="91440"/>
          </a:xfrm>
          <a:prstGeom prst="ellipse">
            <a:avLst/>
          </a:prstGeom>
          <a:solidFill>
            <a:srgbClr val="4DFFA0"/>
          </a:solidFill>
          <a:ln w="12700">
            <a:solidFill>
              <a:srgbClr val="4DFFA0"/>
            </a:solidFill>
            <a:prstDash val="solid"/>
          </a:ln>
        </p:spPr>
        <p:txBody>
          <a:bodyPr/>
          <a:lstStyle/>
          <a:p>
            <a:endParaRPr lang="en-CA"/>
          </a:p>
        </p:txBody>
      </p:sp>
      <p:sp>
        <p:nvSpPr>
          <p:cNvPr id="17" name="Text 9"/>
          <p:cNvSpPr/>
          <p:nvPr/>
        </p:nvSpPr>
        <p:spPr>
          <a:xfrm>
            <a:off x="914400" y="2377440"/>
            <a:ext cx="3493008" cy="347472"/>
          </a:xfrm>
          <a:prstGeom prst="rect">
            <a:avLst/>
          </a:prstGeom>
          <a:noFill/>
          <a:ln/>
        </p:spPr>
        <p:txBody>
          <a:bodyPr wrap="square" lIns="0" tIns="0" rIns="0" bIns="0" rtlCol="0" anchor="ctr"/>
          <a:lstStyle/>
          <a:p>
            <a:pPr marL="0" indent="0">
              <a:buNone/>
            </a:pPr>
            <a:r>
              <a:rPr lang="en-US" sz="1000" dirty="0">
                <a:solidFill>
                  <a:srgbClr val="8892A4"/>
                </a:solidFill>
                <a:latin typeface="Calibri" pitchFamily="34" charset="0"/>
                <a:ea typeface="Calibri" pitchFamily="34" charset="-122"/>
                <a:cs typeface="Calibri" pitchFamily="34" charset="-120"/>
              </a:rPr>
              <a:t>Expérimentations sur 2 plateformes : x86 Windows + Pi ARM</a:t>
            </a:r>
            <a:endParaRPr lang="en-US" sz="1000" dirty="0"/>
          </a:p>
        </p:txBody>
      </p:sp>
      <p:sp>
        <p:nvSpPr>
          <p:cNvPr id="18" name="Shape 10"/>
          <p:cNvSpPr/>
          <p:nvPr/>
        </p:nvSpPr>
        <p:spPr>
          <a:xfrm>
            <a:off x="749808" y="2871216"/>
            <a:ext cx="91440" cy="91440"/>
          </a:xfrm>
          <a:prstGeom prst="ellipse">
            <a:avLst/>
          </a:prstGeom>
          <a:solidFill>
            <a:srgbClr val="4DFFA0"/>
          </a:solidFill>
          <a:ln w="12700">
            <a:solidFill>
              <a:srgbClr val="4DFFA0"/>
            </a:solidFill>
            <a:prstDash val="solid"/>
          </a:ln>
        </p:spPr>
        <p:txBody>
          <a:bodyPr/>
          <a:lstStyle/>
          <a:p>
            <a:endParaRPr lang="en-CA"/>
          </a:p>
        </p:txBody>
      </p:sp>
      <p:sp>
        <p:nvSpPr>
          <p:cNvPr id="19" name="Text 11"/>
          <p:cNvSpPr/>
          <p:nvPr/>
        </p:nvSpPr>
        <p:spPr>
          <a:xfrm>
            <a:off x="914400" y="2779776"/>
            <a:ext cx="3493008" cy="347472"/>
          </a:xfrm>
          <a:prstGeom prst="rect">
            <a:avLst/>
          </a:prstGeom>
          <a:noFill/>
          <a:ln/>
        </p:spPr>
        <p:txBody>
          <a:bodyPr wrap="square" lIns="0" tIns="0" rIns="0" bIns="0" rtlCol="0" anchor="ctr"/>
          <a:lstStyle/>
          <a:p>
            <a:pPr marL="0" indent="0">
              <a:buNone/>
            </a:pPr>
            <a:r>
              <a:rPr lang="en-US" sz="1000" dirty="0">
                <a:solidFill>
                  <a:srgbClr val="8892A4"/>
                </a:solidFill>
                <a:latin typeface="Calibri" pitchFamily="34" charset="0"/>
                <a:ea typeface="Calibri" pitchFamily="34" charset="-122"/>
                <a:cs typeface="Calibri" pitchFamily="34" charset="-120"/>
              </a:rPr>
              <a:t>~600 mesures de débit collectées (n=100 par config.)</a:t>
            </a:r>
            <a:endParaRPr lang="en-US" sz="1000" dirty="0"/>
          </a:p>
        </p:txBody>
      </p:sp>
      <p:sp>
        <p:nvSpPr>
          <p:cNvPr id="20" name="Shape 12"/>
          <p:cNvSpPr/>
          <p:nvPr/>
        </p:nvSpPr>
        <p:spPr>
          <a:xfrm>
            <a:off x="749808" y="3273552"/>
            <a:ext cx="91440" cy="91440"/>
          </a:xfrm>
          <a:prstGeom prst="ellipse">
            <a:avLst/>
          </a:prstGeom>
          <a:solidFill>
            <a:srgbClr val="4DFFA0"/>
          </a:solidFill>
          <a:ln w="12700">
            <a:solidFill>
              <a:srgbClr val="4DFFA0"/>
            </a:solidFill>
            <a:prstDash val="solid"/>
          </a:ln>
        </p:spPr>
        <p:txBody>
          <a:bodyPr/>
          <a:lstStyle/>
          <a:p>
            <a:endParaRPr lang="en-CA"/>
          </a:p>
        </p:txBody>
      </p:sp>
      <p:sp>
        <p:nvSpPr>
          <p:cNvPr id="21" name="Text 13"/>
          <p:cNvSpPr/>
          <p:nvPr/>
        </p:nvSpPr>
        <p:spPr>
          <a:xfrm>
            <a:off x="914400" y="3182112"/>
            <a:ext cx="3493008" cy="347472"/>
          </a:xfrm>
          <a:prstGeom prst="rect">
            <a:avLst/>
          </a:prstGeom>
          <a:noFill/>
          <a:ln/>
        </p:spPr>
        <p:txBody>
          <a:bodyPr wrap="square" lIns="0" tIns="0" rIns="0" bIns="0" rtlCol="0" anchor="ctr"/>
          <a:lstStyle/>
          <a:p>
            <a:pPr marL="0" indent="0">
              <a:buNone/>
            </a:pPr>
            <a:r>
              <a:rPr lang="en-US" sz="1000" dirty="0">
                <a:solidFill>
                  <a:srgbClr val="8892A4"/>
                </a:solidFill>
                <a:latin typeface="Calibri" pitchFamily="34" charset="0"/>
                <a:ea typeface="Calibri" pitchFamily="34" charset="-122"/>
                <a:cs typeface="Calibri" pitchFamily="34" charset="-120"/>
              </a:rPr>
              <a:t>Analyse : avalanche, sensibilité aux clés, stabilité CI95, ECB</a:t>
            </a:r>
            <a:endParaRPr lang="en-US" sz="1000" dirty="0"/>
          </a:p>
        </p:txBody>
      </p:sp>
      <p:sp>
        <p:nvSpPr>
          <p:cNvPr id="22" name="Shape 14"/>
          <p:cNvSpPr/>
          <p:nvPr/>
        </p:nvSpPr>
        <p:spPr>
          <a:xfrm>
            <a:off x="4828032" y="1170432"/>
            <a:ext cx="3977640" cy="2487168"/>
          </a:xfrm>
          <a:prstGeom prst="roundRect">
            <a:avLst>
              <a:gd name="adj" fmla="val 2941"/>
            </a:avLst>
          </a:prstGeom>
          <a:solidFill>
            <a:srgbClr val="08061A"/>
          </a:solidFill>
          <a:ln w="9525">
            <a:solidFill>
              <a:srgbClr val="221050"/>
            </a:solidFill>
            <a:prstDash val="solid"/>
          </a:ln>
        </p:spPr>
        <p:txBody>
          <a:bodyPr/>
          <a:lstStyle/>
          <a:p>
            <a:endParaRPr lang="en-CA"/>
          </a:p>
        </p:txBody>
      </p:sp>
      <p:sp>
        <p:nvSpPr>
          <p:cNvPr id="23" name="Text 15"/>
          <p:cNvSpPr/>
          <p:nvPr/>
        </p:nvSpPr>
        <p:spPr>
          <a:xfrm>
            <a:off x="5010912" y="1207008"/>
            <a:ext cx="3474720" cy="310896"/>
          </a:xfrm>
          <a:prstGeom prst="rect">
            <a:avLst/>
          </a:prstGeom>
          <a:noFill/>
          <a:ln/>
        </p:spPr>
        <p:txBody>
          <a:bodyPr wrap="square" rtlCol="0" anchor="ctr"/>
          <a:lstStyle/>
          <a:p>
            <a:pPr marL="0" indent="0">
              <a:buNone/>
            </a:pPr>
            <a:r>
              <a:rPr lang="en-US" sz="1200" b="1" dirty="0">
                <a:solidFill>
                  <a:srgbClr val="9B6DFF"/>
                </a:solidFill>
                <a:latin typeface="Calibri" pitchFamily="34" charset="0"/>
                <a:ea typeface="Calibri" pitchFamily="34" charset="-122"/>
                <a:cs typeface="Calibri" pitchFamily="34" charset="-120"/>
              </a:rPr>
              <a:t>→  TN4 — En préparation</a:t>
            </a:r>
            <a:endParaRPr lang="en-US" sz="1200" dirty="0"/>
          </a:p>
        </p:txBody>
      </p:sp>
      <p:sp>
        <p:nvSpPr>
          <p:cNvPr id="24" name="Shape 16"/>
          <p:cNvSpPr/>
          <p:nvPr/>
        </p:nvSpPr>
        <p:spPr>
          <a:xfrm>
            <a:off x="5010912" y="1664208"/>
            <a:ext cx="91440" cy="91440"/>
          </a:xfrm>
          <a:prstGeom prst="ellipse">
            <a:avLst/>
          </a:prstGeom>
          <a:solidFill>
            <a:srgbClr val="9B6DFF"/>
          </a:solidFill>
          <a:ln w="12700">
            <a:solidFill>
              <a:srgbClr val="9B6DFF"/>
            </a:solidFill>
            <a:prstDash val="solid"/>
          </a:ln>
        </p:spPr>
        <p:txBody>
          <a:bodyPr/>
          <a:lstStyle/>
          <a:p>
            <a:endParaRPr lang="en-CA"/>
          </a:p>
        </p:txBody>
      </p:sp>
      <p:sp>
        <p:nvSpPr>
          <p:cNvPr id="25" name="Text 17"/>
          <p:cNvSpPr/>
          <p:nvPr/>
        </p:nvSpPr>
        <p:spPr>
          <a:xfrm>
            <a:off x="5175504" y="1572768"/>
            <a:ext cx="3493008" cy="347472"/>
          </a:xfrm>
          <a:prstGeom prst="rect">
            <a:avLst/>
          </a:prstGeom>
          <a:noFill/>
          <a:ln/>
        </p:spPr>
        <p:txBody>
          <a:bodyPr wrap="square" lIns="0" tIns="0" rIns="0" bIns="0" rtlCol="0" anchor="ctr"/>
          <a:lstStyle/>
          <a:p>
            <a:pPr marL="0" indent="0">
              <a:buNone/>
            </a:pPr>
            <a:r>
              <a:rPr lang="en-US" sz="1000" dirty="0">
                <a:solidFill>
                  <a:srgbClr val="8892A4"/>
                </a:solidFill>
                <a:latin typeface="Calibri" pitchFamily="34" charset="0"/>
                <a:ea typeface="Calibri" pitchFamily="34" charset="-122"/>
                <a:cs typeface="Calibri" pitchFamily="34" charset="-120"/>
              </a:rPr>
              <a:t>Analyse approfondie des hypothèses de recherche</a:t>
            </a:r>
            <a:endParaRPr lang="en-US" sz="1000" dirty="0"/>
          </a:p>
        </p:txBody>
      </p:sp>
      <p:sp>
        <p:nvSpPr>
          <p:cNvPr id="26" name="Shape 18"/>
          <p:cNvSpPr/>
          <p:nvPr/>
        </p:nvSpPr>
        <p:spPr>
          <a:xfrm>
            <a:off x="5010912" y="2066544"/>
            <a:ext cx="91440" cy="91440"/>
          </a:xfrm>
          <a:prstGeom prst="ellipse">
            <a:avLst/>
          </a:prstGeom>
          <a:solidFill>
            <a:srgbClr val="9B6DFF"/>
          </a:solidFill>
          <a:ln w="12700">
            <a:solidFill>
              <a:srgbClr val="9B6DFF"/>
            </a:solidFill>
            <a:prstDash val="solid"/>
          </a:ln>
        </p:spPr>
        <p:txBody>
          <a:bodyPr/>
          <a:lstStyle/>
          <a:p>
            <a:endParaRPr lang="en-CA"/>
          </a:p>
        </p:txBody>
      </p:sp>
      <p:sp>
        <p:nvSpPr>
          <p:cNvPr id="27" name="Text 19"/>
          <p:cNvSpPr/>
          <p:nvPr/>
        </p:nvSpPr>
        <p:spPr>
          <a:xfrm>
            <a:off x="5175504" y="1975104"/>
            <a:ext cx="3493008" cy="347472"/>
          </a:xfrm>
          <a:prstGeom prst="rect">
            <a:avLst/>
          </a:prstGeom>
          <a:noFill/>
          <a:ln/>
        </p:spPr>
        <p:txBody>
          <a:bodyPr wrap="square" lIns="0" tIns="0" rIns="0" bIns="0" rtlCol="0" anchor="ctr"/>
          <a:lstStyle/>
          <a:p>
            <a:pPr marL="0" indent="0">
              <a:buNone/>
            </a:pPr>
            <a:r>
              <a:rPr lang="en-US" sz="1000" dirty="0">
                <a:solidFill>
                  <a:srgbClr val="8892A4"/>
                </a:solidFill>
                <a:latin typeface="Calibri" pitchFamily="34" charset="0"/>
                <a:ea typeface="Calibri" pitchFamily="34" charset="-122"/>
                <a:cs typeface="Calibri" pitchFamily="34" charset="-120"/>
              </a:rPr>
              <a:t>Comparaison avec la littérature (Stallings, NIST SP 800-175B)</a:t>
            </a:r>
            <a:endParaRPr lang="en-US" sz="1000" dirty="0"/>
          </a:p>
        </p:txBody>
      </p:sp>
      <p:sp>
        <p:nvSpPr>
          <p:cNvPr id="28" name="Shape 20"/>
          <p:cNvSpPr/>
          <p:nvPr/>
        </p:nvSpPr>
        <p:spPr>
          <a:xfrm>
            <a:off x="5010912" y="2468880"/>
            <a:ext cx="91440" cy="91440"/>
          </a:xfrm>
          <a:prstGeom prst="ellipse">
            <a:avLst/>
          </a:prstGeom>
          <a:solidFill>
            <a:srgbClr val="9B6DFF"/>
          </a:solidFill>
          <a:ln w="12700">
            <a:solidFill>
              <a:srgbClr val="9B6DFF"/>
            </a:solidFill>
            <a:prstDash val="solid"/>
          </a:ln>
        </p:spPr>
        <p:txBody>
          <a:bodyPr/>
          <a:lstStyle/>
          <a:p>
            <a:endParaRPr lang="en-CA"/>
          </a:p>
        </p:txBody>
      </p:sp>
      <p:sp>
        <p:nvSpPr>
          <p:cNvPr id="29" name="Text 21"/>
          <p:cNvSpPr/>
          <p:nvPr/>
        </p:nvSpPr>
        <p:spPr>
          <a:xfrm>
            <a:off x="5175504" y="2377440"/>
            <a:ext cx="3493008" cy="347472"/>
          </a:xfrm>
          <a:prstGeom prst="rect">
            <a:avLst/>
          </a:prstGeom>
          <a:noFill/>
          <a:ln/>
        </p:spPr>
        <p:txBody>
          <a:bodyPr wrap="square" lIns="0" tIns="0" rIns="0" bIns="0" rtlCol="0" anchor="ctr"/>
          <a:lstStyle/>
          <a:p>
            <a:pPr marL="0" indent="0">
              <a:buNone/>
            </a:pPr>
            <a:r>
              <a:rPr lang="en-US" sz="1000" dirty="0">
                <a:solidFill>
                  <a:srgbClr val="8892A4"/>
                </a:solidFill>
                <a:latin typeface="Calibri" pitchFamily="34" charset="0"/>
                <a:ea typeface="Calibri" pitchFamily="34" charset="-122"/>
                <a:cs typeface="Calibri" pitchFamily="34" charset="-120"/>
              </a:rPr>
              <a:t>Rapport final — interprétation complète des résultats</a:t>
            </a:r>
            <a:endParaRPr lang="en-US" sz="1000" dirty="0"/>
          </a:p>
        </p:txBody>
      </p:sp>
      <p:sp>
        <p:nvSpPr>
          <p:cNvPr id="30" name="Shape 22"/>
          <p:cNvSpPr/>
          <p:nvPr/>
        </p:nvSpPr>
        <p:spPr>
          <a:xfrm>
            <a:off x="5010912" y="2871216"/>
            <a:ext cx="91440" cy="91440"/>
          </a:xfrm>
          <a:prstGeom prst="ellipse">
            <a:avLst/>
          </a:prstGeom>
          <a:solidFill>
            <a:srgbClr val="9B6DFF"/>
          </a:solidFill>
          <a:ln w="12700">
            <a:solidFill>
              <a:srgbClr val="9B6DFF"/>
            </a:solidFill>
            <a:prstDash val="solid"/>
          </a:ln>
        </p:spPr>
        <p:txBody>
          <a:bodyPr/>
          <a:lstStyle/>
          <a:p>
            <a:endParaRPr lang="en-CA"/>
          </a:p>
        </p:txBody>
      </p:sp>
      <p:sp>
        <p:nvSpPr>
          <p:cNvPr id="31" name="Text 23"/>
          <p:cNvSpPr/>
          <p:nvPr/>
        </p:nvSpPr>
        <p:spPr>
          <a:xfrm>
            <a:off x="5175504" y="2779776"/>
            <a:ext cx="3493008" cy="347472"/>
          </a:xfrm>
          <a:prstGeom prst="rect">
            <a:avLst/>
          </a:prstGeom>
          <a:noFill/>
          <a:ln/>
        </p:spPr>
        <p:txBody>
          <a:bodyPr wrap="square" lIns="0" tIns="0" rIns="0" bIns="0" rtlCol="0" anchor="ctr"/>
          <a:lstStyle/>
          <a:p>
            <a:pPr marL="0" indent="0">
              <a:buNone/>
            </a:pPr>
            <a:r>
              <a:rPr lang="en-US" sz="1000" dirty="0">
                <a:solidFill>
                  <a:srgbClr val="8892A4"/>
                </a:solidFill>
                <a:latin typeface="Calibri" pitchFamily="34" charset="0"/>
                <a:ea typeface="Calibri" pitchFamily="34" charset="-122"/>
                <a:cs typeface="Calibri" pitchFamily="34" charset="-120"/>
              </a:rPr>
              <a:t>Conclusions sur les choix architecturaux</a:t>
            </a:r>
            <a:endParaRPr lang="en-US" sz="1000" dirty="0"/>
          </a:p>
        </p:txBody>
      </p:sp>
      <p:sp>
        <p:nvSpPr>
          <p:cNvPr id="32" name="Shape 24"/>
          <p:cNvSpPr/>
          <p:nvPr/>
        </p:nvSpPr>
        <p:spPr>
          <a:xfrm>
            <a:off x="5010912" y="3273552"/>
            <a:ext cx="91440" cy="91440"/>
          </a:xfrm>
          <a:prstGeom prst="ellipse">
            <a:avLst/>
          </a:prstGeom>
          <a:solidFill>
            <a:srgbClr val="9B6DFF"/>
          </a:solidFill>
          <a:ln w="12700">
            <a:solidFill>
              <a:srgbClr val="9B6DFF"/>
            </a:solidFill>
            <a:prstDash val="solid"/>
          </a:ln>
        </p:spPr>
        <p:txBody>
          <a:bodyPr/>
          <a:lstStyle/>
          <a:p>
            <a:endParaRPr lang="en-CA"/>
          </a:p>
        </p:txBody>
      </p:sp>
      <p:sp>
        <p:nvSpPr>
          <p:cNvPr id="33" name="Text 25"/>
          <p:cNvSpPr/>
          <p:nvPr/>
        </p:nvSpPr>
        <p:spPr>
          <a:xfrm>
            <a:off x="5175504" y="3182112"/>
            <a:ext cx="3493008" cy="347472"/>
          </a:xfrm>
          <a:prstGeom prst="rect">
            <a:avLst/>
          </a:prstGeom>
          <a:noFill/>
          <a:ln/>
        </p:spPr>
        <p:txBody>
          <a:bodyPr wrap="square" lIns="0" tIns="0" rIns="0" bIns="0" rtlCol="0" anchor="ctr"/>
          <a:lstStyle/>
          <a:p>
            <a:pPr marL="0" indent="0">
              <a:buNone/>
            </a:pPr>
            <a:r>
              <a:rPr lang="en-US" sz="1000" dirty="0">
                <a:solidFill>
                  <a:srgbClr val="8892A4"/>
                </a:solidFill>
                <a:latin typeface="Calibri" pitchFamily="34" charset="0"/>
                <a:ea typeface="Calibri" pitchFamily="34" charset="-122"/>
                <a:cs typeface="Calibri" pitchFamily="34" charset="-120"/>
              </a:rPr>
              <a:t>Recommandations formelles</a:t>
            </a:r>
            <a:endParaRPr lang="en-US" sz="1000" dirty="0"/>
          </a:p>
        </p:txBody>
      </p:sp>
      <p:sp>
        <p:nvSpPr>
          <p:cNvPr id="34" name="Shape 26"/>
          <p:cNvSpPr/>
          <p:nvPr/>
        </p:nvSpPr>
        <p:spPr>
          <a:xfrm>
            <a:off x="566928" y="3749040"/>
            <a:ext cx="8321040" cy="658368"/>
          </a:xfrm>
          <a:prstGeom prst="roundRect">
            <a:avLst>
              <a:gd name="adj" fmla="val 8333"/>
            </a:avLst>
          </a:prstGeom>
          <a:solidFill>
            <a:srgbClr val="060F1E"/>
          </a:solidFill>
          <a:ln w="9525">
            <a:solidFill>
              <a:srgbClr val="0D3D5C"/>
            </a:solidFill>
            <a:prstDash val="solid"/>
          </a:ln>
        </p:spPr>
        <p:txBody>
          <a:bodyPr/>
          <a:lstStyle/>
          <a:p>
            <a:endParaRPr lang="en-CA"/>
          </a:p>
        </p:txBody>
      </p:sp>
      <p:sp>
        <p:nvSpPr>
          <p:cNvPr id="35" name="Text 27"/>
          <p:cNvSpPr/>
          <p:nvPr/>
        </p:nvSpPr>
        <p:spPr>
          <a:xfrm>
            <a:off x="749808" y="3749040"/>
            <a:ext cx="7955280" cy="658368"/>
          </a:xfrm>
          <a:prstGeom prst="rect">
            <a:avLst/>
          </a:prstGeom>
          <a:noFill/>
          <a:ln/>
        </p:spPr>
        <p:txBody>
          <a:bodyPr wrap="square" rtlCol="0" anchor="ctr"/>
          <a:lstStyle/>
          <a:p>
            <a:pPr marL="0" indent="0" algn="ctr">
              <a:buNone/>
            </a:pPr>
            <a:r>
              <a:rPr lang="fr-FR" sz="1050" dirty="0">
                <a:solidFill>
                  <a:srgbClr val="00F5FF"/>
                </a:solidFill>
                <a:latin typeface="Calibri" pitchFamily="34" charset="0"/>
                <a:ea typeface="Calibri" pitchFamily="34" charset="-122"/>
                <a:cs typeface="Calibri" pitchFamily="34" charset="-120"/>
              </a:rPr>
              <a:t>Le choix d'un algorithme de chiffrement ne relève pas uniquement de la sécurité, mais aussi d'une décision d'architecture, de plateforme et de contexte d'utilisation.</a:t>
            </a:r>
            <a:endParaRPr lang="en-US" sz="1050" dirty="0"/>
          </a:p>
        </p:txBody>
      </p:sp>
      <p:sp>
        <p:nvSpPr>
          <p:cNvPr id="37" name="Text 29"/>
          <p:cNvSpPr/>
          <p:nvPr/>
        </p:nvSpPr>
        <p:spPr>
          <a:xfrm>
            <a:off x="1371600" y="4828032"/>
            <a:ext cx="6400800" cy="228600"/>
          </a:xfrm>
          <a:prstGeom prst="rect">
            <a:avLst/>
          </a:prstGeom>
          <a:noFill/>
          <a:ln/>
        </p:spPr>
        <p:txBody>
          <a:bodyPr wrap="square" rtlCol="0" anchor="ctr"/>
          <a:lstStyle/>
          <a:p>
            <a:pPr marL="0" indent="0" algn="ctr">
              <a:buNone/>
            </a:pPr>
            <a:r>
              <a:rPr lang="en-US" sz="850" b="1" kern="0" spc="100" dirty="0">
                <a:solidFill>
                  <a:srgbClr val="00F5FF"/>
                </a:solidFill>
                <a:latin typeface="Calibri" pitchFamily="34" charset="0"/>
                <a:ea typeface="Calibri" pitchFamily="34" charset="-122"/>
                <a:cs typeface="Calibri" pitchFamily="34" charset="-120"/>
              </a:rPr>
              <a:t>INF1430</a:t>
            </a:r>
            <a:r>
              <a:rPr lang="en-US" sz="850" kern="0" spc="100" dirty="0">
                <a:solidFill>
                  <a:srgbClr val="3A4A65"/>
                </a:solidFill>
                <a:latin typeface="Calibri" pitchFamily="34" charset="0"/>
                <a:ea typeface="Calibri" pitchFamily="34" charset="-122"/>
                <a:cs typeface="Calibri" pitchFamily="34" charset="-120"/>
              </a:rPr>
              <a:t>  ·  Université TÉLUQ  ·  TN3  ·  Melissa Moya  ·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2066</TotalTime>
  <Words>2558</Words>
  <Application>Microsoft Office PowerPoint</Application>
  <PresentationFormat>On-screen Show (16:9)</PresentationFormat>
  <Paragraphs>442</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Segoe WPC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Melissa Moya-Dery</cp:lastModifiedBy>
  <cp:revision>12</cp:revision>
  <dcterms:created xsi:type="dcterms:W3CDTF">2026-06-13T18:04:07Z</dcterms:created>
  <dcterms:modified xsi:type="dcterms:W3CDTF">2026-06-15T04:34:06Z</dcterms:modified>
</cp:coreProperties>
</file>