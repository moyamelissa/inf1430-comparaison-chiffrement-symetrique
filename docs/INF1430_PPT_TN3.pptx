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8" r:id="rId3"/>
    <p:sldId id="260" r:id="rId4"/>
    <p:sldId id="261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59" r:id="rId23"/>
    <p:sldId id="273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B793B33-A6B1-4C1C-B2F3-EA5BD2223ADF}">
          <p14:sldIdLst>
            <p14:sldId id="256"/>
            <p14:sldId id="258"/>
            <p14:sldId id="260"/>
            <p14:sldId id="261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Others" id="{E9C2E23E-035C-4E55-B6E5-B4891AB3FBA3}">
          <p14:sldIdLst>
            <p14:sldId id="259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82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6124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28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201168"/>
            <a:ext cx="640080" cy="64008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 flipV="1">
            <a:off x="8247888" y="4320540"/>
            <a:ext cx="640080" cy="64008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8247888" y="201168"/>
            <a:ext cx="640080" cy="64008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256032" y="4320540"/>
            <a:ext cx="640080" cy="64008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>
            <a:alphaModFix amt="15000"/>
          </a:blip>
          <a:stretch>
            <a:fillRect/>
          </a:stretch>
        </p:blipFill>
        <p:spPr>
          <a:xfrm>
            <a:off x="274320" y="1920240"/>
            <a:ext cx="1188720" cy="118872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>
            <a:alphaModFix amt="18000"/>
          </a:blip>
          <a:stretch>
            <a:fillRect/>
          </a:stretch>
        </p:blipFill>
        <p:spPr>
          <a:xfrm>
            <a:off x="7680960" y="1920240"/>
            <a:ext cx="1188720" cy="1188720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1097280" y="960120"/>
            <a:ext cx="6949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expérimentale des</a:t>
            </a:r>
            <a:endParaRPr lang="en-US" sz="3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algorithmes de </a:t>
            </a:r>
            <a:endParaRPr lang="en-US" sz="3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31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 symétrique</a:t>
            </a:r>
            <a:endParaRPr lang="en-US" sz="3100" dirty="0"/>
          </a:p>
        </p:txBody>
      </p:sp>
      <p:pic>
        <p:nvPicPr>
          <p:cNvPr id="10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0" y="2944368"/>
            <a:ext cx="5486400" cy="45720"/>
          </a:xfrm>
          <a:prstGeom prst="rect">
            <a:avLst/>
          </a:prstGeom>
        </p:spPr>
      </p:pic>
      <p:sp>
        <p:nvSpPr>
          <p:cNvPr id="11" name="Text 1"/>
          <p:cNvSpPr/>
          <p:nvPr/>
        </p:nvSpPr>
        <p:spPr>
          <a:xfrm>
            <a:off x="1280160" y="3035808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et robustesse : architecture x86 (Windows) vs ARM (Raspberry Pi)</a:t>
            </a:r>
            <a:endParaRPr lang="en-US" sz="1100" dirty="0"/>
          </a:p>
        </p:txBody>
      </p:sp>
      <p:sp>
        <p:nvSpPr>
          <p:cNvPr id="12" name="Text 2"/>
          <p:cNvSpPr/>
          <p:nvPr/>
        </p:nvSpPr>
        <p:spPr>
          <a:xfrm>
            <a:off x="1371600" y="45262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INF1430</a:t>
            </a:r>
            <a:r>
              <a:rPr lang="en-US" sz="900" kern="0" spc="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Université TÉLUQ  ·  TN3  ·  Melissa Moya  ·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201168"/>
            <a:ext cx="548640" cy="54864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8339328" y="201168"/>
            <a:ext cx="548640" cy="54864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256032" y="4393692"/>
            <a:ext cx="548640" cy="54864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 flipV="1">
            <a:off x="8339328" y="4393692"/>
            <a:ext cx="548640" cy="54864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594360" y="2926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749808"/>
            <a:ext cx="1645920" cy="36576"/>
          </a:xfrm>
          <a:prstGeom prst="rect">
            <a:avLst/>
          </a:prstGeom>
        </p:spPr>
      </p:pic>
      <p:sp>
        <p:nvSpPr>
          <p:cNvPr id="9" name="Shape 1"/>
          <p:cNvSpPr/>
          <p:nvPr/>
        </p:nvSpPr>
        <p:spPr>
          <a:xfrm>
            <a:off x="594360" y="877824"/>
            <a:ext cx="3977640" cy="932688"/>
          </a:xfrm>
          <a:prstGeom prst="roundRect">
            <a:avLst>
              <a:gd name="adj" fmla="val 6863"/>
            </a:avLst>
          </a:prstGeom>
          <a:solidFill>
            <a:srgbClr val="0A1628">
              <a:alpha val="90000"/>
            </a:srgbClr>
          </a:solidFill>
          <a:ln w="9525">
            <a:solidFill>
              <a:srgbClr val="0D3D5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6">
            <a:alphaModFix amt="10000"/>
          </a:blip>
          <a:stretch>
            <a:fillRect/>
          </a:stretch>
        </p:blipFill>
        <p:spPr>
          <a:xfrm>
            <a:off x="758952" y="1069848"/>
            <a:ext cx="612648" cy="612648"/>
          </a:xfrm>
          <a:prstGeom prst="rect">
            <a:avLst/>
          </a:prstGeom>
        </p:spPr>
      </p:pic>
      <p:sp>
        <p:nvSpPr>
          <p:cNvPr id="11" name="Text 2"/>
          <p:cNvSpPr/>
          <p:nvPr/>
        </p:nvSpPr>
        <p:spPr>
          <a:xfrm>
            <a:off x="1179576" y="877824"/>
            <a:ext cx="3840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2" name="Text 3"/>
          <p:cNvSpPr/>
          <p:nvPr/>
        </p:nvSpPr>
        <p:spPr>
          <a:xfrm>
            <a:off x="1554480" y="877824"/>
            <a:ext cx="29077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 du système &amp; architecture</a:t>
            </a:r>
            <a:endParaRPr lang="en-US" sz="1250" dirty="0"/>
          </a:p>
        </p:txBody>
      </p:sp>
      <p:sp>
        <p:nvSpPr>
          <p:cNvPr id="13" name="Shape 4"/>
          <p:cNvSpPr/>
          <p:nvPr/>
        </p:nvSpPr>
        <p:spPr>
          <a:xfrm>
            <a:off x="594360" y="2066544"/>
            <a:ext cx="3977640" cy="932688"/>
          </a:xfrm>
          <a:prstGeom prst="roundRect">
            <a:avLst>
              <a:gd name="adj" fmla="val 6863"/>
            </a:avLst>
          </a:prstGeom>
          <a:solidFill>
            <a:srgbClr val="100A22">
              <a:alpha val="90000"/>
            </a:srgbClr>
          </a:solidFill>
          <a:ln w="9525">
            <a:solidFill>
              <a:srgbClr val="2A146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14" name="Image 7" descr="preencoded.png"/>
          <p:cNvPicPr>
            <a:picLocks noChangeAspect="1"/>
          </p:cNvPicPr>
          <p:nvPr/>
        </p:nvPicPr>
        <p:blipFill>
          <a:blip r:embed="rId7">
            <a:alphaModFix amt="10000"/>
          </a:blip>
          <a:stretch>
            <a:fillRect/>
          </a:stretch>
        </p:blipFill>
        <p:spPr>
          <a:xfrm>
            <a:off x="798576" y="2293620"/>
            <a:ext cx="521208" cy="521208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>
            <a:off x="1179576" y="2066544"/>
            <a:ext cx="3840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6"/>
          <p:cNvSpPr/>
          <p:nvPr/>
        </p:nvSpPr>
        <p:spPr>
          <a:xfrm>
            <a:off x="1554480" y="2066544"/>
            <a:ext cx="29077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 expérimental</a:t>
            </a:r>
            <a:endParaRPr lang="en-US" sz="1250" dirty="0"/>
          </a:p>
        </p:txBody>
      </p:sp>
      <p:sp>
        <p:nvSpPr>
          <p:cNvPr id="17" name="Shape 7"/>
          <p:cNvSpPr/>
          <p:nvPr/>
        </p:nvSpPr>
        <p:spPr>
          <a:xfrm>
            <a:off x="594360" y="3255264"/>
            <a:ext cx="3977640" cy="932688"/>
          </a:xfrm>
          <a:prstGeom prst="roundRect">
            <a:avLst>
              <a:gd name="adj" fmla="val 6863"/>
            </a:avLst>
          </a:prstGeom>
          <a:solidFill>
            <a:srgbClr val="0A1628">
              <a:alpha val="90000"/>
            </a:srgbClr>
          </a:solidFill>
          <a:ln w="9525">
            <a:solidFill>
              <a:srgbClr val="0D3D5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18" name="Image 8" descr="preencoded.png"/>
          <p:cNvPicPr>
            <a:picLocks noChangeAspect="1"/>
          </p:cNvPicPr>
          <p:nvPr/>
        </p:nvPicPr>
        <p:blipFill>
          <a:blip r:embed="rId8">
            <a:alphaModFix amt="10000"/>
          </a:blip>
          <a:stretch>
            <a:fillRect/>
          </a:stretch>
        </p:blipFill>
        <p:spPr>
          <a:xfrm>
            <a:off x="758952" y="3493770"/>
            <a:ext cx="560832" cy="560832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1179576" y="3255264"/>
            <a:ext cx="3840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9"/>
          <p:cNvSpPr/>
          <p:nvPr/>
        </p:nvSpPr>
        <p:spPr>
          <a:xfrm>
            <a:off x="1554480" y="3255264"/>
            <a:ext cx="29077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fonctionnelle — KAT</a:t>
            </a:r>
            <a:endParaRPr lang="en-US" sz="1250" dirty="0"/>
          </a:p>
        </p:txBody>
      </p:sp>
      <p:sp>
        <p:nvSpPr>
          <p:cNvPr id="21" name="Shape 10"/>
          <p:cNvSpPr/>
          <p:nvPr/>
        </p:nvSpPr>
        <p:spPr>
          <a:xfrm>
            <a:off x="4892040" y="877824"/>
            <a:ext cx="3977640" cy="932688"/>
          </a:xfrm>
          <a:prstGeom prst="roundRect">
            <a:avLst>
              <a:gd name="adj" fmla="val 6863"/>
            </a:avLst>
          </a:prstGeom>
          <a:solidFill>
            <a:srgbClr val="100A22">
              <a:alpha val="90000"/>
            </a:srgbClr>
          </a:solidFill>
          <a:ln w="9525">
            <a:solidFill>
              <a:srgbClr val="2A146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9">
            <a:alphaModFix amt="10000"/>
          </a:blip>
          <a:stretch>
            <a:fillRect/>
          </a:stretch>
        </p:blipFill>
        <p:spPr>
          <a:xfrm>
            <a:off x="5066919" y="1089088"/>
            <a:ext cx="610743" cy="610743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5477256" y="877824"/>
            <a:ext cx="3840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4" name="Text 12"/>
          <p:cNvSpPr/>
          <p:nvPr/>
        </p:nvSpPr>
        <p:spPr>
          <a:xfrm>
            <a:off x="5852160" y="877824"/>
            <a:ext cx="29077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de performance</a:t>
            </a:r>
            <a:endParaRPr lang="en-US" sz="1250" dirty="0"/>
          </a:p>
        </p:txBody>
      </p:sp>
      <p:sp>
        <p:nvSpPr>
          <p:cNvPr id="25" name="Shape 13"/>
          <p:cNvSpPr/>
          <p:nvPr/>
        </p:nvSpPr>
        <p:spPr>
          <a:xfrm>
            <a:off x="4892040" y="2066544"/>
            <a:ext cx="3977640" cy="932688"/>
          </a:xfrm>
          <a:prstGeom prst="roundRect">
            <a:avLst>
              <a:gd name="adj" fmla="val 6863"/>
            </a:avLst>
          </a:prstGeom>
          <a:solidFill>
            <a:srgbClr val="0A1628">
              <a:alpha val="90000"/>
            </a:srgbClr>
          </a:solidFill>
          <a:ln w="9525">
            <a:solidFill>
              <a:srgbClr val="0D3D5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26" name="Image 10" descr="preencoded.png"/>
          <p:cNvPicPr>
            <a:picLocks noChangeAspect="1"/>
          </p:cNvPicPr>
          <p:nvPr/>
        </p:nvPicPr>
        <p:blipFill>
          <a:blip r:embed="rId10">
            <a:alphaModFix amt="10000"/>
          </a:blip>
          <a:stretch>
            <a:fillRect/>
          </a:stretch>
        </p:blipFill>
        <p:spPr>
          <a:xfrm>
            <a:off x="5085588" y="2230183"/>
            <a:ext cx="621030" cy="621030"/>
          </a:xfrm>
          <a:prstGeom prst="rect">
            <a:avLst/>
          </a:prstGeom>
        </p:spPr>
      </p:pic>
      <p:sp>
        <p:nvSpPr>
          <p:cNvPr id="27" name="Text 14"/>
          <p:cNvSpPr/>
          <p:nvPr/>
        </p:nvSpPr>
        <p:spPr>
          <a:xfrm>
            <a:off x="5477256" y="2066544"/>
            <a:ext cx="3840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8" name="Text 15"/>
          <p:cNvSpPr/>
          <p:nvPr/>
        </p:nvSpPr>
        <p:spPr>
          <a:xfrm>
            <a:off x="5852160" y="2066544"/>
            <a:ext cx="29077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Robustesse cryptographique</a:t>
            </a:r>
            <a:endParaRPr lang="en-US" sz="1250" dirty="0"/>
          </a:p>
        </p:txBody>
      </p:sp>
      <p:sp>
        <p:nvSpPr>
          <p:cNvPr id="29" name="Shape 16"/>
          <p:cNvSpPr/>
          <p:nvPr/>
        </p:nvSpPr>
        <p:spPr>
          <a:xfrm>
            <a:off x="4892040" y="3255264"/>
            <a:ext cx="3977640" cy="932688"/>
          </a:xfrm>
          <a:prstGeom prst="roundRect">
            <a:avLst>
              <a:gd name="adj" fmla="val 6863"/>
            </a:avLst>
          </a:prstGeom>
          <a:solidFill>
            <a:srgbClr val="100A22">
              <a:alpha val="90000"/>
            </a:srgbClr>
          </a:solidFill>
          <a:ln w="9525">
            <a:solidFill>
              <a:srgbClr val="2A146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30" name="Image 11" descr="preencoded.png"/>
          <p:cNvPicPr>
            <a:picLocks noChangeAspect="1"/>
          </p:cNvPicPr>
          <p:nvPr/>
        </p:nvPicPr>
        <p:blipFill>
          <a:blip r:embed="rId11">
            <a:alphaModFix amt="10000"/>
          </a:blip>
          <a:stretch>
            <a:fillRect/>
          </a:stretch>
        </p:blipFill>
        <p:spPr>
          <a:xfrm>
            <a:off x="5056632" y="3381565"/>
            <a:ext cx="621030" cy="621030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5477256" y="3255264"/>
            <a:ext cx="3840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2" name="Text 18"/>
          <p:cNvSpPr/>
          <p:nvPr/>
        </p:nvSpPr>
        <p:spPr>
          <a:xfrm>
            <a:off x="5852160" y="3255264"/>
            <a:ext cx="29077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&amp; recommandations</a:t>
            </a:r>
            <a:endParaRPr lang="en-US" sz="1250" dirty="0"/>
          </a:p>
        </p:txBody>
      </p:sp>
      <p:sp>
        <p:nvSpPr>
          <p:cNvPr id="34" name="Text 20"/>
          <p:cNvSpPr/>
          <p:nvPr/>
        </p:nvSpPr>
        <p:spPr>
          <a:xfrm>
            <a:off x="1371600" y="475488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INF1430</a:t>
            </a:r>
            <a:r>
              <a:rPr lang="en-US" sz="850" kern="0" spc="100" dirty="0">
                <a:solidFill>
                  <a:srgbClr val="3A4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Université TÉLUQ  ·  TN3  ·  Melissa Moya  ·  2026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201168"/>
            <a:ext cx="548640" cy="54864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8339328" y="201168"/>
            <a:ext cx="548640" cy="54864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256032" y="4393692"/>
            <a:ext cx="548640" cy="54864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 flipV="1">
            <a:off x="8339328" y="4393692"/>
            <a:ext cx="548640" cy="54864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6928" y="256032"/>
            <a:ext cx="301752" cy="301752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868680" y="256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r>
              <a:rPr lang="en-US" sz="1000" kern="0" spc="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 du système</a:t>
            </a:r>
            <a:endParaRPr lang="en-US" sz="1000" dirty="0"/>
          </a:p>
        </p:txBody>
      </p:sp>
      <p:sp>
        <p:nvSpPr>
          <p:cNvPr id="9" name="Text 1"/>
          <p:cNvSpPr/>
          <p:nvPr/>
        </p:nvSpPr>
        <p:spPr>
          <a:xfrm>
            <a:off x="566928" y="566928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 du système</a:t>
            </a:r>
            <a:endParaRPr lang="en-US" sz="2600" dirty="0"/>
          </a:p>
        </p:txBody>
      </p:sp>
      <p:sp>
        <p:nvSpPr>
          <p:cNvPr id="10" name="Shape 2"/>
          <p:cNvSpPr/>
          <p:nvPr/>
        </p:nvSpPr>
        <p:spPr>
          <a:xfrm>
            <a:off x="566928" y="1325880"/>
            <a:ext cx="109728" cy="109728"/>
          </a:xfrm>
          <a:prstGeom prst="ellipse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3"/>
          <p:cNvSpPr/>
          <p:nvPr/>
        </p:nvSpPr>
        <p:spPr>
          <a:xfrm>
            <a:off x="777240" y="12618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expérimental</a:t>
            </a:r>
            <a:endParaRPr lang="en-US" sz="1300" dirty="0"/>
          </a:p>
        </p:txBody>
      </p:sp>
      <p:sp>
        <p:nvSpPr>
          <p:cNvPr id="12" name="Text 4"/>
          <p:cNvSpPr/>
          <p:nvPr/>
        </p:nvSpPr>
        <p:spPr>
          <a:xfrm>
            <a:off x="777240" y="153619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une application utilisateur</a:t>
            </a:r>
            <a:endParaRPr lang="en-US" sz="1050" dirty="0"/>
          </a:p>
        </p:txBody>
      </p:sp>
      <p:sp>
        <p:nvSpPr>
          <p:cNvPr id="13" name="Shape 5"/>
          <p:cNvSpPr/>
          <p:nvPr/>
        </p:nvSpPr>
        <p:spPr>
          <a:xfrm>
            <a:off x="566928" y="2130552"/>
            <a:ext cx="109728" cy="109728"/>
          </a:xfrm>
          <a:prstGeom prst="ellipse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6"/>
          <p:cNvSpPr/>
          <p:nvPr/>
        </p:nvSpPr>
        <p:spPr>
          <a:xfrm>
            <a:off x="777240" y="206654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interface graphique</a:t>
            </a:r>
            <a:endParaRPr lang="en-US" sz="1300" dirty="0"/>
          </a:p>
        </p:txBody>
      </p:sp>
      <p:sp>
        <p:nvSpPr>
          <p:cNvPr id="15" name="Text 7"/>
          <p:cNvSpPr/>
          <p:nvPr/>
        </p:nvSpPr>
        <p:spPr>
          <a:xfrm>
            <a:off x="777240" y="234086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 = paramètres  ·  sortie = CSV</a:t>
            </a:r>
            <a:endParaRPr lang="en-US" sz="1050" dirty="0"/>
          </a:p>
        </p:txBody>
      </p:sp>
      <p:sp>
        <p:nvSpPr>
          <p:cNvPr id="16" name="Shape 8"/>
          <p:cNvSpPr/>
          <p:nvPr/>
        </p:nvSpPr>
        <p:spPr>
          <a:xfrm>
            <a:off x="566928" y="2935224"/>
            <a:ext cx="109728" cy="109728"/>
          </a:xfrm>
          <a:prstGeom prst="ellipse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9"/>
          <p:cNvSpPr/>
          <p:nvPr/>
        </p:nvSpPr>
        <p:spPr>
          <a:xfrm>
            <a:off x="777240" y="287121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Conçu pour isoler la variable matérielle</a:t>
            </a:r>
            <a:endParaRPr lang="en-US" sz="1300" dirty="0"/>
          </a:p>
        </p:txBody>
      </p:sp>
      <p:sp>
        <p:nvSpPr>
          <p:cNvPr id="18" name="Text 10"/>
          <p:cNvSpPr/>
          <p:nvPr/>
        </p:nvSpPr>
        <p:spPr>
          <a:xfrm>
            <a:off x="777240" y="314553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code, deux plateformes, résultats comparables</a:t>
            </a:r>
            <a:endParaRPr lang="en-US" sz="1050" dirty="0"/>
          </a:p>
        </p:txBody>
      </p:sp>
      <p:sp>
        <p:nvSpPr>
          <p:cNvPr id="19" name="Shape 11"/>
          <p:cNvSpPr/>
          <p:nvPr/>
        </p:nvSpPr>
        <p:spPr>
          <a:xfrm>
            <a:off x="566928" y="3840480"/>
            <a:ext cx="4160520" cy="640080"/>
          </a:xfrm>
          <a:prstGeom prst="roundRect">
            <a:avLst>
              <a:gd name="adj" fmla="val 8571"/>
            </a:avLst>
          </a:prstGeom>
          <a:solidFill>
            <a:srgbClr val="071A2E">
              <a:alpha val="95000"/>
            </a:srgbClr>
          </a:solidFill>
          <a:ln w="9525">
            <a:solidFill>
              <a:srgbClr val="0D3D5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2"/>
          <p:cNvSpPr/>
          <p:nvPr/>
        </p:nvSpPr>
        <p:spPr>
          <a:xfrm>
            <a:off x="713232" y="38404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Répétabilité garantie  </a:t>
            </a: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PyCryptodome délègue aux mêmes routines C compilées sur les deux OS. Les octets sont des octets.</a:t>
            </a:r>
            <a:endParaRPr lang="en-US" sz="95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822960"/>
            <a:ext cx="3493008" cy="447516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7626096" y="320040"/>
            <a:ext cx="1115568" cy="329184"/>
          </a:xfrm>
          <a:prstGeom prst="roundRect">
            <a:avLst>
              <a:gd name="adj" fmla="val 22222"/>
            </a:avLst>
          </a:prstGeom>
          <a:solidFill>
            <a:srgbClr val="15082E">
              <a:alpha val="90000"/>
            </a:srgbClr>
          </a:solidFill>
          <a:ln w="9525">
            <a:solidFill>
              <a:srgbClr val="9B6D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Text 14"/>
          <p:cNvSpPr/>
          <p:nvPr/>
        </p:nvSpPr>
        <p:spPr>
          <a:xfrm>
            <a:off x="7626096" y="310896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Vidéo 1</a:t>
            </a:r>
            <a:endParaRPr lang="en-US" sz="950" dirty="0"/>
          </a:p>
        </p:txBody>
      </p:sp>
      <p:sp>
        <p:nvSpPr>
          <p:cNvPr id="24" name="Text 15"/>
          <p:cNvSpPr/>
          <p:nvPr/>
        </p:nvSpPr>
        <p:spPr>
          <a:xfrm>
            <a:off x="1371600" y="482803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INF1430</a:t>
            </a:r>
            <a:r>
              <a:rPr lang="en-US" sz="850" kern="0" spc="100" dirty="0">
                <a:solidFill>
                  <a:srgbClr val="3A4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Université TÉLUQ  ·  TN3  ·  Melissa Moya  ·  2026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Image 0" descr="preencoded.png">
            <a:extLst>
              <a:ext uri="{FF2B5EF4-FFF2-40B4-BE49-F238E27FC236}">
                <a16:creationId xmlns:a16="http://schemas.microsoft.com/office/drawing/2014/main" id="{08921C68-C8FB-8C57-C8FD-8771C16054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55485"/>
          </a:xfrm>
          <a:prstGeom prst="rect">
            <a:avLst/>
          </a:prstGeom>
        </p:spPr>
      </p:pic>
      <p:sp>
        <p:nvSpPr>
          <p:cNvPr id="58" name="Shape 25">
            <a:extLst>
              <a:ext uri="{FF2B5EF4-FFF2-40B4-BE49-F238E27FC236}">
                <a16:creationId xmlns:a16="http://schemas.microsoft.com/office/drawing/2014/main" id="{F555185C-2087-E73B-BE2F-09E94FC9B077}"/>
              </a:ext>
            </a:extLst>
          </p:cNvPr>
          <p:cNvSpPr/>
          <p:nvPr/>
        </p:nvSpPr>
        <p:spPr>
          <a:xfrm>
            <a:off x="5594743" y="2182368"/>
            <a:ext cx="3218688" cy="713232"/>
          </a:xfrm>
          <a:prstGeom prst="roundRect">
            <a:avLst>
              <a:gd name="adj" fmla="val 8333"/>
            </a:avLst>
          </a:prstGeom>
          <a:solidFill>
            <a:srgbClr val="060F1E"/>
          </a:solidFill>
          <a:ln w="9525">
            <a:solidFill>
              <a:srgbClr val="0D3D5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4" name="Shape 25">
            <a:extLst>
              <a:ext uri="{FF2B5EF4-FFF2-40B4-BE49-F238E27FC236}">
                <a16:creationId xmlns:a16="http://schemas.microsoft.com/office/drawing/2014/main" id="{A90F0D4D-5301-A7F1-12CA-3CABBFC2BB96}"/>
              </a:ext>
            </a:extLst>
          </p:cNvPr>
          <p:cNvSpPr/>
          <p:nvPr/>
        </p:nvSpPr>
        <p:spPr>
          <a:xfrm>
            <a:off x="5596128" y="2176272"/>
            <a:ext cx="3218688" cy="713232"/>
          </a:xfrm>
          <a:prstGeom prst="roundRect">
            <a:avLst>
              <a:gd name="adj" fmla="val 8333"/>
            </a:avLst>
          </a:prstGeom>
          <a:solidFill>
            <a:srgbClr val="060F1E"/>
          </a:solidFill>
          <a:ln w="9525">
            <a:solidFill>
              <a:srgbClr val="0D3D5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201168"/>
            <a:ext cx="548640" cy="54864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8339328" y="201168"/>
            <a:ext cx="548640" cy="54864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256032" y="4393692"/>
            <a:ext cx="548640" cy="54864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 flipV="1">
            <a:off x="8339328" y="4393692"/>
            <a:ext cx="548640" cy="54864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566928" y="256032"/>
            <a:ext cx="256032" cy="256032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868680" y="256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r>
              <a:rPr lang="en-US" sz="1000" kern="0" spc="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 expérimental</a:t>
            </a:r>
            <a:endParaRPr lang="en-US" sz="1000" dirty="0"/>
          </a:p>
        </p:txBody>
      </p:sp>
      <p:sp>
        <p:nvSpPr>
          <p:cNvPr id="9" name="Text 1"/>
          <p:cNvSpPr/>
          <p:nvPr/>
        </p:nvSpPr>
        <p:spPr>
          <a:xfrm>
            <a:off x="566928" y="566928"/>
            <a:ext cx="5486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 expérimental</a:t>
            </a:r>
            <a:endParaRPr lang="en-US" sz="2600" dirty="0"/>
          </a:p>
        </p:txBody>
      </p:sp>
      <p:sp>
        <p:nvSpPr>
          <p:cNvPr id="10" name="Shape 2"/>
          <p:cNvSpPr/>
          <p:nvPr/>
        </p:nvSpPr>
        <p:spPr>
          <a:xfrm>
            <a:off x="566928" y="1298448"/>
            <a:ext cx="4754880" cy="420624"/>
          </a:xfrm>
          <a:prstGeom prst="roundRect">
            <a:avLst>
              <a:gd name="adj" fmla="val 8696"/>
            </a:avLst>
          </a:prstGeom>
          <a:solidFill>
            <a:srgbClr val="0D1E35"/>
          </a:solidFill>
          <a:ln w="635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3"/>
          <p:cNvSpPr/>
          <p:nvPr/>
        </p:nvSpPr>
        <p:spPr>
          <a:xfrm>
            <a:off x="2029968" y="12984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x86</a:t>
            </a:r>
            <a:endParaRPr lang="en-US" sz="1050" dirty="0"/>
          </a:p>
        </p:txBody>
      </p:sp>
      <p:sp>
        <p:nvSpPr>
          <p:cNvPr id="12" name="Text 4"/>
          <p:cNvSpPr/>
          <p:nvPr/>
        </p:nvSpPr>
        <p:spPr>
          <a:xfrm>
            <a:off x="3675888" y="12984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</a:t>
            </a:r>
            <a:endParaRPr lang="en-US" sz="1050" dirty="0"/>
          </a:p>
        </p:txBody>
      </p:sp>
      <p:sp>
        <p:nvSpPr>
          <p:cNvPr id="13" name="Shape 5"/>
          <p:cNvSpPr/>
          <p:nvPr/>
        </p:nvSpPr>
        <p:spPr>
          <a:xfrm>
            <a:off x="566928" y="1719072"/>
            <a:ext cx="4754880" cy="420624"/>
          </a:xfrm>
          <a:prstGeom prst="rect">
            <a:avLst/>
          </a:prstGeom>
          <a:solidFill>
            <a:srgbClr val="080D18"/>
          </a:solidFill>
          <a:ln w="6350">
            <a:solidFill>
              <a:srgbClr val="131F3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6"/>
          <p:cNvSpPr/>
          <p:nvPr/>
        </p:nvSpPr>
        <p:spPr>
          <a:xfrm>
            <a:off x="694944" y="1719072"/>
            <a:ext cx="1335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000" dirty="0"/>
          </a:p>
        </p:txBody>
      </p:sp>
      <p:sp>
        <p:nvSpPr>
          <p:cNvPr id="15" name="Text 7"/>
          <p:cNvSpPr/>
          <p:nvPr/>
        </p:nvSpPr>
        <p:spPr>
          <a:xfrm>
            <a:off x="2029968" y="1719072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Intel/AMD x86-64</a:t>
            </a:r>
            <a:endParaRPr lang="en-US" sz="1000" dirty="0"/>
          </a:p>
        </p:txBody>
      </p:sp>
      <p:sp>
        <p:nvSpPr>
          <p:cNvPr id="16" name="Text 8"/>
          <p:cNvSpPr/>
          <p:nvPr/>
        </p:nvSpPr>
        <p:spPr>
          <a:xfrm>
            <a:off x="3675888" y="1719072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Cortex-A</a:t>
            </a:r>
            <a:endParaRPr lang="en-US" sz="1000" dirty="0"/>
          </a:p>
        </p:txBody>
      </p:sp>
      <p:sp>
        <p:nvSpPr>
          <p:cNvPr id="17" name="Shape 9"/>
          <p:cNvSpPr/>
          <p:nvPr/>
        </p:nvSpPr>
        <p:spPr>
          <a:xfrm>
            <a:off x="566928" y="2139696"/>
            <a:ext cx="4754880" cy="420624"/>
          </a:xfrm>
          <a:prstGeom prst="rect">
            <a:avLst/>
          </a:prstGeom>
          <a:solidFill>
            <a:srgbClr val="0A1020"/>
          </a:solidFill>
          <a:ln w="6350">
            <a:solidFill>
              <a:srgbClr val="131F3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Text 10"/>
          <p:cNvSpPr/>
          <p:nvPr/>
        </p:nvSpPr>
        <p:spPr>
          <a:xfrm>
            <a:off x="694944" y="2139696"/>
            <a:ext cx="1335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endParaRPr lang="en-US" sz="1000" dirty="0"/>
          </a:p>
        </p:txBody>
      </p:sp>
      <p:sp>
        <p:nvSpPr>
          <p:cNvPr id="19" name="Text 11"/>
          <p:cNvSpPr/>
          <p:nvPr/>
        </p:nvSpPr>
        <p:spPr>
          <a:xfrm>
            <a:off x="2029968" y="213969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11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3675888" y="213969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OS</a:t>
            </a:r>
            <a:endParaRPr lang="en-US" sz="1000" dirty="0"/>
          </a:p>
        </p:txBody>
      </p:sp>
      <p:sp>
        <p:nvSpPr>
          <p:cNvPr id="21" name="Shape 13"/>
          <p:cNvSpPr/>
          <p:nvPr/>
        </p:nvSpPr>
        <p:spPr>
          <a:xfrm>
            <a:off x="566928" y="2560320"/>
            <a:ext cx="4754880" cy="420624"/>
          </a:xfrm>
          <a:prstGeom prst="rect">
            <a:avLst/>
          </a:prstGeom>
          <a:solidFill>
            <a:srgbClr val="071F0F"/>
          </a:solidFill>
          <a:ln w="6350">
            <a:solidFill>
              <a:srgbClr val="0F38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Text 14"/>
          <p:cNvSpPr/>
          <p:nvPr/>
        </p:nvSpPr>
        <p:spPr>
          <a:xfrm>
            <a:off x="694944" y="2560320"/>
            <a:ext cx="1335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EF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AES-NI</a:t>
            </a:r>
            <a:endParaRPr lang="en-US" sz="1000" dirty="0"/>
          </a:p>
        </p:txBody>
      </p:sp>
      <p:sp>
        <p:nvSpPr>
          <p:cNvPr id="23" name="Text 15"/>
          <p:cNvSpPr/>
          <p:nvPr/>
        </p:nvSpPr>
        <p:spPr>
          <a:xfrm>
            <a:off x="2029968" y="256032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DF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Oui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3675888" y="256032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Non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5" name="Shape 17"/>
          <p:cNvSpPr/>
          <p:nvPr/>
        </p:nvSpPr>
        <p:spPr>
          <a:xfrm>
            <a:off x="566928" y="2980944"/>
            <a:ext cx="4754880" cy="420624"/>
          </a:xfrm>
          <a:prstGeom prst="rect">
            <a:avLst/>
          </a:prstGeom>
          <a:solidFill>
            <a:srgbClr val="0A1020"/>
          </a:solidFill>
          <a:ln w="6350">
            <a:solidFill>
              <a:srgbClr val="131F3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Text 18"/>
          <p:cNvSpPr/>
          <p:nvPr/>
        </p:nvSpPr>
        <p:spPr>
          <a:xfrm>
            <a:off x="694944" y="2980944"/>
            <a:ext cx="1335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2029968" y="298094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 GB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3675888" y="298094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GB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566928" y="3401568"/>
            <a:ext cx="4754880" cy="420624"/>
          </a:xfrm>
          <a:prstGeom prst="rect">
            <a:avLst/>
          </a:prstGeom>
          <a:solidFill>
            <a:srgbClr val="080D18"/>
          </a:solidFill>
          <a:ln w="6350">
            <a:solidFill>
              <a:srgbClr val="131F3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0" name="Text 22"/>
          <p:cNvSpPr/>
          <p:nvPr/>
        </p:nvSpPr>
        <p:spPr>
          <a:xfrm>
            <a:off x="694944" y="3401568"/>
            <a:ext cx="1335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000" dirty="0"/>
          </a:p>
        </p:txBody>
      </p:sp>
      <p:sp>
        <p:nvSpPr>
          <p:cNvPr id="31" name="Text 23"/>
          <p:cNvSpPr/>
          <p:nvPr/>
        </p:nvSpPr>
        <p:spPr>
          <a:xfrm>
            <a:off x="2029968" y="340156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Multitâche</a:t>
            </a:r>
            <a:endParaRPr lang="en-US" sz="1000" dirty="0"/>
          </a:p>
        </p:txBody>
      </p:sp>
      <p:sp>
        <p:nvSpPr>
          <p:cNvPr id="32" name="Text 24"/>
          <p:cNvSpPr/>
          <p:nvPr/>
        </p:nvSpPr>
        <p:spPr>
          <a:xfrm>
            <a:off x="3675888" y="340156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Minimaliste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5596128" y="1316736"/>
            <a:ext cx="3218688" cy="713232"/>
          </a:xfrm>
          <a:prstGeom prst="roundRect">
            <a:avLst>
              <a:gd name="adj" fmla="val 8333"/>
            </a:avLst>
          </a:prstGeom>
          <a:solidFill>
            <a:srgbClr val="060F1E"/>
          </a:solidFill>
          <a:ln w="9525">
            <a:solidFill>
              <a:srgbClr val="0D3D5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4" name="Text 26"/>
          <p:cNvSpPr/>
          <p:nvPr/>
        </p:nvSpPr>
        <p:spPr>
          <a:xfrm>
            <a:off x="5982808" y="1341398"/>
            <a:ext cx="33777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35" name="Shape 27"/>
          <p:cNvSpPr/>
          <p:nvPr/>
        </p:nvSpPr>
        <p:spPr>
          <a:xfrm>
            <a:off x="6830568" y="1426464"/>
            <a:ext cx="0" cy="438912"/>
          </a:xfrm>
          <a:prstGeom prst="line">
            <a:avLst/>
          </a:prstGeom>
          <a:noFill/>
          <a:ln w="9525">
            <a:solidFill>
              <a:srgbClr val="0D3D5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6" name="Text 28"/>
          <p:cNvSpPr/>
          <p:nvPr/>
        </p:nvSpPr>
        <p:spPr>
          <a:xfrm>
            <a:off x="6986016" y="135331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algorithmes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6986016" y="164592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· DES · 3DES · Twofish · ChaCha20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6967728" y="246888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tailles : 64 B → 16 384 B</a:t>
            </a:r>
            <a:endParaRPr lang="en-US" sz="900" dirty="0"/>
          </a:p>
        </p:txBody>
      </p:sp>
      <p:sp>
        <p:nvSpPr>
          <p:cNvPr id="43" name="Shape 35"/>
          <p:cNvSpPr/>
          <p:nvPr/>
        </p:nvSpPr>
        <p:spPr>
          <a:xfrm>
            <a:off x="5596128" y="3102586"/>
            <a:ext cx="3218688" cy="737894"/>
          </a:xfrm>
          <a:prstGeom prst="roundRect">
            <a:avLst>
              <a:gd name="adj" fmla="val 8333"/>
            </a:avLst>
          </a:prstGeom>
          <a:solidFill>
            <a:srgbClr val="060F1E"/>
          </a:solidFill>
          <a:ln w="9525">
            <a:solidFill>
              <a:srgbClr val="0D3D5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4" name="Text 36"/>
          <p:cNvSpPr/>
          <p:nvPr/>
        </p:nvSpPr>
        <p:spPr>
          <a:xfrm>
            <a:off x="5824729" y="3157450"/>
            <a:ext cx="7772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3200" dirty="0"/>
          </a:p>
        </p:txBody>
      </p:sp>
      <p:sp>
        <p:nvSpPr>
          <p:cNvPr id="45" name="Shape 37"/>
          <p:cNvSpPr/>
          <p:nvPr/>
        </p:nvSpPr>
        <p:spPr>
          <a:xfrm>
            <a:off x="6830568" y="3291840"/>
            <a:ext cx="0" cy="438912"/>
          </a:xfrm>
          <a:prstGeom prst="line">
            <a:avLst/>
          </a:prstGeom>
          <a:noFill/>
          <a:ln w="9525">
            <a:solidFill>
              <a:srgbClr val="0D3D5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6" name="Text 38"/>
          <p:cNvSpPr/>
          <p:nvPr/>
        </p:nvSpPr>
        <p:spPr>
          <a:xfrm>
            <a:off x="6986016" y="321868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répétitions</a:t>
            </a:r>
            <a:endParaRPr lang="en-US" sz="1100" dirty="0"/>
          </a:p>
        </p:txBody>
      </p:sp>
      <p:sp>
        <p:nvSpPr>
          <p:cNvPr id="47" name="Text 39"/>
          <p:cNvSpPr/>
          <p:nvPr/>
        </p:nvSpPr>
        <p:spPr>
          <a:xfrm>
            <a:off x="6986016" y="351129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IC95 = 1.96 × σ/√n</a:t>
            </a:r>
            <a:endParaRPr lang="en-US" sz="900" dirty="0"/>
          </a:p>
        </p:txBody>
      </p:sp>
      <p:sp>
        <p:nvSpPr>
          <p:cNvPr id="48" name="Shape 40"/>
          <p:cNvSpPr/>
          <p:nvPr/>
        </p:nvSpPr>
        <p:spPr>
          <a:xfrm>
            <a:off x="566928" y="4016986"/>
            <a:ext cx="8321040" cy="521208"/>
          </a:xfrm>
          <a:prstGeom prst="roundRect">
            <a:avLst>
              <a:gd name="adj" fmla="val 9231"/>
            </a:avLst>
          </a:prstGeom>
          <a:solidFill>
            <a:srgbClr val="060F1E"/>
          </a:solidFill>
          <a:ln w="9525">
            <a:solidFill>
              <a:srgbClr val="0D3D5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9" name="Text 41"/>
          <p:cNvSpPr/>
          <p:nvPr/>
        </p:nvSpPr>
        <p:spPr>
          <a:xfrm>
            <a:off x="594360" y="3982212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100  </a:t>
            </a: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 au seuil où l'IC à 95 % se stabilise — au-delà, le gain de précision est marginal par rapport au coût CPU.</a:t>
            </a:r>
            <a:endParaRPr lang="en-US" sz="950" dirty="0"/>
          </a:p>
        </p:txBody>
      </p:sp>
      <p:sp>
        <p:nvSpPr>
          <p:cNvPr id="50" name="Shape 42"/>
          <p:cNvSpPr/>
          <p:nvPr/>
        </p:nvSpPr>
        <p:spPr>
          <a:xfrm>
            <a:off x="7626096" y="303552"/>
            <a:ext cx="1115568" cy="329184"/>
          </a:xfrm>
          <a:prstGeom prst="roundRect">
            <a:avLst>
              <a:gd name="adj" fmla="val 22222"/>
            </a:avLst>
          </a:prstGeom>
          <a:solidFill>
            <a:srgbClr val="060F1E">
              <a:alpha val="0"/>
            </a:srgbClr>
          </a:solidFill>
          <a:ln w="9525">
            <a:solidFill>
              <a:srgbClr val="00F5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1" name="Text 43"/>
          <p:cNvSpPr/>
          <p:nvPr/>
        </p:nvSpPr>
        <p:spPr>
          <a:xfrm>
            <a:off x="7626096" y="310896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Vidéo 2</a:t>
            </a:r>
            <a:endParaRPr lang="en-US" sz="950" dirty="0"/>
          </a:p>
        </p:txBody>
      </p:sp>
      <p:sp>
        <p:nvSpPr>
          <p:cNvPr id="52" name="Text 44"/>
          <p:cNvSpPr/>
          <p:nvPr/>
        </p:nvSpPr>
        <p:spPr>
          <a:xfrm>
            <a:off x="1371600" y="482803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INF1430</a:t>
            </a:r>
            <a:r>
              <a:rPr lang="en-US" sz="850" kern="0" spc="100" dirty="0">
                <a:solidFill>
                  <a:srgbClr val="3A4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Université TÉLUQ  ·  TN3  ·  Melissa Moya  ·  2026</a:t>
            </a:r>
            <a:endParaRPr lang="en-US" sz="850" dirty="0"/>
          </a:p>
        </p:txBody>
      </p:sp>
      <p:sp>
        <p:nvSpPr>
          <p:cNvPr id="56" name="Text 26">
            <a:extLst>
              <a:ext uri="{FF2B5EF4-FFF2-40B4-BE49-F238E27FC236}">
                <a16:creationId xmlns:a16="http://schemas.microsoft.com/office/drawing/2014/main" id="{B73F1408-6831-0EDC-A8FA-A01B38836ABB}"/>
              </a:ext>
            </a:extLst>
          </p:cNvPr>
          <p:cNvSpPr/>
          <p:nvPr/>
        </p:nvSpPr>
        <p:spPr>
          <a:xfrm>
            <a:off x="6007608" y="2272839"/>
            <a:ext cx="400117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F5FF"/>
                </a:solidFill>
                <a:latin typeface="Calibri" pitchFamily="34" charset="0"/>
                <a:cs typeface="Calibri" pitchFamily="34" charset="-120"/>
              </a:rPr>
              <a:t>8</a:t>
            </a:r>
            <a:endParaRPr lang="en-US" sz="3200" dirty="0"/>
          </a:p>
        </p:txBody>
      </p:sp>
      <p:sp>
        <p:nvSpPr>
          <p:cNvPr id="60" name="Text 28">
            <a:extLst>
              <a:ext uri="{FF2B5EF4-FFF2-40B4-BE49-F238E27FC236}">
                <a16:creationId xmlns:a16="http://schemas.microsoft.com/office/drawing/2014/main" id="{07D74010-1900-4FB9-33DD-48FD24C77291}"/>
              </a:ext>
            </a:extLst>
          </p:cNvPr>
          <p:cNvSpPr/>
          <p:nvPr/>
        </p:nvSpPr>
        <p:spPr>
          <a:xfrm>
            <a:off x="6986016" y="224554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paliers</a:t>
            </a:r>
            <a:endParaRPr lang="en-US" sz="1100" dirty="0"/>
          </a:p>
        </p:txBody>
      </p:sp>
      <p:sp>
        <p:nvSpPr>
          <p:cNvPr id="62" name="Shape 27">
            <a:extLst>
              <a:ext uri="{FF2B5EF4-FFF2-40B4-BE49-F238E27FC236}">
                <a16:creationId xmlns:a16="http://schemas.microsoft.com/office/drawing/2014/main" id="{D1B297C4-A98C-30DA-8D0F-4D99C33E70E9}"/>
              </a:ext>
            </a:extLst>
          </p:cNvPr>
          <p:cNvSpPr/>
          <p:nvPr/>
        </p:nvSpPr>
        <p:spPr>
          <a:xfrm>
            <a:off x="6830568" y="2340864"/>
            <a:ext cx="0" cy="438912"/>
          </a:xfrm>
          <a:prstGeom prst="line">
            <a:avLst/>
          </a:prstGeom>
          <a:noFill/>
          <a:ln w="9525">
            <a:solidFill>
              <a:srgbClr val="0D3D5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201168"/>
            <a:ext cx="548640" cy="54864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8339328" y="201168"/>
            <a:ext cx="548640" cy="54864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256032" y="4393692"/>
            <a:ext cx="548640" cy="54864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 flipV="1">
            <a:off x="8339328" y="4393692"/>
            <a:ext cx="548640" cy="54864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566928" y="256032"/>
            <a:ext cx="256032" cy="256032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868680" y="256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r>
              <a:rPr lang="en-US" sz="1000" kern="0" spc="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 expérimental</a:t>
            </a:r>
            <a:endParaRPr lang="en-US" sz="1000" dirty="0"/>
          </a:p>
        </p:txBody>
      </p:sp>
      <p:sp>
        <p:nvSpPr>
          <p:cNvPr id="9" name="Text 1"/>
          <p:cNvSpPr/>
          <p:nvPr/>
        </p:nvSpPr>
        <p:spPr>
          <a:xfrm>
            <a:off x="566928" y="566928"/>
            <a:ext cx="6400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Python ?</a:t>
            </a:r>
            <a:endParaRPr lang="en-US" sz="2600" dirty="0"/>
          </a:p>
        </p:txBody>
      </p:sp>
      <p:sp>
        <p:nvSpPr>
          <p:cNvPr id="10" name="Shape 2"/>
          <p:cNvSpPr/>
          <p:nvPr/>
        </p:nvSpPr>
        <p:spPr>
          <a:xfrm>
            <a:off x="566928" y="1261872"/>
            <a:ext cx="8138160" cy="420624"/>
          </a:xfrm>
          <a:prstGeom prst="roundRect">
            <a:avLst>
              <a:gd name="adj" fmla="val 8696"/>
            </a:avLst>
          </a:prstGeom>
          <a:solidFill>
            <a:srgbClr val="0D1E35"/>
          </a:solidFill>
          <a:ln w="635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Shape 3"/>
          <p:cNvSpPr/>
          <p:nvPr/>
        </p:nvSpPr>
        <p:spPr>
          <a:xfrm>
            <a:off x="2944368" y="1261872"/>
            <a:ext cx="1920240" cy="2523744"/>
          </a:xfrm>
          <a:prstGeom prst="rect">
            <a:avLst/>
          </a:prstGeom>
          <a:solidFill>
            <a:srgbClr val="061A28"/>
          </a:solidFill>
          <a:ln w="12700">
            <a:solidFill>
              <a:srgbClr val="0D406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4"/>
          <p:cNvSpPr/>
          <p:nvPr/>
        </p:nvSpPr>
        <p:spPr>
          <a:xfrm>
            <a:off x="566928" y="1261872"/>
            <a:ext cx="2377440" cy="420624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</a:t>
            </a:r>
            <a:endParaRPr lang="en-US" sz="1100" dirty="0"/>
          </a:p>
        </p:txBody>
      </p:sp>
      <p:sp>
        <p:nvSpPr>
          <p:cNvPr id="13" name="Text 5"/>
          <p:cNvSpPr/>
          <p:nvPr/>
        </p:nvSpPr>
        <p:spPr>
          <a:xfrm>
            <a:off x="2944368" y="126187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14" name="Text 6"/>
          <p:cNvSpPr/>
          <p:nvPr/>
        </p:nvSpPr>
        <p:spPr>
          <a:xfrm>
            <a:off x="4864608" y="126187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</a:t>
            </a:r>
            <a:endParaRPr lang="en-US" sz="1100" dirty="0"/>
          </a:p>
        </p:txBody>
      </p:sp>
      <p:sp>
        <p:nvSpPr>
          <p:cNvPr id="15" name="Text 7"/>
          <p:cNvSpPr/>
          <p:nvPr/>
        </p:nvSpPr>
        <p:spPr>
          <a:xfrm>
            <a:off x="6784848" y="126187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100" dirty="0"/>
          </a:p>
        </p:txBody>
      </p:sp>
      <p:sp>
        <p:nvSpPr>
          <p:cNvPr id="16" name="Shape 8"/>
          <p:cNvSpPr/>
          <p:nvPr/>
        </p:nvSpPr>
        <p:spPr>
          <a:xfrm>
            <a:off x="566928" y="1682496"/>
            <a:ext cx="2377440" cy="420624"/>
          </a:xfrm>
          <a:prstGeom prst="rect">
            <a:avLst/>
          </a:prstGeom>
          <a:solidFill>
            <a:srgbClr val="060B14"/>
          </a:solidFill>
          <a:ln w="6350">
            <a:solidFill>
              <a:srgbClr val="0F1E3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Shape 9"/>
          <p:cNvSpPr/>
          <p:nvPr/>
        </p:nvSpPr>
        <p:spPr>
          <a:xfrm>
            <a:off x="4864608" y="1682496"/>
            <a:ext cx="1920240" cy="420624"/>
          </a:xfrm>
          <a:prstGeom prst="rect">
            <a:avLst/>
          </a:prstGeom>
          <a:solidFill>
            <a:srgbClr val="060B14"/>
          </a:solidFill>
          <a:ln w="6350">
            <a:solidFill>
              <a:srgbClr val="0F1E3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Shape 10"/>
          <p:cNvSpPr/>
          <p:nvPr/>
        </p:nvSpPr>
        <p:spPr>
          <a:xfrm>
            <a:off x="6784848" y="1682496"/>
            <a:ext cx="1920240" cy="420624"/>
          </a:xfrm>
          <a:prstGeom prst="rect">
            <a:avLst/>
          </a:prstGeom>
          <a:solidFill>
            <a:srgbClr val="060B14"/>
          </a:solidFill>
          <a:ln w="6350">
            <a:solidFill>
              <a:srgbClr val="0F1E3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Shape 11"/>
          <p:cNvSpPr/>
          <p:nvPr/>
        </p:nvSpPr>
        <p:spPr>
          <a:xfrm>
            <a:off x="2944368" y="1682496"/>
            <a:ext cx="1920240" cy="420624"/>
          </a:xfrm>
          <a:prstGeom prst="rect">
            <a:avLst/>
          </a:prstGeom>
          <a:solidFill>
            <a:srgbClr val="061522"/>
          </a:solidFill>
          <a:ln w="6350">
            <a:solidFill>
              <a:srgbClr val="0D3A5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2"/>
          <p:cNvSpPr/>
          <p:nvPr/>
        </p:nvSpPr>
        <p:spPr>
          <a:xfrm>
            <a:off x="694944" y="1682496"/>
            <a:ext cx="2249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brute</a:t>
            </a:r>
            <a:endParaRPr lang="en-US" sz="950" dirty="0"/>
          </a:p>
        </p:txBody>
      </p:sp>
      <p:sp>
        <p:nvSpPr>
          <p:cNvPr id="21" name="Text 13"/>
          <p:cNvSpPr/>
          <p:nvPr/>
        </p:nvSpPr>
        <p:spPr>
          <a:xfrm>
            <a:off x="2944368" y="1682496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Moyenne</a:t>
            </a:r>
            <a:endParaRPr lang="en-US" sz="950" dirty="0"/>
          </a:p>
        </p:txBody>
      </p:sp>
      <p:sp>
        <p:nvSpPr>
          <p:cNvPr id="22" name="Text 14"/>
          <p:cNvSpPr/>
          <p:nvPr/>
        </p:nvSpPr>
        <p:spPr>
          <a:xfrm>
            <a:off x="4864608" y="1682496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F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Élevée</a:t>
            </a:r>
            <a:endParaRPr lang="en-US" sz="950" dirty="0"/>
          </a:p>
        </p:txBody>
      </p:sp>
      <p:sp>
        <p:nvSpPr>
          <p:cNvPr id="23" name="Text 15"/>
          <p:cNvSpPr/>
          <p:nvPr/>
        </p:nvSpPr>
        <p:spPr>
          <a:xfrm>
            <a:off x="6784848" y="1682496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Moyenne</a:t>
            </a:r>
            <a:endParaRPr lang="en-US" sz="950" dirty="0"/>
          </a:p>
        </p:txBody>
      </p:sp>
      <p:sp>
        <p:nvSpPr>
          <p:cNvPr id="24" name="Shape 16"/>
          <p:cNvSpPr/>
          <p:nvPr/>
        </p:nvSpPr>
        <p:spPr>
          <a:xfrm>
            <a:off x="566928" y="2103120"/>
            <a:ext cx="2377440" cy="420624"/>
          </a:xfrm>
          <a:prstGeom prst="rect">
            <a:avLst/>
          </a:prstGeom>
          <a:solidFill>
            <a:srgbClr val="080D18"/>
          </a:solidFill>
          <a:ln w="6350">
            <a:solidFill>
              <a:srgbClr val="0F1E3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Shape 17"/>
          <p:cNvSpPr/>
          <p:nvPr/>
        </p:nvSpPr>
        <p:spPr>
          <a:xfrm>
            <a:off x="4864608" y="2103120"/>
            <a:ext cx="1920240" cy="420624"/>
          </a:xfrm>
          <a:prstGeom prst="rect">
            <a:avLst/>
          </a:prstGeom>
          <a:solidFill>
            <a:srgbClr val="080D18"/>
          </a:solidFill>
          <a:ln w="6350">
            <a:solidFill>
              <a:srgbClr val="0F1E3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Shape 18"/>
          <p:cNvSpPr/>
          <p:nvPr/>
        </p:nvSpPr>
        <p:spPr>
          <a:xfrm>
            <a:off x="6784848" y="2103120"/>
            <a:ext cx="1920240" cy="420624"/>
          </a:xfrm>
          <a:prstGeom prst="rect">
            <a:avLst/>
          </a:prstGeom>
          <a:solidFill>
            <a:srgbClr val="080D18"/>
          </a:solidFill>
          <a:ln w="6350">
            <a:solidFill>
              <a:srgbClr val="0F1E3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7" name="Shape 19"/>
          <p:cNvSpPr/>
          <p:nvPr/>
        </p:nvSpPr>
        <p:spPr>
          <a:xfrm>
            <a:off x="2944368" y="2103120"/>
            <a:ext cx="1920240" cy="420624"/>
          </a:xfrm>
          <a:prstGeom prst="rect">
            <a:avLst/>
          </a:prstGeom>
          <a:solidFill>
            <a:srgbClr val="071828"/>
          </a:solidFill>
          <a:ln w="6350">
            <a:solidFill>
              <a:srgbClr val="0D3A5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Text 20"/>
          <p:cNvSpPr/>
          <p:nvPr/>
        </p:nvSpPr>
        <p:spPr>
          <a:xfrm>
            <a:off x="694944" y="2103120"/>
            <a:ext cx="2249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Biais d'optimisation</a:t>
            </a:r>
            <a:endParaRPr lang="en-US" sz="950" dirty="0"/>
          </a:p>
        </p:txBody>
      </p:sp>
      <p:sp>
        <p:nvSpPr>
          <p:cNvPr id="29" name="Text 21"/>
          <p:cNvSpPr/>
          <p:nvPr/>
        </p:nvSpPr>
        <p:spPr>
          <a:xfrm>
            <a:off x="2944368" y="210312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Faible</a:t>
            </a:r>
            <a:endParaRPr lang="en-US" sz="950" dirty="0"/>
          </a:p>
        </p:txBody>
      </p:sp>
      <p:sp>
        <p:nvSpPr>
          <p:cNvPr id="30" name="Text 22"/>
          <p:cNvSpPr/>
          <p:nvPr/>
        </p:nvSpPr>
        <p:spPr>
          <a:xfrm>
            <a:off x="4864608" y="210312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Compilateur</a:t>
            </a:r>
            <a:endParaRPr lang="en-US" sz="950" dirty="0"/>
          </a:p>
        </p:txBody>
      </p:sp>
      <p:sp>
        <p:nvSpPr>
          <p:cNvPr id="31" name="Text 23"/>
          <p:cNvSpPr/>
          <p:nvPr/>
        </p:nvSpPr>
        <p:spPr>
          <a:xfrm>
            <a:off x="6784848" y="210312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JIT / JVM</a:t>
            </a:r>
            <a:endParaRPr lang="en-US" sz="950" dirty="0"/>
          </a:p>
        </p:txBody>
      </p:sp>
      <p:sp>
        <p:nvSpPr>
          <p:cNvPr id="32" name="Shape 24"/>
          <p:cNvSpPr/>
          <p:nvPr/>
        </p:nvSpPr>
        <p:spPr>
          <a:xfrm>
            <a:off x="566928" y="2523744"/>
            <a:ext cx="2377440" cy="420624"/>
          </a:xfrm>
          <a:prstGeom prst="rect">
            <a:avLst/>
          </a:prstGeom>
          <a:solidFill>
            <a:srgbClr val="060B14"/>
          </a:solidFill>
          <a:ln w="6350">
            <a:solidFill>
              <a:srgbClr val="0F1E3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3" name="Shape 25"/>
          <p:cNvSpPr/>
          <p:nvPr/>
        </p:nvSpPr>
        <p:spPr>
          <a:xfrm>
            <a:off x="4864608" y="2523744"/>
            <a:ext cx="1920240" cy="420624"/>
          </a:xfrm>
          <a:prstGeom prst="rect">
            <a:avLst/>
          </a:prstGeom>
          <a:solidFill>
            <a:srgbClr val="060B14"/>
          </a:solidFill>
          <a:ln w="6350">
            <a:solidFill>
              <a:srgbClr val="0F1E3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4" name="Shape 26"/>
          <p:cNvSpPr/>
          <p:nvPr/>
        </p:nvSpPr>
        <p:spPr>
          <a:xfrm>
            <a:off x="6784848" y="2523744"/>
            <a:ext cx="1920240" cy="420624"/>
          </a:xfrm>
          <a:prstGeom prst="rect">
            <a:avLst/>
          </a:prstGeom>
          <a:solidFill>
            <a:srgbClr val="060B14"/>
          </a:solidFill>
          <a:ln w="6350">
            <a:solidFill>
              <a:srgbClr val="0F1E3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5" name="Shape 27"/>
          <p:cNvSpPr/>
          <p:nvPr/>
        </p:nvSpPr>
        <p:spPr>
          <a:xfrm>
            <a:off x="2944368" y="2523744"/>
            <a:ext cx="1920240" cy="420624"/>
          </a:xfrm>
          <a:prstGeom prst="rect">
            <a:avLst/>
          </a:prstGeom>
          <a:solidFill>
            <a:srgbClr val="061522"/>
          </a:solidFill>
          <a:ln w="6350">
            <a:solidFill>
              <a:srgbClr val="0D3A5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6" name="Text 28"/>
          <p:cNvSpPr/>
          <p:nvPr/>
        </p:nvSpPr>
        <p:spPr>
          <a:xfrm>
            <a:off x="694944" y="2523744"/>
            <a:ext cx="2249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Reproductibilité inter-plateformes</a:t>
            </a:r>
            <a:endParaRPr lang="en-US" sz="950" dirty="0"/>
          </a:p>
        </p:txBody>
      </p:sp>
      <p:sp>
        <p:nvSpPr>
          <p:cNvPr id="37" name="Text 29"/>
          <p:cNvSpPr/>
          <p:nvPr/>
        </p:nvSpPr>
        <p:spPr>
          <a:xfrm>
            <a:off x="2944368" y="252374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Excellente</a:t>
            </a:r>
            <a:endParaRPr lang="en-US" sz="950" dirty="0"/>
          </a:p>
        </p:txBody>
      </p:sp>
      <p:sp>
        <p:nvSpPr>
          <p:cNvPr id="38" name="Text 30"/>
          <p:cNvSpPr/>
          <p:nvPr/>
        </p:nvSpPr>
        <p:spPr>
          <a:xfrm>
            <a:off x="4864608" y="252374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Variable</a:t>
            </a:r>
            <a:endParaRPr lang="en-US" sz="950" dirty="0"/>
          </a:p>
        </p:txBody>
      </p:sp>
      <p:sp>
        <p:nvSpPr>
          <p:cNvPr id="39" name="Text 31"/>
          <p:cNvSpPr/>
          <p:nvPr/>
        </p:nvSpPr>
        <p:spPr>
          <a:xfrm>
            <a:off x="6784848" y="252374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Variable</a:t>
            </a:r>
            <a:endParaRPr lang="en-US" sz="950" dirty="0"/>
          </a:p>
        </p:txBody>
      </p:sp>
      <p:sp>
        <p:nvSpPr>
          <p:cNvPr id="40" name="Shape 32"/>
          <p:cNvSpPr/>
          <p:nvPr/>
        </p:nvSpPr>
        <p:spPr>
          <a:xfrm>
            <a:off x="566928" y="2944368"/>
            <a:ext cx="2377440" cy="420624"/>
          </a:xfrm>
          <a:prstGeom prst="rect">
            <a:avLst/>
          </a:prstGeom>
          <a:solidFill>
            <a:srgbClr val="080D18"/>
          </a:solidFill>
          <a:ln w="6350">
            <a:solidFill>
              <a:srgbClr val="0F1E3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1" name="Shape 33"/>
          <p:cNvSpPr/>
          <p:nvPr/>
        </p:nvSpPr>
        <p:spPr>
          <a:xfrm>
            <a:off x="4864608" y="2944368"/>
            <a:ext cx="1920240" cy="420624"/>
          </a:xfrm>
          <a:prstGeom prst="rect">
            <a:avLst/>
          </a:prstGeom>
          <a:solidFill>
            <a:srgbClr val="080D18"/>
          </a:solidFill>
          <a:ln w="6350">
            <a:solidFill>
              <a:srgbClr val="0F1E3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2" name="Shape 34"/>
          <p:cNvSpPr/>
          <p:nvPr/>
        </p:nvSpPr>
        <p:spPr>
          <a:xfrm>
            <a:off x="6784848" y="2944368"/>
            <a:ext cx="1920240" cy="420624"/>
          </a:xfrm>
          <a:prstGeom prst="rect">
            <a:avLst/>
          </a:prstGeom>
          <a:solidFill>
            <a:srgbClr val="080D18"/>
          </a:solidFill>
          <a:ln w="6350">
            <a:solidFill>
              <a:srgbClr val="0F1E3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3" name="Shape 35"/>
          <p:cNvSpPr/>
          <p:nvPr/>
        </p:nvSpPr>
        <p:spPr>
          <a:xfrm>
            <a:off x="2944368" y="2944368"/>
            <a:ext cx="1920240" cy="420624"/>
          </a:xfrm>
          <a:prstGeom prst="rect">
            <a:avLst/>
          </a:prstGeom>
          <a:solidFill>
            <a:srgbClr val="071828"/>
          </a:solidFill>
          <a:ln w="6350">
            <a:solidFill>
              <a:srgbClr val="0D3A5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4" name="Text 36"/>
          <p:cNvSpPr/>
          <p:nvPr/>
        </p:nvSpPr>
        <p:spPr>
          <a:xfrm>
            <a:off x="694944" y="2944368"/>
            <a:ext cx="2249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primitives bas niveau</a:t>
            </a:r>
            <a:endParaRPr lang="en-US" sz="950" dirty="0"/>
          </a:p>
        </p:txBody>
      </p:sp>
      <p:sp>
        <p:nvSpPr>
          <p:cNvPr id="45" name="Text 37"/>
          <p:cNvSpPr/>
          <p:nvPr/>
        </p:nvSpPr>
        <p:spPr>
          <a:xfrm>
            <a:off x="2944368" y="294436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Via PyCryptodome</a:t>
            </a:r>
            <a:endParaRPr lang="en-US" sz="950" dirty="0"/>
          </a:p>
        </p:txBody>
      </p:sp>
      <p:sp>
        <p:nvSpPr>
          <p:cNvPr id="46" name="Text 38"/>
          <p:cNvSpPr/>
          <p:nvPr/>
        </p:nvSpPr>
        <p:spPr>
          <a:xfrm>
            <a:off x="4864608" y="294436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F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Direct</a:t>
            </a:r>
            <a:endParaRPr lang="en-US" sz="950" dirty="0"/>
          </a:p>
        </p:txBody>
      </p:sp>
      <p:sp>
        <p:nvSpPr>
          <p:cNvPr id="47" name="Text 39"/>
          <p:cNvSpPr/>
          <p:nvPr/>
        </p:nvSpPr>
        <p:spPr>
          <a:xfrm>
            <a:off x="6784848" y="294436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Limité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566928" y="3364992"/>
            <a:ext cx="2377440" cy="420624"/>
          </a:xfrm>
          <a:prstGeom prst="rect">
            <a:avLst/>
          </a:prstGeom>
          <a:solidFill>
            <a:srgbClr val="060B14"/>
          </a:solidFill>
          <a:ln w="6350">
            <a:solidFill>
              <a:srgbClr val="0F1E3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9" name="Shape 41"/>
          <p:cNvSpPr/>
          <p:nvPr/>
        </p:nvSpPr>
        <p:spPr>
          <a:xfrm>
            <a:off x="4864608" y="3364992"/>
            <a:ext cx="1920240" cy="420624"/>
          </a:xfrm>
          <a:prstGeom prst="rect">
            <a:avLst/>
          </a:prstGeom>
          <a:solidFill>
            <a:srgbClr val="060B14"/>
          </a:solidFill>
          <a:ln w="6350">
            <a:solidFill>
              <a:srgbClr val="0F1E3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0" name="Shape 42"/>
          <p:cNvSpPr/>
          <p:nvPr/>
        </p:nvSpPr>
        <p:spPr>
          <a:xfrm>
            <a:off x="6784848" y="3364992"/>
            <a:ext cx="1920240" cy="420624"/>
          </a:xfrm>
          <a:prstGeom prst="rect">
            <a:avLst/>
          </a:prstGeom>
          <a:solidFill>
            <a:srgbClr val="060B14"/>
          </a:solidFill>
          <a:ln w="6350">
            <a:solidFill>
              <a:srgbClr val="0F1E3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1" name="Shape 43"/>
          <p:cNvSpPr/>
          <p:nvPr/>
        </p:nvSpPr>
        <p:spPr>
          <a:xfrm>
            <a:off x="2944368" y="3364992"/>
            <a:ext cx="1920240" cy="420624"/>
          </a:xfrm>
          <a:prstGeom prst="rect">
            <a:avLst/>
          </a:prstGeom>
          <a:solidFill>
            <a:srgbClr val="061522"/>
          </a:solidFill>
          <a:ln w="6350">
            <a:solidFill>
              <a:srgbClr val="0D3A5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2" name="Text 44"/>
          <p:cNvSpPr/>
          <p:nvPr/>
        </p:nvSpPr>
        <p:spPr>
          <a:xfrm>
            <a:off x="694944" y="3364992"/>
            <a:ext cx="2249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Encodage des données</a:t>
            </a:r>
            <a:endParaRPr lang="en-US" sz="950" dirty="0"/>
          </a:p>
        </p:txBody>
      </p:sp>
      <p:sp>
        <p:nvSpPr>
          <p:cNvPr id="53" name="Text 45"/>
          <p:cNvSpPr/>
          <p:nvPr/>
        </p:nvSpPr>
        <p:spPr>
          <a:xfrm>
            <a:off x="2944368" y="336499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bytes bruts</a:t>
            </a:r>
            <a:endParaRPr lang="en-US" sz="950" dirty="0"/>
          </a:p>
        </p:txBody>
      </p:sp>
      <p:sp>
        <p:nvSpPr>
          <p:cNvPr id="54" name="Text 46"/>
          <p:cNvSpPr/>
          <p:nvPr/>
        </p:nvSpPr>
        <p:spPr>
          <a:xfrm>
            <a:off x="4864608" y="336499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F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Contrôlable</a:t>
            </a:r>
            <a:endParaRPr lang="en-US" sz="950" dirty="0"/>
          </a:p>
        </p:txBody>
      </p:sp>
      <p:sp>
        <p:nvSpPr>
          <p:cNvPr id="55" name="Text 47"/>
          <p:cNvSpPr/>
          <p:nvPr/>
        </p:nvSpPr>
        <p:spPr>
          <a:xfrm>
            <a:off x="6784848" y="336499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JVM dépendant</a:t>
            </a:r>
            <a:endParaRPr lang="en-US" sz="950" dirty="0"/>
          </a:p>
        </p:txBody>
      </p:sp>
      <p:sp>
        <p:nvSpPr>
          <p:cNvPr id="56" name="Shape 48"/>
          <p:cNvSpPr/>
          <p:nvPr/>
        </p:nvSpPr>
        <p:spPr>
          <a:xfrm>
            <a:off x="566928" y="3822192"/>
            <a:ext cx="4005072" cy="621792"/>
          </a:xfrm>
          <a:prstGeom prst="roundRect">
            <a:avLst>
              <a:gd name="adj" fmla="val 8824"/>
            </a:avLst>
          </a:prstGeom>
          <a:solidFill>
            <a:srgbClr val="060F1E"/>
          </a:solidFill>
          <a:ln w="9525">
            <a:solidFill>
              <a:srgbClr val="0D3D5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7" name="Text 49"/>
          <p:cNvSpPr/>
          <p:nvPr/>
        </p:nvSpPr>
        <p:spPr>
          <a:xfrm>
            <a:off x="713232" y="3822192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C++  </a:t>
            </a: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C++ aurait mesuré les optimisations du compilateur autant que les algorithmes. L'objectif est de comparer les algos entre plateformes, pas les compilateurs.</a:t>
            </a:r>
            <a:endParaRPr lang="en-US" sz="900" dirty="0"/>
          </a:p>
        </p:txBody>
      </p:sp>
      <p:sp>
        <p:nvSpPr>
          <p:cNvPr id="58" name="Shape 50"/>
          <p:cNvSpPr/>
          <p:nvPr/>
        </p:nvSpPr>
        <p:spPr>
          <a:xfrm>
            <a:off x="4791456" y="3822192"/>
            <a:ext cx="4005072" cy="621792"/>
          </a:xfrm>
          <a:prstGeom prst="roundRect">
            <a:avLst>
              <a:gd name="adj" fmla="val 8824"/>
            </a:avLst>
          </a:prstGeom>
          <a:solidFill>
            <a:srgbClr val="060F1E"/>
          </a:solidFill>
          <a:ln w="9525">
            <a:solidFill>
              <a:srgbClr val="0D3D5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9" name="Text 51"/>
          <p:cNvSpPr/>
          <p:nvPr/>
        </p:nvSpPr>
        <p:spPr>
          <a:xfrm>
            <a:off x="4937760" y="3822192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l'encodage  </a:t>
            </a: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Messages générés en bytes bruts via os.urandom() — aucune conversion str/unicode, aucun biais Linux/Windows possible.</a:t>
            </a:r>
            <a:endParaRPr lang="en-US" sz="900" dirty="0"/>
          </a:p>
        </p:txBody>
      </p:sp>
      <p:sp>
        <p:nvSpPr>
          <p:cNvPr id="60" name="Text 52"/>
          <p:cNvSpPr/>
          <p:nvPr/>
        </p:nvSpPr>
        <p:spPr>
          <a:xfrm>
            <a:off x="1371600" y="482803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INF1430</a:t>
            </a:r>
            <a:r>
              <a:rPr lang="en-US" sz="850" kern="0" spc="100" dirty="0">
                <a:solidFill>
                  <a:srgbClr val="3A4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Université TÉLUQ  ·  TN3  ·  Melissa Moya  ·  2026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201168"/>
            <a:ext cx="548640" cy="54864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8339328" y="201168"/>
            <a:ext cx="548640" cy="54864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256032" y="4393692"/>
            <a:ext cx="548640" cy="54864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 flipV="1">
            <a:off x="8339328" y="4393692"/>
            <a:ext cx="548640" cy="54864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566928" y="256032"/>
            <a:ext cx="256032" cy="256032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868680" y="256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r>
              <a:rPr lang="en-US" sz="1000" kern="0" spc="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fonctionnelle</a:t>
            </a:r>
            <a:endParaRPr lang="en-US" sz="1000" dirty="0"/>
          </a:p>
        </p:txBody>
      </p:sp>
      <p:sp>
        <p:nvSpPr>
          <p:cNvPr id="9" name="Text 1"/>
          <p:cNvSpPr/>
          <p:nvPr/>
        </p:nvSpPr>
        <p:spPr>
          <a:xfrm>
            <a:off x="566928" y="566928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Answer Tests — KAT</a:t>
            </a:r>
            <a:endParaRPr lang="en-US" sz="2600" dirty="0"/>
          </a:p>
        </p:txBody>
      </p:sp>
      <p:sp>
        <p:nvSpPr>
          <p:cNvPr id="10" name="Text 2"/>
          <p:cNvSpPr/>
          <p:nvPr/>
        </p:nvSpPr>
        <p:spPr>
          <a:xfrm>
            <a:off x="566928" y="107899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toute mesure de performance : prouver que les implémentations sont correctes.</a:t>
            </a:r>
            <a:endParaRPr lang="en-US" sz="1050" dirty="0"/>
          </a:p>
        </p:txBody>
      </p:sp>
      <p:sp>
        <p:nvSpPr>
          <p:cNvPr id="11" name="Shape 3"/>
          <p:cNvSpPr/>
          <p:nvPr/>
        </p:nvSpPr>
        <p:spPr>
          <a:xfrm>
            <a:off x="566927" y="1389888"/>
            <a:ext cx="7706215" cy="384048"/>
          </a:xfrm>
          <a:prstGeom prst="roundRect">
            <a:avLst>
              <a:gd name="adj" fmla="val 9524"/>
            </a:avLst>
          </a:prstGeom>
          <a:solidFill>
            <a:srgbClr val="0D1E35"/>
          </a:solidFill>
          <a:ln w="635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4"/>
          <p:cNvSpPr/>
          <p:nvPr/>
        </p:nvSpPr>
        <p:spPr>
          <a:xfrm>
            <a:off x="694944" y="138988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</a:t>
            </a:r>
            <a:endParaRPr lang="en-US" sz="1050" dirty="0"/>
          </a:p>
        </p:txBody>
      </p:sp>
      <p:sp>
        <p:nvSpPr>
          <p:cNvPr id="13" name="Text 5"/>
          <p:cNvSpPr/>
          <p:nvPr/>
        </p:nvSpPr>
        <p:spPr>
          <a:xfrm>
            <a:off x="1938528" y="138988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050" dirty="0"/>
          </a:p>
        </p:txBody>
      </p:sp>
      <p:sp>
        <p:nvSpPr>
          <p:cNvPr id="14" name="Text 6"/>
          <p:cNvSpPr/>
          <p:nvPr/>
        </p:nvSpPr>
        <p:spPr>
          <a:xfrm>
            <a:off x="3310128" y="138988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 NIST/RFC</a:t>
            </a:r>
            <a:endParaRPr lang="en-US" sz="1050" dirty="0"/>
          </a:p>
        </p:txBody>
      </p:sp>
      <p:sp>
        <p:nvSpPr>
          <p:cNvPr id="15" name="Text 7"/>
          <p:cNvSpPr/>
          <p:nvPr/>
        </p:nvSpPr>
        <p:spPr>
          <a:xfrm>
            <a:off x="6236208" y="13898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</a:t>
            </a:r>
            <a:endParaRPr lang="en-US" sz="1050" dirty="0"/>
          </a:p>
        </p:txBody>
      </p:sp>
      <p:sp>
        <p:nvSpPr>
          <p:cNvPr id="16" name="Shape 8"/>
          <p:cNvSpPr/>
          <p:nvPr/>
        </p:nvSpPr>
        <p:spPr>
          <a:xfrm>
            <a:off x="566928" y="1773936"/>
            <a:ext cx="7706214" cy="384048"/>
          </a:xfrm>
          <a:prstGeom prst="rect">
            <a:avLst/>
          </a:prstGeom>
          <a:solidFill>
            <a:srgbClr val="080F1E"/>
          </a:solidFill>
          <a:ln w="6350">
            <a:solidFill>
              <a:srgbClr val="0F1E3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9"/>
          <p:cNvSpPr/>
          <p:nvPr/>
        </p:nvSpPr>
        <p:spPr>
          <a:xfrm>
            <a:off x="694944" y="177393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AES-128</a:t>
            </a:r>
            <a:endParaRPr lang="en-US" sz="1100" dirty="0"/>
          </a:p>
        </p:txBody>
      </p:sp>
      <p:sp>
        <p:nvSpPr>
          <p:cNvPr id="18" name="Text 10"/>
          <p:cNvSpPr/>
          <p:nvPr/>
        </p:nvSpPr>
        <p:spPr>
          <a:xfrm>
            <a:off x="1938528" y="177393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ECB</a:t>
            </a:r>
            <a:endParaRPr lang="en-US" sz="1000" dirty="0"/>
          </a:p>
        </p:txBody>
      </p:sp>
      <p:sp>
        <p:nvSpPr>
          <p:cNvPr id="19" name="Text 11"/>
          <p:cNvSpPr/>
          <p:nvPr/>
        </p:nvSpPr>
        <p:spPr>
          <a:xfrm>
            <a:off x="3310128" y="177393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FIPS 197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6236208" y="177393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DF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PASS</a:t>
            </a:r>
            <a:endParaRPr lang="en-US" sz="1050" dirty="0"/>
          </a:p>
        </p:txBody>
      </p:sp>
      <p:sp>
        <p:nvSpPr>
          <p:cNvPr id="21" name="Shape 13"/>
          <p:cNvSpPr/>
          <p:nvPr/>
        </p:nvSpPr>
        <p:spPr>
          <a:xfrm>
            <a:off x="566928" y="2157984"/>
            <a:ext cx="7706214" cy="384048"/>
          </a:xfrm>
          <a:prstGeom prst="rect">
            <a:avLst/>
          </a:prstGeom>
          <a:solidFill>
            <a:srgbClr val="060D18"/>
          </a:solidFill>
          <a:ln w="6350">
            <a:solidFill>
              <a:srgbClr val="0F1E3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Text 14"/>
          <p:cNvSpPr/>
          <p:nvPr/>
        </p:nvSpPr>
        <p:spPr>
          <a:xfrm>
            <a:off x="694944" y="215798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</a:t>
            </a:r>
            <a:endParaRPr lang="en-US" sz="1100" dirty="0"/>
          </a:p>
        </p:txBody>
      </p:sp>
      <p:sp>
        <p:nvSpPr>
          <p:cNvPr id="23" name="Text 15"/>
          <p:cNvSpPr/>
          <p:nvPr/>
        </p:nvSpPr>
        <p:spPr>
          <a:xfrm>
            <a:off x="1938528" y="215798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GCM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3310128" y="215798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SP 800-38D</a:t>
            </a:r>
            <a:endParaRPr lang="en-US" sz="1000" dirty="0"/>
          </a:p>
        </p:txBody>
      </p:sp>
      <p:sp>
        <p:nvSpPr>
          <p:cNvPr id="25" name="Text 17"/>
          <p:cNvSpPr/>
          <p:nvPr/>
        </p:nvSpPr>
        <p:spPr>
          <a:xfrm>
            <a:off x="6236208" y="215798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DF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PASS</a:t>
            </a:r>
            <a:endParaRPr lang="en-US" sz="1050" dirty="0"/>
          </a:p>
        </p:txBody>
      </p:sp>
      <p:sp>
        <p:nvSpPr>
          <p:cNvPr id="26" name="Shape 18"/>
          <p:cNvSpPr/>
          <p:nvPr/>
        </p:nvSpPr>
        <p:spPr>
          <a:xfrm>
            <a:off x="566928" y="2542032"/>
            <a:ext cx="7706214" cy="384048"/>
          </a:xfrm>
          <a:prstGeom prst="rect">
            <a:avLst/>
          </a:prstGeom>
          <a:solidFill>
            <a:srgbClr val="080F1E"/>
          </a:solidFill>
          <a:ln w="6350">
            <a:solidFill>
              <a:srgbClr val="0F1E3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7" name="Text 19"/>
          <p:cNvSpPr/>
          <p:nvPr/>
        </p:nvSpPr>
        <p:spPr>
          <a:xfrm>
            <a:off x="694944" y="254203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1938528" y="254203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ECB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3310128" y="254203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SP 800-67</a:t>
            </a:r>
            <a:endParaRPr lang="en-US" sz="1000" dirty="0"/>
          </a:p>
        </p:txBody>
      </p:sp>
      <p:sp>
        <p:nvSpPr>
          <p:cNvPr id="30" name="Text 22"/>
          <p:cNvSpPr/>
          <p:nvPr/>
        </p:nvSpPr>
        <p:spPr>
          <a:xfrm>
            <a:off x="6236208" y="25420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DF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PASS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566928" y="2926080"/>
            <a:ext cx="7706214" cy="384048"/>
          </a:xfrm>
          <a:prstGeom prst="rect">
            <a:avLst/>
          </a:prstGeom>
          <a:solidFill>
            <a:srgbClr val="060D18"/>
          </a:solidFill>
          <a:ln w="6350">
            <a:solidFill>
              <a:srgbClr val="0F1E3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2" name="Text 24"/>
          <p:cNvSpPr/>
          <p:nvPr/>
        </p:nvSpPr>
        <p:spPr>
          <a:xfrm>
            <a:off x="694944" y="29260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3DES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1938528" y="29260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ECB / CBC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3310128" y="29260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SP 800-67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6236208" y="29260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DF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PASS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566928" y="3310128"/>
            <a:ext cx="7706214" cy="384048"/>
          </a:xfrm>
          <a:prstGeom prst="rect">
            <a:avLst/>
          </a:prstGeom>
          <a:solidFill>
            <a:srgbClr val="080F1E"/>
          </a:solidFill>
          <a:ln w="6350">
            <a:solidFill>
              <a:srgbClr val="0F1E3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7" name="Text 29"/>
          <p:cNvSpPr/>
          <p:nvPr/>
        </p:nvSpPr>
        <p:spPr>
          <a:xfrm>
            <a:off x="694944" y="33101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ChaCha20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1938528" y="33101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</a:t>
            </a:r>
            <a:endParaRPr lang="en-US" sz="1000" dirty="0"/>
          </a:p>
        </p:txBody>
      </p:sp>
      <p:sp>
        <p:nvSpPr>
          <p:cNvPr id="39" name="Text 31"/>
          <p:cNvSpPr/>
          <p:nvPr/>
        </p:nvSpPr>
        <p:spPr>
          <a:xfrm>
            <a:off x="3310128" y="331012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8439</a:t>
            </a:r>
            <a:endParaRPr lang="en-US" sz="1000" dirty="0"/>
          </a:p>
        </p:txBody>
      </p:sp>
      <p:sp>
        <p:nvSpPr>
          <p:cNvPr id="40" name="Text 32"/>
          <p:cNvSpPr/>
          <p:nvPr/>
        </p:nvSpPr>
        <p:spPr>
          <a:xfrm>
            <a:off x="6236208" y="33101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DF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PASS</a:t>
            </a:r>
            <a:endParaRPr lang="en-US" sz="1050" dirty="0"/>
          </a:p>
        </p:txBody>
      </p:sp>
      <p:sp>
        <p:nvSpPr>
          <p:cNvPr id="41" name="Shape 33"/>
          <p:cNvSpPr/>
          <p:nvPr/>
        </p:nvSpPr>
        <p:spPr>
          <a:xfrm>
            <a:off x="566927" y="3694176"/>
            <a:ext cx="7706213" cy="384048"/>
          </a:xfrm>
          <a:prstGeom prst="rect">
            <a:avLst/>
          </a:prstGeom>
          <a:solidFill>
            <a:srgbClr val="060D18"/>
          </a:solidFill>
          <a:ln w="6350">
            <a:solidFill>
              <a:srgbClr val="0F1E3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2" name="Text 34"/>
          <p:cNvSpPr/>
          <p:nvPr/>
        </p:nvSpPr>
        <p:spPr>
          <a:xfrm>
            <a:off x="694944" y="369417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</a:t>
            </a:r>
            <a:endParaRPr lang="en-US" sz="1100" dirty="0"/>
          </a:p>
        </p:txBody>
      </p:sp>
      <p:sp>
        <p:nvSpPr>
          <p:cNvPr id="43" name="Text 35"/>
          <p:cNvSpPr/>
          <p:nvPr/>
        </p:nvSpPr>
        <p:spPr>
          <a:xfrm>
            <a:off x="1938528" y="369417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CBC / CTR</a:t>
            </a:r>
            <a:endParaRPr lang="en-US" sz="1000" dirty="0"/>
          </a:p>
        </p:txBody>
      </p:sp>
      <p:sp>
        <p:nvSpPr>
          <p:cNvPr id="44" name="Text 36"/>
          <p:cNvSpPr/>
          <p:nvPr/>
        </p:nvSpPr>
        <p:spPr>
          <a:xfrm>
            <a:off x="3310128" y="369417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SP 800-38A</a:t>
            </a:r>
            <a:endParaRPr lang="en-US" sz="1000" dirty="0"/>
          </a:p>
        </p:txBody>
      </p:sp>
      <p:sp>
        <p:nvSpPr>
          <p:cNvPr id="45" name="Text 37"/>
          <p:cNvSpPr/>
          <p:nvPr/>
        </p:nvSpPr>
        <p:spPr>
          <a:xfrm>
            <a:off x="6236208" y="369417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DF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PASS</a:t>
            </a:r>
            <a:endParaRPr lang="en-US" sz="1050" dirty="0"/>
          </a:p>
        </p:txBody>
      </p:sp>
      <p:sp>
        <p:nvSpPr>
          <p:cNvPr id="46" name="Shape 38"/>
          <p:cNvSpPr/>
          <p:nvPr/>
        </p:nvSpPr>
        <p:spPr>
          <a:xfrm>
            <a:off x="566928" y="4357116"/>
            <a:ext cx="7772400" cy="384048"/>
          </a:xfrm>
          <a:prstGeom prst="roundRect">
            <a:avLst>
              <a:gd name="adj" fmla="val 9375"/>
            </a:avLst>
          </a:prstGeom>
          <a:solidFill>
            <a:srgbClr val="04120A"/>
          </a:solidFill>
          <a:ln w="9525">
            <a:solidFill>
              <a:srgbClr val="0F38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7" name="Text 39"/>
          <p:cNvSpPr/>
          <p:nvPr/>
        </p:nvSpPr>
        <p:spPr>
          <a:xfrm>
            <a:off x="749807" y="4261104"/>
            <a:ext cx="777239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DF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implémentations produisent les sorties exactes attendues par les standards  </a:t>
            </a: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les résultats de performance qui suivent sont fiables.</a:t>
            </a:r>
            <a:endParaRPr lang="en-US" sz="1000" dirty="0"/>
          </a:p>
        </p:txBody>
      </p:sp>
      <p:sp>
        <p:nvSpPr>
          <p:cNvPr id="48" name="Shape 40"/>
          <p:cNvSpPr/>
          <p:nvPr/>
        </p:nvSpPr>
        <p:spPr>
          <a:xfrm>
            <a:off x="7699248" y="256032"/>
            <a:ext cx="1115568" cy="329184"/>
          </a:xfrm>
          <a:prstGeom prst="roundRect">
            <a:avLst>
              <a:gd name="adj" fmla="val 22222"/>
            </a:avLst>
          </a:prstGeom>
          <a:solidFill>
            <a:srgbClr val="060F1E"/>
          </a:solidFill>
          <a:ln w="9525">
            <a:solidFill>
              <a:srgbClr val="9B6D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9" name="Text 41"/>
          <p:cNvSpPr/>
          <p:nvPr/>
        </p:nvSpPr>
        <p:spPr>
          <a:xfrm>
            <a:off x="7699248" y="256032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Vidéo 3</a:t>
            </a:r>
            <a:endParaRPr lang="en-US" sz="950" dirty="0"/>
          </a:p>
        </p:txBody>
      </p:sp>
      <p:sp>
        <p:nvSpPr>
          <p:cNvPr id="50" name="Text 42"/>
          <p:cNvSpPr/>
          <p:nvPr/>
        </p:nvSpPr>
        <p:spPr>
          <a:xfrm>
            <a:off x="1371600" y="482803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INF1430</a:t>
            </a:r>
            <a:r>
              <a:rPr lang="en-US" sz="850" kern="0" spc="100" dirty="0">
                <a:solidFill>
                  <a:srgbClr val="3A4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Université TÉLUQ  ·  TN3  ·  Melissa Moya  ·  2026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201168"/>
            <a:ext cx="548640" cy="54864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8339328" y="201168"/>
            <a:ext cx="548640" cy="54864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256032" y="4393692"/>
            <a:ext cx="548640" cy="54864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 flipV="1">
            <a:off x="8339328" y="4393692"/>
            <a:ext cx="548640" cy="54864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566928" y="256032"/>
            <a:ext cx="256032" cy="256032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868680" y="256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r>
              <a:rPr lang="en-US" sz="1000" kern="0" spc="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de performance</a:t>
            </a:r>
            <a:endParaRPr lang="en-US" sz="1000" dirty="0"/>
          </a:p>
        </p:txBody>
      </p:sp>
      <p:sp>
        <p:nvSpPr>
          <p:cNvPr id="9" name="Text 1"/>
          <p:cNvSpPr/>
          <p:nvPr/>
        </p:nvSpPr>
        <p:spPr>
          <a:xfrm>
            <a:off x="566928" y="5669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— Advanced Encryption Standard</a:t>
            </a:r>
            <a:endParaRPr lang="en-US" sz="2600" dirty="0"/>
          </a:p>
        </p:txBody>
      </p:sp>
      <p:sp>
        <p:nvSpPr>
          <p:cNvPr id="10" name="Shape 2"/>
          <p:cNvSpPr/>
          <p:nvPr/>
        </p:nvSpPr>
        <p:spPr>
          <a:xfrm>
            <a:off x="621792" y="1476756"/>
            <a:ext cx="100584" cy="100584"/>
          </a:xfrm>
          <a:prstGeom prst="ellipse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3"/>
          <p:cNvSpPr/>
          <p:nvPr/>
        </p:nvSpPr>
        <p:spPr>
          <a:xfrm>
            <a:off x="822960" y="129844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 par blocs de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bits</a:t>
            </a:r>
            <a:endParaRPr lang="en-US" sz="1200" dirty="0"/>
          </a:p>
        </p:txBody>
      </p:sp>
      <p:sp>
        <p:nvSpPr>
          <p:cNvPr id="12" name="Shape 4"/>
          <p:cNvSpPr/>
          <p:nvPr/>
        </p:nvSpPr>
        <p:spPr>
          <a:xfrm>
            <a:off x="621792" y="2079810"/>
            <a:ext cx="100584" cy="100584"/>
          </a:xfrm>
          <a:prstGeom prst="ellipse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5"/>
          <p:cNvSpPr/>
          <p:nvPr/>
        </p:nvSpPr>
        <p:spPr>
          <a:xfrm>
            <a:off x="822960" y="190150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Clés :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/ 192 / 256 bits</a:t>
            </a: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10, 12 ou 14 tours</a:t>
            </a:r>
            <a:endParaRPr lang="en-US" sz="1200" dirty="0"/>
          </a:p>
        </p:txBody>
      </p:sp>
      <p:sp>
        <p:nvSpPr>
          <p:cNvPr id="14" name="Shape 6"/>
          <p:cNvSpPr/>
          <p:nvPr/>
        </p:nvSpPr>
        <p:spPr>
          <a:xfrm>
            <a:off x="624009" y="2725362"/>
            <a:ext cx="100584" cy="100584"/>
          </a:xfrm>
          <a:prstGeom prst="ellipse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7"/>
          <p:cNvSpPr/>
          <p:nvPr/>
        </p:nvSpPr>
        <p:spPr>
          <a:xfrm>
            <a:off x="822960" y="2533893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tour :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SubBytes → ShiftRows → MixColumns → AddRoundKey</a:t>
            </a:r>
            <a:endParaRPr lang="en-US" sz="1200" dirty="0"/>
          </a:p>
        </p:txBody>
      </p:sp>
      <p:sp>
        <p:nvSpPr>
          <p:cNvPr id="16" name="Shape 8"/>
          <p:cNvSpPr/>
          <p:nvPr/>
        </p:nvSpPr>
        <p:spPr>
          <a:xfrm>
            <a:off x="624009" y="3356402"/>
            <a:ext cx="100584" cy="100584"/>
          </a:xfrm>
          <a:prstGeom prst="ellipse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9"/>
          <p:cNvSpPr/>
          <p:nvPr/>
        </p:nvSpPr>
        <p:spPr>
          <a:xfrm>
            <a:off x="804672" y="3152619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NIST depuis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2001</a:t>
            </a: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(Rijndael), universellement déployé</a:t>
            </a:r>
            <a:endParaRPr lang="en-US" sz="1200" dirty="0"/>
          </a:p>
        </p:txBody>
      </p:sp>
      <p:sp>
        <p:nvSpPr>
          <p:cNvPr id="18" name="Shape 10"/>
          <p:cNvSpPr/>
          <p:nvPr/>
        </p:nvSpPr>
        <p:spPr>
          <a:xfrm>
            <a:off x="5449824" y="1146533"/>
            <a:ext cx="3346704" cy="2856253"/>
          </a:xfrm>
          <a:prstGeom prst="roundRect">
            <a:avLst>
              <a:gd name="adj" fmla="val 2817"/>
            </a:avLst>
          </a:prstGeom>
          <a:solidFill>
            <a:srgbClr val="0E0820"/>
          </a:solidFill>
          <a:ln w="19050">
            <a:solidFill>
              <a:srgbClr val="9B6DFF"/>
            </a:solidFill>
            <a:prstDash val="solid"/>
          </a:ln>
          <a:effectLst>
            <a:outerShdw blurRad="254000" dist="50800" dir="2700000" algn="bl" rotWithShape="0">
              <a:srgbClr val="9B6DFF">
                <a:alpha val="2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9" name="Text 11"/>
          <p:cNvSpPr/>
          <p:nvPr/>
        </p:nvSpPr>
        <p:spPr>
          <a:xfrm>
            <a:off x="5650992" y="1297236"/>
            <a:ext cx="28895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AES-NI</a:t>
            </a:r>
            <a:endParaRPr lang="en-US" sz="2200" dirty="0"/>
          </a:p>
        </p:txBody>
      </p:sp>
      <p:sp>
        <p:nvSpPr>
          <p:cNvPr id="20" name="Text 12"/>
          <p:cNvSpPr/>
          <p:nvPr/>
        </p:nvSpPr>
        <p:spPr>
          <a:xfrm>
            <a:off x="5650992" y="1626489"/>
            <a:ext cx="2889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A4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matérielles Intel/AMD depuis 2010</a:t>
            </a:r>
            <a:endParaRPr lang="en-US" sz="950" dirty="0"/>
          </a:p>
        </p:txBody>
      </p:sp>
      <p:sp>
        <p:nvSpPr>
          <p:cNvPr id="21" name="Shape 13"/>
          <p:cNvSpPr/>
          <p:nvPr/>
        </p:nvSpPr>
        <p:spPr>
          <a:xfrm>
            <a:off x="5650992" y="1882521"/>
            <a:ext cx="2889504" cy="0"/>
          </a:xfrm>
          <a:prstGeom prst="line">
            <a:avLst/>
          </a:prstGeom>
          <a:noFill/>
          <a:ln w="9525">
            <a:solidFill>
              <a:srgbClr val="22103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Shape 14"/>
          <p:cNvSpPr/>
          <p:nvPr/>
        </p:nvSpPr>
        <p:spPr>
          <a:xfrm>
            <a:off x="5650992" y="2212813"/>
            <a:ext cx="100584" cy="100584"/>
          </a:xfrm>
          <a:prstGeom prst="ellipse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Text 15"/>
          <p:cNvSpPr/>
          <p:nvPr/>
        </p:nvSpPr>
        <p:spPr>
          <a:xfrm>
            <a:off x="5852160" y="1982447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5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tour AES complet</a:t>
            </a:r>
            <a:endParaRPr lang="en-US" sz="950" dirty="0"/>
          </a:p>
        </p:txBody>
      </p:sp>
      <p:sp>
        <p:nvSpPr>
          <p:cNvPr id="24" name="Text 16"/>
          <p:cNvSpPr/>
          <p:nvPr/>
        </p:nvSpPr>
        <p:spPr>
          <a:xfrm>
            <a:off x="5893308" y="2198751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 cycle CPU</a:t>
            </a:r>
            <a:endParaRPr lang="en-US" sz="1100" dirty="0"/>
          </a:p>
        </p:txBody>
      </p:sp>
      <p:sp>
        <p:nvSpPr>
          <p:cNvPr id="25" name="Shape 17"/>
          <p:cNvSpPr/>
          <p:nvPr/>
        </p:nvSpPr>
        <p:spPr>
          <a:xfrm>
            <a:off x="5650992" y="2817495"/>
            <a:ext cx="100584" cy="100584"/>
          </a:xfrm>
          <a:prstGeom prst="ellipse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Text 18"/>
          <p:cNvSpPr/>
          <p:nvPr/>
        </p:nvSpPr>
        <p:spPr>
          <a:xfrm>
            <a:off x="5852160" y="2611755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5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mesuré :</a:t>
            </a:r>
            <a:endParaRPr lang="en-US" sz="950" dirty="0"/>
          </a:p>
        </p:txBody>
      </p:sp>
      <p:sp>
        <p:nvSpPr>
          <p:cNvPr id="27" name="Text 19"/>
          <p:cNvSpPr/>
          <p:nvPr/>
        </p:nvSpPr>
        <p:spPr>
          <a:xfrm>
            <a:off x="5852160" y="2844615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x86 est 4.1× plus rapide que le Pi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5650992" y="3514725"/>
            <a:ext cx="100584" cy="100584"/>
          </a:xfrm>
          <a:prstGeom prst="ellipse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9" name="Text 21"/>
          <p:cNvSpPr/>
          <p:nvPr/>
        </p:nvSpPr>
        <p:spPr>
          <a:xfrm>
            <a:off x="5852160" y="3328416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5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AES-NI :</a:t>
            </a:r>
            <a:endParaRPr lang="en-US" sz="950" dirty="0"/>
          </a:p>
        </p:txBody>
      </p:sp>
      <p:sp>
        <p:nvSpPr>
          <p:cNvPr id="30" name="Text 22"/>
          <p:cNvSpPr/>
          <p:nvPr/>
        </p:nvSpPr>
        <p:spPr>
          <a:xfrm>
            <a:off x="5852160" y="3550054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 calcule en logiciel pur → 4× plus lent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602950" y="4221099"/>
            <a:ext cx="8193578" cy="274320"/>
          </a:xfrm>
          <a:prstGeom prst="roundRect">
            <a:avLst>
              <a:gd name="adj" fmla="val 10000"/>
            </a:avLst>
          </a:prstGeom>
          <a:solidFill>
            <a:srgbClr val="1A0D30"/>
          </a:solidFill>
          <a:ln w="12700">
            <a:solidFill>
              <a:srgbClr val="2D155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2" name="Text 24"/>
          <p:cNvSpPr/>
          <p:nvPr/>
        </p:nvSpPr>
        <p:spPr>
          <a:xfrm>
            <a:off x="2942428" y="4202950"/>
            <a:ext cx="3259143" cy="3383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L'écart x86 / Pi n'est pas dû à la vitesse du CPU — c'est AES-NI.</a:t>
            </a:r>
            <a:endParaRPr lang="en-US" sz="900" dirty="0"/>
          </a:p>
        </p:txBody>
      </p:sp>
      <p:sp>
        <p:nvSpPr>
          <p:cNvPr id="33" name="Shape 25"/>
          <p:cNvSpPr/>
          <p:nvPr/>
        </p:nvSpPr>
        <p:spPr>
          <a:xfrm>
            <a:off x="7587857" y="310896"/>
            <a:ext cx="1115568" cy="329184"/>
          </a:xfrm>
          <a:prstGeom prst="roundRect">
            <a:avLst>
              <a:gd name="adj" fmla="val 22222"/>
            </a:avLst>
          </a:prstGeom>
          <a:solidFill>
            <a:srgbClr val="060F1E"/>
          </a:solidFill>
          <a:ln w="9525">
            <a:solidFill>
              <a:srgbClr val="00F5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4" name="Text 26"/>
          <p:cNvSpPr/>
          <p:nvPr/>
        </p:nvSpPr>
        <p:spPr>
          <a:xfrm>
            <a:off x="7562920" y="310896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Vidéo 4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1371600" y="482803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INF1430</a:t>
            </a:r>
            <a:r>
              <a:rPr lang="en-US" sz="850" kern="0" spc="100" dirty="0">
                <a:solidFill>
                  <a:srgbClr val="3A4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Université TÉLUQ  ·  TN3  ·  Melissa Moya  ·  2026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17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201168"/>
            <a:ext cx="548640" cy="54864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8339328" y="201168"/>
            <a:ext cx="548640" cy="54864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256032" y="4393692"/>
            <a:ext cx="548640" cy="54864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 flipV="1">
            <a:off x="8339328" y="4393692"/>
            <a:ext cx="548640" cy="54864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566928" y="256032"/>
            <a:ext cx="256032" cy="256032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868680" y="256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r>
              <a:rPr lang="en-US" sz="1000" kern="0" spc="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de performance</a:t>
            </a:r>
            <a:endParaRPr lang="en-US" sz="1000" dirty="0"/>
          </a:p>
        </p:txBody>
      </p:sp>
      <p:sp>
        <p:nvSpPr>
          <p:cNvPr id="9" name="Text 1"/>
          <p:cNvSpPr/>
          <p:nvPr/>
        </p:nvSpPr>
        <p:spPr>
          <a:xfrm>
            <a:off x="566928" y="5669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— Débit global : x86 vs Raspberry Pi</a:t>
            </a:r>
            <a:endParaRPr lang="en-US" sz="2400" dirty="0"/>
          </a:p>
        </p:txBody>
      </p:sp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511" y="1173861"/>
            <a:ext cx="5668152" cy="2795778"/>
          </a:xfrm>
          <a:prstGeom prst="rect">
            <a:avLst/>
          </a:prstGeom>
        </p:spPr>
      </p:pic>
      <p:sp>
        <p:nvSpPr>
          <p:cNvPr id="11" name="Shape 2"/>
          <p:cNvSpPr/>
          <p:nvPr/>
        </p:nvSpPr>
        <p:spPr>
          <a:xfrm>
            <a:off x="6217919" y="1143000"/>
            <a:ext cx="2759825" cy="914400"/>
          </a:xfrm>
          <a:prstGeom prst="roundRect">
            <a:avLst>
              <a:gd name="adj" fmla="val 7000"/>
            </a:avLst>
          </a:prstGeom>
          <a:solidFill>
            <a:srgbClr val="060F1E"/>
          </a:solidFill>
          <a:ln w="9525">
            <a:solidFill>
              <a:srgbClr val="0D3D5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3"/>
          <p:cNvSpPr/>
          <p:nvPr/>
        </p:nvSpPr>
        <p:spPr>
          <a:xfrm>
            <a:off x="6409944" y="1220585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163 MB/s</a:t>
            </a:r>
            <a:endParaRPr lang="en-US" sz="2200" dirty="0"/>
          </a:p>
        </p:txBody>
      </p:sp>
      <p:sp>
        <p:nvSpPr>
          <p:cNvPr id="13" name="Text 4"/>
          <p:cNvSpPr/>
          <p:nvPr/>
        </p:nvSpPr>
        <p:spPr>
          <a:xfrm>
            <a:off x="6409944" y="1570828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sur x86</a:t>
            </a:r>
            <a:endParaRPr lang="en-US" sz="950" dirty="0"/>
          </a:p>
        </p:txBody>
      </p:sp>
      <p:sp>
        <p:nvSpPr>
          <p:cNvPr id="14" name="Text 5"/>
          <p:cNvSpPr/>
          <p:nvPr/>
        </p:nvSpPr>
        <p:spPr>
          <a:xfrm>
            <a:off x="6409944" y="1734575"/>
            <a:ext cx="256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40 MB/s sur Pi — écart dû à AES-NI exclusivement</a:t>
            </a:r>
            <a:endParaRPr lang="en-US" sz="850" dirty="0"/>
          </a:p>
        </p:txBody>
      </p:sp>
      <p:sp>
        <p:nvSpPr>
          <p:cNvPr id="15" name="Shape 6"/>
          <p:cNvSpPr/>
          <p:nvPr/>
        </p:nvSpPr>
        <p:spPr>
          <a:xfrm>
            <a:off x="6236208" y="2176272"/>
            <a:ext cx="2741536" cy="914400"/>
          </a:xfrm>
          <a:prstGeom prst="roundRect">
            <a:avLst>
              <a:gd name="adj" fmla="val 7000"/>
            </a:avLst>
          </a:prstGeom>
          <a:solidFill>
            <a:srgbClr val="08061A"/>
          </a:solidFill>
          <a:ln w="9525">
            <a:solidFill>
              <a:srgbClr val="22105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7"/>
          <p:cNvSpPr/>
          <p:nvPr/>
        </p:nvSpPr>
        <p:spPr>
          <a:xfrm>
            <a:off x="6382512" y="2245074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4.08×</a:t>
            </a:r>
            <a:endParaRPr lang="en-US" sz="2200" dirty="0"/>
          </a:p>
        </p:txBody>
      </p:sp>
      <p:sp>
        <p:nvSpPr>
          <p:cNvPr id="17" name="Text 8"/>
          <p:cNvSpPr/>
          <p:nvPr/>
        </p:nvSpPr>
        <p:spPr>
          <a:xfrm>
            <a:off x="6409944" y="2599182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AES x86 / Pi</a:t>
            </a:r>
            <a:endParaRPr lang="en-US" sz="950" dirty="0"/>
          </a:p>
        </p:txBody>
      </p:sp>
      <p:sp>
        <p:nvSpPr>
          <p:cNvPr id="18" name="Text 9"/>
          <p:cNvSpPr/>
          <p:nvPr/>
        </p:nvSpPr>
        <p:spPr>
          <a:xfrm>
            <a:off x="6409944" y="2764189"/>
            <a:ext cx="2478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plus grand écart de tous les algorithmes testés</a:t>
            </a:r>
            <a:endParaRPr lang="en-US" sz="850" dirty="0"/>
          </a:p>
        </p:txBody>
      </p:sp>
      <p:sp>
        <p:nvSpPr>
          <p:cNvPr id="19" name="Shape 10"/>
          <p:cNvSpPr/>
          <p:nvPr/>
        </p:nvSpPr>
        <p:spPr>
          <a:xfrm>
            <a:off x="6263640" y="3185395"/>
            <a:ext cx="2714104" cy="914400"/>
          </a:xfrm>
          <a:prstGeom prst="roundRect">
            <a:avLst>
              <a:gd name="adj" fmla="val 7000"/>
            </a:avLst>
          </a:prstGeom>
          <a:solidFill>
            <a:srgbClr val="060F1E"/>
          </a:solidFill>
          <a:ln w="9525">
            <a:solidFill>
              <a:srgbClr val="0D3D5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1"/>
          <p:cNvSpPr/>
          <p:nvPr/>
        </p:nvSpPr>
        <p:spPr>
          <a:xfrm>
            <a:off x="6409944" y="3280479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MB/s</a:t>
            </a:r>
            <a:endParaRPr lang="en-US" sz="2200" dirty="0"/>
          </a:p>
        </p:txBody>
      </p:sp>
      <p:sp>
        <p:nvSpPr>
          <p:cNvPr id="21" name="Text 12"/>
          <p:cNvSpPr/>
          <p:nvPr/>
        </p:nvSpPr>
        <p:spPr>
          <a:xfrm>
            <a:off x="6409944" y="3630175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Twofish sur x86</a:t>
            </a:r>
            <a:endParaRPr lang="en-US" sz="950" dirty="0"/>
          </a:p>
        </p:txBody>
      </p:sp>
      <p:sp>
        <p:nvSpPr>
          <p:cNvPr id="22" name="Text 13"/>
          <p:cNvSpPr/>
          <p:nvPr/>
        </p:nvSpPr>
        <p:spPr>
          <a:xfrm>
            <a:off x="6409944" y="3801742"/>
            <a:ext cx="256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147× plus lent qu'AES — complexité du key schedule</a:t>
            </a:r>
            <a:endParaRPr lang="en-US" sz="850" dirty="0"/>
          </a:p>
        </p:txBody>
      </p:sp>
      <p:sp>
        <p:nvSpPr>
          <p:cNvPr id="23" name="Shape 14"/>
          <p:cNvSpPr/>
          <p:nvPr/>
        </p:nvSpPr>
        <p:spPr>
          <a:xfrm>
            <a:off x="566928" y="4231386"/>
            <a:ext cx="8321040" cy="480060"/>
          </a:xfrm>
          <a:prstGeom prst="roundRect">
            <a:avLst>
              <a:gd name="adj" fmla="val 9231"/>
            </a:avLst>
          </a:prstGeom>
          <a:solidFill>
            <a:srgbClr val="060F1E"/>
          </a:solidFill>
          <a:ln w="9525">
            <a:solidFill>
              <a:srgbClr val="0D3D5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Text 15"/>
          <p:cNvSpPr/>
          <p:nvPr/>
        </p:nvSpPr>
        <p:spPr>
          <a:xfrm>
            <a:off x="694944" y="419722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sur x86 domine tout  </a:t>
            </a: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l'écart n'est pas dû à la vitesse du CPU. C'est AES-NI. Sans cette instruction, le Pi ferait le même travail à 4× moins vite.</a:t>
            </a:r>
            <a:endParaRPr lang="en-US" sz="950" dirty="0"/>
          </a:p>
        </p:txBody>
      </p:sp>
      <p:sp>
        <p:nvSpPr>
          <p:cNvPr id="25" name="Shape 16"/>
          <p:cNvSpPr/>
          <p:nvPr/>
        </p:nvSpPr>
        <p:spPr>
          <a:xfrm>
            <a:off x="7648956" y="298323"/>
            <a:ext cx="1115568" cy="329184"/>
          </a:xfrm>
          <a:prstGeom prst="roundRect">
            <a:avLst>
              <a:gd name="adj" fmla="val 22222"/>
            </a:avLst>
          </a:prstGeom>
          <a:solidFill>
            <a:srgbClr val="060F1E"/>
          </a:solidFill>
          <a:ln w="9525">
            <a:solidFill>
              <a:srgbClr val="9B6D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Text 17"/>
          <p:cNvSpPr/>
          <p:nvPr/>
        </p:nvSpPr>
        <p:spPr>
          <a:xfrm>
            <a:off x="7635517" y="310799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Vidéo 5</a:t>
            </a:r>
            <a:endParaRPr lang="en-US" sz="950" dirty="0"/>
          </a:p>
        </p:txBody>
      </p:sp>
      <p:sp>
        <p:nvSpPr>
          <p:cNvPr id="27" name="Text 18"/>
          <p:cNvSpPr/>
          <p:nvPr/>
        </p:nvSpPr>
        <p:spPr>
          <a:xfrm>
            <a:off x="1371600" y="482803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INF1430</a:t>
            </a:r>
            <a:r>
              <a:rPr lang="en-US" sz="850" kern="0" spc="100" dirty="0">
                <a:solidFill>
                  <a:srgbClr val="3A4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Université TÉLUQ  ·  TN3  ·  Melissa Moya  ·  2026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201168"/>
            <a:ext cx="548640" cy="54864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8339328" y="201168"/>
            <a:ext cx="548640" cy="54864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256032" y="4393692"/>
            <a:ext cx="548640" cy="54864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 flipV="1">
            <a:off x="8339328" y="4393692"/>
            <a:ext cx="548640" cy="54864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566928" y="256032"/>
            <a:ext cx="256032" cy="256032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868680" y="256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r>
              <a:rPr lang="en-US" sz="1000" kern="0" spc="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de performance</a:t>
            </a:r>
            <a:endParaRPr lang="en-US" sz="1000" dirty="0"/>
          </a:p>
        </p:txBody>
      </p:sp>
      <p:sp>
        <p:nvSpPr>
          <p:cNvPr id="9" name="Text 1"/>
          <p:cNvSpPr/>
          <p:nvPr/>
        </p:nvSpPr>
        <p:spPr>
          <a:xfrm>
            <a:off x="566928" y="5669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— L'écart x86 / Pi expliqué</a:t>
            </a:r>
            <a:endParaRPr lang="en-US" sz="2400" dirty="0"/>
          </a:p>
        </p:txBody>
      </p:sp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1115568"/>
            <a:ext cx="5394960" cy="2989099"/>
          </a:xfrm>
          <a:prstGeom prst="rect">
            <a:avLst/>
          </a:prstGeom>
        </p:spPr>
      </p:pic>
      <p:sp>
        <p:nvSpPr>
          <p:cNvPr id="11" name="Shape 2"/>
          <p:cNvSpPr/>
          <p:nvPr/>
        </p:nvSpPr>
        <p:spPr>
          <a:xfrm>
            <a:off x="6144768" y="1115568"/>
            <a:ext cx="2743200" cy="896112"/>
          </a:xfrm>
          <a:prstGeom prst="roundRect">
            <a:avLst>
              <a:gd name="adj" fmla="val 7143"/>
            </a:avLst>
          </a:prstGeom>
          <a:solidFill>
            <a:srgbClr val="060F1E"/>
          </a:solidFill>
          <a:ln w="9525">
            <a:solidFill>
              <a:srgbClr val="0D3D5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3"/>
          <p:cNvSpPr/>
          <p:nvPr/>
        </p:nvSpPr>
        <p:spPr>
          <a:xfrm>
            <a:off x="6309360" y="117957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4.08×</a:t>
            </a:r>
            <a:endParaRPr lang="en-US" sz="2200" dirty="0"/>
          </a:p>
        </p:txBody>
      </p:sp>
      <p:sp>
        <p:nvSpPr>
          <p:cNvPr id="13" name="Text 4"/>
          <p:cNvSpPr/>
          <p:nvPr/>
        </p:nvSpPr>
        <p:spPr>
          <a:xfrm>
            <a:off x="6309360" y="15179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AES x86 / Pi</a:t>
            </a:r>
            <a:endParaRPr lang="en-US" sz="950" dirty="0"/>
          </a:p>
        </p:txBody>
      </p:sp>
      <p:sp>
        <p:nvSpPr>
          <p:cNvPr id="14" name="Text 5"/>
          <p:cNvSpPr/>
          <p:nvPr/>
        </p:nvSpPr>
        <p:spPr>
          <a:xfrm>
            <a:off x="6309360" y="170078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plus grand écart — dû à AES-NI exclusivement</a:t>
            </a:r>
            <a:endParaRPr lang="en-US" sz="850" dirty="0"/>
          </a:p>
        </p:txBody>
      </p:sp>
      <p:sp>
        <p:nvSpPr>
          <p:cNvPr id="15" name="Shape 6"/>
          <p:cNvSpPr/>
          <p:nvPr/>
        </p:nvSpPr>
        <p:spPr>
          <a:xfrm>
            <a:off x="6144768" y="2139696"/>
            <a:ext cx="2743200" cy="896112"/>
          </a:xfrm>
          <a:prstGeom prst="roundRect">
            <a:avLst>
              <a:gd name="adj" fmla="val 7143"/>
            </a:avLst>
          </a:prstGeom>
          <a:solidFill>
            <a:srgbClr val="08061A"/>
          </a:solidFill>
          <a:ln w="9525">
            <a:solidFill>
              <a:srgbClr val="22105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7"/>
          <p:cNvSpPr/>
          <p:nvPr/>
        </p:nvSpPr>
        <p:spPr>
          <a:xfrm>
            <a:off x="6309360" y="220370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1.27×</a:t>
            </a:r>
            <a:endParaRPr lang="en-US" sz="2200" dirty="0"/>
          </a:p>
        </p:txBody>
      </p:sp>
      <p:sp>
        <p:nvSpPr>
          <p:cNvPr id="17" name="Text 8"/>
          <p:cNvSpPr/>
          <p:nvPr/>
        </p:nvSpPr>
        <p:spPr>
          <a:xfrm>
            <a:off x="6309360" y="2542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3DES x86 / Pi</a:t>
            </a:r>
            <a:endParaRPr lang="en-US" sz="950" dirty="0"/>
          </a:p>
        </p:txBody>
      </p:sp>
      <p:sp>
        <p:nvSpPr>
          <p:cNvPr id="18" name="Text 9"/>
          <p:cNvSpPr/>
          <p:nvPr/>
        </p:nvSpPr>
        <p:spPr>
          <a:xfrm>
            <a:off x="6309360" y="27249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lent partout — rien à accélérer matériellement</a:t>
            </a:r>
            <a:endParaRPr lang="en-US" sz="850" dirty="0"/>
          </a:p>
        </p:txBody>
      </p:sp>
      <p:sp>
        <p:nvSpPr>
          <p:cNvPr id="19" name="Shape 10"/>
          <p:cNvSpPr/>
          <p:nvPr/>
        </p:nvSpPr>
        <p:spPr>
          <a:xfrm>
            <a:off x="6144768" y="3163824"/>
            <a:ext cx="2743200" cy="896112"/>
          </a:xfrm>
          <a:prstGeom prst="roundRect">
            <a:avLst>
              <a:gd name="adj" fmla="val 7143"/>
            </a:avLst>
          </a:prstGeom>
          <a:solidFill>
            <a:srgbClr val="060F1E"/>
          </a:solidFill>
          <a:ln w="9525">
            <a:solidFill>
              <a:srgbClr val="0D3D5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1"/>
          <p:cNvSpPr/>
          <p:nvPr/>
        </p:nvSpPr>
        <p:spPr>
          <a:xfrm>
            <a:off x="6309360" y="32278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2.26×</a:t>
            </a:r>
            <a:endParaRPr lang="en-US" sz="2200" dirty="0"/>
          </a:p>
        </p:txBody>
      </p:sp>
      <p:sp>
        <p:nvSpPr>
          <p:cNvPr id="21" name="Text 12"/>
          <p:cNvSpPr/>
          <p:nvPr/>
        </p:nvSpPr>
        <p:spPr>
          <a:xfrm>
            <a:off x="6309360" y="35661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Twofish x86 / Pi</a:t>
            </a:r>
            <a:endParaRPr lang="en-US" sz="950" dirty="0"/>
          </a:p>
        </p:txBody>
      </p:sp>
      <p:sp>
        <p:nvSpPr>
          <p:cNvPr id="22" name="Text 13"/>
          <p:cNvSpPr/>
          <p:nvPr/>
        </p:nvSpPr>
        <p:spPr>
          <a:xfrm>
            <a:off x="6309360" y="37490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complexité du key schedule pénalise les deux plateformes</a:t>
            </a:r>
            <a:endParaRPr lang="en-US" sz="850" dirty="0"/>
          </a:p>
        </p:txBody>
      </p:sp>
      <p:sp>
        <p:nvSpPr>
          <p:cNvPr id="23" name="Shape 14"/>
          <p:cNvSpPr/>
          <p:nvPr/>
        </p:nvSpPr>
        <p:spPr>
          <a:xfrm>
            <a:off x="566928" y="4201668"/>
            <a:ext cx="8321040" cy="466344"/>
          </a:xfrm>
          <a:prstGeom prst="roundRect">
            <a:avLst>
              <a:gd name="adj" fmla="val 9231"/>
            </a:avLst>
          </a:prstGeom>
          <a:solidFill>
            <a:srgbClr val="060F1E"/>
          </a:solidFill>
          <a:ln w="9525">
            <a:solidFill>
              <a:srgbClr val="0D3D5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Text 15"/>
          <p:cNvSpPr/>
          <p:nvPr/>
        </p:nvSpPr>
        <p:spPr>
          <a:xfrm>
            <a:off x="694944" y="4146804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AES-NI sur x86  </a:t>
            </a: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 tour complet en 1 cycle CPU. Sans ça, le Pi fait le même travail en logiciel pur → 4× plus lent. Aucun autre algo n'a ce levier matériel.</a:t>
            </a:r>
            <a:endParaRPr lang="en-US" sz="950" dirty="0"/>
          </a:p>
        </p:txBody>
      </p:sp>
      <p:sp>
        <p:nvSpPr>
          <p:cNvPr id="25" name="Shape 16"/>
          <p:cNvSpPr/>
          <p:nvPr/>
        </p:nvSpPr>
        <p:spPr>
          <a:xfrm>
            <a:off x="7699248" y="256032"/>
            <a:ext cx="1115568" cy="329184"/>
          </a:xfrm>
          <a:prstGeom prst="roundRect">
            <a:avLst>
              <a:gd name="adj" fmla="val 22222"/>
            </a:avLst>
          </a:prstGeom>
          <a:solidFill>
            <a:srgbClr val="060F1E"/>
          </a:solidFill>
          <a:ln w="9525">
            <a:solidFill>
              <a:srgbClr val="9B6D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Text 17"/>
          <p:cNvSpPr/>
          <p:nvPr/>
        </p:nvSpPr>
        <p:spPr>
          <a:xfrm>
            <a:off x="7699248" y="256032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Vidéo 5</a:t>
            </a:r>
            <a:endParaRPr lang="en-US" sz="950" dirty="0"/>
          </a:p>
        </p:txBody>
      </p:sp>
      <p:sp>
        <p:nvSpPr>
          <p:cNvPr id="27" name="Text 18"/>
          <p:cNvSpPr/>
          <p:nvPr/>
        </p:nvSpPr>
        <p:spPr>
          <a:xfrm>
            <a:off x="1371600" y="482803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INF1430</a:t>
            </a:r>
            <a:r>
              <a:rPr lang="en-US" sz="850" kern="0" spc="100" dirty="0">
                <a:solidFill>
                  <a:srgbClr val="3A4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Université TÉLUQ  ·  TN3  ·  Melissa Moya  ·  2026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201168"/>
            <a:ext cx="548640" cy="54864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8339328" y="201168"/>
            <a:ext cx="548640" cy="54864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256032" y="4393692"/>
            <a:ext cx="548640" cy="54864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 flipV="1">
            <a:off x="8339328" y="4393692"/>
            <a:ext cx="548640" cy="54864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566928" y="256032"/>
            <a:ext cx="256032" cy="256032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868680" y="256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r>
              <a:rPr lang="en-US" sz="1000" kern="0" spc="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de performance</a:t>
            </a:r>
            <a:endParaRPr lang="en-US" sz="1000" dirty="0"/>
          </a:p>
        </p:txBody>
      </p:sp>
      <p:sp>
        <p:nvSpPr>
          <p:cNvPr id="9" name="Text 1"/>
          <p:cNvSpPr/>
          <p:nvPr/>
        </p:nvSpPr>
        <p:spPr>
          <a:xfrm>
            <a:off x="566928" y="5669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— Le piège des modes d'opération</a:t>
            </a:r>
            <a:endParaRPr lang="en-US" sz="2400" dirty="0"/>
          </a:p>
        </p:txBody>
      </p:sp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1115568"/>
            <a:ext cx="5394960" cy="2768466"/>
          </a:xfrm>
          <a:prstGeom prst="rect">
            <a:avLst/>
          </a:prstGeom>
        </p:spPr>
      </p:pic>
      <p:sp>
        <p:nvSpPr>
          <p:cNvPr id="11" name="Shape 2"/>
          <p:cNvSpPr/>
          <p:nvPr/>
        </p:nvSpPr>
        <p:spPr>
          <a:xfrm>
            <a:off x="6144768" y="1115568"/>
            <a:ext cx="2670048" cy="640080"/>
          </a:xfrm>
          <a:prstGeom prst="roundRect">
            <a:avLst>
              <a:gd name="adj" fmla="val 8571"/>
            </a:avLst>
          </a:prstGeom>
          <a:solidFill>
            <a:srgbClr val="1A0008"/>
          </a:solidFill>
          <a:ln w="9525">
            <a:solidFill>
              <a:srgbClr val="5A001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3"/>
          <p:cNvSpPr/>
          <p:nvPr/>
        </p:nvSpPr>
        <p:spPr>
          <a:xfrm>
            <a:off x="6291072" y="11887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4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ECB</a:t>
            </a:r>
            <a:endParaRPr lang="en-US" sz="1200" dirty="0"/>
          </a:p>
        </p:txBody>
      </p:sp>
      <p:sp>
        <p:nvSpPr>
          <p:cNvPr id="13" name="Text 4"/>
          <p:cNvSpPr/>
          <p:nvPr/>
        </p:nvSpPr>
        <p:spPr>
          <a:xfrm>
            <a:off x="7104888" y="118872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163 MB/s</a:t>
            </a:r>
            <a:endParaRPr lang="en-US" sz="1100" dirty="0"/>
          </a:p>
        </p:txBody>
      </p:sp>
      <p:sp>
        <p:nvSpPr>
          <p:cNvPr id="14" name="Text 5"/>
          <p:cNvSpPr/>
          <p:nvPr/>
        </p:nvSpPr>
        <p:spPr>
          <a:xfrm>
            <a:off x="6291072" y="144475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Rapide mais cryptographiquement cassé</a:t>
            </a:r>
            <a:endParaRPr lang="en-US" sz="850" dirty="0"/>
          </a:p>
        </p:txBody>
      </p:sp>
      <p:sp>
        <p:nvSpPr>
          <p:cNvPr id="15" name="Shape 6"/>
          <p:cNvSpPr/>
          <p:nvPr/>
        </p:nvSpPr>
        <p:spPr>
          <a:xfrm>
            <a:off x="6144768" y="1824228"/>
            <a:ext cx="2670048" cy="640080"/>
          </a:xfrm>
          <a:prstGeom prst="roundRect">
            <a:avLst>
              <a:gd name="adj" fmla="val 8571"/>
            </a:avLst>
          </a:prstGeom>
          <a:solidFill>
            <a:srgbClr val="060F1E"/>
          </a:solidFill>
          <a:ln w="9525">
            <a:solidFill>
              <a:srgbClr val="0A30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7"/>
          <p:cNvSpPr/>
          <p:nvPr/>
        </p:nvSpPr>
        <p:spPr>
          <a:xfrm>
            <a:off x="6291072" y="18973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F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GCM</a:t>
            </a:r>
            <a:endParaRPr lang="en-US" sz="1200" dirty="0"/>
          </a:p>
        </p:txBody>
      </p:sp>
      <p:sp>
        <p:nvSpPr>
          <p:cNvPr id="17" name="Text 8"/>
          <p:cNvSpPr/>
          <p:nvPr/>
        </p:nvSpPr>
        <p:spPr>
          <a:xfrm>
            <a:off x="7104888" y="189738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MB/s</a:t>
            </a:r>
            <a:endParaRPr lang="en-US" sz="1100" dirty="0"/>
          </a:p>
        </p:txBody>
      </p:sp>
      <p:sp>
        <p:nvSpPr>
          <p:cNvPr id="18" name="Text 9"/>
          <p:cNvSpPr/>
          <p:nvPr/>
        </p:nvSpPr>
        <p:spPr>
          <a:xfrm>
            <a:off x="6291072" y="215341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 2026 — confidentialité + auth</a:t>
            </a:r>
            <a:endParaRPr lang="en-US" sz="850" dirty="0"/>
          </a:p>
        </p:txBody>
      </p:sp>
      <p:sp>
        <p:nvSpPr>
          <p:cNvPr id="19" name="Shape 10"/>
          <p:cNvSpPr/>
          <p:nvPr/>
        </p:nvSpPr>
        <p:spPr>
          <a:xfrm>
            <a:off x="6144768" y="2532888"/>
            <a:ext cx="2670048" cy="640080"/>
          </a:xfrm>
          <a:prstGeom prst="roundRect">
            <a:avLst>
              <a:gd name="adj" fmla="val 8571"/>
            </a:avLst>
          </a:prstGeom>
          <a:solidFill>
            <a:srgbClr val="060F1E"/>
          </a:solidFill>
          <a:ln w="9525">
            <a:solidFill>
              <a:srgbClr val="0D3D5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1"/>
          <p:cNvSpPr/>
          <p:nvPr/>
        </p:nvSpPr>
        <p:spPr>
          <a:xfrm>
            <a:off x="6291072" y="26060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</a:t>
            </a:r>
            <a:endParaRPr lang="en-US" sz="1200" dirty="0"/>
          </a:p>
        </p:txBody>
      </p:sp>
      <p:sp>
        <p:nvSpPr>
          <p:cNvPr id="21" name="Text 12"/>
          <p:cNvSpPr/>
          <p:nvPr/>
        </p:nvSpPr>
        <p:spPr>
          <a:xfrm>
            <a:off x="7104888" y="260604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6.6 MB/s</a:t>
            </a:r>
            <a:endParaRPr lang="en-US" sz="1100" dirty="0"/>
          </a:p>
        </p:txBody>
      </p:sp>
      <p:sp>
        <p:nvSpPr>
          <p:cNvPr id="22" name="Text 13"/>
          <p:cNvSpPr/>
          <p:nvPr/>
        </p:nvSpPr>
        <p:spPr>
          <a:xfrm>
            <a:off x="6291072" y="286207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Parallélisable, bon compromis</a:t>
            </a:r>
            <a:endParaRPr lang="en-US" sz="850" dirty="0"/>
          </a:p>
        </p:txBody>
      </p:sp>
      <p:sp>
        <p:nvSpPr>
          <p:cNvPr id="23" name="Shape 14"/>
          <p:cNvSpPr/>
          <p:nvPr/>
        </p:nvSpPr>
        <p:spPr>
          <a:xfrm>
            <a:off x="6144768" y="3241548"/>
            <a:ext cx="2670048" cy="640080"/>
          </a:xfrm>
          <a:prstGeom prst="roundRect">
            <a:avLst>
              <a:gd name="adj" fmla="val 8571"/>
            </a:avLst>
          </a:prstGeom>
          <a:solidFill>
            <a:srgbClr val="060F1E"/>
          </a:solidFill>
          <a:ln w="9525">
            <a:solidFill>
              <a:srgbClr val="22105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Text 15"/>
          <p:cNvSpPr/>
          <p:nvPr/>
        </p:nvSpPr>
        <p:spPr>
          <a:xfrm>
            <a:off x="6291072" y="33147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CBC</a:t>
            </a:r>
            <a:endParaRPr lang="en-US" sz="1200" dirty="0"/>
          </a:p>
        </p:txBody>
      </p:sp>
      <p:sp>
        <p:nvSpPr>
          <p:cNvPr id="25" name="Text 16"/>
          <p:cNvSpPr/>
          <p:nvPr/>
        </p:nvSpPr>
        <p:spPr>
          <a:xfrm>
            <a:off x="7104888" y="331470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 MB/s</a:t>
            </a:r>
            <a:endParaRPr lang="en-US" sz="1100" dirty="0"/>
          </a:p>
        </p:txBody>
      </p:sp>
      <p:sp>
        <p:nvSpPr>
          <p:cNvPr id="26" name="Text 17"/>
          <p:cNvSpPr/>
          <p:nvPr/>
        </p:nvSpPr>
        <p:spPr>
          <a:xfrm>
            <a:off x="6291072" y="357073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 séquentiel — 223× plus lent qu'ECB</a:t>
            </a:r>
            <a:endParaRPr lang="en-US" sz="850" dirty="0"/>
          </a:p>
        </p:txBody>
      </p:sp>
      <p:sp>
        <p:nvSpPr>
          <p:cNvPr id="27" name="Shape 18"/>
          <p:cNvSpPr/>
          <p:nvPr/>
        </p:nvSpPr>
        <p:spPr>
          <a:xfrm>
            <a:off x="530352" y="4100721"/>
            <a:ext cx="8247888" cy="594360"/>
          </a:xfrm>
          <a:prstGeom prst="roundRect">
            <a:avLst>
              <a:gd name="adj" fmla="val 9231"/>
            </a:avLst>
          </a:prstGeom>
          <a:solidFill>
            <a:srgbClr val="0E0005"/>
          </a:solidFill>
          <a:ln w="9525">
            <a:solidFill>
              <a:srgbClr val="5A001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Text 19"/>
          <p:cNvSpPr/>
          <p:nvPr/>
        </p:nvSpPr>
        <p:spPr>
          <a:xfrm>
            <a:off x="594360" y="4102463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4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ECB = 163 MB/s — le résultat le plus élevé du benchmark.  </a:t>
            </a: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aussi le seul mode cryptographiquement cassé. Optimiser sans comprendre la sécurité est une faute professionnelle.</a:t>
            </a:r>
            <a:endParaRPr lang="en-US" sz="950" dirty="0"/>
          </a:p>
        </p:txBody>
      </p:sp>
      <p:sp>
        <p:nvSpPr>
          <p:cNvPr id="29" name="Shape 20"/>
          <p:cNvSpPr/>
          <p:nvPr/>
        </p:nvSpPr>
        <p:spPr>
          <a:xfrm>
            <a:off x="7699248" y="256032"/>
            <a:ext cx="1115568" cy="329184"/>
          </a:xfrm>
          <a:prstGeom prst="roundRect">
            <a:avLst>
              <a:gd name="adj" fmla="val 22222"/>
            </a:avLst>
          </a:prstGeom>
          <a:solidFill>
            <a:srgbClr val="060F1E"/>
          </a:solidFill>
          <a:ln w="9525">
            <a:solidFill>
              <a:srgbClr val="9B6D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0" name="Text 21"/>
          <p:cNvSpPr/>
          <p:nvPr/>
        </p:nvSpPr>
        <p:spPr>
          <a:xfrm>
            <a:off x="7699248" y="256032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Vidéo 5</a:t>
            </a:r>
            <a:endParaRPr lang="en-US" sz="950" dirty="0"/>
          </a:p>
        </p:txBody>
      </p:sp>
      <p:sp>
        <p:nvSpPr>
          <p:cNvPr id="31" name="Text 22"/>
          <p:cNvSpPr/>
          <p:nvPr/>
        </p:nvSpPr>
        <p:spPr>
          <a:xfrm>
            <a:off x="1371600" y="482803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INF1430</a:t>
            </a:r>
            <a:r>
              <a:rPr lang="en-US" sz="850" kern="0" spc="100" dirty="0">
                <a:solidFill>
                  <a:srgbClr val="3A4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Université TÉLUQ  ·  TN3  ·  Melissa Moya  ·  2026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201168"/>
            <a:ext cx="548640" cy="54864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8339328" y="201168"/>
            <a:ext cx="548640" cy="54864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256032" y="4393692"/>
            <a:ext cx="548640" cy="54864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 flipV="1">
            <a:off x="8339328" y="4393692"/>
            <a:ext cx="548640" cy="54864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566928" y="256032"/>
            <a:ext cx="256032" cy="256032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868680" y="256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r>
              <a:rPr lang="en-US" sz="1000" kern="0" spc="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de performance</a:t>
            </a:r>
            <a:endParaRPr lang="en-US" sz="1000" dirty="0"/>
          </a:p>
        </p:txBody>
      </p:sp>
      <p:sp>
        <p:nvSpPr>
          <p:cNvPr id="9" name="Text 1"/>
          <p:cNvSpPr/>
          <p:nvPr/>
        </p:nvSpPr>
        <p:spPr>
          <a:xfrm>
            <a:off x="566928" y="5669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ChaCha20 — Conçu pour le logiciel pur</a:t>
            </a:r>
            <a:endParaRPr lang="en-US" sz="2400" dirty="0"/>
          </a:p>
        </p:txBody>
      </p:sp>
      <p:sp>
        <p:nvSpPr>
          <p:cNvPr id="10" name="Shape 2"/>
          <p:cNvSpPr/>
          <p:nvPr/>
        </p:nvSpPr>
        <p:spPr>
          <a:xfrm>
            <a:off x="621792" y="1325880"/>
            <a:ext cx="100584" cy="100584"/>
          </a:xfrm>
          <a:prstGeom prst="ellipse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3"/>
          <p:cNvSpPr/>
          <p:nvPr/>
        </p:nvSpPr>
        <p:spPr>
          <a:xfrm>
            <a:off x="877824" y="1234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 de flux</a:t>
            </a:r>
            <a:endParaRPr lang="en-US" sz="1250" dirty="0"/>
          </a:p>
        </p:txBody>
      </p:sp>
      <p:sp>
        <p:nvSpPr>
          <p:cNvPr id="12" name="Text 4"/>
          <p:cNvSpPr/>
          <p:nvPr/>
        </p:nvSpPr>
        <p:spPr>
          <a:xfrm>
            <a:off x="877824" y="14904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blocs — opère bit par bit sur le keystream</a:t>
            </a:r>
            <a:endParaRPr lang="en-US" sz="1000" dirty="0"/>
          </a:p>
        </p:txBody>
      </p:sp>
      <p:sp>
        <p:nvSpPr>
          <p:cNvPr id="13" name="Shape 5"/>
          <p:cNvSpPr/>
          <p:nvPr/>
        </p:nvSpPr>
        <p:spPr>
          <a:xfrm>
            <a:off x="621792" y="2221992"/>
            <a:ext cx="100584" cy="100584"/>
          </a:xfrm>
          <a:prstGeom prst="ellipse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6"/>
          <p:cNvSpPr/>
          <p:nvPr/>
        </p:nvSpPr>
        <p:spPr>
          <a:xfrm>
            <a:off x="877824" y="21305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 unique : 256 bits</a:t>
            </a:r>
            <a:endParaRPr lang="en-US" sz="1250" dirty="0"/>
          </a:p>
        </p:txBody>
      </p:sp>
      <p:sp>
        <p:nvSpPr>
          <p:cNvPr id="15" name="Text 7"/>
          <p:cNvSpPr/>
          <p:nvPr/>
        </p:nvSpPr>
        <p:spPr>
          <a:xfrm>
            <a:off x="877824" y="23865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variantes 128/192 — simplicité par design</a:t>
            </a:r>
            <a:endParaRPr lang="en-US" sz="1000" dirty="0"/>
          </a:p>
        </p:txBody>
      </p:sp>
      <p:sp>
        <p:nvSpPr>
          <p:cNvPr id="16" name="Shape 8"/>
          <p:cNvSpPr/>
          <p:nvPr/>
        </p:nvSpPr>
        <p:spPr>
          <a:xfrm>
            <a:off x="621792" y="3118104"/>
            <a:ext cx="100584" cy="100584"/>
          </a:xfrm>
          <a:prstGeom prst="ellipse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9"/>
          <p:cNvSpPr/>
          <p:nvPr/>
        </p:nvSpPr>
        <p:spPr>
          <a:xfrm>
            <a:off x="877824" y="30266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Opérations ARX</a:t>
            </a:r>
            <a:endParaRPr lang="en-US" sz="1250" dirty="0"/>
          </a:p>
        </p:txBody>
      </p:sp>
      <p:sp>
        <p:nvSpPr>
          <p:cNvPr id="18" name="Text 10"/>
          <p:cNvSpPr/>
          <p:nvPr/>
        </p:nvSpPr>
        <p:spPr>
          <a:xfrm>
            <a:off x="877824" y="328269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 · Rotation · XOR — toutes natives au CPU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621792" y="4014216"/>
            <a:ext cx="100584" cy="100584"/>
          </a:xfrm>
          <a:prstGeom prst="ellipse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2"/>
          <p:cNvSpPr/>
          <p:nvPr/>
        </p:nvSpPr>
        <p:spPr>
          <a:xfrm>
            <a:off x="877824" y="39227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J. Bernstein, 2008</a:t>
            </a:r>
            <a:endParaRPr lang="en-US" sz="1250" dirty="0"/>
          </a:p>
        </p:txBody>
      </p:sp>
      <p:sp>
        <p:nvSpPr>
          <p:cNvPr id="21" name="Text 13"/>
          <p:cNvSpPr/>
          <p:nvPr/>
        </p:nvSpPr>
        <p:spPr>
          <a:xfrm>
            <a:off x="877824" y="41788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optimisé pour ARM et x86 sans instructions dédiées</a:t>
            </a:r>
            <a:endParaRPr lang="en-US" sz="10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987552"/>
            <a:ext cx="3840480" cy="2918765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566928" y="3877056"/>
            <a:ext cx="8321040" cy="594360"/>
          </a:xfrm>
          <a:prstGeom prst="roundRect">
            <a:avLst>
              <a:gd name="adj" fmla="val 9231"/>
            </a:avLst>
          </a:prstGeom>
          <a:solidFill>
            <a:srgbClr val="060F1E"/>
          </a:solidFill>
          <a:ln w="9525">
            <a:solidFill>
              <a:srgbClr val="0D3D5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Text 15"/>
          <p:cNvSpPr/>
          <p:nvPr/>
        </p:nvSpPr>
        <p:spPr>
          <a:xfrm>
            <a:off x="749808" y="3877056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Constant-time par design  </a:t>
            </a: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ADD, ROTATE, XOR s'exécutent en exactement 1 cycle CPU, peu importe les données. Pas de S-Box, pas de timing attack. C'est pourquoi Android et TLS 1.3 mobile choisissent ChaCha20.</a:t>
            </a:r>
            <a:endParaRPr lang="en-US" sz="950" dirty="0"/>
          </a:p>
        </p:txBody>
      </p:sp>
      <p:sp>
        <p:nvSpPr>
          <p:cNvPr id="25" name="Shape 16"/>
          <p:cNvSpPr/>
          <p:nvPr/>
        </p:nvSpPr>
        <p:spPr>
          <a:xfrm>
            <a:off x="7699248" y="256032"/>
            <a:ext cx="1115568" cy="329184"/>
          </a:xfrm>
          <a:prstGeom prst="roundRect">
            <a:avLst>
              <a:gd name="adj" fmla="val 22222"/>
            </a:avLst>
          </a:prstGeom>
          <a:solidFill>
            <a:srgbClr val="060F1E"/>
          </a:solidFill>
          <a:ln w="9525">
            <a:solidFill>
              <a:srgbClr val="00F5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Text 17"/>
          <p:cNvSpPr/>
          <p:nvPr/>
        </p:nvSpPr>
        <p:spPr>
          <a:xfrm>
            <a:off x="7699248" y="256032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Vidéo 6</a:t>
            </a:r>
            <a:endParaRPr lang="en-US" sz="950" dirty="0"/>
          </a:p>
        </p:txBody>
      </p:sp>
      <p:sp>
        <p:nvSpPr>
          <p:cNvPr id="27" name="Text 18"/>
          <p:cNvSpPr/>
          <p:nvPr/>
        </p:nvSpPr>
        <p:spPr>
          <a:xfrm>
            <a:off x="1371600" y="482803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INF1430</a:t>
            </a:r>
            <a:r>
              <a:rPr lang="en-US" sz="850" kern="0" spc="100" dirty="0">
                <a:solidFill>
                  <a:srgbClr val="3A4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Université TÉLUQ  ·  TN3  ·  Melissa Moya  ·  2026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201168"/>
            <a:ext cx="548640" cy="54864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8339328" y="201168"/>
            <a:ext cx="548640" cy="54864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256032" y="4393692"/>
            <a:ext cx="548640" cy="54864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 flipV="1">
            <a:off x="8339328" y="4393692"/>
            <a:ext cx="548640" cy="54864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566928" y="256032"/>
            <a:ext cx="256032" cy="256032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868680" y="256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r>
              <a:rPr lang="en-US" sz="1000" kern="0" spc="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de performance</a:t>
            </a:r>
            <a:endParaRPr lang="en-US" sz="1000" dirty="0"/>
          </a:p>
        </p:txBody>
      </p:sp>
      <p:sp>
        <p:nvSpPr>
          <p:cNvPr id="9" name="Text 1"/>
          <p:cNvSpPr/>
          <p:nvPr/>
        </p:nvSpPr>
        <p:spPr>
          <a:xfrm>
            <a:off x="566928" y="5669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ChaCha20 vs AES — Pourquoi ce choix existe</a:t>
            </a:r>
            <a:endParaRPr lang="en-US" sz="2400" dirty="0"/>
          </a:p>
        </p:txBody>
      </p:sp>
      <p:sp>
        <p:nvSpPr>
          <p:cNvPr id="10" name="Text 2"/>
          <p:cNvSpPr/>
          <p:nvPr/>
        </p:nvSpPr>
        <p:spPr>
          <a:xfrm>
            <a:off x="566928" y="107899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ChaCha20 a été conçu précisément pour corriger les faiblesses d'AES sur ARM.</a:t>
            </a:r>
            <a:endParaRPr lang="en-US" sz="1050" dirty="0"/>
          </a:p>
        </p:txBody>
      </p:sp>
      <p:sp>
        <p:nvSpPr>
          <p:cNvPr id="11" name="Shape 3"/>
          <p:cNvSpPr/>
          <p:nvPr/>
        </p:nvSpPr>
        <p:spPr>
          <a:xfrm>
            <a:off x="566928" y="1371600"/>
            <a:ext cx="7680960" cy="393192"/>
          </a:xfrm>
          <a:prstGeom prst="roundRect">
            <a:avLst>
              <a:gd name="adj" fmla="val 9302"/>
            </a:avLst>
          </a:prstGeom>
          <a:solidFill>
            <a:srgbClr val="0D1E35"/>
          </a:solidFill>
          <a:ln w="635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4"/>
          <p:cNvSpPr/>
          <p:nvPr/>
        </p:nvSpPr>
        <p:spPr>
          <a:xfrm>
            <a:off x="694944" y="1371600"/>
            <a:ext cx="2377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</a:t>
            </a:r>
            <a:endParaRPr lang="en-US" sz="1100" dirty="0"/>
          </a:p>
        </p:txBody>
      </p:sp>
      <p:sp>
        <p:nvSpPr>
          <p:cNvPr id="13" name="Text 5"/>
          <p:cNvSpPr/>
          <p:nvPr/>
        </p:nvSpPr>
        <p:spPr>
          <a:xfrm>
            <a:off x="2944368" y="1371600"/>
            <a:ext cx="2651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</a:t>
            </a:r>
            <a:endParaRPr lang="en-US" sz="1100" dirty="0"/>
          </a:p>
        </p:txBody>
      </p:sp>
      <p:sp>
        <p:nvSpPr>
          <p:cNvPr id="14" name="Text 6"/>
          <p:cNvSpPr/>
          <p:nvPr/>
        </p:nvSpPr>
        <p:spPr>
          <a:xfrm>
            <a:off x="5596128" y="1371600"/>
            <a:ext cx="2651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ChaCha20</a:t>
            </a:r>
            <a:endParaRPr lang="en-US" sz="1100" dirty="0"/>
          </a:p>
        </p:txBody>
      </p:sp>
      <p:sp>
        <p:nvSpPr>
          <p:cNvPr id="15" name="Shape 7"/>
          <p:cNvSpPr/>
          <p:nvPr/>
        </p:nvSpPr>
        <p:spPr>
          <a:xfrm>
            <a:off x="566928" y="1764792"/>
            <a:ext cx="7680960" cy="393192"/>
          </a:xfrm>
          <a:prstGeom prst="rect">
            <a:avLst/>
          </a:prstGeom>
          <a:solidFill>
            <a:srgbClr val="080F1E"/>
          </a:solidFill>
          <a:ln w="6350">
            <a:solidFill>
              <a:srgbClr val="0F1E3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8"/>
          <p:cNvSpPr/>
          <p:nvPr/>
        </p:nvSpPr>
        <p:spPr>
          <a:xfrm>
            <a:off x="694944" y="1764792"/>
            <a:ext cx="22494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Opérations</a:t>
            </a:r>
            <a:endParaRPr lang="en-US" sz="1000" dirty="0"/>
          </a:p>
        </p:txBody>
      </p:sp>
      <p:sp>
        <p:nvSpPr>
          <p:cNvPr id="17" name="Text 9"/>
          <p:cNvSpPr/>
          <p:nvPr/>
        </p:nvSpPr>
        <p:spPr>
          <a:xfrm>
            <a:off x="2944368" y="1764792"/>
            <a:ext cx="2651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S-Box (table lookup)</a:t>
            </a:r>
            <a:endParaRPr lang="en-US" sz="1000" dirty="0"/>
          </a:p>
        </p:txBody>
      </p:sp>
      <p:sp>
        <p:nvSpPr>
          <p:cNvPr id="18" name="Text 10"/>
          <p:cNvSpPr/>
          <p:nvPr/>
        </p:nvSpPr>
        <p:spPr>
          <a:xfrm>
            <a:off x="5596128" y="1764792"/>
            <a:ext cx="2651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 — opérations natives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566928" y="2157984"/>
            <a:ext cx="7680960" cy="393192"/>
          </a:xfrm>
          <a:prstGeom prst="rect">
            <a:avLst/>
          </a:prstGeom>
          <a:solidFill>
            <a:srgbClr val="060B14"/>
          </a:solidFill>
          <a:ln w="6350">
            <a:solidFill>
              <a:srgbClr val="0F1E3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2"/>
          <p:cNvSpPr/>
          <p:nvPr/>
        </p:nvSpPr>
        <p:spPr>
          <a:xfrm>
            <a:off x="694944" y="2157984"/>
            <a:ext cx="22494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Accélération HW</a:t>
            </a:r>
            <a:endParaRPr lang="en-US" sz="1000" dirty="0"/>
          </a:p>
        </p:txBody>
      </p:sp>
      <p:sp>
        <p:nvSpPr>
          <p:cNvPr id="21" name="Text 13"/>
          <p:cNvSpPr/>
          <p:nvPr/>
        </p:nvSpPr>
        <p:spPr>
          <a:xfrm>
            <a:off x="2944368" y="2157984"/>
            <a:ext cx="2651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AES-NI requis</a:t>
            </a:r>
            <a:endParaRPr lang="en-US" sz="1000" dirty="0"/>
          </a:p>
        </p:txBody>
      </p:sp>
      <p:sp>
        <p:nvSpPr>
          <p:cNvPr id="22" name="Text 14"/>
          <p:cNvSpPr/>
          <p:nvPr/>
        </p:nvSpPr>
        <p:spPr>
          <a:xfrm>
            <a:off x="5596128" y="2157984"/>
            <a:ext cx="2651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nécessaire</a:t>
            </a:r>
            <a:endParaRPr lang="en-US" sz="1000" dirty="0"/>
          </a:p>
        </p:txBody>
      </p:sp>
      <p:sp>
        <p:nvSpPr>
          <p:cNvPr id="23" name="Shape 15"/>
          <p:cNvSpPr/>
          <p:nvPr/>
        </p:nvSpPr>
        <p:spPr>
          <a:xfrm>
            <a:off x="566928" y="2551176"/>
            <a:ext cx="7680960" cy="393192"/>
          </a:xfrm>
          <a:prstGeom prst="rect">
            <a:avLst/>
          </a:prstGeom>
          <a:solidFill>
            <a:srgbClr val="080F1E"/>
          </a:solidFill>
          <a:ln w="6350">
            <a:solidFill>
              <a:srgbClr val="0F1E3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Text 16"/>
          <p:cNvSpPr/>
          <p:nvPr/>
        </p:nvSpPr>
        <p:spPr>
          <a:xfrm>
            <a:off x="694944" y="2551176"/>
            <a:ext cx="22494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Vulnérabilité timing</a:t>
            </a:r>
            <a:endParaRPr lang="en-US" sz="1000" dirty="0"/>
          </a:p>
        </p:txBody>
      </p:sp>
      <p:sp>
        <p:nvSpPr>
          <p:cNvPr id="25" name="Text 17"/>
          <p:cNvSpPr/>
          <p:nvPr/>
        </p:nvSpPr>
        <p:spPr>
          <a:xfrm>
            <a:off x="2944368" y="2551176"/>
            <a:ext cx="2651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sans AES-NI</a:t>
            </a:r>
            <a:endParaRPr lang="en-US" sz="1000" dirty="0"/>
          </a:p>
        </p:txBody>
      </p:sp>
      <p:sp>
        <p:nvSpPr>
          <p:cNvPr id="26" name="Text 18"/>
          <p:cNvSpPr/>
          <p:nvPr/>
        </p:nvSpPr>
        <p:spPr>
          <a:xfrm>
            <a:off x="5596128" y="2551176"/>
            <a:ext cx="2651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Constant-time par design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566928" y="2944368"/>
            <a:ext cx="7680960" cy="393192"/>
          </a:xfrm>
          <a:prstGeom prst="rect">
            <a:avLst/>
          </a:prstGeom>
          <a:solidFill>
            <a:srgbClr val="060B14"/>
          </a:solidFill>
          <a:ln w="6350">
            <a:solidFill>
              <a:srgbClr val="0F1E3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Text 20"/>
          <p:cNvSpPr/>
          <p:nvPr/>
        </p:nvSpPr>
        <p:spPr>
          <a:xfrm>
            <a:off x="694944" y="2944368"/>
            <a:ext cx="22494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ARM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2944368" y="2944368"/>
            <a:ext cx="2651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Pénalisé sans NI</a:t>
            </a:r>
            <a:endParaRPr lang="en-US" sz="1000" dirty="0"/>
          </a:p>
        </p:txBody>
      </p:sp>
      <p:sp>
        <p:nvSpPr>
          <p:cNvPr id="30" name="Text 22"/>
          <p:cNvSpPr/>
          <p:nvPr/>
        </p:nvSpPr>
        <p:spPr>
          <a:xfrm>
            <a:off x="5596128" y="2944368"/>
            <a:ext cx="2651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Natif et efficace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566928" y="3337560"/>
            <a:ext cx="7680960" cy="393192"/>
          </a:xfrm>
          <a:prstGeom prst="rect">
            <a:avLst/>
          </a:prstGeom>
          <a:solidFill>
            <a:srgbClr val="080F1E"/>
          </a:solidFill>
          <a:ln w="6350">
            <a:solidFill>
              <a:srgbClr val="0F1E3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2" name="Text 24"/>
          <p:cNvSpPr/>
          <p:nvPr/>
        </p:nvSpPr>
        <p:spPr>
          <a:xfrm>
            <a:off x="694944" y="3337560"/>
            <a:ext cx="22494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Débit sur Pi (mesuré)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2944368" y="3337560"/>
            <a:ext cx="2651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 MB/s (GCM)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5596128" y="3337560"/>
            <a:ext cx="2651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MB/s — 9.5× plus rapide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566928" y="3730752"/>
            <a:ext cx="7680960" cy="393192"/>
          </a:xfrm>
          <a:prstGeom prst="rect">
            <a:avLst/>
          </a:prstGeom>
          <a:solidFill>
            <a:srgbClr val="060B14"/>
          </a:solidFill>
          <a:ln w="6350">
            <a:solidFill>
              <a:srgbClr val="0F1E3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6" name="Text 28"/>
          <p:cNvSpPr/>
          <p:nvPr/>
        </p:nvSpPr>
        <p:spPr>
          <a:xfrm>
            <a:off x="694944" y="3730752"/>
            <a:ext cx="22494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standard</a:t>
            </a:r>
            <a:endParaRPr lang="en-US" sz="1000" dirty="0"/>
          </a:p>
        </p:txBody>
      </p:sp>
      <p:sp>
        <p:nvSpPr>
          <p:cNvPr id="37" name="Text 29"/>
          <p:cNvSpPr/>
          <p:nvPr/>
        </p:nvSpPr>
        <p:spPr>
          <a:xfrm>
            <a:off x="2944368" y="3730752"/>
            <a:ext cx="2651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Serveur, cloud, x86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5596128" y="3730752"/>
            <a:ext cx="2651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1.3, Android, IoT, ARM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566928" y="3877056"/>
            <a:ext cx="8321040" cy="594360"/>
          </a:xfrm>
          <a:prstGeom prst="roundRect">
            <a:avLst>
              <a:gd name="adj" fmla="val 9231"/>
            </a:avLst>
          </a:prstGeom>
          <a:solidFill>
            <a:srgbClr val="060F1E"/>
          </a:solidFill>
          <a:ln w="9525">
            <a:solidFill>
              <a:srgbClr val="22105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0" name="Text 32"/>
          <p:cNvSpPr/>
          <p:nvPr/>
        </p:nvSpPr>
        <p:spPr>
          <a:xfrm>
            <a:off x="749808" y="3877056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Pi, ChaCha20 (61 MB/s) surpasse AES-GCM (6.4 MB/s) par 9.5×  </a:t>
            </a: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pour tout déploiement IoT, mobile ou ARM, ChaCha20 est le choix évident. Ce n'est pas une alternative à AES, c'est le standard sur ARM.</a:t>
            </a:r>
            <a:endParaRPr lang="en-US" sz="950" dirty="0"/>
          </a:p>
        </p:txBody>
      </p:sp>
      <p:sp>
        <p:nvSpPr>
          <p:cNvPr id="41" name="Shape 33"/>
          <p:cNvSpPr/>
          <p:nvPr/>
        </p:nvSpPr>
        <p:spPr>
          <a:xfrm>
            <a:off x="7699248" y="256032"/>
            <a:ext cx="1115568" cy="329184"/>
          </a:xfrm>
          <a:prstGeom prst="roundRect">
            <a:avLst>
              <a:gd name="adj" fmla="val 22222"/>
            </a:avLst>
          </a:prstGeom>
          <a:solidFill>
            <a:srgbClr val="060F1E"/>
          </a:solidFill>
          <a:ln w="9525">
            <a:solidFill>
              <a:srgbClr val="00F5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2" name="Text 34"/>
          <p:cNvSpPr/>
          <p:nvPr/>
        </p:nvSpPr>
        <p:spPr>
          <a:xfrm>
            <a:off x="7699248" y="256032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Vidéo 6</a:t>
            </a:r>
            <a:endParaRPr lang="en-US" sz="950" dirty="0"/>
          </a:p>
        </p:txBody>
      </p:sp>
      <p:sp>
        <p:nvSpPr>
          <p:cNvPr id="43" name="Text 35"/>
          <p:cNvSpPr/>
          <p:nvPr/>
        </p:nvSpPr>
        <p:spPr>
          <a:xfrm>
            <a:off x="1371600" y="482803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INF1430</a:t>
            </a:r>
            <a:r>
              <a:rPr lang="en-US" sz="850" kern="0" spc="100" dirty="0">
                <a:solidFill>
                  <a:srgbClr val="3A4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Université TÉLUQ  ·  TN3  ·  Melissa Moya  ·  2026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201168"/>
            <a:ext cx="548640" cy="54864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8339328" y="201168"/>
            <a:ext cx="548640" cy="54864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256032" y="4393692"/>
            <a:ext cx="548640" cy="54864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 flipV="1">
            <a:off x="8339328" y="4393692"/>
            <a:ext cx="548640" cy="54864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566928" y="256032"/>
            <a:ext cx="256032" cy="256032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868680" y="256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r>
              <a:rPr lang="en-US" sz="1000" kern="0" spc="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de performance</a:t>
            </a:r>
            <a:endParaRPr lang="en-US" sz="1000" dirty="0"/>
          </a:p>
        </p:txBody>
      </p:sp>
      <p:sp>
        <p:nvSpPr>
          <p:cNvPr id="9" name="Text 1"/>
          <p:cNvSpPr/>
          <p:nvPr/>
        </p:nvSpPr>
        <p:spPr>
          <a:xfrm>
            <a:off x="566928" y="5669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ChaCha20 — L'algorithme qui refuse l'inégalité</a:t>
            </a:r>
            <a:endParaRPr lang="en-US" sz="2400" dirty="0"/>
          </a:p>
        </p:txBody>
      </p:sp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1069848"/>
            <a:ext cx="5120640" cy="2880360"/>
          </a:xfrm>
          <a:prstGeom prst="rect">
            <a:avLst/>
          </a:prstGeom>
        </p:spPr>
      </p:pic>
      <p:sp>
        <p:nvSpPr>
          <p:cNvPr id="11" name="Shape 2"/>
          <p:cNvSpPr/>
          <p:nvPr/>
        </p:nvSpPr>
        <p:spPr>
          <a:xfrm>
            <a:off x="6144768" y="1115568"/>
            <a:ext cx="2743200" cy="896112"/>
          </a:xfrm>
          <a:prstGeom prst="roundRect">
            <a:avLst>
              <a:gd name="adj" fmla="val 7143"/>
            </a:avLst>
          </a:prstGeom>
          <a:solidFill>
            <a:srgbClr val="060F1E"/>
          </a:solidFill>
          <a:ln w="9525">
            <a:solidFill>
              <a:srgbClr val="0D3D5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3"/>
          <p:cNvSpPr/>
          <p:nvPr/>
        </p:nvSpPr>
        <p:spPr>
          <a:xfrm>
            <a:off x="6309360" y="117957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 MB/s</a:t>
            </a:r>
            <a:endParaRPr lang="en-US" sz="2200" dirty="0"/>
          </a:p>
        </p:txBody>
      </p:sp>
      <p:sp>
        <p:nvSpPr>
          <p:cNvPr id="13" name="Text 4"/>
          <p:cNvSpPr/>
          <p:nvPr/>
        </p:nvSpPr>
        <p:spPr>
          <a:xfrm>
            <a:off x="6309360" y="15179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ChaCha20 sur x86</a:t>
            </a:r>
            <a:endParaRPr lang="en-US" sz="950" dirty="0"/>
          </a:p>
        </p:txBody>
      </p:sp>
      <p:sp>
        <p:nvSpPr>
          <p:cNvPr id="14" name="Text 5"/>
          <p:cNvSpPr/>
          <p:nvPr/>
        </p:nvSpPr>
        <p:spPr>
          <a:xfrm>
            <a:off x="6309360" y="170078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61 MB/s sur Pi — ratio 1.87× seulement</a:t>
            </a:r>
            <a:endParaRPr lang="en-US" sz="850" dirty="0"/>
          </a:p>
        </p:txBody>
      </p:sp>
      <p:sp>
        <p:nvSpPr>
          <p:cNvPr id="15" name="Shape 6"/>
          <p:cNvSpPr/>
          <p:nvPr/>
        </p:nvSpPr>
        <p:spPr>
          <a:xfrm>
            <a:off x="6144768" y="2139696"/>
            <a:ext cx="2743200" cy="896112"/>
          </a:xfrm>
          <a:prstGeom prst="roundRect">
            <a:avLst>
              <a:gd name="adj" fmla="val 7143"/>
            </a:avLst>
          </a:prstGeom>
          <a:solidFill>
            <a:srgbClr val="08061A"/>
          </a:solidFill>
          <a:ln w="9525">
            <a:solidFill>
              <a:srgbClr val="22105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7"/>
          <p:cNvSpPr/>
          <p:nvPr/>
        </p:nvSpPr>
        <p:spPr>
          <a:xfrm>
            <a:off x="6309360" y="220370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1.87×</a:t>
            </a:r>
            <a:endParaRPr lang="en-US" sz="2200" dirty="0"/>
          </a:p>
        </p:txBody>
      </p:sp>
      <p:sp>
        <p:nvSpPr>
          <p:cNvPr id="17" name="Text 8"/>
          <p:cNvSpPr/>
          <p:nvPr/>
        </p:nvSpPr>
        <p:spPr>
          <a:xfrm>
            <a:off x="6309360" y="2542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x86 / Pi</a:t>
            </a:r>
            <a:endParaRPr lang="en-US" sz="950" dirty="0"/>
          </a:p>
        </p:txBody>
      </p:sp>
      <p:sp>
        <p:nvSpPr>
          <p:cNvPr id="18" name="Text 9"/>
          <p:cNvSpPr/>
          <p:nvPr/>
        </p:nvSpPr>
        <p:spPr>
          <a:xfrm>
            <a:off x="6309360" y="27249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= 4.08× — ChaCha20 est 2× plus équitable</a:t>
            </a:r>
            <a:endParaRPr lang="en-US" sz="850" dirty="0"/>
          </a:p>
        </p:txBody>
      </p:sp>
      <p:sp>
        <p:nvSpPr>
          <p:cNvPr id="19" name="Shape 10"/>
          <p:cNvSpPr/>
          <p:nvPr/>
        </p:nvSpPr>
        <p:spPr>
          <a:xfrm>
            <a:off x="6144768" y="3163824"/>
            <a:ext cx="2743200" cy="896112"/>
          </a:xfrm>
          <a:prstGeom prst="roundRect">
            <a:avLst>
              <a:gd name="adj" fmla="val 7143"/>
            </a:avLst>
          </a:prstGeom>
          <a:solidFill>
            <a:srgbClr val="060F1E"/>
          </a:solidFill>
          <a:ln w="9525">
            <a:solidFill>
              <a:srgbClr val="0D3D5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1"/>
          <p:cNvSpPr/>
          <p:nvPr/>
        </p:nvSpPr>
        <p:spPr>
          <a:xfrm>
            <a:off x="6309360" y="32278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9.5×</a:t>
            </a:r>
            <a:endParaRPr lang="en-US" sz="2200" dirty="0"/>
          </a:p>
        </p:txBody>
      </p:sp>
      <p:sp>
        <p:nvSpPr>
          <p:cNvPr id="21" name="Text 12"/>
          <p:cNvSpPr/>
          <p:nvPr/>
        </p:nvSpPr>
        <p:spPr>
          <a:xfrm>
            <a:off x="6309360" y="35661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 sur Pi</a:t>
            </a:r>
            <a:endParaRPr lang="en-US" sz="950" dirty="0"/>
          </a:p>
        </p:txBody>
      </p:sp>
      <p:sp>
        <p:nvSpPr>
          <p:cNvPr id="22" name="Text 13"/>
          <p:cNvSpPr/>
          <p:nvPr/>
        </p:nvSpPr>
        <p:spPr>
          <a:xfrm>
            <a:off x="6309360" y="37490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ChaCha20 (61 MB/s) vs AES-GCM Pi (6.4 MB/s)</a:t>
            </a:r>
            <a:endParaRPr lang="en-US" sz="850" dirty="0"/>
          </a:p>
        </p:txBody>
      </p:sp>
      <p:sp>
        <p:nvSpPr>
          <p:cNvPr id="23" name="Shape 14"/>
          <p:cNvSpPr/>
          <p:nvPr/>
        </p:nvSpPr>
        <p:spPr>
          <a:xfrm>
            <a:off x="566928" y="4215384"/>
            <a:ext cx="8321040" cy="594360"/>
          </a:xfrm>
          <a:prstGeom prst="roundRect">
            <a:avLst>
              <a:gd name="adj" fmla="val 9231"/>
            </a:avLst>
          </a:prstGeom>
          <a:solidFill>
            <a:srgbClr val="060F1E"/>
          </a:solidFill>
          <a:ln w="9525">
            <a:solidFill>
              <a:srgbClr val="22105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Text 15"/>
          <p:cNvSpPr/>
          <p:nvPr/>
        </p:nvSpPr>
        <p:spPr>
          <a:xfrm>
            <a:off x="658368" y="4258818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Pi, ChaCha20 surpasse AES-GCM par 9.5×  </a:t>
            </a: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Bernstein a conçu cet algorithme précisément pour ce scénario : un monde où tous les appareils n'ont pas d'accélération crypto dédiée. C'est le standard sur Android et TLS 1.3 mobile.</a:t>
            </a:r>
            <a:endParaRPr lang="en-US" sz="950" dirty="0"/>
          </a:p>
        </p:txBody>
      </p:sp>
      <p:sp>
        <p:nvSpPr>
          <p:cNvPr id="25" name="Shape 16"/>
          <p:cNvSpPr/>
          <p:nvPr/>
        </p:nvSpPr>
        <p:spPr>
          <a:xfrm>
            <a:off x="7699248" y="256032"/>
            <a:ext cx="1115568" cy="329184"/>
          </a:xfrm>
          <a:prstGeom prst="roundRect">
            <a:avLst>
              <a:gd name="adj" fmla="val 22222"/>
            </a:avLst>
          </a:prstGeom>
          <a:solidFill>
            <a:srgbClr val="060F1E"/>
          </a:solidFill>
          <a:ln w="9525">
            <a:solidFill>
              <a:srgbClr val="9B6D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Text 17"/>
          <p:cNvSpPr/>
          <p:nvPr/>
        </p:nvSpPr>
        <p:spPr>
          <a:xfrm>
            <a:off x="7699248" y="256032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Vidéo 7</a:t>
            </a:r>
            <a:endParaRPr lang="en-US" sz="950" dirty="0"/>
          </a:p>
        </p:txBody>
      </p:sp>
      <p:sp>
        <p:nvSpPr>
          <p:cNvPr id="27" name="Text 18"/>
          <p:cNvSpPr/>
          <p:nvPr/>
        </p:nvSpPr>
        <p:spPr>
          <a:xfrm>
            <a:off x="1371600" y="482803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INF1430</a:t>
            </a:r>
            <a:r>
              <a:rPr lang="en-US" sz="850" kern="0" spc="100" dirty="0">
                <a:solidFill>
                  <a:srgbClr val="3A4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Université TÉLUQ  ·  TN3  ·  Melissa Moya  ·  2026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201168"/>
            <a:ext cx="548640" cy="54864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8339328" y="201168"/>
            <a:ext cx="548640" cy="54864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256032" y="4393692"/>
            <a:ext cx="548640" cy="54864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 flipV="1">
            <a:off x="8339328" y="4393692"/>
            <a:ext cx="548640" cy="54864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566928" y="256032"/>
            <a:ext cx="256032" cy="256032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868680" y="256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r>
              <a:rPr lang="en-US" sz="1000" kern="0" spc="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de performance</a:t>
            </a:r>
            <a:endParaRPr lang="en-US" sz="1000" dirty="0"/>
          </a:p>
        </p:txBody>
      </p:sp>
      <p:sp>
        <p:nvSpPr>
          <p:cNvPr id="9" name="Text 1"/>
          <p:cNvSpPr/>
          <p:nvPr/>
        </p:nvSpPr>
        <p:spPr>
          <a:xfrm>
            <a:off x="566928" y="5669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DES, 3DES, Twofish — Pourquoi ils ont perdu</a:t>
            </a:r>
            <a:endParaRPr lang="en-US" sz="2400" dirty="0"/>
          </a:p>
        </p:txBody>
      </p:sp>
      <p:sp>
        <p:nvSpPr>
          <p:cNvPr id="10" name="Shape 2"/>
          <p:cNvSpPr/>
          <p:nvPr/>
        </p:nvSpPr>
        <p:spPr>
          <a:xfrm>
            <a:off x="566928" y="1078992"/>
            <a:ext cx="2633472" cy="2304288"/>
          </a:xfrm>
          <a:prstGeom prst="roundRect">
            <a:avLst>
              <a:gd name="adj" fmla="val 3175"/>
            </a:avLst>
          </a:prstGeom>
          <a:solidFill>
            <a:srgbClr val="1A0812"/>
          </a:solidFill>
          <a:ln w="9525">
            <a:solidFill>
              <a:srgbClr val="3A152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3"/>
          <p:cNvSpPr/>
          <p:nvPr/>
        </p:nvSpPr>
        <p:spPr>
          <a:xfrm>
            <a:off x="749808" y="1243584"/>
            <a:ext cx="2267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</a:t>
            </a:r>
            <a:endParaRPr lang="en-US" sz="2200" dirty="0"/>
          </a:p>
        </p:txBody>
      </p:sp>
      <p:sp>
        <p:nvSpPr>
          <p:cNvPr id="12" name="Shape 4"/>
          <p:cNvSpPr/>
          <p:nvPr/>
        </p:nvSpPr>
        <p:spPr>
          <a:xfrm>
            <a:off x="749808" y="1645920"/>
            <a:ext cx="2267712" cy="256032"/>
          </a:xfrm>
          <a:prstGeom prst="roundRect">
            <a:avLst>
              <a:gd name="adj" fmla="val 14286"/>
            </a:avLst>
          </a:prstGeom>
          <a:solidFill>
            <a:srgbClr val="FF6B9D">
              <a:alpha val="13000"/>
            </a:srgbClr>
          </a:solidFill>
          <a:ln w="6350">
            <a:solidFill>
              <a:srgbClr val="FF6B9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5"/>
          <p:cNvSpPr/>
          <p:nvPr/>
        </p:nvSpPr>
        <p:spPr>
          <a:xfrm>
            <a:off x="749808" y="164592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</a:t>
            </a:r>
            <a:endParaRPr lang="en-US" sz="900" dirty="0"/>
          </a:p>
        </p:txBody>
      </p:sp>
      <p:sp>
        <p:nvSpPr>
          <p:cNvPr id="14" name="Text 6"/>
          <p:cNvSpPr/>
          <p:nvPr/>
        </p:nvSpPr>
        <p:spPr>
          <a:xfrm>
            <a:off x="749808" y="201168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40.7 MB/s</a:t>
            </a:r>
            <a:endParaRPr lang="en-US" sz="1800" dirty="0"/>
          </a:p>
        </p:txBody>
      </p:sp>
      <p:sp>
        <p:nvSpPr>
          <p:cNvPr id="15" name="Text 7"/>
          <p:cNvSpPr/>
          <p:nvPr/>
        </p:nvSpPr>
        <p:spPr>
          <a:xfrm>
            <a:off x="749808" y="2322576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x86  ·  18.3 MB/s Pi</a:t>
            </a:r>
            <a:endParaRPr lang="en-US" sz="850" dirty="0"/>
          </a:p>
        </p:txBody>
      </p:sp>
      <p:sp>
        <p:nvSpPr>
          <p:cNvPr id="16" name="Shape 8"/>
          <p:cNvSpPr/>
          <p:nvPr/>
        </p:nvSpPr>
        <p:spPr>
          <a:xfrm>
            <a:off x="749808" y="2560320"/>
            <a:ext cx="2267712" cy="0"/>
          </a:xfrm>
          <a:prstGeom prst="line">
            <a:avLst/>
          </a:prstGeom>
          <a:noFill/>
          <a:ln w="6350">
            <a:solidFill>
              <a:srgbClr val="3A152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9"/>
          <p:cNvSpPr/>
          <p:nvPr/>
        </p:nvSpPr>
        <p:spPr>
          <a:xfrm>
            <a:off x="749808" y="2587752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 effective</a:t>
            </a:r>
            <a:endParaRPr lang="en-US" sz="800" dirty="0"/>
          </a:p>
        </p:txBody>
      </p:sp>
      <p:sp>
        <p:nvSpPr>
          <p:cNvPr id="18" name="Text 10"/>
          <p:cNvSpPr/>
          <p:nvPr/>
        </p:nvSpPr>
        <p:spPr>
          <a:xfrm>
            <a:off x="749808" y="2734056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bits</a:t>
            </a:r>
            <a:endParaRPr lang="en-US" sz="950" dirty="0"/>
          </a:p>
        </p:txBody>
      </p:sp>
      <p:sp>
        <p:nvSpPr>
          <p:cNvPr id="19" name="Text 11"/>
          <p:cNvSpPr/>
          <p:nvPr/>
        </p:nvSpPr>
        <p:spPr>
          <a:xfrm>
            <a:off x="749808" y="2834640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Cassé en</a:t>
            </a:r>
            <a:endParaRPr lang="en-US" sz="800" dirty="0"/>
          </a:p>
        </p:txBody>
      </p:sp>
      <p:sp>
        <p:nvSpPr>
          <p:cNvPr id="20" name="Text 12"/>
          <p:cNvSpPr/>
          <p:nvPr/>
        </p:nvSpPr>
        <p:spPr>
          <a:xfrm>
            <a:off x="749808" y="2980944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22h en 1998 (EFF)</a:t>
            </a:r>
            <a:endParaRPr lang="en-US" sz="950" dirty="0"/>
          </a:p>
        </p:txBody>
      </p:sp>
      <p:sp>
        <p:nvSpPr>
          <p:cNvPr id="21" name="Text 13"/>
          <p:cNvSpPr/>
          <p:nvPr/>
        </p:nvSpPr>
        <p:spPr>
          <a:xfrm>
            <a:off x="749808" y="3081528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Accélération HW</a:t>
            </a:r>
            <a:endParaRPr lang="en-US" sz="800" dirty="0"/>
          </a:p>
        </p:txBody>
      </p:sp>
      <p:sp>
        <p:nvSpPr>
          <p:cNvPr id="22" name="Text 14"/>
          <p:cNvSpPr/>
          <p:nvPr/>
        </p:nvSpPr>
        <p:spPr>
          <a:xfrm>
            <a:off x="749808" y="3227832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</a:t>
            </a:r>
            <a:endParaRPr lang="en-US" sz="950" dirty="0"/>
          </a:p>
        </p:txBody>
      </p:sp>
      <p:sp>
        <p:nvSpPr>
          <p:cNvPr id="23" name="Shape 15"/>
          <p:cNvSpPr/>
          <p:nvPr/>
        </p:nvSpPr>
        <p:spPr>
          <a:xfrm>
            <a:off x="566928" y="3474720"/>
            <a:ext cx="2633472" cy="420624"/>
          </a:xfrm>
          <a:prstGeom prst="roundRect">
            <a:avLst>
              <a:gd name="adj" fmla="val 10870"/>
            </a:avLst>
          </a:prstGeom>
          <a:solidFill>
            <a:srgbClr val="060F1E"/>
          </a:solidFill>
          <a:ln w="6350">
            <a:solidFill>
              <a:srgbClr val="3A152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Text 16"/>
          <p:cNvSpPr/>
          <p:nvPr/>
        </p:nvSpPr>
        <p:spPr>
          <a:xfrm>
            <a:off x="676656" y="3474720"/>
            <a:ext cx="2414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 depuis 1998 — présent ici pour contexte historique.</a:t>
            </a:r>
            <a:endParaRPr lang="en-US" sz="850" dirty="0"/>
          </a:p>
        </p:txBody>
      </p:sp>
      <p:sp>
        <p:nvSpPr>
          <p:cNvPr id="25" name="Shape 17"/>
          <p:cNvSpPr/>
          <p:nvPr/>
        </p:nvSpPr>
        <p:spPr>
          <a:xfrm>
            <a:off x="3364992" y="1078992"/>
            <a:ext cx="2633472" cy="2304288"/>
          </a:xfrm>
          <a:prstGeom prst="roundRect">
            <a:avLst>
              <a:gd name="adj" fmla="val 3175"/>
            </a:avLst>
          </a:prstGeom>
          <a:solidFill>
            <a:srgbClr val="0E0820"/>
          </a:solidFill>
          <a:ln w="9525">
            <a:solidFill>
              <a:srgbClr val="2A146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Text 18"/>
          <p:cNvSpPr/>
          <p:nvPr/>
        </p:nvSpPr>
        <p:spPr>
          <a:xfrm>
            <a:off x="3547872" y="1243584"/>
            <a:ext cx="2267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3DES</a:t>
            </a:r>
            <a:endParaRPr lang="en-US" sz="2200" dirty="0"/>
          </a:p>
        </p:txBody>
      </p:sp>
      <p:sp>
        <p:nvSpPr>
          <p:cNvPr id="27" name="Shape 19"/>
          <p:cNvSpPr/>
          <p:nvPr/>
        </p:nvSpPr>
        <p:spPr>
          <a:xfrm>
            <a:off x="3547872" y="1645920"/>
            <a:ext cx="2267712" cy="256032"/>
          </a:xfrm>
          <a:prstGeom prst="roundRect">
            <a:avLst>
              <a:gd name="adj" fmla="val 14286"/>
            </a:avLst>
          </a:prstGeom>
          <a:solidFill>
            <a:srgbClr val="9B6DFF">
              <a:alpha val="13000"/>
            </a:srgbClr>
          </a:solidFill>
          <a:ln w="6350">
            <a:solidFill>
              <a:srgbClr val="9B6D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Text 20"/>
          <p:cNvSpPr/>
          <p:nvPr/>
        </p:nvSpPr>
        <p:spPr>
          <a:xfrm>
            <a:off x="3547872" y="164592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DÉPRÉCIÉ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3547872" y="201168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12.3 MB/s</a:t>
            </a:r>
            <a:endParaRPr lang="en-US" sz="1800" dirty="0"/>
          </a:p>
        </p:txBody>
      </p:sp>
      <p:sp>
        <p:nvSpPr>
          <p:cNvPr id="30" name="Text 22"/>
          <p:cNvSpPr/>
          <p:nvPr/>
        </p:nvSpPr>
        <p:spPr>
          <a:xfrm>
            <a:off x="3547872" y="2322576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x86  ·  7.5 MB/s Pi</a:t>
            </a:r>
            <a:endParaRPr lang="en-US" sz="850" dirty="0"/>
          </a:p>
        </p:txBody>
      </p:sp>
      <p:sp>
        <p:nvSpPr>
          <p:cNvPr id="31" name="Shape 23"/>
          <p:cNvSpPr/>
          <p:nvPr/>
        </p:nvSpPr>
        <p:spPr>
          <a:xfrm>
            <a:off x="3547872" y="2560320"/>
            <a:ext cx="2267712" cy="0"/>
          </a:xfrm>
          <a:prstGeom prst="line">
            <a:avLst/>
          </a:prstGeom>
          <a:noFill/>
          <a:ln w="6350">
            <a:solidFill>
              <a:srgbClr val="2A146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2" name="Text 24"/>
          <p:cNvSpPr/>
          <p:nvPr/>
        </p:nvSpPr>
        <p:spPr>
          <a:xfrm>
            <a:off x="3547872" y="2587752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effective</a:t>
            </a:r>
            <a:endParaRPr lang="en-US" sz="800" dirty="0"/>
          </a:p>
        </p:txBody>
      </p:sp>
      <p:sp>
        <p:nvSpPr>
          <p:cNvPr id="33" name="Text 25"/>
          <p:cNvSpPr/>
          <p:nvPr/>
        </p:nvSpPr>
        <p:spPr>
          <a:xfrm>
            <a:off x="3547872" y="2734056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 bits</a:t>
            </a:r>
            <a:endParaRPr lang="en-US" sz="950" dirty="0"/>
          </a:p>
        </p:txBody>
      </p:sp>
      <p:sp>
        <p:nvSpPr>
          <p:cNvPr id="34" name="Text 26"/>
          <p:cNvSpPr/>
          <p:nvPr/>
        </p:nvSpPr>
        <p:spPr>
          <a:xfrm>
            <a:off x="3547872" y="2834640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</a:t>
            </a:r>
            <a:endParaRPr lang="en-US" sz="800" dirty="0"/>
          </a:p>
        </p:txBody>
      </p:sp>
      <p:sp>
        <p:nvSpPr>
          <p:cNvPr id="35" name="Text 27"/>
          <p:cNvSpPr/>
          <p:nvPr/>
        </p:nvSpPr>
        <p:spPr>
          <a:xfrm>
            <a:off x="3547872" y="2980944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passes séquentielles</a:t>
            </a:r>
            <a:endParaRPr lang="en-US" sz="950" dirty="0"/>
          </a:p>
        </p:txBody>
      </p:sp>
      <p:sp>
        <p:nvSpPr>
          <p:cNvPr id="36" name="Text 28"/>
          <p:cNvSpPr/>
          <p:nvPr/>
        </p:nvSpPr>
        <p:spPr>
          <a:xfrm>
            <a:off x="3547872" y="3081528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</a:t>
            </a:r>
            <a:endParaRPr lang="en-US" sz="800" dirty="0"/>
          </a:p>
        </p:txBody>
      </p:sp>
      <p:sp>
        <p:nvSpPr>
          <p:cNvPr id="37" name="Text 29"/>
          <p:cNvSpPr/>
          <p:nvPr/>
        </p:nvSpPr>
        <p:spPr>
          <a:xfrm>
            <a:off x="3547872" y="3227832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Déprécié 2017, interdit 2023</a:t>
            </a:r>
            <a:endParaRPr lang="en-US" sz="950" dirty="0"/>
          </a:p>
        </p:txBody>
      </p:sp>
      <p:sp>
        <p:nvSpPr>
          <p:cNvPr id="38" name="Shape 30"/>
          <p:cNvSpPr/>
          <p:nvPr/>
        </p:nvSpPr>
        <p:spPr>
          <a:xfrm>
            <a:off x="3364992" y="3474720"/>
            <a:ext cx="2633472" cy="420624"/>
          </a:xfrm>
          <a:prstGeom prst="roundRect">
            <a:avLst>
              <a:gd name="adj" fmla="val 10870"/>
            </a:avLst>
          </a:prstGeom>
          <a:solidFill>
            <a:srgbClr val="060F1E"/>
          </a:solidFill>
          <a:ln w="6350">
            <a:solidFill>
              <a:srgbClr val="2A146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9" name="Text 31"/>
          <p:cNvSpPr/>
          <p:nvPr/>
        </p:nvSpPr>
        <p:spPr>
          <a:xfrm>
            <a:off x="3474720" y="3474720"/>
            <a:ext cx="2414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pire des deux mondes — lent ET faiblement sécurisé.</a:t>
            </a:r>
            <a:endParaRPr lang="en-US" sz="850" dirty="0"/>
          </a:p>
        </p:txBody>
      </p:sp>
      <p:sp>
        <p:nvSpPr>
          <p:cNvPr id="40" name="Shape 32"/>
          <p:cNvSpPr/>
          <p:nvPr/>
        </p:nvSpPr>
        <p:spPr>
          <a:xfrm>
            <a:off x="6163056" y="1078992"/>
            <a:ext cx="2633472" cy="2304288"/>
          </a:xfrm>
          <a:prstGeom prst="roundRect">
            <a:avLst>
              <a:gd name="adj" fmla="val 3175"/>
            </a:avLst>
          </a:prstGeom>
          <a:solidFill>
            <a:srgbClr val="060F1E"/>
          </a:solidFill>
          <a:ln w="9525">
            <a:solidFill>
              <a:srgbClr val="0D3D5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1" name="Text 33"/>
          <p:cNvSpPr/>
          <p:nvPr/>
        </p:nvSpPr>
        <p:spPr>
          <a:xfrm>
            <a:off x="6345936" y="1243584"/>
            <a:ext cx="2267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Twofish</a:t>
            </a:r>
            <a:endParaRPr lang="en-US" sz="2200" dirty="0"/>
          </a:p>
        </p:txBody>
      </p:sp>
      <p:sp>
        <p:nvSpPr>
          <p:cNvPr id="42" name="Shape 34"/>
          <p:cNvSpPr/>
          <p:nvPr/>
        </p:nvSpPr>
        <p:spPr>
          <a:xfrm>
            <a:off x="6345936" y="1645920"/>
            <a:ext cx="2267712" cy="256032"/>
          </a:xfrm>
          <a:prstGeom prst="roundRect">
            <a:avLst>
              <a:gd name="adj" fmla="val 14286"/>
            </a:avLst>
          </a:prstGeom>
          <a:solidFill>
            <a:srgbClr val="00F5FF">
              <a:alpha val="13000"/>
            </a:srgbClr>
          </a:solidFill>
          <a:ln w="6350">
            <a:solidFill>
              <a:srgbClr val="00F5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3" name="Text 35"/>
          <p:cNvSpPr/>
          <p:nvPr/>
        </p:nvSpPr>
        <p:spPr>
          <a:xfrm>
            <a:off x="6345936" y="164592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OBSOLÈTE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6345936" y="201168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2.82 MB/s</a:t>
            </a:r>
            <a:endParaRPr lang="en-US" sz="1800" dirty="0"/>
          </a:p>
        </p:txBody>
      </p:sp>
      <p:sp>
        <p:nvSpPr>
          <p:cNvPr id="45" name="Text 37"/>
          <p:cNvSpPr/>
          <p:nvPr/>
        </p:nvSpPr>
        <p:spPr>
          <a:xfrm>
            <a:off x="6345936" y="2322576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x86  ·  1.29 MB/s Pi</a:t>
            </a:r>
            <a:endParaRPr lang="en-US" sz="850" dirty="0"/>
          </a:p>
        </p:txBody>
      </p:sp>
      <p:sp>
        <p:nvSpPr>
          <p:cNvPr id="46" name="Shape 38"/>
          <p:cNvSpPr/>
          <p:nvPr/>
        </p:nvSpPr>
        <p:spPr>
          <a:xfrm>
            <a:off x="6345936" y="2560320"/>
            <a:ext cx="2267712" cy="0"/>
          </a:xfrm>
          <a:prstGeom prst="line">
            <a:avLst/>
          </a:prstGeom>
          <a:noFill/>
          <a:ln w="6350">
            <a:solidFill>
              <a:srgbClr val="0D3D5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7" name="Text 39"/>
          <p:cNvSpPr/>
          <p:nvPr/>
        </p:nvSpPr>
        <p:spPr>
          <a:xfrm>
            <a:off x="6345936" y="2587752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Finaliste AES 1998</a:t>
            </a:r>
            <a:endParaRPr lang="en-US" sz="800" dirty="0"/>
          </a:p>
        </p:txBody>
      </p:sp>
      <p:sp>
        <p:nvSpPr>
          <p:cNvPr id="48" name="Text 40"/>
          <p:cNvSpPr/>
          <p:nvPr/>
        </p:nvSpPr>
        <p:spPr>
          <a:xfrm>
            <a:off x="6345936" y="2734056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Perdu contre Rijndael</a:t>
            </a:r>
            <a:endParaRPr lang="en-US" sz="950" dirty="0"/>
          </a:p>
        </p:txBody>
      </p:sp>
      <p:sp>
        <p:nvSpPr>
          <p:cNvPr id="49" name="Text 41"/>
          <p:cNvSpPr/>
          <p:nvPr/>
        </p:nvSpPr>
        <p:spPr>
          <a:xfrm>
            <a:off x="6345936" y="2834640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</a:t>
            </a:r>
            <a:endParaRPr lang="en-US" sz="800" dirty="0"/>
          </a:p>
        </p:txBody>
      </p:sp>
      <p:sp>
        <p:nvSpPr>
          <p:cNvPr id="50" name="Text 42"/>
          <p:cNvSpPr/>
          <p:nvPr/>
        </p:nvSpPr>
        <p:spPr>
          <a:xfrm>
            <a:off x="6345936" y="2980944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schedule trop complexe</a:t>
            </a:r>
            <a:endParaRPr lang="en-US" sz="950" dirty="0"/>
          </a:p>
        </p:txBody>
      </p:sp>
      <p:sp>
        <p:nvSpPr>
          <p:cNvPr id="51" name="Text 43"/>
          <p:cNvSpPr/>
          <p:nvPr/>
        </p:nvSpPr>
        <p:spPr>
          <a:xfrm>
            <a:off x="6345936" y="3081528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AES</a:t>
            </a:r>
            <a:endParaRPr lang="en-US" sz="800" dirty="0"/>
          </a:p>
        </p:txBody>
      </p:sp>
      <p:sp>
        <p:nvSpPr>
          <p:cNvPr id="52" name="Text 44"/>
          <p:cNvSpPr/>
          <p:nvPr/>
        </p:nvSpPr>
        <p:spPr>
          <a:xfrm>
            <a:off x="6345936" y="3227832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147× plus lent sur x86</a:t>
            </a:r>
            <a:endParaRPr lang="en-US" sz="950" dirty="0"/>
          </a:p>
        </p:txBody>
      </p:sp>
      <p:sp>
        <p:nvSpPr>
          <p:cNvPr id="53" name="Shape 45"/>
          <p:cNvSpPr/>
          <p:nvPr/>
        </p:nvSpPr>
        <p:spPr>
          <a:xfrm>
            <a:off x="6163056" y="3474720"/>
            <a:ext cx="2633472" cy="420624"/>
          </a:xfrm>
          <a:prstGeom prst="roundRect">
            <a:avLst>
              <a:gd name="adj" fmla="val 10870"/>
            </a:avLst>
          </a:prstGeom>
          <a:solidFill>
            <a:srgbClr val="060F1E"/>
          </a:solidFill>
          <a:ln w="6350">
            <a:solidFill>
              <a:srgbClr val="0D3D5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4" name="Text 46"/>
          <p:cNvSpPr/>
          <p:nvPr/>
        </p:nvSpPr>
        <p:spPr>
          <a:xfrm>
            <a:off x="6272784" y="3474720"/>
            <a:ext cx="2414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Fascinant académiquement, jamais adopté industriellement.</a:t>
            </a:r>
            <a:endParaRPr lang="en-US" sz="850" dirty="0"/>
          </a:p>
        </p:txBody>
      </p:sp>
      <p:sp>
        <p:nvSpPr>
          <p:cNvPr id="55" name="Shape 47"/>
          <p:cNvSpPr/>
          <p:nvPr/>
        </p:nvSpPr>
        <p:spPr>
          <a:xfrm>
            <a:off x="566928" y="4050792"/>
            <a:ext cx="8321040" cy="420624"/>
          </a:xfrm>
          <a:prstGeom prst="roundRect">
            <a:avLst>
              <a:gd name="adj" fmla="val 9231"/>
            </a:avLst>
          </a:prstGeom>
          <a:solidFill>
            <a:srgbClr val="060F1E"/>
          </a:solidFill>
          <a:ln w="9525">
            <a:solidFill>
              <a:srgbClr val="0D3D5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6" name="Text 48"/>
          <p:cNvSpPr/>
          <p:nvPr/>
        </p:nvSpPr>
        <p:spPr>
          <a:xfrm>
            <a:off x="731520" y="3967111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: 163 MB/s  </a:t>
            </a: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Twofish : 2.82 MB/s — un facteur </a:t>
            </a:r>
            <a:r>
              <a:rPr lang="en-US" sz="95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57×. </a:t>
            </a: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trois algorithmes sont là pour comprendre pourquoi AES a gagné — pas pour être utilisés.</a:t>
            </a:r>
            <a:endParaRPr lang="en-US" sz="950" dirty="0"/>
          </a:p>
        </p:txBody>
      </p:sp>
      <p:sp>
        <p:nvSpPr>
          <p:cNvPr id="57" name="Shape 49"/>
          <p:cNvSpPr/>
          <p:nvPr/>
        </p:nvSpPr>
        <p:spPr>
          <a:xfrm>
            <a:off x="7699248" y="256032"/>
            <a:ext cx="1115568" cy="329184"/>
          </a:xfrm>
          <a:prstGeom prst="roundRect">
            <a:avLst>
              <a:gd name="adj" fmla="val 22222"/>
            </a:avLst>
          </a:prstGeom>
          <a:solidFill>
            <a:srgbClr val="060F1E"/>
          </a:solidFill>
          <a:ln w="9525">
            <a:solidFill>
              <a:srgbClr val="00F5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8" name="Text 50"/>
          <p:cNvSpPr/>
          <p:nvPr/>
        </p:nvSpPr>
        <p:spPr>
          <a:xfrm>
            <a:off x="7699248" y="256032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Vidéo 8</a:t>
            </a:r>
            <a:endParaRPr lang="en-US" sz="950" dirty="0"/>
          </a:p>
        </p:txBody>
      </p:sp>
      <p:sp>
        <p:nvSpPr>
          <p:cNvPr id="59" name="Text 51"/>
          <p:cNvSpPr/>
          <p:nvPr/>
        </p:nvSpPr>
        <p:spPr>
          <a:xfrm>
            <a:off x="1371600" y="482803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INF1430</a:t>
            </a:r>
            <a:r>
              <a:rPr lang="en-US" sz="850" kern="0" spc="100" dirty="0">
                <a:solidFill>
                  <a:srgbClr val="3A4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Université TÉLUQ  ·  TN3  ·  Melissa Moya  ·  2026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201168"/>
            <a:ext cx="548640" cy="54864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8339328" y="201168"/>
            <a:ext cx="548640" cy="54864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256032" y="4393692"/>
            <a:ext cx="548640" cy="54864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 flipV="1">
            <a:off x="8339328" y="4393692"/>
            <a:ext cx="548640" cy="54864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566928" y="256032"/>
            <a:ext cx="256032" cy="256032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868680" y="256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r>
              <a:rPr lang="en-US" sz="1000" kern="0" spc="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de performance</a:t>
            </a:r>
            <a:endParaRPr lang="en-US" sz="1000" dirty="0"/>
          </a:p>
        </p:txBody>
      </p:sp>
      <p:sp>
        <p:nvSpPr>
          <p:cNvPr id="9" name="Text 1"/>
          <p:cNvSpPr/>
          <p:nvPr/>
        </p:nvSpPr>
        <p:spPr>
          <a:xfrm>
            <a:off x="566928" y="5669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ECB — Le mode le plus rapide est le plus dangereux</a:t>
            </a:r>
            <a:endParaRPr lang="en-US" sz="2300" dirty="0"/>
          </a:p>
        </p:txBody>
      </p:sp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" y="1119122"/>
            <a:ext cx="8217049" cy="3132838"/>
          </a:xfrm>
          <a:prstGeom prst="rect">
            <a:avLst/>
          </a:prstGeom>
        </p:spPr>
      </p:pic>
      <p:sp>
        <p:nvSpPr>
          <p:cNvPr id="12" name="Text 3"/>
          <p:cNvSpPr/>
          <p:nvPr/>
        </p:nvSpPr>
        <p:spPr>
          <a:xfrm>
            <a:off x="617362" y="4033089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ECB chiffre chaque bloc </a:t>
            </a: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indépendamment</a:t>
            </a: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avec la même clé</a:t>
            </a:r>
            <a:endParaRPr lang="en-US" sz="950" dirty="0"/>
          </a:p>
        </p:txBody>
      </p:sp>
      <p:sp>
        <p:nvSpPr>
          <p:cNvPr id="14" name="Text 5"/>
          <p:cNvSpPr/>
          <p:nvPr/>
        </p:nvSpPr>
        <p:spPr>
          <a:xfrm>
            <a:off x="3494238" y="4033089"/>
            <a:ext cx="238317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blocs de plaintext identiques → </a:t>
            </a: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blocs de ciphertext identiques</a:t>
            </a:r>
            <a:endParaRPr lang="en-US" sz="950" dirty="0"/>
          </a:p>
        </p:txBody>
      </p:sp>
      <p:sp>
        <p:nvSpPr>
          <p:cNvPr id="16" name="Text 7"/>
          <p:cNvSpPr/>
          <p:nvPr/>
        </p:nvSpPr>
        <p:spPr>
          <a:xfrm>
            <a:off x="6364224" y="4063642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patterns structurels </a:t>
            </a: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survivent au chiffrement</a:t>
            </a: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la clé n'a pas besoin d'être cassée</a:t>
            </a:r>
            <a:endParaRPr lang="en-US" sz="950" dirty="0"/>
          </a:p>
        </p:txBody>
      </p:sp>
      <p:sp>
        <p:nvSpPr>
          <p:cNvPr id="18" name="Text 9"/>
          <p:cNvSpPr/>
          <p:nvPr/>
        </p:nvSpPr>
        <p:spPr>
          <a:xfrm>
            <a:off x="475488" y="4402403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ECB = 162 MB/s — le résultat le plus élevé du benchmark.  </a:t>
            </a: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aussi le seul mode cryptographiquement cassé. Optimiser sans comprendre la sécurité est une faute professionnelle.</a:t>
            </a:r>
            <a:endParaRPr lang="en-US" sz="950" dirty="0"/>
          </a:p>
        </p:txBody>
      </p:sp>
      <p:sp>
        <p:nvSpPr>
          <p:cNvPr id="19" name="Shape 10"/>
          <p:cNvSpPr/>
          <p:nvPr/>
        </p:nvSpPr>
        <p:spPr>
          <a:xfrm>
            <a:off x="7699248" y="256032"/>
            <a:ext cx="1115568" cy="329184"/>
          </a:xfrm>
          <a:prstGeom prst="roundRect">
            <a:avLst>
              <a:gd name="adj" fmla="val 22222"/>
            </a:avLst>
          </a:prstGeom>
          <a:solidFill>
            <a:srgbClr val="060F1E"/>
          </a:solidFill>
          <a:ln w="9525">
            <a:solidFill>
              <a:srgbClr val="00F5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1"/>
          <p:cNvSpPr/>
          <p:nvPr/>
        </p:nvSpPr>
        <p:spPr>
          <a:xfrm>
            <a:off x="7699248" y="256032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Vidéo 9</a:t>
            </a:r>
            <a:endParaRPr lang="en-US" sz="950" dirty="0"/>
          </a:p>
        </p:txBody>
      </p:sp>
      <p:sp>
        <p:nvSpPr>
          <p:cNvPr id="21" name="Text 12"/>
          <p:cNvSpPr/>
          <p:nvPr/>
        </p:nvSpPr>
        <p:spPr>
          <a:xfrm>
            <a:off x="1371600" y="482803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INF1430</a:t>
            </a:r>
            <a:r>
              <a:rPr lang="en-US" sz="850" kern="0" spc="100" dirty="0">
                <a:solidFill>
                  <a:srgbClr val="3A4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Université TÉLUQ  ·  TN3  ·  Melissa Moya  ·  2026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201168"/>
            <a:ext cx="548640" cy="54864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8339328" y="201168"/>
            <a:ext cx="548640" cy="54864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256032" y="4393692"/>
            <a:ext cx="548640" cy="54864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 flipV="1">
            <a:off x="8339328" y="4393692"/>
            <a:ext cx="548640" cy="54864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566928" y="256032"/>
            <a:ext cx="256032" cy="256032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86868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r>
              <a:rPr lang="en-US" sz="1000" kern="0" spc="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Robustesse cryptographique</a:t>
            </a:r>
            <a:endParaRPr lang="en-US" sz="1000" dirty="0"/>
          </a:p>
        </p:txBody>
      </p:sp>
      <p:sp>
        <p:nvSpPr>
          <p:cNvPr id="9" name="Text 1"/>
          <p:cNvSpPr/>
          <p:nvPr/>
        </p:nvSpPr>
        <p:spPr>
          <a:xfrm>
            <a:off x="566928" y="5669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 d'avalanche — La santé cryptographique</a:t>
            </a:r>
            <a:endParaRPr lang="en-US" sz="2400" dirty="0"/>
          </a:p>
        </p:txBody>
      </p:sp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1115568"/>
            <a:ext cx="5394960" cy="2920580"/>
          </a:xfrm>
          <a:prstGeom prst="rect">
            <a:avLst/>
          </a:prstGeom>
        </p:spPr>
      </p:pic>
      <p:sp>
        <p:nvSpPr>
          <p:cNvPr id="11" name="Shape 2"/>
          <p:cNvSpPr/>
          <p:nvPr/>
        </p:nvSpPr>
        <p:spPr>
          <a:xfrm>
            <a:off x="6144768" y="1115568"/>
            <a:ext cx="2743200" cy="402336"/>
          </a:xfrm>
          <a:prstGeom prst="roundRect">
            <a:avLst>
              <a:gd name="adj" fmla="val 9091"/>
            </a:avLst>
          </a:prstGeom>
          <a:solidFill>
            <a:srgbClr val="0D1E35"/>
          </a:solidFill>
          <a:ln w="635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3"/>
          <p:cNvSpPr/>
          <p:nvPr/>
        </p:nvSpPr>
        <p:spPr>
          <a:xfrm>
            <a:off x="6236208" y="111556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</a:t>
            </a:r>
            <a:endParaRPr lang="en-US" sz="1000" dirty="0"/>
          </a:p>
        </p:txBody>
      </p:sp>
      <p:sp>
        <p:nvSpPr>
          <p:cNvPr id="13" name="Text 4"/>
          <p:cNvSpPr/>
          <p:nvPr/>
        </p:nvSpPr>
        <p:spPr>
          <a:xfrm>
            <a:off x="7242048" y="1115568"/>
            <a:ext cx="694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000" dirty="0"/>
          </a:p>
        </p:txBody>
      </p:sp>
      <p:sp>
        <p:nvSpPr>
          <p:cNvPr id="14" name="Text 5"/>
          <p:cNvSpPr/>
          <p:nvPr/>
        </p:nvSpPr>
        <p:spPr>
          <a:xfrm>
            <a:off x="7936992" y="1115568"/>
            <a:ext cx="950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000" dirty="0"/>
          </a:p>
        </p:txBody>
      </p:sp>
      <p:sp>
        <p:nvSpPr>
          <p:cNvPr id="15" name="Shape 6"/>
          <p:cNvSpPr/>
          <p:nvPr/>
        </p:nvSpPr>
        <p:spPr>
          <a:xfrm>
            <a:off x="6144768" y="1517904"/>
            <a:ext cx="2743200" cy="402336"/>
          </a:xfrm>
          <a:prstGeom prst="rect">
            <a:avLst/>
          </a:prstGeom>
          <a:solidFill>
            <a:srgbClr val="080F1E"/>
          </a:solidFill>
          <a:ln w="6350">
            <a:solidFill>
              <a:srgbClr val="0F1E3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Shape 7"/>
          <p:cNvSpPr/>
          <p:nvPr/>
        </p:nvSpPr>
        <p:spPr>
          <a:xfrm>
            <a:off x="6236208" y="1664208"/>
            <a:ext cx="109728" cy="109728"/>
          </a:xfrm>
          <a:prstGeom prst="ellipse">
            <a:avLst/>
          </a:prstGeom>
          <a:solidFill>
            <a:srgbClr val="4F7FFF"/>
          </a:solidFill>
          <a:ln w="12700">
            <a:solidFill>
              <a:srgbClr val="4F7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8"/>
          <p:cNvSpPr/>
          <p:nvPr/>
        </p:nvSpPr>
        <p:spPr>
          <a:xfrm>
            <a:off x="6400800" y="1517904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</a:t>
            </a:r>
            <a:endParaRPr lang="en-US" sz="1000" dirty="0"/>
          </a:p>
        </p:txBody>
      </p:sp>
      <p:sp>
        <p:nvSpPr>
          <p:cNvPr id="18" name="Text 9"/>
          <p:cNvSpPr/>
          <p:nvPr/>
        </p:nvSpPr>
        <p:spPr>
          <a:xfrm>
            <a:off x="7242048" y="1517904"/>
            <a:ext cx="694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0.4997</a:t>
            </a:r>
            <a:endParaRPr lang="en-US" sz="1000" dirty="0"/>
          </a:p>
        </p:txBody>
      </p:sp>
      <p:sp>
        <p:nvSpPr>
          <p:cNvPr id="19" name="Text 10"/>
          <p:cNvSpPr/>
          <p:nvPr/>
        </p:nvSpPr>
        <p:spPr>
          <a:xfrm>
            <a:off x="7936992" y="1517904"/>
            <a:ext cx="950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DF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Parfait</a:t>
            </a:r>
            <a:endParaRPr lang="en-US" sz="1000" dirty="0"/>
          </a:p>
        </p:txBody>
      </p:sp>
      <p:sp>
        <p:nvSpPr>
          <p:cNvPr id="20" name="Shape 11"/>
          <p:cNvSpPr/>
          <p:nvPr/>
        </p:nvSpPr>
        <p:spPr>
          <a:xfrm>
            <a:off x="6144768" y="1920240"/>
            <a:ext cx="2743200" cy="402336"/>
          </a:xfrm>
          <a:prstGeom prst="rect">
            <a:avLst/>
          </a:prstGeom>
          <a:solidFill>
            <a:srgbClr val="060B14"/>
          </a:solidFill>
          <a:ln w="6350">
            <a:solidFill>
              <a:srgbClr val="0F1E3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Shape 12"/>
          <p:cNvSpPr/>
          <p:nvPr/>
        </p:nvSpPr>
        <p:spPr>
          <a:xfrm>
            <a:off x="6236208" y="2066544"/>
            <a:ext cx="109728" cy="109728"/>
          </a:xfrm>
          <a:prstGeom prst="ellipse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Text 13"/>
          <p:cNvSpPr/>
          <p:nvPr/>
        </p:nvSpPr>
        <p:spPr>
          <a:xfrm>
            <a:off x="6400800" y="192024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3DES</a:t>
            </a:r>
            <a:endParaRPr lang="en-US" sz="1000" dirty="0"/>
          </a:p>
        </p:txBody>
      </p:sp>
      <p:sp>
        <p:nvSpPr>
          <p:cNvPr id="23" name="Text 14"/>
          <p:cNvSpPr/>
          <p:nvPr/>
        </p:nvSpPr>
        <p:spPr>
          <a:xfrm>
            <a:off x="7242048" y="1920240"/>
            <a:ext cx="694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0.5004</a:t>
            </a:r>
            <a:endParaRPr lang="en-US" sz="1000" dirty="0"/>
          </a:p>
        </p:txBody>
      </p:sp>
      <p:sp>
        <p:nvSpPr>
          <p:cNvPr id="24" name="Text 15"/>
          <p:cNvSpPr/>
          <p:nvPr/>
        </p:nvSpPr>
        <p:spPr>
          <a:xfrm>
            <a:off x="7936992" y="1920240"/>
            <a:ext cx="950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DF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1000" dirty="0"/>
          </a:p>
        </p:txBody>
      </p:sp>
      <p:sp>
        <p:nvSpPr>
          <p:cNvPr id="25" name="Shape 16"/>
          <p:cNvSpPr/>
          <p:nvPr/>
        </p:nvSpPr>
        <p:spPr>
          <a:xfrm>
            <a:off x="6144768" y="2322576"/>
            <a:ext cx="2743200" cy="402336"/>
          </a:xfrm>
          <a:prstGeom prst="rect">
            <a:avLst/>
          </a:prstGeom>
          <a:solidFill>
            <a:srgbClr val="080F1E"/>
          </a:solidFill>
          <a:ln w="6350">
            <a:solidFill>
              <a:srgbClr val="0F1E3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Shape 17"/>
          <p:cNvSpPr/>
          <p:nvPr/>
        </p:nvSpPr>
        <p:spPr>
          <a:xfrm>
            <a:off x="6236208" y="2468880"/>
            <a:ext cx="109728" cy="109728"/>
          </a:xfrm>
          <a:prstGeom prst="ellipse">
            <a:avLst/>
          </a:prstGeom>
          <a:solidFill>
            <a:srgbClr val="00C97A"/>
          </a:solidFill>
          <a:ln w="12700">
            <a:solidFill>
              <a:srgbClr val="00C97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7" name="Text 18"/>
          <p:cNvSpPr/>
          <p:nvPr/>
        </p:nvSpPr>
        <p:spPr>
          <a:xfrm>
            <a:off x="6400800" y="2322576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Twofish</a:t>
            </a:r>
            <a:endParaRPr lang="en-US" sz="1000" dirty="0"/>
          </a:p>
        </p:txBody>
      </p:sp>
      <p:sp>
        <p:nvSpPr>
          <p:cNvPr id="28" name="Text 19"/>
          <p:cNvSpPr/>
          <p:nvPr/>
        </p:nvSpPr>
        <p:spPr>
          <a:xfrm>
            <a:off x="7242048" y="2322576"/>
            <a:ext cx="694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0.5004</a:t>
            </a:r>
            <a:endParaRPr lang="en-US" sz="1000" dirty="0"/>
          </a:p>
        </p:txBody>
      </p:sp>
      <p:sp>
        <p:nvSpPr>
          <p:cNvPr id="29" name="Text 20"/>
          <p:cNvSpPr/>
          <p:nvPr/>
        </p:nvSpPr>
        <p:spPr>
          <a:xfrm>
            <a:off x="7936992" y="2322576"/>
            <a:ext cx="950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DF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1000" dirty="0"/>
          </a:p>
        </p:txBody>
      </p:sp>
      <p:sp>
        <p:nvSpPr>
          <p:cNvPr id="30" name="Shape 21"/>
          <p:cNvSpPr/>
          <p:nvPr/>
        </p:nvSpPr>
        <p:spPr>
          <a:xfrm>
            <a:off x="6144768" y="2724912"/>
            <a:ext cx="2743200" cy="402336"/>
          </a:xfrm>
          <a:prstGeom prst="rect">
            <a:avLst/>
          </a:prstGeom>
          <a:solidFill>
            <a:srgbClr val="060B14"/>
          </a:solidFill>
          <a:ln w="6350">
            <a:solidFill>
              <a:srgbClr val="0F1E3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1" name="Shape 22"/>
          <p:cNvSpPr/>
          <p:nvPr/>
        </p:nvSpPr>
        <p:spPr>
          <a:xfrm>
            <a:off x="6236208" y="2871216"/>
            <a:ext cx="109728" cy="109728"/>
          </a:xfrm>
          <a:prstGeom prst="ellipse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2" name="Text 23"/>
          <p:cNvSpPr/>
          <p:nvPr/>
        </p:nvSpPr>
        <p:spPr>
          <a:xfrm>
            <a:off x="6400800" y="272491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</a:t>
            </a:r>
            <a:endParaRPr lang="en-US" sz="1000" dirty="0"/>
          </a:p>
        </p:txBody>
      </p:sp>
      <p:sp>
        <p:nvSpPr>
          <p:cNvPr id="33" name="Text 24"/>
          <p:cNvSpPr/>
          <p:nvPr/>
        </p:nvSpPr>
        <p:spPr>
          <a:xfrm>
            <a:off x="7242048" y="2724912"/>
            <a:ext cx="694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0.4982</a:t>
            </a:r>
            <a:endParaRPr lang="en-US" sz="1000" dirty="0"/>
          </a:p>
        </p:txBody>
      </p:sp>
      <p:sp>
        <p:nvSpPr>
          <p:cNvPr id="34" name="Text 25"/>
          <p:cNvSpPr/>
          <p:nvPr/>
        </p:nvSpPr>
        <p:spPr>
          <a:xfrm>
            <a:off x="7936992" y="2724912"/>
            <a:ext cx="950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DF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</a:t>
            </a:r>
            <a:endParaRPr lang="en-US" sz="1000" dirty="0"/>
          </a:p>
        </p:txBody>
      </p:sp>
      <p:sp>
        <p:nvSpPr>
          <p:cNvPr id="35" name="Shape 26"/>
          <p:cNvSpPr/>
          <p:nvPr/>
        </p:nvSpPr>
        <p:spPr>
          <a:xfrm>
            <a:off x="6144768" y="3127248"/>
            <a:ext cx="2743200" cy="402336"/>
          </a:xfrm>
          <a:prstGeom prst="rect">
            <a:avLst/>
          </a:prstGeom>
          <a:solidFill>
            <a:srgbClr val="100820"/>
          </a:solidFill>
          <a:ln w="6350">
            <a:solidFill>
              <a:srgbClr val="2A146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6" name="Shape 27"/>
          <p:cNvSpPr/>
          <p:nvPr/>
        </p:nvSpPr>
        <p:spPr>
          <a:xfrm>
            <a:off x="6236208" y="3273552"/>
            <a:ext cx="109728" cy="109728"/>
          </a:xfrm>
          <a:prstGeom prst="ellipse">
            <a:avLst/>
          </a:prstGeom>
          <a:solidFill>
            <a:srgbClr val="00C9C9"/>
          </a:solidFill>
          <a:ln w="12700">
            <a:solidFill>
              <a:srgbClr val="00C9C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7" name="Text 28"/>
          <p:cNvSpPr/>
          <p:nvPr/>
        </p:nvSpPr>
        <p:spPr>
          <a:xfrm>
            <a:off x="6400800" y="312724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ChaCha20</a:t>
            </a:r>
            <a:endParaRPr lang="en-US" sz="1000" dirty="0"/>
          </a:p>
        </p:txBody>
      </p:sp>
      <p:sp>
        <p:nvSpPr>
          <p:cNvPr id="38" name="Text 29"/>
          <p:cNvSpPr/>
          <p:nvPr/>
        </p:nvSpPr>
        <p:spPr>
          <a:xfrm>
            <a:off x="7242048" y="3127248"/>
            <a:ext cx="694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0.5948</a:t>
            </a:r>
            <a:endParaRPr lang="en-US" sz="1000" dirty="0"/>
          </a:p>
        </p:txBody>
      </p:sp>
      <p:sp>
        <p:nvSpPr>
          <p:cNvPr id="39" name="Text 30"/>
          <p:cNvSpPr/>
          <p:nvPr/>
        </p:nvSpPr>
        <p:spPr>
          <a:xfrm>
            <a:off x="7936992" y="3127248"/>
            <a:ext cx="950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6144768" y="3621024"/>
            <a:ext cx="2743200" cy="877824"/>
          </a:xfrm>
          <a:prstGeom prst="roundRect">
            <a:avLst>
              <a:gd name="adj" fmla="val 6250"/>
            </a:avLst>
          </a:prstGeom>
          <a:solidFill>
            <a:srgbClr val="0E0820"/>
          </a:solidFill>
          <a:ln w="9525">
            <a:solidFill>
              <a:srgbClr val="2A146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1" name="Text 32"/>
          <p:cNvSpPr/>
          <p:nvPr/>
        </p:nvSpPr>
        <p:spPr>
          <a:xfrm>
            <a:off x="6272784" y="3621024"/>
            <a:ext cx="24871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ChaCha20 à 0.594  </a:t>
            </a:r>
            <a:r>
              <a:rPr lang="en-US" sz="8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n'est pas une faille — c'est une limite de méthodologie. L'avalanche mesure la diffusion d'un chiffrement par blocs. ChaCha20 est un chiffrement de flux : son keystream est calculé indépendamment du plaintext.</a:t>
            </a:r>
            <a:endParaRPr lang="en-US" sz="850" dirty="0"/>
          </a:p>
        </p:txBody>
      </p:sp>
      <p:sp>
        <p:nvSpPr>
          <p:cNvPr id="42" name="Shape 33"/>
          <p:cNvSpPr/>
          <p:nvPr/>
        </p:nvSpPr>
        <p:spPr>
          <a:xfrm>
            <a:off x="566928" y="3877056"/>
            <a:ext cx="8321040" cy="594360"/>
          </a:xfrm>
          <a:prstGeom prst="roundRect">
            <a:avLst>
              <a:gd name="adj" fmla="val 9231"/>
            </a:avLst>
          </a:prstGeom>
          <a:solidFill>
            <a:srgbClr val="060F1E"/>
          </a:solidFill>
          <a:ln w="9525">
            <a:solidFill>
              <a:srgbClr val="0D3D5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3" name="Text 34"/>
          <p:cNvSpPr/>
          <p:nvPr/>
        </p:nvSpPr>
        <p:spPr>
          <a:xfrm>
            <a:off x="749808" y="3877056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Idéal = 0.500  </a:t>
            </a: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modifier 1 bit en entrée doit changer exactement 50% des bits en sortie. AES, DES, 3DES et Twofish atteignent tous cet idéal. ChaCha20 dépasse 0.5 pour des raisons de design, pas de faiblesse.</a:t>
            </a:r>
            <a:endParaRPr lang="en-US" sz="950" dirty="0"/>
          </a:p>
        </p:txBody>
      </p:sp>
      <p:sp>
        <p:nvSpPr>
          <p:cNvPr id="44" name="Shape 35"/>
          <p:cNvSpPr/>
          <p:nvPr/>
        </p:nvSpPr>
        <p:spPr>
          <a:xfrm>
            <a:off x="7699248" y="256032"/>
            <a:ext cx="1115568" cy="329184"/>
          </a:xfrm>
          <a:prstGeom prst="roundRect">
            <a:avLst>
              <a:gd name="adj" fmla="val 22222"/>
            </a:avLst>
          </a:prstGeom>
          <a:solidFill>
            <a:srgbClr val="060F1E"/>
          </a:solidFill>
          <a:ln w="9525">
            <a:solidFill>
              <a:srgbClr val="00F5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5" name="Text 36"/>
          <p:cNvSpPr/>
          <p:nvPr/>
        </p:nvSpPr>
        <p:spPr>
          <a:xfrm>
            <a:off x="7699248" y="256032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Vidéo 10</a:t>
            </a:r>
            <a:endParaRPr lang="en-US" sz="900" dirty="0"/>
          </a:p>
        </p:txBody>
      </p:sp>
      <p:sp>
        <p:nvSpPr>
          <p:cNvPr id="46" name="Text 37"/>
          <p:cNvSpPr/>
          <p:nvPr/>
        </p:nvSpPr>
        <p:spPr>
          <a:xfrm>
            <a:off x="1371600" y="482803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INF1430</a:t>
            </a:r>
            <a:r>
              <a:rPr lang="en-US" sz="850" kern="0" spc="100" dirty="0">
                <a:solidFill>
                  <a:srgbClr val="3A4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Université TÉLUQ  ·  TN3  ·  Melissa Moya  ·  2026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201168"/>
            <a:ext cx="548640" cy="54864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8339328" y="201168"/>
            <a:ext cx="548640" cy="54864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256032" y="4393692"/>
            <a:ext cx="548640" cy="54864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 flipV="1">
            <a:off x="8339328" y="4393692"/>
            <a:ext cx="548640" cy="54864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566928" y="256032"/>
            <a:ext cx="256032" cy="256032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86868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r>
              <a:rPr lang="en-US" sz="1000" kern="0" spc="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Robustesse cryptographique</a:t>
            </a:r>
            <a:endParaRPr lang="en-US" sz="1000" dirty="0"/>
          </a:p>
        </p:txBody>
      </p:sp>
      <p:sp>
        <p:nvSpPr>
          <p:cNvPr id="9" name="Text 1"/>
          <p:cNvSpPr/>
          <p:nvPr/>
        </p:nvSpPr>
        <p:spPr>
          <a:xfrm>
            <a:off x="566928" y="5669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Sensibilité aux clés — Quand le key schedule défaille</a:t>
            </a:r>
            <a:endParaRPr lang="en-US" sz="2300" dirty="0"/>
          </a:p>
        </p:txBody>
      </p:sp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1115568"/>
            <a:ext cx="5394960" cy="2843290"/>
          </a:xfrm>
          <a:prstGeom prst="rect">
            <a:avLst/>
          </a:prstGeom>
        </p:spPr>
      </p:pic>
      <p:sp>
        <p:nvSpPr>
          <p:cNvPr id="11" name="Shape 2"/>
          <p:cNvSpPr/>
          <p:nvPr/>
        </p:nvSpPr>
        <p:spPr>
          <a:xfrm>
            <a:off x="6144768" y="1115568"/>
            <a:ext cx="2743200" cy="374904"/>
          </a:xfrm>
          <a:prstGeom prst="roundRect">
            <a:avLst>
              <a:gd name="adj" fmla="val 9756"/>
            </a:avLst>
          </a:prstGeom>
          <a:solidFill>
            <a:srgbClr val="0D1E35"/>
          </a:solidFill>
          <a:ln w="635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3"/>
          <p:cNvSpPr/>
          <p:nvPr/>
        </p:nvSpPr>
        <p:spPr>
          <a:xfrm>
            <a:off x="6236208" y="1115568"/>
            <a:ext cx="1097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</a:t>
            </a:r>
            <a:endParaRPr lang="en-US" sz="1000" dirty="0"/>
          </a:p>
        </p:txBody>
      </p:sp>
      <p:sp>
        <p:nvSpPr>
          <p:cNvPr id="13" name="Text 4"/>
          <p:cNvSpPr/>
          <p:nvPr/>
        </p:nvSpPr>
        <p:spPr>
          <a:xfrm>
            <a:off x="7242048" y="1115568"/>
            <a:ext cx="74980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clé</a:t>
            </a:r>
            <a:endParaRPr lang="en-US" sz="1000" dirty="0"/>
          </a:p>
        </p:txBody>
      </p:sp>
      <p:sp>
        <p:nvSpPr>
          <p:cNvPr id="14" name="Text 5"/>
          <p:cNvSpPr/>
          <p:nvPr/>
        </p:nvSpPr>
        <p:spPr>
          <a:xfrm>
            <a:off x="7991856" y="1115568"/>
            <a:ext cx="8961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000" dirty="0"/>
          </a:p>
        </p:txBody>
      </p:sp>
      <p:sp>
        <p:nvSpPr>
          <p:cNvPr id="15" name="Shape 6"/>
          <p:cNvSpPr/>
          <p:nvPr/>
        </p:nvSpPr>
        <p:spPr>
          <a:xfrm>
            <a:off x="6144768" y="1490472"/>
            <a:ext cx="2743200" cy="374904"/>
          </a:xfrm>
          <a:prstGeom prst="rect">
            <a:avLst/>
          </a:prstGeom>
          <a:solidFill>
            <a:srgbClr val="080F1E"/>
          </a:solidFill>
          <a:ln w="6350">
            <a:solidFill>
              <a:srgbClr val="0F1E3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Shape 7"/>
          <p:cNvSpPr/>
          <p:nvPr/>
        </p:nvSpPr>
        <p:spPr>
          <a:xfrm>
            <a:off x="6236208" y="1623060"/>
            <a:ext cx="109728" cy="109728"/>
          </a:xfrm>
          <a:prstGeom prst="ellipse">
            <a:avLst/>
          </a:prstGeom>
          <a:solidFill>
            <a:srgbClr val="4F7FFF"/>
          </a:solidFill>
          <a:ln w="12700">
            <a:solidFill>
              <a:srgbClr val="4F7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8"/>
          <p:cNvSpPr/>
          <p:nvPr/>
        </p:nvSpPr>
        <p:spPr>
          <a:xfrm>
            <a:off x="6400800" y="1490472"/>
            <a:ext cx="8229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</a:t>
            </a:r>
            <a:endParaRPr lang="en-US" sz="1000" dirty="0"/>
          </a:p>
        </p:txBody>
      </p:sp>
      <p:sp>
        <p:nvSpPr>
          <p:cNvPr id="18" name="Text 9"/>
          <p:cNvSpPr/>
          <p:nvPr/>
        </p:nvSpPr>
        <p:spPr>
          <a:xfrm>
            <a:off x="7242048" y="1490472"/>
            <a:ext cx="74980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0.500</a:t>
            </a:r>
            <a:endParaRPr lang="en-US" sz="1000" dirty="0"/>
          </a:p>
        </p:txBody>
      </p:sp>
      <p:sp>
        <p:nvSpPr>
          <p:cNvPr id="19" name="Text 10"/>
          <p:cNvSpPr/>
          <p:nvPr/>
        </p:nvSpPr>
        <p:spPr>
          <a:xfrm>
            <a:off x="7991856" y="1490472"/>
            <a:ext cx="8961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DF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Parfait</a:t>
            </a:r>
            <a:endParaRPr lang="en-US" sz="1000" dirty="0"/>
          </a:p>
        </p:txBody>
      </p:sp>
      <p:sp>
        <p:nvSpPr>
          <p:cNvPr id="20" name="Shape 11"/>
          <p:cNvSpPr/>
          <p:nvPr/>
        </p:nvSpPr>
        <p:spPr>
          <a:xfrm>
            <a:off x="6144768" y="1865376"/>
            <a:ext cx="2743200" cy="374904"/>
          </a:xfrm>
          <a:prstGeom prst="rect">
            <a:avLst/>
          </a:prstGeom>
          <a:solidFill>
            <a:srgbClr val="060B14"/>
          </a:solidFill>
          <a:ln w="6350">
            <a:solidFill>
              <a:srgbClr val="0F1E3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Shape 12"/>
          <p:cNvSpPr/>
          <p:nvPr/>
        </p:nvSpPr>
        <p:spPr>
          <a:xfrm>
            <a:off x="6236208" y="1997964"/>
            <a:ext cx="109728" cy="109728"/>
          </a:xfrm>
          <a:prstGeom prst="ellipse">
            <a:avLst/>
          </a:prstGeom>
          <a:solidFill>
            <a:srgbClr val="00C97A"/>
          </a:solidFill>
          <a:ln w="12700">
            <a:solidFill>
              <a:srgbClr val="00C97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Text 13"/>
          <p:cNvSpPr/>
          <p:nvPr/>
        </p:nvSpPr>
        <p:spPr>
          <a:xfrm>
            <a:off x="6400800" y="1865376"/>
            <a:ext cx="8229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Twofish</a:t>
            </a:r>
            <a:endParaRPr lang="en-US" sz="1000" dirty="0"/>
          </a:p>
        </p:txBody>
      </p:sp>
      <p:sp>
        <p:nvSpPr>
          <p:cNvPr id="23" name="Text 14"/>
          <p:cNvSpPr/>
          <p:nvPr/>
        </p:nvSpPr>
        <p:spPr>
          <a:xfrm>
            <a:off x="7242048" y="1865376"/>
            <a:ext cx="74980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0.500</a:t>
            </a:r>
            <a:endParaRPr lang="en-US" sz="1000" dirty="0"/>
          </a:p>
        </p:txBody>
      </p:sp>
      <p:sp>
        <p:nvSpPr>
          <p:cNvPr id="24" name="Text 15"/>
          <p:cNvSpPr/>
          <p:nvPr/>
        </p:nvSpPr>
        <p:spPr>
          <a:xfrm>
            <a:off x="7991856" y="1865376"/>
            <a:ext cx="8961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DF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1000" dirty="0"/>
          </a:p>
        </p:txBody>
      </p:sp>
      <p:sp>
        <p:nvSpPr>
          <p:cNvPr id="25" name="Shape 16"/>
          <p:cNvSpPr/>
          <p:nvPr/>
        </p:nvSpPr>
        <p:spPr>
          <a:xfrm>
            <a:off x="6144768" y="2240280"/>
            <a:ext cx="2743200" cy="374904"/>
          </a:xfrm>
          <a:prstGeom prst="rect">
            <a:avLst/>
          </a:prstGeom>
          <a:solidFill>
            <a:srgbClr val="080F1E"/>
          </a:solidFill>
          <a:ln w="6350">
            <a:solidFill>
              <a:srgbClr val="0F1E3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Shape 17"/>
          <p:cNvSpPr/>
          <p:nvPr/>
        </p:nvSpPr>
        <p:spPr>
          <a:xfrm>
            <a:off x="6236208" y="2372868"/>
            <a:ext cx="109728" cy="109728"/>
          </a:xfrm>
          <a:prstGeom prst="ellipse">
            <a:avLst/>
          </a:prstGeom>
          <a:solidFill>
            <a:srgbClr val="00C9C9"/>
          </a:solidFill>
          <a:ln w="12700">
            <a:solidFill>
              <a:srgbClr val="00C9C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7" name="Text 18"/>
          <p:cNvSpPr/>
          <p:nvPr/>
        </p:nvSpPr>
        <p:spPr>
          <a:xfrm>
            <a:off x="6400800" y="2240280"/>
            <a:ext cx="8229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ChaCha20</a:t>
            </a:r>
            <a:endParaRPr lang="en-US" sz="1000" dirty="0"/>
          </a:p>
        </p:txBody>
      </p:sp>
      <p:sp>
        <p:nvSpPr>
          <p:cNvPr id="28" name="Text 19"/>
          <p:cNvSpPr/>
          <p:nvPr/>
        </p:nvSpPr>
        <p:spPr>
          <a:xfrm>
            <a:off x="7242048" y="2240280"/>
            <a:ext cx="74980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0.594</a:t>
            </a:r>
            <a:endParaRPr lang="en-US" sz="1000" dirty="0"/>
          </a:p>
        </p:txBody>
      </p:sp>
      <p:sp>
        <p:nvSpPr>
          <p:cNvPr id="29" name="Text 20"/>
          <p:cNvSpPr/>
          <p:nvPr/>
        </p:nvSpPr>
        <p:spPr>
          <a:xfrm>
            <a:off x="7991856" y="2240280"/>
            <a:ext cx="8961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DF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sl.13</a:t>
            </a:r>
            <a:endParaRPr lang="en-US" sz="1000" dirty="0"/>
          </a:p>
        </p:txBody>
      </p:sp>
      <p:sp>
        <p:nvSpPr>
          <p:cNvPr id="30" name="Shape 21"/>
          <p:cNvSpPr/>
          <p:nvPr/>
        </p:nvSpPr>
        <p:spPr>
          <a:xfrm>
            <a:off x="6144768" y="2615184"/>
            <a:ext cx="2743200" cy="374904"/>
          </a:xfrm>
          <a:prstGeom prst="rect">
            <a:avLst/>
          </a:prstGeom>
          <a:solidFill>
            <a:srgbClr val="100614"/>
          </a:solidFill>
          <a:ln w="6350">
            <a:solidFill>
              <a:srgbClr val="2A104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1" name="Shape 22"/>
          <p:cNvSpPr/>
          <p:nvPr/>
        </p:nvSpPr>
        <p:spPr>
          <a:xfrm>
            <a:off x="6236208" y="2747772"/>
            <a:ext cx="109728" cy="109728"/>
          </a:xfrm>
          <a:prstGeom prst="ellipse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2" name="Text 23"/>
          <p:cNvSpPr/>
          <p:nvPr/>
        </p:nvSpPr>
        <p:spPr>
          <a:xfrm>
            <a:off x="6400800" y="2615184"/>
            <a:ext cx="8229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</a:t>
            </a:r>
            <a:endParaRPr lang="en-US" sz="1000" dirty="0"/>
          </a:p>
        </p:txBody>
      </p:sp>
      <p:sp>
        <p:nvSpPr>
          <p:cNvPr id="33" name="Text 24"/>
          <p:cNvSpPr/>
          <p:nvPr/>
        </p:nvSpPr>
        <p:spPr>
          <a:xfrm>
            <a:off x="7242048" y="2615184"/>
            <a:ext cx="74980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0.438</a:t>
            </a:r>
            <a:endParaRPr lang="en-US" sz="1000" dirty="0"/>
          </a:p>
        </p:txBody>
      </p:sp>
      <p:sp>
        <p:nvSpPr>
          <p:cNvPr id="34" name="Text 25"/>
          <p:cNvSpPr/>
          <p:nvPr/>
        </p:nvSpPr>
        <p:spPr>
          <a:xfrm>
            <a:off x="7991856" y="2615184"/>
            <a:ext cx="8961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</a:t>
            </a:r>
            <a:endParaRPr lang="en-US" sz="1000" dirty="0"/>
          </a:p>
        </p:txBody>
      </p:sp>
      <p:sp>
        <p:nvSpPr>
          <p:cNvPr id="35" name="Shape 26"/>
          <p:cNvSpPr/>
          <p:nvPr/>
        </p:nvSpPr>
        <p:spPr>
          <a:xfrm>
            <a:off x="6144768" y="2990088"/>
            <a:ext cx="2743200" cy="374904"/>
          </a:xfrm>
          <a:prstGeom prst="rect">
            <a:avLst/>
          </a:prstGeom>
          <a:solidFill>
            <a:srgbClr val="100614"/>
          </a:solidFill>
          <a:ln w="6350">
            <a:solidFill>
              <a:srgbClr val="2A104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6" name="Shape 27"/>
          <p:cNvSpPr/>
          <p:nvPr/>
        </p:nvSpPr>
        <p:spPr>
          <a:xfrm>
            <a:off x="6236208" y="3122676"/>
            <a:ext cx="109728" cy="109728"/>
          </a:xfrm>
          <a:prstGeom prst="ellipse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7" name="Text 28"/>
          <p:cNvSpPr/>
          <p:nvPr/>
        </p:nvSpPr>
        <p:spPr>
          <a:xfrm>
            <a:off x="6400800" y="2990088"/>
            <a:ext cx="8229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3DES</a:t>
            </a:r>
            <a:endParaRPr lang="en-US" sz="1000" dirty="0"/>
          </a:p>
        </p:txBody>
      </p:sp>
      <p:sp>
        <p:nvSpPr>
          <p:cNvPr id="38" name="Text 29"/>
          <p:cNvSpPr/>
          <p:nvPr/>
        </p:nvSpPr>
        <p:spPr>
          <a:xfrm>
            <a:off x="7242048" y="2990088"/>
            <a:ext cx="74980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0.436</a:t>
            </a:r>
            <a:endParaRPr lang="en-US" sz="1000" dirty="0"/>
          </a:p>
        </p:txBody>
      </p:sp>
      <p:sp>
        <p:nvSpPr>
          <p:cNvPr id="39" name="Text 30"/>
          <p:cNvSpPr/>
          <p:nvPr/>
        </p:nvSpPr>
        <p:spPr>
          <a:xfrm>
            <a:off x="7991856" y="2990088"/>
            <a:ext cx="8961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6144768" y="3456432"/>
            <a:ext cx="2743200" cy="822960"/>
          </a:xfrm>
          <a:prstGeom prst="roundRect">
            <a:avLst>
              <a:gd name="adj" fmla="val 6667"/>
            </a:avLst>
          </a:prstGeom>
          <a:solidFill>
            <a:srgbClr val="0A0318"/>
          </a:solidFill>
          <a:ln w="9525">
            <a:solidFill>
              <a:srgbClr val="2A104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1" name="Text 32"/>
          <p:cNvSpPr/>
          <p:nvPr/>
        </p:nvSpPr>
        <p:spPr>
          <a:xfrm>
            <a:off x="6272784" y="3456432"/>
            <a:ext cx="24871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à 0.438  </a:t>
            </a:r>
            <a:r>
              <a:rPr lang="en-US" sz="8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64 clés "faibles" documentées depuis les années 90 produisent des sorties structurellement moins aléatoires. 3DES hérite directement de ce problème.</a:t>
            </a:r>
            <a:endParaRPr lang="en-US" sz="850" dirty="0"/>
          </a:p>
        </p:txBody>
      </p:sp>
      <p:sp>
        <p:nvSpPr>
          <p:cNvPr id="42" name="Shape 33"/>
          <p:cNvSpPr/>
          <p:nvPr/>
        </p:nvSpPr>
        <p:spPr>
          <a:xfrm>
            <a:off x="566928" y="3877056"/>
            <a:ext cx="8321040" cy="594360"/>
          </a:xfrm>
          <a:prstGeom prst="roundRect">
            <a:avLst>
              <a:gd name="adj" fmla="val 9231"/>
            </a:avLst>
          </a:prstGeom>
          <a:solidFill>
            <a:srgbClr val="060F1E"/>
          </a:solidFill>
          <a:ln w="9525">
            <a:solidFill>
              <a:srgbClr val="0D3D5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3" name="Text 34"/>
          <p:cNvSpPr/>
          <p:nvPr/>
        </p:nvSpPr>
        <p:spPr>
          <a:xfrm>
            <a:off x="749808" y="3877056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: 0.500 parfait vs DES : 0.438  </a:t>
            </a: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DES n'est pas seulement lent et cryptographiquement faible, son key schedule est structurellement déficient. Ce n'est pas un artefact de mesure.</a:t>
            </a:r>
            <a:endParaRPr lang="en-US" sz="950" dirty="0"/>
          </a:p>
        </p:txBody>
      </p:sp>
      <p:sp>
        <p:nvSpPr>
          <p:cNvPr id="44" name="Shape 35"/>
          <p:cNvSpPr/>
          <p:nvPr/>
        </p:nvSpPr>
        <p:spPr>
          <a:xfrm>
            <a:off x="7699248" y="256032"/>
            <a:ext cx="1115568" cy="329184"/>
          </a:xfrm>
          <a:prstGeom prst="roundRect">
            <a:avLst>
              <a:gd name="adj" fmla="val 22222"/>
            </a:avLst>
          </a:prstGeom>
          <a:solidFill>
            <a:srgbClr val="060F1E"/>
          </a:solidFill>
          <a:ln w="9525">
            <a:solidFill>
              <a:srgbClr val="9B6D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5" name="Text 36"/>
          <p:cNvSpPr/>
          <p:nvPr/>
        </p:nvSpPr>
        <p:spPr>
          <a:xfrm>
            <a:off x="7699248" y="256032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Vidéo 11</a:t>
            </a:r>
            <a:endParaRPr lang="en-US" sz="900" dirty="0"/>
          </a:p>
        </p:txBody>
      </p:sp>
      <p:sp>
        <p:nvSpPr>
          <p:cNvPr id="46" name="Text 37"/>
          <p:cNvSpPr/>
          <p:nvPr/>
        </p:nvSpPr>
        <p:spPr>
          <a:xfrm>
            <a:off x="1371600" y="482803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INF1430</a:t>
            </a:r>
            <a:r>
              <a:rPr lang="en-US" sz="850" kern="0" spc="100" dirty="0">
                <a:solidFill>
                  <a:srgbClr val="3A4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Université TÉLUQ  ·  TN3  ·  Melissa Moya  ·  2026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201168"/>
            <a:ext cx="548640" cy="54864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8339328" y="201168"/>
            <a:ext cx="548640" cy="54864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256032" y="4393692"/>
            <a:ext cx="548640" cy="54864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 flipV="1">
            <a:off x="8339328" y="4393692"/>
            <a:ext cx="548640" cy="54864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566928" y="256032"/>
            <a:ext cx="256032" cy="256032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86868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r>
              <a:rPr lang="en-US" sz="1000" kern="0" spc="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Robustesse cryptographique</a:t>
            </a:r>
            <a:endParaRPr lang="en-US" sz="1000" dirty="0"/>
          </a:p>
        </p:txBody>
      </p:sp>
      <p:sp>
        <p:nvSpPr>
          <p:cNvPr id="9" name="Text 1"/>
          <p:cNvSpPr/>
          <p:nvPr/>
        </p:nvSpPr>
        <p:spPr>
          <a:xfrm>
            <a:off x="566928" y="5669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Stabilité — Le Raspberry Pi plus fiable que le laptop ?</a:t>
            </a:r>
            <a:endParaRPr lang="en-US" sz="2200" dirty="0"/>
          </a:p>
        </p:txBody>
      </p:sp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1115568"/>
            <a:ext cx="5394960" cy="2732512"/>
          </a:xfrm>
          <a:prstGeom prst="rect">
            <a:avLst/>
          </a:prstGeom>
        </p:spPr>
      </p:pic>
      <p:sp>
        <p:nvSpPr>
          <p:cNvPr id="11" name="Shape 2"/>
          <p:cNvSpPr/>
          <p:nvPr/>
        </p:nvSpPr>
        <p:spPr>
          <a:xfrm>
            <a:off x="6144768" y="1115568"/>
            <a:ext cx="2743200" cy="804672"/>
          </a:xfrm>
          <a:prstGeom prst="roundRect">
            <a:avLst>
              <a:gd name="adj" fmla="val 7955"/>
            </a:avLst>
          </a:prstGeom>
          <a:solidFill>
            <a:srgbClr val="060D1A"/>
          </a:solidFill>
          <a:ln w="9525">
            <a:solidFill>
              <a:srgbClr val="0D2A5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3"/>
          <p:cNvSpPr/>
          <p:nvPr/>
        </p:nvSpPr>
        <p:spPr>
          <a:xfrm>
            <a:off x="6309360" y="117043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F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11.28 MB/s</a:t>
            </a:r>
            <a:endParaRPr lang="en-US" sz="1900" dirty="0"/>
          </a:p>
        </p:txBody>
      </p:sp>
      <p:sp>
        <p:nvSpPr>
          <p:cNvPr id="13" name="Text 4"/>
          <p:cNvSpPr/>
          <p:nvPr/>
        </p:nvSpPr>
        <p:spPr>
          <a:xfrm>
            <a:off x="6309360" y="148132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F7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IC95 AES sur x86</a:t>
            </a:r>
            <a:endParaRPr lang="en-US" sz="950" dirty="0"/>
          </a:p>
        </p:txBody>
      </p:sp>
      <p:sp>
        <p:nvSpPr>
          <p:cNvPr id="14" name="Text 5"/>
          <p:cNvSpPr/>
          <p:nvPr/>
        </p:nvSpPr>
        <p:spPr>
          <a:xfrm>
            <a:off x="6309360" y="164592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2.0 MB/s sur Pi — le laptop est 5.6× plus erratique</a:t>
            </a:r>
            <a:endParaRPr lang="en-US" sz="850" dirty="0"/>
          </a:p>
        </p:txBody>
      </p:sp>
      <p:sp>
        <p:nvSpPr>
          <p:cNvPr id="15" name="Shape 6"/>
          <p:cNvSpPr/>
          <p:nvPr/>
        </p:nvSpPr>
        <p:spPr>
          <a:xfrm>
            <a:off x="6144768" y="2011680"/>
            <a:ext cx="2743200" cy="804672"/>
          </a:xfrm>
          <a:prstGeom prst="roundRect">
            <a:avLst>
              <a:gd name="adj" fmla="val 7955"/>
            </a:avLst>
          </a:prstGeom>
          <a:solidFill>
            <a:srgbClr val="02100A"/>
          </a:solidFill>
          <a:ln w="9525">
            <a:solidFill>
              <a:srgbClr val="0A30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7"/>
          <p:cNvSpPr/>
          <p:nvPr/>
        </p:nvSpPr>
        <p:spPr>
          <a:xfrm>
            <a:off x="6309360" y="206654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</a:t>
            </a:r>
            <a:endParaRPr lang="en-US" sz="1900" dirty="0"/>
          </a:p>
        </p:txBody>
      </p:sp>
      <p:sp>
        <p:nvSpPr>
          <p:cNvPr id="17" name="Text 8"/>
          <p:cNvSpPr/>
          <p:nvPr/>
        </p:nvSpPr>
        <p:spPr>
          <a:xfrm>
            <a:off x="6309360" y="237744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IC95 Twofish</a:t>
            </a:r>
            <a:endParaRPr lang="en-US" sz="950" dirty="0"/>
          </a:p>
        </p:txBody>
      </p:sp>
      <p:sp>
        <p:nvSpPr>
          <p:cNvPr id="18" name="Text 9"/>
          <p:cNvSpPr/>
          <p:nvPr/>
        </p:nvSpPr>
        <p:spPr>
          <a:xfrm>
            <a:off x="6309360" y="25420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sur les deux — trop lent pour que le bruit soit perceptible</a:t>
            </a:r>
            <a:endParaRPr lang="en-US" sz="850" dirty="0"/>
          </a:p>
        </p:txBody>
      </p:sp>
      <p:sp>
        <p:nvSpPr>
          <p:cNvPr id="19" name="Shape 10"/>
          <p:cNvSpPr/>
          <p:nvPr/>
        </p:nvSpPr>
        <p:spPr>
          <a:xfrm>
            <a:off x="6144768" y="2907792"/>
            <a:ext cx="2743200" cy="804672"/>
          </a:xfrm>
          <a:prstGeom prst="roundRect">
            <a:avLst>
              <a:gd name="adj" fmla="val 7955"/>
            </a:avLst>
          </a:prstGeom>
          <a:solidFill>
            <a:srgbClr val="020F10"/>
          </a:solidFill>
          <a:ln w="9525">
            <a:solidFill>
              <a:srgbClr val="0A2E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1"/>
          <p:cNvSpPr/>
          <p:nvPr/>
        </p:nvSpPr>
        <p:spPr>
          <a:xfrm>
            <a:off x="6309360" y="296265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6.38 MB/s</a:t>
            </a:r>
            <a:endParaRPr lang="en-US" sz="1900" dirty="0"/>
          </a:p>
        </p:txBody>
      </p:sp>
      <p:sp>
        <p:nvSpPr>
          <p:cNvPr id="21" name="Text 12"/>
          <p:cNvSpPr/>
          <p:nvPr/>
        </p:nvSpPr>
        <p:spPr>
          <a:xfrm>
            <a:off x="6309360" y="327355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IC95 ChaCha20 x86</a:t>
            </a:r>
            <a:endParaRPr lang="en-US" sz="950" dirty="0"/>
          </a:p>
        </p:txBody>
      </p:sp>
      <p:sp>
        <p:nvSpPr>
          <p:cNvPr id="22" name="Text 13"/>
          <p:cNvSpPr/>
          <p:nvPr/>
        </p:nvSpPr>
        <p:spPr>
          <a:xfrm>
            <a:off x="6309360" y="343814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 sans matériel dédié = sensible au scheduler OS</a:t>
            </a:r>
            <a:endParaRPr lang="en-US" sz="850" dirty="0"/>
          </a:p>
        </p:txBody>
      </p:sp>
      <p:sp>
        <p:nvSpPr>
          <p:cNvPr id="23" name="Shape 14"/>
          <p:cNvSpPr/>
          <p:nvPr/>
        </p:nvSpPr>
        <p:spPr>
          <a:xfrm>
            <a:off x="6144768" y="3849624"/>
            <a:ext cx="2743200" cy="749808"/>
          </a:xfrm>
          <a:prstGeom prst="roundRect">
            <a:avLst>
              <a:gd name="adj" fmla="val 7317"/>
            </a:avLst>
          </a:prstGeom>
          <a:solidFill>
            <a:srgbClr val="060F1E"/>
          </a:solidFill>
          <a:ln w="9525">
            <a:solidFill>
              <a:srgbClr val="0D3D5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Text 15"/>
          <p:cNvSpPr/>
          <p:nvPr/>
        </p:nvSpPr>
        <p:spPr>
          <a:xfrm>
            <a:off x="6272784" y="3849624"/>
            <a:ext cx="24871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?  </a:t>
            </a:r>
            <a:r>
              <a:rPr lang="en-US" sz="8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11 sur x86 = Turbo Boost variable, processus en background, caches L3 partagés. Le Pi sous Raspberry Pi OS est déterministe par nature.</a:t>
            </a:r>
            <a:endParaRPr lang="en-US" sz="850" dirty="0"/>
          </a:p>
        </p:txBody>
      </p:sp>
      <p:sp>
        <p:nvSpPr>
          <p:cNvPr id="25" name="Shape 16"/>
          <p:cNvSpPr/>
          <p:nvPr/>
        </p:nvSpPr>
        <p:spPr>
          <a:xfrm>
            <a:off x="566928" y="3877056"/>
            <a:ext cx="8321040" cy="594360"/>
          </a:xfrm>
          <a:prstGeom prst="roundRect">
            <a:avLst>
              <a:gd name="adj" fmla="val 9231"/>
            </a:avLst>
          </a:prstGeom>
          <a:solidFill>
            <a:srgbClr val="060F1E"/>
          </a:solidFill>
          <a:ln w="9525">
            <a:solidFill>
              <a:srgbClr val="0D3D5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Text 17"/>
          <p:cNvSpPr/>
          <p:nvPr/>
        </p:nvSpPr>
        <p:spPr>
          <a:xfrm>
            <a:off x="749808" y="3877056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Vitesse brute ≠ fiabilité  </a:t>
            </a: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Pour un protocole temps-réel ou un HSM, la stabilité compte autant que le débit. Le Pi est plus lent mais plus prévisible. Ce sont deux cas d'usage différents.</a:t>
            </a:r>
            <a:endParaRPr lang="en-US" sz="950" dirty="0"/>
          </a:p>
        </p:txBody>
      </p:sp>
      <p:sp>
        <p:nvSpPr>
          <p:cNvPr id="27" name="Shape 18"/>
          <p:cNvSpPr/>
          <p:nvPr/>
        </p:nvSpPr>
        <p:spPr>
          <a:xfrm>
            <a:off x="7699248" y="256032"/>
            <a:ext cx="1115568" cy="329184"/>
          </a:xfrm>
          <a:prstGeom prst="roundRect">
            <a:avLst>
              <a:gd name="adj" fmla="val 22222"/>
            </a:avLst>
          </a:prstGeom>
          <a:solidFill>
            <a:srgbClr val="060F1E"/>
          </a:solidFill>
          <a:ln w="9525">
            <a:solidFill>
              <a:srgbClr val="00F5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Text 19"/>
          <p:cNvSpPr/>
          <p:nvPr/>
        </p:nvSpPr>
        <p:spPr>
          <a:xfrm>
            <a:off x="7699248" y="256032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Vidéo 11</a:t>
            </a:r>
            <a:endParaRPr lang="en-US" sz="900" dirty="0"/>
          </a:p>
        </p:txBody>
      </p:sp>
      <p:sp>
        <p:nvSpPr>
          <p:cNvPr id="29" name="Text 20"/>
          <p:cNvSpPr/>
          <p:nvPr/>
        </p:nvSpPr>
        <p:spPr>
          <a:xfrm>
            <a:off x="1371600" y="482803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INF1430</a:t>
            </a:r>
            <a:r>
              <a:rPr lang="en-US" sz="850" kern="0" spc="100" dirty="0">
                <a:solidFill>
                  <a:srgbClr val="3A4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Université TÉLUQ  ·  TN3  ·  Melissa Moya  ·  2026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201168"/>
            <a:ext cx="548640" cy="54864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8339328" y="201168"/>
            <a:ext cx="548640" cy="54864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256032" y="4393692"/>
            <a:ext cx="548640" cy="54864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 flipV="1">
            <a:off x="8339328" y="4393692"/>
            <a:ext cx="548640" cy="54864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566928" y="256032"/>
            <a:ext cx="256032" cy="256032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86868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</a:t>
            </a:r>
            <a:r>
              <a:rPr lang="en-US" sz="1000" kern="0" spc="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&amp; recommandations</a:t>
            </a:r>
            <a:endParaRPr lang="en-US" sz="1000" dirty="0"/>
          </a:p>
        </p:txBody>
      </p:sp>
      <p:sp>
        <p:nvSpPr>
          <p:cNvPr id="9" name="Text 1"/>
          <p:cNvSpPr/>
          <p:nvPr/>
        </p:nvSpPr>
        <p:spPr>
          <a:xfrm>
            <a:off x="566928" y="5669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— Comment choisir en 2026 ?</a:t>
            </a:r>
            <a:endParaRPr lang="en-US" sz="2400" dirty="0"/>
          </a:p>
        </p:txBody>
      </p:sp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1115568"/>
            <a:ext cx="8412480" cy="2607869"/>
          </a:xfrm>
          <a:prstGeom prst="rect">
            <a:avLst/>
          </a:prstGeom>
        </p:spPr>
      </p:pic>
      <p:sp>
        <p:nvSpPr>
          <p:cNvPr id="11" name="Shape 2"/>
          <p:cNvSpPr/>
          <p:nvPr/>
        </p:nvSpPr>
        <p:spPr>
          <a:xfrm>
            <a:off x="566928" y="3877056"/>
            <a:ext cx="8321040" cy="594360"/>
          </a:xfrm>
          <a:prstGeom prst="roundRect">
            <a:avLst>
              <a:gd name="adj" fmla="val 9231"/>
            </a:avLst>
          </a:prstGeom>
          <a:solidFill>
            <a:srgbClr val="0A0318"/>
          </a:solidFill>
          <a:ln w="9525">
            <a:solidFill>
              <a:srgbClr val="3A152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3"/>
          <p:cNvSpPr/>
          <p:nvPr/>
        </p:nvSpPr>
        <p:spPr>
          <a:xfrm>
            <a:off x="749808" y="3877056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  </a:t>
            </a: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ECB  ·  DES  ·  3DES — peu importe le contexte, peu importe la performance. Ce ne sont pas des compromis acceptables en 2026.</a:t>
            </a:r>
            <a:endParaRPr lang="en-US" sz="950" dirty="0"/>
          </a:p>
        </p:txBody>
      </p:sp>
      <p:sp>
        <p:nvSpPr>
          <p:cNvPr id="13" name="Text 4"/>
          <p:cNvSpPr/>
          <p:nvPr/>
        </p:nvSpPr>
        <p:spPr>
          <a:xfrm>
            <a:off x="1371600" y="482803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INF1430</a:t>
            </a:r>
            <a:r>
              <a:rPr lang="en-US" sz="850" kern="0" spc="100" dirty="0">
                <a:solidFill>
                  <a:srgbClr val="3A4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Université TÉLUQ  ·  TN3  ·  Melissa Moya  ·  2026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201168"/>
            <a:ext cx="548640" cy="54864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8339328" y="201168"/>
            <a:ext cx="548640" cy="54864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256032" y="4393692"/>
            <a:ext cx="548640" cy="54864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 flipV="1">
            <a:off x="8339328" y="4393692"/>
            <a:ext cx="548640" cy="54864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566928" y="256032"/>
            <a:ext cx="256032" cy="256032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86868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</a:t>
            </a:r>
            <a:r>
              <a:rPr lang="en-US" sz="1000" kern="0" spc="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&amp; recommandations</a:t>
            </a:r>
            <a:endParaRPr lang="en-US" sz="1000" dirty="0"/>
          </a:p>
        </p:txBody>
      </p:sp>
      <p:sp>
        <p:nvSpPr>
          <p:cNvPr id="9" name="Text 1"/>
          <p:cNvSpPr/>
          <p:nvPr/>
        </p:nvSpPr>
        <p:spPr>
          <a:xfrm>
            <a:off x="566928" y="5669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— Quel algorithme choisir en 2026 ?</a:t>
            </a:r>
            <a:endParaRPr lang="en-US" sz="2300" dirty="0"/>
          </a:p>
        </p:txBody>
      </p:sp>
      <p:sp>
        <p:nvSpPr>
          <p:cNvPr id="11" name="Shape 2"/>
          <p:cNvSpPr/>
          <p:nvPr/>
        </p:nvSpPr>
        <p:spPr>
          <a:xfrm>
            <a:off x="692727" y="1115568"/>
            <a:ext cx="8131233" cy="402336"/>
          </a:xfrm>
          <a:prstGeom prst="roundRect">
            <a:avLst>
              <a:gd name="adj" fmla="val 9091"/>
            </a:avLst>
          </a:prstGeom>
          <a:solidFill>
            <a:srgbClr val="0D1E35"/>
          </a:solidFill>
          <a:ln w="635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3"/>
          <p:cNvSpPr/>
          <p:nvPr/>
        </p:nvSpPr>
        <p:spPr>
          <a:xfrm>
            <a:off x="1165497" y="110413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000" dirty="0"/>
          </a:p>
        </p:txBody>
      </p:sp>
      <p:sp>
        <p:nvSpPr>
          <p:cNvPr id="13" name="Text 4"/>
          <p:cNvSpPr/>
          <p:nvPr/>
        </p:nvSpPr>
        <p:spPr>
          <a:xfrm>
            <a:off x="3318164" y="113842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</a:t>
            </a:r>
            <a:endParaRPr lang="en-US" sz="1000" dirty="0"/>
          </a:p>
        </p:txBody>
      </p:sp>
      <p:sp>
        <p:nvSpPr>
          <p:cNvPr id="14" name="Text 5"/>
          <p:cNvSpPr/>
          <p:nvPr/>
        </p:nvSpPr>
        <p:spPr>
          <a:xfrm>
            <a:off x="5621746" y="110413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000" dirty="0"/>
          </a:p>
        </p:txBody>
      </p:sp>
      <p:sp>
        <p:nvSpPr>
          <p:cNvPr id="15" name="Text 6"/>
          <p:cNvSpPr/>
          <p:nvPr/>
        </p:nvSpPr>
        <p:spPr>
          <a:xfrm>
            <a:off x="7269843" y="1115568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Raison</a:t>
            </a:r>
            <a:endParaRPr lang="en-US" sz="1000" dirty="0"/>
          </a:p>
        </p:txBody>
      </p:sp>
      <p:sp>
        <p:nvSpPr>
          <p:cNvPr id="16" name="Shape 7"/>
          <p:cNvSpPr/>
          <p:nvPr/>
        </p:nvSpPr>
        <p:spPr>
          <a:xfrm>
            <a:off x="692727" y="1517904"/>
            <a:ext cx="8131233" cy="402336"/>
          </a:xfrm>
          <a:prstGeom prst="rect">
            <a:avLst/>
          </a:prstGeom>
          <a:solidFill>
            <a:srgbClr val="080F1E"/>
          </a:solidFill>
          <a:ln w="6350">
            <a:solidFill>
              <a:srgbClr val="0F1E3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8"/>
          <p:cNvSpPr/>
          <p:nvPr/>
        </p:nvSpPr>
        <p:spPr>
          <a:xfrm>
            <a:off x="1032164" y="1506474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 / cloud</a:t>
            </a:r>
            <a:endParaRPr lang="en-US" sz="900" dirty="0"/>
          </a:p>
        </p:txBody>
      </p:sp>
      <p:sp>
        <p:nvSpPr>
          <p:cNvPr id="18" name="Text 9"/>
          <p:cNvSpPr/>
          <p:nvPr/>
        </p:nvSpPr>
        <p:spPr>
          <a:xfrm>
            <a:off x="3318164" y="1545517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</a:t>
            </a:r>
            <a:endParaRPr lang="en-US" sz="1000" dirty="0"/>
          </a:p>
        </p:txBody>
      </p:sp>
      <p:sp>
        <p:nvSpPr>
          <p:cNvPr id="19" name="Text 10"/>
          <p:cNvSpPr/>
          <p:nvPr/>
        </p:nvSpPr>
        <p:spPr>
          <a:xfrm>
            <a:off x="5577840" y="153140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GCM</a:t>
            </a:r>
            <a:endParaRPr lang="en-US" sz="1000" dirty="0"/>
          </a:p>
        </p:txBody>
      </p:sp>
      <p:sp>
        <p:nvSpPr>
          <p:cNvPr id="20" name="Text 11"/>
          <p:cNvSpPr/>
          <p:nvPr/>
        </p:nvSpPr>
        <p:spPr>
          <a:xfrm>
            <a:off x="7269843" y="1509812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AEAD, NIST, TLS 1.3</a:t>
            </a:r>
            <a:endParaRPr lang="en-US" sz="1000" dirty="0"/>
          </a:p>
        </p:txBody>
      </p:sp>
      <p:sp>
        <p:nvSpPr>
          <p:cNvPr id="21" name="Shape 12"/>
          <p:cNvSpPr/>
          <p:nvPr/>
        </p:nvSpPr>
        <p:spPr>
          <a:xfrm>
            <a:off x="692727" y="1920240"/>
            <a:ext cx="8131233" cy="402336"/>
          </a:xfrm>
          <a:prstGeom prst="rect">
            <a:avLst/>
          </a:prstGeom>
          <a:solidFill>
            <a:srgbClr val="060B14"/>
          </a:solidFill>
          <a:ln w="6350">
            <a:solidFill>
              <a:srgbClr val="0F1E3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Text 13"/>
          <p:cNvSpPr/>
          <p:nvPr/>
        </p:nvSpPr>
        <p:spPr>
          <a:xfrm>
            <a:off x="940724" y="1901843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/ ARM / Mobile</a:t>
            </a:r>
            <a:endParaRPr lang="en-US" sz="900" dirty="0"/>
          </a:p>
        </p:txBody>
      </p:sp>
      <p:sp>
        <p:nvSpPr>
          <p:cNvPr id="23" name="Text 14"/>
          <p:cNvSpPr/>
          <p:nvPr/>
        </p:nvSpPr>
        <p:spPr>
          <a:xfrm>
            <a:off x="3318164" y="1912039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ChaCha20</a:t>
            </a:r>
            <a:endParaRPr lang="en-US" sz="1000" dirty="0"/>
          </a:p>
        </p:txBody>
      </p:sp>
      <p:sp>
        <p:nvSpPr>
          <p:cNvPr id="24" name="Text 15"/>
          <p:cNvSpPr/>
          <p:nvPr/>
        </p:nvSpPr>
        <p:spPr>
          <a:xfrm>
            <a:off x="5621746" y="1912039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Poly1305</a:t>
            </a:r>
            <a:endParaRPr lang="en-US" sz="1000" dirty="0"/>
          </a:p>
        </p:txBody>
      </p:sp>
      <p:sp>
        <p:nvSpPr>
          <p:cNvPr id="25" name="Text 16"/>
          <p:cNvSpPr/>
          <p:nvPr/>
        </p:nvSpPr>
        <p:spPr>
          <a:xfrm>
            <a:off x="7293429" y="192024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ARX, constant-time</a:t>
            </a:r>
            <a:endParaRPr lang="en-US" sz="1000" dirty="0"/>
          </a:p>
        </p:txBody>
      </p:sp>
      <p:sp>
        <p:nvSpPr>
          <p:cNvPr id="26" name="Shape 17"/>
          <p:cNvSpPr/>
          <p:nvPr/>
        </p:nvSpPr>
        <p:spPr>
          <a:xfrm>
            <a:off x="692727" y="2322576"/>
            <a:ext cx="8131233" cy="402336"/>
          </a:xfrm>
          <a:prstGeom prst="rect">
            <a:avLst/>
          </a:prstGeom>
          <a:solidFill>
            <a:srgbClr val="080F1E"/>
          </a:solidFill>
          <a:ln w="6350">
            <a:solidFill>
              <a:srgbClr val="0F1E3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7" name="Text 18"/>
          <p:cNvSpPr/>
          <p:nvPr/>
        </p:nvSpPr>
        <p:spPr>
          <a:xfrm>
            <a:off x="940724" y="2322576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en masse</a:t>
            </a:r>
            <a:endParaRPr lang="en-US" sz="900" dirty="0"/>
          </a:p>
        </p:txBody>
      </p:sp>
      <p:sp>
        <p:nvSpPr>
          <p:cNvPr id="28" name="Text 19"/>
          <p:cNvSpPr/>
          <p:nvPr/>
        </p:nvSpPr>
        <p:spPr>
          <a:xfrm>
            <a:off x="3318164" y="233680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DF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</a:t>
            </a:r>
            <a:endParaRPr lang="en-US" sz="1000" dirty="0"/>
          </a:p>
        </p:txBody>
      </p:sp>
      <p:sp>
        <p:nvSpPr>
          <p:cNvPr id="29" name="Text 20"/>
          <p:cNvSpPr/>
          <p:nvPr/>
        </p:nvSpPr>
        <p:spPr>
          <a:xfrm>
            <a:off x="5621746" y="230864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</a:t>
            </a:r>
            <a:endParaRPr lang="en-US" sz="1000" dirty="0"/>
          </a:p>
        </p:txBody>
      </p:sp>
      <p:sp>
        <p:nvSpPr>
          <p:cNvPr id="30" name="Text 21"/>
          <p:cNvSpPr/>
          <p:nvPr/>
        </p:nvSpPr>
        <p:spPr>
          <a:xfrm>
            <a:off x="7269843" y="2307771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Parallélisable</a:t>
            </a:r>
            <a:endParaRPr lang="en-US" sz="1000" dirty="0"/>
          </a:p>
        </p:txBody>
      </p:sp>
      <p:sp>
        <p:nvSpPr>
          <p:cNvPr id="31" name="Shape 22"/>
          <p:cNvSpPr/>
          <p:nvPr/>
        </p:nvSpPr>
        <p:spPr>
          <a:xfrm>
            <a:off x="692727" y="2724912"/>
            <a:ext cx="8131233" cy="402336"/>
          </a:xfrm>
          <a:prstGeom prst="rect">
            <a:avLst/>
          </a:prstGeom>
          <a:solidFill>
            <a:srgbClr val="0E0510"/>
          </a:solidFill>
          <a:ln w="6350">
            <a:solidFill>
              <a:srgbClr val="2A082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2" name="Text 23"/>
          <p:cNvSpPr/>
          <p:nvPr/>
        </p:nvSpPr>
        <p:spPr>
          <a:xfrm>
            <a:off x="1100744" y="272999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éviter</a:t>
            </a:r>
            <a:endParaRPr lang="en-US" sz="900" dirty="0"/>
          </a:p>
        </p:txBody>
      </p:sp>
      <p:sp>
        <p:nvSpPr>
          <p:cNvPr id="33" name="Text 24"/>
          <p:cNvSpPr/>
          <p:nvPr/>
        </p:nvSpPr>
        <p:spPr>
          <a:xfrm>
            <a:off x="3318164" y="272491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DES, 3DES</a:t>
            </a:r>
            <a:endParaRPr lang="en-US" sz="1000" dirty="0"/>
          </a:p>
        </p:txBody>
      </p:sp>
      <p:sp>
        <p:nvSpPr>
          <p:cNvPr id="34" name="Text 25"/>
          <p:cNvSpPr/>
          <p:nvPr/>
        </p:nvSpPr>
        <p:spPr>
          <a:xfrm>
            <a:off x="5621746" y="270793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5" name="Text 26"/>
          <p:cNvSpPr/>
          <p:nvPr/>
        </p:nvSpPr>
        <p:spPr>
          <a:xfrm>
            <a:off x="7297275" y="2717582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Déprécié / cassé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692727" y="3127248"/>
            <a:ext cx="8131233" cy="402336"/>
          </a:xfrm>
          <a:prstGeom prst="rect">
            <a:avLst/>
          </a:prstGeom>
          <a:solidFill>
            <a:srgbClr val="0E0510"/>
          </a:solidFill>
          <a:ln w="6350">
            <a:solidFill>
              <a:srgbClr val="2A082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7" name="Text 28"/>
          <p:cNvSpPr/>
          <p:nvPr/>
        </p:nvSpPr>
        <p:spPr>
          <a:xfrm>
            <a:off x="1032164" y="3110266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INTERDIT</a:t>
            </a:r>
            <a:endParaRPr lang="en-US" sz="900" dirty="0"/>
          </a:p>
        </p:txBody>
      </p:sp>
      <p:sp>
        <p:nvSpPr>
          <p:cNvPr id="38" name="Text 29"/>
          <p:cNvSpPr/>
          <p:nvPr/>
        </p:nvSpPr>
        <p:spPr>
          <a:xfrm>
            <a:off x="3318164" y="311991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algo</a:t>
            </a:r>
            <a:endParaRPr lang="en-US" sz="1000" dirty="0"/>
          </a:p>
        </p:txBody>
      </p:sp>
      <p:sp>
        <p:nvSpPr>
          <p:cNvPr id="39" name="Text 30"/>
          <p:cNvSpPr/>
          <p:nvPr/>
        </p:nvSpPr>
        <p:spPr>
          <a:xfrm>
            <a:off x="5621746" y="316153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ECB</a:t>
            </a:r>
            <a:endParaRPr lang="en-US" sz="1000" dirty="0"/>
          </a:p>
        </p:txBody>
      </p:sp>
      <p:sp>
        <p:nvSpPr>
          <p:cNvPr id="40" name="Text 31"/>
          <p:cNvSpPr/>
          <p:nvPr/>
        </p:nvSpPr>
        <p:spPr>
          <a:xfrm>
            <a:off x="7308969" y="3127248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visibles</a:t>
            </a:r>
            <a:endParaRPr lang="en-US" sz="1000" dirty="0"/>
          </a:p>
        </p:txBody>
      </p:sp>
      <p:sp>
        <p:nvSpPr>
          <p:cNvPr id="41" name="Text 32"/>
          <p:cNvSpPr/>
          <p:nvPr/>
        </p:nvSpPr>
        <p:spPr>
          <a:xfrm>
            <a:off x="2628537" y="3621024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3A4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Conformes à NIST SP 800-175B et RFC 8446 (TLS 1.3)</a:t>
            </a:r>
            <a:endParaRPr lang="en-US" sz="800" dirty="0"/>
          </a:p>
        </p:txBody>
      </p:sp>
      <p:sp>
        <p:nvSpPr>
          <p:cNvPr id="42" name="Shape 33"/>
          <p:cNvSpPr/>
          <p:nvPr/>
        </p:nvSpPr>
        <p:spPr>
          <a:xfrm>
            <a:off x="566928" y="3877056"/>
            <a:ext cx="8321040" cy="594360"/>
          </a:xfrm>
          <a:prstGeom prst="roundRect">
            <a:avLst>
              <a:gd name="adj" fmla="val 9231"/>
            </a:avLst>
          </a:prstGeom>
          <a:solidFill>
            <a:srgbClr val="060F1E"/>
          </a:solidFill>
          <a:ln w="9525">
            <a:solidFill>
              <a:srgbClr val="0D3D5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3" name="Text 34"/>
          <p:cNvSpPr/>
          <p:nvPr/>
        </p:nvSpPr>
        <p:spPr>
          <a:xfrm>
            <a:off x="749808" y="3877056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AES-GCM sur x86, ChaCha20 sur ARM.  </a:t>
            </a: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 ECB, jamais DES ou 3DES dans du nouveau code. Tout ce qui précède dans cette présentation était la preuve empirique de ces quatre lignes.</a:t>
            </a:r>
            <a:endParaRPr lang="en-US" sz="950" dirty="0"/>
          </a:p>
        </p:txBody>
      </p:sp>
      <p:sp>
        <p:nvSpPr>
          <p:cNvPr id="44" name="Shape 35"/>
          <p:cNvSpPr/>
          <p:nvPr/>
        </p:nvSpPr>
        <p:spPr>
          <a:xfrm>
            <a:off x="7699248" y="256032"/>
            <a:ext cx="1115568" cy="329184"/>
          </a:xfrm>
          <a:prstGeom prst="roundRect">
            <a:avLst>
              <a:gd name="adj" fmla="val 22222"/>
            </a:avLst>
          </a:prstGeom>
          <a:solidFill>
            <a:srgbClr val="060F1E"/>
          </a:solidFill>
          <a:ln w="9525">
            <a:solidFill>
              <a:srgbClr val="9B6D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5" name="Text 36"/>
          <p:cNvSpPr/>
          <p:nvPr/>
        </p:nvSpPr>
        <p:spPr>
          <a:xfrm>
            <a:off x="7699248" y="256032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Vidéo 12</a:t>
            </a:r>
            <a:endParaRPr lang="en-US" sz="900" dirty="0"/>
          </a:p>
        </p:txBody>
      </p:sp>
      <p:sp>
        <p:nvSpPr>
          <p:cNvPr id="46" name="Text 37"/>
          <p:cNvSpPr/>
          <p:nvPr/>
        </p:nvSpPr>
        <p:spPr>
          <a:xfrm>
            <a:off x="1371600" y="482803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INF1430</a:t>
            </a:r>
            <a:r>
              <a:rPr lang="en-US" sz="850" kern="0" spc="100" dirty="0">
                <a:solidFill>
                  <a:srgbClr val="3A4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Université TÉLUQ  ·  TN3  ·  Melissa Moya  ·  2026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201168"/>
            <a:ext cx="548640" cy="54864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8339328" y="201168"/>
            <a:ext cx="548640" cy="54864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256032" y="4393692"/>
            <a:ext cx="548640" cy="54864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 flipV="1">
            <a:off x="8339328" y="4393692"/>
            <a:ext cx="548640" cy="54864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566928" y="256032"/>
            <a:ext cx="256032" cy="256032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86868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</a:t>
            </a:r>
            <a:r>
              <a:rPr lang="en-US" sz="1000" kern="0" spc="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&amp; recommandations</a:t>
            </a:r>
            <a:endParaRPr lang="en-US" sz="1000" dirty="0"/>
          </a:p>
        </p:txBody>
      </p:sp>
      <p:sp>
        <p:nvSpPr>
          <p:cNvPr id="9" name="Text 1"/>
          <p:cNvSpPr/>
          <p:nvPr/>
        </p:nvSpPr>
        <p:spPr>
          <a:xfrm>
            <a:off x="566928" y="5669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— Ce qui a été livré, ce qui vient ensuite</a:t>
            </a:r>
            <a:endParaRPr lang="en-US" sz="2200" dirty="0"/>
          </a:p>
        </p:txBody>
      </p:sp>
      <p:sp>
        <p:nvSpPr>
          <p:cNvPr id="10" name="Shape 2"/>
          <p:cNvSpPr/>
          <p:nvPr/>
        </p:nvSpPr>
        <p:spPr>
          <a:xfrm>
            <a:off x="566928" y="1170432"/>
            <a:ext cx="3977640" cy="2487168"/>
          </a:xfrm>
          <a:prstGeom prst="roundRect">
            <a:avLst>
              <a:gd name="adj" fmla="val 2941"/>
            </a:avLst>
          </a:prstGeom>
          <a:solidFill>
            <a:srgbClr val="060F1E"/>
          </a:solidFill>
          <a:ln w="9525">
            <a:solidFill>
              <a:srgbClr val="0D3D5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3"/>
          <p:cNvSpPr/>
          <p:nvPr/>
        </p:nvSpPr>
        <p:spPr>
          <a:xfrm>
            <a:off x="749808" y="1207008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F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TN3 — Livré</a:t>
            </a:r>
            <a:endParaRPr lang="en-US" sz="1200" dirty="0"/>
          </a:p>
        </p:txBody>
      </p:sp>
      <p:sp>
        <p:nvSpPr>
          <p:cNvPr id="12" name="Shape 4"/>
          <p:cNvSpPr/>
          <p:nvPr/>
        </p:nvSpPr>
        <p:spPr>
          <a:xfrm>
            <a:off x="749808" y="1664208"/>
            <a:ext cx="91440" cy="91440"/>
          </a:xfrm>
          <a:prstGeom prst="ellipse">
            <a:avLst/>
          </a:prstGeom>
          <a:solidFill>
            <a:srgbClr val="4DFFA0"/>
          </a:solidFill>
          <a:ln w="12700">
            <a:solidFill>
              <a:srgbClr val="4DFFA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5"/>
          <p:cNvSpPr/>
          <p:nvPr/>
        </p:nvSpPr>
        <p:spPr>
          <a:xfrm>
            <a:off x="914400" y="1572768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algorithmes implémentés et validés (KAT NIST)</a:t>
            </a:r>
            <a:endParaRPr lang="en-US" sz="1000" dirty="0"/>
          </a:p>
        </p:txBody>
      </p:sp>
      <p:sp>
        <p:nvSpPr>
          <p:cNvPr id="14" name="Shape 6"/>
          <p:cNvSpPr/>
          <p:nvPr/>
        </p:nvSpPr>
        <p:spPr>
          <a:xfrm>
            <a:off x="749808" y="2066544"/>
            <a:ext cx="91440" cy="91440"/>
          </a:xfrm>
          <a:prstGeom prst="ellipse">
            <a:avLst/>
          </a:prstGeom>
          <a:solidFill>
            <a:srgbClr val="4DFFA0"/>
          </a:solidFill>
          <a:ln w="12700">
            <a:solidFill>
              <a:srgbClr val="4DFFA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7"/>
          <p:cNvSpPr/>
          <p:nvPr/>
        </p:nvSpPr>
        <p:spPr>
          <a:xfrm>
            <a:off x="914400" y="1975104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modes d'opération (ECB, CBC, CTR, GCM) + Stream</a:t>
            </a:r>
            <a:endParaRPr lang="en-US" sz="1000" dirty="0"/>
          </a:p>
        </p:txBody>
      </p:sp>
      <p:sp>
        <p:nvSpPr>
          <p:cNvPr id="16" name="Shape 8"/>
          <p:cNvSpPr/>
          <p:nvPr/>
        </p:nvSpPr>
        <p:spPr>
          <a:xfrm>
            <a:off x="749808" y="2468880"/>
            <a:ext cx="91440" cy="91440"/>
          </a:xfrm>
          <a:prstGeom prst="ellipse">
            <a:avLst/>
          </a:prstGeom>
          <a:solidFill>
            <a:srgbClr val="4DFFA0"/>
          </a:solidFill>
          <a:ln w="12700">
            <a:solidFill>
              <a:srgbClr val="4DFFA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9"/>
          <p:cNvSpPr/>
          <p:nvPr/>
        </p:nvSpPr>
        <p:spPr>
          <a:xfrm>
            <a:off x="914400" y="2377440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Expérimentations sur 2 plateformes : x86 Windows + Pi ARM</a:t>
            </a:r>
            <a:endParaRPr lang="en-US" sz="1000" dirty="0"/>
          </a:p>
        </p:txBody>
      </p:sp>
      <p:sp>
        <p:nvSpPr>
          <p:cNvPr id="18" name="Shape 10"/>
          <p:cNvSpPr/>
          <p:nvPr/>
        </p:nvSpPr>
        <p:spPr>
          <a:xfrm>
            <a:off x="749808" y="2871216"/>
            <a:ext cx="91440" cy="91440"/>
          </a:xfrm>
          <a:prstGeom prst="ellipse">
            <a:avLst/>
          </a:prstGeom>
          <a:solidFill>
            <a:srgbClr val="4DFFA0"/>
          </a:solidFill>
          <a:ln w="12700">
            <a:solidFill>
              <a:srgbClr val="4DFFA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Text 11"/>
          <p:cNvSpPr/>
          <p:nvPr/>
        </p:nvSpPr>
        <p:spPr>
          <a:xfrm>
            <a:off x="914400" y="2779776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~600 mesures de débit collectées (n=100 par config.)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749808" y="3273552"/>
            <a:ext cx="91440" cy="91440"/>
          </a:xfrm>
          <a:prstGeom prst="ellipse">
            <a:avLst/>
          </a:prstGeom>
          <a:solidFill>
            <a:srgbClr val="4DFFA0"/>
          </a:solidFill>
          <a:ln w="12700">
            <a:solidFill>
              <a:srgbClr val="4DFFA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Text 13"/>
          <p:cNvSpPr/>
          <p:nvPr/>
        </p:nvSpPr>
        <p:spPr>
          <a:xfrm>
            <a:off x="914400" y="3182112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: avalanche, sensibilité aux clés, stabilité CI95, ECB</a:t>
            </a:r>
            <a:endParaRPr lang="en-US" sz="1000" dirty="0"/>
          </a:p>
        </p:txBody>
      </p:sp>
      <p:sp>
        <p:nvSpPr>
          <p:cNvPr id="22" name="Shape 14"/>
          <p:cNvSpPr/>
          <p:nvPr/>
        </p:nvSpPr>
        <p:spPr>
          <a:xfrm>
            <a:off x="4828032" y="1170432"/>
            <a:ext cx="3977640" cy="2487168"/>
          </a:xfrm>
          <a:prstGeom prst="roundRect">
            <a:avLst>
              <a:gd name="adj" fmla="val 2941"/>
            </a:avLst>
          </a:prstGeom>
          <a:solidFill>
            <a:srgbClr val="08061A"/>
          </a:solidFill>
          <a:ln w="9525">
            <a:solidFill>
              <a:srgbClr val="22105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Text 15"/>
          <p:cNvSpPr/>
          <p:nvPr/>
        </p:nvSpPr>
        <p:spPr>
          <a:xfrm>
            <a:off x="5010912" y="1207008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TN4 — En préparation</a:t>
            </a:r>
            <a:endParaRPr lang="en-US" sz="1200" dirty="0"/>
          </a:p>
        </p:txBody>
      </p:sp>
      <p:sp>
        <p:nvSpPr>
          <p:cNvPr id="24" name="Shape 16"/>
          <p:cNvSpPr/>
          <p:nvPr/>
        </p:nvSpPr>
        <p:spPr>
          <a:xfrm>
            <a:off x="5010912" y="1664208"/>
            <a:ext cx="91440" cy="91440"/>
          </a:xfrm>
          <a:prstGeom prst="ellipse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Text 17"/>
          <p:cNvSpPr/>
          <p:nvPr/>
        </p:nvSpPr>
        <p:spPr>
          <a:xfrm>
            <a:off x="5175504" y="1572768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approfondie des hypothèses de recherche</a:t>
            </a:r>
            <a:endParaRPr lang="en-US" sz="1000" dirty="0"/>
          </a:p>
        </p:txBody>
      </p:sp>
      <p:sp>
        <p:nvSpPr>
          <p:cNvPr id="26" name="Shape 18"/>
          <p:cNvSpPr/>
          <p:nvPr/>
        </p:nvSpPr>
        <p:spPr>
          <a:xfrm>
            <a:off x="5010912" y="2066544"/>
            <a:ext cx="91440" cy="91440"/>
          </a:xfrm>
          <a:prstGeom prst="ellipse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7" name="Text 19"/>
          <p:cNvSpPr/>
          <p:nvPr/>
        </p:nvSpPr>
        <p:spPr>
          <a:xfrm>
            <a:off x="5175504" y="1975104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avec la littérature (Stallings, NIST SP 800-175B)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5010912" y="2468880"/>
            <a:ext cx="91440" cy="91440"/>
          </a:xfrm>
          <a:prstGeom prst="ellipse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9" name="Text 21"/>
          <p:cNvSpPr/>
          <p:nvPr/>
        </p:nvSpPr>
        <p:spPr>
          <a:xfrm>
            <a:off x="5175504" y="2377440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final — interprétation complète des résultats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5010912" y="2871216"/>
            <a:ext cx="91440" cy="91440"/>
          </a:xfrm>
          <a:prstGeom prst="ellipse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1" name="Text 23"/>
          <p:cNvSpPr/>
          <p:nvPr/>
        </p:nvSpPr>
        <p:spPr>
          <a:xfrm>
            <a:off x="5175504" y="2779776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sur les choix architecturaux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5010912" y="3273552"/>
            <a:ext cx="91440" cy="91440"/>
          </a:xfrm>
          <a:prstGeom prst="ellipse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3" name="Text 25"/>
          <p:cNvSpPr/>
          <p:nvPr/>
        </p:nvSpPr>
        <p:spPr>
          <a:xfrm>
            <a:off x="5175504" y="3182112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formelles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566928" y="3749040"/>
            <a:ext cx="8321040" cy="658368"/>
          </a:xfrm>
          <a:prstGeom prst="roundRect">
            <a:avLst>
              <a:gd name="adj" fmla="val 8333"/>
            </a:avLst>
          </a:prstGeom>
          <a:solidFill>
            <a:srgbClr val="060F1E"/>
          </a:solidFill>
          <a:ln w="9525">
            <a:solidFill>
              <a:srgbClr val="0D3D5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5" name="Text 27"/>
          <p:cNvSpPr/>
          <p:nvPr/>
        </p:nvSpPr>
        <p:spPr>
          <a:xfrm>
            <a:off x="749808" y="3749040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choix d'un algorithme de chiffrement  </a:t>
            </a:r>
            <a:r>
              <a:rPr lang="en-US" sz="10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n'est pas qu'une décision de sécurité — c'est une décision d'architecture, de plateforme, et de contexte d'utilisation.</a:t>
            </a:r>
            <a:endParaRPr lang="en-US" sz="1050" dirty="0"/>
          </a:p>
        </p:txBody>
      </p:sp>
      <p:sp>
        <p:nvSpPr>
          <p:cNvPr id="37" name="Text 29"/>
          <p:cNvSpPr/>
          <p:nvPr/>
        </p:nvSpPr>
        <p:spPr>
          <a:xfrm>
            <a:off x="1371600" y="482803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INF1430</a:t>
            </a:r>
            <a:r>
              <a:rPr lang="en-US" sz="850" kern="0" spc="100" dirty="0">
                <a:solidFill>
                  <a:srgbClr val="3A4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Université TÉLUQ  ·  TN3  ·  Melissa Moya  ·  2026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201168"/>
            <a:ext cx="548640" cy="54864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8339328" y="201168"/>
            <a:ext cx="548640" cy="54864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256032" y="4393692"/>
            <a:ext cx="548640" cy="54864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 flipV="1">
            <a:off x="8339328" y="4393692"/>
            <a:ext cx="548640" cy="54864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594360" y="2926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749808"/>
            <a:ext cx="1645920" cy="36576"/>
          </a:xfrm>
          <a:prstGeom prst="rect">
            <a:avLst/>
          </a:prstGeom>
        </p:spPr>
      </p:pic>
      <p:sp>
        <p:nvSpPr>
          <p:cNvPr id="9" name="Shape 1"/>
          <p:cNvSpPr/>
          <p:nvPr/>
        </p:nvSpPr>
        <p:spPr>
          <a:xfrm>
            <a:off x="594360" y="877824"/>
            <a:ext cx="3977640" cy="932688"/>
          </a:xfrm>
          <a:prstGeom prst="roundRect">
            <a:avLst>
              <a:gd name="adj" fmla="val 4902"/>
            </a:avLst>
          </a:prstGeom>
          <a:solidFill>
            <a:srgbClr val="0D1526">
              <a:alpha val="70000"/>
            </a:srgbClr>
          </a:solidFill>
          <a:ln w="6350">
            <a:solidFill>
              <a:srgbClr val="1A2A4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6">
            <a:alphaModFix amt="10000"/>
          </a:blip>
          <a:stretch>
            <a:fillRect/>
          </a:stretch>
        </p:blipFill>
        <p:spPr>
          <a:xfrm>
            <a:off x="704087" y="950975"/>
            <a:ext cx="792099" cy="792099"/>
          </a:xfrm>
          <a:prstGeom prst="rect">
            <a:avLst/>
          </a:prstGeom>
        </p:spPr>
      </p:pic>
      <p:sp>
        <p:nvSpPr>
          <p:cNvPr id="11" name="Text 2"/>
          <p:cNvSpPr/>
          <p:nvPr/>
        </p:nvSpPr>
        <p:spPr>
          <a:xfrm>
            <a:off x="1080135" y="111556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3"/>
          <p:cNvSpPr/>
          <p:nvPr/>
        </p:nvSpPr>
        <p:spPr>
          <a:xfrm>
            <a:off x="1417320" y="11430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 du système &amp; architecture</a:t>
            </a:r>
            <a:endParaRPr lang="en-US" sz="1250" dirty="0"/>
          </a:p>
        </p:txBody>
      </p:sp>
      <p:sp>
        <p:nvSpPr>
          <p:cNvPr id="13" name="Shape 4"/>
          <p:cNvSpPr/>
          <p:nvPr/>
        </p:nvSpPr>
        <p:spPr>
          <a:xfrm>
            <a:off x="594360" y="2028297"/>
            <a:ext cx="3977640" cy="932688"/>
          </a:xfrm>
          <a:prstGeom prst="roundRect">
            <a:avLst>
              <a:gd name="adj" fmla="val 4902"/>
            </a:avLst>
          </a:prstGeom>
          <a:solidFill>
            <a:srgbClr val="0D1526">
              <a:alpha val="70000"/>
            </a:srgbClr>
          </a:solidFill>
          <a:ln w="6350">
            <a:solidFill>
              <a:srgbClr val="1A2A4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14" name="Image 7" descr="preencoded.png"/>
          <p:cNvPicPr>
            <a:picLocks noChangeAspect="1"/>
          </p:cNvPicPr>
          <p:nvPr/>
        </p:nvPicPr>
        <p:blipFill>
          <a:blip r:embed="rId7">
            <a:alphaModFix amt="10000"/>
          </a:blip>
          <a:stretch>
            <a:fillRect/>
          </a:stretch>
        </p:blipFill>
        <p:spPr>
          <a:xfrm>
            <a:off x="712507" y="2196846"/>
            <a:ext cx="653796" cy="653796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>
            <a:off x="1023403" y="232029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6"/>
          <p:cNvSpPr/>
          <p:nvPr/>
        </p:nvSpPr>
        <p:spPr>
          <a:xfrm>
            <a:off x="1417320" y="2310531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 expérimental</a:t>
            </a:r>
            <a:endParaRPr lang="en-US" sz="1250" dirty="0"/>
          </a:p>
        </p:txBody>
      </p:sp>
      <p:sp>
        <p:nvSpPr>
          <p:cNvPr id="17" name="Shape 7"/>
          <p:cNvSpPr/>
          <p:nvPr/>
        </p:nvSpPr>
        <p:spPr>
          <a:xfrm>
            <a:off x="594360" y="3243219"/>
            <a:ext cx="3977640" cy="932688"/>
          </a:xfrm>
          <a:prstGeom prst="roundRect">
            <a:avLst>
              <a:gd name="adj" fmla="val 4902"/>
            </a:avLst>
          </a:prstGeom>
          <a:solidFill>
            <a:srgbClr val="0D1526">
              <a:alpha val="70000"/>
            </a:srgbClr>
          </a:solidFill>
          <a:ln w="6350">
            <a:solidFill>
              <a:srgbClr val="1A2A4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18" name="Image 8" descr="preencoded.png"/>
          <p:cNvPicPr>
            <a:picLocks noChangeAspect="1"/>
          </p:cNvPicPr>
          <p:nvPr/>
        </p:nvPicPr>
        <p:blipFill>
          <a:blip r:embed="rId8">
            <a:alphaModFix amt="10000"/>
          </a:blip>
          <a:stretch>
            <a:fillRect/>
          </a:stretch>
        </p:blipFill>
        <p:spPr>
          <a:xfrm>
            <a:off x="704088" y="3390138"/>
            <a:ext cx="699516" cy="699516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1033285" y="3507069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9"/>
          <p:cNvSpPr/>
          <p:nvPr/>
        </p:nvSpPr>
        <p:spPr>
          <a:xfrm>
            <a:off x="1403604" y="3505113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fonctionnelle — KAT</a:t>
            </a:r>
            <a:endParaRPr lang="en-US" sz="1250" dirty="0"/>
          </a:p>
        </p:txBody>
      </p:sp>
      <p:sp>
        <p:nvSpPr>
          <p:cNvPr id="21" name="Shape 10"/>
          <p:cNvSpPr/>
          <p:nvPr/>
        </p:nvSpPr>
        <p:spPr>
          <a:xfrm>
            <a:off x="4892040" y="923544"/>
            <a:ext cx="3977640" cy="932688"/>
          </a:xfrm>
          <a:prstGeom prst="roundRect">
            <a:avLst>
              <a:gd name="adj" fmla="val 4902"/>
            </a:avLst>
          </a:prstGeom>
          <a:solidFill>
            <a:srgbClr val="0D1526">
              <a:alpha val="70000"/>
            </a:srgbClr>
          </a:solidFill>
          <a:ln w="6350">
            <a:solidFill>
              <a:srgbClr val="1A2A4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9">
            <a:alphaModFix amt="10000"/>
          </a:blip>
          <a:stretch>
            <a:fillRect/>
          </a:stretch>
        </p:blipFill>
        <p:spPr>
          <a:xfrm>
            <a:off x="5001768" y="950976"/>
            <a:ext cx="792098" cy="792098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5394960" y="120243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12"/>
          <p:cNvSpPr/>
          <p:nvPr/>
        </p:nvSpPr>
        <p:spPr>
          <a:xfrm>
            <a:off x="5760720" y="118009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de performance</a:t>
            </a:r>
            <a:endParaRPr lang="en-US" sz="1250" dirty="0"/>
          </a:p>
        </p:txBody>
      </p:sp>
      <p:sp>
        <p:nvSpPr>
          <p:cNvPr id="25" name="Shape 13"/>
          <p:cNvSpPr/>
          <p:nvPr/>
        </p:nvSpPr>
        <p:spPr>
          <a:xfrm>
            <a:off x="4892040" y="2066544"/>
            <a:ext cx="3977640" cy="932688"/>
          </a:xfrm>
          <a:prstGeom prst="roundRect">
            <a:avLst>
              <a:gd name="adj" fmla="val 4902"/>
            </a:avLst>
          </a:prstGeom>
          <a:solidFill>
            <a:srgbClr val="0D1526">
              <a:alpha val="70000"/>
            </a:srgbClr>
          </a:solidFill>
          <a:ln w="6350">
            <a:solidFill>
              <a:srgbClr val="1A2A4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26" name="Image 10" descr="preencoded.png"/>
          <p:cNvPicPr>
            <a:picLocks noChangeAspect="1"/>
          </p:cNvPicPr>
          <p:nvPr/>
        </p:nvPicPr>
        <p:blipFill>
          <a:blip r:embed="rId10">
            <a:alphaModFix amt="10000"/>
          </a:blip>
          <a:stretch>
            <a:fillRect/>
          </a:stretch>
        </p:blipFill>
        <p:spPr>
          <a:xfrm>
            <a:off x="5033772" y="2131068"/>
            <a:ext cx="758952" cy="758952"/>
          </a:xfrm>
          <a:prstGeom prst="rect">
            <a:avLst/>
          </a:prstGeom>
        </p:spPr>
      </p:pic>
      <p:sp>
        <p:nvSpPr>
          <p:cNvPr id="27" name="Text 14"/>
          <p:cNvSpPr/>
          <p:nvPr/>
        </p:nvSpPr>
        <p:spPr>
          <a:xfrm>
            <a:off x="5367528" y="2339094"/>
            <a:ext cx="411480" cy="330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15"/>
          <p:cNvSpPr/>
          <p:nvPr/>
        </p:nvSpPr>
        <p:spPr>
          <a:xfrm>
            <a:off x="5760720" y="2340471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Robustesse cryptographique</a:t>
            </a:r>
            <a:endParaRPr lang="en-US" sz="1250" dirty="0"/>
          </a:p>
        </p:txBody>
      </p:sp>
      <p:sp>
        <p:nvSpPr>
          <p:cNvPr id="29" name="Shape 16"/>
          <p:cNvSpPr/>
          <p:nvPr/>
        </p:nvSpPr>
        <p:spPr>
          <a:xfrm>
            <a:off x="4910328" y="3236976"/>
            <a:ext cx="3977640" cy="932688"/>
          </a:xfrm>
          <a:prstGeom prst="roundRect">
            <a:avLst>
              <a:gd name="adj" fmla="val 4902"/>
            </a:avLst>
          </a:prstGeom>
          <a:solidFill>
            <a:srgbClr val="0D1526">
              <a:alpha val="70000"/>
            </a:srgbClr>
          </a:solidFill>
          <a:ln w="6350">
            <a:solidFill>
              <a:srgbClr val="1A2A4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30" name="Image 11" descr="preencoded.png"/>
          <p:cNvPicPr>
            <a:picLocks noChangeAspect="1"/>
          </p:cNvPicPr>
          <p:nvPr/>
        </p:nvPicPr>
        <p:blipFill>
          <a:blip r:embed="rId11">
            <a:alphaModFix amt="10000"/>
          </a:blip>
          <a:stretch>
            <a:fillRect/>
          </a:stretch>
        </p:blipFill>
        <p:spPr>
          <a:xfrm>
            <a:off x="5064744" y="3340387"/>
            <a:ext cx="758952" cy="758952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5381244" y="3527839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18"/>
          <p:cNvSpPr/>
          <p:nvPr/>
        </p:nvSpPr>
        <p:spPr>
          <a:xfrm>
            <a:off x="5806440" y="3524815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&amp; recommandations</a:t>
            </a:r>
            <a:endParaRPr lang="en-US" sz="1250" dirty="0"/>
          </a:p>
        </p:txBody>
      </p:sp>
      <p:sp>
        <p:nvSpPr>
          <p:cNvPr id="33" name="Shape 19"/>
          <p:cNvSpPr/>
          <p:nvPr/>
        </p:nvSpPr>
        <p:spPr>
          <a:xfrm>
            <a:off x="4572000" y="914400"/>
            <a:ext cx="0" cy="3310128"/>
          </a:xfrm>
          <a:prstGeom prst="line">
            <a:avLst/>
          </a:prstGeom>
          <a:noFill/>
          <a:ln w="9525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4" name="Text 20"/>
          <p:cNvSpPr/>
          <p:nvPr/>
        </p:nvSpPr>
        <p:spPr>
          <a:xfrm>
            <a:off x="1371600" y="475488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INF1430</a:t>
            </a:r>
            <a:r>
              <a:rPr lang="en-US" sz="850" kern="0" spc="100" dirty="0">
                <a:solidFill>
                  <a:srgbClr val="3A4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Université TÉLUQ  ·  TN3  ·  Melissa Moya  ·  2026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201168"/>
            <a:ext cx="548640" cy="54864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8339328" y="201168"/>
            <a:ext cx="548640" cy="54864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256032" y="4393692"/>
            <a:ext cx="548640" cy="54864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 flipV="1">
            <a:off x="8339328" y="4393692"/>
            <a:ext cx="548640" cy="54864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566928" y="256032"/>
            <a:ext cx="256032" cy="256032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868680" y="256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r>
              <a:rPr lang="en-US" sz="1000" kern="0" spc="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de performance</a:t>
            </a:r>
            <a:endParaRPr lang="en-US" sz="1000" dirty="0"/>
          </a:p>
        </p:txBody>
      </p:sp>
      <p:sp>
        <p:nvSpPr>
          <p:cNvPr id="9" name="Text 1"/>
          <p:cNvSpPr/>
          <p:nvPr/>
        </p:nvSpPr>
        <p:spPr>
          <a:xfrm>
            <a:off x="566928" y="5669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— Le piège des modes d'opération</a:t>
            </a:r>
            <a:endParaRPr lang="en-US" sz="2400" dirty="0"/>
          </a:p>
        </p:txBody>
      </p:sp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1115568"/>
            <a:ext cx="5394960" cy="2768466"/>
          </a:xfrm>
          <a:prstGeom prst="rect">
            <a:avLst/>
          </a:prstGeom>
        </p:spPr>
      </p:pic>
      <p:sp>
        <p:nvSpPr>
          <p:cNvPr id="11" name="Shape 2"/>
          <p:cNvSpPr/>
          <p:nvPr/>
        </p:nvSpPr>
        <p:spPr>
          <a:xfrm>
            <a:off x="6144768" y="1115568"/>
            <a:ext cx="2743200" cy="640080"/>
          </a:xfrm>
          <a:prstGeom prst="roundRect">
            <a:avLst>
              <a:gd name="adj" fmla="val 8571"/>
            </a:avLst>
          </a:prstGeom>
          <a:solidFill>
            <a:srgbClr val="060D1A"/>
          </a:solidFill>
          <a:ln w="9525">
            <a:solidFill>
              <a:srgbClr val="0D2A5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Shape 3"/>
          <p:cNvSpPr/>
          <p:nvPr/>
        </p:nvSpPr>
        <p:spPr>
          <a:xfrm>
            <a:off x="6291072" y="1371600"/>
            <a:ext cx="91440" cy="91440"/>
          </a:xfrm>
          <a:prstGeom prst="ellipse">
            <a:avLst/>
          </a:prstGeom>
          <a:solidFill>
            <a:srgbClr val="4F9FFF"/>
          </a:solidFill>
          <a:ln w="12700">
            <a:solidFill>
              <a:srgbClr val="4F9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4"/>
          <p:cNvSpPr/>
          <p:nvPr/>
        </p:nvSpPr>
        <p:spPr>
          <a:xfrm>
            <a:off x="6437376" y="118872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ECB</a:t>
            </a:r>
            <a:endParaRPr lang="en-US" sz="1200" dirty="0"/>
          </a:p>
        </p:txBody>
      </p:sp>
      <p:sp>
        <p:nvSpPr>
          <p:cNvPr id="14" name="Text 5"/>
          <p:cNvSpPr/>
          <p:nvPr/>
        </p:nvSpPr>
        <p:spPr>
          <a:xfrm>
            <a:off x="7132320" y="118872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163 MB/s</a:t>
            </a:r>
            <a:endParaRPr lang="en-US" sz="1100" dirty="0"/>
          </a:p>
        </p:txBody>
      </p:sp>
      <p:sp>
        <p:nvSpPr>
          <p:cNvPr id="15" name="Text 6"/>
          <p:cNvSpPr/>
          <p:nvPr/>
        </p:nvSpPr>
        <p:spPr>
          <a:xfrm>
            <a:off x="6437376" y="1444752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Rapide mais cryptographiquement cassé</a:t>
            </a:r>
            <a:endParaRPr lang="en-US" sz="850" dirty="0"/>
          </a:p>
        </p:txBody>
      </p:sp>
      <p:sp>
        <p:nvSpPr>
          <p:cNvPr id="16" name="Shape 7"/>
          <p:cNvSpPr/>
          <p:nvPr/>
        </p:nvSpPr>
        <p:spPr>
          <a:xfrm>
            <a:off x="6144768" y="1824228"/>
            <a:ext cx="2743200" cy="640080"/>
          </a:xfrm>
          <a:prstGeom prst="roundRect">
            <a:avLst>
              <a:gd name="adj" fmla="val 8571"/>
            </a:avLst>
          </a:prstGeom>
          <a:solidFill>
            <a:srgbClr val="0F0C00"/>
          </a:solidFill>
          <a:ln w="9525">
            <a:solidFill>
              <a:srgbClr val="3A2C0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Shape 8"/>
          <p:cNvSpPr/>
          <p:nvPr/>
        </p:nvSpPr>
        <p:spPr>
          <a:xfrm>
            <a:off x="6291072" y="2080260"/>
            <a:ext cx="91440" cy="91440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Text 9"/>
          <p:cNvSpPr/>
          <p:nvPr/>
        </p:nvSpPr>
        <p:spPr>
          <a:xfrm>
            <a:off x="6437376" y="18973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GCM</a:t>
            </a:r>
            <a:endParaRPr lang="en-US" sz="1200" dirty="0"/>
          </a:p>
        </p:txBody>
      </p:sp>
      <p:sp>
        <p:nvSpPr>
          <p:cNvPr id="19" name="Text 10"/>
          <p:cNvSpPr/>
          <p:nvPr/>
        </p:nvSpPr>
        <p:spPr>
          <a:xfrm>
            <a:off x="7132320" y="189738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MB/s</a:t>
            </a:r>
            <a:endParaRPr lang="en-US" sz="1100" dirty="0"/>
          </a:p>
        </p:txBody>
      </p:sp>
      <p:sp>
        <p:nvSpPr>
          <p:cNvPr id="20" name="Text 11"/>
          <p:cNvSpPr/>
          <p:nvPr/>
        </p:nvSpPr>
        <p:spPr>
          <a:xfrm>
            <a:off x="6437376" y="2153412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 2026 — confidentialité + auth</a:t>
            </a:r>
            <a:endParaRPr lang="en-US" sz="850" dirty="0"/>
          </a:p>
        </p:txBody>
      </p:sp>
      <p:sp>
        <p:nvSpPr>
          <p:cNvPr id="21" name="Shape 12"/>
          <p:cNvSpPr/>
          <p:nvPr/>
        </p:nvSpPr>
        <p:spPr>
          <a:xfrm>
            <a:off x="6144768" y="2532888"/>
            <a:ext cx="2743200" cy="640080"/>
          </a:xfrm>
          <a:prstGeom prst="roundRect">
            <a:avLst>
              <a:gd name="adj" fmla="val 8571"/>
            </a:avLst>
          </a:prstGeom>
          <a:solidFill>
            <a:srgbClr val="020F08"/>
          </a:solidFill>
          <a:ln w="9525">
            <a:solidFill>
              <a:srgbClr val="0A30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Shape 13"/>
          <p:cNvSpPr/>
          <p:nvPr/>
        </p:nvSpPr>
        <p:spPr>
          <a:xfrm>
            <a:off x="6291072" y="2788920"/>
            <a:ext cx="91440" cy="91440"/>
          </a:xfrm>
          <a:prstGeom prst="ellipse">
            <a:avLst/>
          </a:prstGeom>
          <a:solidFill>
            <a:srgbClr val="00C97A"/>
          </a:solidFill>
          <a:ln w="12700">
            <a:solidFill>
              <a:srgbClr val="00C97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Text 14"/>
          <p:cNvSpPr/>
          <p:nvPr/>
        </p:nvSpPr>
        <p:spPr>
          <a:xfrm>
            <a:off x="6437376" y="260604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</a:t>
            </a:r>
            <a:endParaRPr lang="en-US" sz="1200" dirty="0"/>
          </a:p>
        </p:txBody>
      </p:sp>
      <p:sp>
        <p:nvSpPr>
          <p:cNvPr id="24" name="Text 15"/>
          <p:cNvSpPr/>
          <p:nvPr/>
        </p:nvSpPr>
        <p:spPr>
          <a:xfrm>
            <a:off x="7132320" y="260604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6.6 MB/s</a:t>
            </a:r>
            <a:endParaRPr lang="en-US" sz="1100" dirty="0"/>
          </a:p>
        </p:txBody>
      </p:sp>
      <p:sp>
        <p:nvSpPr>
          <p:cNvPr id="25" name="Text 16"/>
          <p:cNvSpPr/>
          <p:nvPr/>
        </p:nvSpPr>
        <p:spPr>
          <a:xfrm>
            <a:off x="6437376" y="2862072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Parallélisable, bon compromis</a:t>
            </a:r>
            <a:endParaRPr lang="en-US" sz="850" dirty="0"/>
          </a:p>
        </p:txBody>
      </p:sp>
      <p:sp>
        <p:nvSpPr>
          <p:cNvPr id="26" name="Shape 17"/>
          <p:cNvSpPr/>
          <p:nvPr/>
        </p:nvSpPr>
        <p:spPr>
          <a:xfrm>
            <a:off x="6144768" y="3241548"/>
            <a:ext cx="2743200" cy="640080"/>
          </a:xfrm>
          <a:prstGeom prst="roundRect">
            <a:avLst>
              <a:gd name="adj" fmla="val 8571"/>
            </a:avLst>
          </a:prstGeom>
          <a:solidFill>
            <a:srgbClr val="130610"/>
          </a:solidFill>
          <a:ln w="9525">
            <a:solidFill>
              <a:srgbClr val="3A152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7" name="Shape 18"/>
          <p:cNvSpPr/>
          <p:nvPr/>
        </p:nvSpPr>
        <p:spPr>
          <a:xfrm>
            <a:off x="6291072" y="3497580"/>
            <a:ext cx="91440" cy="91440"/>
          </a:xfrm>
          <a:prstGeom prst="ellipse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Text 19"/>
          <p:cNvSpPr/>
          <p:nvPr/>
        </p:nvSpPr>
        <p:spPr>
          <a:xfrm>
            <a:off x="6437376" y="331470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CBC</a:t>
            </a:r>
            <a:endParaRPr lang="en-US" sz="1200" dirty="0"/>
          </a:p>
        </p:txBody>
      </p:sp>
      <p:sp>
        <p:nvSpPr>
          <p:cNvPr id="29" name="Text 20"/>
          <p:cNvSpPr/>
          <p:nvPr/>
        </p:nvSpPr>
        <p:spPr>
          <a:xfrm>
            <a:off x="7132320" y="331470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 MB/s</a:t>
            </a:r>
            <a:endParaRPr lang="en-US" sz="1100" dirty="0"/>
          </a:p>
        </p:txBody>
      </p:sp>
      <p:sp>
        <p:nvSpPr>
          <p:cNvPr id="30" name="Text 21"/>
          <p:cNvSpPr/>
          <p:nvPr/>
        </p:nvSpPr>
        <p:spPr>
          <a:xfrm>
            <a:off x="6437376" y="3570732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 séquentiel — 223× plus lent qu'ECB</a:t>
            </a:r>
            <a:endParaRPr lang="en-US" sz="850" dirty="0"/>
          </a:p>
        </p:txBody>
      </p:sp>
      <p:sp>
        <p:nvSpPr>
          <p:cNvPr id="31" name="Shape 22"/>
          <p:cNvSpPr/>
          <p:nvPr/>
        </p:nvSpPr>
        <p:spPr>
          <a:xfrm>
            <a:off x="566928" y="3877056"/>
            <a:ext cx="8321040" cy="594360"/>
          </a:xfrm>
          <a:prstGeom prst="roundRect">
            <a:avLst>
              <a:gd name="adj" fmla="val 9231"/>
            </a:avLst>
          </a:prstGeom>
          <a:solidFill>
            <a:srgbClr val="0A0310"/>
          </a:solidFill>
          <a:ln w="9525">
            <a:solidFill>
              <a:srgbClr val="3A152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2" name="Text 23"/>
          <p:cNvSpPr/>
          <p:nvPr/>
        </p:nvSpPr>
        <p:spPr>
          <a:xfrm>
            <a:off x="749808" y="3877056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ECB = 163 MB/s — le résultat le plus élevé du benchmark.  </a:t>
            </a: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aussi le seul mode cryptographiquement cassé. Optimiser sans comprendre la sécurité est une faute professionnelle.</a:t>
            </a:r>
            <a:endParaRPr lang="en-US" sz="950" dirty="0"/>
          </a:p>
        </p:txBody>
      </p:sp>
      <p:sp>
        <p:nvSpPr>
          <p:cNvPr id="33" name="Shape 24"/>
          <p:cNvSpPr/>
          <p:nvPr/>
        </p:nvSpPr>
        <p:spPr>
          <a:xfrm>
            <a:off x="7699248" y="256032"/>
            <a:ext cx="1115568" cy="329184"/>
          </a:xfrm>
          <a:prstGeom prst="roundRect">
            <a:avLst>
              <a:gd name="adj" fmla="val 22222"/>
            </a:avLst>
          </a:prstGeom>
          <a:solidFill>
            <a:srgbClr val="060F1E"/>
          </a:solidFill>
          <a:ln w="9525">
            <a:solidFill>
              <a:srgbClr val="9B6D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4" name="Text 25"/>
          <p:cNvSpPr/>
          <p:nvPr/>
        </p:nvSpPr>
        <p:spPr>
          <a:xfrm>
            <a:off x="7699248" y="256032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Vidéo 5</a:t>
            </a:r>
            <a:endParaRPr lang="en-US" sz="950" dirty="0"/>
          </a:p>
        </p:txBody>
      </p:sp>
      <p:sp>
        <p:nvSpPr>
          <p:cNvPr id="35" name="Text 26"/>
          <p:cNvSpPr/>
          <p:nvPr/>
        </p:nvSpPr>
        <p:spPr>
          <a:xfrm>
            <a:off x="1371600" y="482803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INF1430</a:t>
            </a:r>
            <a:r>
              <a:rPr lang="en-US" sz="850" kern="0" spc="100" dirty="0">
                <a:solidFill>
                  <a:srgbClr val="3A4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Université TÉLUQ  ·  TN3  ·  Melissa Moya  · 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2471</Words>
  <Application>Microsoft Office PowerPoint</Application>
  <PresentationFormat>On-screen Show (16:9)</PresentationFormat>
  <Paragraphs>453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Melissa Moya-Dery</cp:lastModifiedBy>
  <cp:revision>4</cp:revision>
  <dcterms:created xsi:type="dcterms:W3CDTF">2026-06-13T18:04:07Z</dcterms:created>
  <dcterms:modified xsi:type="dcterms:W3CDTF">2026-06-13T20:17:25Z</dcterms:modified>
</cp:coreProperties>
</file>